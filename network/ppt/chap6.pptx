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82"/>
  </p:notesMasterIdLst>
  <p:sldIdLst>
    <p:sldId id="257" r:id="rId2"/>
    <p:sldId id="572" r:id="rId3"/>
    <p:sldId id="256" r:id="rId4"/>
    <p:sldId id="646" r:id="rId5"/>
    <p:sldId id="258" r:id="rId6"/>
    <p:sldId id="573" r:id="rId7"/>
    <p:sldId id="259" r:id="rId8"/>
    <p:sldId id="644" r:id="rId9"/>
    <p:sldId id="260" r:id="rId10"/>
    <p:sldId id="577" r:id="rId11"/>
    <p:sldId id="575" r:id="rId12"/>
    <p:sldId id="261" r:id="rId13"/>
    <p:sldId id="582" r:id="rId14"/>
    <p:sldId id="584" r:id="rId15"/>
    <p:sldId id="267" r:id="rId16"/>
    <p:sldId id="585" r:id="rId17"/>
    <p:sldId id="268" r:id="rId18"/>
    <p:sldId id="642"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284" r:id="rId36"/>
    <p:sldId id="285" r:id="rId37"/>
    <p:sldId id="286" r:id="rId38"/>
    <p:sldId id="645" r:id="rId39"/>
    <p:sldId id="287" r:id="rId40"/>
    <p:sldId id="288" r:id="rId41"/>
    <p:sldId id="290" r:id="rId42"/>
    <p:sldId id="592" r:id="rId43"/>
    <p:sldId id="293" r:id="rId44"/>
    <p:sldId id="294" r:id="rId45"/>
    <p:sldId id="295" r:id="rId46"/>
    <p:sldId id="296" r:id="rId47"/>
    <p:sldId id="297" r:id="rId48"/>
    <p:sldId id="298" r:id="rId49"/>
    <p:sldId id="299" r:id="rId50"/>
    <p:sldId id="300" r:id="rId51"/>
    <p:sldId id="548" r:id="rId52"/>
    <p:sldId id="302" r:id="rId53"/>
    <p:sldId id="303" r:id="rId54"/>
    <p:sldId id="304" r:id="rId55"/>
    <p:sldId id="549" r:id="rId56"/>
    <p:sldId id="306" r:id="rId57"/>
    <p:sldId id="307" r:id="rId58"/>
    <p:sldId id="311" r:id="rId59"/>
    <p:sldId id="593" r:id="rId60"/>
    <p:sldId id="317" r:id="rId61"/>
    <p:sldId id="643" r:id="rId62"/>
    <p:sldId id="322" r:id="rId63"/>
    <p:sldId id="599" r:id="rId64"/>
    <p:sldId id="598" r:id="rId65"/>
    <p:sldId id="326" r:id="rId66"/>
    <p:sldId id="327" r:id="rId67"/>
    <p:sldId id="328" r:id="rId68"/>
    <p:sldId id="329" r:id="rId69"/>
    <p:sldId id="600" r:id="rId70"/>
    <p:sldId id="601" r:id="rId71"/>
    <p:sldId id="603" r:id="rId72"/>
    <p:sldId id="602" r:id="rId73"/>
    <p:sldId id="331" r:id="rId74"/>
    <p:sldId id="332" r:id="rId75"/>
    <p:sldId id="333" r:id="rId76"/>
    <p:sldId id="334" r:id="rId77"/>
    <p:sldId id="335" r:id="rId78"/>
    <p:sldId id="605" r:id="rId79"/>
    <p:sldId id="607" r:id="rId80"/>
    <p:sldId id="338" r:id="rId81"/>
    <p:sldId id="339" r:id="rId82"/>
    <p:sldId id="340" r:id="rId83"/>
    <p:sldId id="341" r:id="rId84"/>
    <p:sldId id="608" r:id="rId85"/>
    <p:sldId id="609" r:id="rId86"/>
    <p:sldId id="610" r:id="rId87"/>
    <p:sldId id="611" r:id="rId88"/>
    <p:sldId id="345" r:id="rId89"/>
    <p:sldId id="346" r:id="rId90"/>
    <p:sldId id="347" r:id="rId91"/>
    <p:sldId id="613" r:id="rId92"/>
    <p:sldId id="612" r:id="rId93"/>
    <p:sldId id="615" r:id="rId94"/>
    <p:sldId id="616" r:id="rId95"/>
    <p:sldId id="617" r:id="rId96"/>
    <p:sldId id="618" r:id="rId97"/>
    <p:sldId id="619" r:id="rId98"/>
    <p:sldId id="620" r:id="rId99"/>
    <p:sldId id="621" r:id="rId100"/>
    <p:sldId id="622" r:id="rId101"/>
    <p:sldId id="624" r:id="rId102"/>
    <p:sldId id="359" r:id="rId103"/>
    <p:sldId id="360" r:id="rId104"/>
    <p:sldId id="361" r:id="rId105"/>
    <p:sldId id="362" r:id="rId106"/>
    <p:sldId id="363" r:id="rId107"/>
    <p:sldId id="364" r:id="rId108"/>
    <p:sldId id="365" r:id="rId109"/>
    <p:sldId id="366" r:id="rId110"/>
    <p:sldId id="367" r:id="rId111"/>
    <p:sldId id="368" r:id="rId112"/>
    <p:sldId id="369" r:id="rId113"/>
    <p:sldId id="370" r:id="rId114"/>
    <p:sldId id="375" r:id="rId115"/>
    <p:sldId id="625" r:id="rId116"/>
    <p:sldId id="626" r:id="rId117"/>
    <p:sldId id="377" r:id="rId118"/>
    <p:sldId id="627" r:id="rId119"/>
    <p:sldId id="378" r:id="rId120"/>
    <p:sldId id="628" r:id="rId121"/>
    <p:sldId id="379" r:id="rId122"/>
    <p:sldId id="383" r:id="rId123"/>
    <p:sldId id="386" r:id="rId124"/>
    <p:sldId id="387" r:id="rId125"/>
    <p:sldId id="389" r:id="rId126"/>
    <p:sldId id="390" r:id="rId127"/>
    <p:sldId id="392" r:id="rId128"/>
    <p:sldId id="393" r:id="rId129"/>
    <p:sldId id="394" r:id="rId130"/>
    <p:sldId id="395" r:id="rId131"/>
    <p:sldId id="396" r:id="rId132"/>
    <p:sldId id="397" r:id="rId133"/>
    <p:sldId id="398" r:id="rId134"/>
    <p:sldId id="399" r:id="rId135"/>
    <p:sldId id="400" r:id="rId136"/>
    <p:sldId id="401" r:id="rId137"/>
    <p:sldId id="402" r:id="rId138"/>
    <p:sldId id="403" r:id="rId139"/>
    <p:sldId id="404" r:id="rId140"/>
    <p:sldId id="405" r:id="rId141"/>
    <p:sldId id="406" r:id="rId142"/>
    <p:sldId id="407" r:id="rId143"/>
    <p:sldId id="629" r:id="rId144"/>
    <p:sldId id="630" r:id="rId145"/>
    <p:sldId id="631" r:id="rId146"/>
    <p:sldId id="408" r:id="rId147"/>
    <p:sldId id="409" r:id="rId148"/>
    <p:sldId id="410" r:id="rId149"/>
    <p:sldId id="411" r:id="rId150"/>
    <p:sldId id="412" r:id="rId151"/>
    <p:sldId id="413" r:id="rId152"/>
    <p:sldId id="414" r:id="rId153"/>
    <p:sldId id="415" r:id="rId154"/>
    <p:sldId id="416" r:id="rId155"/>
    <p:sldId id="417" r:id="rId156"/>
    <p:sldId id="418" r:id="rId157"/>
    <p:sldId id="419" r:id="rId158"/>
    <p:sldId id="420" r:id="rId159"/>
    <p:sldId id="422" r:id="rId160"/>
    <p:sldId id="632" r:id="rId161"/>
    <p:sldId id="424" r:id="rId162"/>
    <p:sldId id="560" r:id="rId163"/>
    <p:sldId id="426" r:id="rId164"/>
    <p:sldId id="427" r:id="rId165"/>
    <p:sldId id="428" r:id="rId166"/>
    <p:sldId id="429" r:id="rId167"/>
    <p:sldId id="430" r:id="rId168"/>
    <p:sldId id="431" r:id="rId169"/>
    <p:sldId id="432" r:id="rId170"/>
    <p:sldId id="633" r:id="rId171"/>
    <p:sldId id="434" r:id="rId172"/>
    <p:sldId id="435" r:id="rId173"/>
    <p:sldId id="436" r:id="rId174"/>
    <p:sldId id="437" r:id="rId175"/>
    <p:sldId id="438" r:id="rId176"/>
    <p:sldId id="563" r:id="rId177"/>
    <p:sldId id="439" r:id="rId178"/>
    <p:sldId id="440" r:id="rId179"/>
    <p:sldId id="441" r:id="rId180"/>
    <p:sldId id="442" r:id="rId181"/>
    <p:sldId id="443" r:id="rId182"/>
    <p:sldId id="444" r:id="rId183"/>
    <p:sldId id="445" r:id="rId184"/>
    <p:sldId id="446" r:id="rId185"/>
    <p:sldId id="447" r:id="rId186"/>
    <p:sldId id="448" r:id="rId187"/>
    <p:sldId id="449" r:id="rId188"/>
    <p:sldId id="450" r:id="rId189"/>
    <p:sldId id="451" r:id="rId190"/>
    <p:sldId id="452" r:id="rId191"/>
    <p:sldId id="453" r:id="rId192"/>
    <p:sldId id="454" r:id="rId193"/>
    <p:sldId id="455" r:id="rId194"/>
    <p:sldId id="456" r:id="rId195"/>
    <p:sldId id="457" r:id="rId196"/>
    <p:sldId id="458" r:id="rId197"/>
    <p:sldId id="459" r:id="rId198"/>
    <p:sldId id="460" r:id="rId199"/>
    <p:sldId id="461" r:id="rId200"/>
    <p:sldId id="462" r:id="rId201"/>
    <p:sldId id="463" r:id="rId202"/>
    <p:sldId id="464" r:id="rId203"/>
    <p:sldId id="466" r:id="rId204"/>
    <p:sldId id="467" r:id="rId205"/>
    <p:sldId id="468" r:id="rId206"/>
    <p:sldId id="469" r:id="rId207"/>
    <p:sldId id="470" r:id="rId208"/>
    <p:sldId id="471" r:id="rId209"/>
    <p:sldId id="472" r:id="rId210"/>
    <p:sldId id="473" r:id="rId211"/>
    <p:sldId id="474" r:id="rId212"/>
    <p:sldId id="475" r:id="rId213"/>
    <p:sldId id="476" r:id="rId214"/>
    <p:sldId id="477" r:id="rId215"/>
    <p:sldId id="478" r:id="rId216"/>
    <p:sldId id="479" r:id="rId217"/>
    <p:sldId id="480" r:id="rId218"/>
    <p:sldId id="481" r:id="rId219"/>
    <p:sldId id="482" r:id="rId220"/>
    <p:sldId id="483" r:id="rId221"/>
    <p:sldId id="484" r:id="rId222"/>
    <p:sldId id="485" r:id="rId223"/>
    <p:sldId id="486" r:id="rId224"/>
    <p:sldId id="487" r:id="rId225"/>
    <p:sldId id="488" r:id="rId226"/>
    <p:sldId id="489" r:id="rId227"/>
    <p:sldId id="490" r:id="rId228"/>
    <p:sldId id="491" r:id="rId229"/>
    <p:sldId id="492" r:id="rId230"/>
    <p:sldId id="493" r:id="rId231"/>
    <p:sldId id="494" r:id="rId232"/>
    <p:sldId id="495" r:id="rId233"/>
    <p:sldId id="496" r:id="rId234"/>
    <p:sldId id="497" r:id="rId235"/>
    <p:sldId id="498" r:id="rId236"/>
    <p:sldId id="499" r:id="rId237"/>
    <p:sldId id="500" r:id="rId238"/>
    <p:sldId id="501" r:id="rId239"/>
    <p:sldId id="502" r:id="rId240"/>
    <p:sldId id="503" r:id="rId241"/>
    <p:sldId id="504" r:id="rId242"/>
    <p:sldId id="506" r:id="rId243"/>
    <p:sldId id="507" r:id="rId244"/>
    <p:sldId id="508" r:id="rId245"/>
    <p:sldId id="509" r:id="rId246"/>
    <p:sldId id="510" r:id="rId247"/>
    <p:sldId id="511" r:id="rId248"/>
    <p:sldId id="512" r:id="rId249"/>
    <p:sldId id="513" r:id="rId250"/>
    <p:sldId id="515" r:id="rId251"/>
    <p:sldId id="634" r:id="rId252"/>
    <p:sldId id="635" r:id="rId253"/>
    <p:sldId id="636" r:id="rId254"/>
    <p:sldId id="519" r:id="rId255"/>
    <p:sldId id="641" r:id="rId256"/>
    <p:sldId id="637" r:id="rId257"/>
    <p:sldId id="638" r:id="rId258"/>
    <p:sldId id="523" r:id="rId259"/>
    <p:sldId id="524" r:id="rId260"/>
    <p:sldId id="526" r:id="rId261"/>
    <p:sldId id="527" r:id="rId262"/>
    <p:sldId id="528" r:id="rId263"/>
    <p:sldId id="529" r:id="rId264"/>
    <p:sldId id="530" r:id="rId265"/>
    <p:sldId id="531" r:id="rId266"/>
    <p:sldId id="532" r:id="rId267"/>
    <p:sldId id="533" r:id="rId268"/>
    <p:sldId id="639" r:id="rId269"/>
    <p:sldId id="534" r:id="rId270"/>
    <p:sldId id="535" r:id="rId271"/>
    <p:sldId id="537" r:id="rId272"/>
    <p:sldId id="538" r:id="rId273"/>
    <p:sldId id="571" r:id="rId274"/>
    <p:sldId id="540" r:id="rId275"/>
    <p:sldId id="541" r:id="rId276"/>
    <p:sldId id="542" r:id="rId277"/>
    <p:sldId id="543" r:id="rId278"/>
    <p:sldId id="544" r:id="rId279"/>
    <p:sldId id="640" r:id="rId280"/>
    <p:sldId id="546" r:id="rId281"/>
  </p:sldIdLst>
  <p:sldSz cx="9144000" cy="5143500" type="screen16x9"/>
  <p:notesSz cx="6858000" cy="9144000"/>
  <p:embeddedFontLst>
    <p:embeddedFont>
      <p:font typeface="Montserrat" panose="00000500000000000000" pitchFamily="2" charset="0"/>
      <p:regular r:id="rId283"/>
    </p:embeddedFont>
    <p:embeddedFont>
      <p:font typeface="微软雅黑 Light" panose="020B0502040204020203" pitchFamily="34" charset="-122"/>
      <p:regular r:id="rId284"/>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A19F"/>
    <a:srgbClr val="5780CA"/>
    <a:srgbClr val="FFFFFF"/>
    <a:srgbClr val="F7AA5F"/>
    <a:srgbClr val="FDEEDF"/>
    <a:srgbClr val="1AC388"/>
    <a:srgbClr val="0000CC"/>
    <a:srgbClr val="0000FF"/>
    <a:srgbClr val="FFFF00"/>
    <a:srgbClr val="0000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74242" autoAdjust="0"/>
  </p:normalViewPr>
  <p:slideViewPr>
    <p:cSldViewPr snapToGrid="0">
      <p:cViewPr>
        <p:scale>
          <a:sx n="100" d="100"/>
          <a:sy n="100" d="100"/>
        </p:scale>
        <p:origin x="1236" y="91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notesMaster" Target="notesMasters/notesMaster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font" Target="fonts/font1.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font" Target="fonts/font2.fntdata"/><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viewProps" Target="view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许多都基于客户服务器方式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许多都基于客户服务器方式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服务提供方</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703"/>
          <a:ext cx="8048776" cy="349661"/>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069" y="17772"/>
        <a:ext cx="8014638" cy="315523"/>
      </dsp:txXfrm>
    </dsp:sp>
    <dsp:sp modelId="{50B73F1F-44EA-4F89-8398-75FE0BB22E10}">
      <dsp:nvSpPr>
        <dsp:cNvPr id="0" name=""/>
        <dsp:cNvSpPr/>
      </dsp:nvSpPr>
      <dsp:spPr>
        <a:xfrm>
          <a:off x="0" y="362134"/>
          <a:ext cx="8048776" cy="349661"/>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379203"/>
        <a:ext cx="8014638" cy="315523"/>
      </dsp:txXfrm>
    </dsp:sp>
    <dsp:sp modelId="{FD5606E7-7379-4F33-830F-006516F4DFDB}">
      <dsp:nvSpPr>
        <dsp:cNvPr id="0" name=""/>
        <dsp:cNvSpPr/>
      </dsp:nvSpPr>
      <dsp:spPr>
        <a:xfrm>
          <a:off x="0" y="723566"/>
          <a:ext cx="8048776" cy="349661"/>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740635"/>
        <a:ext cx="8014638" cy="315523"/>
      </dsp:txXfrm>
    </dsp:sp>
    <dsp:sp modelId="{E1C3FBBC-EA1F-4BAD-A2D7-05E9F414FDC7}">
      <dsp:nvSpPr>
        <dsp:cNvPr id="0" name=""/>
        <dsp:cNvSpPr/>
      </dsp:nvSpPr>
      <dsp:spPr>
        <a:xfrm>
          <a:off x="0" y="1084997"/>
          <a:ext cx="8048776" cy="349661"/>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1102066"/>
        <a:ext cx="8014638" cy="315523"/>
      </dsp:txXfrm>
    </dsp:sp>
    <dsp:sp modelId="{0EB52B51-C389-4A36-BC05-864D852DF5FC}">
      <dsp:nvSpPr>
        <dsp:cNvPr id="0" name=""/>
        <dsp:cNvSpPr/>
      </dsp:nvSpPr>
      <dsp:spPr>
        <a:xfrm>
          <a:off x="0" y="1446428"/>
          <a:ext cx="8048776" cy="349661"/>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1463497"/>
        <a:ext cx="8014638" cy="315523"/>
      </dsp:txXfrm>
    </dsp:sp>
    <dsp:sp modelId="{4E4C0534-037E-45A5-BADC-B7406AF7B1C3}">
      <dsp:nvSpPr>
        <dsp:cNvPr id="0" name=""/>
        <dsp:cNvSpPr/>
      </dsp:nvSpPr>
      <dsp:spPr>
        <a:xfrm>
          <a:off x="0" y="1807860"/>
          <a:ext cx="8048776" cy="349661"/>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1824929"/>
        <a:ext cx="8014638" cy="315523"/>
      </dsp:txXfrm>
    </dsp:sp>
    <dsp:sp modelId="{EC4E5CDF-5396-4684-B963-9679F944855F}">
      <dsp:nvSpPr>
        <dsp:cNvPr id="0" name=""/>
        <dsp:cNvSpPr/>
      </dsp:nvSpPr>
      <dsp:spPr>
        <a:xfrm>
          <a:off x="0" y="2169291"/>
          <a:ext cx="8048776" cy="349661"/>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2186360"/>
        <a:ext cx="8014638" cy="315523"/>
      </dsp:txXfrm>
    </dsp:sp>
    <dsp:sp modelId="{21855FA6-2BB4-499A-A8A9-433441C6C9C7}">
      <dsp:nvSpPr>
        <dsp:cNvPr id="0" name=""/>
        <dsp:cNvSpPr/>
      </dsp:nvSpPr>
      <dsp:spPr>
        <a:xfrm>
          <a:off x="0" y="2530723"/>
          <a:ext cx="8048776" cy="349661"/>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2547792"/>
        <a:ext cx="8014638" cy="315523"/>
      </dsp:txXfrm>
    </dsp:sp>
    <dsp:sp modelId="{08F040B1-2CBD-4876-96AA-45AF94F7D94E}">
      <dsp:nvSpPr>
        <dsp:cNvPr id="0" name=""/>
        <dsp:cNvSpPr/>
      </dsp:nvSpPr>
      <dsp:spPr>
        <a:xfrm>
          <a:off x="0" y="2892154"/>
          <a:ext cx="8048776" cy="349661"/>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2909223"/>
        <a:ext cx="8014638" cy="31552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2025/11/26</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41</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12893177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130</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131</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132</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133</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150</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204</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251</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252</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255</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256</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257</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259</a:t>
            </a:fld>
            <a:endParaRPr lang="zh-CN" altLang="en-US"/>
          </a:p>
        </p:txBody>
      </p:sp>
    </p:spTree>
    <p:extLst>
      <p:ext uri="{BB962C8B-B14F-4D97-AF65-F5344CB8AC3E}">
        <p14:creationId xmlns:p14="http://schemas.microsoft.com/office/powerpoint/2010/main" val="28683634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268</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279</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280</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Light" panose="020B0502040204020203"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Light" panose="020B0502040204020203"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482554"/>
            <a:ext cx="8172000" cy="42840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just">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Light" panose="020B0502040204020203"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482554"/>
            <a:ext cx="4086001" cy="42840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C00000"/>
            </a:solidFill>
            <a:miter lim="800000"/>
            <a:headEnd/>
            <a:tailEnd/>
          </a:ln>
        </p:spPr>
        <p:txBody>
          <a:bodyPr wrap="none" anchor="ctr"/>
          <a:lstStyle/>
          <a:p>
            <a:pPr algn="ctr" eaLnBrk="0" hangingPunct="0"/>
            <a:endParaRPr lang="fr-FR" altLang="zh-CN" dirty="0">
              <a:latin typeface="Montserrat" panose="00000500000000000000" pitchFamily="2" charset="0"/>
              <a:ea typeface="微软雅黑 Light" panose="020B0502040204020203" pitchFamily="34" charset="-122"/>
              <a:cs typeface="Arial" charset="0"/>
            </a:endParaRPr>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grpSp>
        <p:nvGrpSpPr>
          <p:cNvPr id="2" name="组合 1">
            <a:extLst>
              <a:ext uri="{FF2B5EF4-FFF2-40B4-BE49-F238E27FC236}">
                <a16:creationId xmlns:a16="http://schemas.microsoft.com/office/drawing/2014/main" id="{0ADD7815-697F-0F45-DCE5-265C14E71C66}"/>
              </a:ext>
            </a:extLst>
          </p:cNvPr>
          <p:cNvGrpSpPr/>
          <p:nvPr userDrawn="1"/>
        </p:nvGrpSpPr>
        <p:grpSpPr>
          <a:xfrm>
            <a:off x="3502840" y="4783500"/>
            <a:ext cx="2313546" cy="360000"/>
            <a:chOff x="3502840" y="149234"/>
            <a:chExt cx="2313546"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Light" panose="020B0502040204020203" pitchFamily="34" charset="-122"/>
                  <a:ea typeface="微软雅黑 Light" panose="020B0502040204020203" pitchFamily="34" charset="-122"/>
                </a:rPr>
                <a:t>广州华立学院</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98429"/>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计算机网络</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5.bin"/></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5.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11.wmf"/></Relationships>
</file>

<file path=ppt/slides/_rels/slide76.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11.wmf"/></Relationships>
</file>

<file path=ppt/slides/_rels/slide7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7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7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11.bin"/></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12.bin"/><Relationship Id="rId1" Type="http://schemas.openxmlformats.org/officeDocument/2006/relationships/slideLayout" Target="../slideLayouts/slideLayout5.xml"/><Relationship Id="rId5" Type="http://schemas.openxmlformats.org/officeDocument/2006/relationships/image" Target="../media/image17.emf"/><Relationship Id="rId4" Type="http://schemas.openxmlformats.org/officeDocument/2006/relationships/oleObject" Target="../embeddings/oleObject13.bin"/></Relationships>
</file>

<file path=ppt/slides/_rels/slide126.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14.bin"/><Relationship Id="rId1" Type="http://schemas.openxmlformats.org/officeDocument/2006/relationships/slideLayout" Target="../slideLayouts/slideLayout5.xml"/><Relationship Id="rId5" Type="http://schemas.openxmlformats.org/officeDocument/2006/relationships/image" Target="../media/image17.emf"/><Relationship Id="rId4" Type="http://schemas.openxmlformats.org/officeDocument/2006/relationships/oleObject" Target="../embeddings/oleObject15.bin"/></Relationships>
</file>

<file path=ppt/slides/_rels/slide127.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16.bin"/><Relationship Id="rId1" Type="http://schemas.openxmlformats.org/officeDocument/2006/relationships/slideLayout" Target="../slideLayouts/slideLayout5.xml"/><Relationship Id="rId5" Type="http://schemas.openxmlformats.org/officeDocument/2006/relationships/image" Target="../media/image17.emf"/><Relationship Id="rId4" Type="http://schemas.openxmlformats.org/officeDocument/2006/relationships/oleObject" Target="../embeddings/oleObject17.bin"/></Relationships>
</file>

<file path=ppt/slides/_rels/slide128.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18.bin"/><Relationship Id="rId1" Type="http://schemas.openxmlformats.org/officeDocument/2006/relationships/slideLayout" Target="../slideLayouts/slideLayout5.xml"/><Relationship Id="rId5" Type="http://schemas.openxmlformats.org/officeDocument/2006/relationships/image" Target="../media/image17.emf"/><Relationship Id="rId4" Type="http://schemas.openxmlformats.org/officeDocument/2006/relationships/oleObject" Target="../embeddings/oleObject19.bin"/></Relationships>
</file>

<file path=ppt/slides/_rels/slide129.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20.bin"/><Relationship Id="rId1" Type="http://schemas.openxmlformats.org/officeDocument/2006/relationships/slideLayout" Target="../slideLayouts/slideLayout5.xml"/><Relationship Id="rId5" Type="http://schemas.openxmlformats.org/officeDocument/2006/relationships/image" Target="../media/image17.emf"/><Relationship Id="rId4" Type="http://schemas.openxmlformats.org/officeDocument/2006/relationships/oleObject" Target="../embeddings/oleObject21.bin"/></Relationships>
</file>

<file path=ppt/slides/_rels/slide130.xml.rels><?xml version="1.0" encoding="UTF-8" standalone="yes"?>
<Relationships xmlns="http://schemas.openxmlformats.org/package/2006/relationships"><Relationship Id="rId8" Type="http://schemas.openxmlformats.org/officeDocument/2006/relationships/oleObject" Target="../embeddings/oleObject24.bin"/><Relationship Id="rId3" Type="http://schemas.openxmlformats.org/officeDocument/2006/relationships/oleObject" Target="../embeddings/oleObject22.bin"/><Relationship Id="rId7" Type="http://schemas.openxmlformats.org/officeDocument/2006/relationships/image" Target="../media/image16.emf"/><Relationship Id="rId2" Type="http://schemas.openxmlformats.org/officeDocument/2006/relationships/notesSlide" Target="../notesSlides/notesSlide13.xml"/><Relationship Id="rId1" Type="http://schemas.openxmlformats.org/officeDocument/2006/relationships/slideLayout" Target="../slideLayouts/slideLayout5.xml"/><Relationship Id="rId6" Type="http://schemas.openxmlformats.org/officeDocument/2006/relationships/oleObject" Target="../embeddings/oleObject23.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7.emf"/></Relationships>
</file>

<file path=ppt/slides/_rels/slide131.xml.rels><?xml version="1.0" encoding="UTF-8" standalone="yes"?>
<Relationships xmlns="http://schemas.openxmlformats.org/package/2006/relationships"><Relationship Id="rId8" Type="http://schemas.openxmlformats.org/officeDocument/2006/relationships/oleObject" Target="../embeddings/oleObject27.bin"/><Relationship Id="rId3" Type="http://schemas.openxmlformats.org/officeDocument/2006/relationships/oleObject" Target="../embeddings/oleObject25.bin"/><Relationship Id="rId7" Type="http://schemas.openxmlformats.org/officeDocument/2006/relationships/image" Target="../media/image16.emf"/><Relationship Id="rId2" Type="http://schemas.openxmlformats.org/officeDocument/2006/relationships/notesSlide" Target="../notesSlides/notesSlide14.xml"/><Relationship Id="rId1" Type="http://schemas.openxmlformats.org/officeDocument/2006/relationships/slideLayout" Target="../slideLayouts/slideLayout5.xml"/><Relationship Id="rId6" Type="http://schemas.openxmlformats.org/officeDocument/2006/relationships/oleObject" Target="../embeddings/oleObject26.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7.emf"/></Relationships>
</file>

<file path=ppt/slides/_rels/slide132.xml.rels><?xml version="1.0" encoding="UTF-8" standalone="yes"?>
<Relationships xmlns="http://schemas.openxmlformats.org/package/2006/relationships"><Relationship Id="rId8" Type="http://schemas.openxmlformats.org/officeDocument/2006/relationships/image" Target="../media/image17.emf"/><Relationship Id="rId3" Type="http://schemas.openxmlformats.org/officeDocument/2006/relationships/oleObject" Target="../embeddings/oleObject28.bin"/><Relationship Id="rId7" Type="http://schemas.openxmlformats.org/officeDocument/2006/relationships/oleObject" Target="../embeddings/oleObject30.bin"/><Relationship Id="rId2" Type="http://schemas.openxmlformats.org/officeDocument/2006/relationships/notesSlide" Target="../notesSlides/notesSlide15.xml"/><Relationship Id="rId1" Type="http://schemas.openxmlformats.org/officeDocument/2006/relationships/slideLayout" Target="../slideLayouts/slideLayout5.xml"/><Relationship Id="rId6" Type="http://schemas.openxmlformats.org/officeDocument/2006/relationships/image" Target="../media/image16.emf"/><Relationship Id="rId5" Type="http://schemas.openxmlformats.org/officeDocument/2006/relationships/oleObject" Target="../embeddings/oleObject29.bin"/><Relationship Id="rId4" Type="http://schemas.openxmlformats.org/officeDocument/2006/relationships/image" Target="../media/image11.wmf"/></Relationships>
</file>

<file path=ppt/slides/_rels/slide133.xml.rels><?xml version="1.0" encoding="UTF-8" standalone="yes"?>
<Relationships xmlns="http://schemas.openxmlformats.org/package/2006/relationships"><Relationship Id="rId8" Type="http://schemas.openxmlformats.org/officeDocument/2006/relationships/oleObject" Target="../embeddings/oleObject34.bin"/><Relationship Id="rId3" Type="http://schemas.openxmlformats.org/officeDocument/2006/relationships/oleObject" Target="../embeddings/oleObject31.bin"/><Relationship Id="rId7" Type="http://schemas.openxmlformats.org/officeDocument/2006/relationships/image" Target="../media/image16.emf"/><Relationship Id="rId2" Type="http://schemas.openxmlformats.org/officeDocument/2006/relationships/notesSlide" Target="../notesSlides/notesSlide16.xml"/><Relationship Id="rId1" Type="http://schemas.openxmlformats.org/officeDocument/2006/relationships/slideLayout" Target="../slideLayouts/slideLayout5.xml"/><Relationship Id="rId6" Type="http://schemas.openxmlformats.org/officeDocument/2006/relationships/oleObject" Target="../embeddings/oleObject33.bin"/><Relationship Id="rId5" Type="http://schemas.openxmlformats.org/officeDocument/2006/relationships/oleObject" Target="../embeddings/oleObject32.bin"/><Relationship Id="rId4" Type="http://schemas.openxmlformats.org/officeDocument/2006/relationships/image" Target="../media/image11.wmf"/><Relationship Id="rId9" Type="http://schemas.openxmlformats.org/officeDocument/2006/relationships/image" Target="../media/image17.emf"/></Relationships>
</file>

<file path=ppt/slides/_rels/slide134.xml.rels><?xml version="1.0" encoding="UTF-8" standalone="yes"?>
<Relationships xmlns="http://schemas.openxmlformats.org/package/2006/relationships"><Relationship Id="rId8" Type="http://schemas.openxmlformats.org/officeDocument/2006/relationships/image" Target="../media/image17.emf"/><Relationship Id="rId3" Type="http://schemas.openxmlformats.org/officeDocument/2006/relationships/oleObject" Target="../embeddings/oleObject35.bin"/><Relationship Id="rId7" Type="http://schemas.openxmlformats.org/officeDocument/2006/relationships/oleObject" Target="../embeddings/oleObject37.bin"/><Relationship Id="rId2" Type="http://schemas.openxmlformats.org/officeDocument/2006/relationships/notesSlide" Target="../notesSlides/notesSlide17.xml"/><Relationship Id="rId1" Type="http://schemas.openxmlformats.org/officeDocument/2006/relationships/slideLayout" Target="../slideLayouts/slideLayout5.xml"/><Relationship Id="rId6" Type="http://schemas.openxmlformats.org/officeDocument/2006/relationships/image" Target="../media/image16.emf"/><Relationship Id="rId5" Type="http://schemas.openxmlformats.org/officeDocument/2006/relationships/oleObject" Target="../embeddings/oleObject36.bin"/><Relationship Id="rId4" Type="http://schemas.openxmlformats.org/officeDocument/2006/relationships/image" Target="../media/image11.wmf"/></Relationships>
</file>

<file path=ppt/slides/_rels/slide135.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7.emf"/><Relationship Id="rId2" Type="http://schemas.openxmlformats.org/officeDocument/2006/relationships/oleObject" Target="../embeddings/oleObject38.bin"/><Relationship Id="rId1" Type="http://schemas.openxmlformats.org/officeDocument/2006/relationships/slideLayout" Target="../slideLayouts/slideLayout5.xml"/><Relationship Id="rId6" Type="http://schemas.openxmlformats.org/officeDocument/2006/relationships/oleObject" Target="../embeddings/oleObject40.bin"/><Relationship Id="rId5" Type="http://schemas.openxmlformats.org/officeDocument/2006/relationships/image" Target="../media/image16.emf"/><Relationship Id="rId4" Type="http://schemas.openxmlformats.org/officeDocument/2006/relationships/oleObject" Target="../embeddings/oleObject39.bin"/></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8.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41.bin"/><Relationship Id="rId1" Type="http://schemas.openxmlformats.org/officeDocument/2006/relationships/slideLayout" Target="../slideLayouts/slideLayout5.xml"/><Relationship Id="rId5" Type="http://schemas.openxmlformats.org/officeDocument/2006/relationships/image" Target="../media/image17.emf"/><Relationship Id="rId4" Type="http://schemas.openxmlformats.org/officeDocument/2006/relationships/oleObject" Target="../embeddings/oleObject42.bin"/></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43.bin"/><Relationship Id="rId1" Type="http://schemas.openxmlformats.org/officeDocument/2006/relationships/slideLayout" Target="../slideLayouts/slideLayout5.xml"/><Relationship Id="rId5" Type="http://schemas.openxmlformats.org/officeDocument/2006/relationships/image" Target="../media/image17.emf"/><Relationship Id="rId4" Type="http://schemas.openxmlformats.org/officeDocument/2006/relationships/oleObject" Target="../embeddings/oleObject44.bin"/></Relationships>
</file>

<file path=ppt/slides/_rels/slide152.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oleObject" Target="../embeddings/oleObject45.bin"/><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46.bin"/><Relationship Id="rId1" Type="http://schemas.openxmlformats.org/officeDocument/2006/relationships/slideLayout" Target="../slideLayouts/slideLayout5.xml"/><Relationship Id="rId5" Type="http://schemas.openxmlformats.org/officeDocument/2006/relationships/image" Target="../media/image17.emf"/><Relationship Id="rId4" Type="http://schemas.openxmlformats.org/officeDocument/2006/relationships/oleObject" Target="../embeddings/oleObject47.bin"/></Relationships>
</file>

<file path=ppt/slides/_rels/slide160.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oleObject" Target="../embeddings/oleObject48.bin"/><Relationship Id="rId1" Type="http://schemas.openxmlformats.org/officeDocument/2006/relationships/slideLayout" Target="../slideLayouts/slideLayout5.xml"/><Relationship Id="rId5" Type="http://schemas.openxmlformats.org/officeDocument/2006/relationships/image" Target="../media/image17.emf"/><Relationship Id="rId4" Type="http://schemas.openxmlformats.org/officeDocument/2006/relationships/oleObject" Target="../embeddings/oleObject49.bin"/></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50.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1.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oleObject" Target="../embeddings/oleObject51.bin"/><Relationship Id="rId1" Type="http://schemas.openxmlformats.org/officeDocument/2006/relationships/slideLayout" Target="../slideLayouts/slideLayout5.xml"/><Relationship Id="rId4" Type="http://schemas.openxmlformats.org/officeDocument/2006/relationships/image" Target="../media/image22.wmf"/></Relationships>
</file>

<file path=ppt/slides/_rels/slide262.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oleObject" Target="../embeddings/oleObject52.bin"/><Relationship Id="rId1" Type="http://schemas.openxmlformats.org/officeDocument/2006/relationships/slideLayout" Target="../slideLayouts/slideLayout5.xml"/><Relationship Id="rId4" Type="http://schemas.openxmlformats.org/officeDocument/2006/relationships/image" Target="../media/image22.wmf"/></Relationships>
</file>

<file path=ppt/slides/_rels/slide263.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oleObject" Target="../embeddings/oleObject53.bin"/><Relationship Id="rId1" Type="http://schemas.openxmlformats.org/officeDocument/2006/relationships/slideLayout" Target="../slideLayouts/slideLayout5.xml"/><Relationship Id="rId4" Type="http://schemas.openxmlformats.org/officeDocument/2006/relationships/image" Target="../media/image22.wmf"/></Relationships>
</file>

<file path=ppt/slides/_rels/slide264.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oleObject" Target="../embeddings/oleObject54.bin"/><Relationship Id="rId1" Type="http://schemas.openxmlformats.org/officeDocument/2006/relationships/slideLayout" Target="../slideLayouts/slideLayout5.xml"/><Relationship Id="rId4" Type="http://schemas.openxmlformats.org/officeDocument/2006/relationships/image" Target="../media/image22.wmf"/></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68.xml.rels><?xml version="1.0" encoding="UTF-8" standalone="yes"?>
<Relationships xmlns="http://schemas.openxmlformats.org/package/2006/relationships"><Relationship Id="rId8" Type="http://schemas.openxmlformats.org/officeDocument/2006/relationships/oleObject" Target="../embeddings/oleObject58.bin"/><Relationship Id="rId3" Type="http://schemas.openxmlformats.org/officeDocument/2006/relationships/oleObject" Target="../embeddings/oleObject55.bin"/><Relationship Id="rId7" Type="http://schemas.openxmlformats.org/officeDocument/2006/relationships/oleObject" Target="../embeddings/oleObject57.bin"/><Relationship Id="rId2" Type="http://schemas.openxmlformats.org/officeDocument/2006/relationships/notesSlide" Target="../notesSlides/notesSlide28.xml"/><Relationship Id="rId1" Type="http://schemas.openxmlformats.org/officeDocument/2006/relationships/slideLayout" Target="../slideLayouts/slideLayout5.xml"/><Relationship Id="rId6" Type="http://schemas.openxmlformats.org/officeDocument/2006/relationships/image" Target="../media/image11.wmf"/><Relationship Id="rId5" Type="http://schemas.openxmlformats.org/officeDocument/2006/relationships/oleObject" Target="../embeddings/oleObject56.bin"/><Relationship Id="rId4" Type="http://schemas.openxmlformats.org/officeDocument/2006/relationships/image" Target="../media/image23.wmf"/></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Light" panose="020B0502040204020203" pitchFamily="34" charset="-122"/>
                <a:ea typeface="微软雅黑 Light" panose="020B0502040204020203" pitchFamily="34" charset="-122"/>
              </a:rPr>
              <a:t>应</a:t>
            </a:r>
            <a:r>
              <a:rPr lang="zh-CN" altLang="en-US" sz="2400" b="1" dirty="0">
                <a:solidFill>
                  <a:schemeClr val="bg1"/>
                </a:solidFill>
                <a:latin typeface="微软雅黑 Light" panose="020B0502040204020203" pitchFamily="34" charset="-122"/>
                <a:ea typeface="微软雅黑 Light" panose="020B0502040204020203" pitchFamily="34" charset="-122"/>
              </a:rPr>
              <a:t> </a:t>
            </a:r>
            <a:r>
              <a:rPr lang="zh-CN" altLang="en-US" sz="5500" b="1" dirty="0">
                <a:solidFill>
                  <a:schemeClr val="bg1"/>
                </a:solidFill>
                <a:latin typeface="微软雅黑 Light" panose="020B0502040204020203" pitchFamily="34" charset="-122"/>
                <a:ea typeface="微软雅黑 Light" panose="020B0502040204020203" pitchFamily="34" charset="-122"/>
              </a:rPr>
              <a:t>用</a:t>
            </a:r>
            <a:r>
              <a:rPr lang="zh-CN" altLang="en-US" sz="2400" b="1" dirty="0">
                <a:solidFill>
                  <a:schemeClr val="bg1"/>
                </a:solidFill>
                <a:latin typeface="微软雅黑 Light" panose="020B0502040204020203" pitchFamily="34" charset="-122"/>
                <a:ea typeface="微软雅黑 Light" panose="020B0502040204020203" pitchFamily="34" charset="-122"/>
              </a:rPr>
              <a:t> </a:t>
            </a:r>
            <a:r>
              <a:rPr lang="zh-CN" altLang="en-US" sz="5500" b="1" dirty="0">
                <a:solidFill>
                  <a:schemeClr val="bg1"/>
                </a:solidFill>
                <a:latin typeface="微软雅黑 Light" panose="020B0502040204020203" pitchFamily="34" charset="-122"/>
                <a:ea typeface="微软雅黑 Light" panose="020B0502040204020203" pitchFamily="34" charset="-122"/>
              </a:rPr>
              <a:t>层</a:t>
            </a:r>
            <a:endParaRPr lang="fr-FR" altLang="zh-CN" sz="5500" b="1" dirty="0">
              <a:solidFill>
                <a:schemeClr val="bg1"/>
              </a:solidFill>
              <a:latin typeface="微软雅黑 Light" panose="020B0502040204020203" pitchFamily="34" charset="-122"/>
              <a:ea typeface="微软雅黑 Light" panose="020B0502040204020203"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Light" panose="020B0502040204020203" pitchFamily="34" charset="-122"/>
                <a:ea typeface="微软雅黑 Light" panose="020B0502040204020203" pitchFamily="34" charset="-122"/>
              </a:rPr>
              <a:t>第 6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Light" panose="020B0502040204020203" pitchFamily="34" charset="-122"/>
                <a:ea typeface="微软雅黑 Light" panose="020B0502040204020203"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Light" panose="020B0502040204020203" pitchFamily="34" charset="-122"/>
                <a:ea typeface="微软雅黑 Light" panose="020B0502040204020203"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598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2166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598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303200"/>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10"/>
          <p:cNvSpPr>
            <a:spLocks noChangeArrowheads="1"/>
          </p:cNvSpPr>
          <p:nvPr/>
        </p:nvSpPr>
        <p:spPr bwMode="auto">
          <a:xfrm>
            <a:off x="1684337" y="27514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3" name="Rectangle 11"/>
          <p:cNvSpPr>
            <a:spLocks noChangeArrowheads="1"/>
          </p:cNvSpPr>
          <p:nvPr/>
        </p:nvSpPr>
        <p:spPr bwMode="auto">
          <a:xfrm>
            <a:off x="1684337" y="315919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4" name="Rectangle 12"/>
          <p:cNvSpPr>
            <a:spLocks noChangeArrowheads="1"/>
          </p:cNvSpPr>
          <p:nvPr/>
        </p:nvSpPr>
        <p:spPr bwMode="auto">
          <a:xfrm>
            <a:off x="1684337" y="355624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5" name="Rectangle 13"/>
          <p:cNvSpPr>
            <a:spLocks noChangeArrowheads="1"/>
          </p:cNvSpPr>
          <p:nvPr/>
        </p:nvSpPr>
        <p:spPr bwMode="auto">
          <a:xfrm>
            <a:off x="1684337" y="3973054"/>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6" name="Rectangle 9"/>
          <p:cNvSpPr>
            <a:spLocks noChangeArrowheads="1"/>
          </p:cNvSpPr>
          <p:nvPr/>
        </p:nvSpPr>
        <p:spPr bwMode="auto">
          <a:xfrm>
            <a:off x="1684337" y="72316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7" name="Rectangle 10"/>
          <p:cNvSpPr>
            <a:spLocks noChangeArrowheads="1"/>
          </p:cNvSpPr>
          <p:nvPr/>
        </p:nvSpPr>
        <p:spPr bwMode="auto">
          <a:xfrm>
            <a:off x="1684337" y="113927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8" name="Rectangle 11"/>
          <p:cNvSpPr>
            <a:spLocks noChangeArrowheads="1"/>
          </p:cNvSpPr>
          <p:nvPr/>
        </p:nvSpPr>
        <p:spPr bwMode="auto">
          <a:xfrm>
            <a:off x="1684337" y="153783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9" name="Rectangle 12"/>
          <p:cNvSpPr>
            <a:spLocks noChangeArrowheads="1"/>
          </p:cNvSpPr>
          <p:nvPr/>
        </p:nvSpPr>
        <p:spPr bwMode="auto">
          <a:xfrm>
            <a:off x="1684337" y="195317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20" name="Rectangle 13"/>
          <p:cNvSpPr>
            <a:spLocks noChangeArrowheads="1"/>
          </p:cNvSpPr>
          <p:nvPr/>
        </p:nvSpPr>
        <p:spPr bwMode="auto">
          <a:xfrm>
            <a:off x="1684337" y="2351694"/>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21" name="Rectangle 17"/>
          <p:cNvSpPr>
            <a:spLocks noChangeArrowheads="1"/>
          </p:cNvSpPr>
          <p:nvPr/>
        </p:nvSpPr>
        <p:spPr bwMode="auto">
          <a:xfrm>
            <a:off x="1716084" y="626374"/>
            <a:ext cx="56621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6.1                                             </a:t>
            </a:r>
            <a:r>
              <a:rPr lang="zh-CN" altLang="en-US" sz="2000" b="1" dirty="0">
                <a:solidFill>
                  <a:schemeClr val="bg1"/>
                </a:solidFill>
                <a:latin typeface="微软雅黑 Light" panose="020B0502040204020203" pitchFamily="34" charset="-122"/>
                <a:ea typeface="微软雅黑 Light" panose="020B0502040204020203" pitchFamily="34" charset="-122"/>
              </a:rPr>
              <a:t>域名系统 </a:t>
            </a:r>
            <a:r>
              <a:rPr lang="en-US" altLang="zh-CN" sz="2000" b="1" dirty="0">
                <a:solidFill>
                  <a:schemeClr val="bg1"/>
                </a:solidFill>
                <a:latin typeface="微软雅黑 Light" panose="020B0502040204020203" pitchFamily="34" charset="-122"/>
                <a:ea typeface="微软雅黑 Light" panose="020B0502040204020203" pitchFamily="34" charset="-122"/>
              </a:rPr>
              <a:t>DNS</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6.2                                              </a:t>
            </a:r>
            <a:r>
              <a:rPr lang="zh-CN" altLang="en-US" sz="2000" b="1" dirty="0">
                <a:solidFill>
                  <a:schemeClr val="bg1"/>
                </a:solidFill>
                <a:latin typeface="微软雅黑 Light" panose="020B0502040204020203" pitchFamily="34" charset="-122"/>
                <a:ea typeface="微软雅黑 Light" panose="020B0502040204020203" pitchFamily="34" charset="-122"/>
              </a:rPr>
              <a:t>文件传送协议</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6.3                                 </a:t>
            </a:r>
            <a:r>
              <a:rPr lang="zh-CN" altLang="en-US" sz="2000" b="1" dirty="0">
                <a:solidFill>
                  <a:schemeClr val="bg1"/>
                </a:solidFill>
                <a:latin typeface="微软雅黑 Light" panose="020B0502040204020203" pitchFamily="34" charset="-122"/>
                <a:ea typeface="微软雅黑 Light" panose="020B0502040204020203" pitchFamily="34" charset="-122"/>
              </a:rPr>
              <a:t>远程终端协议 </a:t>
            </a:r>
            <a:r>
              <a:rPr lang="en-US" altLang="zh-CN" sz="2000" b="1" dirty="0">
                <a:solidFill>
                  <a:schemeClr val="bg1"/>
                </a:solidFill>
                <a:latin typeface="微软雅黑 Light" panose="020B0502040204020203" pitchFamily="34" charset="-122"/>
                <a:ea typeface="微软雅黑 Light" panose="020B0502040204020203" pitchFamily="34" charset="-122"/>
              </a:rPr>
              <a:t>TELNET</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6.4                                             </a:t>
            </a:r>
            <a:r>
              <a:rPr lang="zh-CN" altLang="en-US" sz="2000" b="1" dirty="0">
                <a:solidFill>
                  <a:schemeClr val="bg1"/>
                </a:solidFill>
                <a:latin typeface="微软雅黑 Light" panose="020B0502040204020203" pitchFamily="34" charset="-122"/>
                <a:ea typeface="微软雅黑 Light" panose="020B0502040204020203" pitchFamily="34" charset="-122"/>
              </a:rPr>
              <a:t>万维网 </a:t>
            </a:r>
            <a:r>
              <a:rPr lang="en-US" altLang="zh-CN" sz="2000" b="1" dirty="0">
                <a:solidFill>
                  <a:schemeClr val="bg1"/>
                </a:solidFill>
                <a:latin typeface="微软雅黑 Light" panose="020B0502040204020203" pitchFamily="34" charset="-122"/>
                <a:ea typeface="微软雅黑 Light" panose="020B0502040204020203" pitchFamily="34" charset="-122"/>
              </a:rPr>
              <a:t>WWW</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6.5                                                     </a:t>
            </a:r>
            <a:r>
              <a:rPr lang="zh-CN" altLang="en-US" sz="2000" b="1" dirty="0">
                <a:solidFill>
                  <a:schemeClr val="bg1"/>
                </a:solidFill>
                <a:latin typeface="微软雅黑 Light" panose="020B0502040204020203" pitchFamily="34" charset="-122"/>
                <a:ea typeface="微软雅黑 Light" panose="020B0502040204020203" pitchFamily="34" charset="-122"/>
              </a:rPr>
              <a:t>电子邮件</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6.6                             </a:t>
            </a:r>
            <a:r>
              <a:rPr lang="zh-CN" altLang="en-US" sz="2000" b="1" dirty="0">
                <a:solidFill>
                  <a:schemeClr val="bg1"/>
                </a:solidFill>
                <a:latin typeface="微软雅黑 Light" panose="020B0502040204020203" pitchFamily="34" charset="-122"/>
                <a:ea typeface="微软雅黑 Light" panose="020B0502040204020203" pitchFamily="34" charset="-122"/>
              </a:rPr>
              <a:t>动态主机配置协议 </a:t>
            </a:r>
            <a:r>
              <a:rPr lang="en-US" altLang="zh-CN" sz="2000" b="1" dirty="0">
                <a:solidFill>
                  <a:schemeClr val="bg1"/>
                </a:solidFill>
                <a:latin typeface="微软雅黑 Light" panose="020B0502040204020203" pitchFamily="34" charset="-122"/>
                <a:ea typeface="微软雅黑 Light" panose="020B0502040204020203" pitchFamily="34" charset="-122"/>
              </a:rPr>
              <a:t>DHCP</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6.7                            </a:t>
            </a:r>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6.8                              </a:t>
            </a:r>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应用进程跨越网络的通信</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6.9                                                    P2P </a:t>
            </a:r>
            <a:r>
              <a:rPr lang="zh-CN" altLang="en-US" sz="2000" b="1" dirty="0">
                <a:solidFill>
                  <a:schemeClr val="bg1"/>
                </a:solidFill>
                <a:latin typeface="微软雅黑 Light" panose="020B0502040204020203" pitchFamily="34" charset="-122"/>
                <a:ea typeface="微软雅黑 Light" panose="020B0502040204020203" pitchFamily="34" charset="-122"/>
              </a:rPr>
              <a:t>应用</a:t>
            </a: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4209304" y="3583829"/>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4209304" y="1156739"/>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3840654" y="1300739"/>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3840654" y="2514284"/>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2220654" y="2370284"/>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4209304" y="1503466"/>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4209304" y="18501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4209304" y="21969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4209304" y="25436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4209304" y="28903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4209304" y="32371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2880000" y="144000"/>
            <a:ext cx="3384000" cy="338554"/>
          </a:xfrm>
        </p:spPr>
        <p:txBody>
          <a:bodyPr/>
          <a:lstStyle/>
          <a:p>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482554"/>
            <a:ext cx="8172000" cy="4284000"/>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4154559016"/>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2880000" y="144000"/>
            <a:ext cx="3384000" cy="338554"/>
          </a:xfrm>
        </p:spPr>
        <p:txBody>
          <a:bodyPr/>
          <a:lstStyle/>
          <a:p>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138340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4" name="Rectangle 10"/>
          <p:cNvSpPr>
            <a:spLocks noChangeArrowheads="1"/>
          </p:cNvSpPr>
          <p:nvPr/>
        </p:nvSpPr>
        <p:spPr bwMode="auto">
          <a:xfrm>
            <a:off x="2629135" y="1989829"/>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5" name="Rectangle 11"/>
          <p:cNvSpPr>
            <a:spLocks noChangeArrowheads="1"/>
          </p:cNvSpPr>
          <p:nvPr/>
        </p:nvSpPr>
        <p:spPr bwMode="auto">
          <a:xfrm>
            <a:off x="2629135" y="26073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7" name="Rectangle 8"/>
          <p:cNvSpPr>
            <a:spLocks noChangeArrowheads="1"/>
          </p:cNvSpPr>
          <p:nvPr/>
        </p:nvSpPr>
        <p:spPr bwMode="auto">
          <a:xfrm>
            <a:off x="2700573" y="1129404"/>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6.1.1                                         </a:t>
            </a:r>
            <a:r>
              <a:rPr lang="zh-CN" altLang="en-US" sz="2000" b="1" dirty="0">
                <a:solidFill>
                  <a:schemeClr val="bg1"/>
                </a:solidFill>
                <a:latin typeface="微软雅黑 Light" panose="020B0502040204020203" pitchFamily="34" charset="-122"/>
                <a:ea typeface="微软雅黑 Light" panose="020B0502040204020203" pitchFamily="34" charset="-122"/>
              </a:rPr>
              <a:t>域名系统概述</a:t>
            </a:r>
          </a:p>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6.1.2                                  </a:t>
            </a:r>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互联网的域名结构</a:t>
            </a:r>
          </a:p>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6.1.3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18" name="Rectangle 27"/>
          <p:cNvSpPr>
            <a:spLocks noChangeArrowheads="1"/>
          </p:cNvSpPr>
          <p:nvPr/>
        </p:nvSpPr>
        <p:spPr bwMode="auto">
          <a:xfrm>
            <a:off x="639730" y="1383404"/>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19" name="Rectangle 29"/>
          <p:cNvSpPr>
            <a:spLocks noChangeArrowheads="1"/>
          </p:cNvSpPr>
          <p:nvPr/>
        </p:nvSpPr>
        <p:spPr bwMode="auto">
          <a:xfrm>
            <a:off x="648619" y="1478336"/>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Light" panose="020B0502040204020203" pitchFamily="34" charset="-122"/>
                <a:ea typeface="微软雅黑 Light" panose="020B0502040204020203" pitchFamily="34" charset="-122"/>
              </a:rPr>
              <a:t>6.1</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域名系统 </a:t>
            </a:r>
            <a:r>
              <a:rPr lang="en-US" altLang="zh-CN" sz="2000" b="1" dirty="0">
                <a:solidFill>
                  <a:schemeClr val="bg1"/>
                </a:solidFill>
                <a:latin typeface="微软雅黑 Light" panose="020B0502040204020203" pitchFamily="34" charset="-122"/>
                <a:ea typeface="微软雅黑 Light" panose="020B0502040204020203" pitchFamily="34" charset="-122"/>
              </a:rPr>
              <a:t>DNS</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AutoShape 5"/>
          <p:cNvSpPr>
            <a:spLocks noChangeArrowheads="1"/>
          </p:cNvSpPr>
          <p:nvPr/>
        </p:nvSpPr>
        <p:spPr bwMode="auto">
          <a:xfrm>
            <a:off x="545143" y="614807"/>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4" name="Rectangle 6"/>
          <p:cNvSpPr>
            <a:spLocks noChangeArrowheads="1"/>
          </p:cNvSpPr>
          <p:nvPr/>
        </p:nvSpPr>
        <p:spPr bwMode="auto">
          <a:xfrm>
            <a:off x="3186846" y="572536"/>
            <a:ext cx="2770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6.1.1  </a:t>
            </a:r>
            <a:r>
              <a:rPr lang="zh-CN" altLang="en-US" sz="2400" b="1" dirty="0">
                <a:solidFill>
                  <a:schemeClr val="bg1"/>
                </a:solidFill>
                <a:latin typeface="微软雅黑 Light" panose="020B0502040204020203" pitchFamily="34" charset="-122"/>
                <a:ea typeface="微软雅黑 Light" panose="020B0502040204020203" pitchFamily="34" charset="-122"/>
              </a:rPr>
              <a:t>域名系统概述</a:t>
            </a:r>
          </a:p>
        </p:txBody>
      </p:sp>
      <p:sp>
        <p:nvSpPr>
          <p:cNvPr id="15" name="Rectangle 8"/>
          <p:cNvSpPr>
            <a:spLocks noChangeArrowheads="1"/>
          </p:cNvSpPr>
          <p:nvPr/>
        </p:nvSpPr>
        <p:spPr bwMode="auto">
          <a:xfrm>
            <a:off x="545143" y="1003858"/>
            <a:ext cx="8053711" cy="15286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8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域名系统 </a:t>
            </a:r>
            <a:r>
              <a:rPr lang="en-US" altLang="zh-CN" sz="2000" b="1" dirty="0">
                <a:solidFill>
                  <a:srgbClr val="C00000"/>
                </a:solidFill>
                <a:latin typeface="微软雅黑 Light" panose="020B0502040204020203" pitchFamily="34" charset="-122"/>
                <a:ea typeface="微软雅黑 Light" panose="020B0502040204020203" pitchFamily="34" charset="-122"/>
              </a:rPr>
              <a:t>DNS </a:t>
            </a:r>
            <a:r>
              <a:rPr lang="en-US" altLang="zh-CN" sz="2000" b="1" dirty="0">
                <a:latin typeface="微软雅黑 Light" panose="020B0502040204020203" pitchFamily="34" charset="-122"/>
                <a:ea typeface="微软雅黑 Light" panose="020B0502040204020203" pitchFamily="34" charset="-122"/>
              </a:rPr>
              <a:t>(Domain Name System)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互联网使用的命名系统。</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用来把人们使用的机器</a:t>
            </a:r>
            <a:r>
              <a:rPr lang="zh-CN" altLang="en-US" sz="2000" b="1" dirty="0">
                <a:solidFill>
                  <a:srgbClr val="0000FF"/>
                </a:solidFill>
                <a:latin typeface="微软雅黑 Light" panose="020B0502040204020203" pitchFamily="34" charset="-122"/>
                <a:ea typeface="微软雅黑 Light" panose="020B0502040204020203" pitchFamily="34" charset="-122"/>
              </a:rPr>
              <a:t>名字（域名）转换为 </a:t>
            </a:r>
            <a:r>
              <a:rPr lang="en-US" altLang="zh-CN" sz="2000" b="1" dirty="0">
                <a:solidFill>
                  <a:srgbClr val="0000FF"/>
                </a:solidFill>
                <a:latin typeface="微软雅黑 Light" panose="020B0502040204020203" pitchFamily="34" charset="-122"/>
                <a:ea typeface="微软雅黑 Light" panose="020B0502040204020203" pitchFamily="34" charset="-122"/>
              </a:rPr>
              <a:t>IP </a:t>
            </a:r>
            <a:r>
              <a:rPr lang="zh-CN" altLang="en-US" sz="2000" b="1" dirty="0">
                <a:solidFill>
                  <a:srgbClr val="0000FF"/>
                </a:solidFill>
                <a:latin typeface="微软雅黑 Light" panose="020B0502040204020203" pitchFamily="34" charset="-122"/>
                <a:ea typeface="微软雅黑 Light" panose="020B0502040204020203" pitchFamily="34" charset="-122"/>
              </a:rPr>
              <a:t>地址。</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为互联网的各种网络应用提供了核心服务。</a:t>
            </a:r>
            <a:endParaRPr lang="en-US" altLang="zh-CN" sz="2000" b="1" dirty="0">
              <a:latin typeface="微软雅黑 Light" panose="020B0502040204020203" pitchFamily="34" charset="-122"/>
              <a:ea typeface="微软雅黑 Light" panose="020B0502040204020203" pitchFamily="34" charset="-122"/>
            </a:endParaRPr>
          </a:p>
        </p:txBody>
      </p:sp>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AutoShape 5"/>
          <p:cNvSpPr>
            <a:spLocks noChangeArrowheads="1"/>
          </p:cNvSpPr>
          <p:nvPr/>
        </p:nvSpPr>
        <p:spPr bwMode="auto">
          <a:xfrm>
            <a:off x="545143" y="614807"/>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4" name="Rectangle 6"/>
          <p:cNvSpPr>
            <a:spLocks noChangeArrowheads="1"/>
          </p:cNvSpPr>
          <p:nvPr/>
        </p:nvSpPr>
        <p:spPr bwMode="auto">
          <a:xfrm>
            <a:off x="3186846" y="572536"/>
            <a:ext cx="2770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6.1.1  </a:t>
            </a:r>
            <a:r>
              <a:rPr lang="zh-CN" altLang="en-US" sz="2400" b="1" dirty="0">
                <a:solidFill>
                  <a:schemeClr val="bg1"/>
                </a:solidFill>
                <a:latin typeface="微软雅黑 Light" panose="020B0502040204020203" pitchFamily="34" charset="-122"/>
                <a:ea typeface="微软雅黑 Light" panose="020B0502040204020203" pitchFamily="34" charset="-122"/>
              </a:rPr>
              <a:t>域名系统概述</a:t>
            </a:r>
          </a:p>
        </p:txBody>
      </p:sp>
      <p:sp>
        <p:nvSpPr>
          <p:cNvPr id="15" name="Rectangle 8"/>
          <p:cNvSpPr>
            <a:spLocks noChangeArrowheads="1"/>
          </p:cNvSpPr>
          <p:nvPr/>
        </p:nvSpPr>
        <p:spPr bwMode="auto">
          <a:xfrm>
            <a:off x="545143" y="1003858"/>
            <a:ext cx="8053711" cy="441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域名</a:t>
            </a:r>
            <a:r>
              <a:rPr lang="zh-CN" altLang="en-US" sz="2000" b="1" dirty="0">
                <a:latin typeface="微软雅黑 Light" panose="020B0502040204020203" pitchFamily="34" charset="-122"/>
                <a:ea typeface="微软雅黑 Light" panose="020B0502040204020203" pitchFamily="34" charset="-122"/>
              </a:rPr>
              <a:t>采用层次</a:t>
            </a:r>
            <a:r>
              <a:rPr lang="zh-CN" altLang="en-US" sz="2000" b="1" dirty="0">
                <a:solidFill>
                  <a:srgbClr val="C00000"/>
                </a:solidFill>
                <a:latin typeface="微软雅黑 Light" panose="020B0502040204020203" pitchFamily="34" charset="-122"/>
                <a:ea typeface="微软雅黑 Light" panose="020B0502040204020203" pitchFamily="34" charset="-122"/>
              </a:rPr>
              <a:t>树状结构</a:t>
            </a:r>
            <a:r>
              <a:rPr lang="zh-CN" altLang="en-US" sz="2000" b="1" dirty="0">
                <a:latin typeface="微软雅黑 Light" panose="020B0502040204020203" pitchFamily="34" charset="-122"/>
                <a:ea typeface="微软雅黑 Light" panose="020B0502040204020203" pitchFamily="34" charset="-122"/>
              </a:rPr>
              <a:t>的命名方法：</a:t>
            </a:r>
            <a:r>
              <a:rPr lang="en-US" altLang="zh-CN" sz="2000" b="1" dirty="0">
                <a:latin typeface="微软雅黑 Light" panose="020B0502040204020203" pitchFamily="34" charset="-122"/>
                <a:ea typeface="微软雅黑 Light" panose="020B0502040204020203" pitchFamily="34" charset="-122"/>
              </a:rPr>
              <a:t>www.myschool.edu</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grpSp>
        <p:nvGrpSpPr>
          <p:cNvPr id="2" name="组合 1"/>
          <p:cNvGrpSpPr/>
          <p:nvPr/>
        </p:nvGrpSpPr>
        <p:grpSpPr>
          <a:xfrm>
            <a:off x="6641647" y="1375130"/>
            <a:ext cx="2193030" cy="1862993"/>
            <a:chOff x="4235802" y="1499417"/>
            <a:chExt cx="2193030" cy="1862993"/>
          </a:xfrm>
        </p:grpSpPr>
        <p:sp>
          <p:nvSpPr>
            <p:cNvPr id="5" name="Rectangle 122"/>
            <p:cNvSpPr>
              <a:spLocks noChangeArrowheads="1"/>
            </p:cNvSpPr>
            <p:nvPr/>
          </p:nvSpPr>
          <p:spPr bwMode="auto">
            <a:xfrm>
              <a:off x="4774221" y="1499417"/>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rgbClr val="0000FF"/>
                  </a:solidFill>
                  <a:latin typeface="微软雅黑 Light" panose="020B0502040204020203" pitchFamily="34" charset="-122"/>
                  <a:ea typeface="微软雅黑 Light" panose="020B0502040204020203" pitchFamily="34" charset="-122"/>
                </a:rPr>
                <a:t>根</a:t>
              </a:r>
            </a:p>
          </p:txBody>
        </p:sp>
        <p:sp>
          <p:nvSpPr>
            <p:cNvPr id="19" name="Text Box 105"/>
            <p:cNvSpPr txBox="1">
              <a:spLocks noChangeArrowheads="1"/>
            </p:cNvSpPr>
            <p:nvPr/>
          </p:nvSpPr>
          <p:spPr bwMode="auto">
            <a:xfrm>
              <a:off x="5796446" y="2634960"/>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25" name="Text Box 124"/>
            <p:cNvSpPr txBox="1">
              <a:spLocks noChangeArrowheads="1"/>
            </p:cNvSpPr>
            <p:nvPr/>
          </p:nvSpPr>
          <p:spPr bwMode="auto">
            <a:xfrm>
              <a:off x="4868740" y="2687209"/>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myschool</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28" name="Line 142"/>
            <p:cNvSpPr>
              <a:spLocks noChangeShapeType="1"/>
            </p:cNvSpPr>
            <p:nvPr/>
          </p:nvSpPr>
          <p:spPr bwMode="auto">
            <a:xfrm>
              <a:off x="5304275" y="2420677"/>
              <a:ext cx="81165" cy="3242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Line 143"/>
            <p:cNvSpPr>
              <a:spLocks noChangeShapeType="1"/>
            </p:cNvSpPr>
            <p:nvPr/>
          </p:nvSpPr>
          <p:spPr bwMode="auto">
            <a:xfrm>
              <a:off x="5304275" y="2433600"/>
              <a:ext cx="557632" cy="29112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Line 144"/>
            <p:cNvSpPr>
              <a:spLocks noChangeShapeType="1"/>
            </p:cNvSpPr>
            <p:nvPr/>
          </p:nvSpPr>
          <p:spPr bwMode="auto">
            <a:xfrm flipV="1">
              <a:off x="4893212" y="2445345"/>
              <a:ext cx="411062" cy="27938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5" name="Group 162"/>
            <p:cNvGrpSpPr>
              <a:grpSpLocks/>
            </p:cNvGrpSpPr>
            <p:nvPr/>
          </p:nvGrpSpPr>
          <p:grpSpPr bwMode="auto">
            <a:xfrm>
              <a:off x="4566141" y="2421987"/>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8" name="Group 177"/>
            <p:cNvGrpSpPr>
              <a:grpSpLocks/>
            </p:cNvGrpSpPr>
            <p:nvPr/>
          </p:nvGrpSpPr>
          <p:grpSpPr bwMode="auto">
            <a:xfrm>
              <a:off x="5642797" y="2421987"/>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73" name="Text Box 150"/>
            <p:cNvSpPr txBox="1">
              <a:spLocks noChangeArrowheads="1"/>
            </p:cNvSpPr>
            <p:nvPr/>
          </p:nvSpPr>
          <p:spPr bwMode="auto">
            <a:xfrm>
              <a:off x="5268039" y="3054633"/>
              <a:ext cx="579005"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www</a:t>
              </a:r>
            </a:p>
          </p:txBody>
        </p:sp>
        <p:sp>
          <p:nvSpPr>
            <p:cNvPr id="74" name="Text Box 152"/>
            <p:cNvSpPr txBox="1">
              <a:spLocks noChangeArrowheads="1"/>
            </p:cNvSpPr>
            <p:nvPr/>
          </p:nvSpPr>
          <p:spPr bwMode="auto">
            <a:xfrm>
              <a:off x="4632836" y="263460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76" name="Line 154"/>
            <p:cNvSpPr>
              <a:spLocks noChangeShapeType="1"/>
            </p:cNvSpPr>
            <p:nvPr/>
          </p:nvSpPr>
          <p:spPr bwMode="auto">
            <a:xfrm>
              <a:off x="5469063" y="2955536"/>
              <a:ext cx="130465" cy="18602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Text Box 107"/>
            <p:cNvSpPr txBox="1">
              <a:spLocks noChangeArrowheads="1"/>
            </p:cNvSpPr>
            <p:nvPr/>
          </p:nvSpPr>
          <p:spPr bwMode="auto">
            <a:xfrm>
              <a:off x="4521599" y="2165889"/>
              <a:ext cx="5389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02" name="Text Box 109"/>
            <p:cNvSpPr txBox="1">
              <a:spLocks noChangeArrowheads="1"/>
            </p:cNvSpPr>
            <p:nvPr/>
          </p:nvSpPr>
          <p:spPr bwMode="auto">
            <a:xfrm>
              <a:off x="5053565" y="2165889"/>
              <a:ext cx="4956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3" name="Text Box 110"/>
            <p:cNvSpPr txBox="1">
              <a:spLocks noChangeArrowheads="1"/>
            </p:cNvSpPr>
            <p:nvPr/>
          </p:nvSpPr>
          <p:spPr bwMode="auto">
            <a:xfrm>
              <a:off x="5599528" y="2165889"/>
              <a:ext cx="4908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10" name="Line 134"/>
            <p:cNvSpPr>
              <a:spLocks noChangeShapeType="1"/>
            </p:cNvSpPr>
            <p:nvPr/>
          </p:nvSpPr>
          <p:spPr bwMode="auto">
            <a:xfrm flipH="1">
              <a:off x="4427415" y="1791531"/>
              <a:ext cx="559882" cy="4361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135"/>
            <p:cNvSpPr>
              <a:spLocks noChangeShapeType="1"/>
            </p:cNvSpPr>
            <p:nvPr/>
          </p:nvSpPr>
          <p:spPr bwMode="auto">
            <a:xfrm flipH="1">
              <a:off x="4785027" y="1800409"/>
              <a:ext cx="187090" cy="42727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136"/>
            <p:cNvSpPr>
              <a:spLocks noChangeShapeType="1"/>
            </p:cNvSpPr>
            <p:nvPr/>
          </p:nvSpPr>
          <p:spPr bwMode="auto">
            <a:xfrm>
              <a:off x="4987388" y="1809942"/>
              <a:ext cx="316887" cy="42878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137"/>
            <p:cNvSpPr>
              <a:spLocks noChangeShapeType="1"/>
            </p:cNvSpPr>
            <p:nvPr/>
          </p:nvSpPr>
          <p:spPr bwMode="auto">
            <a:xfrm>
              <a:off x="4984843" y="1800544"/>
              <a:ext cx="866668" cy="4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38"/>
            <p:cNvSpPr>
              <a:spLocks noChangeShapeType="1"/>
            </p:cNvSpPr>
            <p:nvPr/>
          </p:nvSpPr>
          <p:spPr bwMode="auto">
            <a:xfrm>
              <a:off x="5001387" y="1792321"/>
              <a:ext cx="1259701" cy="43935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Text Box 141"/>
            <p:cNvSpPr txBox="1">
              <a:spLocks noChangeArrowheads="1"/>
            </p:cNvSpPr>
            <p:nvPr/>
          </p:nvSpPr>
          <p:spPr bwMode="auto">
            <a:xfrm>
              <a:off x="4235802" y="211889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18" name="Text Box 207"/>
            <p:cNvSpPr txBox="1">
              <a:spLocks noChangeArrowheads="1"/>
            </p:cNvSpPr>
            <p:nvPr/>
          </p:nvSpPr>
          <p:spPr bwMode="auto">
            <a:xfrm>
              <a:off x="6114322" y="211889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119" name="Rectangle 8"/>
          <p:cNvSpPr>
            <a:spLocks noChangeArrowheads="1"/>
          </p:cNvSpPr>
          <p:nvPr/>
        </p:nvSpPr>
        <p:spPr bwMode="auto">
          <a:xfrm>
            <a:off x="545143" y="1419520"/>
            <a:ext cx="578658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DNS </a:t>
            </a:r>
            <a:r>
              <a:rPr lang="zh-CN" altLang="en-US" sz="2000" b="1" dirty="0">
                <a:latin typeface="微软雅黑 Light" panose="020B0502040204020203" pitchFamily="34" charset="-122"/>
                <a:ea typeface="微软雅黑 Light" panose="020B0502040204020203" pitchFamily="34" charset="-122"/>
              </a:rPr>
              <a:t>是一个联机</a:t>
            </a:r>
            <a:r>
              <a:rPr lang="zh-CN" altLang="en-US" sz="2000" b="1" dirty="0">
                <a:solidFill>
                  <a:srgbClr val="C00000"/>
                </a:solidFill>
                <a:latin typeface="微软雅黑 Light" panose="020B0502040204020203" pitchFamily="34" charset="-122"/>
                <a:ea typeface="微软雅黑 Light" panose="020B0502040204020203" pitchFamily="34" charset="-122"/>
              </a:rPr>
              <a:t>分布式数据库系统，</a:t>
            </a:r>
            <a:r>
              <a:rPr lang="zh-CN" altLang="en-US" sz="2000" b="1" dirty="0">
                <a:latin typeface="微软雅黑 Light" panose="020B0502040204020203" pitchFamily="34" charset="-122"/>
                <a:ea typeface="微软雅黑 Light" panose="020B0502040204020203" pitchFamily="34" charset="-122"/>
              </a:rPr>
              <a:t>采用</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域名到 </a:t>
            </a:r>
            <a:r>
              <a:rPr lang="en-US" altLang="zh-CN" sz="2000" b="1" dirty="0">
                <a:latin typeface="微软雅黑 Light" panose="020B0502040204020203" pitchFamily="34" charset="-122"/>
                <a:ea typeface="微软雅黑 Light" panose="020B0502040204020203" pitchFamily="34" charset="-122"/>
              </a:rPr>
              <a:t>IP </a:t>
            </a:r>
            <a:r>
              <a:rPr lang="zh-CN" altLang="en-US" sz="2000" b="1" dirty="0">
                <a:latin typeface="微软雅黑 Light" panose="020B0502040204020203" pitchFamily="34" charset="-122"/>
                <a:ea typeface="微软雅黑 Light" panose="020B0502040204020203" pitchFamily="34" charset="-122"/>
              </a:rPr>
              <a:t>地址的解析是由若干个</a:t>
            </a:r>
            <a:r>
              <a:rPr lang="zh-CN" altLang="en-US" sz="2000" b="1" dirty="0">
                <a:solidFill>
                  <a:srgbClr val="C00000"/>
                </a:solidFill>
                <a:latin typeface="微软雅黑 Light" panose="020B0502040204020203" pitchFamily="34" charset="-122"/>
                <a:ea typeface="微软雅黑 Light" panose="020B0502040204020203" pitchFamily="34" charset="-122"/>
              </a:rPr>
              <a:t>域名服务器程序</a:t>
            </a:r>
            <a:r>
              <a:rPr lang="zh-CN" altLang="en-US" sz="2000" b="1" dirty="0">
                <a:latin typeface="微软雅黑 Light" panose="020B0502040204020203" pitchFamily="34" charset="-122"/>
                <a:ea typeface="微软雅黑 Light" panose="020B0502040204020203" pitchFamily="34" charset="-122"/>
              </a:rPr>
              <a:t>共同完成。</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域名服务器程序在专设的结点上运行，运行该程序的机器称为</a:t>
            </a:r>
            <a:r>
              <a:rPr lang="zh-CN" altLang="en-US" sz="2000" b="1" dirty="0">
                <a:solidFill>
                  <a:srgbClr val="C00000"/>
                </a:solidFill>
                <a:latin typeface="微软雅黑 Light" panose="020B0502040204020203" pitchFamily="34" charset="-122"/>
                <a:ea typeface="微软雅黑 Light" panose="020B0502040204020203" pitchFamily="34" charset="-122"/>
              </a:rPr>
              <a:t>域名服务器。</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9">
                                            <p:txEl>
                                              <p:pRg st="0" end="0"/>
                                            </p:txEl>
                                          </p:spTgt>
                                        </p:tgtEl>
                                        <p:attrNameLst>
                                          <p:attrName>style.visibility</p:attrName>
                                        </p:attrNameLst>
                                      </p:cBhvr>
                                      <p:to>
                                        <p:strVal val="visible"/>
                                      </p:to>
                                    </p:set>
                                    <p:animEffect transition="in" filter="wipe(up)">
                                      <p:cBhvr>
                                        <p:cTn id="12" dur="1000"/>
                                        <p:tgtEl>
                                          <p:spTgt spid="119">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19">
                                            <p:txEl>
                                              <p:pRg st="1" end="1"/>
                                            </p:txEl>
                                          </p:spTgt>
                                        </p:tgtEl>
                                        <p:attrNameLst>
                                          <p:attrName>style.visibility</p:attrName>
                                        </p:attrNameLst>
                                      </p:cBhvr>
                                      <p:to>
                                        <p:strVal val="visible"/>
                                      </p:to>
                                    </p:set>
                                    <p:animEffect transition="in" filter="wipe(up)">
                                      <p:cBhvr>
                                        <p:cTn id="17" dur="1000"/>
                                        <p:tgtEl>
                                          <p:spTgt spid="119">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19">
                                            <p:txEl>
                                              <p:pRg st="2" end="2"/>
                                            </p:txEl>
                                          </p:spTgt>
                                        </p:tgtEl>
                                        <p:attrNameLst>
                                          <p:attrName>style.visibility</p:attrName>
                                        </p:attrNameLst>
                                      </p:cBhvr>
                                      <p:to>
                                        <p:strVal val="visible"/>
                                      </p:to>
                                    </p:set>
                                    <p:animEffect transition="in" filter="wipe(up)">
                                      <p:cBhvr>
                                        <p:cTn id="22" dur="1000"/>
                                        <p:tgtEl>
                                          <p:spTgt spid="11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9"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3499235" y="475493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AutoShape 5"/>
          <p:cNvSpPr>
            <a:spLocks noChangeArrowheads="1"/>
          </p:cNvSpPr>
          <p:nvPr/>
        </p:nvSpPr>
        <p:spPr bwMode="auto">
          <a:xfrm>
            <a:off x="545143" y="615484"/>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09" name="Rectangle 6"/>
          <p:cNvSpPr>
            <a:spLocks noChangeArrowheads="1"/>
          </p:cNvSpPr>
          <p:nvPr/>
        </p:nvSpPr>
        <p:spPr bwMode="auto">
          <a:xfrm>
            <a:off x="2739609" y="573213"/>
            <a:ext cx="36647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6.1.2   </a:t>
            </a:r>
            <a:r>
              <a:rPr lang="zh-CN" altLang="en-US" sz="2400" b="1" dirty="0">
                <a:solidFill>
                  <a:schemeClr val="bg1"/>
                </a:solidFill>
                <a:latin typeface="微软雅黑 Light" panose="020B0502040204020203" pitchFamily="34" charset="-122"/>
                <a:ea typeface="微软雅黑 Light" panose="020B0502040204020203" pitchFamily="34" charset="-122"/>
              </a:rPr>
              <a:t>互联网的域名结构</a:t>
            </a:r>
          </a:p>
        </p:txBody>
      </p:sp>
      <p:sp>
        <p:nvSpPr>
          <p:cNvPr id="110" name="Rectangle 8"/>
          <p:cNvSpPr>
            <a:spLocks noChangeArrowheads="1"/>
          </p:cNvSpPr>
          <p:nvPr/>
        </p:nvSpPr>
        <p:spPr bwMode="auto">
          <a:xfrm>
            <a:off x="545143" y="1028509"/>
            <a:ext cx="8053711" cy="27853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命名方法：</a:t>
            </a:r>
            <a:r>
              <a:rPr lang="zh-CN" altLang="en-US" sz="2000" b="1" dirty="0">
                <a:latin typeface="微软雅黑 Light" panose="020B0502040204020203" pitchFamily="34" charset="-122"/>
                <a:ea typeface="微软雅黑 Light" panose="020B0502040204020203" pitchFamily="34" charset="-122"/>
              </a:rPr>
              <a:t>层次</a:t>
            </a:r>
            <a:r>
              <a:rPr lang="zh-CN" altLang="en-US" sz="2000" b="1" dirty="0">
                <a:solidFill>
                  <a:srgbClr val="0000FF"/>
                </a:solidFill>
                <a:latin typeface="微软雅黑 Light" panose="020B0502040204020203" pitchFamily="34" charset="-122"/>
                <a:ea typeface="微软雅黑 Light" panose="020B0502040204020203" pitchFamily="34" charset="-122"/>
              </a:rPr>
              <a:t>树状</a:t>
            </a:r>
            <a:r>
              <a:rPr lang="zh-CN" altLang="en-US" sz="2000" b="1" dirty="0">
                <a:latin typeface="微软雅黑 Light" panose="020B0502040204020203" pitchFamily="34" charset="-122"/>
                <a:ea typeface="微软雅黑 Light" panose="020B0502040204020203" pitchFamily="34" charset="-122"/>
              </a:rPr>
              <a:t>结构方法。</a:t>
            </a:r>
          </a:p>
          <a:p>
            <a:pPr marL="285750" indent="-28575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任何一个连接在互联网上的主机或路由器，都有一个</a:t>
            </a:r>
            <a:r>
              <a:rPr lang="zh-CN" altLang="en-US" sz="2000" b="1" dirty="0">
                <a:solidFill>
                  <a:srgbClr val="0000FF"/>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的层次结构的名字，即</a:t>
            </a:r>
            <a:r>
              <a:rPr lang="zh-CN" altLang="en-US" sz="2000" b="1" dirty="0">
                <a:solidFill>
                  <a:srgbClr val="0000FF"/>
                </a:solidFill>
                <a:latin typeface="微软雅黑 Light" panose="020B0502040204020203" pitchFamily="34" charset="-122"/>
                <a:ea typeface="微软雅黑 Light" panose="020B0502040204020203" pitchFamily="34" charset="-122"/>
              </a:rPr>
              <a:t>域名 </a:t>
            </a:r>
            <a:r>
              <a:rPr lang="en-US" altLang="zh-CN" sz="2000" b="1" dirty="0">
                <a:latin typeface="微软雅黑 Light" panose="020B0502040204020203" pitchFamily="34" charset="-122"/>
                <a:ea typeface="微软雅黑 Light" panose="020B0502040204020203" pitchFamily="34" charset="-122"/>
              </a:rPr>
              <a:t>(domain name)</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域 </a:t>
            </a:r>
            <a:r>
              <a:rPr lang="en-US" altLang="zh-CN" sz="2000" b="1" dirty="0">
                <a:solidFill>
                  <a:srgbClr val="C00000"/>
                </a:solidFill>
                <a:latin typeface="微软雅黑 Light" panose="020B0502040204020203" pitchFamily="34" charset="-122"/>
                <a:ea typeface="微软雅黑 Light" panose="020B0502040204020203" pitchFamily="34" charset="-122"/>
              </a:rPr>
              <a:t>(domain)</a:t>
            </a:r>
            <a:r>
              <a:rPr lang="zh-CN" altLang="en-US" sz="2000" b="1" dirty="0">
                <a:solidFill>
                  <a:srgbClr val="C00000"/>
                </a:solidFill>
                <a:latin typeface="微软雅黑 Light" panose="020B0502040204020203" pitchFamily="34" charset="-122"/>
                <a:ea typeface="微软雅黑 Light" panose="020B0502040204020203" pitchFamily="34" charset="-122"/>
              </a:rPr>
              <a:t>：</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名字空间中一个</a:t>
            </a:r>
            <a:r>
              <a:rPr lang="zh-CN" altLang="en-US" sz="2000" b="1" dirty="0">
                <a:solidFill>
                  <a:srgbClr val="0000FF"/>
                </a:solidFill>
                <a:latin typeface="微软雅黑 Light" panose="020B0502040204020203" pitchFamily="34" charset="-122"/>
                <a:ea typeface="微软雅黑 Light" panose="020B0502040204020203" pitchFamily="34" charset="-122"/>
              </a:rPr>
              <a:t>可被管理</a:t>
            </a:r>
            <a:r>
              <a:rPr lang="zh-CN" altLang="en-US" sz="2000" b="1" dirty="0">
                <a:latin typeface="微软雅黑 Light" panose="020B0502040204020203" pitchFamily="34" charset="-122"/>
                <a:ea typeface="微软雅黑 Light" panose="020B0502040204020203" pitchFamily="34" charset="-122"/>
              </a:rPr>
              <a:t>的划分。</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可以划分为</a:t>
            </a:r>
            <a:r>
              <a:rPr lang="zh-CN" altLang="en-US" sz="2000" b="1" dirty="0">
                <a:solidFill>
                  <a:srgbClr val="0000FF"/>
                </a:solidFill>
                <a:latin typeface="微软雅黑 Light" panose="020B0502040204020203" pitchFamily="34" charset="-122"/>
                <a:ea typeface="微软雅黑 Light" panose="020B0502040204020203" pitchFamily="34" charset="-122"/>
              </a:rPr>
              <a:t>子域，</a:t>
            </a:r>
            <a:r>
              <a:rPr lang="zh-CN" altLang="en-US" sz="2000" b="1" dirty="0">
                <a:latin typeface="微软雅黑 Light" panose="020B0502040204020203" pitchFamily="34" charset="-122"/>
                <a:ea typeface="微软雅黑 Light" panose="020B0502040204020203" pitchFamily="34" charset="-122"/>
              </a:rPr>
              <a:t>而子域还可继续划分为子域的子域，这样就形成了顶级域、二级域、三级域，等等。</a:t>
            </a:r>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AutoShape 5"/>
          <p:cNvSpPr>
            <a:spLocks noChangeArrowheads="1"/>
          </p:cNvSpPr>
          <p:nvPr/>
        </p:nvSpPr>
        <p:spPr bwMode="auto">
          <a:xfrm>
            <a:off x="545143" y="615484"/>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09" name="Rectangle 6"/>
          <p:cNvSpPr>
            <a:spLocks noChangeArrowheads="1"/>
          </p:cNvSpPr>
          <p:nvPr/>
        </p:nvSpPr>
        <p:spPr bwMode="auto">
          <a:xfrm>
            <a:off x="2739609" y="573213"/>
            <a:ext cx="36647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6.1.2   </a:t>
            </a:r>
            <a:r>
              <a:rPr lang="zh-CN" altLang="en-US" sz="2400" b="1" dirty="0">
                <a:solidFill>
                  <a:schemeClr val="bg1"/>
                </a:solidFill>
                <a:latin typeface="微软雅黑 Light" panose="020B0502040204020203" pitchFamily="34" charset="-122"/>
                <a:ea typeface="微软雅黑 Light" panose="020B0502040204020203" pitchFamily="34" charset="-122"/>
              </a:rPr>
              <a:t>互联网的域名结构</a:t>
            </a:r>
          </a:p>
        </p:txBody>
      </p:sp>
      <p:sp>
        <p:nvSpPr>
          <p:cNvPr id="110" name="Rectangle 8"/>
          <p:cNvSpPr>
            <a:spLocks noChangeArrowheads="1"/>
          </p:cNvSpPr>
          <p:nvPr/>
        </p:nvSpPr>
        <p:spPr bwMode="auto">
          <a:xfrm>
            <a:off x="545143" y="1028509"/>
            <a:ext cx="8053711" cy="893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域名结构：</a:t>
            </a:r>
            <a:r>
              <a:rPr lang="zh-CN" altLang="en-US" sz="2000" b="1" dirty="0">
                <a:solidFill>
                  <a:srgbClr val="0000FF"/>
                </a:solidFill>
                <a:latin typeface="微软雅黑 Light" panose="020B0502040204020203" pitchFamily="34" charset="-122"/>
                <a:ea typeface="微软雅黑 Light" panose="020B0502040204020203" pitchFamily="34" charset="-122"/>
              </a:rPr>
              <a:t>层次结构。</a:t>
            </a:r>
            <a:r>
              <a:rPr lang="zh-CN" altLang="en-US" sz="2000" b="1" dirty="0">
                <a:latin typeface="微软雅黑 Light" panose="020B0502040204020203" pitchFamily="34" charset="-122"/>
                <a:ea typeface="微软雅黑 Light" panose="020B0502040204020203" pitchFamily="34" charset="-122"/>
              </a:rPr>
              <a:t>由标号 </a:t>
            </a:r>
            <a:r>
              <a:rPr lang="en-US" altLang="zh-CN" sz="2000" b="1" dirty="0">
                <a:latin typeface="微软雅黑 Light" panose="020B0502040204020203" pitchFamily="34" charset="-122"/>
                <a:ea typeface="微软雅黑 Light" panose="020B0502040204020203" pitchFamily="34" charset="-122"/>
              </a:rPr>
              <a:t>(label) </a:t>
            </a:r>
            <a:r>
              <a:rPr lang="zh-CN" altLang="en-US" sz="2000" b="1" dirty="0">
                <a:latin typeface="微软雅黑 Light" panose="020B0502040204020203" pitchFamily="34" charset="-122"/>
                <a:ea typeface="微软雅黑 Light" panose="020B0502040204020203" pitchFamily="34" charset="-122"/>
              </a:rPr>
              <a:t>序列组成，各标号之间用点（</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）隔开，各标号分别代表不同级别的域名。</a:t>
            </a:r>
          </a:p>
        </p:txBody>
      </p:sp>
      <p:sp>
        <p:nvSpPr>
          <p:cNvPr id="17" name="矩形 16"/>
          <p:cNvSpPr/>
          <p:nvPr/>
        </p:nvSpPr>
        <p:spPr>
          <a:xfrm>
            <a:off x="2902003" y="2848210"/>
            <a:ext cx="2134148" cy="400110"/>
          </a:xfrm>
          <a:prstGeom prst="rect">
            <a:avLst/>
          </a:prstGeom>
          <a:noFill/>
          <a:ln w="3810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79465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2000" b="1" dirty="0">
                <a:solidFill>
                  <a:srgbClr val="C00000"/>
                </a:solidFill>
                <a:latin typeface="微软雅黑 Light" panose="020B0502040204020203" pitchFamily="34" charset="-122"/>
                <a:ea typeface="微软雅黑 Light" panose="020B0502040204020203" pitchFamily="34" charset="-122"/>
              </a:rPr>
              <a:t>mail.cctv.com </a:t>
            </a:r>
          </a:p>
        </p:txBody>
      </p:sp>
      <p:grpSp>
        <p:nvGrpSpPr>
          <p:cNvPr id="14" name="组合 13"/>
          <p:cNvGrpSpPr/>
          <p:nvPr/>
        </p:nvGrpSpPr>
        <p:grpSpPr>
          <a:xfrm>
            <a:off x="2242227" y="3156184"/>
            <a:ext cx="3654627" cy="914180"/>
            <a:chOff x="2014957" y="2987504"/>
            <a:chExt cx="3654627" cy="914180"/>
          </a:xfrm>
        </p:grpSpPr>
        <p:sp>
          <p:nvSpPr>
            <p:cNvPr id="7" name="Text Box 8"/>
            <p:cNvSpPr txBox="1">
              <a:spLocks noChangeArrowheads="1"/>
            </p:cNvSpPr>
            <p:nvPr/>
          </p:nvSpPr>
          <p:spPr bwMode="auto">
            <a:xfrm>
              <a:off x="2123250" y="3274842"/>
              <a:ext cx="336181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a:latin typeface="微软雅黑 Light" panose="020B0502040204020203" pitchFamily="34" charset="-122"/>
                  <a:ea typeface="微软雅黑 Light" panose="020B0502040204020203" pitchFamily="34" charset="-122"/>
                </a:rPr>
                <a:t>三级域名 </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二级域名 </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3" name="矩形 2"/>
            <p:cNvSpPr/>
            <p:nvPr/>
          </p:nvSpPr>
          <p:spPr>
            <a:xfrm>
              <a:off x="2014957" y="3563130"/>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（级别最低）</a:t>
              </a:r>
            </a:p>
          </p:txBody>
        </p:sp>
        <p:sp>
          <p:nvSpPr>
            <p:cNvPr id="12" name="矩形 11"/>
            <p:cNvSpPr/>
            <p:nvPr/>
          </p:nvSpPr>
          <p:spPr>
            <a:xfrm>
              <a:off x="4253812" y="3563130"/>
              <a:ext cx="1415772" cy="338554"/>
            </a:xfrm>
            <a:prstGeom prst="rect">
              <a:avLst/>
            </a:prstGeom>
          </p:spPr>
          <p:txBody>
            <a:bodyPr wrap="none">
              <a:spAutoFit/>
            </a:bodyPr>
            <a:lstStyle/>
            <a:p>
              <a:r>
                <a:rPr lang="zh-CN" altLang="en-US" sz="1600" b="1" dirty="0">
                  <a:solidFill>
                    <a:srgbClr val="9900FF"/>
                  </a:solidFill>
                  <a:latin typeface="微软雅黑 Light" panose="020B0502040204020203" pitchFamily="34" charset="-122"/>
                  <a:ea typeface="微软雅黑 Light" panose="020B0502040204020203" pitchFamily="34" charset="-122"/>
                </a:rPr>
                <a:t>（级别最高）</a:t>
              </a:r>
            </a:p>
          </p:txBody>
        </p:sp>
      </p:grpSp>
      <p:grpSp>
        <p:nvGrpSpPr>
          <p:cNvPr id="18" name="组合 17"/>
          <p:cNvGrpSpPr/>
          <p:nvPr/>
        </p:nvGrpSpPr>
        <p:grpSpPr>
          <a:xfrm>
            <a:off x="1316609" y="2062198"/>
            <a:ext cx="2816797" cy="916986"/>
            <a:chOff x="3660125" y="2092751"/>
            <a:chExt cx="2816797" cy="1090208"/>
          </a:xfrm>
        </p:grpSpPr>
        <p:sp>
          <p:nvSpPr>
            <p:cNvPr id="4" name="矩形 3"/>
            <p:cNvSpPr/>
            <p:nvPr/>
          </p:nvSpPr>
          <p:spPr>
            <a:xfrm>
              <a:off x="3660125" y="2092751"/>
              <a:ext cx="2816797" cy="402508"/>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每一个标号不超过 </a:t>
              </a:r>
              <a:r>
                <a:rPr lang="en-US" altLang="zh-CN" sz="1600" b="1" dirty="0">
                  <a:latin typeface="微软雅黑 Light" panose="020B0502040204020203" pitchFamily="34" charset="-122"/>
                  <a:ea typeface="微软雅黑 Light" panose="020B0502040204020203" pitchFamily="34" charset="-122"/>
                </a:rPr>
                <a:t>63 </a:t>
              </a:r>
              <a:r>
                <a:rPr lang="zh-CN" altLang="en-US" sz="1600" b="1" dirty="0">
                  <a:latin typeface="微软雅黑 Light" panose="020B0502040204020203" pitchFamily="34" charset="-122"/>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grpSp>
      <p:grpSp>
        <p:nvGrpSpPr>
          <p:cNvPr id="19" name="组合 18"/>
          <p:cNvGrpSpPr/>
          <p:nvPr/>
        </p:nvGrpSpPr>
        <p:grpSpPr>
          <a:xfrm>
            <a:off x="1751022" y="2400264"/>
            <a:ext cx="1826141" cy="556780"/>
            <a:chOff x="4242919" y="2380321"/>
            <a:chExt cx="1826141" cy="661958"/>
          </a:xfrm>
        </p:grpSpPr>
        <p:sp>
          <p:nvSpPr>
            <p:cNvPr id="5" name="矩形 4"/>
            <p:cNvSpPr/>
            <p:nvPr/>
          </p:nvSpPr>
          <p:spPr>
            <a:xfrm>
              <a:off x="4242919" y="2380321"/>
              <a:ext cx="1826141" cy="402508"/>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grpSp>
      <p:grpSp>
        <p:nvGrpSpPr>
          <p:cNvPr id="22" name="组合 21"/>
          <p:cNvGrpSpPr/>
          <p:nvPr/>
        </p:nvGrpSpPr>
        <p:grpSpPr>
          <a:xfrm>
            <a:off x="4912310" y="2212153"/>
            <a:ext cx="3148621" cy="630485"/>
            <a:chOff x="4928337" y="2765085"/>
            <a:chExt cx="3148621" cy="630485"/>
          </a:xfrm>
        </p:grpSpPr>
        <p:sp>
          <p:nvSpPr>
            <p:cNvPr id="11" name="矩形 10"/>
            <p:cNvSpPr/>
            <p:nvPr/>
          </p:nvSpPr>
          <p:spPr>
            <a:xfrm>
              <a:off x="4928339" y="2765085"/>
              <a:ext cx="3148619"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完整域名总共不超过 </a:t>
              </a:r>
              <a:r>
                <a:rPr lang="en-US" altLang="zh-CN" sz="1600" b="1" dirty="0">
                  <a:latin typeface="微软雅黑 Light" panose="020B0502040204020203" pitchFamily="34" charset="-122"/>
                  <a:ea typeface="微软雅黑 Light" panose="020B0502040204020203" pitchFamily="34" charset="-122"/>
                </a:rPr>
                <a:t>255 </a:t>
              </a:r>
              <a:r>
                <a:rPr lang="zh-CN" altLang="en-US" sz="1600" b="1" dirty="0">
                  <a:latin typeface="微软雅黑 Light" panose="020B0502040204020203" pitchFamily="34" charset="-122"/>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Light" panose="020B0502040204020203" pitchFamily="34" charset="-122"/>
                <a:ea typeface="微软雅黑 Light" panose="020B0502040204020203" pitchFamily="34" charset="-122"/>
              </a:rPr>
              <a:t>注意：</a:t>
            </a:r>
            <a:r>
              <a:rPr lang="zh-CN" altLang="en-US" sz="1600" b="1" dirty="0">
                <a:latin typeface="微软雅黑 Light" panose="020B0502040204020203" pitchFamily="34" charset="-122"/>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2880000" y="144000"/>
            <a:ext cx="3384000"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482554"/>
            <a:ext cx="8172000" cy="4284000"/>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对角圆角矩形 8"/>
          <p:cNvSpPr/>
          <p:nvPr/>
        </p:nvSpPr>
        <p:spPr>
          <a:xfrm>
            <a:off x="1708847" y="3501223"/>
            <a:ext cx="5295641" cy="99087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AutoShape 5"/>
          <p:cNvSpPr>
            <a:spLocks noChangeArrowheads="1"/>
          </p:cNvSpPr>
          <p:nvPr/>
        </p:nvSpPr>
        <p:spPr bwMode="auto">
          <a:xfrm>
            <a:off x="545143" y="616659"/>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314285" y="574388"/>
            <a:ext cx="251543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6.1.3  </a:t>
            </a:r>
            <a:r>
              <a:rPr lang="zh-CN" altLang="en-US" sz="2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8" name="Rectangle 8"/>
          <p:cNvSpPr>
            <a:spLocks noChangeArrowheads="1"/>
          </p:cNvSpPr>
          <p:nvPr/>
        </p:nvSpPr>
        <p:spPr bwMode="auto">
          <a:xfrm>
            <a:off x="545143" y="1014588"/>
            <a:ext cx="8053711" cy="2522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实现域名系统使用分布在各地的</a:t>
            </a:r>
            <a:r>
              <a:rPr lang="zh-CN" altLang="en-US" sz="2000" b="1" dirty="0">
                <a:solidFill>
                  <a:srgbClr val="C00000"/>
                </a:solidFill>
                <a:latin typeface="微软雅黑 Light" panose="020B0502040204020203" pitchFamily="34" charset="-122"/>
                <a:ea typeface="微软雅黑 Light" panose="020B0502040204020203" pitchFamily="34" charset="-122"/>
              </a:rPr>
              <a:t>域名服务器</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DNS </a:t>
            </a:r>
            <a:r>
              <a:rPr lang="zh-CN" altLang="en-US" sz="2000" b="1" dirty="0">
                <a:latin typeface="微软雅黑 Light" panose="020B0502040204020203" pitchFamily="34" charset="-122"/>
                <a:ea typeface="微软雅黑 Light" panose="020B0502040204020203" pitchFamily="34" charset="-122"/>
              </a:rPr>
              <a:t>服务器）。</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一个服务器所负责管辖的（或有权限的）范围叫做</a:t>
            </a:r>
            <a:r>
              <a:rPr lang="zh-CN" altLang="en-US" sz="2000" b="1" dirty="0">
                <a:solidFill>
                  <a:srgbClr val="C00000"/>
                </a:solidFill>
                <a:latin typeface="微软雅黑 Light" panose="020B0502040204020203" pitchFamily="34" charset="-122"/>
                <a:ea typeface="微软雅黑 Light" panose="020B0502040204020203" pitchFamily="34" charset="-122"/>
              </a:rPr>
              <a:t>区</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(zone)</a:t>
            </a:r>
            <a:r>
              <a:rPr lang="zh-CN" altLang="en-US" sz="2000" b="1" dirty="0">
                <a:latin typeface="微软雅黑 Light" panose="020B0502040204020203" pitchFamily="34" charset="-122"/>
                <a:ea typeface="微软雅黑 Light" panose="020B0502040204020203" pitchFamily="34" charset="-122"/>
              </a:rPr>
              <a:t>。</a:t>
            </a: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各单位根据具体情况来划分自己管辖范围的区。但在一个区中的所有节点必须是能够</a:t>
            </a:r>
            <a:r>
              <a:rPr lang="zh-CN" altLang="en-US" sz="2000" b="1" dirty="0">
                <a:solidFill>
                  <a:srgbClr val="C00000"/>
                </a:solidFill>
                <a:latin typeface="微软雅黑 Light" panose="020B0502040204020203" pitchFamily="34" charset="-122"/>
                <a:ea typeface="微软雅黑 Light" panose="020B0502040204020203" pitchFamily="34" charset="-122"/>
              </a:rPr>
              <a:t>连通</a:t>
            </a:r>
            <a:r>
              <a:rPr lang="zh-CN" altLang="en-US" sz="2000" b="1" dirty="0">
                <a:latin typeface="微软雅黑 Light" panose="020B0502040204020203" pitchFamily="34" charset="-122"/>
                <a:ea typeface="微软雅黑 Light" panose="020B0502040204020203" pitchFamily="34" charset="-122"/>
              </a:rPr>
              <a:t>的。</a:t>
            </a: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每一个区设置相应的</a:t>
            </a:r>
            <a:r>
              <a:rPr lang="zh-CN" altLang="en-US" sz="2000" b="1" dirty="0">
                <a:solidFill>
                  <a:srgbClr val="C00000"/>
                </a:solidFill>
                <a:latin typeface="微软雅黑 Light" panose="020B0502040204020203" pitchFamily="34" charset="-122"/>
                <a:ea typeface="微软雅黑 Light" panose="020B0502040204020203" pitchFamily="34" charset="-122"/>
              </a:rPr>
              <a:t>权限域名服务器，</a:t>
            </a:r>
            <a:r>
              <a:rPr lang="zh-CN" altLang="en-US" sz="2000" b="1" dirty="0">
                <a:latin typeface="微软雅黑 Light" panose="020B0502040204020203" pitchFamily="34" charset="-122"/>
                <a:ea typeface="微软雅黑 Light" panose="020B0502040204020203" pitchFamily="34" charset="-122"/>
              </a:rPr>
              <a:t>用来</a:t>
            </a:r>
            <a:r>
              <a:rPr lang="zh-CN" altLang="en-US" sz="2000" b="1" dirty="0">
                <a:solidFill>
                  <a:srgbClr val="C00000"/>
                </a:solidFill>
                <a:latin typeface="微软雅黑 Light" panose="020B0502040204020203" pitchFamily="34" charset="-122"/>
                <a:ea typeface="微软雅黑 Light" panose="020B0502040204020203" pitchFamily="34" charset="-122"/>
              </a:rPr>
              <a:t>保存</a:t>
            </a:r>
            <a:r>
              <a:rPr lang="zh-CN" altLang="en-US" sz="2000" b="1" dirty="0">
                <a:latin typeface="微软雅黑 Light" panose="020B0502040204020203" pitchFamily="34" charset="-122"/>
                <a:ea typeface="微软雅黑 Light" panose="020B0502040204020203" pitchFamily="34" charset="-122"/>
              </a:rPr>
              <a:t>该区中的所有主机的域名到 </a:t>
            </a:r>
            <a:r>
              <a:rPr lang="en-US" altLang="zh-CN" sz="2000" b="1" dirty="0">
                <a:latin typeface="微软雅黑 Light" panose="020B0502040204020203" pitchFamily="34" charset="-122"/>
                <a:ea typeface="微软雅黑 Light" panose="020B0502040204020203" pitchFamily="34" charset="-122"/>
              </a:rPr>
              <a:t>IP </a:t>
            </a:r>
            <a:r>
              <a:rPr lang="zh-CN" altLang="en-US" sz="2000" b="1" dirty="0">
                <a:latin typeface="微软雅黑 Light" panose="020B0502040204020203" pitchFamily="34" charset="-122"/>
                <a:ea typeface="微软雅黑 Light" panose="020B0502040204020203" pitchFamily="34" charset="-122"/>
              </a:rPr>
              <a:t>地址的映射。</a:t>
            </a:r>
          </a:p>
        </p:txBody>
      </p:sp>
      <p:sp>
        <p:nvSpPr>
          <p:cNvPr id="2" name="矩形 1"/>
          <p:cNvSpPr/>
          <p:nvPr/>
        </p:nvSpPr>
        <p:spPr>
          <a:xfrm>
            <a:off x="1890947" y="3607839"/>
            <a:ext cx="5078029" cy="730777"/>
          </a:xfrm>
          <a:prstGeom prst="rect">
            <a:avLst/>
          </a:prstGeom>
        </p:spPr>
        <p:txBody>
          <a:bodyPr wrap="square">
            <a:spAutoFit/>
          </a:bodyPr>
          <a:lstStyle/>
          <a:p>
            <a:pPr>
              <a:lnSpc>
                <a:spcPts val="2600"/>
              </a:lnSpc>
              <a:buClr>
                <a:srgbClr val="0070C0"/>
              </a:buClr>
            </a:pPr>
            <a:r>
              <a:rPr lang="en-US" altLang="zh-CN" b="1" dirty="0">
                <a:solidFill>
                  <a:schemeClr val="bg1"/>
                </a:solidFill>
                <a:latin typeface="微软雅黑 Light" panose="020B0502040204020203" pitchFamily="34" charset="-122"/>
                <a:ea typeface="微软雅黑 Light" panose="020B0502040204020203" pitchFamily="34" charset="-122"/>
              </a:rPr>
              <a:t>DNS </a:t>
            </a:r>
            <a:r>
              <a:rPr lang="zh-CN" altLang="en-US" b="1" dirty="0">
                <a:solidFill>
                  <a:schemeClr val="bg1"/>
                </a:solidFill>
                <a:latin typeface="微软雅黑 Light" panose="020B0502040204020203" pitchFamily="34" charset="-122"/>
                <a:ea typeface="微软雅黑 Light" panose="020B0502040204020203" pitchFamily="34" charset="-122"/>
              </a:rPr>
              <a:t>服务器的管辖范围不是以“域”为单位，而是</a:t>
            </a:r>
            <a:r>
              <a:rPr lang="zh-CN" altLang="en-US" b="1" dirty="0">
                <a:solidFill>
                  <a:srgbClr val="FFFF00"/>
                </a:solidFill>
                <a:latin typeface="微软雅黑 Light" panose="020B0502040204020203" pitchFamily="34" charset="-122"/>
                <a:ea typeface="微软雅黑 Light" panose="020B0502040204020203" pitchFamily="34" charset="-122"/>
              </a:rPr>
              <a:t>以“区”为单位。 </a:t>
            </a:r>
            <a:endParaRPr lang="en-US" altLang="zh-CN" b="1" dirty="0">
              <a:solidFill>
                <a:srgbClr val="FFFF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2880000" y="144000"/>
            <a:ext cx="3384000" cy="338554"/>
          </a:xfrm>
        </p:spPr>
        <p:txBody>
          <a:bodyPr/>
          <a:lstStyle/>
          <a:p>
            <a:r>
              <a:rPr lang="zh-CN" altLang="en-US" dirty="0"/>
              <a:t>域名服务器类型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482554"/>
            <a:ext cx="8172000" cy="4284000"/>
          </a:xfrm>
        </p:spPr>
        <p:txBody>
          <a:bodyPr/>
          <a:lstStyle/>
          <a:p>
            <a:r>
              <a:rPr lang="zh-CN" altLang="en-US" dirty="0"/>
              <a:t>根据所起的作用，分为四种类型：</a:t>
            </a:r>
            <a:endParaRPr lang="en-US" altLang="zh-CN" dirty="0"/>
          </a:p>
          <a:p>
            <a:pPr lvl="1"/>
            <a:r>
              <a:rPr lang="zh-CN" altLang="en-US" dirty="0"/>
              <a:t>根域名服务器 </a:t>
            </a:r>
          </a:p>
          <a:p>
            <a:pPr lvl="1"/>
            <a:r>
              <a:rPr lang="zh-CN" altLang="en-US" dirty="0"/>
              <a:t>顶级域名服务器 </a:t>
            </a:r>
          </a:p>
          <a:p>
            <a:pPr lvl="1"/>
            <a:r>
              <a:rPr lang="zh-CN" altLang="en-US" dirty="0"/>
              <a:t>权限域名服务器 </a:t>
            </a:r>
          </a:p>
          <a:p>
            <a:pPr lvl="1"/>
            <a:r>
              <a:rPr lang="zh-CN" altLang="en-US" dirty="0"/>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2880000" y="144000"/>
            <a:ext cx="3384000" cy="338554"/>
          </a:xfrm>
        </p:spPr>
        <p:txBody>
          <a:bodyPr/>
          <a:lstStyle/>
          <a:p>
            <a:r>
              <a:rPr lang="en-US" altLang="zh-CN" dirty="0"/>
              <a:t>1.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482554"/>
            <a:ext cx="8172000" cy="4284000"/>
          </a:xfrm>
        </p:spPr>
        <p:txBody>
          <a:bodyPr/>
          <a:lstStyle/>
          <a:p>
            <a:r>
              <a:rPr lang="zh-CN" altLang="en-US" dirty="0"/>
              <a:t>最高层次，最为重要</a:t>
            </a:r>
            <a:endParaRPr lang="en-US" altLang="zh-CN" dirty="0"/>
          </a:p>
          <a:p>
            <a:r>
              <a:rPr lang="zh-CN" altLang="en-US" dirty="0"/>
              <a:t>所有根域名服务器都知道所有的顶级域名服务器的域名和 </a:t>
            </a:r>
            <a:r>
              <a:rPr lang="en-US" altLang="zh-CN" dirty="0"/>
              <a:t>IP </a:t>
            </a:r>
            <a:r>
              <a:rPr lang="zh-CN" altLang="en-US" dirty="0"/>
              <a:t>地址</a:t>
            </a:r>
          </a:p>
          <a:p>
            <a:r>
              <a:rPr lang="zh-CN" altLang="en-US" dirty="0"/>
              <a:t>不管是哪一个本地域名服务器，若要对互联网上任何一个域名进行解析，只要自己无法解析，就首先求助于根域名服务器</a:t>
            </a:r>
            <a:endParaRPr lang="en-US" altLang="zh-CN" dirty="0"/>
          </a:p>
          <a:p>
            <a:r>
              <a:rPr lang="zh-CN" altLang="en-US" dirty="0"/>
              <a:t>若所有的根域名服务器都瘫痪了，整个互联网中的 </a:t>
            </a:r>
            <a:r>
              <a:rPr lang="en-US" altLang="zh-CN" dirty="0"/>
              <a:t>DNS </a:t>
            </a:r>
            <a:r>
              <a:rPr lang="zh-CN" altLang="en-US" dirty="0"/>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3822235356"/>
              </p:ext>
            </p:extLst>
          </p:nvPr>
        </p:nvGraphicFramePr>
        <p:xfrm>
          <a:off x="1112828" y="1085475"/>
          <a:ext cx="6636200" cy="3686748"/>
        </p:xfrm>
        <a:graphic>
          <a:graphicData uri="http://schemas.openxmlformats.org/drawingml/2006/table">
            <a:tbl>
              <a:tblPr firstRow="1">
                <a:tableStyleId>{B301B821-A1FF-4177-AEE7-76D212191A09}</a:tableStyleId>
              </a:tblPr>
              <a:tblGrid>
                <a:gridCol w="2216191">
                  <a:extLst>
                    <a:ext uri="{9D8B030D-6E8A-4147-A177-3AD203B41FA5}">
                      <a16:colId xmlns:a16="http://schemas.microsoft.com/office/drawing/2014/main" val="408908172"/>
                    </a:ext>
                  </a:extLst>
                </a:gridCol>
                <a:gridCol w="2216191">
                  <a:extLst>
                    <a:ext uri="{9D8B030D-6E8A-4147-A177-3AD203B41FA5}">
                      <a16:colId xmlns:a16="http://schemas.microsoft.com/office/drawing/2014/main" val="3439813314"/>
                    </a:ext>
                  </a:extLst>
                </a:gridCol>
                <a:gridCol w="2203818">
                  <a:extLst>
                    <a:ext uri="{9D8B030D-6E8A-4147-A177-3AD203B41FA5}">
                      <a16:colId xmlns:a16="http://schemas.microsoft.com/office/drawing/2014/main" val="1803728834"/>
                    </a:ext>
                  </a:extLst>
                </a:gridCol>
              </a:tblGrid>
              <a:tr h="155768">
                <a:tc>
                  <a:txBody>
                    <a:bodyPr/>
                    <a:lstStyle/>
                    <a:p>
                      <a:pPr algn="ctr" fontAlgn="b">
                        <a:lnSpc>
                          <a:spcPct val="80000"/>
                        </a:lnSpc>
                      </a:pPr>
                      <a:r>
                        <a:rPr lang="zh-CN" altLang="en-US" sz="1200" b="1" i="0" cap="all" dirty="0">
                          <a:solidFill>
                            <a:schemeClr val="lt1"/>
                          </a:solidFill>
                          <a:effectLst/>
                          <a:latin typeface="Montserrat" panose="00000500000000000000" pitchFamily="2" charset="0"/>
                          <a:ea typeface="微软雅黑 Light" panose="020B0502040204020203" pitchFamily="34" charset="-122"/>
                        </a:rPr>
                        <a:t>域名</a:t>
                      </a:r>
                      <a:endParaRPr lang="en-US" sz="1200" b="1" i="0" cap="all" dirty="0">
                        <a:solidFill>
                          <a:schemeClr val="tx1"/>
                        </a:solidFill>
                        <a:effectLst/>
                        <a:latin typeface="Montserrat" panose="00000500000000000000" pitchFamily="2" charset="0"/>
                      </a:endParaRPr>
                    </a:p>
                  </a:txBody>
                  <a:tcPr marL="24941" marR="24941" marT="12471" marB="12471" anchor="b"/>
                </a:tc>
                <a:tc>
                  <a:txBody>
                    <a:bodyPr/>
                    <a:lstStyle/>
                    <a:p>
                      <a:pPr algn="ctr" fontAlgn="b">
                        <a:lnSpc>
                          <a:spcPct val="80000"/>
                        </a:lnSpc>
                      </a:pPr>
                      <a:r>
                        <a:rPr lang="en-US" sz="1200" cap="all" dirty="0">
                          <a:effectLst/>
                          <a:latin typeface="Montserrat" panose="00000500000000000000" pitchFamily="2" charset="0"/>
                        </a:rPr>
                        <a:t>IP </a:t>
                      </a:r>
                      <a:r>
                        <a:rPr lang="zh-CN" altLang="en-US" sz="1200" cap="all" dirty="0">
                          <a:effectLst/>
                          <a:ea typeface="微软雅黑 Light" panose="020B0502040204020203" pitchFamily="34" charset="-122"/>
                        </a:rPr>
                        <a:t>地址</a:t>
                      </a:r>
                      <a:endParaRPr lang="en-US" sz="1200" b="1" i="0" cap="all" dirty="0">
                        <a:solidFill>
                          <a:schemeClr val="tx1"/>
                        </a:solidFill>
                        <a:effectLst/>
                        <a:latin typeface="Montserrat" panose="00000500000000000000" pitchFamily="2" charset="0"/>
                      </a:endParaRPr>
                    </a:p>
                  </a:txBody>
                  <a:tcPr marL="12471" marR="24941" marT="12471" marB="12471" anchor="b"/>
                </a:tc>
                <a:tc>
                  <a:txBody>
                    <a:bodyPr/>
                    <a:lstStyle/>
                    <a:p>
                      <a:pPr algn="ctr" fontAlgn="b">
                        <a:lnSpc>
                          <a:spcPct val="80000"/>
                        </a:lnSpc>
                      </a:pPr>
                      <a:r>
                        <a:rPr lang="zh-CN" altLang="en-US" sz="1200" cap="all" dirty="0">
                          <a:effectLst/>
                          <a:latin typeface="Montserrat" panose="00000500000000000000" pitchFamily="2" charset="0"/>
                          <a:ea typeface="微软雅黑 Light" panose="020B0502040204020203" pitchFamily="34" charset="-122"/>
                        </a:rPr>
                        <a:t>运营商</a:t>
                      </a:r>
                      <a:endParaRPr lang="en-US" sz="1200" b="1" i="0" cap="all" dirty="0">
                        <a:solidFill>
                          <a:schemeClr val="tx1"/>
                        </a:solidFill>
                        <a:effectLst/>
                        <a:latin typeface="Montserrat" panose="00000500000000000000" pitchFamily="2" charset="0"/>
                      </a:endParaRPr>
                    </a:p>
                  </a:txBody>
                  <a:tcPr marL="12471" marR="24941" marT="12471" marB="12471" anchor="b"/>
                </a:tc>
                <a:extLst>
                  <a:ext uri="{0D108BD9-81ED-4DB2-BD59-A6C34878D82A}">
                    <a16:rowId xmlns:a16="http://schemas.microsoft.com/office/drawing/2014/main" val="1140239074"/>
                  </a:ext>
                </a:extLst>
              </a:tr>
              <a:tr h="155768">
                <a:tc>
                  <a:txBody>
                    <a:bodyPr/>
                    <a:lstStyle/>
                    <a:p>
                      <a:pPr fontAlgn="t">
                        <a:lnSpc>
                          <a:spcPct val="80000"/>
                        </a:lnSpc>
                      </a:pPr>
                      <a:r>
                        <a:rPr lang="en-US" sz="1200" dirty="0">
                          <a:effectLst/>
                          <a:latin typeface="Montserrat" panose="00000500000000000000" pitchFamily="2" charset="0"/>
                        </a:rPr>
                        <a:t>a.root-servers.net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198.41.0.4, 2001:503:ba3e::2:30</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Verisign, Inc.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799934463"/>
                  </a:ext>
                </a:extLst>
              </a:tr>
              <a:tr h="288848">
                <a:tc>
                  <a:txBody>
                    <a:bodyPr/>
                    <a:lstStyle/>
                    <a:p>
                      <a:pPr fontAlgn="t">
                        <a:lnSpc>
                          <a:spcPct val="80000"/>
                        </a:lnSpc>
                      </a:pPr>
                      <a:r>
                        <a:rPr lang="en-US" sz="1200" dirty="0">
                          <a:effectLst/>
                          <a:latin typeface="Montserrat" panose="00000500000000000000" pitchFamily="2" charset="0"/>
                        </a:rPr>
                        <a:t>b.root-servers.net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199.9.14.201, 2001:500:200::b</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University of Southern California,</a:t>
                      </a:r>
                      <a:br>
                        <a:rPr lang="en-US" sz="1200" dirty="0">
                          <a:effectLst/>
                          <a:latin typeface="Montserrat" panose="00000500000000000000" pitchFamily="2" charset="0"/>
                        </a:rPr>
                      </a:br>
                      <a:r>
                        <a:rPr lang="en-US" sz="1200" dirty="0">
                          <a:effectLst/>
                          <a:latin typeface="Montserrat" panose="00000500000000000000" pitchFamily="2" charset="0"/>
                        </a:rPr>
                        <a:t>Information Sciences Institute</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810033780"/>
                  </a:ext>
                </a:extLst>
              </a:tr>
              <a:tr h="155768">
                <a:tc>
                  <a:txBody>
                    <a:bodyPr/>
                    <a:lstStyle/>
                    <a:p>
                      <a:pPr fontAlgn="t">
                        <a:lnSpc>
                          <a:spcPct val="80000"/>
                        </a:lnSpc>
                      </a:pPr>
                      <a:r>
                        <a:rPr lang="en-US" sz="1200" dirty="0">
                          <a:effectLst/>
                          <a:latin typeface="Montserrat" panose="00000500000000000000" pitchFamily="2" charset="0"/>
                        </a:rPr>
                        <a:t>c.root-servers.net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192.33.4.12, 2001:500:2::c</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Cogent Communications</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1551130435"/>
                  </a:ext>
                </a:extLst>
              </a:tr>
              <a:tr h="155768">
                <a:tc>
                  <a:txBody>
                    <a:bodyPr/>
                    <a:lstStyle/>
                    <a:p>
                      <a:pPr fontAlgn="t">
                        <a:lnSpc>
                          <a:spcPct val="80000"/>
                        </a:lnSpc>
                      </a:pPr>
                      <a:r>
                        <a:rPr lang="en-US" sz="1200" dirty="0">
                          <a:effectLst/>
                          <a:latin typeface="Montserrat" panose="00000500000000000000" pitchFamily="2" charset="0"/>
                        </a:rPr>
                        <a:t>d.root-servers.net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199.7.91.13, 2001:500:2d::d</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University of Maryland</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602981751"/>
                  </a:ext>
                </a:extLst>
              </a:tr>
              <a:tr h="155768">
                <a:tc>
                  <a:txBody>
                    <a:bodyPr/>
                    <a:lstStyle/>
                    <a:p>
                      <a:pPr fontAlgn="t">
                        <a:lnSpc>
                          <a:spcPct val="80000"/>
                        </a:lnSpc>
                      </a:pPr>
                      <a:r>
                        <a:rPr lang="en-US" sz="1200" dirty="0">
                          <a:effectLst/>
                          <a:latin typeface="Montserrat" panose="00000500000000000000" pitchFamily="2" charset="0"/>
                        </a:rPr>
                        <a:t>e.root-servers.net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192.203.230.10, 2001:500:a8::e</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NASA (Ames Research Center)</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222640583"/>
                  </a:ext>
                </a:extLst>
              </a:tr>
              <a:tr h="155768">
                <a:tc>
                  <a:txBody>
                    <a:bodyPr/>
                    <a:lstStyle/>
                    <a:p>
                      <a:pPr fontAlgn="t">
                        <a:lnSpc>
                          <a:spcPct val="80000"/>
                        </a:lnSpc>
                      </a:pPr>
                      <a:r>
                        <a:rPr lang="en-US" sz="1200" dirty="0">
                          <a:effectLst/>
                          <a:latin typeface="Montserrat" panose="00000500000000000000" pitchFamily="2" charset="0"/>
                        </a:rPr>
                        <a:t>f.root-servers.net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192.5.5.241, 2001:500:2f::f</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Internet Systems Consortium, Inc.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728933610"/>
                  </a:ext>
                </a:extLst>
              </a:tr>
              <a:tr h="155768">
                <a:tc>
                  <a:txBody>
                    <a:bodyPr/>
                    <a:lstStyle/>
                    <a:p>
                      <a:pPr fontAlgn="t">
                        <a:lnSpc>
                          <a:spcPct val="80000"/>
                        </a:lnSpc>
                      </a:pPr>
                      <a:r>
                        <a:rPr lang="en-US" sz="1200" dirty="0">
                          <a:effectLst/>
                          <a:latin typeface="Montserrat" panose="00000500000000000000" pitchFamily="2" charset="0"/>
                        </a:rPr>
                        <a:t>g.root-servers.net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192.112.36.4, 2001:500:12::d0d</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US Department of Defense (NIC)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200553252"/>
                  </a:ext>
                </a:extLst>
              </a:tr>
              <a:tr h="155768">
                <a:tc>
                  <a:txBody>
                    <a:bodyPr/>
                    <a:lstStyle/>
                    <a:p>
                      <a:pPr fontAlgn="t">
                        <a:lnSpc>
                          <a:spcPct val="80000"/>
                        </a:lnSpc>
                      </a:pPr>
                      <a:r>
                        <a:rPr lang="en-US" sz="1200" dirty="0">
                          <a:effectLst/>
                          <a:latin typeface="Montserrat" panose="00000500000000000000" pitchFamily="2" charset="0"/>
                        </a:rPr>
                        <a:t>h.root-servers.net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altLang="zh-CN" sz="1200" dirty="0">
                          <a:effectLst/>
                          <a:latin typeface="Montserrat" panose="00000500000000000000" pitchFamily="2" charset="0"/>
                          <a:ea typeface="微软雅黑 Light" panose="020B0502040204020203" pitchFamily="34" charset="-122"/>
                        </a:rPr>
                        <a:t>198.97.190.53, 2001:500:1::53</a:t>
                      </a:r>
                      <a:endParaRPr lang="en-US" altLang="zh-CN"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US Army (Research Lab)</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1979510661"/>
                  </a:ext>
                </a:extLst>
              </a:tr>
              <a:tr h="155768">
                <a:tc>
                  <a:txBody>
                    <a:bodyPr/>
                    <a:lstStyle/>
                    <a:p>
                      <a:pPr fontAlgn="t">
                        <a:lnSpc>
                          <a:spcPct val="80000"/>
                        </a:lnSpc>
                      </a:pPr>
                      <a:r>
                        <a:rPr lang="en-US" sz="1200" dirty="0">
                          <a:effectLst/>
                          <a:latin typeface="Montserrat" panose="00000500000000000000" pitchFamily="2" charset="0"/>
                        </a:rPr>
                        <a:t>i.root-servers.net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192.36.148.17, 2001:7fe::53</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err="1">
                          <a:effectLst/>
                          <a:latin typeface="Montserrat" panose="00000500000000000000" pitchFamily="2" charset="0"/>
                        </a:rPr>
                        <a:t>Netnod</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406046716"/>
                  </a:ext>
                </a:extLst>
              </a:tr>
              <a:tr h="155768">
                <a:tc>
                  <a:txBody>
                    <a:bodyPr/>
                    <a:lstStyle/>
                    <a:p>
                      <a:pPr fontAlgn="t">
                        <a:lnSpc>
                          <a:spcPct val="80000"/>
                        </a:lnSpc>
                      </a:pPr>
                      <a:r>
                        <a:rPr lang="en-US" sz="1200" dirty="0" err="1">
                          <a:effectLst/>
                          <a:latin typeface="Montserrat" panose="00000500000000000000" pitchFamily="2" charset="0"/>
                        </a:rPr>
                        <a:t>j.root-servers.net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192.58.128.30, 2001:503:c27::2:30</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Verisign, Inc.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077151531"/>
                  </a:ext>
                </a:extLst>
              </a:tr>
              <a:tr h="155768">
                <a:tc>
                  <a:txBody>
                    <a:bodyPr/>
                    <a:lstStyle/>
                    <a:p>
                      <a:pPr fontAlgn="t">
                        <a:lnSpc>
                          <a:spcPct val="80000"/>
                        </a:lnSpc>
                      </a:pPr>
                      <a:r>
                        <a:rPr lang="en-US" sz="1200" dirty="0">
                          <a:effectLst/>
                          <a:latin typeface="Montserrat" panose="00000500000000000000" pitchFamily="2" charset="0"/>
                        </a:rPr>
                        <a:t>k.root-servers.net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193.0.14.129, 2001:7fd::1</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RIPE NCC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109581213"/>
                  </a:ext>
                </a:extLst>
              </a:tr>
              <a:tr h="155768">
                <a:tc>
                  <a:txBody>
                    <a:bodyPr/>
                    <a:lstStyle/>
                    <a:p>
                      <a:pPr fontAlgn="t">
                        <a:lnSpc>
                          <a:spcPct val="80000"/>
                        </a:lnSpc>
                      </a:pPr>
                      <a:r>
                        <a:rPr lang="en-US" sz="1200" dirty="0">
                          <a:effectLst/>
                          <a:latin typeface="Montserrat" panose="00000500000000000000" pitchFamily="2" charset="0"/>
                        </a:rPr>
                        <a:t>l.root-servers.net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199.7.83.42, 2001:500:9f::42</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ICANN</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1659636611"/>
                  </a:ext>
                </a:extLst>
              </a:tr>
              <a:tr h="155768">
                <a:tc>
                  <a:txBody>
                    <a:bodyPr/>
                    <a:lstStyle/>
                    <a:p>
                      <a:pPr fontAlgn="t">
                        <a:lnSpc>
                          <a:spcPct val="80000"/>
                        </a:lnSpc>
                      </a:pPr>
                      <a:r>
                        <a:rPr lang="en-US" sz="1200" dirty="0">
                          <a:effectLst/>
                          <a:latin typeface="Montserrat" panose="00000500000000000000" pitchFamily="2" charset="0"/>
                        </a:rPr>
                        <a:t>m.root-servers.net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202.12.27.33, 2001:dc3::35</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WIDE Project</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430741343"/>
                  </a:ext>
                </a:extLst>
              </a:tr>
            </a:tbl>
          </a:graphicData>
        </a:graphic>
      </p:graphicFrame>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2880000" y="144000"/>
            <a:ext cx="3384000" cy="338554"/>
          </a:xfrm>
        </p:spPr>
        <p:txBody>
          <a:bodyPr/>
          <a:lstStyle/>
          <a:p>
            <a:r>
              <a:rPr lang="zh-CN" altLang="en-US" dirty="0"/>
              <a:t>根域名服务器共有 </a:t>
            </a:r>
            <a:r>
              <a:rPr lang="en-US" altLang="zh-CN" dirty="0"/>
              <a:t>13 </a:t>
            </a:r>
            <a:r>
              <a:rPr lang="zh-CN" altLang="en-US" dirty="0"/>
              <a:t>套装置</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482554"/>
            <a:ext cx="8172000" cy="4284000"/>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2880000" y="144000"/>
            <a:ext cx="3384000" cy="338554"/>
          </a:xfrm>
        </p:spPr>
        <p:txBody>
          <a:bodyPr/>
          <a:lstStyle/>
          <a:p>
            <a:r>
              <a:rPr lang="zh-CN" altLang="en-US" dirty="0"/>
              <a:t>根域名服务器共有 </a:t>
            </a:r>
            <a:r>
              <a:rPr lang="en-US" altLang="zh-CN" dirty="0"/>
              <a:t>13 </a:t>
            </a:r>
            <a:r>
              <a:rPr lang="zh-CN" altLang="en-US" dirty="0"/>
              <a:t>套装置</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482554"/>
            <a:ext cx="8172000" cy="4284000"/>
          </a:xfrm>
        </p:spPr>
        <p:txBody>
          <a:bodyPr/>
          <a:lstStyle/>
          <a:p>
            <a:r>
              <a:rPr lang="zh-CN" altLang="en-US" dirty="0"/>
              <a:t>根域名服务器分布在全世界</a:t>
            </a:r>
            <a:endParaRPr lang="en-US" altLang="zh-CN" dirty="0"/>
          </a:p>
          <a:p>
            <a:r>
              <a:rPr lang="zh-CN" altLang="en-US" dirty="0"/>
              <a:t>为了提供更可靠的服务，在每一个地点的根域名服务器往往由多台机器组成</a:t>
            </a:r>
          </a:p>
          <a:p>
            <a:r>
              <a:rPr lang="zh-CN" altLang="zh-CN" dirty="0"/>
              <a:t>根域名服务器采</a:t>
            </a:r>
            <a:r>
              <a:rPr lang="zh-CN" altLang="en-US" dirty="0"/>
              <a:t>用</a:t>
            </a:r>
            <a:r>
              <a:rPr lang="zh-CN" altLang="zh-CN" dirty="0"/>
              <a:t>任播</a:t>
            </a:r>
            <a:r>
              <a:rPr lang="en-US" altLang="zh-CN" dirty="0"/>
              <a:t> (anycast) </a:t>
            </a:r>
            <a:r>
              <a:rPr lang="zh-CN" altLang="zh-CN" dirty="0"/>
              <a:t>技术</a:t>
            </a:r>
            <a:r>
              <a:rPr lang="zh-CN" altLang="en-US" dirty="0"/>
              <a:t>，</a:t>
            </a:r>
            <a:r>
              <a:rPr lang="zh-CN" altLang="zh-CN" dirty="0"/>
              <a:t>当</a:t>
            </a:r>
            <a:r>
              <a:rPr lang="en-US" altLang="zh-CN" dirty="0"/>
              <a:t>DNS </a:t>
            </a:r>
            <a:r>
              <a:rPr lang="zh-CN" altLang="zh-CN" dirty="0"/>
              <a:t>客户向某个根域名服务器发出查询报文时，路由器能找到离这个</a:t>
            </a:r>
            <a:r>
              <a:rPr lang="en-US" altLang="zh-CN" dirty="0"/>
              <a:t> DNS </a:t>
            </a:r>
            <a:r>
              <a:rPr lang="zh-CN" altLang="zh-CN" dirty="0"/>
              <a:t>客户最近的一个根域名服务器</a:t>
            </a:r>
          </a:p>
          <a:p>
            <a:r>
              <a:rPr lang="zh-CN" altLang="en-US" dirty="0"/>
              <a:t>截至 </a:t>
            </a:r>
            <a:r>
              <a:rPr lang="en-US" altLang="zh-CN" dirty="0"/>
              <a:t>2020</a:t>
            </a:r>
            <a:r>
              <a:rPr lang="zh-CN" altLang="en-US" dirty="0"/>
              <a:t>年</a:t>
            </a:r>
            <a:r>
              <a:rPr lang="en-US" altLang="zh-CN" dirty="0"/>
              <a:t>9</a:t>
            </a:r>
            <a:r>
              <a:rPr lang="zh-CN" altLang="en-US" dirty="0"/>
              <a:t>月</a:t>
            </a:r>
            <a:r>
              <a:rPr lang="en-US" altLang="zh-CN" dirty="0"/>
              <a:t>3</a:t>
            </a:r>
            <a:r>
              <a:rPr lang="zh-CN" altLang="en-US" dirty="0"/>
              <a:t>日，全球共有 </a:t>
            </a:r>
            <a:r>
              <a:rPr lang="en-US" altLang="zh-CN" dirty="0"/>
              <a:t>1098 </a:t>
            </a:r>
            <a:r>
              <a:rPr lang="zh-CN" altLang="en-US" dirty="0"/>
              <a:t>个根域名服务器在运行，其中在我国的共有</a:t>
            </a:r>
            <a:r>
              <a:rPr lang="en-US" altLang="zh-CN" dirty="0"/>
              <a:t>28</a:t>
            </a:r>
            <a:r>
              <a:rPr lang="zh-CN" altLang="en-US" dirty="0"/>
              <a:t>个</a:t>
            </a:r>
            <a:endParaRPr lang="en-US" altLang="zh-CN" dirty="0"/>
          </a:p>
          <a:p>
            <a:endParaRPr lang="en-US" altLang="zh-CN" dirty="0"/>
          </a:p>
          <a:p>
            <a:r>
              <a:rPr lang="zh-CN" altLang="en-US" dirty="0"/>
              <a:t>注意：</a:t>
            </a:r>
            <a:endParaRPr lang="en-US" altLang="zh-CN" dirty="0"/>
          </a:p>
          <a:p>
            <a:pPr lvl="1"/>
            <a:r>
              <a:rPr lang="zh-CN" altLang="en-US" dirty="0"/>
              <a:t>根域名服务器并不直接把域名转换成 </a:t>
            </a:r>
            <a:r>
              <a:rPr lang="en-US" altLang="zh-CN" dirty="0"/>
              <a:t>IP </a:t>
            </a:r>
            <a:r>
              <a:rPr lang="zh-CN" altLang="en-US" dirty="0"/>
              <a:t>地址（根域名服务器也没有存放这种信息）</a:t>
            </a:r>
            <a:endParaRPr lang="en-US" altLang="zh-CN" dirty="0"/>
          </a:p>
          <a:p>
            <a:pPr lvl="1"/>
            <a:r>
              <a:rPr lang="zh-CN" altLang="en-US" dirty="0"/>
              <a:t>而是告诉本地域名服务器下一步应当找哪一个顶级域名服务器进行查询</a:t>
            </a:r>
          </a:p>
          <a:p>
            <a:endParaRPr lang="zh-CN" altLang="en-US" dirty="0"/>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2880000" y="144000"/>
            <a:ext cx="3384000" cy="338554"/>
          </a:xfrm>
        </p:spPr>
        <p:txBody>
          <a:bodyPr/>
          <a:lstStyle/>
          <a:p>
            <a:r>
              <a:rPr lang="en-US" altLang="zh-CN" dirty="0"/>
              <a:t>2.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482554"/>
            <a:ext cx="8172000" cy="4284000"/>
          </a:xfrm>
        </p:spPr>
        <p:txBody>
          <a:bodyPr/>
          <a:lstStyle/>
          <a:p>
            <a:r>
              <a:rPr lang="zh-CN" altLang="en-US" dirty="0"/>
              <a:t>顶级域名服务器</a:t>
            </a:r>
            <a:endParaRPr lang="en-US" altLang="zh-CN" dirty="0"/>
          </a:p>
          <a:p>
            <a:pPr lvl="1"/>
            <a:r>
              <a:rPr lang="zh-CN" altLang="en-US" dirty="0"/>
              <a:t> </a:t>
            </a:r>
            <a:r>
              <a:rPr lang="en-US" altLang="zh-CN" dirty="0"/>
              <a:t>TLD – Top Level Domain</a:t>
            </a:r>
          </a:p>
          <a:p>
            <a:pPr lvl="1"/>
            <a:r>
              <a:rPr lang="zh-CN" altLang="en-US" dirty="0"/>
              <a:t>负责管理在该顶级域名服务器注册的所有二级域名</a:t>
            </a:r>
          </a:p>
          <a:p>
            <a:r>
              <a:rPr lang="zh-CN" altLang="en-US" dirty="0"/>
              <a:t>当收到 </a:t>
            </a:r>
            <a:r>
              <a:rPr lang="en-US" altLang="zh-CN" dirty="0"/>
              <a:t>DNS </a:t>
            </a:r>
            <a:r>
              <a:rPr lang="zh-CN" altLang="en-US" dirty="0"/>
              <a:t>查询请求时，就给出相应的回答</a:t>
            </a:r>
            <a:endParaRPr lang="en-US" altLang="zh-CN" dirty="0"/>
          </a:p>
          <a:p>
            <a:r>
              <a:rPr lang="zh-CN" altLang="en-US" dirty="0"/>
              <a:t>可能是最后的结果，也可能是下一步应当找的域名服务器的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2880000" y="144000"/>
            <a:ext cx="3384000" cy="338554"/>
          </a:xfrm>
        </p:spPr>
        <p:txBody>
          <a:bodyPr/>
          <a:lstStyle/>
          <a:p>
            <a:r>
              <a:rPr lang="en-US" altLang="zh-CN" dirty="0"/>
              <a:t>3.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482554"/>
            <a:ext cx="8172000" cy="4284000"/>
          </a:xfrm>
        </p:spPr>
        <p:txBody>
          <a:bodyPr/>
          <a:lstStyle/>
          <a:p>
            <a:r>
              <a:rPr lang="zh-CN" altLang="en-US" dirty="0"/>
              <a:t>负责一个区 </a:t>
            </a:r>
            <a:r>
              <a:rPr lang="en-US" altLang="zh-CN" dirty="0"/>
              <a:t>zone </a:t>
            </a:r>
            <a:r>
              <a:rPr lang="zh-CN" altLang="en-US" dirty="0"/>
              <a:t>的域名服务器</a:t>
            </a:r>
          </a:p>
          <a:p>
            <a:r>
              <a:rPr lang="zh-CN" altLang="en-US" dirty="0"/>
              <a:t>当一个权限域名服务器还不能给出最后的查询回答时，就会告诉发出查询请求的 </a:t>
            </a:r>
            <a:r>
              <a:rPr lang="en-US" altLang="zh-CN" dirty="0"/>
              <a:t>DNS </a:t>
            </a:r>
            <a:r>
              <a:rPr lang="zh-CN" altLang="en-US" dirty="0"/>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2880000" y="144000"/>
            <a:ext cx="3384000" cy="338554"/>
          </a:xfrm>
        </p:spPr>
        <p:txBody>
          <a:bodyPr/>
          <a:lstStyle/>
          <a:p>
            <a:r>
              <a:rPr lang="en-US" altLang="zh-CN" dirty="0"/>
              <a:t>4.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482554"/>
            <a:ext cx="8172000" cy="4284000"/>
          </a:xfrm>
        </p:spPr>
        <p:txBody>
          <a:bodyPr/>
          <a:lstStyle/>
          <a:p>
            <a:r>
              <a:rPr lang="zh-CN" altLang="en-US" dirty="0"/>
              <a:t>非常重要</a:t>
            </a:r>
          </a:p>
          <a:p>
            <a:r>
              <a:rPr lang="zh-CN" altLang="en-US" dirty="0"/>
              <a:t>当一个主机发出 </a:t>
            </a:r>
            <a:r>
              <a:rPr lang="en-US" altLang="zh-CN" dirty="0"/>
              <a:t>DNS </a:t>
            </a:r>
            <a:r>
              <a:rPr lang="zh-CN" altLang="en-US" dirty="0"/>
              <a:t>查询请求时，该查询请求报文就发送给本地域名服务器</a:t>
            </a:r>
          </a:p>
          <a:p>
            <a:r>
              <a:rPr lang="zh-CN" altLang="en-US" dirty="0"/>
              <a:t>每一个互联网服务提供者 </a:t>
            </a:r>
            <a:r>
              <a:rPr lang="en-US" altLang="zh-CN" dirty="0"/>
              <a:t>ISP </a:t>
            </a:r>
            <a:r>
              <a:rPr lang="zh-CN" altLang="en-US" dirty="0"/>
              <a:t>或一个大学，都可以拥有一个本地域名服务器</a:t>
            </a:r>
            <a:endParaRPr lang="en-US" altLang="zh-CN" dirty="0"/>
          </a:p>
          <a:p>
            <a:r>
              <a:rPr lang="zh-CN" altLang="en-US" dirty="0"/>
              <a:t>当所要查询的主机也属于同一个本地 </a:t>
            </a:r>
            <a:r>
              <a:rPr lang="en-US" altLang="zh-CN" dirty="0"/>
              <a:t>ISP </a:t>
            </a:r>
            <a:r>
              <a:rPr lang="zh-CN" altLang="en-US" dirty="0"/>
              <a:t>时，该本地域名服务器立即就能将所查询的主机名转换为它的 </a:t>
            </a:r>
            <a:r>
              <a:rPr lang="en-US" altLang="zh-CN" dirty="0"/>
              <a:t>IP </a:t>
            </a:r>
            <a:r>
              <a:rPr lang="zh-CN" altLang="en-US" dirty="0"/>
              <a:t>地址，而不需要再去询问其他的域名服务器</a:t>
            </a:r>
          </a:p>
          <a:p>
            <a:r>
              <a:rPr lang="zh-CN" altLang="en-US" dirty="0"/>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2880000" y="144000"/>
            <a:ext cx="3384000" cy="338554"/>
          </a:xfrm>
        </p:spPr>
        <p:txBody>
          <a:bodyPr/>
          <a:lstStyle/>
          <a:p>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482554"/>
            <a:ext cx="8172000" cy="4284000"/>
          </a:xfrm>
        </p:spPr>
        <p:txBody>
          <a:bodyPr/>
          <a:lstStyle/>
          <a:p>
            <a:r>
              <a:rPr lang="en-US" altLang="zh-CN" dirty="0"/>
              <a:t>DNS </a:t>
            </a:r>
            <a:r>
              <a:rPr lang="zh-CN" altLang="en-US" dirty="0"/>
              <a:t>域名服务器都把数据复制到几个域名服务器来保存</a:t>
            </a:r>
            <a:endParaRPr lang="en-US" altLang="zh-CN" dirty="0"/>
          </a:p>
          <a:p>
            <a:pPr lvl="1"/>
            <a:r>
              <a:rPr lang="zh-CN" altLang="en-US" dirty="0"/>
              <a:t>其中的一个是主域名服务器</a:t>
            </a:r>
            <a:endParaRPr lang="en-US" altLang="zh-CN" dirty="0"/>
          </a:p>
          <a:p>
            <a:pPr lvl="1"/>
            <a:r>
              <a:rPr lang="zh-CN" altLang="en-US" dirty="0"/>
              <a:t>其他的是辅助域名服务器。</a:t>
            </a:r>
          </a:p>
          <a:p>
            <a:r>
              <a:rPr lang="zh-CN" altLang="en-US" dirty="0"/>
              <a:t>当主域名服务器出故障时，辅助域名服务器可以保证 </a:t>
            </a:r>
            <a:r>
              <a:rPr lang="en-US" altLang="zh-CN" dirty="0"/>
              <a:t>DNS </a:t>
            </a:r>
            <a:r>
              <a:rPr lang="zh-CN" altLang="en-US" dirty="0"/>
              <a:t>的查询工作不会中断</a:t>
            </a:r>
          </a:p>
          <a:p>
            <a:r>
              <a:rPr lang="zh-CN" altLang="en-US" dirty="0"/>
              <a:t>主域名服务器定期把数据复制到辅助域名服务器中</a:t>
            </a:r>
            <a:endParaRPr lang="en-US" altLang="zh-CN" dirty="0"/>
          </a:p>
          <a:p>
            <a:r>
              <a:rPr lang="zh-CN" altLang="en-US" dirty="0"/>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2880000" y="144000"/>
            <a:ext cx="3384000" cy="338554"/>
          </a:xfrm>
        </p:spPr>
        <p:txBody>
          <a:bodyPr/>
          <a:lstStyle/>
          <a:p>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482554"/>
            <a:ext cx="8172000" cy="4284000"/>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Rectangle 9"/>
          <p:cNvSpPr>
            <a:spLocks noChangeArrowheads="1"/>
          </p:cNvSpPr>
          <p:nvPr/>
        </p:nvSpPr>
        <p:spPr bwMode="auto">
          <a:xfrm>
            <a:off x="2629135" y="133902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34" name="Rectangle 10"/>
          <p:cNvSpPr>
            <a:spLocks noChangeArrowheads="1"/>
          </p:cNvSpPr>
          <p:nvPr/>
        </p:nvSpPr>
        <p:spPr bwMode="auto">
          <a:xfrm>
            <a:off x="2629135" y="194545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35" name="Rectangle 11"/>
          <p:cNvSpPr>
            <a:spLocks noChangeArrowheads="1"/>
          </p:cNvSpPr>
          <p:nvPr/>
        </p:nvSpPr>
        <p:spPr bwMode="auto">
          <a:xfrm>
            <a:off x="2629135" y="256298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3" name="Rectangle 8"/>
          <p:cNvSpPr>
            <a:spLocks noChangeArrowheads="1"/>
          </p:cNvSpPr>
          <p:nvPr/>
        </p:nvSpPr>
        <p:spPr bwMode="auto">
          <a:xfrm>
            <a:off x="2700573" y="1085025"/>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6.2.1                                               FTP </a:t>
            </a:r>
            <a:r>
              <a:rPr lang="zh-CN" altLang="en-US" sz="2000" b="1" dirty="0">
                <a:solidFill>
                  <a:schemeClr val="bg1"/>
                </a:solidFill>
                <a:latin typeface="微软雅黑 Light" panose="020B0502040204020203" pitchFamily="34" charset="-122"/>
                <a:ea typeface="微软雅黑 Light" panose="020B0502040204020203" pitchFamily="34" charset="-122"/>
              </a:rPr>
              <a:t>概述</a:t>
            </a:r>
          </a:p>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6.2.2                              FTP </a:t>
            </a:r>
            <a:r>
              <a:rPr lang="zh-CN" altLang="en-US" sz="2000" b="1" dirty="0">
                <a:solidFill>
                  <a:schemeClr val="bg1"/>
                </a:solidFill>
                <a:latin typeface="微软雅黑 Light" panose="020B0502040204020203" pitchFamily="34" charset="-122"/>
                <a:ea typeface="微软雅黑 Light" panose="020B0502040204020203" pitchFamily="34" charset="-122"/>
              </a:rPr>
              <a:t>的基本工作原理</a:t>
            </a:r>
          </a:p>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6.2.3                         </a:t>
            </a:r>
            <a:r>
              <a:rPr lang="zh-CN" altLang="en-US" sz="2000" b="1" dirty="0">
                <a:solidFill>
                  <a:schemeClr val="bg1"/>
                </a:solidFill>
                <a:latin typeface="微软雅黑 Light" panose="020B0502040204020203" pitchFamily="34" charset="-122"/>
                <a:ea typeface="微软雅黑 Light" panose="020B0502040204020203" pitchFamily="34" charset="-122"/>
              </a:rPr>
              <a:t>简单文件传送协议 </a:t>
            </a:r>
            <a:r>
              <a:rPr lang="en-US" altLang="zh-CN" sz="2000" b="1" dirty="0">
                <a:solidFill>
                  <a:schemeClr val="bg1"/>
                </a:solidFill>
                <a:latin typeface="微软雅黑 Light" panose="020B0502040204020203" pitchFamily="34" charset="-122"/>
                <a:ea typeface="微软雅黑 Light" panose="020B0502040204020203" pitchFamily="34" charset="-122"/>
              </a:rPr>
              <a:t>TFTP</a:t>
            </a:r>
          </a:p>
        </p:txBody>
      </p:sp>
      <p:sp>
        <p:nvSpPr>
          <p:cNvPr id="144" name="Rectangle 27"/>
          <p:cNvSpPr>
            <a:spLocks noChangeArrowheads="1"/>
          </p:cNvSpPr>
          <p:nvPr/>
        </p:nvSpPr>
        <p:spPr bwMode="auto">
          <a:xfrm>
            <a:off x="639730" y="133902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153" name="Rectangle 29"/>
          <p:cNvSpPr>
            <a:spLocks noChangeArrowheads="1"/>
          </p:cNvSpPr>
          <p:nvPr/>
        </p:nvSpPr>
        <p:spPr bwMode="auto">
          <a:xfrm>
            <a:off x="648619" y="143395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Light" panose="020B0502040204020203" pitchFamily="34" charset="-122"/>
                <a:ea typeface="微软雅黑 Light" panose="020B0502040204020203" pitchFamily="34" charset="-122"/>
              </a:rPr>
              <a:t>6.2</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文件传送</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协议</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2880000" y="144000"/>
            <a:ext cx="3384000"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482554"/>
            <a:ext cx="8172000" cy="4284000"/>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2880000" y="144000"/>
            <a:ext cx="3384000" cy="338554"/>
          </a:xfrm>
        </p:spPr>
        <p:txBody>
          <a:bodyPr/>
          <a:lstStyle/>
          <a:p>
            <a:r>
              <a:rPr lang="zh-CN" altLang="en-US" dirty="0"/>
              <a:t>文件共享协议</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482554"/>
            <a:ext cx="8172000" cy="4284000"/>
          </a:xfrm>
        </p:spPr>
        <p:txBody>
          <a:bodyPr/>
          <a:lstStyle/>
          <a:p>
            <a:r>
              <a:rPr lang="zh-CN" altLang="en-US" dirty="0"/>
              <a:t>文件传送协议：</a:t>
            </a:r>
            <a:r>
              <a:rPr lang="en-US" altLang="zh-CN" dirty="0"/>
              <a:t>FTP</a:t>
            </a:r>
            <a:r>
              <a:rPr lang="zh-CN" altLang="en-US" dirty="0"/>
              <a:t>， </a:t>
            </a:r>
            <a:r>
              <a:rPr lang="en-US" altLang="zh-CN" dirty="0"/>
              <a:t>TFTP </a:t>
            </a:r>
            <a:r>
              <a:rPr lang="zh-CN" altLang="en-US" dirty="0"/>
              <a:t>等</a:t>
            </a:r>
            <a:endParaRPr lang="en-US" altLang="zh-CN" dirty="0"/>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2880000" y="144000"/>
            <a:ext cx="3384000" cy="338554"/>
          </a:xfrm>
        </p:spPr>
        <p:txBody>
          <a:bodyPr/>
          <a:lstStyle/>
          <a:p>
            <a:r>
              <a:rPr lang="en-US" altLang="zh-CN"/>
              <a:t>6.2.2  FTP </a:t>
            </a:r>
            <a:r>
              <a:rPr lang="zh-CN" altLang="en-US"/>
              <a:t>的基本工作原理</a:t>
            </a:r>
            <a:endParaRPr lang="zh-CN" altLang="en-US" dirty="0"/>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482554"/>
            <a:ext cx="8172000" cy="4284000"/>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2880000" y="144000"/>
            <a:ext cx="3384000"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482554"/>
            <a:ext cx="8172000" cy="4284000"/>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2880000" y="144000"/>
            <a:ext cx="3384000"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482554"/>
            <a:ext cx="8172000" cy="4284000"/>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2880000" y="144000"/>
            <a:ext cx="3384000"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482554"/>
            <a:ext cx="8172000" cy="4284000"/>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2880000" y="144000"/>
            <a:ext cx="3384000"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482554"/>
            <a:ext cx="8172000" cy="4284000"/>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2880000" y="144000"/>
            <a:ext cx="3384000" cy="338554"/>
          </a:xfrm>
        </p:spPr>
        <p:txBody>
          <a:bodyPr/>
          <a:lstStyle/>
          <a:p>
            <a:r>
              <a:rPr lang="en-US" altLang="zh-CN" dirty="0"/>
              <a:t>TFTP </a:t>
            </a:r>
            <a:r>
              <a:rPr lang="zh-CN" altLang="en-US" dirty="0"/>
              <a:t>的主要特点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482554"/>
            <a:ext cx="8172000" cy="4284000"/>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2880000" y="144000"/>
            <a:ext cx="3384000"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482554"/>
            <a:ext cx="8172000" cy="4284000"/>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2880000" y="144000"/>
            <a:ext cx="3384000" cy="338554"/>
          </a:xfrm>
        </p:spPr>
        <p:txBody>
          <a:bodyPr/>
          <a:lstStyle/>
          <a:p>
            <a:r>
              <a:rPr lang="en-US" altLang="zh-CN" dirty="0"/>
              <a:t>TFTP </a:t>
            </a:r>
            <a:r>
              <a:rPr lang="zh-CN" altLang="en-US" dirty="0"/>
              <a:t>的工作过程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482554"/>
            <a:ext cx="8172000" cy="4284000"/>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68"/>
          <p:cNvSpPr>
            <a:spLocks noChangeArrowheads="1"/>
          </p:cNvSpPr>
          <p:nvPr/>
        </p:nvSpPr>
        <p:spPr bwMode="auto">
          <a:xfrm>
            <a:off x="545144" y="1003068"/>
            <a:ext cx="8053712"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是一个简单的远程终端协议，是互联网的正式标准。</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允许用户在其所在地通过 </a:t>
            </a:r>
            <a:r>
              <a:rPr lang="en-US" altLang="zh-CN" sz="2000" b="1" dirty="0">
                <a:solidFill>
                  <a:srgbClr val="C00000"/>
                </a:solidFill>
                <a:latin typeface="微软雅黑 Light" panose="020B0502040204020203" pitchFamily="34" charset="-122"/>
                <a:ea typeface="微软雅黑 Light" panose="020B0502040204020203" pitchFamily="34" charset="-122"/>
              </a:rPr>
              <a:t>TCP</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连接注册（即登录）到</a:t>
            </a:r>
            <a:r>
              <a:rPr lang="zh-CN" altLang="en-US" sz="2000" b="1" dirty="0">
                <a:solidFill>
                  <a:srgbClr val="C00000"/>
                </a:solidFill>
                <a:latin typeface="微软雅黑 Light" panose="020B0502040204020203" pitchFamily="34" charset="-122"/>
                <a:ea typeface="微软雅黑 Light" panose="020B0502040204020203" pitchFamily="34" charset="-122"/>
              </a:rPr>
              <a:t>远地</a:t>
            </a:r>
            <a:r>
              <a:rPr lang="zh-CN" altLang="en-US" sz="2000" b="1" dirty="0">
                <a:latin typeface="微软雅黑 Light" panose="020B0502040204020203" pitchFamily="34" charset="-122"/>
                <a:ea typeface="微软雅黑 Light" panose="020B0502040204020203" pitchFamily="34" charset="-122"/>
              </a:rPr>
              <a:t>的另一个主机上（使用主机名或 </a:t>
            </a:r>
            <a:r>
              <a:rPr lang="en-US" altLang="zh-CN" sz="2000" b="1" dirty="0">
                <a:latin typeface="微软雅黑 Light" panose="020B0502040204020203" pitchFamily="34" charset="-122"/>
                <a:ea typeface="微软雅黑 Light" panose="020B0502040204020203" pitchFamily="34" charset="-122"/>
              </a:rPr>
              <a:t>IP </a:t>
            </a:r>
            <a:r>
              <a:rPr lang="zh-CN" altLang="en-US" sz="2000" b="1" dirty="0">
                <a:latin typeface="微软雅黑 Light" panose="020B0502040204020203" pitchFamily="34" charset="-122"/>
                <a:ea typeface="微软雅黑 Light" panose="020B0502040204020203" pitchFamily="34" charset="-122"/>
              </a:rPr>
              <a:t>地址）。</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能将用户的击键传到远地主机，同时也能将远地主机的输出通过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连接返回到用户屏幕。</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服务是</a:t>
            </a:r>
            <a:r>
              <a:rPr lang="zh-CN" altLang="en-US" sz="2000" b="1" dirty="0">
                <a:solidFill>
                  <a:srgbClr val="C00000"/>
                </a:solidFill>
                <a:latin typeface="微软雅黑 Light" panose="020B0502040204020203" pitchFamily="34" charset="-122"/>
                <a:ea typeface="微软雅黑 Light" panose="020B0502040204020203" pitchFamily="34" charset="-122"/>
              </a:rPr>
              <a:t>透明</a:t>
            </a:r>
            <a:r>
              <a:rPr lang="zh-CN" altLang="en-US" sz="2000" b="1" dirty="0">
                <a:latin typeface="微软雅黑 Light" panose="020B0502040204020203" pitchFamily="34" charset="-122"/>
                <a:ea typeface="微软雅黑 Light" panose="020B0502040204020203" pitchFamily="34" charset="-122"/>
              </a:rPr>
              <a:t>的。</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又称为</a:t>
            </a:r>
            <a:r>
              <a:rPr lang="zh-CN" altLang="en-US" sz="2000" b="1" dirty="0">
                <a:solidFill>
                  <a:srgbClr val="C00000"/>
                </a:solidFill>
                <a:latin typeface="微软雅黑 Light" panose="020B0502040204020203" pitchFamily="34" charset="-122"/>
                <a:ea typeface="微软雅黑 Light" panose="020B0502040204020203" pitchFamily="34" charset="-122"/>
              </a:rPr>
              <a:t>终端仿真协议。 </a:t>
            </a:r>
          </a:p>
        </p:txBody>
      </p:sp>
      <p:sp>
        <p:nvSpPr>
          <p:cNvPr id="5" name="AutoShape 5"/>
          <p:cNvSpPr>
            <a:spLocks noChangeArrowheads="1"/>
          </p:cNvSpPr>
          <p:nvPr/>
        </p:nvSpPr>
        <p:spPr bwMode="auto">
          <a:xfrm>
            <a:off x="545144" y="616103"/>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dirty="0">
              <a:latin typeface="微软雅黑 Light" panose="020B0502040204020203" pitchFamily="34" charset="-122"/>
              <a:ea typeface="微软雅黑 Light" panose="020B0502040204020203" pitchFamily="34" charset="-122"/>
            </a:endParaRPr>
          </a:p>
        </p:txBody>
      </p:sp>
      <p:sp>
        <p:nvSpPr>
          <p:cNvPr id="6" name="Rectangle 6"/>
          <p:cNvSpPr>
            <a:spLocks noChangeArrowheads="1"/>
          </p:cNvSpPr>
          <p:nvPr/>
        </p:nvSpPr>
        <p:spPr bwMode="auto">
          <a:xfrm>
            <a:off x="2680298" y="573832"/>
            <a:ext cx="37834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Light" panose="020B0502040204020203" pitchFamily="34" charset="-122"/>
                <a:ea typeface="微软雅黑 Light" panose="020B0502040204020203" pitchFamily="34" charset="-122"/>
              </a:rPr>
              <a:t>6.3  </a:t>
            </a:r>
            <a:r>
              <a:rPr lang="zh-CN" altLang="en-US" sz="2400" b="1" dirty="0">
                <a:solidFill>
                  <a:schemeClr val="bg1"/>
                </a:solidFill>
                <a:latin typeface="微软雅黑 Light" panose="020B0502040204020203" pitchFamily="34" charset="-122"/>
                <a:ea typeface="微软雅黑 Light" panose="020B0502040204020203" pitchFamily="34" charset="-122"/>
              </a:rPr>
              <a:t>远程终端协议 </a:t>
            </a:r>
            <a:r>
              <a:rPr lang="en-US" altLang="zh-CN" sz="2400" b="1" dirty="0">
                <a:solidFill>
                  <a:schemeClr val="bg1"/>
                </a:solidFill>
                <a:latin typeface="微软雅黑 Light" panose="020B0502040204020203" pitchFamily="34" charset="-122"/>
                <a:ea typeface="微软雅黑 Light" panose="020B0502040204020203" pitchFamily="34" charset="-122"/>
              </a:rPr>
              <a:t>TELNET</a:t>
            </a:r>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AutoShape 5"/>
          <p:cNvSpPr>
            <a:spLocks noChangeArrowheads="1"/>
          </p:cNvSpPr>
          <p:nvPr/>
        </p:nvSpPr>
        <p:spPr bwMode="auto">
          <a:xfrm>
            <a:off x="556963" y="61071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8" name="Rectangle 6"/>
          <p:cNvSpPr>
            <a:spLocks noChangeArrowheads="1"/>
          </p:cNvSpPr>
          <p:nvPr/>
        </p:nvSpPr>
        <p:spPr bwMode="auto">
          <a:xfrm>
            <a:off x="2676634" y="577503"/>
            <a:ext cx="3809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TELNET </a:t>
            </a:r>
            <a:r>
              <a:rPr lang="zh-CN" altLang="en-US" sz="2000" b="1" dirty="0">
                <a:solidFill>
                  <a:schemeClr val="bg1"/>
                </a:solidFill>
                <a:latin typeface="微软雅黑 Light" panose="020B0502040204020203" pitchFamily="34" charset="-122"/>
                <a:ea typeface="微软雅黑 Light" panose="020B0502040204020203" pitchFamily="34" charset="-122"/>
              </a:rPr>
              <a:t>使用客户 </a:t>
            </a:r>
            <a:r>
              <a:rPr lang="en-US" altLang="zh-CN" sz="2000" b="1" dirty="0">
                <a:solidFill>
                  <a:schemeClr val="bg1"/>
                </a:solidFill>
                <a:latin typeface="微软雅黑 Light" panose="020B0502040204020203" pitchFamily="34" charset="-122"/>
                <a:ea typeface="微软雅黑 Light" panose="020B0502040204020203" pitchFamily="34" charset="-122"/>
              </a:rPr>
              <a:t>- </a:t>
            </a:r>
            <a:r>
              <a:rPr lang="zh-CN" altLang="en-US" sz="2000" b="1" dirty="0">
                <a:solidFill>
                  <a:schemeClr val="bg1"/>
                </a:solidFill>
                <a:latin typeface="微软雅黑 Light" panose="020B0502040204020203" pitchFamily="34" charset="-122"/>
                <a:ea typeface="微软雅黑 Light" panose="020B0502040204020203" pitchFamily="34" charset="-122"/>
              </a:rPr>
              <a:t>服务器方式</a:t>
            </a:r>
          </a:p>
        </p:txBody>
      </p:sp>
      <p:sp>
        <p:nvSpPr>
          <p:cNvPr id="79" name="Rectangle 68"/>
          <p:cNvSpPr>
            <a:spLocks noChangeArrowheads="1"/>
          </p:cNvSpPr>
          <p:nvPr/>
        </p:nvSpPr>
        <p:spPr bwMode="auto">
          <a:xfrm>
            <a:off x="483810" y="976207"/>
            <a:ext cx="8193262"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在本地系统运行 </a:t>
            </a:r>
            <a:r>
              <a:rPr lang="en-US" altLang="zh-CN" sz="2000" b="1" dirty="0">
                <a:latin typeface="微软雅黑 Light" panose="020B0502040204020203" pitchFamily="34" charset="-122"/>
                <a:ea typeface="微软雅黑 Light" panose="020B0502040204020203" pitchFamily="34" charset="-122"/>
              </a:rPr>
              <a:t>TELNET </a:t>
            </a:r>
            <a:r>
              <a:rPr lang="zh-CN" altLang="en-US" sz="2000" b="1" dirty="0">
                <a:solidFill>
                  <a:srgbClr val="C00000"/>
                </a:solidFill>
                <a:latin typeface="微软雅黑 Light" panose="020B0502040204020203" pitchFamily="34" charset="-122"/>
                <a:ea typeface="微软雅黑 Light" panose="020B0502040204020203" pitchFamily="34" charset="-122"/>
              </a:rPr>
              <a:t>客户进程，</a:t>
            </a:r>
            <a:r>
              <a:rPr lang="zh-CN" altLang="en-US" sz="2000" b="1" dirty="0">
                <a:latin typeface="微软雅黑 Light" panose="020B0502040204020203" pitchFamily="34" charset="-122"/>
                <a:ea typeface="微软雅黑 Light" panose="020B0502040204020203" pitchFamily="34" charset="-122"/>
              </a:rPr>
              <a:t>而在远地主机则运行 </a:t>
            </a:r>
            <a:r>
              <a:rPr lang="en-US" altLang="zh-CN" sz="2000" b="1" dirty="0">
                <a:latin typeface="微软雅黑 Light" panose="020B0502040204020203" pitchFamily="34" charset="-122"/>
                <a:ea typeface="微软雅黑 Light" panose="020B0502040204020203" pitchFamily="34" charset="-122"/>
              </a:rPr>
              <a:t>TELNET </a:t>
            </a:r>
            <a:r>
              <a:rPr lang="zh-CN" altLang="en-US" sz="2000" b="1" dirty="0">
                <a:solidFill>
                  <a:srgbClr val="C00000"/>
                </a:solidFill>
                <a:latin typeface="微软雅黑 Light" panose="020B0502040204020203" pitchFamily="34" charset="-122"/>
                <a:ea typeface="微软雅黑 Light" panose="020B0502040204020203" pitchFamily="34" charset="-122"/>
              </a:rPr>
              <a:t>服务器进程。</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服务器中的</a:t>
            </a:r>
            <a:r>
              <a:rPr lang="zh-CN" altLang="en-US" sz="2000" b="1" dirty="0">
                <a:solidFill>
                  <a:srgbClr val="C00000"/>
                </a:solidFill>
                <a:latin typeface="微软雅黑 Light" panose="020B0502040204020203" pitchFamily="34" charset="-122"/>
                <a:ea typeface="微软雅黑 Light" panose="020B0502040204020203" pitchFamily="34" charset="-122"/>
              </a:rPr>
              <a:t>主进程</a:t>
            </a:r>
            <a:r>
              <a:rPr lang="zh-CN" altLang="en-US" sz="2000" b="1" dirty="0">
                <a:latin typeface="微软雅黑 Light" panose="020B0502040204020203" pitchFamily="34" charset="-122"/>
                <a:ea typeface="微软雅黑 Light" panose="020B0502040204020203" pitchFamily="34" charset="-122"/>
              </a:rPr>
              <a:t>等待新的请求，产生</a:t>
            </a:r>
            <a:r>
              <a:rPr lang="zh-CN" altLang="en-US" sz="2000" b="1" dirty="0">
                <a:solidFill>
                  <a:srgbClr val="C00000"/>
                </a:solidFill>
                <a:latin typeface="微软雅黑 Light" panose="020B0502040204020203" pitchFamily="34" charset="-122"/>
                <a:ea typeface="微软雅黑 Light" panose="020B0502040204020203" pitchFamily="34" charset="-122"/>
              </a:rPr>
              <a:t>从属进程</a:t>
            </a:r>
            <a:r>
              <a:rPr lang="zh-CN" altLang="en-US" sz="2000" b="1" dirty="0">
                <a:latin typeface="微软雅黑 Light" panose="020B0502040204020203" pitchFamily="34" charset="-122"/>
                <a:ea typeface="微软雅黑 Light" panose="020B0502040204020203" pitchFamily="34" charset="-122"/>
              </a:rPr>
              <a:t>来处理每一个连接。 </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 name="Group 190"/>
          <p:cNvGrpSpPr>
            <a:grpSpLocks noChangeAspect="1"/>
          </p:cNvGrpSpPr>
          <p:nvPr/>
        </p:nvGrpSpPr>
        <p:grpSpPr bwMode="auto">
          <a:xfrm>
            <a:off x="1638459" y="1489622"/>
            <a:ext cx="1465666" cy="1328224"/>
            <a:chOff x="667" y="1712"/>
            <a:chExt cx="1269" cy="1150"/>
          </a:xfrm>
        </p:grpSpPr>
        <p:sp>
          <p:nvSpPr>
            <p:cNvPr id="46" name="AutoShape 189"/>
            <p:cNvSpPr>
              <a:spLocks noChangeAspect="1" noChangeArrowheads="1" noTextEdit="1"/>
            </p:cNvSpPr>
            <p:nvPr/>
          </p:nvSpPr>
          <p:spPr bwMode="auto">
            <a:xfrm>
              <a:off x="667" y="1712"/>
              <a:ext cx="1269" cy="1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nvGrpSpPr>
            <p:cNvPr id="59" name="Group 199"/>
            <p:cNvGrpSpPr>
              <a:grpSpLocks/>
            </p:cNvGrpSpPr>
            <p:nvPr/>
          </p:nvGrpSpPr>
          <p:grpSpPr bwMode="auto">
            <a:xfrm>
              <a:off x="880" y="1752"/>
              <a:ext cx="854" cy="749"/>
              <a:chOff x="880" y="1752"/>
              <a:chExt cx="854" cy="749"/>
            </a:xfrm>
          </p:grpSpPr>
          <p:sp>
            <p:nvSpPr>
              <p:cNvPr id="60" name="Freeform 195"/>
              <p:cNvSpPr>
                <a:spLocks/>
              </p:cNvSpPr>
              <p:nvPr/>
            </p:nvSpPr>
            <p:spPr bwMode="auto">
              <a:xfrm>
                <a:off x="880" y="1752"/>
                <a:ext cx="854" cy="107"/>
              </a:xfrm>
              <a:custGeom>
                <a:avLst/>
                <a:gdLst>
                  <a:gd name="T0" fmla="*/ 0 w 854"/>
                  <a:gd name="T1" fmla="*/ 107 h 107"/>
                  <a:gd name="T2" fmla="*/ 95 w 854"/>
                  <a:gd name="T3" fmla="*/ 0 h 107"/>
                  <a:gd name="T4" fmla="*/ 760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60" y="0"/>
                    </a:lnTo>
                    <a:lnTo>
                      <a:pt x="854" y="107"/>
                    </a:lnTo>
                    <a:lnTo>
                      <a:pt x="0" y="10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61" name="Freeform 196"/>
              <p:cNvSpPr>
                <a:spLocks/>
              </p:cNvSpPr>
              <p:nvPr/>
            </p:nvSpPr>
            <p:spPr bwMode="auto">
              <a:xfrm>
                <a:off x="880" y="1752"/>
                <a:ext cx="854" cy="107"/>
              </a:xfrm>
              <a:custGeom>
                <a:avLst/>
                <a:gdLst>
                  <a:gd name="T0" fmla="*/ 0 w 854"/>
                  <a:gd name="T1" fmla="*/ 107 h 107"/>
                  <a:gd name="T2" fmla="*/ 95 w 854"/>
                  <a:gd name="T3" fmla="*/ 0 h 107"/>
                  <a:gd name="T4" fmla="*/ 760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60" y="0"/>
                    </a:lnTo>
                    <a:lnTo>
                      <a:pt x="854" y="107"/>
                    </a:lnTo>
                    <a:lnTo>
                      <a:pt x="0" y="10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63" name="AutoShape 198"/>
              <p:cNvSpPr>
                <a:spLocks noChangeArrowheads="1"/>
              </p:cNvSpPr>
              <p:nvPr/>
            </p:nvSpPr>
            <p:spPr bwMode="auto">
              <a:xfrm>
                <a:off x="916" y="1939"/>
                <a:ext cx="771" cy="562"/>
              </a:xfrm>
              <a:prstGeom prst="roundRect">
                <a:avLst>
                  <a:gd name="adj" fmla="val 16667"/>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grpSp>
          <p:nvGrpSpPr>
            <p:cNvPr id="48" name="Group 210"/>
            <p:cNvGrpSpPr>
              <a:grpSpLocks/>
            </p:cNvGrpSpPr>
            <p:nvPr/>
          </p:nvGrpSpPr>
          <p:grpSpPr bwMode="auto">
            <a:xfrm>
              <a:off x="667" y="1712"/>
              <a:ext cx="1245" cy="1110"/>
              <a:chOff x="667" y="1712"/>
              <a:chExt cx="1245" cy="1110"/>
            </a:xfrm>
          </p:grpSpPr>
          <p:grpSp>
            <p:nvGrpSpPr>
              <p:cNvPr id="49" name="Group 204"/>
              <p:cNvGrpSpPr>
                <a:grpSpLocks/>
              </p:cNvGrpSpPr>
              <p:nvPr/>
            </p:nvGrpSpPr>
            <p:grpSpPr bwMode="auto">
              <a:xfrm>
                <a:off x="667" y="2621"/>
                <a:ext cx="1245" cy="201"/>
                <a:chOff x="667" y="2621"/>
                <a:chExt cx="1245" cy="201"/>
              </a:xfrm>
            </p:grpSpPr>
            <p:sp>
              <p:nvSpPr>
                <p:cNvPr id="55" name="Freeform 201"/>
                <p:cNvSpPr>
                  <a:spLocks/>
                </p:cNvSpPr>
                <p:nvPr/>
              </p:nvSpPr>
              <p:spPr bwMode="auto">
                <a:xfrm>
                  <a:off x="667" y="2621"/>
                  <a:ext cx="1245" cy="147"/>
                </a:xfrm>
                <a:custGeom>
                  <a:avLst/>
                  <a:gdLst>
                    <a:gd name="T0" fmla="*/ 0 w 1245"/>
                    <a:gd name="T1" fmla="*/ 147 h 147"/>
                    <a:gd name="T2" fmla="*/ 142 w 1245"/>
                    <a:gd name="T3" fmla="*/ 0 h 147"/>
                    <a:gd name="T4" fmla="*/ 1091 w 1245"/>
                    <a:gd name="T5" fmla="*/ 0 h 147"/>
                    <a:gd name="T6" fmla="*/ 1245 w 1245"/>
                    <a:gd name="T7" fmla="*/ 147 h 147"/>
                    <a:gd name="T8" fmla="*/ 0 w 1245"/>
                    <a:gd name="T9" fmla="*/ 147 h 147"/>
                  </a:gdLst>
                  <a:ahLst/>
                  <a:cxnLst>
                    <a:cxn ang="0">
                      <a:pos x="T0" y="T1"/>
                    </a:cxn>
                    <a:cxn ang="0">
                      <a:pos x="T2" y="T3"/>
                    </a:cxn>
                    <a:cxn ang="0">
                      <a:pos x="T4" y="T5"/>
                    </a:cxn>
                    <a:cxn ang="0">
                      <a:pos x="T6" y="T7"/>
                    </a:cxn>
                    <a:cxn ang="0">
                      <a:pos x="T8" y="T9"/>
                    </a:cxn>
                  </a:cxnLst>
                  <a:rect l="0" t="0" r="r" b="b"/>
                  <a:pathLst>
                    <a:path w="1245" h="147">
                      <a:moveTo>
                        <a:pt x="0" y="147"/>
                      </a:moveTo>
                      <a:lnTo>
                        <a:pt x="142" y="0"/>
                      </a:lnTo>
                      <a:lnTo>
                        <a:pt x="1091" y="0"/>
                      </a:lnTo>
                      <a:lnTo>
                        <a:pt x="1245" y="147"/>
                      </a:lnTo>
                      <a:lnTo>
                        <a:pt x="0" y="147"/>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6" name="Freeform 202"/>
                <p:cNvSpPr>
                  <a:spLocks/>
                </p:cNvSpPr>
                <p:nvPr/>
              </p:nvSpPr>
              <p:spPr bwMode="auto">
                <a:xfrm>
                  <a:off x="667" y="2621"/>
                  <a:ext cx="1245" cy="147"/>
                </a:xfrm>
                <a:custGeom>
                  <a:avLst/>
                  <a:gdLst>
                    <a:gd name="T0" fmla="*/ 0 w 1245"/>
                    <a:gd name="T1" fmla="*/ 147 h 147"/>
                    <a:gd name="T2" fmla="*/ 142 w 1245"/>
                    <a:gd name="T3" fmla="*/ 0 h 147"/>
                    <a:gd name="T4" fmla="*/ 1091 w 1245"/>
                    <a:gd name="T5" fmla="*/ 0 h 147"/>
                    <a:gd name="T6" fmla="*/ 1245 w 1245"/>
                    <a:gd name="T7" fmla="*/ 147 h 147"/>
                    <a:gd name="T8" fmla="*/ 0 w 1245"/>
                    <a:gd name="T9" fmla="*/ 147 h 147"/>
                  </a:gdLst>
                  <a:ahLst/>
                  <a:cxnLst>
                    <a:cxn ang="0">
                      <a:pos x="T0" y="T1"/>
                    </a:cxn>
                    <a:cxn ang="0">
                      <a:pos x="T2" y="T3"/>
                    </a:cxn>
                    <a:cxn ang="0">
                      <a:pos x="T4" y="T5"/>
                    </a:cxn>
                    <a:cxn ang="0">
                      <a:pos x="T6" y="T7"/>
                    </a:cxn>
                    <a:cxn ang="0">
                      <a:pos x="T8" y="T9"/>
                    </a:cxn>
                  </a:cxnLst>
                  <a:rect l="0" t="0" r="r" b="b"/>
                  <a:pathLst>
                    <a:path w="1245" h="147">
                      <a:moveTo>
                        <a:pt x="0" y="147"/>
                      </a:moveTo>
                      <a:lnTo>
                        <a:pt x="142" y="0"/>
                      </a:lnTo>
                      <a:lnTo>
                        <a:pt x="1091" y="0"/>
                      </a:lnTo>
                      <a:lnTo>
                        <a:pt x="1245" y="147"/>
                      </a:lnTo>
                      <a:lnTo>
                        <a:pt x="0" y="147"/>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7" name="Rectangle 203"/>
                <p:cNvSpPr>
                  <a:spLocks noChangeArrowheads="1"/>
                </p:cNvSpPr>
                <p:nvPr/>
              </p:nvSpPr>
              <p:spPr bwMode="auto">
                <a:xfrm>
                  <a:off x="679" y="2755"/>
                  <a:ext cx="1221" cy="67"/>
                </a:xfrm>
                <a:prstGeom prst="rect">
                  <a:avLst/>
                </a:prstGeom>
                <a:solidFill>
                  <a:schemeClr val="tx2">
                    <a:lumMod val="40000"/>
                    <a:lumOff val="60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grpSp>
            <p:nvGrpSpPr>
              <p:cNvPr id="50" name="Group 209"/>
              <p:cNvGrpSpPr>
                <a:grpSpLocks/>
              </p:cNvGrpSpPr>
              <p:nvPr/>
            </p:nvGrpSpPr>
            <p:grpSpPr bwMode="auto">
              <a:xfrm>
                <a:off x="809" y="1712"/>
                <a:ext cx="949" cy="856"/>
                <a:chOff x="809" y="1712"/>
                <a:chExt cx="949" cy="856"/>
              </a:xfrm>
            </p:grpSpPr>
            <p:sp>
              <p:nvSpPr>
                <p:cNvPr id="51" name="Freeform 205"/>
                <p:cNvSpPr>
                  <a:spLocks/>
                </p:cNvSpPr>
                <p:nvPr/>
              </p:nvSpPr>
              <p:spPr bwMode="auto">
                <a:xfrm>
                  <a:off x="857" y="1712"/>
                  <a:ext cx="854" cy="107"/>
                </a:xfrm>
                <a:custGeom>
                  <a:avLst/>
                  <a:gdLst>
                    <a:gd name="T0" fmla="*/ 0 w 854"/>
                    <a:gd name="T1" fmla="*/ 107 h 107"/>
                    <a:gd name="T2" fmla="*/ 95 w 854"/>
                    <a:gd name="T3" fmla="*/ 0 h 107"/>
                    <a:gd name="T4" fmla="*/ 759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59" y="0"/>
                      </a:lnTo>
                      <a:lnTo>
                        <a:pt x="854" y="107"/>
                      </a:lnTo>
                      <a:lnTo>
                        <a:pt x="0" y="107"/>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2" name="Freeform 206"/>
                <p:cNvSpPr>
                  <a:spLocks/>
                </p:cNvSpPr>
                <p:nvPr/>
              </p:nvSpPr>
              <p:spPr bwMode="auto">
                <a:xfrm>
                  <a:off x="857" y="1712"/>
                  <a:ext cx="854" cy="107"/>
                </a:xfrm>
                <a:custGeom>
                  <a:avLst/>
                  <a:gdLst>
                    <a:gd name="T0" fmla="*/ 0 w 854"/>
                    <a:gd name="T1" fmla="*/ 107 h 107"/>
                    <a:gd name="T2" fmla="*/ 95 w 854"/>
                    <a:gd name="T3" fmla="*/ 0 h 107"/>
                    <a:gd name="T4" fmla="*/ 759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59" y="0"/>
                      </a:lnTo>
                      <a:lnTo>
                        <a:pt x="854" y="107"/>
                      </a:lnTo>
                      <a:lnTo>
                        <a:pt x="0" y="107"/>
                      </a:lnTo>
                      <a:close/>
                    </a:path>
                  </a:pathLst>
                </a:custGeom>
                <a:solidFill>
                  <a:srgbClr val="0066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3" name="AutoShape 207"/>
                <p:cNvSpPr>
                  <a:spLocks noChangeArrowheads="1"/>
                </p:cNvSpPr>
                <p:nvPr/>
              </p:nvSpPr>
              <p:spPr bwMode="auto">
                <a:xfrm>
                  <a:off x="809" y="1806"/>
                  <a:ext cx="949" cy="762"/>
                </a:xfrm>
                <a:prstGeom prst="roundRect">
                  <a:avLst>
                    <a:gd name="adj" fmla="val 16667"/>
                  </a:avLst>
                </a:prstGeom>
                <a:solidFill>
                  <a:schemeClr val="tx2">
                    <a:lumMod val="40000"/>
                    <a:lumOff val="60000"/>
                  </a:schemeClr>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4" name="AutoShape 208"/>
                <p:cNvSpPr>
                  <a:spLocks noChangeArrowheads="1"/>
                </p:cNvSpPr>
                <p:nvPr/>
              </p:nvSpPr>
              <p:spPr bwMode="auto">
                <a:xfrm>
                  <a:off x="892" y="1899"/>
                  <a:ext cx="771" cy="562"/>
                </a:xfrm>
                <a:prstGeom prst="roundRect">
                  <a:avLst>
                    <a:gd name="adj" fmla="val 16667"/>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grpSp>
      </p:grpSp>
      <p:grpSp>
        <p:nvGrpSpPr>
          <p:cNvPr id="3" name="Group 166"/>
          <p:cNvGrpSpPr>
            <a:grpSpLocks noChangeAspect="1"/>
          </p:cNvGrpSpPr>
          <p:nvPr/>
        </p:nvGrpSpPr>
        <p:grpSpPr bwMode="auto">
          <a:xfrm>
            <a:off x="6123095" y="1429056"/>
            <a:ext cx="1585335" cy="1628850"/>
            <a:chOff x="4710" y="1652"/>
            <a:chExt cx="1348" cy="1385"/>
          </a:xfrm>
        </p:grpSpPr>
        <p:sp>
          <p:nvSpPr>
            <p:cNvPr id="4" name="AutoShape 165"/>
            <p:cNvSpPr>
              <a:spLocks noChangeAspect="1" noChangeArrowheads="1" noTextEdit="1"/>
            </p:cNvSpPr>
            <p:nvPr/>
          </p:nvSpPr>
          <p:spPr bwMode="auto">
            <a:xfrm>
              <a:off x="4710" y="1652"/>
              <a:ext cx="1348" cy="1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 name="Rectangle 167"/>
            <p:cNvSpPr>
              <a:spLocks noChangeArrowheads="1"/>
            </p:cNvSpPr>
            <p:nvPr/>
          </p:nvSpPr>
          <p:spPr bwMode="auto">
            <a:xfrm>
              <a:off x="4717" y="2573"/>
              <a:ext cx="1200" cy="25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6" name="Rectangle 168"/>
            <p:cNvSpPr>
              <a:spLocks noChangeArrowheads="1"/>
            </p:cNvSpPr>
            <p:nvPr/>
          </p:nvSpPr>
          <p:spPr bwMode="auto">
            <a:xfrm>
              <a:off x="4717" y="2573"/>
              <a:ext cx="1200" cy="251"/>
            </a:xfrm>
            <a:prstGeom prst="rect">
              <a:avLst/>
            </a:prstGeom>
            <a:solidFill>
              <a:schemeClr val="tx2">
                <a:lumMod val="20000"/>
                <a:lumOff val="80000"/>
              </a:schemeClr>
            </a:solidFill>
            <a:ln w="9525">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 name="Freeform 169"/>
            <p:cNvSpPr>
              <a:spLocks/>
            </p:cNvSpPr>
            <p:nvPr/>
          </p:nvSpPr>
          <p:spPr bwMode="auto">
            <a:xfrm>
              <a:off x="4717" y="2436"/>
              <a:ext cx="1328" cy="137"/>
            </a:xfrm>
            <a:custGeom>
              <a:avLst/>
              <a:gdLst>
                <a:gd name="T0" fmla="*/ 0 w 1328"/>
                <a:gd name="T1" fmla="*/ 137 h 137"/>
                <a:gd name="T2" fmla="*/ 127 w 1328"/>
                <a:gd name="T3" fmla="*/ 0 h 137"/>
                <a:gd name="T4" fmla="*/ 1328 w 1328"/>
                <a:gd name="T5" fmla="*/ 0 h 137"/>
                <a:gd name="T6" fmla="*/ 1200 w 1328"/>
                <a:gd name="T7" fmla="*/ 137 h 137"/>
                <a:gd name="T8" fmla="*/ 0 w 1328"/>
                <a:gd name="T9" fmla="*/ 137 h 137"/>
              </a:gdLst>
              <a:ahLst/>
              <a:cxnLst>
                <a:cxn ang="0">
                  <a:pos x="T0" y="T1"/>
                </a:cxn>
                <a:cxn ang="0">
                  <a:pos x="T2" y="T3"/>
                </a:cxn>
                <a:cxn ang="0">
                  <a:pos x="T4" y="T5"/>
                </a:cxn>
                <a:cxn ang="0">
                  <a:pos x="T6" y="T7"/>
                </a:cxn>
                <a:cxn ang="0">
                  <a:pos x="T8" y="T9"/>
                </a:cxn>
              </a:cxnLst>
              <a:rect l="0" t="0" r="r" b="b"/>
              <a:pathLst>
                <a:path w="1328" h="137">
                  <a:moveTo>
                    <a:pt x="0" y="137"/>
                  </a:moveTo>
                  <a:lnTo>
                    <a:pt x="127" y="0"/>
                  </a:lnTo>
                  <a:lnTo>
                    <a:pt x="1328" y="0"/>
                  </a:lnTo>
                  <a:lnTo>
                    <a:pt x="1200" y="137"/>
                  </a:lnTo>
                  <a:lnTo>
                    <a:pt x="0" y="137"/>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 name="Freeform 170"/>
            <p:cNvSpPr>
              <a:spLocks/>
            </p:cNvSpPr>
            <p:nvPr/>
          </p:nvSpPr>
          <p:spPr bwMode="auto">
            <a:xfrm>
              <a:off x="4717" y="2436"/>
              <a:ext cx="1328" cy="137"/>
            </a:xfrm>
            <a:custGeom>
              <a:avLst/>
              <a:gdLst>
                <a:gd name="T0" fmla="*/ 0 w 1328"/>
                <a:gd name="T1" fmla="*/ 137 h 137"/>
                <a:gd name="T2" fmla="*/ 127 w 1328"/>
                <a:gd name="T3" fmla="*/ 0 h 137"/>
                <a:gd name="T4" fmla="*/ 1328 w 1328"/>
                <a:gd name="T5" fmla="*/ 0 h 137"/>
                <a:gd name="T6" fmla="*/ 1200 w 1328"/>
                <a:gd name="T7" fmla="*/ 137 h 137"/>
                <a:gd name="T8" fmla="*/ 0 w 1328"/>
                <a:gd name="T9" fmla="*/ 137 h 137"/>
              </a:gdLst>
              <a:ahLst/>
              <a:cxnLst>
                <a:cxn ang="0">
                  <a:pos x="T0" y="T1"/>
                </a:cxn>
                <a:cxn ang="0">
                  <a:pos x="T2" y="T3"/>
                </a:cxn>
                <a:cxn ang="0">
                  <a:pos x="T4" y="T5"/>
                </a:cxn>
                <a:cxn ang="0">
                  <a:pos x="T6" y="T7"/>
                </a:cxn>
                <a:cxn ang="0">
                  <a:pos x="T8" y="T9"/>
                </a:cxn>
              </a:cxnLst>
              <a:rect l="0" t="0" r="r" b="b"/>
              <a:pathLst>
                <a:path w="1328" h="137">
                  <a:moveTo>
                    <a:pt x="0" y="137"/>
                  </a:moveTo>
                  <a:lnTo>
                    <a:pt x="127" y="0"/>
                  </a:lnTo>
                  <a:lnTo>
                    <a:pt x="1328" y="0"/>
                  </a:lnTo>
                  <a:lnTo>
                    <a:pt x="1200" y="137"/>
                  </a:lnTo>
                  <a:lnTo>
                    <a:pt x="0" y="137"/>
                  </a:lnTo>
                  <a:close/>
                </a:path>
              </a:pathLst>
            </a:custGeom>
            <a:solidFill>
              <a:schemeClr val="tx2">
                <a:lumMod val="40000"/>
                <a:lumOff val="60000"/>
              </a:schemeClr>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 name="Line 171"/>
            <p:cNvSpPr>
              <a:spLocks noChangeShapeType="1"/>
            </p:cNvSpPr>
            <p:nvPr/>
          </p:nvSpPr>
          <p:spPr bwMode="auto">
            <a:xfrm flipH="1">
              <a:off x="5562" y="2687"/>
              <a:ext cx="288" cy="1"/>
            </a:xfrm>
            <a:prstGeom prst="line">
              <a:avLst/>
            </a:prstGeom>
            <a:noFill/>
            <a:ln w="2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172"/>
            <p:cNvSpPr>
              <a:spLocks/>
            </p:cNvSpPr>
            <p:nvPr/>
          </p:nvSpPr>
          <p:spPr bwMode="auto">
            <a:xfrm>
              <a:off x="5917" y="2436"/>
              <a:ext cx="128" cy="388"/>
            </a:xfrm>
            <a:custGeom>
              <a:avLst/>
              <a:gdLst>
                <a:gd name="T0" fmla="*/ 0 w 128"/>
                <a:gd name="T1" fmla="*/ 388 h 388"/>
                <a:gd name="T2" fmla="*/ 128 w 128"/>
                <a:gd name="T3" fmla="*/ 243 h 388"/>
                <a:gd name="T4" fmla="*/ 128 w 128"/>
                <a:gd name="T5" fmla="*/ 0 h 388"/>
                <a:gd name="T6" fmla="*/ 0 w 128"/>
                <a:gd name="T7" fmla="*/ 137 h 388"/>
                <a:gd name="T8" fmla="*/ 0 w 128"/>
                <a:gd name="T9" fmla="*/ 388 h 388"/>
              </a:gdLst>
              <a:ahLst/>
              <a:cxnLst>
                <a:cxn ang="0">
                  <a:pos x="T0" y="T1"/>
                </a:cxn>
                <a:cxn ang="0">
                  <a:pos x="T2" y="T3"/>
                </a:cxn>
                <a:cxn ang="0">
                  <a:pos x="T4" y="T5"/>
                </a:cxn>
                <a:cxn ang="0">
                  <a:pos x="T6" y="T7"/>
                </a:cxn>
                <a:cxn ang="0">
                  <a:pos x="T8" y="T9"/>
                </a:cxn>
              </a:cxnLst>
              <a:rect l="0" t="0" r="r" b="b"/>
              <a:pathLst>
                <a:path w="128" h="388">
                  <a:moveTo>
                    <a:pt x="0" y="388"/>
                  </a:moveTo>
                  <a:lnTo>
                    <a:pt x="128" y="243"/>
                  </a:lnTo>
                  <a:lnTo>
                    <a:pt x="128" y="0"/>
                  </a:lnTo>
                  <a:lnTo>
                    <a:pt x="0" y="137"/>
                  </a:lnTo>
                  <a:lnTo>
                    <a:pt x="0" y="388"/>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1" name="Freeform 173"/>
            <p:cNvSpPr>
              <a:spLocks/>
            </p:cNvSpPr>
            <p:nvPr/>
          </p:nvSpPr>
          <p:spPr bwMode="auto">
            <a:xfrm>
              <a:off x="5917" y="2436"/>
              <a:ext cx="128" cy="388"/>
            </a:xfrm>
            <a:custGeom>
              <a:avLst/>
              <a:gdLst>
                <a:gd name="T0" fmla="*/ 0 w 128"/>
                <a:gd name="T1" fmla="*/ 388 h 388"/>
                <a:gd name="T2" fmla="*/ 128 w 128"/>
                <a:gd name="T3" fmla="*/ 243 h 388"/>
                <a:gd name="T4" fmla="*/ 128 w 128"/>
                <a:gd name="T5" fmla="*/ 0 h 388"/>
                <a:gd name="T6" fmla="*/ 0 w 128"/>
                <a:gd name="T7" fmla="*/ 137 h 388"/>
                <a:gd name="T8" fmla="*/ 0 w 128"/>
                <a:gd name="T9" fmla="*/ 388 h 388"/>
              </a:gdLst>
              <a:ahLst/>
              <a:cxnLst>
                <a:cxn ang="0">
                  <a:pos x="T0" y="T1"/>
                </a:cxn>
                <a:cxn ang="0">
                  <a:pos x="T2" y="T3"/>
                </a:cxn>
                <a:cxn ang="0">
                  <a:pos x="T4" y="T5"/>
                </a:cxn>
                <a:cxn ang="0">
                  <a:pos x="T6" y="T7"/>
                </a:cxn>
                <a:cxn ang="0">
                  <a:pos x="T8" y="T9"/>
                </a:cxn>
              </a:cxnLst>
              <a:rect l="0" t="0" r="r" b="b"/>
              <a:pathLst>
                <a:path w="128" h="388">
                  <a:moveTo>
                    <a:pt x="0" y="388"/>
                  </a:moveTo>
                  <a:lnTo>
                    <a:pt x="128" y="243"/>
                  </a:lnTo>
                  <a:lnTo>
                    <a:pt x="128" y="0"/>
                  </a:lnTo>
                  <a:lnTo>
                    <a:pt x="0" y="137"/>
                  </a:lnTo>
                  <a:lnTo>
                    <a:pt x="0" y="388"/>
                  </a:lnTo>
                  <a:close/>
                </a:path>
              </a:pathLst>
            </a:custGeom>
            <a:solidFill>
              <a:srgbClr val="0066FF"/>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2" name="Freeform 174"/>
            <p:cNvSpPr>
              <a:spLocks/>
            </p:cNvSpPr>
            <p:nvPr/>
          </p:nvSpPr>
          <p:spPr bwMode="auto">
            <a:xfrm>
              <a:off x="4723" y="2793"/>
              <a:ext cx="1060" cy="191"/>
            </a:xfrm>
            <a:custGeom>
              <a:avLst/>
              <a:gdLst>
                <a:gd name="T0" fmla="*/ 0 w 1060"/>
                <a:gd name="T1" fmla="*/ 191 h 191"/>
                <a:gd name="T2" fmla="*/ 135 w 1060"/>
                <a:gd name="T3" fmla="*/ 0 h 191"/>
                <a:gd name="T4" fmla="*/ 1060 w 1060"/>
                <a:gd name="T5" fmla="*/ 0 h 191"/>
                <a:gd name="T6" fmla="*/ 926 w 1060"/>
                <a:gd name="T7" fmla="*/ 191 h 191"/>
                <a:gd name="T8" fmla="*/ 0 w 1060"/>
                <a:gd name="T9" fmla="*/ 191 h 191"/>
              </a:gdLst>
              <a:ahLst/>
              <a:cxnLst>
                <a:cxn ang="0">
                  <a:pos x="T0" y="T1"/>
                </a:cxn>
                <a:cxn ang="0">
                  <a:pos x="T2" y="T3"/>
                </a:cxn>
                <a:cxn ang="0">
                  <a:pos x="T4" y="T5"/>
                </a:cxn>
                <a:cxn ang="0">
                  <a:pos x="T6" y="T7"/>
                </a:cxn>
                <a:cxn ang="0">
                  <a:pos x="T8" y="T9"/>
                </a:cxn>
              </a:cxnLst>
              <a:rect l="0" t="0" r="r" b="b"/>
              <a:pathLst>
                <a:path w="1060" h="191">
                  <a:moveTo>
                    <a:pt x="0" y="191"/>
                  </a:moveTo>
                  <a:lnTo>
                    <a:pt x="135" y="0"/>
                  </a:lnTo>
                  <a:lnTo>
                    <a:pt x="1060" y="0"/>
                  </a:lnTo>
                  <a:lnTo>
                    <a:pt x="926" y="191"/>
                  </a:lnTo>
                  <a:lnTo>
                    <a:pt x="0" y="191"/>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175"/>
            <p:cNvSpPr>
              <a:spLocks/>
            </p:cNvSpPr>
            <p:nvPr/>
          </p:nvSpPr>
          <p:spPr bwMode="auto">
            <a:xfrm>
              <a:off x="4723" y="2793"/>
              <a:ext cx="1060" cy="191"/>
            </a:xfrm>
            <a:custGeom>
              <a:avLst/>
              <a:gdLst>
                <a:gd name="T0" fmla="*/ 0 w 1060"/>
                <a:gd name="T1" fmla="*/ 191 h 191"/>
                <a:gd name="T2" fmla="*/ 135 w 1060"/>
                <a:gd name="T3" fmla="*/ 0 h 191"/>
                <a:gd name="T4" fmla="*/ 1060 w 1060"/>
                <a:gd name="T5" fmla="*/ 0 h 191"/>
                <a:gd name="T6" fmla="*/ 926 w 1060"/>
                <a:gd name="T7" fmla="*/ 191 h 191"/>
                <a:gd name="T8" fmla="*/ 0 w 1060"/>
                <a:gd name="T9" fmla="*/ 191 h 191"/>
              </a:gdLst>
              <a:ahLst/>
              <a:cxnLst>
                <a:cxn ang="0">
                  <a:pos x="T0" y="T1"/>
                </a:cxn>
                <a:cxn ang="0">
                  <a:pos x="T2" y="T3"/>
                </a:cxn>
                <a:cxn ang="0">
                  <a:pos x="T4" y="T5"/>
                </a:cxn>
                <a:cxn ang="0">
                  <a:pos x="T6" y="T7"/>
                </a:cxn>
                <a:cxn ang="0">
                  <a:pos x="T8" y="T9"/>
                </a:cxn>
              </a:cxnLst>
              <a:rect l="0" t="0" r="r" b="b"/>
              <a:pathLst>
                <a:path w="1060" h="191">
                  <a:moveTo>
                    <a:pt x="0" y="191"/>
                  </a:moveTo>
                  <a:lnTo>
                    <a:pt x="135" y="0"/>
                  </a:lnTo>
                  <a:lnTo>
                    <a:pt x="1060" y="0"/>
                  </a:lnTo>
                  <a:lnTo>
                    <a:pt x="926" y="191"/>
                  </a:lnTo>
                  <a:lnTo>
                    <a:pt x="0" y="191"/>
                  </a:lnTo>
                  <a:close/>
                </a:path>
              </a:pathLst>
            </a:custGeom>
            <a:solidFill>
              <a:schemeClr val="tx2">
                <a:lumMod val="40000"/>
                <a:lumOff val="60000"/>
              </a:schemeClr>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4" name="Freeform 176"/>
            <p:cNvSpPr>
              <a:spLocks/>
            </p:cNvSpPr>
            <p:nvPr/>
          </p:nvSpPr>
          <p:spPr bwMode="auto">
            <a:xfrm>
              <a:off x="5649" y="2793"/>
              <a:ext cx="134" cy="229"/>
            </a:xfrm>
            <a:custGeom>
              <a:avLst/>
              <a:gdLst>
                <a:gd name="T0" fmla="*/ 0 w 134"/>
                <a:gd name="T1" fmla="*/ 229 h 229"/>
                <a:gd name="T2" fmla="*/ 134 w 134"/>
                <a:gd name="T3" fmla="*/ 69 h 229"/>
                <a:gd name="T4" fmla="*/ 134 w 134"/>
                <a:gd name="T5" fmla="*/ 0 h 229"/>
                <a:gd name="T6" fmla="*/ 0 w 134"/>
                <a:gd name="T7" fmla="*/ 191 h 229"/>
                <a:gd name="T8" fmla="*/ 0 w 134"/>
                <a:gd name="T9" fmla="*/ 229 h 229"/>
              </a:gdLst>
              <a:ahLst/>
              <a:cxnLst>
                <a:cxn ang="0">
                  <a:pos x="T0" y="T1"/>
                </a:cxn>
                <a:cxn ang="0">
                  <a:pos x="T2" y="T3"/>
                </a:cxn>
                <a:cxn ang="0">
                  <a:pos x="T4" y="T5"/>
                </a:cxn>
                <a:cxn ang="0">
                  <a:pos x="T6" y="T7"/>
                </a:cxn>
                <a:cxn ang="0">
                  <a:pos x="T8" y="T9"/>
                </a:cxn>
              </a:cxnLst>
              <a:rect l="0" t="0" r="r" b="b"/>
              <a:pathLst>
                <a:path w="134" h="229">
                  <a:moveTo>
                    <a:pt x="0" y="229"/>
                  </a:moveTo>
                  <a:lnTo>
                    <a:pt x="134" y="69"/>
                  </a:lnTo>
                  <a:lnTo>
                    <a:pt x="134" y="0"/>
                  </a:lnTo>
                  <a:lnTo>
                    <a:pt x="0" y="191"/>
                  </a:lnTo>
                  <a:lnTo>
                    <a:pt x="0" y="2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5" name="Freeform 177"/>
            <p:cNvSpPr>
              <a:spLocks/>
            </p:cNvSpPr>
            <p:nvPr/>
          </p:nvSpPr>
          <p:spPr bwMode="auto">
            <a:xfrm>
              <a:off x="5649" y="2793"/>
              <a:ext cx="134" cy="229"/>
            </a:xfrm>
            <a:custGeom>
              <a:avLst/>
              <a:gdLst>
                <a:gd name="T0" fmla="*/ 0 w 134"/>
                <a:gd name="T1" fmla="*/ 229 h 229"/>
                <a:gd name="T2" fmla="*/ 134 w 134"/>
                <a:gd name="T3" fmla="*/ 69 h 229"/>
                <a:gd name="T4" fmla="*/ 134 w 134"/>
                <a:gd name="T5" fmla="*/ 0 h 229"/>
                <a:gd name="T6" fmla="*/ 0 w 134"/>
                <a:gd name="T7" fmla="*/ 191 h 229"/>
                <a:gd name="T8" fmla="*/ 0 w 134"/>
                <a:gd name="T9" fmla="*/ 229 h 229"/>
              </a:gdLst>
              <a:ahLst/>
              <a:cxnLst>
                <a:cxn ang="0">
                  <a:pos x="T0" y="T1"/>
                </a:cxn>
                <a:cxn ang="0">
                  <a:pos x="T2" y="T3"/>
                </a:cxn>
                <a:cxn ang="0">
                  <a:pos x="T4" y="T5"/>
                </a:cxn>
                <a:cxn ang="0">
                  <a:pos x="T6" y="T7"/>
                </a:cxn>
                <a:cxn ang="0">
                  <a:pos x="T8" y="T9"/>
                </a:cxn>
              </a:cxnLst>
              <a:rect l="0" t="0" r="r" b="b"/>
              <a:pathLst>
                <a:path w="134" h="229">
                  <a:moveTo>
                    <a:pt x="0" y="229"/>
                  </a:moveTo>
                  <a:lnTo>
                    <a:pt x="134" y="69"/>
                  </a:lnTo>
                  <a:lnTo>
                    <a:pt x="134" y="0"/>
                  </a:lnTo>
                  <a:lnTo>
                    <a:pt x="0" y="191"/>
                  </a:lnTo>
                  <a:lnTo>
                    <a:pt x="0" y="229"/>
                  </a:lnTo>
                  <a:close/>
                </a:path>
              </a:pathLst>
            </a:custGeom>
            <a:solidFill>
              <a:srgbClr val="0066FF"/>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6" name="Rectangle 178"/>
            <p:cNvSpPr>
              <a:spLocks noChangeArrowheads="1"/>
            </p:cNvSpPr>
            <p:nvPr/>
          </p:nvSpPr>
          <p:spPr bwMode="auto">
            <a:xfrm>
              <a:off x="4723" y="2984"/>
              <a:ext cx="926" cy="3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7" name="Rectangle 179"/>
            <p:cNvSpPr>
              <a:spLocks noChangeArrowheads="1"/>
            </p:cNvSpPr>
            <p:nvPr/>
          </p:nvSpPr>
          <p:spPr bwMode="auto">
            <a:xfrm>
              <a:off x="4723" y="2984"/>
              <a:ext cx="926" cy="38"/>
            </a:xfrm>
            <a:prstGeom prst="rect">
              <a:avLst/>
            </a:prstGeom>
            <a:solidFill>
              <a:schemeClr val="tx2">
                <a:lumMod val="20000"/>
                <a:lumOff val="80000"/>
              </a:schemeClr>
            </a:solidFill>
            <a:ln w="9525">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8" name="Freeform 180"/>
            <p:cNvSpPr>
              <a:spLocks/>
            </p:cNvSpPr>
            <p:nvPr/>
          </p:nvSpPr>
          <p:spPr bwMode="auto">
            <a:xfrm>
              <a:off x="4898" y="2436"/>
              <a:ext cx="952" cy="106"/>
            </a:xfrm>
            <a:custGeom>
              <a:avLst/>
              <a:gdLst>
                <a:gd name="T0" fmla="*/ 0 w 952"/>
                <a:gd name="T1" fmla="*/ 106 h 106"/>
                <a:gd name="T2" fmla="*/ 100 w 952"/>
                <a:gd name="T3" fmla="*/ 0 h 106"/>
                <a:gd name="T4" fmla="*/ 952 w 952"/>
                <a:gd name="T5" fmla="*/ 0 h 106"/>
                <a:gd name="T6" fmla="*/ 858 w 952"/>
                <a:gd name="T7" fmla="*/ 106 h 106"/>
                <a:gd name="T8" fmla="*/ 0 w 952"/>
                <a:gd name="T9" fmla="*/ 106 h 106"/>
              </a:gdLst>
              <a:ahLst/>
              <a:cxnLst>
                <a:cxn ang="0">
                  <a:pos x="T0" y="T1"/>
                </a:cxn>
                <a:cxn ang="0">
                  <a:pos x="T2" y="T3"/>
                </a:cxn>
                <a:cxn ang="0">
                  <a:pos x="T4" y="T5"/>
                </a:cxn>
                <a:cxn ang="0">
                  <a:pos x="T6" y="T7"/>
                </a:cxn>
                <a:cxn ang="0">
                  <a:pos x="T8" y="T9"/>
                </a:cxn>
              </a:cxnLst>
              <a:rect l="0" t="0" r="r" b="b"/>
              <a:pathLst>
                <a:path w="952" h="106">
                  <a:moveTo>
                    <a:pt x="0" y="106"/>
                  </a:moveTo>
                  <a:lnTo>
                    <a:pt x="100" y="0"/>
                  </a:lnTo>
                  <a:lnTo>
                    <a:pt x="952" y="0"/>
                  </a:lnTo>
                  <a:lnTo>
                    <a:pt x="858" y="106"/>
                  </a:lnTo>
                  <a:lnTo>
                    <a:pt x="0" y="10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181"/>
            <p:cNvSpPr>
              <a:spLocks/>
            </p:cNvSpPr>
            <p:nvPr/>
          </p:nvSpPr>
          <p:spPr bwMode="auto">
            <a:xfrm>
              <a:off x="4898" y="2436"/>
              <a:ext cx="952" cy="106"/>
            </a:xfrm>
            <a:custGeom>
              <a:avLst/>
              <a:gdLst>
                <a:gd name="T0" fmla="*/ 0 w 952"/>
                <a:gd name="T1" fmla="*/ 106 h 106"/>
                <a:gd name="T2" fmla="*/ 100 w 952"/>
                <a:gd name="T3" fmla="*/ 0 h 106"/>
                <a:gd name="T4" fmla="*/ 952 w 952"/>
                <a:gd name="T5" fmla="*/ 0 h 106"/>
                <a:gd name="T6" fmla="*/ 858 w 952"/>
                <a:gd name="T7" fmla="*/ 106 h 106"/>
                <a:gd name="T8" fmla="*/ 0 w 952"/>
                <a:gd name="T9" fmla="*/ 106 h 106"/>
              </a:gdLst>
              <a:ahLst/>
              <a:cxnLst>
                <a:cxn ang="0">
                  <a:pos x="T0" y="T1"/>
                </a:cxn>
                <a:cxn ang="0">
                  <a:pos x="T2" y="T3"/>
                </a:cxn>
                <a:cxn ang="0">
                  <a:pos x="T4" y="T5"/>
                </a:cxn>
                <a:cxn ang="0">
                  <a:pos x="T6" y="T7"/>
                </a:cxn>
                <a:cxn ang="0">
                  <a:pos x="T8" y="T9"/>
                </a:cxn>
              </a:cxnLst>
              <a:rect l="0" t="0" r="r" b="b"/>
              <a:pathLst>
                <a:path w="952" h="106">
                  <a:moveTo>
                    <a:pt x="0" y="106"/>
                  </a:moveTo>
                  <a:lnTo>
                    <a:pt x="100" y="0"/>
                  </a:lnTo>
                  <a:lnTo>
                    <a:pt x="952" y="0"/>
                  </a:lnTo>
                  <a:lnTo>
                    <a:pt x="858" y="106"/>
                  </a:lnTo>
                  <a:lnTo>
                    <a:pt x="0" y="106"/>
                  </a:lnTo>
                  <a:close/>
                </a:path>
              </a:pathLst>
            </a:custGeom>
            <a:solidFill>
              <a:srgbClr val="000000"/>
            </a:solidFill>
            <a:ln w="7">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0" name="Freeform 182"/>
            <p:cNvSpPr>
              <a:spLocks/>
            </p:cNvSpPr>
            <p:nvPr/>
          </p:nvSpPr>
          <p:spPr bwMode="auto">
            <a:xfrm>
              <a:off x="4891" y="1660"/>
              <a:ext cx="946" cy="99"/>
            </a:xfrm>
            <a:custGeom>
              <a:avLst/>
              <a:gdLst>
                <a:gd name="T0" fmla="*/ 0 w 946"/>
                <a:gd name="T1" fmla="*/ 99 h 99"/>
                <a:gd name="T2" fmla="*/ 94 w 946"/>
                <a:gd name="T3" fmla="*/ 0 h 99"/>
                <a:gd name="T4" fmla="*/ 946 w 946"/>
                <a:gd name="T5" fmla="*/ 0 h 99"/>
                <a:gd name="T6" fmla="*/ 852 w 946"/>
                <a:gd name="T7" fmla="*/ 99 h 99"/>
                <a:gd name="T8" fmla="*/ 0 w 946"/>
                <a:gd name="T9" fmla="*/ 99 h 99"/>
              </a:gdLst>
              <a:ahLst/>
              <a:cxnLst>
                <a:cxn ang="0">
                  <a:pos x="T0" y="T1"/>
                </a:cxn>
                <a:cxn ang="0">
                  <a:pos x="T2" y="T3"/>
                </a:cxn>
                <a:cxn ang="0">
                  <a:pos x="T4" y="T5"/>
                </a:cxn>
                <a:cxn ang="0">
                  <a:pos x="T6" y="T7"/>
                </a:cxn>
                <a:cxn ang="0">
                  <a:pos x="T8" y="T9"/>
                </a:cxn>
              </a:cxnLst>
              <a:rect l="0" t="0" r="r" b="b"/>
              <a:pathLst>
                <a:path w="946" h="99">
                  <a:moveTo>
                    <a:pt x="0" y="99"/>
                  </a:moveTo>
                  <a:lnTo>
                    <a:pt x="94" y="0"/>
                  </a:lnTo>
                  <a:lnTo>
                    <a:pt x="946" y="0"/>
                  </a:lnTo>
                  <a:lnTo>
                    <a:pt x="852" y="99"/>
                  </a:lnTo>
                  <a:lnTo>
                    <a:pt x="0" y="9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1" name="Freeform 183"/>
            <p:cNvSpPr>
              <a:spLocks/>
            </p:cNvSpPr>
            <p:nvPr/>
          </p:nvSpPr>
          <p:spPr bwMode="auto">
            <a:xfrm>
              <a:off x="4891" y="1660"/>
              <a:ext cx="946" cy="99"/>
            </a:xfrm>
            <a:custGeom>
              <a:avLst/>
              <a:gdLst>
                <a:gd name="T0" fmla="*/ 0 w 946"/>
                <a:gd name="T1" fmla="*/ 99 h 99"/>
                <a:gd name="T2" fmla="*/ 94 w 946"/>
                <a:gd name="T3" fmla="*/ 0 h 99"/>
                <a:gd name="T4" fmla="*/ 946 w 946"/>
                <a:gd name="T5" fmla="*/ 0 h 99"/>
                <a:gd name="T6" fmla="*/ 852 w 946"/>
                <a:gd name="T7" fmla="*/ 99 h 99"/>
                <a:gd name="T8" fmla="*/ 0 w 946"/>
                <a:gd name="T9" fmla="*/ 99 h 99"/>
              </a:gdLst>
              <a:ahLst/>
              <a:cxnLst>
                <a:cxn ang="0">
                  <a:pos x="T0" y="T1"/>
                </a:cxn>
                <a:cxn ang="0">
                  <a:pos x="T2" y="T3"/>
                </a:cxn>
                <a:cxn ang="0">
                  <a:pos x="T4" y="T5"/>
                </a:cxn>
                <a:cxn ang="0">
                  <a:pos x="T6" y="T7"/>
                </a:cxn>
                <a:cxn ang="0">
                  <a:pos x="T8" y="T9"/>
                </a:cxn>
              </a:cxnLst>
              <a:rect l="0" t="0" r="r" b="b"/>
              <a:pathLst>
                <a:path w="946" h="99">
                  <a:moveTo>
                    <a:pt x="0" y="99"/>
                  </a:moveTo>
                  <a:lnTo>
                    <a:pt x="94" y="0"/>
                  </a:lnTo>
                  <a:lnTo>
                    <a:pt x="946" y="0"/>
                  </a:lnTo>
                  <a:lnTo>
                    <a:pt x="852" y="99"/>
                  </a:lnTo>
                  <a:lnTo>
                    <a:pt x="0" y="99"/>
                  </a:lnTo>
                  <a:close/>
                </a:path>
              </a:pathLst>
            </a:custGeom>
            <a:solidFill>
              <a:schemeClr val="tx2">
                <a:lumMod val="40000"/>
                <a:lumOff val="60000"/>
              </a:schemeClr>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2" name="Rectangle 184"/>
            <p:cNvSpPr>
              <a:spLocks noChangeArrowheads="1"/>
            </p:cNvSpPr>
            <p:nvPr/>
          </p:nvSpPr>
          <p:spPr bwMode="auto">
            <a:xfrm>
              <a:off x="4891" y="1759"/>
              <a:ext cx="859" cy="768"/>
            </a:xfrm>
            <a:prstGeom prst="rect">
              <a:avLst/>
            </a:prstGeom>
            <a:solidFill>
              <a:schemeClr val="tx2">
                <a:lumMod val="20000"/>
                <a:lumOff val="80000"/>
              </a:schemeClr>
            </a:solidFill>
            <a:ln w="9525">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3" name="Rectangle 185"/>
            <p:cNvSpPr>
              <a:spLocks noChangeArrowheads="1"/>
            </p:cNvSpPr>
            <p:nvPr/>
          </p:nvSpPr>
          <p:spPr bwMode="auto">
            <a:xfrm>
              <a:off x="4965" y="1857"/>
              <a:ext cx="711" cy="594"/>
            </a:xfrm>
            <a:prstGeom prst="rect">
              <a:avLst/>
            </a:prstGeom>
            <a:solidFill>
              <a:srgbClr val="FFFFFF"/>
            </a:solidFill>
            <a:ln w="7">
              <a:solidFill>
                <a:srgbClr val="494936"/>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4" name="Freeform 186"/>
            <p:cNvSpPr>
              <a:spLocks/>
            </p:cNvSpPr>
            <p:nvPr/>
          </p:nvSpPr>
          <p:spPr bwMode="auto">
            <a:xfrm>
              <a:off x="5743" y="1660"/>
              <a:ext cx="94" cy="860"/>
            </a:xfrm>
            <a:custGeom>
              <a:avLst/>
              <a:gdLst>
                <a:gd name="T0" fmla="*/ 0 w 94"/>
                <a:gd name="T1" fmla="*/ 860 h 860"/>
                <a:gd name="T2" fmla="*/ 94 w 94"/>
                <a:gd name="T3" fmla="*/ 753 h 860"/>
                <a:gd name="T4" fmla="*/ 94 w 94"/>
                <a:gd name="T5" fmla="*/ 0 h 860"/>
                <a:gd name="T6" fmla="*/ 0 w 94"/>
                <a:gd name="T7" fmla="*/ 99 h 860"/>
                <a:gd name="T8" fmla="*/ 0 w 94"/>
                <a:gd name="T9" fmla="*/ 860 h 860"/>
              </a:gdLst>
              <a:ahLst/>
              <a:cxnLst>
                <a:cxn ang="0">
                  <a:pos x="T0" y="T1"/>
                </a:cxn>
                <a:cxn ang="0">
                  <a:pos x="T2" y="T3"/>
                </a:cxn>
                <a:cxn ang="0">
                  <a:pos x="T4" y="T5"/>
                </a:cxn>
                <a:cxn ang="0">
                  <a:pos x="T6" y="T7"/>
                </a:cxn>
                <a:cxn ang="0">
                  <a:pos x="T8" y="T9"/>
                </a:cxn>
              </a:cxnLst>
              <a:rect l="0" t="0" r="r" b="b"/>
              <a:pathLst>
                <a:path w="94" h="860">
                  <a:moveTo>
                    <a:pt x="0" y="860"/>
                  </a:moveTo>
                  <a:lnTo>
                    <a:pt x="94" y="753"/>
                  </a:lnTo>
                  <a:lnTo>
                    <a:pt x="94" y="0"/>
                  </a:lnTo>
                  <a:lnTo>
                    <a:pt x="0" y="99"/>
                  </a:lnTo>
                  <a:lnTo>
                    <a:pt x="0" y="860"/>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6" name="Freeform 187"/>
            <p:cNvSpPr>
              <a:spLocks/>
            </p:cNvSpPr>
            <p:nvPr/>
          </p:nvSpPr>
          <p:spPr bwMode="auto">
            <a:xfrm>
              <a:off x="5743" y="1660"/>
              <a:ext cx="94" cy="860"/>
            </a:xfrm>
            <a:custGeom>
              <a:avLst/>
              <a:gdLst>
                <a:gd name="T0" fmla="*/ 0 w 94"/>
                <a:gd name="T1" fmla="*/ 860 h 860"/>
                <a:gd name="T2" fmla="*/ 94 w 94"/>
                <a:gd name="T3" fmla="*/ 753 h 860"/>
                <a:gd name="T4" fmla="*/ 94 w 94"/>
                <a:gd name="T5" fmla="*/ 0 h 860"/>
                <a:gd name="T6" fmla="*/ 0 w 94"/>
                <a:gd name="T7" fmla="*/ 99 h 860"/>
                <a:gd name="T8" fmla="*/ 0 w 94"/>
                <a:gd name="T9" fmla="*/ 860 h 860"/>
              </a:gdLst>
              <a:ahLst/>
              <a:cxnLst>
                <a:cxn ang="0">
                  <a:pos x="T0" y="T1"/>
                </a:cxn>
                <a:cxn ang="0">
                  <a:pos x="T2" y="T3"/>
                </a:cxn>
                <a:cxn ang="0">
                  <a:pos x="T4" y="T5"/>
                </a:cxn>
                <a:cxn ang="0">
                  <a:pos x="T6" y="T7"/>
                </a:cxn>
                <a:cxn ang="0">
                  <a:pos x="T8" y="T9"/>
                </a:cxn>
              </a:cxnLst>
              <a:rect l="0" t="0" r="r" b="b"/>
              <a:pathLst>
                <a:path w="94" h="860">
                  <a:moveTo>
                    <a:pt x="0" y="860"/>
                  </a:moveTo>
                  <a:lnTo>
                    <a:pt x="94" y="753"/>
                  </a:lnTo>
                  <a:lnTo>
                    <a:pt x="94" y="0"/>
                  </a:lnTo>
                  <a:lnTo>
                    <a:pt x="0" y="99"/>
                  </a:lnTo>
                  <a:lnTo>
                    <a:pt x="0" y="860"/>
                  </a:lnTo>
                  <a:close/>
                </a:path>
              </a:pathLst>
            </a:custGeom>
            <a:solidFill>
              <a:srgbClr val="0066FF"/>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sp>
        <p:nvSpPr>
          <p:cNvPr id="27"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2282807" y="582898"/>
            <a:ext cx="45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TELNET </a:t>
            </a:r>
            <a:r>
              <a:rPr lang="zh-CN" altLang="en-US" sz="2000" b="1" dirty="0">
                <a:solidFill>
                  <a:schemeClr val="bg1"/>
                </a:solidFill>
                <a:latin typeface="微软雅黑 Light" panose="020B0502040204020203" pitchFamily="34" charset="-122"/>
                <a:ea typeface="微软雅黑 Light" panose="020B0502040204020203" pitchFamily="34" charset="-122"/>
              </a:rPr>
              <a:t>使用网络虚拟终端 </a:t>
            </a:r>
            <a:r>
              <a:rPr lang="en-US" altLang="zh-CN" sz="2000" b="1" dirty="0">
                <a:solidFill>
                  <a:schemeClr val="bg1"/>
                </a:solidFill>
                <a:latin typeface="微软雅黑 Light" panose="020B0502040204020203" pitchFamily="34" charset="-122"/>
                <a:ea typeface="微软雅黑 Light" panose="020B0502040204020203" pitchFamily="34" charset="-122"/>
              </a:rPr>
              <a:t>NVT </a:t>
            </a:r>
            <a:r>
              <a:rPr lang="zh-CN" altLang="en-US" sz="2000" b="1" dirty="0">
                <a:solidFill>
                  <a:schemeClr val="bg1"/>
                </a:solidFill>
                <a:latin typeface="微软雅黑 Light" panose="020B0502040204020203" pitchFamily="34" charset="-122"/>
                <a:ea typeface="微软雅黑 Light" panose="020B0502040204020203" pitchFamily="34" charset="-122"/>
              </a:rPr>
              <a:t>格式 </a:t>
            </a:r>
          </a:p>
        </p:txBody>
      </p:sp>
      <p:grpSp>
        <p:nvGrpSpPr>
          <p:cNvPr id="2" name="组合 1"/>
          <p:cNvGrpSpPr/>
          <p:nvPr/>
        </p:nvGrpSpPr>
        <p:grpSpPr>
          <a:xfrm>
            <a:off x="1982751" y="1086994"/>
            <a:ext cx="5591078" cy="2253511"/>
            <a:chOff x="1486342" y="2116880"/>
            <a:chExt cx="7963375" cy="3209672"/>
          </a:xfrm>
        </p:grpSpPr>
        <p:graphicFrame>
          <p:nvGraphicFramePr>
            <p:cNvPr id="29" name="Object 5"/>
            <p:cNvGraphicFramePr>
              <a:graphicFrameLocks noChangeAspect="1"/>
            </p:cNvGraphicFramePr>
            <p:nvPr>
              <p:extLst>
                <p:ext uri="{D42A27DB-BD31-4B8C-83A1-F6EECF244321}">
                  <p14:modId xmlns:p14="http://schemas.microsoft.com/office/powerpoint/2010/main" val="4091474331"/>
                </p:ext>
              </p:extLst>
            </p:nvPr>
          </p:nvGraphicFramePr>
          <p:xfrm>
            <a:off x="3308432" y="2518048"/>
            <a:ext cx="3625321" cy="229711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8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08432" y="2518048"/>
                          <a:ext cx="3625321" cy="229711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0" name="Text Box 6"/>
            <p:cNvSpPr txBox="1">
              <a:spLocks noChangeArrowheads="1"/>
            </p:cNvSpPr>
            <p:nvPr/>
          </p:nvSpPr>
          <p:spPr bwMode="auto">
            <a:xfrm>
              <a:off x="4708819" y="2217876"/>
              <a:ext cx="920570" cy="394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互联网</a:t>
              </a:r>
            </a:p>
          </p:txBody>
        </p:sp>
        <p:sp>
          <p:nvSpPr>
            <p:cNvPr id="33" name="Text Box 9"/>
            <p:cNvSpPr txBox="1">
              <a:spLocks noChangeArrowheads="1"/>
            </p:cNvSpPr>
            <p:nvPr/>
          </p:nvSpPr>
          <p:spPr bwMode="auto">
            <a:xfrm>
              <a:off x="4447128" y="3085220"/>
              <a:ext cx="1339849" cy="4383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连接</a:t>
              </a:r>
            </a:p>
          </p:txBody>
        </p:sp>
        <p:sp>
          <p:nvSpPr>
            <p:cNvPr id="34" name="Text Box 10"/>
            <p:cNvSpPr txBox="1">
              <a:spLocks noChangeArrowheads="1"/>
            </p:cNvSpPr>
            <p:nvPr/>
          </p:nvSpPr>
          <p:spPr bwMode="auto">
            <a:xfrm>
              <a:off x="1486342" y="2242834"/>
              <a:ext cx="986781" cy="394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 </a:t>
              </a:r>
              <a:r>
                <a:rPr kumimoji="1" lang="zh-CN" altLang="en-US" sz="1200" b="1" dirty="0">
                  <a:latin typeface="微软雅黑 Light" panose="020B0502040204020203" pitchFamily="34" charset="-122"/>
                  <a:ea typeface="微软雅黑 Light" panose="020B0502040204020203" pitchFamily="34" charset="-122"/>
                </a:rPr>
                <a:t>客户端</a:t>
              </a:r>
            </a:p>
          </p:txBody>
        </p:sp>
        <p:sp>
          <p:nvSpPr>
            <p:cNvPr id="35" name="Text Box 11"/>
            <p:cNvSpPr txBox="1">
              <a:spLocks noChangeArrowheads="1"/>
            </p:cNvSpPr>
            <p:nvPr/>
          </p:nvSpPr>
          <p:spPr bwMode="auto">
            <a:xfrm>
              <a:off x="7836881" y="2116880"/>
              <a:ext cx="1205965" cy="394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 </a:t>
              </a:r>
              <a:r>
                <a:rPr kumimoji="1" lang="zh-CN" altLang="en-US" sz="1200" b="1" dirty="0">
                  <a:latin typeface="微软雅黑 Light" panose="020B0502040204020203" pitchFamily="34" charset="-122"/>
                  <a:ea typeface="微软雅黑 Light" panose="020B0502040204020203" pitchFamily="34" charset="-122"/>
                </a:rPr>
                <a:t>服务器端</a:t>
              </a:r>
            </a:p>
          </p:txBody>
        </p:sp>
        <p:sp>
          <p:nvSpPr>
            <p:cNvPr id="36" name="Text Box 13"/>
            <p:cNvSpPr txBox="1">
              <a:spLocks noChangeArrowheads="1"/>
            </p:cNvSpPr>
            <p:nvPr/>
          </p:nvSpPr>
          <p:spPr bwMode="auto">
            <a:xfrm>
              <a:off x="6809930" y="4888185"/>
              <a:ext cx="2639787" cy="4383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使用服务器端的格式</a:t>
              </a:r>
            </a:p>
          </p:txBody>
        </p:sp>
        <p:sp>
          <p:nvSpPr>
            <p:cNvPr id="37" name="Text Box 14"/>
            <p:cNvSpPr txBox="1">
              <a:spLocks noChangeArrowheads="1"/>
            </p:cNvSpPr>
            <p:nvPr/>
          </p:nvSpPr>
          <p:spPr bwMode="auto">
            <a:xfrm>
              <a:off x="4077198" y="4888185"/>
              <a:ext cx="2076670" cy="4383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使用 </a:t>
              </a:r>
              <a:r>
                <a:rPr kumimoji="1" lang="en-US" altLang="zh-CN" sz="1400" b="1" dirty="0">
                  <a:solidFill>
                    <a:srgbClr val="000099"/>
                  </a:solidFill>
                  <a:latin typeface="微软雅黑 Light" panose="020B0502040204020203" pitchFamily="34" charset="-122"/>
                  <a:ea typeface="微软雅黑 Light" panose="020B0502040204020203" pitchFamily="34" charset="-122"/>
                </a:rPr>
                <a:t>NVT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格式</a:t>
              </a:r>
            </a:p>
          </p:txBody>
        </p:sp>
        <p:sp>
          <p:nvSpPr>
            <p:cNvPr id="38" name="Line 15"/>
            <p:cNvSpPr>
              <a:spLocks noChangeShapeType="1"/>
            </p:cNvSpPr>
            <p:nvPr/>
          </p:nvSpPr>
          <p:spPr bwMode="auto">
            <a:xfrm flipV="1">
              <a:off x="1643674" y="3867422"/>
              <a:ext cx="357717" cy="1081088"/>
            </a:xfrm>
            <a:prstGeom prst="line">
              <a:avLst/>
            </a:prstGeom>
            <a:noFill/>
            <a:ln w="19050">
              <a:solidFill>
                <a:srgbClr val="0066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16"/>
            <p:cNvSpPr>
              <a:spLocks noChangeShapeType="1"/>
            </p:cNvSpPr>
            <p:nvPr/>
          </p:nvSpPr>
          <p:spPr bwMode="auto">
            <a:xfrm flipH="1" flipV="1">
              <a:off x="5086697" y="3622947"/>
              <a:ext cx="6879" cy="1277938"/>
            </a:xfrm>
            <a:prstGeom prst="line">
              <a:avLst/>
            </a:prstGeom>
            <a:noFill/>
            <a:ln w="19050">
              <a:solidFill>
                <a:srgbClr val="0066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17"/>
            <p:cNvSpPr>
              <a:spLocks noChangeShapeType="1"/>
            </p:cNvSpPr>
            <p:nvPr/>
          </p:nvSpPr>
          <p:spPr bwMode="auto">
            <a:xfrm flipV="1">
              <a:off x="8129824" y="3813445"/>
              <a:ext cx="272632" cy="1135063"/>
            </a:xfrm>
            <a:prstGeom prst="line">
              <a:avLst/>
            </a:prstGeom>
            <a:noFill/>
            <a:ln w="19050">
              <a:solidFill>
                <a:srgbClr val="0066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1" name="Oval 18"/>
            <p:cNvSpPr>
              <a:spLocks noChangeArrowheads="1"/>
            </p:cNvSpPr>
            <p:nvPr/>
          </p:nvSpPr>
          <p:spPr bwMode="auto">
            <a:xfrm>
              <a:off x="1526728" y="3051447"/>
              <a:ext cx="1006078" cy="833438"/>
            </a:xfrm>
            <a:prstGeom prst="ellipse">
              <a:avLst/>
            </a:prstGeom>
            <a:solidFill>
              <a:srgbClr val="0000FF"/>
            </a:solidFill>
            <a:ln w="12700">
              <a:solidFill>
                <a:schemeClr val="tx1"/>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客户</a:t>
              </a:r>
            </a:p>
          </p:txBody>
        </p:sp>
        <p:sp>
          <p:nvSpPr>
            <p:cNvPr id="42" name="Oval 19"/>
            <p:cNvSpPr>
              <a:spLocks noChangeArrowheads="1"/>
            </p:cNvSpPr>
            <p:nvPr/>
          </p:nvSpPr>
          <p:spPr bwMode="auto">
            <a:xfrm>
              <a:off x="7855562" y="3051447"/>
              <a:ext cx="1131623" cy="833438"/>
            </a:xfrm>
            <a:prstGeom prst="ellipse">
              <a:avLst/>
            </a:prstGeom>
            <a:solidFill>
              <a:srgbClr val="CC00CC"/>
            </a:solidFill>
            <a:ln w="12700">
              <a:solidFill>
                <a:schemeClr val="tx1"/>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AutoShape 20"/>
            <p:cNvSpPr>
              <a:spLocks noChangeArrowheads="1"/>
            </p:cNvSpPr>
            <p:nvPr/>
          </p:nvSpPr>
          <p:spPr bwMode="auto">
            <a:xfrm>
              <a:off x="2596439" y="3458572"/>
              <a:ext cx="5279761" cy="194468"/>
            </a:xfrm>
            <a:prstGeom prst="leftRightArrow">
              <a:avLst>
                <a:gd name="adj1" fmla="val 61111"/>
                <a:gd name="adj2" fmla="val 202172"/>
              </a:avLst>
            </a:prstGeom>
            <a:solidFill>
              <a:srgbClr val="00B0F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44" name="Text Box 12"/>
          <p:cNvSpPr txBox="1">
            <a:spLocks noChangeArrowheads="1"/>
          </p:cNvSpPr>
          <p:nvPr/>
        </p:nvSpPr>
        <p:spPr bwMode="auto">
          <a:xfrm>
            <a:off x="1245960" y="3041642"/>
            <a:ext cx="167385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使用客户端的格式</a:t>
            </a:r>
          </a:p>
        </p:txBody>
      </p:sp>
      <p:sp>
        <p:nvSpPr>
          <p:cNvPr id="31" name="矩形 30"/>
          <p:cNvSpPr/>
          <p:nvPr/>
        </p:nvSpPr>
        <p:spPr>
          <a:xfrm>
            <a:off x="1402672" y="3488071"/>
            <a:ext cx="6587231" cy="759182"/>
          </a:xfrm>
          <a:prstGeom prst="rect">
            <a:avLst/>
          </a:prstGeom>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TELNET </a:t>
            </a:r>
            <a:r>
              <a:rPr lang="zh-CN" altLang="en-US" b="1" dirty="0">
                <a:latin typeface="微软雅黑 Light" panose="020B0502040204020203" pitchFamily="34" charset="-122"/>
                <a:ea typeface="微软雅黑 Light" panose="020B0502040204020203" pitchFamily="34" charset="-122"/>
              </a:rPr>
              <a:t>的</a:t>
            </a:r>
            <a:r>
              <a:rPr lang="zh-CN" altLang="en-US" b="1" dirty="0">
                <a:solidFill>
                  <a:srgbClr val="C00000"/>
                </a:solidFill>
                <a:latin typeface="微软雅黑 Light" panose="020B0502040204020203" pitchFamily="34" charset="-122"/>
                <a:ea typeface="微软雅黑 Light" panose="020B0502040204020203" pitchFamily="34" charset="-122"/>
              </a:rPr>
              <a:t>选项协商 </a:t>
            </a:r>
            <a:r>
              <a:rPr lang="en-US" altLang="zh-CN" b="1" dirty="0">
                <a:latin typeface="微软雅黑 Light" panose="020B0502040204020203" pitchFamily="34" charset="-122"/>
                <a:ea typeface="微软雅黑 Light" panose="020B0502040204020203" pitchFamily="34" charset="-122"/>
              </a:rPr>
              <a:t>(Option Negotiation) </a:t>
            </a:r>
            <a:r>
              <a:rPr lang="zh-CN" altLang="en-US" b="1" dirty="0">
                <a:latin typeface="微软雅黑 Light" panose="020B0502040204020203" pitchFamily="34" charset="-122"/>
                <a:ea typeface="微软雅黑 Light" panose="020B0502040204020203" pitchFamily="34" charset="-122"/>
              </a:rPr>
              <a:t>使客户和服务器可商定使用更多的终端功能，协商的双方是平等的。</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8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88011" y="581772"/>
            <a:ext cx="478669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NVT </a:t>
            </a:r>
            <a:r>
              <a:rPr lang="zh-CN" altLang="en-US" sz="2000" b="1" dirty="0">
                <a:solidFill>
                  <a:schemeClr val="bg1"/>
                </a:solidFill>
                <a:latin typeface="微软雅黑 Light" panose="020B0502040204020203" pitchFamily="34" charset="-122"/>
                <a:ea typeface="微软雅黑 Light" panose="020B0502040204020203" pitchFamily="34" charset="-122"/>
              </a:rPr>
              <a:t>（</a:t>
            </a:r>
            <a:r>
              <a:rPr lang="en-US" altLang="zh-CN" sz="2000" b="1" dirty="0">
                <a:solidFill>
                  <a:schemeClr val="bg1"/>
                </a:solidFill>
                <a:latin typeface="微软雅黑 Light" panose="020B0502040204020203" pitchFamily="34" charset="-122"/>
                <a:ea typeface="微软雅黑 Light" panose="020B0502040204020203" pitchFamily="34" charset="-122"/>
              </a:rPr>
              <a:t>Network Virtual Terminal </a:t>
            </a:r>
            <a:r>
              <a:rPr lang="zh-CN" altLang="en-US" sz="2000" b="1" dirty="0">
                <a:solidFill>
                  <a:schemeClr val="bg1"/>
                </a:solidFill>
                <a:latin typeface="微软雅黑 Light" panose="020B0502040204020203" pitchFamily="34" charset="-122"/>
                <a:ea typeface="微软雅黑 Light" panose="020B0502040204020203" pitchFamily="34" charset="-122"/>
              </a:rPr>
              <a:t>）格式 </a:t>
            </a:r>
          </a:p>
        </p:txBody>
      </p:sp>
      <p:sp>
        <p:nvSpPr>
          <p:cNvPr id="5" name="Text Box 10"/>
          <p:cNvSpPr txBox="1">
            <a:spLocks noChangeArrowheads="1"/>
          </p:cNvSpPr>
          <p:nvPr/>
        </p:nvSpPr>
        <p:spPr bwMode="auto">
          <a:xfrm>
            <a:off x="468186" y="1091690"/>
            <a:ext cx="287610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rPr>
              <a:t> </a:t>
            </a:r>
            <a:r>
              <a:rPr kumimoji="1" lang="zh-CN" altLang="en-US" sz="1800" b="1" dirty="0">
                <a:solidFill>
                  <a:srgbClr val="C00000"/>
                </a:solidFill>
                <a:latin typeface="微软雅黑 Light" panose="020B0502040204020203" pitchFamily="34" charset="-122"/>
                <a:ea typeface="微软雅黑 Light" panose="020B0502040204020203" pitchFamily="34" charset="-122"/>
              </a:rPr>
              <a:t>两个字符集：</a:t>
            </a:r>
            <a:r>
              <a:rPr kumimoji="1" lang="zh-CN" altLang="en-US" sz="1800" b="1" dirty="0">
                <a:latin typeface="微软雅黑 Light" panose="020B0502040204020203" pitchFamily="34" charset="-122"/>
                <a:ea typeface="微软雅黑 Light" panose="020B0502040204020203" pitchFamily="34" charset="-122"/>
              </a:rPr>
              <a:t>数据，控制</a:t>
            </a:r>
          </a:p>
        </p:txBody>
      </p:sp>
      <p:grpSp>
        <p:nvGrpSpPr>
          <p:cNvPr id="29" name="组合 28"/>
          <p:cNvGrpSpPr/>
          <p:nvPr/>
        </p:nvGrpSpPr>
        <p:grpSpPr>
          <a:xfrm>
            <a:off x="468186" y="2948796"/>
            <a:ext cx="3810851" cy="443884"/>
            <a:chOff x="563382" y="2675753"/>
            <a:chExt cx="3775329" cy="443884"/>
          </a:xfrm>
        </p:grpSpPr>
        <p:sp>
          <p:nvSpPr>
            <p:cNvPr id="7" name="Text Box 10"/>
            <p:cNvSpPr txBox="1">
              <a:spLocks noChangeArrowheads="1"/>
            </p:cNvSpPr>
            <p:nvPr/>
          </p:nvSpPr>
          <p:spPr bwMode="auto">
            <a:xfrm>
              <a:off x="563382" y="2675753"/>
              <a:ext cx="140775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rPr>
                <a:t> </a:t>
              </a:r>
              <a:r>
                <a:rPr kumimoji="1" lang="zh-CN" altLang="en-US" sz="1800" b="1" dirty="0">
                  <a:latin typeface="微软雅黑 Light" panose="020B0502040204020203" pitchFamily="34" charset="-122"/>
                  <a:ea typeface="微软雅黑 Light" panose="020B0502040204020203" pitchFamily="34" charset="-122"/>
                </a:rPr>
                <a:t>控制字符：</a:t>
              </a:r>
            </a:p>
          </p:txBody>
        </p:sp>
        <p:grpSp>
          <p:nvGrpSpPr>
            <p:cNvPr id="17" name="组合 16"/>
            <p:cNvGrpSpPr/>
            <p:nvPr/>
          </p:nvGrpSpPr>
          <p:grpSpPr>
            <a:xfrm>
              <a:off x="1995017" y="2675753"/>
              <a:ext cx="2343694" cy="443884"/>
              <a:chOff x="1526959" y="2041864"/>
              <a:chExt cx="2343694" cy="443884"/>
            </a:xfrm>
          </p:grpSpPr>
          <p:sp>
            <p:nvSpPr>
              <p:cNvPr id="18" name="矩形 17"/>
              <p:cNvSpPr/>
              <p:nvPr/>
            </p:nvSpPr>
            <p:spPr>
              <a:xfrm>
                <a:off x="1526959" y="2041864"/>
                <a:ext cx="292963" cy="443884"/>
              </a:xfrm>
              <a:prstGeom prst="rect">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Light" panose="020B0502040204020203" pitchFamily="34" charset="-122"/>
                    <a:ea typeface="微软雅黑 Light" panose="020B0502040204020203" pitchFamily="34" charset="-122"/>
                  </a:rPr>
                  <a:t>1</a:t>
                </a: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grpSp>
      </p:grpSp>
      <p:grpSp>
        <p:nvGrpSpPr>
          <p:cNvPr id="28" name="组合 27"/>
          <p:cNvGrpSpPr/>
          <p:nvPr/>
        </p:nvGrpSpPr>
        <p:grpSpPr>
          <a:xfrm>
            <a:off x="468186" y="1570830"/>
            <a:ext cx="3810853" cy="969848"/>
            <a:chOff x="563382" y="1448707"/>
            <a:chExt cx="3775331" cy="969848"/>
          </a:xfrm>
        </p:grpSpPr>
        <p:sp>
          <p:nvSpPr>
            <p:cNvPr id="6" name="Text Box 10"/>
            <p:cNvSpPr txBox="1">
              <a:spLocks noChangeArrowheads="1"/>
            </p:cNvSpPr>
            <p:nvPr/>
          </p:nvSpPr>
          <p:spPr bwMode="auto">
            <a:xfrm>
              <a:off x="563382" y="2004991"/>
              <a:ext cx="140775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rPr>
                <a:t> </a:t>
              </a:r>
              <a:r>
                <a:rPr kumimoji="1" lang="zh-CN" altLang="en-US" sz="1800" b="1" dirty="0">
                  <a:latin typeface="微软雅黑 Light" panose="020B0502040204020203" pitchFamily="34" charset="-122"/>
                  <a:ea typeface="微软雅黑 Light" panose="020B0502040204020203" pitchFamily="34" charset="-122"/>
                </a:rPr>
                <a:t>数据字符：</a:t>
              </a:r>
            </a:p>
          </p:txBody>
        </p:sp>
        <p:grpSp>
          <p:nvGrpSpPr>
            <p:cNvPr id="16" name="组合 15"/>
            <p:cNvGrpSpPr/>
            <p:nvPr/>
          </p:nvGrpSpPr>
          <p:grpSpPr>
            <a:xfrm>
              <a:off x="1995017" y="1974671"/>
              <a:ext cx="2343694" cy="443884"/>
              <a:chOff x="1526959" y="2041864"/>
              <a:chExt cx="2343694" cy="443884"/>
            </a:xfrm>
          </p:grpSpPr>
          <p:sp>
            <p:nvSpPr>
              <p:cNvPr id="8" name="矩形 7"/>
              <p:cNvSpPr/>
              <p:nvPr/>
            </p:nvSpPr>
            <p:spPr>
              <a:xfrm>
                <a:off x="1526959" y="2041864"/>
                <a:ext cx="292963" cy="443884"/>
              </a:xfrm>
              <a:prstGeom prst="rect">
                <a:avLst/>
              </a:prstGeom>
              <a:solidFill>
                <a:srgbClr val="FFC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Light" panose="020B0502040204020203" pitchFamily="34" charset="-122"/>
                    <a:ea typeface="微软雅黑 Light" panose="020B0502040204020203" pitchFamily="34" charset="-122"/>
                  </a:rPr>
                  <a:t>0</a:t>
                </a: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9" name="矩形 8"/>
              <p:cNvSpPr/>
              <p:nvPr/>
            </p:nvSpPr>
            <p:spPr>
              <a:xfrm>
                <a:off x="181992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2112884"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2405846"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2" name="矩形 11"/>
              <p:cNvSpPr/>
              <p:nvPr/>
            </p:nvSpPr>
            <p:spPr>
              <a:xfrm>
                <a:off x="2698809"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3" name="矩形 12"/>
              <p:cNvSpPr/>
              <p:nvPr/>
            </p:nvSpPr>
            <p:spPr>
              <a:xfrm>
                <a:off x="2991768"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4" name="矩形 13"/>
              <p:cNvSpPr/>
              <p:nvPr/>
            </p:nvSpPr>
            <p:spPr>
              <a:xfrm>
                <a:off x="328473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grpSp>
        <p:sp>
          <p:nvSpPr>
            <p:cNvPr id="26" name="右大括号 25"/>
            <p:cNvSpPr/>
            <p:nvPr/>
          </p:nvSpPr>
          <p:spPr>
            <a:xfrm rot="16200000">
              <a:off x="3213418" y="801163"/>
              <a:ext cx="199855" cy="2050734"/>
            </a:xfrm>
            <a:prstGeom prst="rightBrace">
              <a:avLst>
                <a:gd name="adj1" fmla="val 38636"/>
                <a:gd name="adj2" fmla="val 50000"/>
              </a:avLst>
            </a:prstGeom>
            <a:ln w="1905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2466849" y="1448707"/>
              <a:ext cx="160267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latin typeface="微软雅黑 Light" panose="020B0502040204020203" pitchFamily="34" charset="-122"/>
                  <a:ea typeface="微软雅黑 Light" panose="020B0502040204020203" pitchFamily="34" charset="-122"/>
                </a:rPr>
                <a:t>标准 </a:t>
              </a:r>
              <a:r>
                <a:rPr kumimoji="1" lang="en-US" altLang="zh-CN" sz="1600" b="1" dirty="0">
                  <a:latin typeface="微软雅黑 Light" panose="020B0502040204020203" pitchFamily="34" charset="-122"/>
                  <a:ea typeface="微软雅黑 Light" panose="020B0502040204020203" pitchFamily="34" charset="-122"/>
                </a:rPr>
                <a:t>ASCII </a:t>
              </a:r>
              <a:r>
                <a:rPr kumimoji="1" lang="zh-CN" altLang="en-US" sz="1600" b="1" dirty="0">
                  <a:latin typeface="微软雅黑 Light" panose="020B0502040204020203" pitchFamily="34" charset="-122"/>
                  <a:ea typeface="微软雅黑 Light" panose="020B0502040204020203" pitchFamily="34" charset="-122"/>
                </a:rPr>
                <a:t>字符</a:t>
              </a:r>
            </a:p>
          </p:txBody>
        </p:sp>
      </p:grpSp>
      <p:sp>
        <p:nvSpPr>
          <p:cNvPr id="30" name="矩形 29"/>
          <p:cNvSpPr/>
          <p:nvPr/>
        </p:nvSpPr>
        <p:spPr>
          <a:xfrm>
            <a:off x="4528083" y="966612"/>
            <a:ext cx="3866334" cy="3554819"/>
          </a:xfrm>
          <a:prstGeom prst="rect">
            <a:avLst/>
          </a:prstGeom>
        </p:spPr>
        <p:txBody>
          <a:bodyPr wrap="square">
            <a:spAutoFit/>
          </a:bodyPr>
          <a:lstStyle/>
          <a:p>
            <a:pPr marL="285750" indent="-285750" eaLnBrk="0" hangingPunct="0">
              <a:lnSpc>
                <a:spcPts val="30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客户端把用户的击键和命令转换成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格式，并送交服务器。</a:t>
            </a:r>
          </a:p>
          <a:p>
            <a:pPr marL="285750" indent="-285750" eaLnBrk="0" hangingPunct="0">
              <a:lnSpc>
                <a:spcPts val="30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服务器端把收到的数据和命令，从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格式转换成远地系统所需的格式。</a:t>
            </a:r>
          </a:p>
          <a:p>
            <a:pPr marL="285750" indent="-285750" eaLnBrk="0" hangingPunct="0">
              <a:lnSpc>
                <a:spcPts val="30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向客户返回数据时，服务器把远地系统的格式转换为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格式，本地客户再从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格式转换到本地系统所需的格式。 </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Rectangle 9"/>
          <p:cNvSpPr>
            <a:spLocks noChangeArrowheads="1"/>
          </p:cNvSpPr>
          <p:nvPr/>
        </p:nvSpPr>
        <p:spPr bwMode="auto">
          <a:xfrm>
            <a:off x="2629135" y="365005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7" name="Rectangle 10"/>
          <p:cNvSpPr>
            <a:spLocks noChangeArrowheads="1"/>
          </p:cNvSpPr>
          <p:nvPr/>
        </p:nvSpPr>
        <p:spPr bwMode="auto">
          <a:xfrm>
            <a:off x="2629135" y="319150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4" name="Rectangle 9"/>
          <p:cNvSpPr>
            <a:spLocks noChangeArrowheads="1"/>
          </p:cNvSpPr>
          <p:nvPr/>
        </p:nvSpPr>
        <p:spPr bwMode="auto">
          <a:xfrm>
            <a:off x="2629135" y="274056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5" name="Rectangle 10"/>
          <p:cNvSpPr>
            <a:spLocks noChangeArrowheads="1"/>
          </p:cNvSpPr>
          <p:nvPr/>
        </p:nvSpPr>
        <p:spPr bwMode="auto">
          <a:xfrm>
            <a:off x="2629135" y="228201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6" name="Rectangle 9"/>
          <p:cNvSpPr>
            <a:spLocks noChangeArrowheads="1"/>
          </p:cNvSpPr>
          <p:nvPr/>
        </p:nvSpPr>
        <p:spPr bwMode="auto">
          <a:xfrm>
            <a:off x="2629135" y="182630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7" name="Rectangle 9"/>
          <p:cNvSpPr>
            <a:spLocks noChangeArrowheads="1"/>
          </p:cNvSpPr>
          <p:nvPr/>
        </p:nvSpPr>
        <p:spPr bwMode="auto">
          <a:xfrm>
            <a:off x="2629135" y="90400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9" name="Rectangle 10"/>
          <p:cNvSpPr>
            <a:spLocks noChangeArrowheads="1"/>
          </p:cNvSpPr>
          <p:nvPr/>
        </p:nvSpPr>
        <p:spPr bwMode="auto">
          <a:xfrm>
            <a:off x="2629135" y="1367755"/>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2" name="Rectangle 27"/>
          <p:cNvSpPr>
            <a:spLocks noChangeArrowheads="1"/>
          </p:cNvSpPr>
          <p:nvPr/>
        </p:nvSpPr>
        <p:spPr bwMode="auto">
          <a:xfrm>
            <a:off x="639730" y="904000"/>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63" name="Rectangle 29"/>
          <p:cNvSpPr>
            <a:spLocks noChangeArrowheads="1"/>
          </p:cNvSpPr>
          <p:nvPr/>
        </p:nvSpPr>
        <p:spPr bwMode="auto">
          <a:xfrm>
            <a:off x="648619" y="998932"/>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6.4</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万维网 </a:t>
            </a:r>
            <a:r>
              <a:rPr lang="en-US" altLang="zh-CN" sz="2000" b="1" dirty="0">
                <a:solidFill>
                  <a:schemeClr val="bg1"/>
                </a:solidFill>
                <a:latin typeface="微软雅黑 Light" panose="020B0502040204020203" pitchFamily="34" charset="-122"/>
                <a:ea typeface="微软雅黑 Light" panose="020B0502040204020203" pitchFamily="34" charset="-122"/>
              </a:rPr>
              <a:t>WWW</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68" name="Rectangle 8"/>
          <p:cNvSpPr>
            <a:spLocks noChangeArrowheads="1"/>
          </p:cNvSpPr>
          <p:nvPr/>
        </p:nvSpPr>
        <p:spPr bwMode="auto">
          <a:xfrm>
            <a:off x="2700573" y="779699"/>
            <a:ext cx="5756006" cy="3323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6.4.1                                               </a:t>
            </a:r>
            <a:r>
              <a:rPr lang="zh-CN" altLang="en-US" sz="2000" b="1" dirty="0">
                <a:solidFill>
                  <a:schemeClr val="bg1"/>
                </a:solidFill>
                <a:latin typeface="微软雅黑 Light" panose="020B0502040204020203" pitchFamily="34" charset="-122"/>
                <a:ea typeface="微软雅黑 Light" panose="020B0502040204020203" pitchFamily="34" charset="-122"/>
              </a:rPr>
              <a:t>万维网概述</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6.4.2                                 </a:t>
            </a:r>
            <a:r>
              <a:rPr lang="zh-CN" altLang="en-US" sz="2000" b="1" dirty="0">
                <a:solidFill>
                  <a:schemeClr val="bg1"/>
                </a:solidFill>
                <a:latin typeface="微软雅黑 Light" panose="020B0502040204020203" pitchFamily="34" charset="-122"/>
                <a:ea typeface="微软雅黑 Light" panose="020B0502040204020203" pitchFamily="34" charset="-122"/>
              </a:rPr>
              <a:t>统一资源定位符 </a:t>
            </a:r>
            <a:r>
              <a:rPr lang="en-US" altLang="zh-CN" sz="2000" b="1" dirty="0">
                <a:solidFill>
                  <a:schemeClr val="bg1"/>
                </a:solidFill>
                <a:latin typeface="微软雅黑 Light" panose="020B0502040204020203" pitchFamily="34" charset="-122"/>
                <a:ea typeface="微软雅黑 Light" panose="020B0502040204020203" pitchFamily="34" charset="-122"/>
              </a:rPr>
              <a:t>URL</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6.4.3                              </a:t>
            </a:r>
            <a:r>
              <a:rPr lang="zh-CN" altLang="en-US" sz="2000" b="1" dirty="0">
                <a:solidFill>
                  <a:schemeClr val="bg1"/>
                </a:solidFill>
                <a:latin typeface="微软雅黑 Light" panose="020B0502040204020203" pitchFamily="34" charset="-122"/>
                <a:ea typeface="微软雅黑 Light" panose="020B0502040204020203" pitchFamily="34" charset="-122"/>
              </a:rPr>
              <a:t>超文本传送协议 </a:t>
            </a:r>
            <a:r>
              <a:rPr lang="en-US" altLang="zh-CN" sz="2000" b="1" dirty="0">
                <a:solidFill>
                  <a:schemeClr val="bg1"/>
                </a:solidFill>
                <a:latin typeface="微软雅黑 Light" panose="020B0502040204020203" pitchFamily="34" charset="-122"/>
                <a:ea typeface="微软雅黑 Light" panose="020B0502040204020203" pitchFamily="34" charset="-122"/>
              </a:rPr>
              <a:t>HTTP</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6.4.4                                           </a:t>
            </a:r>
            <a:r>
              <a:rPr lang="zh-CN" altLang="en-US" sz="2000" b="1" dirty="0">
                <a:solidFill>
                  <a:schemeClr val="bg1"/>
                </a:solidFill>
                <a:latin typeface="微软雅黑 Light" panose="020B0502040204020203" pitchFamily="34" charset="-122"/>
                <a:ea typeface="微软雅黑 Light" panose="020B0502040204020203" pitchFamily="34" charset="-122"/>
              </a:rPr>
              <a:t>万维网的文档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6.4.5                              </a:t>
            </a:r>
            <a:r>
              <a:rPr lang="zh-CN" altLang="en-US" sz="2000" b="1" dirty="0">
                <a:solidFill>
                  <a:schemeClr val="bg1"/>
                </a:solidFill>
                <a:latin typeface="微软雅黑 Light" panose="020B0502040204020203" pitchFamily="34" charset="-122"/>
                <a:ea typeface="微软雅黑 Light" panose="020B0502040204020203" pitchFamily="34" charset="-122"/>
              </a:rPr>
              <a:t>万维网的信息检索系统</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6.4.6                                               </a:t>
            </a:r>
            <a:r>
              <a:rPr lang="zh-CN" altLang="en-US" sz="2000" b="1" dirty="0">
                <a:solidFill>
                  <a:schemeClr val="bg1"/>
                </a:solidFill>
                <a:latin typeface="微软雅黑 Light" panose="020B0502040204020203" pitchFamily="34" charset="-122"/>
                <a:ea typeface="微软雅黑 Light" panose="020B0502040204020203" pitchFamily="34" charset="-122"/>
              </a:rPr>
              <a:t>博客和微博</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6.4.7                                                  </a:t>
            </a:r>
            <a:r>
              <a:rPr lang="zh-CN" altLang="en-US" sz="2000" b="1" dirty="0">
                <a:solidFill>
                  <a:schemeClr val="bg1"/>
                </a:solidFill>
                <a:latin typeface="微软雅黑 Light" panose="020B0502040204020203" pitchFamily="34" charset="-122"/>
                <a:ea typeface="微软雅黑 Light" panose="020B0502040204020203" pitchFamily="34" charset="-122"/>
              </a:rPr>
              <a:t>社交网站</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AutoShape 5"/>
          <p:cNvSpPr>
            <a:spLocks noChangeArrowheads="1"/>
          </p:cNvSpPr>
          <p:nvPr/>
        </p:nvSpPr>
        <p:spPr bwMode="auto">
          <a:xfrm>
            <a:off x="556963" y="611054"/>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10" name="Rectangle 6"/>
          <p:cNvSpPr>
            <a:spLocks noChangeArrowheads="1"/>
          </p:cNvSpPr>
          <p:nvPr/>
        </p:nvSpPr>
        <p:spPr bwMode="auto">
          <a:xfrm>
            <a:off x="3507448" y="605359"/>
            <a:ext cx="21291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6.4.1  </a:t>
            </a:r>
            <a:r>
              <a:rPr lang="zh-CN" altLang="en-US" sz="2000" b="1" dirty="0">
                <a:solidFill>
                  <a:schemeClr val="bg1"/>
                </a:solidFill>
                <a:latin typeface="微软雅黑 Light" panose="020B0502040204020203" pitchFamily="34" charset="-122"/>
                <a:ea typeface="微软雅黑 Light" panose="020B0502040204020203" pitchFamily="34" charset="-122"/>
              </a:rPr>
              <a:t>万维网概述</a:t>
            </a:r>
          </a:p>
        </p:txBody>
      </p:sp>
      <p:sp>
        <p:nvSpPr>
          <p:cNvPr id="111" name="Rectangle 8"/>
          <p:cNvSpPr>
            <a:spLocks noChangeArrowheads="1"/>
          </p:cNvSpPr>
          <p:nvPr/>
        </p:nvSpPr>
        <p:spPr bwMode="auto">
          <a:xfrm>
            <a:off x="556963" y="1115519"/>
            <a:ext cx="8048776"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万维网 </a:t>
            </a:r>
            <a:r>
              <a:rPr lang="en-US" altLang="zh-CN" sz="2000" b="1" dirty="0">
                <a:solidFill>
                  <a:srgbClr val="C00000"/>
                </a:solidFill>
                <a:latin typeface="微软雅黑 Light" panose="020B0502040204020203" pitchFamily="34" charset="-122"/>
                <a:ea typeface="微软雅黑 Light" panose="020B0502040204020203" pitchFamily="34" charset="-122"/>
              </a:rPr>
              <a:t>WWW </a:t>
            </a:r>
            <a:r>
              <a:rPr lang="en-US" altLang="zh-CN" sz="2000" b="1" dirty="0">
                <a:latin typeface="微软雅黑 Light" panose="020B0502040204020203" pitchFamily="34" charset="-122"/>
                <a:ea typeface="微软雅黑 Light" panose="020B0502040204020203" pitchFamily="34" charset="-122"/>
              </a:rPr>
              <a:t>(World Wide Web) </a:t>
            </a:r>
            <a:r>
              <a:rPr lang="zh-CN" altLang="en-US" sz="2000" b="1" dirty="0">
                <a:latin typeface="微软雅黑 Light" panose="020B0502040204020203" pitchFamily="34" charset="-122"/>
                <a:ea typeface="微软雅黑 Light" panose="020B0502040204020203" pitchFamily="34" charset="-122"/>
              </a:rPr>
              <a:t>并非某种特殊的计算机网络</a:t>
            </a: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万维网是一个大规模的、联机式的</a:t>
            </a:r>
            <a:r>
              <a:rPr lang="zh-CN" altLang="en-US" sz="2000" b="1" dirty="0">
                <a:solidFill>
                  <a:srgbClr val="0000FF"/>
                </a:solidFill>
                <a:latin typeface="微软雅黑 Light" panose="020B0502040204020203" pitchFamily="34" charset="-122"/>
                <a:ea typeface="微软雅黑 Light" panose="020B0502040204020203" pitchFamily="34" charset="-122"/>
              </a:rPr>
              <a:t>信息储藏所</a:t>
            </a:r>
            <a:endParaRPr lang="zh-CN" altLang="en-US" sz="2000" b="1" dirty="0">
              <a:latin typeface="微软雅黑 Light" panose="020B0502040204020203" pitchFamily="34" charset="-122"/>
              <a:ea typeface="微软雅黑 Light" panose="020B0502040204020203" pitchFamily="34" charset="-122"/>
            </a:endParaRP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万维网用链接的方法能非常方便地从互联网上的一个站点访问另一个站点，从而主动地按需获取丰富的信息</a:t>
            </a: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这种访问方式称为“</a:t>
            </a:r>
            <a:r>
              <a:rPr lang="zh-CN" altLang="en-US" sz="2000" b="1" dirty="0">
                <a:solidFill>
                  <a:srgbClr val="C00000"/>
                </a:solidFill>
                <a:latin typeface="微软雅黑 Light" panose="020B0502040204020203" pitchFamily="34" charset="-122"/>
                <a:ea typeface="微软雅黑 Light" panose="020B0502040204020203" pitchFamily="34" charset="-122"/>
              </a:rPr>
              <a:t>链接</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Text Box 5"/>
          <p:cNvSpPr txBox="1">
            <a:spLocks noChangeArrowheads="1"/>
          </p:cNvSpPr>
          <p:nvPr/>
        </p:nvSpPr>
        <p:spPr bwMode="auto">
          <a:xfrm>
            <a:off x="3191972" y="2554344"/>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sp>
        <p:nvSpPr>
          <p:cNvPr id="139" name="Text Box 6"/>
          <p:cNvSpPr txBox="1">
            <a:spLocks noChangeArrowheads="1"/>
          </p:cNvSpPr>
          <p:nvPr/>
        </p:nvSpPr>
        <p:spPr bwMode="auto">
          <a:xfrm>
            <a:off x="1675400" y="1102120"/>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sp>
        <p:nvSpPr>
          <p:cNvPr id="140" name="Text Box 7"/>
          <p:cNvSpPr txBox="1">
            <a:spLocks noChangeArrowheads="1"/>
          </p:cNvSpPr>
          <p:nvPr/>
        </p:nvSpPr>
        <p:spPr bwMode="auto">
          <a:xfrm>
            <a:off x="4167703" y="1016829"/>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sp>
        <p:nvSpPr>
          <p:cNvPr id="141" name="Text Box 8"/>
          <p:cNvSpPr txBox="1">
            <a:spLocks noChangeArrowheads="1"/>
          </p:cNvSpPr>
          <p:nvPr/>
        </p:nvSpPr>
        <p:spPr bwMode="auto">
          <a:xfrm>
            <a:off x="5575858" y="2502032"/>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sp>
        <p:nvSpPr>
          <p:cNvPr id="163" name="Text Box 9"/>
          <p:cNvSpPr txBox="1">
            <a:spLocks noChangeArrowheads="1"/>
          </p:cNvSpPr>
          <p:nvPr/>
        </p:nvSpPr>
        <p:spPr bwMode="auto">
          <a:xfrm>
            <a:off x="6838642" y="1132825"/>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sp>
        <p:nvSpPr>
          <p:cNvPr id="174" name="Text Box 11"/>
          <p:cNvSpPr txBox="1">
            <a:spLocks noChangeArrowheads="1"/>
          </p:cNvSpPr>
          <p:nvPr/>
        </p:nvSpPr>
        <p:spPr bwMode="auto">
          <a:xfrm>
            <a:off x="1708527" y="2384317"/>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万维网</a:t>
            </a:r>
          </a:p>
          <a:p>
            <a:pPr eaLnBrk="1" hangingPunct="1"/>
            <a:r>
              <a:rPr kumimoji="1" lang="zh-CN" altLang="en-US" sz="1200" b="1" dirty="0">
                <a:latin typeface="微软雅黑 Light" panose="020B0502040204020203" pitchFamily="34" charset="-122"/>
                <a:ea typeface="微软雅黑 Light" panose="020B0502040204020203" pitchFamily="34" charset="-122"/>
              </a:rPr>
              <a:t>站点 </a:t>
            </a:r>
            <a:r>
              <a:rPr kumimoji="1" lang="en-US" altLang="zh-CN" sz="1200" b="1" dirty="0">
                <a:latin typeface="微软雅黑 Light" panose="020B0502040204020203" pitchFamily="34" charset="-122"/>
                <a:ea typeface="微软雅黑 Light" panose="020B0502040204020203" pitchFamily="34" charset="-122"/>
              </a:rPr>
              <a:t>A</a:t>
            </a:r>
          </a:p>
        </p:txBody>
      </p:sp>
      <p:sp>
        <p:nvSpPr>
          <p:cNvPr id="179" name="Text Box 16"/>
          <p:cNvSpPr txBox="1">
            <a:spLocks noChangeArrowheads="1"/>
          </p:cNvSpPr>
          <p:nvPr/>
        </p:nvSpPr>
        <p:spPr bwMode="auto">
          <a:xfrm>
            <a:off x="6897913" y="2418894"/>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万维网</a:t>
            </a:r>
          </a:p>
          <a:p>
            <a:pPr eaLnBrk="1" hangingPunct="1"/>
            <a:r>
              <a:rPr kumimoji="1" lang="zh-CN" altLang="en-US" sz="1200" b="1" dirty="0">
                <a:latin typeface="微软雅黑 Light" panose="020B0502040204020203" pitchFamily="34" charset="-122"/>
                <a:ea typeface="微软雅黑 Light" panose="020B0502040204020203" pitchFamily="34" charset="-122"/>
              </a:rPr>
              <a:t>站点 </a:t>
            </a:r>
            <a:r>
              <a:rPr kumimoji="1" lang="en-US" altLang="zh-CN" sz="1200" b="1" dirty="0">
                <a:latin typeface="微软雅黑 Light" panose="020B0502040204020203" pitchFamily="34" charset="-122"/>
                <a:ea typeface="微软雅黑 Light" panose="020B0502040204020203" pitchFamily="34" charset="-122"/>
              </a:rPr>
              <a:t>C</a:t>
            </a:r>
          </a:p>
        </p:txBody>
      </p:sp>
      <p:sp>
        <p:nvSpPr>
          <p:cNvPr id="180" name="Text Box 17"/>
          <p:cNvSpPr txBox="1">
            <a:spLocks noChangeArrowheads="1"/>
          </p:cNvSpPr>
          <p:nvPr/>
        </p:nvSpPr>
        <p:spPr bwMode="auto">
          <a:xfrm>
            <a:off x="5409096" y="3764500"/>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万维网站点 </a:t>
            </a:r>
            <a:r>
              <a:rPr kumimoji="1" lang="en-US" altLang="zh-CN" sz="1200" b="1" dirty="0">
                <a:latin typeface="微软雅黑 Light" panose="020B0502040204020203" pitchFamily="34" charset="-122"/>
                <a:ea typeface="微软雅黑 Light" panose="020B0502040204020203" pitchFamily="34" charset="-122"/>
              </a:rPr>
              <a:t>E</a:t>
            </a:r>
          </a:p>
        </p:txBody>
      </p:sp>
      <p:sp>
        <p:nvSpPr>
          <p:cNvPr id="181" name="Text Box 18"/>
          <p:cNvSpPr txBox="1">
            <a:spLocks noChangeArrowheads="1"/>
          </p:cNvSpPr>
          <p:nvPr/>
        </p:nvSpPr>
        <p:spPr bwMode="auto">
          <a:xfrm>
            <a:off x="3003803" y="3818654"/>
            <a:ext cx="11224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万维网站点 </a:t>
            </a:r>
            <a:r>
              <a:rPr kumimoji="1" lang="en-US" altLang="zh-CN" sz="1200" b="1" dirty="0">
                <a:latin typeface="微软雅黑 Light" panose="020B0502040204020203" pitchFamily="34" charset="-122"/>
                <a:ea typeface="微软雅黑 Light" panose="020B0502040204020203" pitchFamily="34" charset="-122"/>
              </a:rPr>
              <a:t>D</a:t>
            </a:r>
          </a:p>
        </p:txBody>
      </p:sp>
      <p:sp>
        <p:nvSpPr>
          <p:cNvPr id="182" name="Text Box 19"/>
          <p:cNvSpPr txBox="1">
            <a:spLocks noChangeArrowheads="1"/>
          </p:cNvSpPr>
          <p:nvPr/>
        </p:nvSpPr>
        <p:spPr bwMode="auto">
          <a:xfrm>
            <a:off x="3992573" y="2262793"/>
            <a:ext cx="11063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万维网站点 </a:t>
            </a:r>
            <a:r>
              <a:rPr kumimoji="1" lang="en-US" altLang="zh-CN" sz="1200" b="1" dirty="0">
                <a:latin typeface="微软雅黑 Light" panose="020B0502040204020203" pitchFamily="34" charset="-122"/>
                <a:ea typeface="微软雅黑 Light" panose="020B0502040204020203" pitchFamily="34" charset="-122"/>
              </a:rPr>
              <a:t>B</a:t>
            </a:r>
          </a:p>
        </p:txBody>
      </p:sp>
      <p:grpSp>
        <p:nvGrpSpPr>
          <p:cNvPr id="183" name="Group 53"/>
          <p:cNvGrpSpPr>
            <a:grpSpLocks/>
          </p:cNvGrpSpPr>
          <p:nvPr/>
        </p:nvGrpSpPr>
        <p:grpSpPr bwMode="auto">
          <a:xfrm>
            <a:off x="2087328" y="1192347"/>
            <a:ext cx="2344463" cy="358225"/>
            <a:chOff x="833" y="1417"/>
            <a:chExt cx="1903" cy="315"/>
          </a:xfrm>
        </p:grpSpPr>
        <p:sp>
          <p:nvSpPr>
            <p:cNvPr id="184" name="Line 25"/>
            <p:cNvSpPr>
              <a:spLocks noChangeShapeType="1"/>
            </p:cNvSpPr>
            <p:nvPr/>
          </p:nvSpPr>
          <p:spPr bwMode="auto">
            <a:xfrm flipV="1">
              <a:off x="833" y="1564"/>
              <a:ext cx="1903" cy="168"/>
            </a:xfrm>
            <a:prstGeom prst="line">
              <a:avLst/>
            </a:prstGeom>
            <a:noFill/>
            <a:ln w="38100">
              <a:solidFill>
                <a:srgbClr val="CC00CC"/>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185" name="Text Box 26"/>
            <p:cNvSpPr txBox="1">
              <a:spLocks noChangeArrowheads="1"/>
            </p:cNvSpPr>
            <p:nvPr/>
          </p:nvSpPr>
          <p:spPr bwMode="auto">
            <a:xfrm rot="21377422">
              <a:off x="1550" y="1417"/>
              <a:ext cx="525" cy="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186" name="Group 55"/>
          <p:cNvGrpSpPr>
            <a:grpSpLocks/>
          </p:cNvGrpSpPr>
          <p:nvPr/>
        </p:nvGrpSpPr>
        <p:grpSpPr bwMode="auto">
          <a:xfrm>
            <a:off x="3495485" y="1602872"/>
            <a:ext cx="845140" cy="1299839"/>
            <a:chOff x="1976" y="1778"/>
            <a:chExt cx="686" cy="1143"/>
          </a:xfrm>
        </p:grpSpPr>
        <p:sp>
          <p:nvSpPr>
            <p:cNvPr id="187" name="Line 22"/>
            <p:cNvSpPr>
              <a:spLocks noChangeShapeType="1"/>
            </p:cNvSpPr>
            <p:nvPr/>
          </p:nvSpPr>
          <p:spPr bwMode="auto">
            <a:xfrm flipH="1">
              <a:off x="1976" y="1778"/>
              <a:ext cx="686" cy="1143"/>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188" name="Text Box 27"/>
            <p:cNvSpPr txBox="1">
              <a:spLocks noChangeArrowheads="1"/>
            </p:cNvSpPr>
            <p:nvPr/>
          </p:nvSpPr>
          <p:spPr bwMode="auto">
            <a:xfrm rot="18143965">
              <a:off x="2090" y="1960"/>
              <a:ext cx="56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189" name="Group 54"/>
          <p:cNvGrpSpPr>
            <a:grpSpLocks/>
          </p:cNvGrpSpPr>
          <p:nvPr/>
        </p:nvGrpSpPr>
        <p:grpSpPr bwMode="auto">
          <a:xfrm>
            <a:off x="2130448" y="1725689"/>
            <a:ext cx="3737837" cy="1457910"/>
            <a:chOff x="868" y="1886"/>
            <a:chExt cx="3034" cy="1282"/>
          </a:xfrm>
        </p:grpSpPr>
        <p:sp>
          <p:nvSpPr>
            <p:cNvPr id="190" name="Line 20"/>
            <p:cNvSpPr>
              <a:spLocks noChangeShapeType="1"/>
            </p:cNvSpPr>
            <p:nvPr/>
          </p:nvSpPr>
          <p:spPr bwMode="auto">
            <a:xfrm>
              <a:off x="868" y="1886"/>
              <a:ext cx="3034" cy="1282"/>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191" name="Text Box 28"/>
            <p:cNvSpPr txBox="1">
              <a:spLocks noChangeArrowheads="1"/>
            </p:cNvSpPr>
            <p:nvPr/>
          </p:nvSpPr>
          <p:spPr bwMode="auto">
            <a:xfrm rot="1357240">
              <a:off x="1504" y="2030"/>
              <a:ext cx="525" cy="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192" name="Group 58"/>
          <p:cNvGrpSpPr>
            <a:grpSpLocks/>
          </p:cNvGrpSpPr>
          <p:nvPr/>
        </p:nvGrpSpPr>
        <p:grpSpPr bwMode="auto">
          <a:xfrm>
            <a:off x="3691370" y="1725689"/>
            <a:ext cx="3379329" cy="1486341"/>
            <a:chOff x="2135" y="1886"/>
            <a:chExt cx="2743" cy="1307"/>
          </a:xfrm>
        </p:grpSpPr>
        <p:sp>
          <p:nvSpPr>
            <p:cNvPr id="193" name="Line 21"/>
            <p:cNvSpPr>
              <a:spLocks noChangeShapeType="1"/>
            </p:cNvSpPr>
            <p:nvPr/>
          </p:nvSpPr>
          <p:spPr bwMode="auto">
            <a:xfrm flipV="1">
              <a:off x="2135" y="1886"/>
              <a:ext cx="2743" cy="130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194" name="Text Box 29"/>
            <p:cNvSpPr txBox="1">
              <a:spLocks noChangeArrowheads="1"/>
            </p:cNvSpPr>
            <p:nvPr/>
          </p:nvSpPr>
          <p:spPr bwMode="auto">
            <a:xfrm rot="20118828">
              <a:off x="3664" y="2096"/>
              <a:ext cx="525" cy="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195" name="Group 57"/>
          <p:cNvGrpSpPr>
            <a:grpSpLocks/>
          </p:cNvGrpSpPr>
          <p:nvPr/>
        </p:nvGrpSpPr>
        <p:grpSpPr bwMode="auto">
          <a:xfrm>
            <a:off x="1935794" y="1788235"/>
            <a:ext cx="1495627" cy="1299837"/>
            <a:chOff x="710" y="1941"/>
            <a:chExt cx="1214" cy="1143"/>
          </a:xfrm>
        </p:grpSpPr>
        <p:sp>
          <p:nvSpPr>
            <p:cNvPr id="196" name="Line 24"/>
            <p:cNvSpPr>
              <a:spLocks noChangeShapeType="1"/>
            </p:cNvSpPr>
            <p:nvPr/>
          </p:nvSpPr>
          <p:spPr bwMode="auto">
            <a:xfrm flipH="1" flipV="1">
              <a:off x="710" y="1941"/>
              <a:ext cx="1214" cy="1143"/>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197" name="Text Box 30"/>
            <p:cNvSpPr txBox="1">
              <a:spLocks noChangeArrowheads="1"/>
            </p:cNvSpPr>
            <p:nvPr/>
          </p:nvSpPr>
          <p:spPr bwMode="auto">
            <a:xfrm rot="2570439">
              <a:off x="1202" y="2383"/>
              <a:ext cx="525" cy="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198" name="Group 56"/>
          <p:cNvGrpSpPr>
            <a:grpSpLocks/>
          </p:cNvGrpSpPr>
          <p:nvPr/>
        </p:nvGrpSpPr>
        <p:grpSpPr bwMode="auto">
          <a:xfrm>
            <a:off x="4600574" y="1788235"/>
            <a:ext cx="1170384" cy="1114471"/>
            <a:chOff x="2873" y="1941"/>
            <a:chExt cx="950" cy="980"/>
          </a:xfrm>
        </p:grpSpPr>
        <p:sp>
          <p:nvSpPr>
            <p:cNvPr id="199" name="Line 23"/>
            <p:cNvSpPr>
              <a:spLocks noChangeShapeType="1"/>
            </p:cNvSpPr>
            <p:nvPr/>
          </p:nvSpPr>
          <p:spPr bwMode="auto">
            <a:xfrm>
              <a:off x="2873" y="1941"/>
              <a:ext cx="950" cy="98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00" name="Text Box 31"/>
            <p:cNvSpPr txBox="1">
              <a:spLocks noChangeArrowheads="1"/>
            </p:cNvSpPr>
            <p:nvPr/>
          </p:nvSpPr>
          <p:spPr bwMode="auto">
            <a:xfrm rot="2686426">
              <a:off x="3064" y="2116"/>
              <a:ext cx="525" cy="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201" name="Group 34"/>
          <p:cNvGrpSpPr>
            <a:grpSpLocks/>
          </p:cNvGrpSpPr>
          <p:nvPr/>
        </p:nvGrpSpPr>
        <p:grpSpPr bwMode="auto">
          <a:xfrm>
            <a:off x="4262172" y="1333100"/>
            <a:ext cx="322607" cy="277280"/>
            <a:chOff x="806" y="3124"/>
            <a:chExt cx="237" cy="214"/>
          </a:xfrm>
        </p:grpSpPr>
        <p:sp>
          <p:nvSpPr>
            <p:cNvPr id="202" name="Oval 35"/>
            <p:cNvSpPr>
              <a:spLocks noChangeArrowheads="1"/>
            </p:cNvSpPr>
            <p:nvPr/>
          </p:nvSpPr>
          <p:spPr bwMode="auto">
            <a:xfrm>
              <a:off x="869" y="3173"/>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03" name="Text Box 36"/>
            <p:cNvSpPr txBox="1">
              <a:spLocks noChangeArrowheads="1"/>
            </p:cNvSpPr>
            <p:nvPr/>
          </p:nvSpPr>
          <p:spPr bwMode="auto">
            <a:xfrm>
              <a:off x="806" y="3124"/>
              <a:ext cx="237" cy="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grpSp>
        <p:nvGrpSpPr>
          <p:cNvPr id="204" name="Group 37"/>
          <p:cNvGrpSpPr>
            <a:grpSpLocks/>
          </p:cNvGrpSpPr>
          <p:nvPr/>
        </p:nvGrpSpPr>
        <p:grpSpPr bwMode="auto">
          <a:xfrm>
            <a:off x="3477635" y="3116986"/>
            <a:ext cx="323170" cy="277280"/>
            <a:chOff x="800" y="3198"/>
            <a:chExt cx="239" cy="214"/>
          </a:xfrm>
        </p:grpSpPr>
        <p:sp>
          <p:nvSpPr>
            <p:cNvPr id="205" name="Oval 38"/>
            <p:cNvSpPr>
              <a:spLocks noChangeArrowheads="1"/>
            </p:cNvSpPr>
            <p:nvPr/>
          </p:nvSpPr>
          <p:spPr bwMode="auto">
            <a:xfrm>
              <a:off x="864" y="3248"/>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06" name="Text Box 39"/>
            <p:cNvSpPr txBox="1">
              <a:spLocks noChangeArrowheads="1"/>
            </p:cNvSpPr>
            <p:nvPr/>
          </p:nvSpPr>
          <p:spPr bwMode="auto">
            <a:xfrm>
              <a:off x="800" y="3198"/>
              <a:ext cx="239" cy="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grpSp>
        <p:nvGrpSpPr>
          <p:cNvPr id="207" name="Group 40"/>
          <p:cNvGrpSpPr>
            <a:grpSpLocks/>
          </p:cNvGrpSpPr>
          <p:nvPr/>
        </p:nvGrpSpPr>
        <p:grpSpPr bwMode="auto">
          <a:xfrm>
            <a:off x="1864300" y="1409229"/>
            <a:ext cx="323170" cy="277280"/>
            <a:chOff x="796" y="3199"/>
            <a:chExt cx="239" cy="214"/>
          </a:xfrm>
        </p:grpSpPr>
        <p:sp>
          <p:nvSpPr>
            <p:cNvPr id="208" name="Oval 41"/>
            <p:cNvSpPr>
              <a:spLocks noChangeArrowheads="1"/>
            </p:cNvSpPr>
            <p:nvPr/>
          </p:nvSpPr>
          <p:spPr bwMode="auto">
            <a:xfrm>
              <a:off x="864" y="3248"/>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09" name="Text Box 42"/>
            <p:cNvSpPr txBox="1">
              <a:spLocks noChangeArrowheads="1"/>
            </p:cNvSpPr>
            <p:nvPr/>
          </p:nvSpPr>
          <p:spPr bwMode="auto">
            <a:xfrm>
              <a:off x="796" y="3199"/>
              <a:ext cx="239" cy="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grpSp>
        <p:nvGrpSpPr>
          <p:cNvPr id="210" name="Group 43"/>
          <p:cNvGrpSpPr>
            <a:grpSpLocks/>
          </p:cNvGrpSpPr>
          <p:nvPr/>
        </p:nvGrpSpPr>
        <p:grpSpPr bwMode="auto">
          <a:xfrm>
            <a:off x="1922182" y="1565735"/>
            <a:ext cx="322607" cy="277611"/>
            <a:chOff x="796" y="3199"/>
            <a:chExt cx="237" cy="215"/>
          </a:xfrm>
        </p:grpSpPr>
        <p:sp>
          <p:nvSpPr>
            <p:cNvPr id="211" name="Oval 44"/>
            <p:cNvSpPr>
              <a:spLocks noChangeArrowheads="1"/>
            </p:cNvSpPr>
            <p:nvPr/>
          </p:nvSpPr>
          <p:spPr bwMode="auto">
            <a:xfrm>
              <a:off x="864" y="3248"/>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12" name="Text Box 45"/>
            <p:cNvSpPr txBox="1">
              <a:spLocks noChangeArrowheads="1"/>
            </p:cNvSpPr>
            <p:nvPr/>
          </p:nvSpPr>
          <p:spPr bwMode="auto">
            <a:xfrm>
              <a:off x="796" y="3199"/>
              <a:ext cx="237" cy="2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grpSp>
        <p:nvGrpSpPr>
          <p:cNvPr id="213" name="Group 46"/>
          <p:cNvGrpSpPr>
            <a:grpSpLocks/>
          </p:cNvGrpSpPr>
          <p:nvPr/>
        </p:nvGrpSpPr>
        <p:grpSpPr bwMode="auto">
          <a:xfrm>
            <a:off x="4365895" y="1585219"/>
            <a:ext cx="323170" cy="277611"/>
            <a:chOff x="800" y="3194"/>
            <a:chExt cx="239" cy="215"/>
          </a:xfrm>
        </p:grpSpPr>
        <p:sp>
          <p:nvSpPr>
            <p:cNvPr id="214" name="Oval 47"/>
            <p:cNvSpPr>
              <a:spLocks noChangeArrowheads="1"/>
            </p:cNvSpPr>
            <p:nvPr/>
          </p:nvSpPr>
          <p:spPr bwMode="auto">
            <a:xfrm>
              <a:off x="864" y="3248"/>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15" name="Text Box 48"/>
            <p:cNvSpPr txBox="1">
              <a:spLocks noChangeArrowheads="1"/>
            </p:cNvSpPr>
            <p:nvPr/>
          </p:nvSpPr>
          <p:spPr bwMode="auto">
            <a:xfrm>
              <a:off x="800" y="3194"/>
              <a:ext cx="239" cy="2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grpSp>
        <p:nvGrpSpPr>
          <p:cNvPr id="216" name="Group 49"/>
          <p:cNvGrpSpPr>
            <a:grpSpLocks/>
          </p:cNvGrpSpPr>
          <p:nvPr/>
        </p:nvGrpSpPr>
        <p:grpSpPr bwMode="auto">
          <a:xfrm>
            <a:off x="3298308" y="2994169"/>
            <a:ext cx="322607" cy="277280"/>
            <a:chOff x="796" y="3199"/>
            <a:chExt cx="237" cy="214"/>
          </a:xfrm>
        </p:grpSpPr>
        <p:sp>
          <p:nvSpPr>
            <p:cNvPr id="217" name="Oval 50"/>
            <p:cNvSpPr>
              <a:spLocks noChangeArrowheads="1"/>
            </p:cNvSpPr>
            <p:nvPr/>
          </p:nvSpPr>
          <p:spPr bwMode="auto">
            <a:xfrm>
              <a:off x="864" y="3248"/>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18" name="Text Box 51"/>
            <p:cNvSpPr txBox="1">
              <a:spLocks noChangeArrowheads="1"/>
            </p:cNvSpPr>
            <p:nvPr/>
          </p:nvSpPr>
          <p:spPr bwMode="auto">
            <a:xfrm>
              <a:off x="796" y="3199"/>
              <a:ext cx="237" cy="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08281" y="3351137"/>
            <a:ext cx="503237" cy="503238"/>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3968" y="1825326"/>
            <a:ext cx="503237" cy="503238"/>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234" y="1955026"/>
            <a:ext cx="503237" cy="503238"/>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97515" y="3299257"/>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55" name="AutoShape 5"/>
          <p:cNvSpPr>
            <a:spLocks noChangeArrowheads="1"/>
          </p:cNvSpPr>
          <p:nvPr/>
        </p:nvSpPr>
        <p:spPr bwMode="auto">
          <a:xfrm>
            <a:off x="556963" y="611054"/>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3507448" y="605358"/>
            <a:ext cx="21291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6.4.1  </a:t>
            </a:r>
            <a:r>
              <a:rPr lang="zh-CN" altLang="en-US" sz="2000" b="1" dirty="0">
                <a:solidFill>
                  <a:schemeClr val="bg1"/>
                </a:solidFill>
                <a:latin typeface="微软雅黑 Light" panose="020B0502040204020203" pitchFamily="34" charset="-122"/>
                <a:ea typeface="微软雅黑 Light" panose="020B0502040204020203" pitchFamily="34" charset="-122"/>
              </a:rPr>
              <a:t>万维网概述</a:t>
            </a:r>
          </a:p>
        </p:txBody>
      </p:sp>
      <p:sp>
        <p:nvSpPr>
          <p:cNvPr id="2" name="矩形 1"/>
          <p:cNvSpPr/>
          <p:nvPr/>
        </p:nvSpPr>
        <p:spPr>
          <a:xfrm>
            <a:off x="660953" y="2999098"/>
            <a:ext cx="2504428" cy="1220847"/>
          </a:xfrm>
          <a:prstGeom prst="rect">
            <a:avLst/>
          </a:prstGeom>
        </p:spPr>
        <p:txBody>
          <a:bodyPr wrap="square">
            <a:spAutoFit/>
          </a:bodyPr>
          <a:lstStyle/>
          <a:p>
            <a:pPr>
              <a:lnSpc>
                <a:spcPts val="2200"/>
              </a:lnSpc>
            </a:pPr>
            <a:r>
              <a:rPr lang="zh-CN" altLang="en-US" sz="1400" b="1" dirty="0">
                <a:solidFill>
                  <a:srgbClr val="000099"/>
                </a:solidFill>
                <a:latin typeface="微软雅黑 Light" panose="020B0502040204020203" pitchFamily="34" charset="-122"/>
                <a:ea typeface="微软雅黑 Light" panose="020B0502040204020203" pitchFamily="34" charset="-122"/>
              </a:rPr>
              <a:t>万维网 </a:t>
            </a:r>
            <a:r>
              <a:rPr lang="en-US" altLang="zh-CN" sz="1400" b="1" dirty="0">
                <a:solidFill>
                  <a:srgbClr val="000099"/>
                </a:solidFill>
                <a:latin typeface="微软雅黑 Light" panose="020B0502040204020203" pitchFamily="34" charset="-122"/>
                <a:ea typeface="微软雅黑 Light" panose="020B0502040204020203" pitchFamily="34" charset="-122"/>
              </a:rPr>
              <a:t>WWW (World Wide Web) </a:t>
            </a:r>
            <a:r>
              <a:rPr lang="zh-CN" altLang="en-US" sz="1400" b="1" dirty="0">
                <a:solidFill>
                  <a:srgbClr val="000099"/>
                </a:solidFill>
                <a:latin typeface="微软雅黑 Light" panose="020B0502040204020203" pitchFamily="34" charset="-122"/>
                <a:ea typeface="微软雅黑 Light" panose="020B0502040204020203" pitchFamily="34" charset="-122"/>
              </a:rPr>
              <a:t>是一个大规模的、联机式的信息储藏所，并非某种特殊的计算机网络。</a:t>
            </a:r>
          </a:p>
        </p:txBody>
      </p:sp>
      <p:sp>
        <p:nvSpPr>
          <p:cNvPr id="3" name="矩形 2"/>
          <p:cNvSpPr/>
          <p:nvPr/>
        </p:nvSpPr>
        <p:spPr>
          <a:xfrm>
            <a:off x="6605246" y="3278713"/>
            <a:ext cx="1792760" cy="628762"/>
          </a:xfrm>
          <a:prstGeom prst="rect">
            <a:avLst/>
          </a:prstGeom>
          <a:noFill/>
        </p:spPr>
        <p:txBody>
          <a:bodyPr wrap="square">
            <a:spAutoFit/>
          </a:bodyPr>
          <a:lstStyle/>
          <a:p>
            <a:pPr>
              <a:lnSpc>
                <a:spcPts val="2200"/>
              </a:lnSpc>
            </a:pPr>
            <a:r>
              <a:rPr lang="zh-CN" altLang="en-US" sz="1400" b="1" dirty="0">
                <a:solidFill>
                  <a:srgbClr val="C00000"/>
                </a:solidFill>
                <a:latin typeface="微软雅黑 Light" panose="020B0502040204020203" pitchFamily="34" charset="-122"/>
                <a:ea typeface="微软雅黑 Light" panose="020B0502040204020203" pitchFamily="34" charset="-122"/>
              </a:rPr>
              <a:t>访问方法：链接。</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nSpc>
                <a:spcPts val="2200"/>
              </a:lnSpc>
            </a:pPr>
            <a:r>
              <a:rPr lang="zh-CN" altLang="en-US" sz="1400" b="1" dirty="0">
                <a:solidFill>
                  <a:srgbClr val="C00000"/>
                </a:solidFill>
                <a:latin typeface="微软雅黑 Light" panose="020B0502040204020203" pitchFamily="34" charset="-122"/>
                <a:ea typeface="微软雅黑 Light" panose="020B0502040204020203" pitchFamily="34" charset="-122"/>
              </a:rPr>
              <a:t>提供分布式服务。</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83"/>
                                        </p:tgtEl>
                                        <p:attrNameLst>
                                          <p:attrName>style.visibility</p:attrName>
                                        </p:attrNameLst>
                                      </p:cBhvr>
                                      <p:to>
                                        <p:strVal val="visible"/>
                                      </p:to>
                                    </p:set>
                                    <p:animEffect transition="in" filter="wipe(left)">
                                      <p:cBhvr>
                                        <p:cTn id="7" dur="1500"/>
                                        <p:tgtEl>
                                          <p:spTgt spid="183"/>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89"/>
                                        </p:tgtEl>
                                        <p:attrNameLst>
                                          <p:attrName>style.visibility</p:attrName>
                                        </p:attrNameLst>
                                      </p:cBhvr>
                                      <p:to>
                                        <p:strVal val="visible"/>
                                      </p:to>
                                    </p:set>
                                    <p:animEffect transition="in" filter="wipe(left)">
                                      <p:cBhvr>
                                        <p:cTn id="11" dur="1500"/>
                                        <p:tgtEl>
                                          <p:spTgt spid="189"/>
                                        </p:tgtEl>
                                      </p:cBhvr>
                                    </p:animEffect>
                                  </p:childTnLst>
                                </p:cTn>
                              </p:par>
                            </p:childTnLst>
                          </p:cTn>
                        </p:par>
                        <p:par>
                          <p:cTn id="12" fill="hold">
                            <p:stCondLst>
                              <p:cond delay="3000"/>
                            </p:stCondLst>
                            <p:childTnLst>
                              <p:par>
                                <p:cTn id="13" presetID="22" presetClass="entr" presetSubtype="1" fill="hold" nodeType="afterEffect">
                                  <p:stCondLst>
                                    <p:cond delay="0"/>
                                  </p:stCondLst>
                                  <p:childTnLst>
                                    <p:set>
                                      <p:cBhvr>
                                        <p:cTn id="14" dur="1" fill="hold">
                                          <p:stCondLst>
                                            <p:cond delay="0"/>
                                          </p:stCondLst>
                                        </p:cTn>
                                        <p:tgtEl>
                                          <p:spTgt spid="186"/>
                                        </p:tgtEl>
                                        <p:attrNameLst>
                                          <p:attrName>style.visibility</p:attrName>
                                        </p:attrNameLst>
                                      </p:cBhvr>
                                      <p:to>
                                        <p:strVal val="visible"/>
                                      </p:to>
                                    </p:set>
                                    <p:animEffect transition="in" filter="wipe(up)">
                                      <p:cBhvr>
                                        <p:cTn id="15" dur="1500"/>
                                        <p:tgtEl>
                                          <p:spTgt spid="186"/>
                                        </p:tgtEl>
                                      </p:cBhvr>
                                    </p:animEffect>
                                  </p:childTnLst>
                                </p:cTn>
                              </p:par>
                            </p:childTnLst>
                          </p:cTn>
                        </p:par>
                        <p:par>
                          <p:cTn id="16" fill="hold">
                            <p:stCondLst>
                              <p:cond delay="4500"/>
                            </p:stCondLst>
                            <p:childTnLst>
                              <p:par>
                                <p:cTn id="17" presetID="22" presetClass="entr" presetSubtype="1" fill="hold" nodeType="afterEffect">
                                  <p:stCondLst>
                                    <p:cond delay="0"/>
                                  </p:stCondLst>
                                  <p:childTnLst>
                                    <p:set>
                                      <p:cBhvr>
                                        <p:cTn id="18" dur="1" fill="hold">
                                          <p:stCondLst>
                                            <p:cond delay="0"/>
                                          </p:stCondLst>
                                        </p:cTn>
                                        <p:tgtEl>
                                          <p:spTgt spid="198"/>
                                        </p:tgtEl>
                                        <p:attrNameLst>
                                          <p:attrName>style.visibility</p:attrName>
                                        </p:attrNameLst>
                                      </p:cBhvr>
                                      <p:to>
                                        <p:strVal val="visible"/>
                                      </p:to>
                                    </p:set>
                                    <p:animEffect transition="in" filter="wipe(up)">
                                      <p:cBhvr>
                                        <p:cTn id="19" dur="1500"/>
                                        <p:tgtEl>
                                          <p:spTgt spid="198"/>
                                        </p:tgtEl>
                                      </p:cBhvr>
                                    </p:animEffect>
                                  </p:childTnLst>
                                </p:cTn>
                              </p:par>
                            </p:childTnLst>
                          </p:cTn>
                        </p:par>
                        <p:par>
                          <p:cTn id="20" fill="hold">
                            <p:stCondLst>
                              <p:cond delay="6000"/>
                            </p:stCondLst>
                            <p:childTnLst>
                              <p:par>
                                <p:cTn id="21" presetID="22" presetClass="entr" presetSubtype="2" fill="hold" nodeType="afterEffect">
                                  <p:stCondLst>
                                    <p:cond delay="0"/>
                                  </p:stCondLst>
                                  <p:childTnLst>
                                    <p:set>
                                      <p:cBhvr>
                                        <p:cTn id="22" dur="1" fill="hold">
                                          <p:stCondLst>
                                            <p:cond delay="0"/>
                                          </p:stCondLst>
                                        </p:cTn>
                                        <p:tgtEl>
                                          <p:spTgt spid="195"/>
                                        </p:tgtEl>
                                        <p:attrNameLst>
                                          <p:attrName>style.visibility</p:attrName>
                                        </p:attrNameLst>
                                      </p:cBhvr>
                                      <p:to>
                                        <p:strVal val="visible"/>
                                      </p:to>
                                    </p:set>
                                    <p:animEffect transition="in" filter="wipe(right)">
                                      <p:cBhvr>
                                        <p:cTn id="23" dur="1500"/>
                                        <p:tgtEl>
                                          <p:spTgt spid="195"/>
                                        </p:tgtEl>
                                      </p:cBhvr>
                                    </p:animEffect>
                                  </p:childTnLst>
                                </p:cTn>
                              </p:par>
                            </p:childTnLst>
                          </p:cTn>
                        </p:par>
                        <p:par>
                          <p:cTn id="24" fill="hold">
                            <p:stCondLst>
                              <p:cond delay="7500"/>
                            </p:stCondLst>
                            <p:childTnLst>
                              <p:par>
                                <p:cTn id="25" presetID="22" presetClass="entr" presetSubtype="8" fill="hold" nodeType="afterEffect">
                                  <p:stCondLst>
                                    <p:cond delay="0"/>
                                  </p:stCondLst>
                                  <p:childTnLst>
                                    <p:set>
                                      <p:cBhvr>
                                        <p:cTn id="26" dur="1" fill="hold">
                                          <p:stCondLst>
                                            <p:cond delay="0"/>
                                          </p:stCondLst>
                                        </p:cTn>
                                        <p:tgtEl>
                                          <p:spTgt spid="192"/>
                                        </p:tgtEl>
                                        <p:attrNameLst>
                                          <p:attrName>style.visibility</p:attrName>
                                        </p:attrNameLst>
                                      </p:cBhvr>
                                      <p:to>
                                        <p:strVal val="visible"/>
                                      </p:to>
                                    </p:set>
                                    <p:animEffect transition="in" filter="wipe(left)">
                                      <p:cBhvr>
                                        <p:cTn id="27" dur="1500"/>
                                        <p:tgtEl>
                                          <p:spTgt spid="1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884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950346" y="585636"/>
            <a:ext cx="540924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万维网是分布式超媒体 </a:t>
            </a:r>
            <a:r>
              <a:rPr lang="en-US" altLang="zh-CN" sz="2000" b="1" dirty="0">
                <a:solidFill>
                  <a:schemeClr val="bg1"/>
                </a:solidFill>
                <a:latin typeface="微软雅黑 Light" panose="020B0502040204020203" pitchFamily="34" charset="-122"/>
                <a:ea typeface="微软雅黑 Light" panose="020B0502040204020203" pitchFamily="34" charset="-122"/>
              </a:rPr>
              <a:t>(hypermedia) </a:t>
            </a:r>
            <a:r>
              <a:rPr lang="zh-CN" altLang="en-US" sz="2000" b="1" dirty="0">
                <a:solidFill>
                  <a:schemeClr val="bg1"/>
                </a:solidFill>
                <a:latin typeface="微软雅黑 Light" panose="020B0502040204020203" pitchFamily="34" charset="-122"/>
                <a:ea typeface="微软雅黑 Light" panose="020B0502040204020203" pitchFamily="34" charset="-122"/>
              </a:rPr>
              <a:t>系统</a:t>
            </a:r>
          </a:p>
        </p:txBody>
      </p:sp>
      <p:sp>
        <p:nvSpPr>
          <p:cNvPr id="4" name="Rectangle 68"/>
          <p:cNvSpPr>
            <a:spLocks noChangeArrowheads="1"/>
          </p:cNvSpPr>
          <p:nvPr/>
        </p:nvSpPr>
        <p:spPr bwMode="auto">
          <a:xfrm>
            <a:off x="556963" y="981148"/>
            <a:ext cx="8048776" cy="336245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是</a:t>
            </a:r>
            <a:r>
              <a:rPr lang="zh-CN" altLang="en-US" sz="2000" b="1" dirty="0">
                <a:solidFill>
                  <a:srgbClr val="C00000"/>
                </a:solidFill>
                <a:latin typeface="微软雅黑 Light" panose="020B0502040204020203" pitchFamily="34" charset="-122"/>
                <a:ea typeface="微软雅黑 Light" panose="020B0502040204020203" pitchFamily="34" charset="-122"/>
              </a:rPr>
              <a:t>超文本</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(hypertext) </a:t>
            </a:r>
            <a:r>
              <a:rPr lang="zh-CN" altLang="en-US" sz="2000" b="1" dirty="0">
                <a:latin typeface="微软雅黑 Light" panose="020B0502040204020203" pitchFamily="34" charset="-122"/>
                <a:ea typeface="微软雅黑 Light" panose="020B0502040204020203" pitchFamily="34" charset="-122"/>
              </a:rPr>
              <a:t>系统的</a:t>
            </a:r>
            <a:r>
              <a:rPr lang="zh-CN" altLang="en-US" sz="2000" b="1" dirty="0">
                <a:solidFill>
                  <a:srgbClr val="C00000"/>
                </a:solidFill>
                <a:latin typeface="微软雅黑 Light" panose="020B0502040204020203" pitchFamily="34" charset="-122"/>
                <a:ea typeface="微软雅黑 Light" panose="020B0502040204020203" pitchFamily="34" charset="-122"/>
              </a:rPr>
              <a:t>扩充</a:t>
            </a:r>
          </a:p>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超文本：</a:t>
            </a:r>
            <a:r>
              <a:rPr lang="zh-CN" altLang="en-US" sz="2000" b="1" dirty="0">
                <a:latin typeface="微软雅黑 Light" panose="020B0502040204020203" pitchFamily="34" charset="-122"/>
                <a:ea typeface="微软雅黑 Light" panose="020B0502040204020203" pitchFamily="34" charset="-122"/>
              </a:rPr>
              <a:t>由多个信息源</a:t>
            </a:r>
            <a:r>
              <a:rPr lang="zh-CN" altLang="en-US" sz="2000" b="1" dirty="0">
                <a:solidFill>
                  <a:srgbClr val="0000FF"/>
                </a:solidFill>
                <a:latin typeface="微软雅黑 Light" panose="020B0502040204020203" pitchFamily="34" charset="-122"/>
                <a:ea typeface="微软雅黑 Light" panose="020B0502040204020203" pitchFamily="34" charset="-122"/>
              </a:rPr>
              <a:t>链接</a:t>
            </a:r>
            <a:r>
              <a:rPr lang="zh-CN" altLang="en-US" sz="2000" b="1" dirty="0">
                <a:latin typeface="微软雅黑 Light" panose="020B0502040204020203" pitchFamily="34" charset="-122"/>
                <a:ea typeface="微软雅黑 Light" panose="020B0502040204020203" pitchFamily="34" charset="-122"/>
              </a:rPr>
              <a:t>成。</a:t>
            </a:r>
            <a:r>
              <a:rPr lang="zh-CN" altLang="en-US" sz="2000" b="1" dirty="0">
                <a:solidFill>
                  <a:srgbClr val="0000FF"/>
                </a:solidFill>
                <a:latin typeface="微软雅黑 Light" panose="020B0502040204020203" pitchFamily="34" charset="-122"/>
                <a:ea typeface="微软雅黑 Light" panose="020B0502040204020203" pitchFamily="34" charset="-122"/>
              </a:rPr>
              <a:t>是万维网的基础</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超媒体与超文本的</a:t>
            </a:r>
            <a:r>
              <a:rPr lang="zh-CN" altLang="en-US" sz="2000" b="1" dirty="0">
                <a:solidFill>
                  <a:srgbClr val="C00000"/>
                </a:solidFill>
                <a:latin typeface="微软雅黑 Light" panose="020B0502040204020203" pitchFamily="34" charset="-122"/>
                <a:ea typeface="微软雅黑 Light" panose="020B0502040204020203" pitchFamily="34" charset="-122"/>
              </a:rPr>
              <a:t>区别：</a:t>
            </a:r>
            <a:r>
              <a:rPr lang="zh-CN" altLang="en-US" sz="2000" b="1" dirty="0">
                <a:solidFill>
                  <a:srgbClr val="0000FF"/>
                </a:solidFill>
                <a:latin typeface="微软雅黑 Light" panose="020B0502040204020203" pitchFamily="34" charset="-122"/>
                <a:ea typeface="微软雅黑 Light" panose="020B0502040204020203" pitchFamily="34" charset="-122"/>
              </a:rPr>
              <a:t>文档内容不同</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超文本文档仅包含文本信息</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超媒体文档还包含其他信息，如图形、图像、声音、动画，甚至活动视频图像等</a:t>
            </a:r>
            <a:endParaRPr lang="en-US" altLang="zh-CN" sz="2000" b="1" dirty="0">
              <a:latin typeface="微软雅黑 Light" panose="020B0502040204020203" pitchFamily="34" charset="-122"/>
              <a:ea typeface="微软雅黑 Light" panose="020B0502040204020203" pitchFamily="34" charset="-122"/>
            </a:endParaRPr>
          </a:p>
          <a:p>
            <a:pPr marL="285750" lvl="1" indent="-285750" eaLnBrk="0" hangingPunct="0">
              <a:lnSpc>
                <a:spcPts val="3300"/>
              </a:lnSpc>
              <a:buClr>
                <a:srgbClr val="0070C0"/>
              </a:buClr>
              <a:buSzPct val="85000"/>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分布式系统</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信息分布在整个互联网上。每台主机上的文档都独立进行管理</a:t>
            </a:r>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2880000" y="144000"/>
            <a:ext cx="3384000" cy="338554"/>
          </a:xfrm>
        </p:spPr>
        <p:txBody>
          <a:bodyPr/>
          <a:lstStyle/>
          <a:p>
            <a:r>
              <a:rPr lang="zh-CN" altLang="en-US" dirty="0"/>
              <a:t> 万维网的工作方式</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482554"/>
            <a:ext cx="8172000" cy="4284000"/>
          </a:xfrm>
        </p:spPr>
        <p:txBody>
          <a:bodyPr/>
          <a:lstStyle/>
          <a:p>
            <a:r>
              <a:rPr lang="zh-CN" altLang="en-US" dirty="0"/>
              <a:t>以客户服务器 </a:t>
            </a:r>
            <a:r>
              <a:rPr lang="en-US" altLang="zh-CN" dirty="0"/>
              <a:t>– C/S </a:t>
            </a:r>
            <a:r>
              <a:rPr lang="zh-CN" altLang="en-US" dirty="0"/>
              <a:t>方式工作</a:t>
            </a:r>
          </a:p>
          <a:p>
            <a:pPr lvl="1"/>
            <a:r>
              <a:rPr lang="zh-CN" altLang="en-US" dirty="0"/>
              <a:t>客户程序：浏览器</a:t>
            </a:r>
            <a:endParaRPr lang="en-US" altLang="zh-CN" dirty="0"/>
          </a:p>
          <a:p>
            <a:pPr lvl="1"/>
            <a:r>
              <a:rPr lang="zh-CN" altLang="en-US" dirty="0"/>
              <a:t>服务器程序：在万维网文档所驻留的主机上运行。这个计算机也称为万维网服务器</a:t>
            </a:r>
          </a:p>
          <a:p>
            <a:r>
              <a:rPr lang="zh-CN" altLang="en-US" dirty="0"/>
              <a:t>客户程序向服务器程序发出请求，服务器程序向客户程序送回客户所要的万维网文档</a:t>
            </a:r>
          </a:p>
          <a:p>
            <a:r>
              <a:rPr lang="zh-CN" altLang="en-US" dirty="0"/>
              <a:t>在一个客户程序主窗口上显示出的万维网文档称为页面 </a:t>
            </a:r>
            <a:r>
              <a:rPr lang="en-US" altLang="zh-CN" dirty="0"/>
              <a:t>(page)</a:t>
            </a:r>
            <a:endParaRPr lang="zh-CN" altLang="en-US" dirty="0"/>
          </a:p>
          <a:p>
            <a:endParaRPr lang="zh-CN" altLang="en-US" dirty="0"/>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2880000" y="144000"/>
            <a:ext cx="3384000" cy="338554"/>
          </a:xfrm>
        </p:spPr>
        <p:txBody>
          <a:bodyPr/>
          <a:lstStyle/>
          <a:p>
            <a:r>
              <a:rPr lang="zh-CN" altLang="en-US" dirty="0"/>
              <a:t>万维网必须解决的问题</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482554"/>
            <a:ext cx="8172000" cy="4284000"/>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2880000" y="144000"/>
            <a:ext cx="3384000"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482554"/>
            <a:ext cx="8172000" cy="4284000"/>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2880000" y="144000"/>
            <a:ext cx="3384000" cy="338554"/>
          </a:xfrm>
        </p:spPr>
        <p:txBody>
          <a:bodyPr/>
          <a:lstStyle/>
          <a:p>
            <a:r>
              <a:rPr lang="en-US" altLang="zh-CN" dirty="0"/>
              <a:t>1. URL </a:t>
            </a:r>
            <a:r>
              <a:rPr lang="zh-CN" altLang="en-US" dirty="0"/>
              <a:t>格式</a:t>
            </a:r>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482554"/>
            <a:ext cx="8172000" cy="4284000"/>
          </a:xfrm>
        </p:spPr>
        <p:txBody>
          <a:bodyPr/>
          <a:lstStyle/>
          <a:p>
            <a:r>
              <a:rPr lang="zh-CN" altLang="en-US" dirty="0"/>
              <a:t>由以冒号（</a:t>
            </a:r>
            <a:r>
              <a:rPr lang="en-US" altLang="zh-CN" dirty="0"/>
              <a:t>:</a:t>
            </a:r>
            <a:r>
              <a:rPr lang="zh-CN" altLang="en-US" dirty="0"/>
              <a:t>）隔开的两大部分组成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1025794" y="1831461"/>
            <a:ext cx="3895149" cy="369332"/>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800" dirty="0">
                <a:latin typeface="Montserrat" panose="00000500000000000000" pitchFamily="2" charset="0"/>
                <a:ea typeface="微软雅黑 Light" panose="020B0502040204020203" pitchFamily="34" charset="-122"/>
              </a:rPr>
              <a:t>&lt;</a:t>
            </a:r>
            <a:r>
              <a:rPr lang="zh-CN" altLang="en-US" sz="1800" dirty="0">
                <a:latin typeface="Montserrat" panose="00000500000000000000" pitchFamily="2" charset="0"/>
                <a:ea typeface="微软雅黑 Light" panose="020B0502040204020203" pitchFamily="34" charset="-122"/>
              </a:rPr>
              <a:t>协议</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主机</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端口</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路径</a:t>
            </a:r>
            <a:r>
              <a:rPr lang="en-US" altLang="zh-CN" sz="18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01802" y="2212230"/>
            <a:ext cx="431776"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221222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4095474"/>
            <a:ext cx="87638" cy="612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2007322" y="4032142"/>
            <a:ext cx="2807179" cy="73866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ftp —— </a:t>
            </a:r>
            <a:r>
              <a:rPr lang="zh-CN" altLang="en-US" sz="1400" dirty="0">
                <a:latin typeface="Montserrat" panose="00000500000000000000" pitchFamily="2" charset="0"/>
                <a:ea typeface="微软雅黑 Light" panose="020B0502040204020203" pitchFamily="34" charset="-122"/>
              </a:rPr>
              <a:t>文件传送协议 </a:t>
            </a:r>
            <a:r>
              <a:rPr lang="en-US" altLang="zh-CN" sz="1400" dirty="0">
                <a:latin typeface="Montserrat" panose="00000500000000000000" pitchFamily="2" charset="0"/>
                <a:ea typeface="微软雅黑 Light" panose="020B0502040204020203" pitchFamily="34" charset="-122"/>
              </a:rPr>
              <a:t>FTP</a:t>
            </a:r>
          </a:p>
          <a:p>
            <a:pPr eaLnBrk="1" hangingPunct="1"/>
            <a:r>
              <a:rPr lang="en-US" altLang="zh-CN" sz="1400" dirty="0">
                <a:latin typeface="Montserrat" panose="00000500000000000000" pitchFamily="2" charset="0"/>
                <a:ea typeface="微软雅黑 Light" panose="020B0502040204020203" pitchFamily="34" charset="-122"/>
              </a:rPr>
              <a:t>http —— </a:t>
            </a:r>
            <a:r>
              <a:rPr lang="zh-CN" altLang="en-US" sz="1400" dirty="0">
                <a:latin typeface="Montserrat" panose="00000500000000000000" pitchFamily="2" charset="0"/>
                <a:ea typeface="微软雅黑 Light" panose="020B0502040204020203" pitchFamily="34" charset="-122"/>
              </a:rPr>
              <a:t>超文本传送协议 </a:t>
            </a:r>
            <a:r>
              <a:rPr lang="en-US" altLang="zh-CN" sz="1400" dirty="0">
                <a:latin typeface="Montserrat" panose="00000500000000000000" pitchFamily="2" charset="0"/>
                <a:ea typeface="微软雅黑 Light" panose="020B0502040204020203" pitchFamily="34" charset="-122"/>
              </a:rPr>
              <a:t>HTTP</a:t>
            </a:r>
          </a:p>
          <a:p>
            <a:pPr eaLnBrk="1" hangingPunct="1"/>
            <a:r>
              <a:rPr lang="en-US" altLang="zh-CN" sz="1400" dirty="0">
                <a:latin typeface="Montserrat" panose="00000500000000000000" pitchFamily="2" charset="0"/>
                <a:ea typeface="微软雅黑 Light" panose="020B0502040204020203" pitchFamily="34" charset="-122"/>
              </a:rPr>
              <a:t>News —— USENET </a:t>
            </a:r>
            <a:r>
              <a:rPr lang="zh-CN" altLang="en-US" sz="1400" dirty="0">
                <a:latin typeface="Montserrat" panose="00000500000000000000" pitchFamily="2" charset="0"/>
                <a:ea typeface="微软雅黑 Light" panose="020B0502040204020203" pitchFamily="34" charset="-122"/>
              </a:rPr>
              <a:t>新闻</a:t>
            </a:r>
          </a:p>
        </p:txBody>
      </p:sp>
      <p:sp>
        <p:nvSpPr>
          <p:cNvPr id="19" name="Line 26"/>
          <p:cNvSpPr>
            <a:spLocks noChangeShapeType="1"/>
          </p:cNvSpPr>
          <p:nvPr/>
        </p:nvSpPr>
        <p:spPr bwMode="auto">
          <a:xfrm>
            <a:off x="1994085" y="2212212"/>
            <a:ext cx="360169"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77910" y="221221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72279" y="3709785"/>
            <a:ext cx="1082644" cy="3077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431556" y="2213578"/>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648512" y="221357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3021506" y="3192369"/>
            <a:ext cx="3814369" cy="5228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存放资源的主机在互联网中的域名</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也可以是用点分十进制的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3174422" y="2213579"/>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421303" y="221357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860596" y="2671044"/>
            <a:ext cx="1980394" cy="522867"/>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端口号</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4008921" y="2213579"/>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4230152" y="221357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858578" y="2178397"/>
            <a:ext cx="3036914" cy="73891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资源所在目录位置。区分大小写</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省略时使用所定义的默认路径</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后面可能还有一些选项</a:t>
            </a: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2880000" y="144000"/>
            <a:ext cx="3384000" cy="338554"/>
          </a:xfrm>
        </p:spPr>
        <p:txBody>
          <a:bodyPr/>
          <a:lstStyle/>
          <a:p>
            <a:r>
              <a:rPr lang="en-US" altLang="zh-CN" dirty="0"/>
              <a:t>2. </a:t>
            </a:r>
            <a:r>
              <a:rPr lang="zh-CN" altLang="en-US" dirty="0"/>
              <a:t>使用 </a:t>
            </a:r>
            <a:r>
              <a:rPr lang="en-US" altLang="zh-CN" dirty="0"/>
              <a:t>HTTPS </a:t>
            </a:r>
            <a:r>
              <a:rPr lang="zh-CN" altLang="en-US" dirty="0"/>
              <a:t>的 </a:t>
            </a:r>
            <a:r>
              <a:rPr lang="en-US" altLang="zh-CN" dirty="0"/>
              <a:t>URL</a:t>
            </a:r>
            <a:endParaRPr lang="zh-CN" altLang="en-US" dirty="0"/>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633560" y="2057837"/>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对角圆角矩形 7"/>
          <p:cNvSpPr/>
          <p:nvPr/>
        </p:nvSpPr>
        <p:spPr>
          <a:xfrm>
            <a:off x="1166833" y="3144096"/>
            <a:ext cx="6911847" cy="100177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1" name="AutoShape 5"/>
          <p:cNvSpPr>
            <a:spLocks noChangeArrowheads="1"/>
          </p:cNvSpPr>
          <p:nvPr/>
        </p:nvSpPr>
        <p:spPr bwMode="auto">
          <a:xfrm>
            <a:off x="556963" y="612642"/>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2" name="Rectangle 6"/>
          <p:cNvSpPr>
            <a:spLocks noChangeArrowheads="1"/>
          </p:cNvSpPr>
          <p:nvPr/>
        </p:nvSpPr>
        <p:spPr bwMode="auto">
          <a:xfrm>
            <a:off x="2554464" y="570371"/>
            <a:ext cx="40350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6.4.3  </a:t>
            </a:r>
            <a:r>
              <a:rPr lang="zh-CN" altLang="en-US" sz="2400" b="1" dirty="0">
                <a:solidFill>
                  <a:schemeClr val="bg1"/>
                </a:solidFill>
                <a:latin typeface="微软雅黑 Light" panose="020B0502040204020203" pitchFamily="34" charset="-122"/>
                <a:ea typeface="微软雅黑 Light" panose="020B0502040204020203" pitchFamily="34" charset="-122"/>
              </a:rPr>
              <a:t>超文本传送协议 </a:t>
            </a:r>
            <a:r>
              <a:rPr lang="en-US" altLang="zh-CN" sz="2400" b="1" dirty="0">
                <a:solidFill>
                  <a:schemeClr val="bg1"/>
                </a:solidFill>
                <a:latin typeface="微软雅黑 Light" panose="020B0502040204020203" pitchFamily="34" charset="-122"/>
                <a:ea typeface="微软雅黑 Light" panose="020B0502040204020203" pitchFamily="34" charset="-122"/>
              </a:rPr>
              <a:t>HTTP</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15" name="Rectangle 68"/>
          <p:cNvSpPr>
            <a:spLocks noChangeArrowheads="1"/>
          </p:cNvSpPr>
          <p:nvPr/>
        </p:nvSpPr>
        <p:spPr bwMode="auto">
          <a:xfrm>
            <a:off x="648070" y="1005402"/>
            <a:ext cx="7957669"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是</a:t>
            </a:r>
            <a:r>
              <a:rPr lang="zh-CN" altLang="en-US" sz="2000" b="1" dirty="0">
                <a:solidFill>
                  <a:srgbClr val="C00000"/>
                </a:solidFill>
                <a:latin typeface="微软雅黑 Light" panose="020B0502040204020203" pitchFamily="34" charset="-122"/>
                <a:ea typeface="微软雅黑 Light" panose="020B0502040204020203" pitchFamily="34" charset="-122"/>
              </a:rPr>
              <a:t>面向事务</a:t>
            </a:r>
            <a:r>
              <a:rPr lang="zh-CN" altLang="en-US" sz="2000" b="1" dirty="0">
                <a:latin typeface="微软雅黑 Light" panose="020B0502040204020203" pitchFamily="34" charset="-122"/>
                <a:ea typeface="微软雅黑 Light" panose="020B0502040204020203" pitchFamily="34" charset="-122"/>
              </a:rPr>
              <a:t>的 </a:t>
            </a:r>
            <a:r>
              <a:rPr lang="en-US" altLang="zh-CN" sz="2000" b="1" dirty="0">
                <a:latin typeface="微软雅黑 Light" panose="020B0502040204020203" pitchFamily="34" charset="-122"/>
                <a:ea typeface="微软雅黑 Light" panose="020B0502040204020203" pitchFamily="34" charset="-122"/>
              </a:rPr>
              <a:t>(transaction-oriented) </a:t>
            </a:r>
            <a:r>
              <a:rPr lang="zh-CN" altLang="en-US" sz="2000" b="1" dirty="0">
                <a:latin typeface="微软雅黑 Light" panose="020B0502040204020203" pitchFamily="34" charset="-122"/>
                <a:ea typeface="微软雅黑 Light" panose="020B0502040204020203" pitchFamily="34" charset="-122"/>
              </a:rPr>
              <a:t>应用层协议。</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TCP</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连接进行可靠的传送。</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定义了浏览器与万维网服务器通信的格式和规则。</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是万维网上能够</a:t>
            </a:r>
            <a:r>
              <a:rPr lang="zh-CN" altLang="en-US" sz="2000" b="1" dirty="0">
                <a:solidFill>
                  <a:srgbClr val="C00000"/>
                </a:solidFill>
                <a:latin typeface="微软雅黑 Light" panose="020B0502040204020203" pitchFamily="34" charset="-122"/>
                <a:ea typeface="微软雅黑 Light" panose="020B0502040204020203" pitchFamily="34" charset="-122"/>
              </a:rPr>
              <a:t>可靠地交换文件</a:t>
            </a:r>
            <a:r>
              <a:rPr lang="zh-CN" altLang="en-US" sz="2000" b="1" dirty="0">
                <a:latin typeface="微软雅黑 Light" panose="020B0502040204020203" pitchFamily="34" charset="-122"/>
                <a:ea typeface="微软雅黑 Light" panose="020B0502040204020203" pitchFamily="34" charset="-122"/>
              </a:rPr>
              <a:t>（包括文本、声音、图像等各种多媒体文件）的重要基础。</a:t>
            </a:r>
            <a:endParaRPr lang="en-US" altLang="zh-CN" sz="2000" b="1" dirty="0">
              <a:latin typeface="微软雅黑 Light" panose="020B0502040204020203" pitchFamily="34" charset="-122"/>
              <a:ea typeface="微软雅黑 Light" panose="020B0502040204020203" pitchFamily="34" charset="-122"/>
            </a:endParaRPr>
          </a:p>
        </p:txBody>
      </p:sp>
      <p:sp>
        <p:nvSpPr>
          <p:cNvPr id="2" name="矩形 1"/>
          <p:cNvSpPr/>
          <p:nvPr/>
        </p:nvSpPr>
        <p:spPr>
          <a:xfrm>
            <a:off x="1322774" y="3268300"/>
            <a:ext cx="6755906" cy="759182"/>
          </a:xfrm>
          <a:prstGeom prst="rect">
            <a:avLst/>
          </a:prstGeom>
        </p:spPr>
        <p:txBody>
          <a:bodyPr wrap="square">
            <a:spAutoFit/>
          </a:bodyPr>
          <a:lstStyle/>
          <a:p>
            <a:pPr eaLnBrk="0" hangingPunct="0">
              <a:lnSpc>
                <a:spcPts val="2600"/>
              </a:lnSpc>
              <a:buClr>
                <a:srgbClr val="0070C0"/>
              </a:buClr>
            </a:pPr>
            <a:r>
              <a:rPr lang="en-US" altLang="zh-CN" b="1" dirty="0">
                <a:solidFill>
                  <a:schemeClr val="bg1"/>
                </a:solidFill>
                <a:latin typeface="微软雅黑 Light" panose="020B0502040204020203" pitchFamily="34" charset="-122"/>
                <a:ea typeface="微软雅黑 Light" panose="020B0502040204020203" pitchFamily="34" charset="-122"/>
              </a:rPr>
              <a:t>HTTP </a:t>
            </a:r>
            <a:r>
              <a:rPr lang="zh-CN" altLang="en-US" b="1" dirty="0">
                <a:solidFill>
                  <a:schemeClr val="bg1"/>
                </a:solidFill>
                <a:latin typeface="微软雅黑 Light" panose="020B0502040204020203" pitchFamily="34" charset="-122"/>
                <a:ea typeface="微软雅黑 Light" panose="020B0502040204020203" pitchFamily="34" charset="-122"/>
              </a:rPr>
              <a:t>不仅传送完成超文本跳转所必需的信息，而且也传送任何可从互联网上得到的信息，如文本、超文本、声音和图像等。</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67456"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6742049"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916149"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1425683830"/>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9"/>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5374535"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2436996"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4205471"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5499333"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3592402"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3785483"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2877471"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4626444"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3803474"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2852104"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2138861"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2186229"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2353708"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5752623"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2629236"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5989516"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2579668"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2685536"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6268111"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2782982"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3087223"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6544941"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6233509"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2349926"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3087223"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3099929"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500" fill="hold"/>
                                        <p:tgtEl>
                                          <p:spTgt spid="41"/>
                                        </p:tgtEl>
                                        <p:attrNameLst>
                                          <p:attrName>style.visibility</p:attrName>
                                        </p:attrNameLst>
                                      </p:cBhvr>
                                      <p:tavLst>
                                        <p:tav tm="0">
                                          <p:val>
                                            <p:strVal val="hidden"/>
                                          </p:val>
                                        </p:tav>
                                        <p:tav tm="50000">
                                          <p:val>
                                            <p:strVal val="visible"/>
                                          </p:val>
                                        </p:tav>
                                      </p:tavLst>
                                    </p:anim>
                                  </p:childTnLst>
                                </p:cTn>
                              </p:par>
                            </p:childTnLst>
                          </p:cTn>
                        </p:par>
                        <p:par>
                          <p:cTn id="7" fill="hold">
                            <p:stCondLst>
                              <p:cond delay="2000"/>
                            </p:stCondLst>
                            <p:childTnLst>
                              <p:par>
                                <p:cTn id="8" presetID="22" presetClass="entr" presetSubtype="8" fill="hold" nodeType="afterEffect">
                                  <p:stCondLst>
                                    <p:cond delay="500"/>
                                  </p:stCondLst>
                                  <p:childTnLst>
                                    <p:set>
                                      <p:cBhvr>
                                        <p:cTn id="9" dur="1" fill="hold">
                                          <p:stCondLst>
                                            <p:cond delay="0"/>
                                          </p:stCondLst>
                                        </p:cTn>
                                        <p:tgtEl>
                                          <p:spTgt spid="46"/>
                                        </p:tgtEl>
                                        <p:attrNameLst>
                                          <p:attrName>style.visibility</p:attrName>
                                        </p:attrNameLst>
                                      </p:cBhvr>
                                      <p:to>
                                        <p:strVal val="visible"/>
                                      </p:to>
                                    </p:set>
                                    <p:animEffect transition="in" filter="wipe(left)">
                                      <p:cBhvr>
                                        <p:cTn id="10" dur="2000"/>
                                        <p:tgtEl>
                                          <p:spTgt spid="46"/>
                                        </p:tgtEl>
                                      </p:cBhvr>
                                    </p:animEffect>
                                  </p:childTnLst>
                                </p:cTn>
                              </p:par>
                            </p:childTnLst>
                          </p:cTn>
                        </p:par>
                        <p:par>
                          <p:cTn id="11" fill="hold">
                            <p:stCondLst>
                              <p:cond delay="4500"/>
                            </p:stCondLst>
                            <p:childTnLst>
                              <p:par>
                                <p:cTn id="12" presetID="22" presetClass="entr" presetSubtype="2" fill="hold" nodeType="afterEffect">
                                  <p:stCondLst>
                                    <p:cond delay="0"/>
                                  </p:stCondLst>
                                  <p:childTnLst>
                                    <p:set>
                                      <p:cBhvr>
                                        <p:cTn id="13" dur="1" fill="hold">
                                          <p:stCondLst>
                                            <p:cond delay="0"/>
                                          </p:stCondLst>
                                        </p:cTn>
                                        <p:tgtEl>
                                          <p:spTgt spid="55"/>
                                        </p:tgtEl>
                                        <p:attrNameLst>
                                          <p:attrName>style.visibility</p:attrName>
                                        </p:attrNameLst>
                                      </p:cBhvr>
                                      <p:to>
                                        <p:strVal val="visible"/>
                                      </p:to>
                                    </p:set>
                                    <p:animEffect transition="in" filter="wipe(right)">
                                      <p:cBhvr>
                                        <p:cTn id="14" dur="2000"/>
                                        <p:tgtEl>
                                          <p:spTgt spid="55"/>
                                        </p:tgtEl>
                                      </p:cBhvr>
                                    </p:animEffect>
                                  </p:childTnLst>
                                </p:cTn>
                              </p:par>
                            </p:childTnLst>
                          </p:cTn>
                        </p:par>
                        <p:par>
                          <p:cTn id="15" fill="hold">
                            <p:stCondLst>
                              <p:cond delay="6500"/>
                            </p:stCondLst>
                            <p:childTnLst>
                              <p:par>
                                <p:cTn id="16" presetID="1" presetClass="entr" presetSubtype="0" fill="hold" nodeType="afterEffect">
                                  <p:stCondLst>
                                    <p:cond delay="500"/>
                                  </p:stCondLst>
                                  <p:childTnLst>
                                    <p:set>
                                      <p:cBhvr>
                                        <p:cTn id="17" dur="1" fill="hold">
                                          <p:stCondLst>
                                            <p:cond delay="0"/>
                                          </p:stCondLst>
                                        </p:cTn>
                                        <p:tgtEl>
                                          <p:spTgt spid="52"/>
                                        </p:tgtEl>
                                        <p:attrNameLst>
                                          <p:attrName>style.visibility</p:attrName>
                                        </p:attrNameLst>
                                      </p:cBhvr>
                                      <p:to>
                                        <p:strVal val="visible"/>
                                      </p:to>
                                    </p:set>
                                  </p:childTnLst>
                                </p:cTn>
                              </p:par>
                            </p:childTnLst>
                          </p:cTn>
                        </p:par>
                        <p:par>
                          <p:cTn id="18" fill="hold">
                            <p:stCondLst>
                              <p:cond delay="7000"/>
                            </p:stCondLst>
                            <p:childTnLst>
                              <p:par>
                                <p:cTn id="19" presetID="35" presetClass="emph" presetSubtype="0" repeatCount="3000" fill="hold" nodeType="afterEffect">
                                  <p:stCondLst>
                                    <p:cond delay="0"/>
                                  </p:stCondLst>
                                  <p:childTnLst>
                                    <p:anim calcmode="discrete" valueType="str">
                                      <p:cBhvr>
                                        <p:cTn id="20" dur="500" fill="hold"/>
                                        <p:tgtEl>
                                          <p:spTgt spid="5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2880000" y="144000"/>
            <a:ext cx="3384000" cy="338554"/>
          </a:xfrm>
        </p:spPr>
        <p:txBody>
          <a:bodyPr/>
          <a:lstStyle/>
          <a:p>
            <a:r>
              <a:rPr lang="zh-CN" altLang="en-US" dirty="0"/>
              <a:t>用户浏览页面的两种方法</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482554"/>
            <a:ext cx="8172000" cy="4284000"/>
          </a:xfrm>
        </p:spPr>
        <p:txBody>
          <a:bodyPr/>
          <a:lstStyle/>
          <a:p>
            <a:r>
              <a:rPr lang="zh-CN" altLang="en-US" dirty="0"/>
              <a:t>在浏览器的地址窗口中键入所要找的页面的 </a:t>
            </a:r>
            <a:r>
              <a:rPr lang="en-US" altLang="zh-CN" dirty="0"/>
              <a:t>URL</a:t>
            </a:r>
            <a:endParaRPr lang="zh-CN" altLang="en-US" dirty="0"/>
          </a:p>
          <a:p>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2880000" y="144000"/>
            <a:ext cx="3384000" cy="338554"/>
          </a:xfrm>
        </p:spPr>
        <p:txBody>
          <a:bodyPr/>
          <a:lstStyle/>
          <a:p>
            <a:r>
              <a:rPr lang="en-US" altLang="zh-CN" dirty="0"/>
              <a:t>HTTP </a:t>
            </a:r>
            <a:r>
              <a:rPr lang="zh-CN" altLang="en-US" dirty="0"/>
              <a:t>的主要特点</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482554"/>
            <a:ext cx="8172000" cy="4284000"/>
          </a:xfrm>
        </p:spPr>
        <p:txBody>
          <a:bodyPr/>
          <a:lstStyle/>
          <a:p>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r>
              <a:rPr lang="en-US" altLang="zh-CN" dirty="0"/>
              <a:t>HTTP </a:t>
            </a:r>
            <a:r>
              <a:rPr lang="zh-CN" altLang="en-US" dirty="0"/>
              <a:t>协议本身也是无连接的</a:t>
            </a:r>
          </a:p>
          <a:p>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Line 20"/>
          <p:cNvSpPr>
            <a:spLocks noChangeShapeType="1"/>
          </p:cNvSpPr>
          <p:nvPr/>
        </p:nvSpPr>
        <p:spPr bwMode="auto">
          <a:xfrm flipH="1">
            <a:off x="2620467" y="2668649"/>
            <a:ext cx="3270" cy="615774"/>
          </a:xfrm>
          <a:prstGeom prst="line">
            <a:avLst/>
          </a:prstGeom>
          <a:noFill/>
          <a:ln w="127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Rectangle 25"/>
          <p:cNvSpPr>
            <a:spLocks noChangeArrowheads="1"/>
          </p:cNvSpPr>
          <p:nvPr/>
        </p:nvSpPr>
        <p:spPr bwMode="auto">
          <a:xfrm>
            <a:off x="2437344" y="2892018"/>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26"/>
          <p:cNvSpPr txBox="1">
            <a:spLocks noChangeArrowheads="1"/>
          </p:cNvSpPr>
          <p:nvPr/>
        </p:nvSpPr>
        <p:spPr bwMode="auto">
          <a:xfrm>
            <a:off x="2393323" y="2850538"/>
            <a:ext cx="452367" cy="276999"/>
          </a:xfrm>
          <a:prstGeom prst="rect">
            <a:avLst/>
          </a:prstGeom>
          <a:solidFill>
            <a:srgbClr val="C3E3F9"/>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RTT</a:t>
            </a:r>
          </a:p>
        </p:txBody>
      </p:sp>
      <p:sp>
        <p:nvSpPr>
          <p:cNvPr id="59" name="Line 19"/>
          <p:cNvSpPr>
            <a:spLocks noChangeShapeType="1"/>
          </p:cNvSpPr>
          <p:nvPr/>
        </p:nvSpPr>
        <p:spPr bwMode="auto">
          <a:xfrm flipH="1">
            <a:off x="2623736" y="2049857"/>
            <a:ext cx="4360" cy="614768"/>
          </a:xfrm>
          <a:prstGeom prst="line">
            <a:avLst/>
          </a:prstGeom>
          <a:noFill/>
          <a:ln w="127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Rectangle 22"/>
          <p:cNvSpPr>
            <a:spLocks noChangeArrowheads="1"/>
          </p:cNvSpPr>
          <p:nvPr/>
        </p:nvSpPr>
        <p:spPr bwMode="auto">
          <a:xfrm>
            <a:off x="2437344" y="2289324"/>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1" name="Text Box 23"/>
          <p:cNvSpPr txBox="1">
            <a:spLocks noChangeArrowheads="1"/>
          </p:cNvSpPr>
          <p:nvPr/>
        </p:nvSpPr>
        <p:spPr bwMode="auto">
          <a:xfrm>
            <a:off x="2396703" y="2246727"/>
            <a:ext cx="452367" cy="276999"/>
          </a:xfrm>
          <a:prstGeom prst="rect">
            <a:avLst/>
          </a:prstGeom>
          <a:solidFill>
            <a:srgbClr val="C3E3F9"/>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RTT</a:t>
            </a:r>
          </a:p>
        </p:txBody>
      </p:sp>
      <p:sp>
        <p:nvSpPr>
          <p:cNvPr id="62" name="Freeform 4"/>
          <p:cNvSpPr>
            <a:spLocks/>
          </p:cNvSpPr>
          <p:nvPr/>
        </p:nvSpPr>
        <p:spPr bwMode="auto">
          <a:xfrm>
            <a:off x="2804679" y="2985591"/>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rgbClr val="00990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4" name="Rectangle 6"/>
          <p:cNvSpPr>
            <a:spLocks noChangeArrowheads="1"/>
          </p:cNvSpPr>
          <p:nvPr/>
        </p:nvSpPr>
        <p:spPr bwMode="auto">
          <a:xfrm>
            <a:off x="4388354" y="1110772"/>
            <a:ext cx="1106073" cy="237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65" name="Rectangle 7"/>
          <p:cNvSpPr>
            <a:spLocks noChangeArrowheads="1"/>
          </p:cNvSpPr>
          <p:nvPr/>
        </p:nvSpPr>
        <p:spPr bwMode="auto">
          <a:xfrm>
            <a:off x="2354504" y="115906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67" name="Line 9"/>
          <p:cNvSpPr>
            <a:spLocks noChangeShapeType="1"/>
          </p:cNvSpPr>
          <p:nvPr/>
        </p:nvSpPr>
        <p:spPr bwMode="auto">
          <a:xfrm>
            <a:off x="2805768" y="2000555"/>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Text Box 10"/>
          <p:cNvSpPr txBox="1">
            <a:spLocks noChangeArrowheads="1"/>
          </p:cNvSpPr>
          <p:nvPr/>
        </p:nvSpPr>
        <p:spPr bwMode="auto">
          <a:xfrm>
            <a:off x="1078774" y="1921067"/>
            <a:ext cx="1352677"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发起 </a:t>
            </a:r>
            <a:r>
              <a:rPr kumimoji="1" lang="en-US" altLang="zh-CN" sz="1400" b="1" dirty="0">
                <a:solidFill>
                  <a:schemeClr val="bg1"/>
                </a:solidFill>
                <a:latin typeface="微软雅黑 Light" panose="020B0502040204020203" pitchFamily="34" charset="-122"/>
                <a:ea typeface="微软雅黑 Light" panose="020B0502040204020203" pitchFamily="34" charset="-122"/>
              </a:rPr>
              <a:t>TCP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连接</a:t>
            </a:r>
          </a:p>
        </p:txBody>
      </p:sp>
      <p:sp>
        <p:nvSpPr>
          <p:cNvPr id="69" name="Text Box 11"/>
          <p:cNvSpPr txBox="1">
            <a:spLocks noChangeArrowheads="1"/>
          </p:cNvSpPr>
          <p:nvPr/>
        </p:nvSpPr>
        <p:spPr bwMode="auto">
          <a:xfrm>
            <a:off x="981440" y="2517725"/>
            <a:ext cx="1450011"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sp>
        <p:nvSpPr>
          <p:cNvPr id="70" name="Line 12"/>
          <p:cNvSpPr>
            <a:spLocks noChangeShapeType="1"/>
          </p:cNvSpPr>
          <p:nvPr/>
        </p:nvSpPr>
        <p:spPr bwMode="auto">
          <a:xfrm>
            <a:off x="2805768" y="2049856"/>
            <a:ext cx="2196375" cy="2877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1" name="Line 13"/>
          <p:cNvSpPr>
            <a:spLocks noChangeShapeType="1"/>
          </p:cNvSpPr>
          <p:nvPr/>
        </p:nvSpPr>
        <p:spPr bwMode="auto">
          <a:xfrm flipH="1">
            <a:off x="2798139" y="2364787"/>
            <a:ext cx="2196376" cy="28877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14"/>
          <p:cNvSpPr>
            <a:spLocks noChangeShapeType="1"/>
          </p:cNvSpPr>
          <p:nvPr/>
        </p:nvSpPr>
        <p:spPr bwMode="auto">
          <a:xfrm>
            <a:off x="2805768" y="2680724"/>
            <a:ext cx="2196375" cy="2877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3" name="Line 15"/>
          <p:cNvSpPr>
            <a:spLocks noChangeShapeType="1"/>
          </p:cNvSpPr>
          <p:nvPr/>
        </p:nvSpPr>
        <p:spPr bwMode="auto">
          <a:xfrm>
            <a:off x="2510375" y="2049856"/>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16"/>
          <p:cNvSpPr>
            <a:spLocks noChangeShapeType="1"/>
          </p:cNvSpPr>
          <p:nvPr/>
        </p:nvSpPr>
        <p:spPr bwMode="auto">
          <a:xfrm>
            <a:off x="2514735" y="2664624"/>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7"/>
          <p:cNvSpPr>
            <a:spLocks noChangeShapeType="1"/>
          </p:cNvSpPr>
          <p:nvPr/>
        </p:nvSpPr>
        <p:spPr bwMode="auto">
          <a:xfrm>
            <a:off x="2502745" y="3506785"/>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Line 18"/>
          <p:cNvSpPr>
            <a:spLocks noChangeShapeType="1"/>
          </p:cNvSpPr>
          <p:nvPr/>
        </p:nvSpPr>
        <p:spPr bwMode="auto">
          <a:xfrm>
            <a:off x="2502745" y="3276374"/>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Text Box 27"/>
          <p:cNvSpPr txBox="1">
            <a:spLocks noChangeArrowheads="1"/>
          </p:cNvSpPr>
          <p:nvPr/>
        </p:nvSpPr>
        <p:spPr bwMode="auto">
          <a:xfrm>
            <a:off x="5249291" y="2932603"/>
            <a:ext cx="1441419"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传输文档的时间</a:t>
            </a:r>
          </a:p>
        </p:txBody>
      </p:sp>
      <p:sp>
        <p:nvSpPr>
          <p:cNvPr id="78" name="Text Box 28"/>
          <p:cNvSpPr txBox="1">
            <a:spLocks noChangeArrowheads="1"/>
          </p:cNvSpPr>
          <p:nvPr/>
        </p:nvSpPr>
        <p:spPr bwMode="auto">
          <a:xfrm>
            <a:off x="1169568" y="3381016"/>
            <a:ext cx="1261883"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整个文档收到</a:t>
            </a:r>
          </a:p>
        </p:txBody>
      </p:sp>
      <p:sp>
        <p:nvSpPr>
          <p:cNvPr id="79" name="AutoShape 29"/>
          <p:cNvSpPr>
            <a:spLocks noChangeArrowheads="1"/>
          </p:cNvSpPr>
          <p:nvPr/>
        </p:nvSpPr>
        <p:spPr bwMode="auto">
          <a:xfrm rot="21154273">
            <a:off x="3620008" y="3155634"/>
            <a:ext cx="652918" cy="173061"/>
          </a:xfrm>
          <a:prstGeom prst="leftArrow">
            <a:avLst>
              <a:gd name="adj1" fmla="val 50000"/>
              <a:gd name="adj2" fmla="val 87064"/>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0" name="Line 30"/>
          <p:cNvSpPr>
            <a:spLocks noChangeShapeType="1"/>
          </p:cNvSpPr>
          <p:nvPr/>
        </p:nvSpPr>
        <p:spPr bwMode="auto">
          <a:xfrm>
            <a:off x="4995603" y="1997535"/>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Text Box 31"/>
          <p:cNvSpPr txBox="1">
            <a:spLocks noChangeArrowheads="1"/>
          </p:cNvSpPr>
          <p:nvPr/>
        </p:nvSpPr>
        <p:spPr bwMode="auto">
          <a:xfrm>
            <a:off x="2594306" y="3856601"/>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时间</a:t>
            </a:r>
          </a:p>
        </p:txBody>
      </p:sp>
      <p:sp>
        <p:nvSpPr>
          <p:cNvPr id="82" name="Text Box 32"/>
          <p:cNvSpPr txBox="1">
            <a:spLocks noChangeArrowheads="1"/>
          </p:cNvSpPr>
          <p:nvPr/>
        </p:nvSpPr>
        <p:spPr bwMode="auto">
          <a:xfrm>
            <a:off x="4778692" y="3856601"/>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时间</a:t>
            </a:r>
          </a:p>
        </p:txBody>
      </p:sp>
      <p:sp>
        <p:nvSpPr>
          <p:cNvPr id="83" name="Text Box 33"/>
          <p:cNvSpPr txBox="1">
            <a:spLocks noChangeArrowheads="1"/>
          </p:cNvSpPr>
          <p:nvPr/>
        </p:nvSpPr>
        <p:spPr bwMode="auto">
          <a:xfrm rot="21159151">
            <a:off x="3227947" y="3335620"/>
            <a:ext cx="14500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FF"/>
                </a:solidFill>
                <a:latin typeface="微软雅黑 Light" panose="020B0502040204020203" pitchFamily="34" charset="-122"/>
                <a:ea typeface="微软雅黑 Light" panose="020B0502040204020203" pitchFamily="34" charset="-122"/>
              </a:rPr>
              <a:t>HTTP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响应报文</a:t>
            </a:r>
          </a:p>
        </p:txBody>
      </p:sp>
      <p:sp>
        <p:nvSpPr>
          <p:cNvPr id="84" name="AutoShape 34"/>
          <p:cNvSpPr>
            <a:spLocks/>
          </p:cNvSpPr>
          <p:nvPr/>
        </p:nvSpPr>
        <p:spPr bwMode="auto">
          <a:xfrm>
            <a:off x="5027214" y="2972512"/>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5" name="Line 35"/>
          <p:cNvSpPr>
            <a:spLocks noChangeShapeType="1"/>
          </p:cNvSpPr>
          <p:nvPr/>
        </p:nvSpPr>
        <p:spPr bwMode="auto">
          <a:xfrm>
            <a:off x="5087164" y="3088220"/>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37706" y="1333637"/>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110" y="1397534"/>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332431" y="1461642"/>
            <a:ext cx="3107597" cy="1374735"/>
          </a:xfrm>
          <a:prstGeom prst="rect">
            <a:avLst/>
          </a:prstGeom>
          <a:solidFill>
            <a:schemeClr val="bg1"/>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RTT</a:t>
            </a:r>
            <a:r>
              <a:rPr lang="zh-CN" altLang="en-US" sz="1400" b="1" dirty="0">
                <a:latin typeface="微软雅黑 Light" panose="020B0502040204020203" pitchFamily="34" charset="-122"/>
                <a:ea typeface="微软雅黑 Light" panose="020B0502040204020203" pitchFamily="34" charset="-122"/>
              </a:rPr>
              <a:t>（三报文握手建立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a:t>
            </a:r>
            <a:r>
              <a:rPr lang="en-US" altLang="zh-CN" sz="1400" b="1" dirty="0">
                <a:latin typeface="微软雅黑 Light" panose="020B0502040204020203" pitchFamily="34" charset="-122"/>
                <a:ea typeface="微软雅黑 Light" panose="020B0502040204020203" pitchFamily="34" charset="-122"/>
              </a:rPr>
              <a:t> </a:t>
            </a:r>
          </a:p>
          <a:p>
            <a:pPr>
              <a:lnSpc>
                <a:spcPts val="2000"/>
              </a:lnSpc>
            </a:pPr>
            <a:r>
              <a:rPr lang="en-US" altLang="zh-CN" sz="1400" b="1" dirty="0">
                <a:latin typeface="微软雅黑 Light" panose="020B0502040204020203" pitchFamily="34" charset="-122"/>
                <a:ea typeface="微软雅黑 Light" panose="020B0502040204020203" pitchFamily="34" charset="-122"/>
              </a:rPr>
              <a:t>+ RTT</a:t>
            </a:r>
            <a:r>
              <a:rPr lang="zh-CN" altLang="en-US" sz="1400" b="1" dirty="0">
                <a:latin typeface="微软雅黑 Light" panose="020B0502040204020203" pitchFamily="34" charset="-122"/>
                <a:ea typeface="微软雅黑 Light" panose="020B0502040204020203" pitchFamily="34" charset="-122"/>
              </a:rPr>
              <a:t>（请求和接收文档）</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r>
              <a:rPr lang="zh-CN" altLang="en-US" sz="1400" b="1" dirty="0">
                <a:latin typeface="微软雅黑 Light" panose="020B0502040204020203" pitchFamily="34" charset="-122"/>
                <a:ea typeface="微软雅黑 Light" panose="020B0502040204020203" pitchFamily="34" charset="-122"/>
              </a:rPr>
              <a:t>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2880000" y="144000"/>
            <a:ext cx="3384000" cy="338554"/>
          </a:xfrm>
        </p:spPr>
        <p:txBody>
          <a:bodyPr/>
          <a:lstStyle/>
          <a:p>
            <a:r>
              <a:rPr lang="zh-CN" altLang="en-US" dirty="0"/>
              <a:t>请求一个万维网文档所需的时间</a:t>
            </a: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2880000" y="144000"/>
            <a:ext cx="3384000" cy="338554"/>
          </a:xfrm>
        </p:spPr>
        <p:txBody>
          <a:bodyPr/>
          <a:lstStyle/>
          <a:p>
            <a:r>
              <a:rPr lang="zh-CN" altLang="en-US" dirty="0"/>
              <a:t>协议 </a:t>
            </a:r>
            <a:r>
              <a:rPr lang="en-US" altLang="zh-CN" dirty="0"/>
              <a:t>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482554"/>
            <a:ext cx="8172000" cy="4284000"/>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2880000" y="144000"/>
            <a:ext cx="3384000" cy="338554"/>
          </a:xfrm>
        </p:spPr>
        <p:txBody>
          <a:bodyPr/>
          <a:lstStyle/>
          <a:p>
            <a:r>
              <a:rPr lang="zh-CN" altLang="en-US" dirty="0"/>
              <a:t>协议 </a:t>
            </a:r>
            <a:r>
              <a:rPr lang="en-US" altLang="zh-CN" dirty="0"/>
              <a:t>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482554"/>
            <a:ext cx="8172000" cy="4284000"/>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2880000" y="144000"/>
            <a:ext cx="3384000" cy="338554"/>
          </a:xfrm>
        </p:spPr>
        <p:txBody>
          <a:bodyPr/>
          <a:lstStyle/>
          <a:p>
            <a:r>
              <a:rPr lang="zh-CN" altLang="en-US" dirty="0"/>
              <a:t>协议 </a:t>
            </a:r>
            <a:r>
              <a:rPr lang="en-US" altLang="zh-CN" dirty="0"/>
              <a:t>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482554"/>
            <a:ext cx="8172000" cy="4284000"/>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2880000" y="144000"/>
            <a:ext cx="3384000" cy="338554"/>
          </a:xfrm>
        </p:spPr>
        <p:txBody>
          <a:bodyPr/>
          <a:lstStyle/>
          <a:p>
            <a:r>
              <a:rPr lang="zh-CN" altLang="en-US" dirty="0"/>
              <a:t>协议 </a:t>
            </a:r>
            <a:r>
              <a:rPr lang="en-US" altLang="zh-CN" dirty="0"/>
              <a:t>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482554"/>
            <a:ext cx="8172000" cy="4284000"/>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2880000" y="144000"/>
            <a:ext cx="3384000" cy="338554"/>
          </a:xfrm>
        </p:spPr>
        <p:txBody>
          <a:bodyPr/>
          <a:lstStyle/>
          <a:p>
            <a:r>
              <a:rPr lang="zh-CN" altLang="en-US" dirty="0"/>
              <a:t>协议 </a:t>
            </a:r>
            <a:r>
              <a:rPr lang="en-US" altLang="zh-CN" dirty="0"/>
              <a:t>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482554"/>
            <a:ext cx="8172000" cy="4284000"/>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2880000" y="144000"/>
            <a:ext cx="3384000" cy="338554"/>
          </a:xfrm>
        </p:spPr>
        <p:txBody>
          <a:bodyPr/>
          <a:lstStyle/>
          <a:p>
            <a:r>
              <a:rPr lang="en-US" altLang="zh-CN" dirty="0"/>
              <a:t>2.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482554"/>
            <a:ext cx="8172000" cy="4284000"/>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p>
          <a:p>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 name="Group 1504"/>
          <p:cNvGrpSpPr>
            <a:grpSpLocks/>
          </p:cNvGrpSpPr>
          <p:nvPr/>
        </p:nvGrpSpPr>
        <p:grpSpPr bwMode="auto">
          <a:xfrm>
            <a:off x="697569"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3" name="Group 1505"/>
            <p:cNvGrpSpPr>
              <a:grpSpLocks/>
            </p:cNvGrpSpPr>
            <p:nvPr/>
          </p:nvGrpSpPr>
          <p:grpSpPr bwMode="auto">
            <a:xfrm>
              <a:off x="109" y="1226"/>
              <a:ext cx="2516" cy="1675"/>
              <a:chOff x="109" y="1226"/>
              <a:chExt cx="2516" cy="1675"/>
            </a:xfrm>
            <a:grpFill/>
          </p:grpSpPr>
          <p:grpSp>
            <p:nvGrpSpPr>
              <p:cNvPr id="135" name="Group 1506"/>
              <p:cNvGrpSpPr>
                <a:grpSpLocks/>
              </p:cNvGrpSpPr>
              <p:nvPr/>
            </p:nvGrpSpPr>
            <p:grpSpPr bwMode="auto">
              <a:xfrm>
                <a:off x="109" y="1226"/>
                <a:ext cx="2516" cy="1675"/>
                <a:chOff x="109" y="1226"/>
                <a:chExt cx="2516" cy="1675"/>
              </a:xfrm>
              <a:grpFill/>
            </p:grpSpPr>
            <p:sp>
              <p:nvSpPr>
                <p:cNvPr id="137"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8"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9"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0"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1"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2"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3"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6"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4"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7" name="矩形 6"/>
          <p:cNvSpPr/>
          <p:nvPr/>
        </p:nvSpPr>
        <p:spPr>
          <a:xfrm>
            <a:off x="383907" y="897362"/>
            <a:ext cx="2831224"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不使用高速缓存的情况</a:t>
            </a:r>
          </a:p>
        </p:txBody>
      </p:sp>
      <p:graphicFrame>
        <p:nvGraphicFramePr>
          <p:cNvPr id="31" name="Object 44"/>
          <p:cNvGraphicFramePr>
            <a:graphicFrameLocks noChangeAspect="1"/>
          </p:cNvGraphicFramePr>
          <p:nvPr>
            <p:extLst>
              <p:ext uri="{D42A27DB-BD31-4B8C-83A1-F6EECF244321}">
                <p14:modId xmlns:p14="http://schemas.microsoft.com/office/powerpoint/2010/main" val="978434530"/>
              </p:ext>
            </p:extLst>
          </p:nvPr>
        </p:nvGraphicFramePr>
        <p:xfrm>
          <a:off x="6185200" y="2209150"/>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209150"/>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2673908"/>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46"/>
          <p:cNvSpPr>
            <a:spLocks noChangeShapeType="1"/>
          </p:cNvSpPr>
          <p:nvPr/>
        </p:nvSpPr>
        <p:spPr bwMode="auto">
          <a:xfrm>
            <a:off x="7119321" y="3095434"/>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4" name="Line 47"/>
          <p:cNvSpPr>
            <a:spLocks noChangeShapeType="1"/>
          </p:cNvSpPr>
          <p:nvPr/>
        </p:nvSpPr>
        <p:spPr bwMode="auto">
          <a:xfrm>
            <a:off x="7439368" y="2864856"/>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5" name="Line 48"/>
          <p:cNvSpPr>
            <a:spLocks noChangeShapeType="1"/>
          </p:cNvSpPr>
          <p:nvPr/>
        </p:nvSpPr>
        <p:spPr bwMode="auto">
          <a:xfrm flipV="1">
            <a:off x="7464087" y="2301622"/>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49"/>
          <p:cNvSpPr>
            <a:spLocks noChangeShapeType="1"/>
          </p:cNvSpPr>
          <p:nvPr/>
        </p:nvSpPr>
        <p:spPr bwMode="auto">
          <a:xfrm flipV="1">
            <a:off x="7093301" y="1790027"/>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2"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Line 119"/>
          <p:cNvSpPr>
            <a:spLocks noChangeShapeType="1"/>
          </p:cNvSpPr>
          <p:nvPr/>
        </p:nvSpPr>
        <p:spPr bwMode="auto">
          <a:xfrm>
            <a:off x="2416194" y="2667905"/>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106" name="Group 120"/>
          <p:cNvGrpSpPr>
            <a:grpSpLocks/>
          </p:cNvGrpSpPr>
          <p:nvPr/>
        </p:nvGrpSpPr>
        <p:grpSpPr bwMode="auto">
          <a:xfrm>
            <a:off x="3483017" y="2506981"/>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40" name="Rectangle 254"/>
          <p:cNvSpPr>
            <a:spLocks noChangeArrowheads="1"/>
          </p:cNvSpPr>
          <p:nvPr/>
        </p:nvSpPr>
        <p:spPr bwMode="auto">
          <a:xfrm>
            <a:off x="2626957" y="1864485"/>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1" name="Rectangle 255"/>
          <p:cNvSpPr>
            <a:spLocks noChangeArrowheads="1"/>
          </p:cNvSpPr>
          <p:nvPr/>
        </p:nvSpPr>
        <p:spPr bwMode="auto">
          <a:xfrm>
            <a:off x="2668104" y="1546706"/>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263" name="Rectangle 279"/>
          <p:cNvSpPr>
            <a:spLocks noChangeArrowheads="1"/>
          </p:cNvSpPr>
          <p:nvPr/>
        </p:nvSpPr>
        <p:spPr bwMode="auto">
          <a:xfrm>
            <a:off x="6603463" y="1564493"/>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latin typeface="微软雅黑 Light" panose="020B0502040204020203" pitchFamily="34" charset="-122"/>
                <a:ea typeface="微软雅黑 Light" panose="020B0502040204020203" pitchFamily="34" charset="-122"/>
              </a:rPr>
              <a:t>源点服务器</a:t>
            </a:r>
          </a:p>
        </p:txBody>
      </p:sp>
      <p:sp>
        <p:nvSpPr>
          <p:cNvPr id="264" name="Rectangle 280"/>
          <p:cNvSpPr>
            <a:spLocks noChangeArrowheads="1"/>
          </p:cNvSpPr>
          <p:nvPr/>
        </p:nvSpPr>
        <p:spPr bwMode="auto">
          <a:xfrm>
            <a:off x="4168645" y="2346056"/>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5" name="Rectangle 281"/>
          <p:cNvSpPr>
            <a:spLocks noChangeArrowheads="1"/>
          </p:cNvSpPr>
          <p:nvPr/>
        </p:nvSpPr>
        <p:spPr bwMode="auto">
          <a:xfrm>
            <a:off x="4728140" y="2400097"/>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266" name="Group 282"/>
          <p:cNvGrpSpPr>
            <a:grpSpLocks/>
          </p:cNvGrpSpPr>
          <p:nvPr/>
        </p:nvGrpSpPr>
        <p:grpSpPr bwMode="auto">
          <a:xfrm>
            <a:off x="5783191" y="2506981"/>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92" name="Rectangle 308"/>
          <p:cNvSpPr>
            <a:spLocks noChangeArrowheads="1"/>
          </p:cNvSpPr>
          <p:nvPr/>
        </p:nvSpPr>
        <p:spPr bwMode="auto">
          <a:xfrm>
            <a:off x="6269767" y="2156310"/>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3" name="Rectangle 309"/>
          <p:cNvSpPr>
            <a:spLocks noChangeArrowheads="1"/>
          </p:cNvSpPr>
          <p:nvPr/>
        </p:nvSpPr>
        <p:spPr bwMode="auto">
          <a:xfrm>
            <a:off x="6652101" y="2597050"/>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294" name="Rectangle 310"/>
          <p:cNvSpPr>
            <a:spLocks noChangeArrowheads="1"/>
          </p:cNvSpPr>
          <p:nvPr/>
        </p:nvSpPr>
        <p:spPr bwMode="auto">
          <a:xfrm>
            <a:off x="3748421" y="2229566"/>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5" name="Rectangle 311"/>
          <p:cNvSpPr>
            <a:spLocks noChangeArrowheads="1"/>
          </p:cNvSpPr>
          <p:nvPr/>
        </p:nvSpPr>
        <p:spPr bwMode="auto">
          <a:xfrm>
            <a:off x="3047180" y="2813216"/>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7" name="Rectangle 313"/>
          <p:cNvSpPr>
            <a:spLocks noChangeArrowheads="1"/>
          </p:cNvSpPr>
          <p:nvPr/>
        </p:nvSpPr>
        <p:spPr bwMode="auto">
          <a:xfrm>
            <a:off x="1078421" y="2396014"/>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sp>
        <p:nvSpPr>
          <p:cNvPr id="298" name="Rectangle 314"/>
          <p:cNvSpPr>
            <a:spLocks noChangeArrowheads="1"/>
          </p:cNvSpPr>
          <p:nvPr/>
        </p:nvSpPr>
        <p:spPr bwMode="auto">
          <a:xfrm>
            <a:off x="3744519" y="2249982"/>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299" name="Rectangle 315"/>
          <p:cNvSpPr>
            <a:spLocks noChangeArrowheads="1"/>
          </p:cNvSpPr>
          <p:nvPr/>
        </p:nvSpPr>
        <p:spPr bwMode="auto">
          <a:xfrm>
            <a:off x="5892475" y="2251182"/>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grpSp>
        <p:nvGrpSpPr>
          <p:cNvPr id="301" name="Group 327"/>
          <p:cNvGrpSpPr>
            <a:grpSpLocks/>
          </p:cNvGrpSpPr>
          <p:nvPr/>
        </p:nvGrpSpPr>
        <p:grpSpPr bwMode="auto">
          <a:xfrm>
            <a:off x="4607080" y="1243238"/>
            <a:ext cx="1386867" cy="816364"/>
            <a:chOff x="2981" y="1888"/>
            <a:chExt cx="1066" cy="452"/>
          </a:xfrm>
        </p:grpSpPr>
        <p:sp>
          <p:nvSpPr>
            <p:cNvPr id="302" name="AutoShape 318"/>
            <p:cNvSpPr>
              <a:spLocks noChangeArrowheads="1"/>
            </p:cNvSpPr>
            <p:nvPr/>
          </p:nvSpPr>
          <p:spPr bwMode="auto">
            <a:xfrm>
              <a:off x="2981" y="1888"/>
              <a:ext cx="1066" cy="452"/>
            </a:xfrm>
            <a:prstGeom prst="wedgeRoundRectCallout">
              <a:avLst>
                <a:gd name="adj1" fmla="val -71127"/>
                <a:gd name="adj2" fmla="val 121631"/>
                <a:gd name="adj3" fmla="val 16667"/>
              </a:avLst>
            </a:prstGeom>
            <a:solidFill>
              <a:srgbClr val="66FF66"/>
            </a:solidFill>
            <a:ln w="9525">
              <a:solidFill>
                <a:schemeClr val="tx1"/>
              </a:solidFill>
              <a:miter lim="800000"/>
              <a:headEnd/>
              <a:tailEnd/>
            </a:ln>
            <a:effectLst/>
          </p:spPr>
          <p:txBody>
            <a:bodyPr/>
            <a:lstStyle/>
            <a:p>
              <a:pPr algn="ctr" eaLnBrk="1" hangingPunct="1"/>
              <a:endParaRPr kumimoji="1" lang="zh-CN" altLang="zh-CN" sz="1400" b="1" dirty="0">
                <a:solidFill>
                  <a:srgbClr val="000099"/>
                </a:solidFill>
                <a:latin typeface="微软雅黑 Light" panose="020B0502040204020203" pitchFamily="34" charset="-122"/>
                <a:ea typeface="微软雅黑 Light" panose="020B0502040204020203" pitchFamily="34" charset="-122"/>
              </a:endParaRPr>
            </a:p>
          </p:txBody>
        </p:sp>
        <p:sp>
          <p:nvSpPr>
            <p:cNvPr id="303" name="Rectangle 319"/>
            <p:cNvSpPr>
              <a:spLocks noChangeArrowheads="1"/>
            </p:cNvSpPr>
            <p:nvPr/>
          </p:nvSpPr>
          <p:spPr bwMode="auto">
            <a:xfrm>
              <a:off x="3086" y="1936"/>
              <a:ext cx="867" cy="3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400" b="1" dirty="0">
                  <a:latin typeface="微软雅黑 Light" panose="020B0502040204020203" pitchFamily="34" charset="-122"/>
                  <a:ea typeface="微软雅黑 Light" panose="020B0502040204020203" pitchFamily="34" charset="-122"/>
                </a:rPr>
                <a:t>这条链路通信量很大，导致时延增加。</a:t>
              </a:r>
            </a:p>
          </p:txBody>
        </p:sp>
      </p:gr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298671"/>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1961158"/>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681238"/>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257302"/>
            <a:ext cx="441076" cy="617506"/>
          </a:xfrm>
          <a:prstGeom prst="rect">
            <a:avLst/>
          </a:prstGeom>
        </p:spPr>
      </p:pic>
      <p:sp>
        <p:nvSpPr>
          <p:cNvPr id="300" name="Freeform 316"/>
          <p:cNvSpPr>
            <a:spLocks/>
          </p:cNvSpPr>
          <p:nvPr/>
        </p:nvSpPr>
        <p:spPr bwMode="auto">
          <a:xfrm>
            <a:off x="3832987" y="1866886"/>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04" name="Freeform 320"/>
          <p:cNvSpPr>
            <a:spLocks/>
          </p:cNvSpPr>
          <p:nvPr/>
        </p:nvSpPr>
        <p:spPr bwMode="auto">
          <a:xfrm>
            <a:off x="1938726" y="1746794"/>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05" name="Freeform 321"/>
          <p:cNvSpPr>
            <a:spLocks/>
          </p:cNvSpPr>
          <p:nvPr/>
        </p:nvSpPr>
        <p:spPr bwMode="auto">
          <a:xfrm>
            <a:off x="2079234" y="2332845"/>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06" name="Freeform 322"/>
          <p:cNvSpPr>
            <a:spLocks/>
          </p:cNvSpPr>
          <p:nvPr/>
        </p:nvSpPr>
        <p:spPr bwMode="auto">
          <a:xfrm>
            <a:off x="1437840" y="2741160"/>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07" name="Freeform 323"/>
          <p:cNvSpPr>
            <a:spLocks/>
          </p:cNvSpPr>
          <p:nvPr/>
        </p:nvSpPr>
        <p:spPr bwMode="auto">
          <a:xfrm>
            <a:off x="1938725" y="2794001"/>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308" name="Group 330"/>
          <p:cNvGrpSpPr>
            <a:grpSpLocks/>
          </p:cNvGrpSpPr>
          <p:nvPr/>
        </p:nvGrpSpPr>
        <p:grpSpPr bwMode="auto">
          <a:xfrm>
            <a:off x="4257114" y="2677477"/>
            <a:ext cx="1621051" cy="1008780"/>
            <a:chOff x="2712" y="2750"/>
            <a:chExt cx="1246" cy="840"/>
          </a:xfrm>
        </p:grpSpPr>
        <p:sp>
          <p:nvSpPr>
            <p:cNvPr id="309" name="Text Box 328"/>
            <p:cNvSpPr txBox="1">
              <a:spLocks noChangeArrowheads="1"/>
            </p:cNvSpPr>
            <p:nvPr/>
          </p:nvSpPr>
          <p:spPr bwMode="auto">
            <a:xfrm>
              <a:off x="2712" y="3154"/>
              <a:ext cx="1246" cy="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000099"/>
                  </a:solidFill>
                  <a:latin typeface="微软雅黑 Light" panose="020B0502040204020203" pitchFamily="34" charset="-122"/>
                  <a:ea typeface="微软雅黑 Light" panose="020B0502040204020203" pitchFamily="34" charset="-122"/>
                </a:rPr>
                <a:t>所有万维网通信量</a:t>
              </a:r>
            </a:p>
            <a:p>
              <a:pPr algn="ctr" eaLnBrk="1" hangingPunct="1"/>
              <a:r>
                <a:rPr lang="zh-CN" altLang="en-US" sz="1400" b="1" dirty="0">
                  <a:solidFill>
                    <a:srgbClr val="000099"/>
                  </a:solidFill>
                  <a:latin typeface="微软雅黑 Light" panose="020B0502040204020203" pitchFamily="34" charset="-122"/>
                  <a:ea typeface="微软雅黑 Light" panose="020B0502040204020203" pitchFamily="34" charset="-122"/>
                </a:rPr>
                <a:t>都经过这条链路</a:t>
              </a:r>
            </a:p>
          </p:txBody>
        </p:sp>
        <p:sp>
          <p:nvSpPr>
            <p:cNvPr id="310" name="Line 329"/>
            <p:cNvSpPr>
              <a:spLocks noChangeShapeType="1"/>
            </p:cNvSpPr>
            <p:nvPr/>
          </p:nvSpPr>
          <p:spPr bwMode="auto">
            <a:xfrm flipV="1">
              <a:off x="3334" y="2750"/>
              <a:ext cx="0" cy="402"/>
            </a:xfrm>
            <a:prstGeom prst="line">
              <a:avLst/>
            </a:prstGeom>
            <a:noFill/>
            <a:ln w="5715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2880000" y="144000"/>
            <a:ext cx="3384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500"/>
                                  </p:stCondLst>
                                  <p:childTnLst>
                                    <p:set>
                                      <p:cBhvr>
                                        <p:cTn id="9" dur="1" fill="hold">
                                          <p:stCondLst>
                                            <p:cond delay="0"/>
                                          </p:stCondLst>
                                        </p:cTn>
                                        <p:tgtEl>
                                          <p:spTgt spid="301"/>
                                        </p:tgtEl>
                                        <p:attrNameLst>
                                          <p:attrName>style.visibility</p:attrName>
                                        </p:attrNameLst>
                                      </p:cBhvr>
                                      <p:to>
                                        <p:strVal val="visible"/>
                                      </p:to>
                                    </p:set>
                                  </p:childTnLst>
                                </p:cTn>
                              </p:par>
                            </p:childTnLst>
                          </p:cTn>
                        </p:par>
                        <p:par>
                          <p:cTn id="10" fill="hold">
                            <p:stCondLst>
                              <p:cond delay="500"/>
                            </p:stCondLst>
                            <p:childTnLst>
                              <p:par>
                                <p:cTn id="11" presetID="35" presetClass="emph" presetSubtype="0" repeatCount="4000" fill="hold" nodeType="afterEffect">
                                  <p:stCondLst>
                                    <p:cond delay="0"/>
                                  </p:stCondLst>
                                  <p:childTnLst>
                                    <p:anim calcmode="discrete" valueType="str">
                                      <p:cBhvr>
                                        <p:cTn id="12" dur="500" fill="hold"/>
                                        <p:tgtEl>
                                          <p:spTgt spid="3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21" name="Group 1505"/>
            <p:cNvGrpSpPr>
              <a:grpSpLocks/>
            </p:cNvGrpSpPr>
            <p:nvPr/>
          </p:nvGrpSpPr>
          <p:grpSpPr bwMode="auto">
            <a:xfrm>
              <a:off x="109" y="1226"/>
              <a:ext cx="2516" cy="1675"/>
              <a:chOff x="109" y="1226"/>
              <a:chExt cx="2516" cy="1675"/>
            </a:xfrm>
            <a:grpFill/>
          </p:grpSpPr>
          <p:grpSp>
            <p:nvGrpSpPr>
              <p:cNvPr id="123" name="Group 1506"/>
              <p:cNvGrpSpPr>
                <a:grpSpLocks/>
              </p:cNvGrpSpPr>
              <p:nvPr/>
            </p:nvGrpSpPr>
            <p:grpSpPr bwMode="auto">
              <a:xfrm>
                <a:off x="109" y="1226"/>
                <a:ext cx="2516" cy="1675"/>
                <a:chOff x="109" y="1226"/>
                <a:chExt cx="2516" cy="1675"/>
              </a:xfrm>
              <a:grpFill/>
            </p:grpSpPr>
            <p:sp>
              <p:nvSpPr>
                <p:cNvPr id="125"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6"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7"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1"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2"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3"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4"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4"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2"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313770" y="804271"/>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graphicFrame>
        <p:nvGraphicFramePr>
          <p:cNvPr id="31" name="Object 44"/>
          <p:cNvGraphicFramePr>
            <a:graphicFrameLocks noChangeAspect="1"/>
          </p:cNvGraphicFramePr>
          <p:nvPr>
            <p:extLst>
              <p:ext uri="{D42A27DB-BD31-4B8C-83A1-F6EECF244321}">
                <p14:modId xmlns:p14="http://schemas.microsoft.com/office/powerpoint/2010/main" val="938288180"/>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1"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0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3322933" y="1058794"/>
            <a:ext cx="3215816" cy="76607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(1) </a:t>
            </a:r>
            <a:r>
              <a:rPr kumimoji="1" lang="zh-CN" altLang="en-US" sz="1400" b="1" dirty="0">
                <a:latin typeface="微软雅黑 Light" panose="020B0502040204020203" pitchFamily="34" charset="-122"/>
                <a:ea typeface="微软雅黑 Light" panose="020B0502040204020203" pitchFamily="34" charset="-122"/>
              </a:rPr>
              <a:t>浏览器访问互联网的服务器时，先与校园网的高速缓存建立 </a:t>
            </a:r>
            <a:r>
              <a:rPr kumimoji="1" lang="en-US" altLang="zh-CN" sz="1400" b="1" dirty="0">
                <a:latin typeface="微软雅黑 Light" panose="020B0502040204020203" pitchFamily="34" charset="-122"/>
                <a:ea typeface="微软雅黑 Light" panose="020B0502040204020203" pitchFamily="34" charset="-122"/>
              </a:rPr>
              <a:t>TCP </a:t>
            </a:r>
            <a:r>
              <a:rPr kumimoji="1" lang="zh-CN" altLang="en-US" sz="1400" b="1" dirty="0">
                <a:latin typeface="微软雅黑 Light" panose="020B0502040204020203" pitchFamily="34" charset="-122"/>
                <a:ea typeface="微软雅黑 Light" panose="020B0502040204020203" pitchFamily="34" charset="-122"/>
              </a:rPr>
              <a:t>连接，并向高速缓存发出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2880000" y="144000"/>
            <a:ext cx="3384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20" name="Group 1505"/>
            <p:cNvGrpSpPr>
              <a:grpSpLocks/>
            </p:cNvGrpSpPr>
            <p:nvPr/>
          </p:nvGrpSpPr>
          <p:grpSpPr bwMode="auto">
            <a:xfrm>
              <a:off x="109" y="1226"/>
              <a:ext cx="2516" cy="1675"/>
              <a:chOff x="109" y="1226"/>
              <a:chExt cx="2516" cy="1675"/>
            </a:xfrm>
            <a:grpFill/>
          </p:grpSpPr>
          <p:grpSp>
            <p:nvGrpSpPr>
              <p:cNvPr id="122" name="Group 1506"/>
              <p:cNvGrpSpPr>
                <a:grpSpLocks/>
              </p:cNvGrpSpPr>
              <p:nvPr/>
            </p:nvGrpSpPr>
            <p:grpSpPr bwMode="auto">
              <a:xfrm>
                <a:off x="109" y="1226"/>
                <a:ext cx="2516" cy="1675"/>
                <a:chOff x="109" y="1226"/>
                <a:chExt cx="2516" cy="1675"/>
              </a:xfrm>
              <a:grpFill/>
            </p:grpSpPr>
            <p:sp>
              <p:nvSpPr>
                <p:cNvPr id="124"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5"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6"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7"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8"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9"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0"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3"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1"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5"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91" name="矩形 190"/>
          <p:cNvSpPr/>
          <p:nvPr/>
        </p:nvSpPr>
        <p:spPr>
          <a:xfrm>
            <a:off x="313770" y="825407"/>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4" name="Rectangle 281"/>
          <p:cNvSpPr>
            <a:spLocks noChangeArrowheads="1"/>
          </p:cNvSpPr>
          <p:nvPr/>
        </p:nvSpPr>
        <p:spPr bwMode="auto">
          <a:xfrm>
            <a:off x="4374843" y="2614741"/>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2" name="Rectangle 309"/>
          <p:cNvSpPr>
            <a:spLocks noChangeArrowheads="1"/>
          </p:cNvSpPr>
          <p:nvPr/>
        </p:nvSpPr>
        <p:spPr bwMode="auto">
          <a:xfrm>
            <a:off x="6538749" y="2811694"/>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7" name="Rectangle 314"/>
          <p:cNvSpPr>
            <a:spLocks noChangeArrowheads="1"/>
          </p:cNvSpPr>
          <p:nvPr/>
        </p:nvSpPr>
        <p:spPr bwMode="auto">
          <a:xfrm>
            <a:off x="3631167" y="2464626"/>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268" name="Rectangle 315"/>
          <p:cNvSpPr>
            <a:spLocks noChangeArrowheads="1"/>
          </p:cNvSpPr>
          <p:nvPr/>
        </p:nvSpPr>
        <p:spPr bwMode="auto">
          <a:xfrm>
            <a:off x="5779123" y="2465826"/>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83" name="Text Box 328"/>
          <p:cNvSpPr txBox="1">
            <a:spLocks noChangeArrowheads="1"/>
          </p:cNvSpPr>
          <p:nvPr/>
        </p:nvSpPr>
        <p:spPr bwMode="auto">
          <a:xfrm>
            <a:off x="3761576" y="3548617"/>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6" name="矩形 145"/>
          <p:cNvSpPr/>
          <p:nvPr/>
        </p:nvSpPr>
        <p:spPr>
          <a:xfrm>
            <a:off x="3322933" y="1058794"/>
            <a:ext cx="3215816" cy="76607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(2) </a:t>
            </a:r>
            <a:r>
              <a:rPr kumimoji="1" lang="zh-CN" altLang="en-US" sz="1400" b="1" dirty="0">
                <a:latin typeface="微软雅黑 Light" panose="020B0502040204020203" pitchFamily="34" charset="-122"/>
                <a:ea typeface="微软雅黑 Light" panose="020B0502040204020203" pitchFamily="34" charset="-122"/>
              </a:rPr>
              <a:t>若高速缓存已经存放了所请求的对象，则将此对象放入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响应报文中返回给浏览器。</a:t>
            </a:r>
          </a:p>
        </p:txBody>
      </p:sp>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2880000" y="144000"/>
            <a:ext cx="3384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125" name="矩形 124"/>
          <p:cNvSpPr/>
          <p:nvPr/>
        </p:nvSpPr>
        <p:spPr>
          <a:xfrm>
            <a:off x="197771" y="807398"/>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sp>
        <p:nvSpPr>
          <p:cNvPr id="171" name="矩形 170"/>
          <p:cNvSpPr/>
          <p:nvPr/>
        </p:nvSpPr>
        <p:spPr>
          <a:xfrm>
            <a:off x="3322933" y="1058794"/>
            <a:ext cx="3469578" cy="73866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(3) </a:t>
            </a:r>
            <a:r>
              <a:rPr kumimoji="1" lang="zh-CN" altLang="en-US" sz="1400" b="1" dirty="0">
                <a:latin typeface="微软雅黑 Light" panose="020B0502040204020203" pitchFamily="34" charset="-122"/>
                <a:ea typeface="微软雅黑 Light" panose="020B0502040204020203" pitchFamily="34" charset="-122"/>
              </a:rPr>
              <a:t>若未存放，高速缓存就代表浏览器与互联网上的源点服务器建立 </a:t>
            </a:r>
            <a:r>
              <a:rPr kumimoji="1" lang="en-US" altLang="zh-CN" sz="1400" b="1" dirty="0">
                <a:latin typeface="微软雅黑 Light" panose="020B0502040204020203" pitchFamily="34" charset="-122"/>
                <a:ea typeface="微软雅黑 Light" panose="020B0502040204020203" pitchFamily="34" charset="-122"/>
              </a:rPr>
              <a:t>TCP </a:t>
            </a:r>
            <a:r>
              <a:rPr kumimoji="1" lang="zh-CN" altLang="en-US" sz="1400" b="1" dirty="0">
                <a:latin typeface="微软雅黑 Light" panose="020B0502040204020203" pitchFamily="34" charset="-122"/>
                <a:ea typeface="微软雅黑 Light" panose="020B0502040204020203" pitchFamily="34" charset="-122"/>
              </a:rPr>
              <a:t>连接，并发送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请求报文。</a:t>
            </a: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2880000" y="144000"/>
            <a:ext cx="3384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5" name="矩形 124"/>
          <p:cNvSpPr/>
          <p:nvPr/>
        </p:nvSpPr>
        <p:spPr>
          <a:xfrm>
            <a:off x="284529" y="801879"/>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sp>
        <p:nvSpPr>
          <p:cNvPr id="171" name="矩形 170"/>
          <p:cNvSpPr/>
          <p:nvPr/>
        </p:nvSpPr>
        <p:spPr>
          <a:xfrm>
            <a:off x="3322933" y="1058794"/>
            <a:ext cx="3215816" cy="73866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(4) </a:t>
            </a:r>
            <a:r>
              <a:rPr kumimoji="1" lang="zh-CN" altLang="en-US" sz="1400" b="1" dirty="0">
                <a:latin typeface="微软雅黑 Light" panose="020B0502040204020203" pitchFamily="34" charset="-122"/>
                <a:ea typeface="微软雅黑 Light" panose="020B0502040204020203" pitchFamily="34" charset="-122"/>
              </a:rPr>
              <a:t>源点服务器将所请求的对象放在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响应报文中返回给校园网的高速缓存。</a:t>
            </a:r>
          </a:p>
        </p:txBody>
      </p: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2880000" y="144000"/>
            <a:ext cx="3384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5" name="矩形 124"/>
          <p:cNvSpPr/>
          <p:nvPr/>
        </p:nvSpPr>
        <p:spPr>
          <a:xfrm>
            <a:off x="481925" y="861104"/>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sp>
        <p:nvSpPr>
          <p:cNvPr id="171" name="矩形 170"/>
          <p:cNvSpPr/>
          <p:nvPr/>
        </p:nvSpPr>
        <p:spPr>
          <a:xfrm>
            <a:off x="3322932" y="1058794"/>
            <a:ext cx="3563345" cy="954107"/>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(5) </a:t>
            </a:r>
            <a:r>
              <a:rPr kumimoji="1" lang="zh-CN" altLang="en-US" sz="1400" b="1" dirty="0">
                <a:latin typeface="微软雅黑 Light" panose="020B0502040204020203" pitchFamily="34" charset="-122"/>
                <a:ea typeface="微软雅黑 Light" panose="020B0502040204020203" pitchFamily="34" charset="-122"/>
              </a:rPr>
              <a:t>高速缓存收到对象后，先复制到本地存储器中（留待以后用），然后将该对象放在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响应报文中，通过已建立的 </a:t>
            </a:r>
            <a:r>
              <a:rPr kumimoji="1" lang="en-US" altLang="zh-CN" sz="1400" b="1" dirty="0">
                <a:latin typeface="微软雅黑 Light" panose="020B0502040204020203" pitchFamily="34" charset="-122"/>
                <a:ea typeface="微软雅黑 Light" panose="020B0502040204020203" pitchFamily="34" charset="-122"/>
              </a:rPr>
              <a:t>TCP </a:t>
            </a:r>
            <a:r>
              <a:rPr kumimoji="1" lang="zh-CN" altLang="en-US" sz="1400" b="1" dirty="0">
                <a:latin typeface="微软雅黑 Light" panose="020B0502040204020203" pitchFamily="34" charset="-122"/>
                <a:ea typeface="微软雅黑 Light" panose="020B0502040204020203" pitchFamily="34" charset="-122"/>
              </a:rPr>
              <a:t>连接，返回给请求该对象的浏览器。</a:t>
            </a:r>
          </a:p>
        </p:txBody>
      </p: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2880000" y="144000"/>
            <a:ext cx="3384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2880000" y="144000"/>
            <a:ext cx="3384000" cy="338554"/>
          </a:xfrm>
        </p:spPr>
        <p:txBody>
          <a:bodyPr/>
          <a:lstStyle/>
          <a:p>
            <a:r>
              <a:rPr lang="en-US" altLang="zh-CN" dirty="0"/>
              <a:t>3.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482554"/>
            <a:ext cx="8172000" cy="4284000"/>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110" name="矩形 109"/>
          <p:cNvSpPr/>
          <p:nvPr/>
        </p:nvSpPr>
        <p:spPr>
          <a:xfrm>
            <a:off x="645268" y="569910"/>
            <a:ext cx="378719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的报文结构（请求报文）</a:t>
            </a:r>
          </a:p>
        </p:txBody>
      </p:sp>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809577" y="2796426"/>
            <a:ext cx="126188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378719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的报文结构（请求报文）</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378719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的报文结构（请求报文）</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378719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的报文结构（请求报文）</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110" name="矩形 109"/>
          <p:cNvSpPr/>
          <p:nvPr/>
        </p:nvSpPr>
        <p:spPr>
          <a:xfrm>
            <a:off x="645268" y="569910"/>
            <a:ext cx="378719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的报文结构（响应报文）</a:t>
            </a:r>
          </a:p>
        </p:txBody>
      </p:sp>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3" name="AutoShape 5"/>
          <p:cNvSpPr>
            <a:spLocks noChangeArrowheads="1"/>
          </p:cNvSpPr>
          <p:nvPr/>
        </p:nvSpPr>
        <p:spPr bwMode="auto">
          <a:xfrm>
            <a:off x="556963" y="613284"/>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592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95447" y="572714"/>
            <a:ext cx="35718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4. </a:t>
            </a:r>
            <a:r>
              <a:rPr lang="zh-CN" altLang="en-US" sz="2000" b="1" dirty="0">
                <a:solidFill>
                  <a:schemeClr val="bg1"/>
                </a:solidFill>
                <a:latin typeface="微软雅黑 Light" panose="020B0502040204020203" pitchFamily="34" charset="-122"/>
                <a:ea typeface="微软雅黑 Light" panose="020B0502040204020203" pitchFamily="34" charset="-122"/>
              </a:rPr>
              <a:t>在服务器上存放用户的信息</a:t>
            </a:r>
          </a:p>
        </p:txBody>
      </p:sp>
      <p:sp>
        <p:nvSpPr>
          <p:cNvPr id="4" name="Rectangle 68"/>
          <p:cNvSpPr>
            <a:spLocks noChangeArrowheads="1"/>
          </p:cNvSpPr>
          <p:nvPr/>
        </p:nvSpPr>
        <p:spPr bwMode="auto">
          <a:xfrm>
            <a:off x="556963" y="967015"/>
            <a:ext cx="8048776" cy="418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28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万维网使用 </a:t>
            </a:r>
            <a:r>
              <a:rPr lang="en-US" altLang="zh-CN" b="1" dirty="0">
                <a:solidFill>
                  <a:srgbClr val="C00000"/>
                </a:solidFill>
                <a:latin typeface="微软雅黑 Light" panose="020B0502040204020203" pitchFamily="34" charset="-122"/>
                <a:ea typeface="微软雅黑 Light" panose="020B0502040204020203" pitchFamily="34" charset="-122"/>
              </a:rPr>
              <a:t>Cookie</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跟踪在 </a:t>
            </a:r>
            <a:r>
              <a:rPr lang="en-US" altLang="zh-CN" b="1" dirty="0">
                <a:latin typeface="微软雅黑 Light" panose="020B0502040204020203" pitchFamily="34" charset="-122"/>
                <a:ea typeface="微软雅黑 Light" panose="020B0502040204020203" pitchFamily="34" charset="-122"/>
              </a:rPr>
              <a:t>HTTP </a:t>
            </a:r>
            <a:r>
              <a:rPr lang="zh-CN" altLang="en-US" b="1" dirty="0">
                <a:latin typeface="微软雅黑 Light" panose="020B0502040204020203" pitchFamily="34" charset="-122"/>
                <a:ea typeface="微软雅黑 Light" panose="020B0502040204020203" pitchFamily="34" charset="-122"/>
              </a:rPr>
              <a:t>服务器和客户之间传递的</a:t>
            </a:r>
            <a:r>
              <a:rPr lang="zh-CN" altLang="en-US" b="1" dirty="0">
                <a:solidFill>
                  <a:srgbClr val="C00000"/>
                </a:solidFill>
                <a:latin typeface="微软雅黑 Light" panose="020B0502040204020203" pitchFamily="34" charset="-122"/>
                <a:ea typeface="微软雅黑 Light" panose="020B0502040204020203" pitchFamily="34" charset="-122"/>
              </a:rPr>
              <a:t>状态</a:t>
            </a:r>
            <a:r>
              <a:rPr lang="zh-CN" altLang="en-US" b="1" dirty="0">
                <a:latin typeface="微软雅黑 Light" panose="020B0502040204020203" pitchFamily="34" charset="-122"/>
                <a:ea typeface="微软雅黑 Light" panose="020B0502040204020203" pitchFamily="34" charset="-122"/>
              </a:rPr>
              <a:t>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Text Box 9"/>
            <p:cNvSpPr txBox="1">
              <a:spLocks noChangeArrowheads="1"/>
            </p:cNvSpPr>
            <p:nvPr/>
          </p:nvSpPr>
          <p:spPr bwMode="auto">
            <a:xfrm>
              <a:off x="1456" y="2732"/>
              <a:ext cx="1532"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Text Box 14"/>
            <p:cNvSpPr txBox="1">
              <a:spLocks noChangeArrowheads="1"/>
            </p:cNvSpPr>
            <p:nvPr/>
          </p:nvSpPr>
          <p:spPr bwMode="auto">
            <a:xfrm>
              <a:off x="1545" y="3625"/>
              <a:ext cx="1522"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cookie file</a:t>
            </a:r>
          </a:p>
        </p:txBody>
      </p:sp>
      <p:grpSp>
        <p:nvGrpSpPr>
          <p:cNvPr id="19" name="Group 17"/>
          <p:cNvGrpSpPr>
            <a:grpSpLocks/>
          </p:cNvGrpSpPr>
          <p:nvPr/>
        </p:nvGrpSpPr>
        <p:grpSpPr bwMode="auto">
          <a:xfrm>
            <a:off x="2325178" y="2776921"/>
            <a:ext cx="5145616"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9"/>
            <p:cNvSpPr txBox="1">
              <a:spLocks noChangeArrowheads="1"/>
            </p:cNvSpPr>
            <p:nvPr/>
          </p:nvSpPr>
          <p:spPr bwMode="auto">
            <a:xfrm>
              <a:off x="1562" y="2261"/>
              <a:ext cx="141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请求</a:t>
              </a:r>
              <a:endParaRPr lang="en-US" altLang="zh-CN" sz="1400" b="1" dirty="0">
                <a:latin typeface="微软雅黑 Light" panose="020B0502040204020203" pitchFamily="34" charset="-122"/>
                <a:ea typeface="微软雅黑 Light" panose="020B0502040204020203" pitchFamily="34" charset="-122"/>
              </a:endParaRPr>
            </a:p>
            <a:p>
              <a:pPr algn="ctr">
                <a:lnSpc>
                  <a:spcPct val="80000"/>
                </a:lnSpc>
              </a:pPr>
              <a:r>
                <a:rPr lang="en-US" altLang="zh-CN" sz="1400" b="1" dirty="0">
                  <a:solidFill>
                    <a:srgbClr val="0000FF"/>
                  </a:solidFill>
                  <a:latin typeface="微软雅黑 Light" panose="020B0502040204020203" pitchFamily="34" charset="-122"/>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solidFill>
                    <a:srgbClr val="0000FF"/>
                  </a:solidFill>
                  <a:latin typeface="微软雅黑 Light" panose="020B0502040204020203" pitchFamily="34" charset="-122"/>
                  <a:ea typeface="微软雅黑 Light" panose="020B0502040204020203" pitchFamily="34" charset="-122"/>
                </a:rPr>
                <a:t>处理</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latin typeface="微软雅黑 Light" panose="020B0502040204020203" pitchFamily="34" charset="-122"/>
                  <a:ea typeface="微软雅黑 Light" panose="020B0502040204020203" pitchFamily="34" charset="-122"/>
                </a:rPr>
                <a:t>访问</a:t>
              </a:r>
              <a:endParaRPr lang="en-US" altLang="zh-CN" sz="1200" b="1" dirty="0">
                <a:latin typeface="微软雅黑 Light" panose="020B0502040204020203" pitchFamily="34" charset="-122"/>
                <a:ea typeface="微软雅黑 Light" panose="020B0502040204020203" pitchFamily="34" charset="-122"/>
              </a:endParaRPr>
            </a:p>
          </p:txBody>
        </p:sp>
      </p:grpSp>
      <p:grpSp>
        <p:nvGrpSpPr>
          <p:cNvPr id="27" name="Group 25"/>
          <p:cNvGrpSpPr>
            <a:grpSpLocks/>
          </p:cNvGrpSpPr>
          <p:nvPr/>
        </p:nvGrpSpPr>
        <p:grpSpPr bwMode="auto">
          <a:xfrm>
            <a:off x="1119464" y="1723191"/>
            <a:ext cx="1139100" cy="455616"/>
            <a:chOff x="527" y="1047"/>
            <a:chExt cx="855" cy="486"/>
          </a:xfrm>
        </p:grpSpPr>
        <p:sp>
          <p:nvSpPr>
            <p:cNvPr id="28" name="AutoShape 26"/>
            <p:cNvSpPr>
              <a:spLocks noChangeArrowheads="1"/>
            </p:cNvSpPr>
            <p:nvPr/>
          </p:nvSpPr>
          <p:spPr bwMode="auto">
            <a:xfrm>
              <a:off x="527" y="1047"/>
              <a:ext cx="855" cy="486"/>
            </a:xfrm>
            <a:prstGeom prst="can">
              <a:avLst>
                <a:gd name="adj" fmla="val 25000"/>
              </a:avLst>
            </a:prstGeom>
            <a:solidFill>
              <a:srgbClr val="0000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7"/>
            <p:cNvSpPr txBox="1">
              <a:spLocks noChangeArrowheads="1"/>
            </p:cNvSpPr>
            <p:nvPr/>
          </p:nvSpPr>
          <p:spPr bwMode="auto">
            <a:xfrm>
              <a:off x="560" y="1134"/>
              <a:ext cx="751"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b="1" dirty="0">
                  <a:solidFill>
                    <a:schemeClr val="bg1"/>
                  </a:solidFill>
                  <a:latin typeface="微软雅黑 Light" panose="020B0502040204020203" pitchFamily="34" charset="-122"/>
                  <a:ea typeface="微软雅黑 Light" panose="020B0502040204020203" pitchFamily="34" charset="-122"/>
                </a:rPr>
                <a:t>JD 1234</a:t>
              </a:r>
            </a:p>
          </p:txBody>
        </p:sp>
      </p:grpSp>
      <p:sp>
        <p:nvSpPr>
          <p:cNvPr id="30" name="AutoShape 28"/>
          <p:cNvSpPr>
            <a:spLocks noChangeArrowheads="1"/>
          </p:cNvSpPr>
          <p:nvPr/>
        </p:nvSpPr>
        <p:spPr bwMode="auto">
          <a:xfrm>
            <a:off x="7565597" y="2623173"/>
            <a:ext cx="544020" cy="516595"/>
          </a:xfrm>
          <a:prstGeom prst="can">
            <a:avLst>
              <a:gd name="adj" fmla="val 39157"/>
            </a:avLst>
          </a:prstGeom>
          <a:solidFill>
            <a:srgbClr val="0099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1" name="Group 29"/>
          <p:cNvGrpSpPr>
            <a:grpSpLocks/>
          </p:cNvGrpSpPr>
          <p:nvPr/>
        </p:nvGrpSpPr>
        <p:grpSpPr bwMode="auto">
          <a:xfrm>
            <a:off x="2243909" y="1837564"/>
            <a:ext cx="5407917" cy="996543"/>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Text Box 31"/>
            <p:cNvSpPr txBox="1">
              <a:spLocks noChangeArrowheads="1"/>
            </p:cNvSpPr>
            <p:nvPr/>
          </p:nvSpPr>
          <p:spPr bwMode="auto">
            <a:xfrm>
              <a:off x="1627" y="1259"/>
              <a:ext cx="1381"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请求</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b="1" dirty="0">
                  <a:solidFill>
                    <a:srgbClr val="0000FF"/>
                  </a:solidFill>
                  <a:latin typeface="微软雅黑 Light" panose="020B0502040204020203" pitchFamily="34" charset="-122"/>
                  <a:ea typeface="微软雅黑 Light" panose="020B0502040204020203" pitchFamily="34" charset="-122"/>
                </a:rPr>
                <a:t>JD </a:t>
              </a:r>
              <a:r>
                <a:rPr lang="zh-CN" altLang="en-US" sz="1200" b="1" dirty="0">
                  <a:solidFill>
                    <a:srgbClr val="0000FF"/>
                  </a:solidFill>
                  <a:latin typeface="微软雅黑 Light" panose="020B0502040204020203" pitchFamily="34" charset="-122"/>
                  <a:ea typeface="微软雅黑 Light" panose="020B0502040204020203" pitchFamily="34" charset="-122"/>
                </a:rPr>
                <a:t>服务器为用户创建</a:t>
              </a:r>
              <a:r>
                <a:rPr lang="zh-CN" altLang="en-US" sz="1200" b="1" dirty="0">
                  <a:solidFill>
                    <a:srgbClr val="C00000"/>
                  </a:solidFill>
                  <a:latin typeface="微软雅黑 Light" panose="020B0502040204020203" pitchFamily="34" charset="-122"/>
                  <a:ea typeface="微软雅黑 Light" panose="020B0502040204020203" pitchFamily="34" charset="-122"/>
                </a:rPr>
                <a:t>唯一</a:t>
              </a:r>
              <a:r>
                <a:rPr lang="zh-CN" altLang="en-US" sz="1200" b="1" dirty="0">
                  <a:solidFill>
                    <a:srgbClr val="0000FF"/>
                  </a:solidFill>
                  <a:latin typeface="微软雅黑 Light" panose="020B0502040204020203" pitchFamily="34" charset="-122"/>
                  <a:ea typeface="微软雅黑 Light" panose="020B0502040204020203" pitchFamily="34" charset="-122"/>
                </a:rPr>
                <a:t>识别码</a:t>
              </a:r>
              <a:r>
                <a:rPr lang="en-US" altLang="zh-CN" sz="1200" b="1" dirty="0">
                  <a:solidFill>
                    <a:srgbClr val="0000FF"/>
                  </a:solidFill>
                  <a:latin typeface="微软雅黑 Light" panose="020B0502040204020203" pitchFamily="34" charset="-122"/>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b="1" dirty="0">
                    <a:latin typeface="微软雅黑 Light" panose="020B0502040204020203" pitchFamily="34" charset="-122"/>
                    <a:ea typeface="微软雅黑 Light" panose="020B0502040204020203" pitchFamily="34" charset="-122"/>
                  </a:rPr>
                  <a:t>产生一个项目</a:t>
                </a:r>
                <a:endParaRPr lang="en-US" altLang="zh-CN" sz="1200" b="1" dirty="0">
                  <a:latin typeface="微软雅黑 Light" panose="020B0502040204020203" pitchFamily="34" charset="-122"/>
                  <a:ea typeface="微软雅黑 Light" panose="020B0502040204020203" pitchFamily="34" charset="-122"/>
                </a:endParaRPr>
              </a:p>
            </p:txBody>
          </p:sp>
        </p:grpSp>
      </p:grpSp>
      <p:grpSp>
        <p:nvGrpSpPr>
          <p:cNvPr id="39" name="Group 37"/>
          <p:cNvGrpSpPr>
            <a:grpSpLocks/>
          </p:cNvGrpSpPr>
          <p:nvPr/>
        </p:nvGrpSpPr>
        <p:grpSpPr bwMode="auto">
          <a:xfrm>
            <a:off x="1139448" y="2213269"/>
            <a:ext cx="4130071" cy="754672"/>
            <a:chOff x="195" y="1584"/>
            <a:chExt cx="3100" cy="805"/>
          </a:xfrm>
        </p:grpSpPr>
        <p:sp>
          <p:nvSpPr>
            <p:cNvPr id="40" name="Line 38"/>
            <p:cNvSpPr>
              <a:spLocks noChangeShapeType="1"/>
            </p:cNvSpPr>
            <p:nvPr/>
          </p:nvSpPr>
          <p:spPr bwMode="auto">
            <a:xfrm flipH="1">
              <a:off x="1057" y="1683"/>
              <a:ext cx="2238" cy="406"/>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Text Box 39"/>
            <p:cNvSpPr txBox="1">
              <a:spLocks noChangeArrowheads="1"/>
            </p:cNvSpPr>
            <p:nvPr/>
          </p:nvSpPr>
          <p:spPr bwMode="auto">
            <a:xfrm>
              <a:off x="1271" y="1584"/>
              <a:ext cx="1523" cy="55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响应</a:t>
              </a:r>
              <a:r>
                <a:rPr lang="en-US" altLang="zh-CN" sz="1400" b="1" dirty="0">
                  <a:latin typeface="微软雅黑 Light" panose="020B0502040204020203" pitchFamily="34" charset="-122"/>
                  <a:ea typeface="微软雅黑 Light" panose="020B0502040204020203" pitchFamily="34" charset="-122"/>
                </a:rPr>
                <a:t> </a:t>
              </a:r>
            </a:p>
            <a:p>
              <a:pPr algn="ctr"/>
              <a:r>
                <a:rPr lang="en-US" altLang="zh-CN" sz="1400" b="1" dirty="0">
                  <a:solidFill>
                    <a:srgbClr val="0000FF"/>
                  </a:solidFill>
                  <a:latin typeface="微软雅黑 Light" panose="020B0502040204020203" pitchFamily="34" charset="-122"/>
                  <a:ea typeface="微软雅黑 Light" panose="020B0502040204020203" pitchFamily="34" charset="-122"/>
                </a:rPr>
                <a:t>set-cookie: ad42 </a:t>
              </a:r>
            </a:p>
          </p:txBody>
        </p:sp>
        <p:grpSp>
          <p:nvGrpSpPr>
            <p:cNvPr id="42" name="Group 40"/>
            <p:cNvGrpSpPr>
              <a:grpSpLocks/>
            </p:cNvGrpSpPr>
            <p:nvPr/>
          </p:nvGrpSpPr>
          <p:grpSpPr bwMode="auto">
            <a:xfrm>
              <a:off x="195" y="1836"/>
              <a:ext cx="829" cy="553"/>
              <a:chOff x="420" y="1746"/>
              <a:chExt cx="829" cy="553"/>
            </a:xfrm>
          </p:grpSpPr>
          <p:sp>
            <p:nvSpPr>
              <p:cNvPr id="43" name="AutoShape 41"/>
              <p:cNvSpPr>
                <a:spLocks noChangeArrowheads="1"/>
              </p:cNvSpPr>
              <p:nvPr/>
            </p:nvSpPr>
            <p:spPr bwMode="auto">
              <a:xfrm>
                <a:off x="420" y="1746"/>
                <a:ext cx="829" cy="486"/>
              </a:xfrm>
              <a:prstGeom prst="can">
                <a:avLst>
                  <a:gd name="adj" fmla="val 25000"/>
                </a:avLst>
              </a:prstGeom>
              <a:solidFill>
                <a:srgbClr val="0000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Text Box 42"/>
              <p:cNvSpPr txBox="1">
                <a:spLocks noChangeArrowheads="1"/>
              </p:cNvSpPr>
              <p:nvPr/>
            </p:nvSpPr>
            <p:spPr bwMode="auto">
              <a:xfrm>
                <a:off x="455" y="1807"/>
                <a:ext cx="763" cy="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JD 1234</a:t>
                </a:r>
              </a:p>
              <a:p>
                <a:pPr algn="ctr"/>
                <a:r>
                  <a:rPr lang="en-US" altLang="zh-CN" sz="1200" b="1" dirty="0">
                    <a:solidFill>
                      <a:schemeClr val="bg1"/>
                    </a:solidFill>
                    <a:latin typeface="微软雅黑 Light" panose="020B0502040204020203" pitchFamily="34" charset="-122"/>
                    <a:ea typeface="微软雅黑 Light" panose="020B0502040204020203" pitchFamily="34" charset="-122"/>
                  </a:rPr>
                  <a:t>ad42</a:t>
                </a:r>
              </a:p>
            </p:txBody>
          </p:sp>
        </p:grpSp>
      </p:grpSp>
      <p:grpSp>
        <p:nvGrpSpPr>
          <p:cNvPr id="45" name="Group 43"/>
          <p:cNvGrpSpPr>
            <a:grpSpLocks/>
          </p:cNvGrpSpPr>
          <p:nvPr/>
        </p:nvGrpSpPr>
        <p:grpSpPr bwMode="auto">
          <a:xfrm>
            <a:off x="2332972" y="3071515"/>
            <a:ext cx="5171915"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Text Box 45"/>
            <p:cNvSpPr txBox="1">
              <a:spLocks noChangeArrowheads="1"/>
            </p:cNvSpPr>
            <p:nvPr/>
          </p:nvSpPr>
          <p:spPr bwMode="auto">
            <a:xfrm>
              <a:off x="1561" y="3171"/>
              <a:ext cx="1531"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请求</a:t>
              </a:r>
            </a:p>
            <a:p>
              <a:pPr algn="ctr">
                <a:lnSpc>
                  <a:spcPct val="80000"/>
                </a:lnSpc>
              </a:pPr>
              <a:r>
                <a:rPr lang="en-US" altLang="zh-CN" sz="1400" b="1" dirty="0">
                  <a:latin typeface="微软雅黑 Light" panose="020B0502040204020203" pitchFamily="34" charset="-122"/>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solidFill>
                    <a:srgbClr val="0000FF"/>
                  </a:solidFill>
                  <a:latin typeface="微软雅黑 Light" panose="020B0502040204020203" pitchFamily="34" charset="-122"/>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latin typeface="微软雅黑 Light" panose="020B0502040204020203" pitchFamily="34" charset="-122"/>
                  <a:ea typeface="微软雅黑 Light" panose="020B0502040204020203" pitchFamily="34" charset="-122"/>
                </a:rPr>
                <a:t>访问</a:t>
              </a:r>
            </a:p>
          </p:txBody>
        </p:sp>
      </p:grpSp>
      <p:grpSp>
        <p:nvGrpSpPr>
          <p:cNvPr id="59" name="组合 58"/>
          <p:cNvGrpSpPr/>
          <p:nvPr/>
        </p:nvGrpSpPr>
        <p:grpSpPr>
          <a:xfrm>
            <a:off x="777810" y="3396225"/>
            <a:ext cx="1613074" cy="816038"/>
            <a:chOff x="777810" y="3396225"/>
            <a:chExt cx="1613074" cy="816038"/>
          </a:xfrm>
        </p:grpSpPr>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几天后</a:t>
              </a:r>
              <a:endParaRPr lang="en-US" altLang="zh-CN" sz="1400" b="1" dirty="0">
                <a:latin typeface="微软雅黑 Light" panose="020B0502040204020203" pitchFamily="34" charset="-122"/>
                <a:ea typeface="微软雅黑 Light" panose="020B0502040204020203" pitchFamily="34" charset="-122"/>
              </a:endParaRPr>
            </a:p>
          </p:txBody>
        </p:sp>
        <p:grpSp>
          <p:nvGrpSpPr>
            <p:cNvPr id="51" name="Group 49"/>
            <p:cNvGrpSpPr>
              <a:grpSpLocks/>
            </p:cNvGrpSpPr>
            <p:nvPr/>
          </p:nvGrpSpPr>
          <p:grpSpPr bwMode="auto">
            <a:xfrm>
              <a:off x="1053274" y="3696648"/>
              <a:ext cx="1337610" cy="515615"/>
              <a:chOff x="666" y="1746"/>
              <a:chExt cx="1004" cy="550"/>
            </a:xfrm>
          </p:grpSpPr>
          <p:sp>
            <p:nvSpPr>
              <p:cNvPr id="52" name="AutoShape 50"/>
              <p:cNvSpPr>
                <a:spLocks noChangeArrowheads="1"/>
              </p:cNvSpPr>
              <p:nvPr/>
            </p:nvSpPr>
            <p:spPr bwMode="auto">
              <a:xfrm>
                <a:off x="735" y="1746"/>
                <a:ext cx="829" cy="486"/>
              </a:xfrm>
              <a:prstGeom prst="can">
                <a:avLst>
                  <a:gd name="adj" fmla="val 25000"/>
                </a:avLst>
              </a:prstGeom>
              <a:solidFill>
                <a:srgbClr val="0000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Text Box 51"/>
              <p:cNvSpPr txBox="1">
                <a:spLocks noChangeArrowheads="1"/>
              </p:cNvSpPr>
              <p:nvPr/>
            </p:nvSpPr>
            <p:spPr bwMode="auto">
              <a:xfrm>
                <a:off x="666" y="1804"/>
                <a:ext cx="1004" cy="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JD 1234</a:t>
                </a:r>
              </a:p>
              <a:p>
                <a:pPr algn="ctr"/>
                <a:r>
                  <a:rPr lang="en-US" altLang="zh-CN" sz="1200" b="1" dirty="0">
                    <a:solidFill>
                      <a:schemeClr val="bg1"/>
                    </a:solidFill>
                    <a:latin typeface="微软雅黑 Light" panose="020B0502040204020203" pitchFamily="34" charset="-122"/>
                    <a:ea typeface="微软雅黑 Light" panose="020B0502040204020203" pitchFamily="34" charset="-122"/>
                  </a:rPr>
                  <a:t>ad42</a:t>
                </a:r>
              </a:p>
            </p:txBody>
          </p:sp>
        </p:grpSp>
      </p:gr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solidFill>
                  <a:srgbClr val="C00000"/>
                </a:solidFill>
                <a:latin typeface="微软雅黑 Light" panose="020B0502040204020203" pitchFamily="34" charset="-122"/>
                <a:ea typeface="微软雅黑 Light" panose="020B0502040204020203" pitchFamily="34" charset="-122"/>
              </a:rPr>
              <a:t>后台</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r>
              <a:rPr lang="zh-CN" altLang="en-US" sz="1400" b="1" dirty="0">
                <a:solidFill>
                  <a:srgbClr val="C00000"/>
                </a:solidFill>
                <a:latin typeface="微软雅黑 Light" panose="020B0502040204020203" pitchFamily="34" charset="-122"/>
                <a:ea typeface="微软雅黑 Light" panose="020B0502040204020203" pitchFamily="34" charset="-122"/>
              </a:rPr>
              <a:t>数据库</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用户 </a:t>
            </a:r>
            <a:r>
              <a:rPr kumimoji="1" lang="en-US" altLang="zh-CN" sz="1400" b="1" dirty="0">
                <a:latin typeface="微软雅黑 Light" panose="020B0502040204020203" pitchFamily="34" charset="-122"/>
                <a:ea typeface="微软雅黑 Light" panose="020B0502040204020203" pitchFamily="34" charset="-122"/>
              </a:rPr>
              <a:t>A</a:t>
            </a:r>
            <a:endParaRPr kumimoji="1"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39"/>
                                        </p:tgtEl>
                                        <p:attrNameLst>
                                          <p:attrName>style.visibility</p:attrName>
                                        </p:attrNameLst>
                                      </p:cBhvr>
                                      <p:to>
                                        <p:strVal val="visible"/>
                                      </p:to>
                                    </p:set>
                                    <p:animEffect transition="in" filter="wipe(right)">
                                      <p:cBhvr>
                                        <p:cTn id="12" dur="1000"/>
                                        <p:tgtEl>
                                          <p:spTgt spid="3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wipe(left)">
                                      <p:cBhvr>
                                        <p:cTn id="17" dur="1000"/>
                                        <p:tgtEl>
                                          <p:spTgt spid="19"/>
                                        </p:tgtEl>
                                      </p:cBhvr>
                                    </p:animEffect>
                                  </p:childTnLst>
                                </p:cTn>
                              </p:par>
                            </p:childTnLst>
                          </p:cTn>
                        </p:par>
                        <p:par>
                          <p:cTn id="18" fill="hold">
                            <p:stCondLst>
                              <p:cond delay="1000"/>
                            </p:stCondLst>
                            <p:childTnLst>
                              <p:par>
                                <p:cTn id="19" presetID="22" presetClass="entr" presetSubtype="2"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right)">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59"/>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5"/>
                                        </p:tgtEl>
                                        <p:attrNameLst>
                                          <p:attrName>style.visibility</p:attrName>
                                        </p:attrNameLst>
                                      </p:cBhvr>
                                      <p:to>
                                        <p:strVal val="visible"/>
                                      </p:to>
                                    </p:set>
                                    <p:animEffect transition="in" filter="wipe(left)">
                                      <p:cBhvr>
                                        <p:cTn id="30" dur="1000"/>
                                        <p:tgtEl>
                                          <p:spTgt spid="45"/>
                                        </p:tgtEl>
                                      </p:cBhvr>
                                    </p:animEffect>
                                  </p:childTnLst>
                                </p:cTn>
                              </p:par>
                            </p:childTnLst>
                          </p:cTn>
                        </p:par>
                        <p:par>
                          <p:cTn id="31" fill="hold">
                            <p:stCondLst>
                              <p:cond delay="1000"/>
                            </p:stCondLst>
                            <p:childTnLst>
                              <p:par>
                                <p:cTn id="32" presetID="22" presetClass="entr" presetSubtype="2" fill="hold"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right)">
                                      <p:cBhvr>
                                        <p:cTn id="34"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2880000" y="144000"/>
            <a:ext cx="3384000"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482554"/>
            <a:ext cx="8172000" cy="4284000"/>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2880000" y="144000"/>
            <a:ext cx="3384000" cy="338554"/>
          </a:xfrm>
        </p:spPr>
        <p:txBody>
          <a:bodyPr/>
          <a:lstStyle/>
          <a:p>
            <a:r>
              <a:rPr lang="en-US" altLang="zh-CN" dirty="0"/>
              <a:t>1.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482554"/>
            <a:ext cx="8172000" cy="4284000"/>
          </a:xfrm>
        </p:spPr>
        <p:txBody>
          <a:bodyPr/>
          <a:lstStyle/>
          <a:p>
            <a:r>
              <a:rPr lang="zh-CN" altLang="en-US" dirty="0"/>
              <a:t>超文本标记语言 </a:t>
            </a:r>
            <a:r>
              <a:rPr lang="en-US" altLang="zh-CN" dirty="0"/>
              <a:t>HTML - </a:t>
            </a:r>
            <a:r>
              <a:rPr lang="en-US" altLang="zh-CN" dirty="0" err="1"/>
              <a:t>HyperText</a:t>
            </a:r>
            <a:r>
              <a:rPr lang="en-US" altLang="zh-CN" dirty="0"/>
              <a: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2880000" y="144000"/>
            <a:ext cx="3384000" cy="338554"/>
          </a:xfrm>
        </p:spPr>
        <p:txBody>
          <a:bodyPr/>
          <a:lstStyle/>
          <a:p>
            <a:r>
              <a:rPr lang="en-US" altLang="zh-CN" dirty="0"/>
              <a:t>1.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482554"/>
            <a:ext cx="8172000" cy="4284000"/>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9" name="Group 9"/>
          <p:cNvGrpSpPr>
            <a:grpSpLocks/>
          </p:cNvGrpSpPr>
          <p:nvPr/>
        </p:nvGrpSpPr>
        <p:grpSpPr bwMode="auto">
          <a:xfrm>
            <a:off x="3360317" y="1033391"/>
            <a:ext cx="4097733" cy="369368"/>
            <a:chOff x="1426" y="630"/>
            <a:chExt cx="4598" cy="449"/>
          </a:xfrm>
        </p:grpSpPr>
        <p:sp>
          <p:nvSpPr>
            <p:cNvPr id="20" name="Text Box 5"/>
            <p:cNvSpPr txBox="1">
              <a:spLocks noChangeArrowheads="1"/>
            </p:cNvSpPr>
            <p:nvPr/>
          </p:nvSpPr>
          <p:spPr bwMode="auto">
            <a:xfrm>
              <a:off x="4009" y="630"/>
              <a:ext cx="2015"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800" b="1" dirty="0">
                  <a:solidFill>
                    <a:sysClr val="windowText" lastClr="000000"/>
                  </a:solidFill>
                  <a:latin typeface="微软雅黑 Light" panose="020B0502040204020203" pitchFamily="34" charset="-122"/>
                  <a:ea typeface="微软雅黑 Light" panose="020B0502040204020203" pitchFamily="34" charset="-122"/>
                </a:rPr>
                <a:t>HTML </a:t>
              </a:r>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文档开始</a:t>
              </a:r>
            </a:p>
          </p:txBody>
        </p:sp>
        <p:sp>
          <p:nvSpPr>
            <p:cNvPr id="21"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grpSp>
        <p:nvGrpSpPr>
          <p:cNvPr id="22" name="Group 9"/>
          <p:cNvGrpSpPr>
            <a:grpSpLocks/>
          </p:cNvGrpSpPr>
          <p:nvPr/>
        </p:nvGrpSpPr>
        <p:grpSpPr bwMode="auto">
          <a:xfrm>
            <a:off x="3360317" y="3466604"/>
            <a:ext cx="4097733" cy="369368"/>
            <a:chOff x="1426" y="630"/>
            <a:chExt cx="4598" cy="449"/>
          </a:xfrm>
        </p:grpSpPr>
        <p:sp>
          <p:nvSpPr>
            <p:cNvPr id="23" name="Text Box 5"/>
            <p:cNvSpPr txBox="1">
              <a:spLocks noChangeArrowheads="1"/>
            </p:cNvSpPr>
            <p:nvPr/>
          </p:nvSpPr>
          <p:spPr bwMode="auto">
            <a:xfrm>
              <a:off x="4009" y="630"/>
              <a:ext cx="2015"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800" b="1" dirty="0">
                  <a:solidFill>
                    <a:sysClr val="windowText" lastClr="000000"/>
                  </a:solidFill>
                  <a:latin typeface="微软雅黑 Light" panose="020B0502040204020203" pitchFamily="34" charset="-122"/>
                  <a:ea typeface="微软雅黑 Light" panose="020B0502040204020203" pitchFamily="34" charset="-122"/>
                </a:rPr>
                <a:t>HTML </a:t>
              </a:r>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文档结束</a:t>
              </a:r>
            </a:p>
          </p:txBody>
        </p:sp>
        <p:sp>
          <p:nvSpPr>
            <p:cNvPr id="24"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0686676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5" name="Group 9"/>
          <p:cNvGrpSpPr>
            <a:grpSpLocks/>
          </p:cNvGrpSpPr>
          <p:nvPr/>
        </p:nvGrpSpPr>
        <p:grpSpPr bwMode="auto">
          <a:xfrm>
            <a:off x="3271543" y="1311151"/>
            <a:ext cx="3409728" cy="369368"/>
            <a:chOff x="1426" y="630"/>
            <a:chExt cx="3826" cy="449"/>
          </a:xfrm>
        </p:grpSpPr>
        <p:sp>
          <p:nvSpPr>
            <p:cNvPr id="26"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首部开始</a:t>
              </a:r>
            </a:p>
          </p:txBody>
        </p:sp>
        <p:sp>
          <p:nvSpPr>
            <p:cNvPr id="27"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grpSp>
        <p:nvGrpSpPr>
          <p:cNvPr id="31" name="Group 9"/>
          <p:cNvGrpSpPr>
            <a:grpSpLocks/>
          </p:cNvGrpSpPr>
          <p:nvPr/>
        </p:nvGrpSpPr>
        <p:grpSpPr bwMode="auto">
          <a:xfrm>
            <a:off x="3279507" y="1852127"/>
            <a:ext cx="3409728" cy="369368"/>
            <a:chOff x="1426" y="630"/>
            <a:chExt cx="3826" cy="449"/>
          </a:xfrm>
        </p:grpSpPr>
        <p:sp>
          <p:nvSpPr>
            <p:cNvPr id="32"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首部结束</a:t>
              </a:r>
            </a:p>
          </p:txBody>
        </p:sp>
        <p:sp>
          <p:nvSpPr>
            <p:cNvPr id="33"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18380375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1" name="组合 20"/>
          <p:cNvGrpSpPr/>
          <p:nvPr/>
        </p:nvGrpSpPr>
        <p:grpSpPr>
          <a:xfrm>
            <a:off x="3463312" y="1580951"/>
            <a:ext cx="4007387" cy="777521"/>
            <a:chOff x="2610222" y="1700563"/>
            <a:chExt cx="4007387" cy="777521"/>
          </a:xfrm>
        </p:grpSpPr>
        <p:grpSp>
          <p:nvGrpSpPr>
            <p:cNvPr id="22" name="Group 9"/>
            <p:cNvGrpSpPr>
              <a:grpSpLocks/>
            </p:cNvGrpSpPr>
            <p:nvPr/>
          </p:nvGrpSpPr>
          <p:grpSpPr bwMode="auto">
            <a:xfrm>
              <a:off x="4398525" y="2029742"/>
              <a:ext cx="2219084" cy="448342"/>
              <a:chOff x="3021" y="534"/>
              <a:chExt cx="2490" cy="545"/>
            </a:xfrm>
          </p:grpSpPr>
          <p:sp>
            <p:nvSpPr>
              <p:cNvPr id="24" name="Text Box 5"/>
              <p:cNvSpPr txBox="1">
                <a:spLocks noChangeArrowheads="1"/>
              </p:cNvSpPr>
              <p:nvPr/>
            </p:nvSpPr>
            <p:spPr bwMode="auto">
              <a:xfrm>
                <a:off x="4009" y="630"/>
                <a:ext cx="1502"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文档的标题</a:t>
                </a:r>
              </a:p>
            </p:txBody>
          </p:sp>
          <p:sp>
            <p:nvSpPr>
              <p:cNvPr id="28" name="Line 6"/>
              <p:cNvSpPr>
                <a:spLocks noChangeShapeType="1"/>
              </p:cNvSpPr>
              <p:nvPr/>
            </p:nvSpPr>
            <p:spPr bwMode="auto">
              <a:xfrm flipH="1" flipV="1">
                <a:off x="3021" y="534"/>
                <a:ext cx="988" cy="31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3" name="Rectangle 8"/>
            <p:cNvSpPr>
              <a:spLocks noChangeArrowheads="1"/>
            </p:cNvSpPr>
            <p:nvPr/>
          </p:nvSpPr>
          <p:spPr bwMode="auto">
            <a:xfrm>
              <a:off x="2610222" y="1700563"/>
              <a:ext cx="1788042"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0752813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0" name="Group 9"/>
          <p:cNvGrpSpPr>
            <a:grpSpLocks/>
          </p:cNvGrpSpPr>
          <p:nvPr/>
        </p:nvGrpSpPr>
        <p:grpSpPr bwMode="auto">
          <a:xfrm>
            <a:off x="3279507" y="2125847"/>
            <a:ext cx="3409728" cy="369368"/>
            <a:chOff x="1426" y="630"/>
            <a:chExt cx="3826" cy="449"/>
          </a:xfrm>
        </p:grpSpPr>
        <p:sp>
          <p:nvSpPr>
            <p:cNvPr id="25"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主体开始</a:t>
              </a:r>
            </a:p>
          </p:txBody>
        </p:sp>
        <p:sp>
          <p:nvSpPr>
            <p:cNvPr id="26"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grpSp>
        <p:nvGrpSpPr>
          <p:cNvPr id="27" name="Group 9"/>
          <p:cNvGrpSpPr>
            <a:grpSpLocks/>
          </p:cNvGrpSpPr>
          <p:nvPr/>
        </p:nvGrpSpPr>
        <p:grpSpPr bwMode="auto">
          <a:xfrm>
            <a:off x="3279507" y="3191982"/>
            <a:ext cx="3409728" cy="369368"/>
            <a:chOff x="1426" y="630"/>
            <a:chExt cx="3826" cy="449"/>
          </a:xfrm>
        </p:grpSpPr>
        <p:sp>
          <p:nvSpPr>
            <p:cNvPr id="29"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主体结束</a:t>
              </a:r>
            </a:p>
          </p:txBody>
        </p:sp>
        <p:sp>
          <p:nvSpPr>
            <p:cNvPr id="30"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16299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1" name="组合 20"/>
          <p:cNvGrpSpPr/>
          <p:nvPr/>
        </p:nvGrpSpPr>
        <p:grpSpPr>
          <a:xfrm>
            <a:off x="3186458" y="1881194"/>
            <a:ext cx="4232691" cy="836219"/>
            <a:chOff x="2335902" y="1998481"/>
            <a:chExt cx="4232691" cy="836219"/>
          </a:xfrm>
        </p:grpSpPr>
        <p:grpSp>
          <p:nvGrpSpPr>
            <p:cNvPr id="22" name="Group 9"/>
            <p:cNvGrpSpPr>
              <a:grpSpLocks/>
            </p:cNvGrpSpPr>
            <p:nvPr/>
          </p:nvGrpSpPr>
          <p:grpSpPr bwMode="auto">
            <a:xfrm>
              <a:off x="4124038" y="1998481"/>
              <a:ext cx="2444555" cy="506750"/>
              <a:chOff x="2713" y="496"/>
              <a:chExt cx="2743" cy="616"/>
            </a:xfrm>
          </p:grpSpPr>
          <p:sp>
            <p:nvSpPr>
              <p:cNvPr id="24" name="Text Box 5"/>
              <p:cNvSpPr txBox="1">
                <a:spLocks noChangeArrowheads="1"/>
              </p:cNvSpPr>
              <p:nvPr/>
            </p:nvSpPr>
            <p:spPr bwMode="auto">
              <a:xfrm>
                <a:off x="3380" y="496"/>
                <a:ext cx="2076"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主体的 </a:t>
                </a:r>
                <a:r>
                  <a:rPr lang="en-US" altLang="zh-CN" sz="1800" b="1" dirty="0">
                    <a:solidFill>
                      <a:sysClr val="windowText" lastClr="000000"/>
                    </a:solidFill>
                    <a:latin typeface="微软雅黑 Light" panose="020B0502040204020203" pitchFamily="34" charset="-122"/>
                    <a:ea typeface="微软雅黑 Light" panose="020B0502040204020203" pitchFamily="34" charset="-122"/>
                  </a:rPr>
                  <a:t>1 </a:t>
                </a:r>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级题头</a:t>
                </a:r>
              </a:p>
            </p:txBody>
          </p:sp>
          <p:sp>
            <p:nvSpPr>
              <p:cNvPr id="28" name="Line 6"/>
              <p:cNvSpPr>
                <a:spLocks noChangeShapeType="1"/>
              </p:cNvSpPr>
              <p:nvPr/>
            </p:nvSpPr>
            <p:spPr bwMode="auto">
              <a:xfrm flipH="1">
                <a:off x="2713" y="711"/>
                <a:ext cx="667" cy="40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3" name="Rectangle 8"/>
            <p:cNvSpPr>
              <a:spLocks noChangeArrowheads="1"/>
            </p:cNvSpPr>
            <p:nvPr/>
          </p:nvSpPr>
          <p:spPr bwMode="auto">
            <a:xfrm>
              <a:off x="2335902" y="2505295"/>
              <a:ext cx="1788042"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0115049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0" name="组合 19"/>
          <p:cNvGrpSpPr/>
          <p:nvPr/>
        </p:nvGrpSpPr>
        <p:grpSpPr>
          <a:xfrm>
            <a:off x="3059611" y="2193246"/>
            <a:ext cx="4599122" cy="799418"/>
            <a:chOff x="2189598" y="2849098"/>
            <a:chExt cx="4599122" cy="799418"/>
          </a:xfrm>
        </p:grpSpPr>
        <p:grpSp>
          <p:nvGrpSpPr>
            <p:cNvPr id="25" name="Group 9"/>
            <p:cNvGrpSpPr>
              <a:grpSpLocks/>
            </p:cNvGrpSpPr>
            <p:nvPr/>
          </p:nvGrpSpPr>
          <p:grpSpPr bwMode="auto">
            <a:xfrm>
              <a:off x="3837964" y="2849098"/>
              <a:ext cx="2950756" cy="580788"/>
              <a:chOff x="2392" y="1530"/>
              <a:chExt cx="3311" cy="706"/>
            </a:xfrm>
          </p:grpSpPr>
          <p:sp>
            <p:nvSpPr>
              <p:cNvPr id="27" name="Text Box 5"/>
              <p:cNvSpPr txBox="1">
                <a:spLocks noChangeArrowheads="1"/>
              </p:cNvSpPr>
              <p:nvPr/>
            </p:nvSpPr>
            <p:spPr bwMode="auto">
              <a:xfrm>
                <a:off x="3424" y="1530"/>
                <a:ext cx="2279"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主体的第一个段落</a:t>
                </a:r>
              </a:p>
            </p:txBody>
          </p:sp>
          <p:sp>
            <p:nvSpPr>
              <p:cNvPr id="29" name="Line 6"/>
              <p:cNvSpPr>
                <a:spLocks noChangeShapeType="1"/>
              </p:cNvSpPr>
              <p:nvPr/>
            </p:nvSpPr>
            <p:spPr bwMode="auto">
              <a:xfrm flipH="1">
                <a:off x="2392" y="1745"/>
                <a:ext cx="1032" cy="49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6" name="Rectangle 8"/>
            <p:cNvSpPr>
              <a:spLocks noChangeArrowheads="1"/>
            </p:cNvSpPr>
            <p:nvPr/>
          </p:nvSpPr>
          <p:spPr bwMode="auto">
            <a:xfrm>
              <a:off x="2189598" y="3319111"/>
              <a:ext cx="1645554"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613952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1" name="组合 20"/>
          <p:cNvGrpSpPr/>
          <p:nvPr/>
        </p:nvGrpSpPr>
        <p:grpSpPr>
          <a:xfrm>
            <a:off x="3059611" y="2455852"/>
            <a:ext cx="4600905" cy="799418"/>
            <a:chOff x="2189598" y="2849098"/>
            <a:chExt cx="4600905" cy="799418"/>
          </a:xfrm>
        </p:grpSpPr>
        <p:grpSp>
          <p:nvGrpSpPr>
            <p:cNvPr id="22" name="Group 9"/>
            <p:cNvGrpSpPr>
              <a:grpSpLocks/>
            </p:cNvGrpSpPr>
            <p:nvPr/>
          </p:nvGrpSpPr>
          <p:grpSpPr bwMode="auto">
            <a:xfrm>
              <a:off x="3837964" y="2849098"/>
              <a:ext cx="2952539" cy="580788"/>
              <a:chOff x="2392" y="1530"/>
              <a:chExt cx="3313" cy="706"/>
            </a:xfrm>
          </p:grpSpPr>
          <p:sp>
            <p:nvSpPr>
              <p:cNvPr id="24" name="Text Box 5"/>
              <p:cNvSpPr txBox="1">
                <a:spLocks noChangeArrowheads="1"/>
              </p:cNvSpPr>
              <p:nvPr/>
            </p:nvSpPr>
            <p:spPr bwMode="auto">
              <a:xfrm>
                <a:off x="3424" y="1530"/>
                <a:ext cx="2281"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主体的第二个段落</a:t>
                </a:r>
              </a:p>
            </p:txBody>
          </p:sp>
          <p:sp>
            <p:nvSpPr>
              <p:cNvPr id="28" name="Line 6"/>
              <p:cNvSpPr>
                <a:spLocks noChangeShapeType="1"/>
              </p:cNvSpPr>
              <p:nvPr/>
            </p:nvSpPr>
            <p:spPr bwMode="auto">
              <a:xfrm flipH="1">
                <a:off x="2392" y="1745"/>
                <a:ext cx="1032" cy="49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3" name="Rectangle 8"/>
            <p:cNvSpPr>
              <a:spLocks noChangeArrowheads="1"/>
            </p:cNvSpPr>
            <p:nvPr/>
          </p:nvSpPr>
          <p:spPr bwMode="auto">
            <a:xfrm>
              <a:off x="2189598" y="3319111"/>
              <a:ext cx="1645554"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2796093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4" y="929311"/>
            <a:ext cx="8048776" cy="20544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&lt;</a:t>
            </a:r>
            <a:r>
              <a:rPr lang="en-US" altLang="zh-CN" sz="2000" b="1" dirty="0" err="1">
                <a:solidFill>
                  <a:srgbClr val="C00000"/>
                </a:solidFill>
                <a:latin typeface="微软雅黑 Light" panose="020B0502040204020203" pitchFamily="34" charset="-122"/>
                <a:ea typeface="微软雅黑 Light" panose="020B0502040204020203" pitchFamily="34" charset="-122"/>
              </a:rPr>
              <a:t>img</a:t>
            </a:r>
            <a:r>
              <a:rPr lang="en-US" altLang="zh-CN" sz="2000" b="1" dirty="0">
                <a:solidFill>
                  <a:srgbClr val="C00000"/>
                </a:solidFill>
                <a:latin typeface="微软雅黑 Light" panose="020B0502040204020203" pitchFamily="34" charset="-122"/>
                <a:ea typeface="微软雅黑 Light" panose="020B0502040204020203" pitchFamily="34" charset="-122"/>
              </a:rPr>
              <a:t>&gt;</a:t>
            </a:r>
            <a:r>
              <a:rPr lang="zh-CN" altLang="en-US" sz="2000" b="1" dirty="0">
                <a:solidFill>
                  <a:srgbClr val="C00000"/>
                </a:solidFill>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图像标签。</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允许在万维网页面中插入图像。</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一个页面本身带有的图像称为</a:t>
            </a:r>
            <a:r>
              <a:rPr lang="zh-CN" altLang="en-US" sz="2000" b="1" dirty="0">
                <a:solidFill>
                  <a:srgbClr val="C00000"/>
                </a:solidFill>
                <a:latin typeface="微软雅黑 Light" panose="020B0502040204020203" pitchFamily="34" charset="-122"/>
                <a:ea typeface="微软雅黑 Light" panose="020B0502040204020203" pitchFamily="34" charset="-122"/>
              </a:rPr>
              <a:t>内含图像</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(inline image)</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标准没有规定该图像的格式。</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大多数浏览器都支持 </a:t>
            </a:r>
            <a:r>
              <a:rPr lang="en-US" altLang="zh-CN" sz="2000" b="1" dirty="0">
                <a:latin typeface="微软雅黑 Light" panose="020B0502040204020203" pitchFamily="34" charset="-122"/>
                <a:ea typeface="微软雅黑 Light" panose="020B0502040204020203" pitchFamily="34" charset="-122"/>
              </a:rPr>
              <a:t>GIF </a:t>
            </a:r>
            <a:r>
              <a:rPr lang="zh-CN" altLang="en-US" sz="2000" b="1" dirty="0">
                <a:latin typeface="微软雅黑 Light" panose="020B0502040204020203" pitchFamily="34" charset="-122"/>
                <a:ea typeface="微软雅黑 Light" panose="020B0502040204020203" pitchFamily="34" charset="-122"/>
              </a:rPr>
              <a:t>和 </a:t>
            </a:r>
            <a:r>
              <a:rPr lang="en-US" altLang="zh-CN" sz="2000" b="1" dirty="0">
                <a:latin typeface="微软雅黑 Light" panose="020B0502040204020203" pitchFamily="34" charset="-122"/>
                <a:ea typeface="微软雅黑 Light" panose="020B0502040204020203" pitchFamily="34" charset="-122"/>
              </a:rPr>
              <a:t>JPEG </a:t>
            </a:r>
            <a:r>
              <a:rPr lang="zh-CN" altLang="en-US" sz="2000" b="1" dirty="0">
                <a:latin typeface="微软雅黑 Light" panose="020B0502040204020203" pitchFamily="34" charset="-122"/>
                <a:ea typeface="微软雅黑 Light" panose="020B0502040204020203" pitchFamily="34" charset="-122"/>
              </a:rPr>
              <a:t>文件。</a:t>
            </a:r>
            <a:endParaRPr lang="en-US" altLang="zh-CN" sz="2000" b="1" dirty="0">
              <a:latin typeface="微软雅黑 Light" panose="020B0502040204020203" pitchFamily="34" charset="-122"/>
              <a:ea typeface="微软雅黑 Light" panose="020B0502040204020203" pitchFamily="34" charset="-122"/>
            </a:endParaRPr>
          </a:p>
        </p:txBody>
      </p:sp>
      <p:sp>
        <p:nvSpPr>
          <p:cNvPr id="5"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4" y="929311"/>
            <a:ext cx="8048776"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28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&lt;a&gt;</a:t>
            </a:r>
            <a:r>
              <a:rPr lang="zh-CN" altLang="en-US" sz="2000" b="1" dirty="0">
                <a:solidFill>
                  <a:srgbClr val="C00000"/>
                </a:solidFill>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链接标签。</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每个链接都有一个起点和终点。</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solidFill>
                  <a:srgbClr val="0000FF"/>
                </a:solidFill>
                <a:latin typeface="微软雅黑 Light" panose="020B0502040204020203" pitchFamily="34" charset="-122"/>
                <a:ea typeface="微软雅黑 Light" panose="020B0502040204020203" pitchFamily="34" charset="-122"/>
              </a:rPr>
              <a:t>起点：</a:t>
            </a:r>
            <a:r>
              <a:rPr lang="zh-CN" altLang="en-US" sz="2000" b="1" dirty="0">
                <a:latin typeface="微软雅黑 Light" panose="020B0502040204020203" pitchFamily="34" charset="-122"/>
                <a:ea typeface="微软雅黑 Light" panose="020B0502040204020203" pitchFamily="34" charset="-122"/>
              </a:rPr>
              <a:t>说明在万维网页面中的什么地方可</a:t>
            </a:r>
            <a:r>
              <a:rPr lang="zh-CN" altLang="en-US" sz="2000" b="1" dirty="0">
                <a:solidFill>
                  <a:srgbClr val="C00000"/>
                </a:solidFill>
                <a:latin typeface="微软雅黑 Light" panose="020B0502040204020203" pitchFamily="34" charset="-122"/>
                <a:ea typeface="微软雅黑 Light" panose="020B0502040204020203" pitchFamily="34" charset="-122"/>
              </a:rPr>
              <a:t>引出</a:t>
            </a:r>
            <a:r>
              <a:rPr lang="zh-CN" altLang="en-US" sz="2000" b="1" dirty="0">
                <a:latin typeface="微软雅黑 Light" panose="020B0502040204020203" pitchFamily="34" charset="-122"/>
                <a:ea typeface="微软雅黑 Light" panose="020B0502040204020203" pitchFamily="34" charset="-122"/>
              </a:rPr>
              <a:t>一个链接。可以是一个字或几个字，或是一幅图，或是一段文字。例如：</a:t>
            </a:r>
            <a:r>
              <a:rPr lang="en-US" altLang="zh-CN" sz="2000" b="1" dirty="0">
                <a:latin typeface="微软雅黑 Light" panose="020B0502040204020203" pitchFamily="34" charset="-122"/>
                <a:ea typeface="微软雅黑 Light" panose="020B0502040204020203" pitchFamily="34" charset="-122"/>
              </a:rPr>
              <a:t> </a:t>
            </a:r>
          </a:p>
          <a:p>
            <a:pPr marL="288925" lvl="1">
              <a:lnSpc>
                <a:spcPts val="2800"/>
              </a:lnSpc>
              <a:buClr>
                <a:srgbClr val="9900CC"/>
              </a:buClr>
              <a:buSzPct val="85000"/>
            </a:pPr>
            <a:r>
              <a:rPr lang="en-US" altLang="zh-CN" b="1" dirty="0">
                <a:latin typeface="Montserrat" panose="00000500000000000000" pitchFamily="2" charset="0"/>
                <a:ea typeface="微软雅黑 Light" panose="020B0502040204020203" pitchFamily="34" charset="-122"/>
              </a:rPr>
              <a:t>	</a:t>
            </a:r>
            <a:r>
              <a:rPr lang="en-US" altLang="zh-CN" sz="2000" b="1" dirty="0">
                <a:latin typeface="Montserrat" panose="00000500000000000000" pitchFamily="2" charset="0"/>
                <a:ea typeface="微软雅黑 Light" panose="020B0502040204020203" pitchFamily="34" charset="-122"/>
              </a:rPr>
              <a:t>&lt;a </a:t>
            </a:r>
            <a:r>
              <a:rPr lang="en-US" altLang="zh-CN" sz="2000" b="1" dirty="0" err="1">
                <a:latin typeface="Montserrat" panose="00000500000000000000" pitchFamily="2" charset="0"/>
                <a:ea typeface="微软雅黑 Light" panose="020B0502040204020203" pitchFamily="34" charset="-122"/>
              </a:rPr>
              <a:t>href</a:t>
            </a:r>
            <a:r>
              <a:rPr lang="en-US" altLang="zh-CN" sz="2000" b="1" dirty="0">
                <a:latin typeface="Montserrat" panose="00000500000000000000" pitchFamily="2" charset="0"/>
                <a:ea typeface="微软雅黑 Light" panose="020B0502040204020203" pitchFamily="34" charset="-122"/>
              </a:rPr>
              <a:t>=“</a:t>
            </a:r>
            <a:r>
              <a:rPr lang="en-US" altLang="zh-CN" sz="2000" b="1" u="sng" dirty="0">
                <a:solidFill>
                  <a:srgbClr val="0033CC"/>
                </a:solidFill>
                <a:latin typeface="Montserrat" panose="00000500000000000000" pitchFamily="2" charset="0"/>
                <a:ea typeface="微软雅黑 Light" panose="020B0502040204020203" pitchFamily="34" charset="-122"/>
              </a:rPr>
              <a:t>http://www.tsinghua.edu.cn</a:t>
            </a:r>
            <a:r>
              <a:rPr lang="en-US" altLang="zh-CN" sz="2000" b="1" dirty="0">
                <a:latin typeface="Montserrat" panose="00000500000000000000" pitchFamily="2" charset="0"/>
                <a:ea typeface="微软雅黑 Light" panose="020B0502040204020203" pitchFamily="34" charset="-122"/>
              </a:rPr>
              <a:t>”&gt;</a:t>
            </a:r>
            <a:r>
              <a:rPr lang="zh-CN" altLang="en-US" sz="2000" b="1" dirty="0">
                <a:latin typeface="微软雅黑 Light" panose="020B0502040204020203" pitchFamily="34" charset="-122"/>
                <a:ea typeface="微软雅黑 Light" panose="020B0502040204020203" pitchFamily="34" charset="-122"/>
              </a:rPr>
              <a:t>清华大学主页</a:t>
            </a:r>
            <a:r>
              <a:rPr lang="en-US" altLang="zh-CN" sz="2000" b="1" dirty="0">
                <a:latin typeface="Montserrat" panose="00000500000000000000" pitchFamily="2" charset="0"/>
                <a:ea typeface="微软雅黑 Light" panose="020B0502040204020203" pitchFamily="34" charset="-122"/>
              </a:rPr>
              <a:t>&lt;/a&gt;</a:t>
            </a:r>
          </a:p>
          <a:p>
            <a:pPr marL="631825" lvl="1" indent="-342900">
              <a:lnSpc>
                <a:spcPts val="2800"/>
              </a:lnSpc>
              <a:buClr>
                <a:srgbClr val="9900CC"/>
              </a:buClr>
              <a:buSzPct val="85000"/>
              <a:buFont typeface="Wingdings" panose="05000000000000000000" pitchFamily="2" charset="2"/>
              <a:buChar char="u"/>
            </a:pPr>
            <a:r>
              <a:rPr lang="zh-CN" altLang="en-US" sz="2000" b="1" dirty="0">
                <a:solidFill>
                  <a:srgbClr val="0000FF"/>
                </a:solidFill>
                <a:latin typeface="微软雅黑 Light" panose="020B0502040204020203" pitchFamily="34" charset="-122"/>
                <a:ea typeface="微软雅黑 Light" panose="020B0502040204020203" pitchFamily="34" charset="-122"/>
              </a:rPr>
              <a:t>终点：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985838" lvl="2" indent="-239713">
              <a:lnSpc>
                <a:spcPts val="2800"/>
              </a:lnSpc>
              <a:buClr>
                <a:srgbClr val="993300"/>
              </a:buClr>
              <a:buSzPct val="85000"/>
              <a:buFont typeface="Wingdings" panose="05000000000000000000" pitchFamily="2" charset="2"/>
              <a:buChar char="p"/>
            </a:pPr>
            <a:r>
              <a:rPr lang="zh-CN" altLang="en-US" b="1" dirty="0">
                <a:latin typeface="微软雅黑 Light" panose="020B0502040204020203" pitchFamily="34" charset="-122"/>
                <a:ea typeface="微软雅黑 Light" panose="020B0502040204020203" pitchFamily="34" charset="-122"/>
              </a:rPr>
              <a:t>可以是其他网站上的页面。这种链接方式叫做</a:t>
            </a:r>
            <a:r>
              <a:rPr lang="zh-CN" altLang="en-US" b="1" dirty="0">
                <a:solidFill>
                  <a:srgbClr val="C00000"/>
                </a:solidFill>
                <a:latin typeface="微软雅黑 Light" panose="020B0502040204020203" pitchFamily="34" charset="-122"/>
                <a:ea typeface="微软雅黑 Light" panose="020B0502040204020203" pitchFamily="34" charset="-122"/>
              </a:rPr>
              <a:t>远程链接。</a:t>
            </a:r>
            <a:r>
              <a:rPr lang="zh-CN" altLang="en-US" b="1" dirty="0">
                <a:latin typeface="微软雅黑 Light" panose="020B0502040204020203" pitchFamily="34" charset="-122"/>
                <a:ea typeface="微软雅黑 Light" panose="020B0502040204020203" pitchFamily="34" charset="-122"/>
              </a:rPr>
              <a:t>这时必须指明链接到的</a:t>
            </a:r>
            <a:r>
              <a:rPr lang="zh-CN" altLang="en-US" b="1" dirty="0">
                <a:solidFill>
                  <a:srgbClr val="C00000"/>
                </a:solidFill>
                <a:latin typeface="微软雅黑 Light" panose="020B0502040204020203" pitchFamily="34" charset="-122"/>
                <a:ea typeface="微软雅黑 Light" panose="020B0502040204020203" pitchFamily="34" charset="-122"/>
              </a:rPr>
              <a:t>网站的 </a:t>
            </a:r>
            <a:r>
              <a:rPr lang="en-US" altLang="zh-CN" b="1" dirty="0">
                <a:solidFill>
                  <a:srgbClr val="C00000"/>
                </a:solidFill>
                <a:latin typeface="微软雅黑 Light" panose="020B0502040204020203" pitchFamily="34" charset="-122"/>
                <a:ea typeface="微软雅黑 Light" panose="020B0502040204020203" pitchFamily="34" charset="-122"/>
              </a:rPr>
              <a:t>URL</a:t>
            </a:r>
            <a:r>
              <a:rPr lang="zh-CN" altLang="en-US" b="1" dirty="0">
                <a:solidFill>
                  <a:srgbClr val="C00000"/>
                </a:solidFill>
                <a:latin typeface="微软雅黑 Light" panose="020B0502040204020203" pitchFamily="34" charset="-122"/>
                <a:ea typeface="微软雅黑 Light" panose="020B0502040204020203" pitchFamily="34" charset="-122"/>
              </a:rPr>
              <a:t>。</a:t>
            </a:r>
            <a:endParaRPr lang="en-US" altLang="zh-CN" b="1" dirty="0">
              <a:solidFill>
                <a:srgbClr val="C00000"/>
              </a:solidFill>
              <a:latin typeface="微软雅黑 Light" panose="020B0502040204020203" pitchFamily="34" charset="-122"/>
              <a:ea typeface="微软雅黑 Light" panose="020B0502040204020203" pitchFamily="34" charset="-122"/>
            </a:endParaRPr>
          </a:p>
          <a:p>
            <a:pPr marL="985838" lvl="2" indent="-239713">
              <a:lnSpc>
                <a:spcPts val="2800"/>
              </a:lnSpc>
              <a:buClr>
                <a:srgbClr val="993300"/>
              </a:buClr>
              <a:buSzPct val="85000"/>
              <a:buFont typeface="Wingdings" panose="05000000000000000000" pitchFamily="2" charset="2"/>
              <a:buChar char="p"/>
            </a:pPr>
            <a:r>
              <a:rPr lang="zh-CN" altLang="en-US" b="1" dirty="0">
                <a:latin typeface="微软雅黑 Light" panose="020B0502040204020203" pitchFamily="34" charset="-122"/>
                <a:ea typeface="微软雅黑 Light" panose="020B0502040204020203" pitchFamily="34" charset="-122"/>
              </a:rPr>
              <a:t>可以指向本计算机中的某一个文件或本文件中的某处，这种链接方式叫做</a:t>
            </a:r>
            <a:r>
              <a:rPr lang="zh-CN" altLang="en-US" b="1" dirty="0">
                <a:solidFill>
                  <a:srgbClr val="C00000"/>
                </a:solidFill>
                <a:latin typeface="微软雅黑 Light" panose="020B0502040204020203" pitchFamily="34" charset="-122"/>
                <a:ea typeface="微软雅黑 Light" panose="020B0502040204020203" pitchFamily="34" charset="-122"/>
              </a:rPr>
              <a:t>本地链接。</a:t>
            </a:r>
            <a:r>
              <a:rPr lang="zh-CN" altLang="en-US" b="1" dirty="0">
                <a:latin typeface="微软雅黑 Light" panose="020B0502040204020203" pitchFamily="34" charset="-122"/>
                <a:ea typeface="微软雅黑 Light" panose="020B0502040204020203" pitchFamily="34" charset="-122"/>
              </a:rPr>
              <a:t>这时必须指明链接的</a:t>
            </a:r>
            <a:r>
              <a:rPr lang="zh-CN" altLang="en-US" b="1" dirty="0">
                <a:solidFill>
                  <a:srgbClr val="C00000"/>
                </a:solidFill>
                <a:latin typeface="微软雅黑 Light" panose="020B0502040204020203" pitchFamily="34" charset="-122"/>
                <a:ea typeface="微软雅黑 Light" panose="020B0502040204020203" pitchFamily="34" charset="-122"/>
              </a:rPr>
              <a:t>路径。</a:t>
            </a:r>
            <a:endParaRPr lang="en-US" altLang="zh-CN" b="1" dirty="0">
              <a:solidFill>
                <a:srgbClr val="C00000"/>
              </a:solidFill>
              <a:latin typeface="微软雅黑 Light" panose="020B0502040204020203" pitchFamily="34" charset="-122"/>
              <a:ea typeface="微软雅黑 Light" panose="020B0502040204020203" pitchFamily="34" charset="-122"/>
            </a:endParaRPr>
          </a:p>
        </p:txBody>
      </p:sp>
      <p:sp>
        <p:nvSpPr>
          <p:cNvPr id="5"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Tree>
    <p:extLst>
      <p:ext uri="{BB962C8B-B14F-4D97-AF65-F5344CB8AC3E}">
        <p14:creationId xmlns:p14="http://schemas.microsoft.com/office/powerpoint/2010/main" val="4044828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2880000" y="144000"/>
            <a:ext cx="3384000" cy="338554"/>
          </a:xfrm>
        </p:spPr>
        <p:txBody>
          <a:bodyPr/>
          <a:lstStyle/>
          <a:p>
            <a:r>
              <a:rPr lang="en-US" altLang="zh-CN" dirty="0"/>
              <a:t>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482554"/>
            <a:ext cx="8172000" cy="4284000"/>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2880000" y="144000"/>
            <a:ext cx="3384000" cy="338554"/>
          </a:xfrm>
        </p:spPr>
        <p:txBody>
          <a:bodyPr/>
          <a:lstStyle/>
          <a:p>
            <a:r>
              <a:rPr lang="en-US" altLang="zh-CN" dirty="0"/>
              <a:t>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482554"/>
            <a:ext cx="8172000" cy="4284000"/>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2880000" y="144000"/>
            <a:ext cx="3384000" cy="338554"/>
          </a:xfrm>
        </p:spPr>
        <p:txBody>
          <a:bodyPr/>
          <a:lstStyle/>
          <a:p>
            <a:r>
              <a:rPr lang="en-US" altLang="zh-CN" dirty="0"/>
              <a:t>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482554"/>
            <a:ext cx="8172000" cy="4284000"/>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29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1876" y="57608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动态万维网文档</a:t>
            </a:r>
          </a:p>
        </p:txBody>
      </p:sp>
      <p:sp>
        <p:nvSpPr>
          <p:cNvPr id="4" name="Rectangle 68"/>
          <p:cNvSpPr>
            <a:spLocks noChangeArrowheads="1"/>
          </p:cNvSpPr>
          <p:nvPr/>
        </p:nvSpPr>
        <p:spPr bwMode="auto">
          <a:xfrm>
            <a:off x="556963" y="970389"/>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静态文档：</a:t>
            </a:r>
            <a:r>
              <a:rPr lang="zh-CN" altLang="en-US" sz="2000" b="1" dirty="0">
                <a:latin typeface="微软雅黑 Light" panose="020B0502040204020203" pitchFamily="34" charset="-122"/>
                <a:ea typeface="微软雅黑 Light" panose="020B0502040204020203" pitchFamily="34" charset="-122"/>
              </a:rPr>
              <a:t>该文档创作完毕后就存放在万维网服务器中，在被用户浏览的过程中，内容不会改变</a:t>
            </a:r>
          </a:p>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动态文档：</a:t>
            </a:r>
            <a:r>
              <a:rPr lang="zh-CN" altLang="en-US" sz="2000" b="1" dirty="0">
                <a:latin typeface="微软雅黑 Light" panose="020B0502040204020203" pitchFamily="34" charset="-122"/>
                <a:ea typeface="微软雅黑 Light" panose="020B0502040204020203" pitchFamily="34" charset="-122"/>
              </a:rPr>
              <a:t>文档的内容是在浏览器访问万维网服务器时才由应用程序动态创建</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动态文档和静态文档之间的</a:t>
            </a:r>
            <a:r>
              <a:rPr lang="zh-CN" altLang="en-US" sz="2000" b="1" dirty="0">
                <a:solidFill>
                  <a:srgbClr val="C00000"/>
                </a:solidFill>
                <a:latin typeface="微软雅黑 Light" panose="020B0502040204020203" pitchFamily="34" charset="-122"/>
                <a:ea typeface="微软雅黑 Light" panose="020B0502040204020203" pitchFamily="34" charset="-122"/>
              </a:rPr>
              <a:t>主要差别</a:t>
            </a:r>
            <a:r>
              <a:rPr lang="zh-CN" altLang="en-US" sz="2000" b="1" dirty="0">
                <a:latin typeface="微软雅黑 Light" panose="020B0502040204020203" pitchFamily="34" charset="-122"/>
                <a:ea typeface="微软雅黑 Light" panose="020B0502040204020203" pitchFamily="34" charset="-122"/>
              </a:rPr>
              <a:t>体现在</a:t>
            </a:r>
            <a:r>
              <a:rPr lang="zh-CN" altLang="en-US" sz="2000" b="1" dirty="0">
                <a:solidFill>
                  <a:srgbClr val="0000FF"/>
                </a:solidFill>
                <a:latin typeface="微软雅黑 Light" panose="020B0502040204020203" pitchFamily="34" charset="-122"/>
                <a:ea typeface="微软雅黑 Light" panose="020B0502040204020203" pitchFamily="34" charset="-122"/>
              </a:rPr>
              <a:t>服务器端：</a:t>
            </a:r>
            <a:r>
              <a:rPr lang="zh-CN" altLang="en-US" sz="2000" b="1" dirty="0">
                <a:latin typeface="微软雅黑 Light" panose="020B0502040204020203" pitchFamily="34" charset="-122"/>
                <a:ea typeface="微软雅黑 Light" panose="020B0502040204020203" pitchFamily="34" charset="-122"/>
              </a:rPr>
              <a:t>文档内容的生成方法不同。从浏览器的角度看，这两种文档并没有区别</a:t>
            </a:r>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2" y="954011"/>
            <a:ext cx="812069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(1) </a:t>
            </a:r>
            <a:r>
              <a:rPr lang="zh-CN" altLang="en-US" sz="2000" b="1" dirty="0">
                <a:latin typeface="微软雅黑 Light" panose="020B0502040204020203" pitchFamily="34" charset="-122"/>
                <a:ea typeface="微软雅黑 Light" panose="020B0502040204020203" pitchFamily="34" charset="-122"/>
              </a:rPr>
              <a:t>增加一个</a:t>
            </a:r>
            <a:r>
              <a:rPr lang="zh-CN" altLang="en-US" sz="2000" b="1" dirty="0">
                <a:solidFill>
                  <a:srgbClr val="C00000"/>
                </a:solidFill>
                <a:latin typeface="微软雅黑 Light" panose="020B0502040204020203" pitchFamily="34" charset="-122"/>
                <a:ea typeface="微软雅黑 Light" panose="020B0502040204020203" pitchFamily="34" charset="-122"/>
              </a:rPr>
              <a:t>应用程序：</a:t>
            </a:r>
            <a:r>
              <a:rPr lang="zh-CN" altLang="en-US" sz="2000" b="1" dirty="0">
                <a:latin typeface="微软雅黑 Light" panose="020B0502040204020203" pitchFamily="34" charset="-122"/>
                <a:ea typeface="微软雅黑 Light" panose="020B0502040204020203" pitchFamily="34" charset="-122"/>
              </a:rPr>
              <a:t>处理浏览器发来的数据，并创建动态文档。</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(2) </a:t>
            </a:r>
            <a:r>
              <a:rPr lang="zh-CN" altLang="en-US" sz="2000" b="1" dirty="0">
                <a:latin typeface="微软雅黑 Light" panose="020B0502040204020203" pitchFamily="34" charset="-122"/>
                <a:ea typeface="微软雅黑 Light" panose="020B0502040204020203" pitchFamily="34" charset="-122"/>
              </a:rPr>
              <a:t>增加一个</a:t>
            </a:r>
            <a:r>
              <a:rPr lang="zh-CN" altLang="en-US" sz="2000" b="1" dirty="0">
                <a:solidFill>
                  <a:srgbClr val="C00000"/>
                </a:solidFill>
                <a:latin typeface="微软雅黑 Light" panose="020B0502040204020203" pitchFamily="34" charset="-122"/>
                <a:ea typeface="微软雅黑 Light" panose="020B0502040204020203" pitchFamily="34" charset="-122"/>
              </a:rPr>
              <a:t>机制：</a:t>
            </a:r>
            <a:r>
              <a:rPr lang="zh-CN" altLang="en-US" sz="2000" b="1" dirty="0">
                <a:latin typeface="微软雅黑 Light" panose="020B0502040204020203" pitchFamily="34" charset="-122"/>
                <a:ea typeface="微软雅黑 Light" panose="020B0502040204020203" pitchFamily="34" charset="-122"/>
              </a:rPr>
              <a:t>使万维网服务器把浏览器发来的数据</a:t>
            </a:r>
            <a:r>
              <a:rPr lang="zh-CN" altLang="en-US" sz="2000" b="1" dirty="0">
                <a:solidFill>
                  <a:srgbClr val="0000FF"/>
                </a:solidFill>
                <a:latin typeface="微软雅黑 Light" panose="020B0502040204020203" pitchFamily="34" charset="-122"/>
                <a:ea typeface="微软雅黑 Light" panose="020B0502040204020203" pitchFamily="34" charset="-122"/>
              </a:rPr>
              <a:t>传送</a:t>
            </a:r>
            <a:r>
              <a:rPr lang="zh-CN" altLang="en-US" sz="2000" b="1" dirty="0">
                <a:latin typeface="微软雅黑 Light" panose="020B0502040204020203" pitchFamily="34" charset="-122"/>
                <a:ea typeface="微软雅黑 Light" panose="020B0502040204020203" pitchFamily="34" charset="-122"/>
              </a:rPr>
              <a:t>给这个应用程序，然后万维网服务器能够</a:t>
            </a:r>
            <a:r>
              <a:rPr lang="zh-CN" altLang="en-US" sz="2000" b="1" dirty="0">
                <a:solidFill>
                  <a:srgbClr val="0000FF"/>
                </a:solidFill>
                <a:latin typeface="微软雅黑 Light" panose="020B0502040204020203" pitchFamily="34" charset="-122"/>
                <a:ea typeface="微软雅黑 Light" panose="020B0502040204020203" pitchFamily="34" charset="-122"/>
              </a:rPr>
              <a:t>解释</a:t>
            </a:r>
            <a:r>
              <a:rPr lang="zh-CN" altLang="en-US" sz="2000" b="1" dirty="0">
                <a:latin typeface="微软雅黑 Light" panose="020B0502040204020203" pitchFamily="34" charset="-122"/>
                <a:ea typeface="微软雅黑 Light" panose="020B0502040204020203" pitchFamily="34" charset="-122"/>
              </a:rPr>
              <a:t>这个应用程序的输出，并向浏览器</a:t>
            </a:r>
            <a:r>
              <a:rPr lang="zh-CN" altLang="en-US" sz="2000" b="1" dirty="0">
                <a:solidFill>
                  <a:srgbClr val="0000FF"/>
                </a:solidFill>
                <a:latin typeface="微软雅黑 Light" panose="020B0502040204020203" pitchFamily="34" charset="-122"/>
                <a:ea typeface="微软雅黑 Light" panose="020B0502040204020203" pitchFamily="34" charset="-122"/>
              </a:rPr>
              <a:t>返回</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a:t>
            </a:r>
          </a:p>
        </p:txBody>
      </p:sp>
      <p:sp>
        <p:nvSpPr>
          <p:cNvPr id="3" name="AutoShape 5"/>
          <p:cNvSpPr>
            <a:spLocks noChangeArrowheads="1"/>
          </p:cNvSpPr>
          <p:nvPr/>
        </p:nvSpPr>
        <p:spPr bwMode="auto">
          <a:xfrm>
            <a:off x="556963" y="612859"/>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1475"/>
            <a:ext cx="300595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万维网服务器功能的扩充</a:t>
            </a:r>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6" name="AutoShape 5"/>
          <p:cNvSpPr>
            <a:spLocks noChangeArrowheads="1"/>
          </p:cNvSpPr>
          <p:nvPr/>
        </p:nvSpPr>
        <p:spPr bwMode="auto">
          <a:xfrm>
            <a:off x="556963" y="615059"/>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645268" y="563675"/>
            <a:ext cx="3262432"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扩充了功能的万维网服务器</a:t>
            </a:r>
          </a:p>
        </p:txBody>
      </p:sp>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2" y="929685"/>
            <a:ext cx="8048777"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通用网关接口 </a:t>
            </a:r>
            <a:r>
              <a:rPr lang="en-US" altLang="zh-CN" sz="2000" b="1" dirty="0">
                <a:solidFill>
                  <a:srgbClr val="C00000"/>
                </a:solidFill>
                <a:latin typeface="微软雅黑 Light" panose="020B0502040204020203" pitchFamily="34" charset="-122"/>
                <a:ea typeface="微软雅黑 Light" panose="020B0502040204020203" pitchFamily="34" charset="-122"/>
              </a:rPr>
              <a:t>CGI </a:t>
            </a:r>
            <a:r>
              <a:rPr lang="en-US" altLang="zh-CN" sz="2000" b="1" dirty="0">
                <a:latin typeface="微软雅黑 Light" panose="020B0502040204020203" pitchFamily="34" charset="-122"/>
                <a:ea typeface="微软雅黑 Light" panose="020B0502040204020203" pitchFamily="34" charset="-122"/>
              </a:rPr>
              <a:t>(Common Gateway Interface) </a:t>
            </a:r>
            <a:r>
              <a:rPr lang="zh-CN" altLang="en-US" sz="2000" b="1" dirty="0">
                <a:latin typeface="微软雅黑 Light" panose="020B0502040204020203" pitchFamily="34" charset="-122"/>
                <a:ea typeface="微软雅黑 Light" panose="020B0502040204020203" pitchFamily="34" charset="-122"/>
              </a:rPr>
              <a:t>：定义动态文档应如何创建，输入数据应如何提供给应用程序，以及输出结果应如何使用的一种标准。</a:t>
            </a: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通用</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标准所定义的规则对其他任何语言都是通用的。</a:t>
            </a: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网关</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程序的作用像网关。</a:t>
            </a: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接口</a:t>
            </a:r>
            <a:r>
              <a:rPr lang="zh-CN" altLang="en-US" sz="2000" b="1" dirty="0">
                <a:latin typeface="微软雅黑 Light" panose="020B0502040204020203" pitchFamily="34" charset="-122"/>
                <a:ea typeface="微软雅黑 Light" panose="020B0502040204020203" pitchFamily="34" charset="-122"/>
              </a:rPr>
              <a:t>：有一些已定义好的变量和调用等可供其他 </a:t>
            </a:r>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程序使用。 </a:t>
            </a:r>
          </a:p>
        </p:txBody>
      </p:sp>
      <p:sp>
        <p:nvSpPr>
          <p:cNvPr id="3" name="AutoShape 5"/>
          <p:cNvSpPr>
            <a:spLocks noChangeArrowheads="1"/>
          </p:cNvSpPr>
          <p:nvPr/>
        </p:nvSpPr>
        <p:spPr bwMode="auto">
          <a:xfrm>
            <a:off x="556963" y="615167"/>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72927"/>
            <a:ext cx="59163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CGI</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36344"/>
            <a:ext cx="8048776" cy="29649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正式名字：</a:t>
            </a:r>
            <a:r>
              <a:rPr lang="en-US" altLang="zh-CN" sz="2000" b="1" dirty="0">
                <a:solidFill>
                  <a:srgbClr val="C00000"/>
                </a:solidFill>
                <a:latin typeface="微软雅黑 Light" panose="020B0502040204020203" pitchFamily="34" charset="-122"/>
                <a:ea typeface="微软雅黑 Light" panose="020B0502040204020203" pitchFamily="34" charset="-122"/>
              </a:rPr>
              <a:t>CGI </a:t>
            </a:r>
            <a:r>
              <a:rPr lang="zh-CN" altLang="en-US" sz="2000" b="1" dirty="0">
                <a:solidFill>
                  <a:srgbClr val="C00000"/>
                </a:solidFill>
                <a:latin typeface="微软雅黑 Light" panose="020B0502040204020203" pitchFamily="34" charset="-122"/>
                <a:ea typeface="微软雅黑 Light" panose="020B0502040204020203" pitchFamily="34" charset="-122"/>
              </a:rPr>
              <a:t>脚本 </a:t>
            </a:r>
            <a:r>
              <a:rPr lang="en-US" altLang="zh-CN" sz="2000" b="1" dirty="0">
                <a:latin typeface="微软雅黑 Light" panose="020B0502040204020203" pitchFamily="34" charset="-122"/>
                <a:ea typeface="微软雅黑 Light" panose="020B0502040204020203" pitchFamily="34" charset="-122"/>
              </a:rPr>
              <a:t>(script)</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28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脚本</a:t>
            </a:r>
            <a:r>
              <a:rPr lang="zh-CN" altLang="en-US" sz="2000" b="1" dirty="0">
                <a:latin typeface="微软雅黑 Light" panose="020B0502040204020203" pitchFamily="34" charset="-122"/>
                <a:ea typeface="微软雅黑 Light" panose="020B0502040204020203" pitchFamily="34" charset="-122"/>
              </a:rPr>
              <a:t>：指的是一个程序，它被另一个程序（解释程序）而不是计算机的处理机来解释或执行。</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28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脚本语言 </a:t>
            </a:r>
            <a:r>
              <a:rPr lang="en-US" altLang="zh-CN" sz="2000" b="1" dirty="0">
                <a:latin typeface="微软雅黑 Light" panose="020B0502040204020203" pitchFamily="34" charset="-122"/>
                <a:ea typeface="微软雅黑 Light" panose="020B0502040204020203" pitchFamily="34" charset="-122"/>
              </a:rPr>
              <a:t>(script language)</a:t>
            </a:r>
            <a:r>
              <a:rPr lang="zh-CN" altLang="en-US" sz="2000" b="1" dirty="0">
                <a:latin typeface="微软雅黑 Light" panose="020B0502040204020203" pitchFamily="34" charset="-122"/>
                <a:ea typeface="微软雅黑 Light" panose="020B0502040204020203" pitchFamily="34" charset="-122"/>
              </a:rPr>
              <a:t>：如 </a:t>
            </a:r>
            <a:r>
              <a:rPr lang="en-US" altLang="zh-CN" sz="2000" b="1" dirty="0">
                <a:latin typeface="微软雅黑 Light" panose="020B0502040204020203" pitchFamily="34" charset="-122"/>
                <a:ea typeface="微软雅黑 Light" panose="020B0502040204020203" pitchFamily="34" charset="-122"/>
              </a:rPr>
              <a:t>Perl, JavaScript</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err="1">
                <a:latin typeface="微软雅黑 Light" panose="020B0502040204020203" pitchFamily="34" charset="-122"/>
                <a:ea typeface="微软雅黑 Light" panose="020B0502040204020203" pitchFamily="34" charset="-122"/>
              </a:rPr>
              <a:t>Tcl</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err="1">
                <a:latin typeface="微软雅黑 Light" panose="020B0502040204020203" pitchFamily="34" charset="-122"/>
                <a:ea typeface="微软雅黑 Light" panose="020B0502040204020203" pitchFamily="34" charset="-122"/>
              </a:rPr>
              <a:t>Tk</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等。也可用一些常用的编程语言写出，如 </a:t>
            </a:r>
            <a:r>
              <a:rPr lang="en-US" altLang="zh-CN" sz="2000" b="1" dirty="0">
                <a:latin typeface="微软雅黑 Light" panose="020B0502040204020203" pitchFamily="34" charset="-122"/>
                <a:ea typeface="微软雅黑 Light" panose="020B0502040204020203" pitchFamily="34" charset="-122"/>
              </a:rPr>
              <a:t>C</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C++</a:t>
            </a:r>
            <a:r>
              <a:rPr lang="zh-CN" altLang="en-US" sz="2000" b="1" dirty="0">
                <a:latin typeface="微软雅黑 Light" panose="020B0502040204020203" pitchFamily="34" charset="-122"/>
                <a:ea typeface="微软雅黑 Light" panose="020B0502040204020203" pitchFamily="34" charset="-122"/>
              </a:rPr>
              <a:t>等。</a:t>
            </a:r>
          </a:p>
          <a:p>
            <a:pPr marL="285750" indent="-28575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脚本运行起来要比一般的编译程序要慢。</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脚本不一定是一个独立的程序，可以是一个动态装入的库，甚至是服务器的一个子程序。</a:t>
            </a:r>
          </a:p>
        </p:txBody>
      </p:sp>
      <p:sp>
        <p:nvSpPr>
          <p:cNvPr id="3" name="AutoShape 5"/>
          <p:cNvSpPr>
            <a:spLocks noChangeArrowheads="1"/>
          </p:cNvSpPr>
          <p:nvPr/>
        </p:nvSpPr>
        <p:spPr bwMode="auto">
          <a:xfrm>
            <a:off x="556963" y="6129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70708"/>
            <a:ext cx="1734642"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网关程序</a:t>
            </a:r>
          </a:p>
        </p:txBody>
      </p:sp>
      <p:grpSp>
        <p:nvGrpSpPr>
          <p:cNvPr id="7" name="组合 6"/>
          <p:cNvGrpSpPr/>
          <p:nvPr/>
        </p:nvGrpSpPr>
        <p:grpSpPr>
          <a:xfrm>
            <a:off x="1154100" y="3809875"/>
            <a:ext cx="6684885" cy="824269"/>
            <a:chOff x="1154100" y="3809875"/>
            <a:chExt cx="6684885" cy="824269"/>
          </a:xfrm>
        </p:grpSpPr>
        <p:sp>
          <p:nvSpPr>
            <p:cNvPr id="5" name="对角圆角矩形 4"/>
            <p:cNvSpPr/>
            <p:nvPr/>
          </p:nvSpPr>
          <p:spPr>
            <a:xfrm>
              <a:off x="1154100" y="3809875"/>
              <a:ext cx="6684885" cy="82426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1287267" y="3880810"/>
              <a:ext cx="6445188" cy="707886"/>
            </a:xfrm>
            <a:prstGeom prst="rect">
              <a:avLst/>
            </a:prstGeom>
          </p:spPr>
          <p:txBody>
            <a:bodyPr wrap="square">
              <a:spAutoFit/>
            </a:bodyPr>
            <a:lstStyle/>
            <a:p>
              <a:pPr eaLnBrk="0" hangingPunct="0">
                <a:lnSpc>
                  <a:spcPts val="2400"/>
                </a:lnSpc>
                <a:buClr>
                  <a:srgbClr val="0070C0"/>
                </a:buClr>
              </a:pPr>
              <a:r>
                <a:rPr lang="en-US" altLang="zh-CN" b="1" dirty="0">
                  <a:solidFill>
                    <a:schemeClr val="bg1"/>
                  </a:solidFill>
                  <a:latin typeface="微软雅黑 Light" panose="020B0502040204020203" pitchFamily="34" charset="-122"/>
                  <a:ea typeface="微软雅黑 Light" panose="020B0502040204020203" pitchFamily="34" charset="-122"/>
                </a:rPr>
                <a:t>CGI </a:t>
              </a:r>
              <a:r>
                <a:rPr lang="zh-CN" altLang="en-US" b="1" dirty="0">
                  <a:solidFill>
                    <a:schemeClr val="bg1"/>
                  </a:solidFill>
                  <a:latin typeface="微软雅黑 Light" panose="020B0502040204020203" pitchFamily="34" charset="-122"/>
                  <a:ea typeface="微软雅黑 Light" panose="020B0502040204020203" pitchFamily="34" charset="-122"/>
                </a:rPr>
                <a:t>程序又称为 </a:t>
              </a:r>
              <a:r>
                <a:rPr lang="en-US" altLang="zh-CN" b="1" dirty="0" err="1">
                  <a:solidFill>
                    <a:schemeClr val="bg1"/>
                  </a:solidFill>
                  <a:latin typeface="微软雅黑 Light" panose="020B0502040204020203" pitchFamily="34" charset="-122"/>
                  <a:ea typeface="微软雅黑 Light" panose="020B0502040204020203" pitchFamily="34" charset="-122"/>
                </a:rPr>
                <a:t>cgi</a:t>
              </a:r>
              <a:r>
                <a:rPr lang="en-US" altLang="zh-CN" b="1" dirty="0">
                  <a:solidFill>
                    <a:schemeClr val="bg1"/>
                  </a:solidFill>
                  <a:latin typeface="微软雅黑 Light" panose="020B0502040204020203" pitchFamily="34" charset="-122"/>
                  <a:ea typeface="微软雅黑 Light" panose="020B0502040204020203" pitchFamily="34" charset="-122"/>
                </a:rPr>
                <a:t>-bin </a:t>
              </a:r>
              <a:r>
                <a:rPr lang="zh-CN" altLang="en-US" b="1" dirty="0">
                  <a:solidFill>
                    <a:schemeClr val="bg1"/>
                  </a:solidFill>
                  <a:latin typeface="微软雅黑 Light" panose="020B0502040204020203" pitchFamily="34" charset="-122"/>
                  <a:ea typeface="微软雅黑 Light" panose="020B0502040204020203" pitchFamily="34" charset="-122"/>
                </a:rPr>
                <a:t>脚本，因为在许多万维网服务器上，将 </a:t>
              </a:r>
              <a:r>
                <a:rPr lang="en-US" altLang="zh-CN" b="1" dirty="0">
                  <a:solidFill>
                    <a:schemeClr val="bg1"/>
                  </a:solidFill>
                  <a:latin typeface="微软雅黑 Light" panose="020B0502040204020203" pitchFamily="34" charset="-122"/>
                  <a:ea typeface="微软雅黑 Light" panose="020B0502040204020203" pitchFamily="34" charset="-122"/>
                </a:rPr>
                <a:t>CGI </a:t>
              </a:r>
              <a:r>
                <a:rPr lang="zh-CN" altLang="en-US" b="1" dirty="0">
                  <a:solidFill>
                    <a:schemeClr val="bg1"/>
                  </a:solidFill>
                  <a:latin typeface="微软雅黑 Light" panose="020B0502040204020203" pitchFamily="34" charset="-122"/>
                  <a:ea typeface="微软雅黑 Light" panose="020B0502040204020203" pitchFamily="34" charset="-122"/>
                </a:rPr>
                <a:t>程序放在 </a:t>
              </a:r>
              <a:r>
                <a:rPr lang="en-US" altLang="zh-CN" b="1" dirty="0">
                  <a:solidFill>
                    <a:srgbClr val="FFFF00"/>
                  </a:solidFill>
                  <a:latin typeface="微软雅黑 Light" panose="020B0502040204020203" pitchFamily="34" charset="-122"/>
                  <a:ea typeface="微软雅黑 Light" panose="020B0502040204020203" pitchFamily="34" charset="-122"/>
                </a:rPr>
                <a:t>/</a:t>
              </a:r>
              <a:r>
                <a:rPr lang="en-US" altLang="zh-CN" b="1" dirty="0" err="1">
                  <a:solidFill>
                    <a:srgbClr val="FFFF00"/>
                  </a:solidFill>
                  <a:latin typeface="微软雅黑 Light" panose="020B0502040204020203" pitchFamily="34" charset="-122"/>
                  <a:ea typeface="微软雅黑 Light" panose="020B0502040204020203" pitchFamily="34" charset="-122"/>
                </a:rPr>
                <a:t>cgi</a:t>
              </a:r>
              <a:r>
                <a:rPr lang="en-US" altLang="zh-CN" b="1" dirty="0">
                  <a:solidFill>
                    <a:srgbClr val="FFFF00"/>
                  </a:solidFill>
                  <a:latin typeface="微软雅黑 Light" panose="020B0502040204020203" pitchFamily="34" charset="-122"/>
                  <a:ea typeface="微软雅黑 Light" panose="020B0502040204020203" pitchFamily="34" charset="-122"/>
                </a:rPr>
                <a:t>-bin </a:t>
              </a:r>
              <a:r>
                <a:rPr lang="zh-CN" altLang="en-US" b="1" dirty="0">
                  <a:solidFill>
                    <a:schemeClr val="bg1"/>
                  </a:solidFill>
                  <a:latin typeface="微软雅黑 Light" panose="020B0502040204020203" pitchFamily="34" charset="-122"/>
                  <a:ea typeface="微软雅黑 Light" panose="020B0502040204020203" pitchFamily="34" charset="-122"/>
                </a:rPr>
                <a:t>的目录下。</a:t>
              </a:r>
              <a:endParaRPr lang="zh-CN" altLang="en-US" b="1" dirty="0">
                <a:solidFill>
                  <a:srgbClr val="FFC000"/>
                </a:solidFill>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1876" y="582480"/>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活动万维网文档</a:t>
            </a:r>
          </a:p>
        </p:txBody>
      </p:sp>
      <p:sp>
        <p:nvSpPr>
          <p:cNvPr id="4" name="Rectangle 68"/>
          <p:cNvSpPr>
            <a:spLocks noChangeArrowheads="1"/>
          </p:cNvSpPr>
          <p:nvPr/>
        </p:nvSpPr>
        <p:spPr bwMode="auto">
          <a:xfrm>
            <a:off x="483810" y="967903"/>
            <a:ext cx="8285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活动文档 </a:t>
            </a:r>
            <a:r>
              <a:rPr lang="en-US" altLang="zh-CN" sz="2000" b="1" dirty="0">
                <a:solidFill>
                  <a:srgbClr val="C00000"/>
                </a:solidFill>
                <a:latin typeface="微软雅黑 Light" panose="020B0502040204020203" pitchFamily="34" charset="-122"/>
                <a:ea typeface="微软雅黑 Light" panose="020B0502040204020203" pitchFamily="34" charset="-122"/>
              </a:rPr>
              <a:t>(active document) </a:t>
            </a:r>
            <a:r>
              <a:rPr lang="zh-CN" altLang="en-US" sz="2000" b="1" dirty="0">
                <a:solidFill>
                  <a:srgbClr val="C00000"/>
                </a:solidFill>
                <a:latin typeface="微软雅黑 Light" panose="020B0502040204020203" pitchFamily="34" charset="-122"/>
                <a:ea typeface="微软雅黑 Light" panose="020B0502040204020203" pitchFamily="34" charset="-122"/>
              </a:rPr>
              <a:t>技术：</a:t>
            </a:r>
            <a:r>
              <a:rPr lang="zh-CN" altLang="en-US" sz="2000" b="1" dirty="0">
                <a:latin typeface="微软雅黑 Light" panose="020B0502040204020203" pitchFamily="34" charset="-122"/>
                <a:ea typeface="微软雅黑 Light" panose="020B0502040204020203" pitchFamily="34" charset="-122"/>
              </a:rPr>
              <a:t>把屏幕连续更新的工作转移给</a:t>
            </a:r>
            <a:r>
              <a:rPr lang="zh-CN" altLang="en-US" sz="2000" b="1" dirty="0">
                <a:solidFill>
                  <a:srgbClr val="0000FF"/>
                </a:solidFill>
                <a:latin typeface="微软雅黑 Light" panose="020B0502040204020203" pitchFamily="34" charset="-122"/>
                <a:ea typeface="微软雅黑 Light" panose="020B0502040204020203" pitchFamily="34" charset="-122"/>
              </a:rPr>
              <a:t>浏览器端。</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每当浏览器请求一个活动文档时，服务器就返回一段</a:t>
            </a:r>
            <a:r>
              <a:rPr lang="zh-CN" altLang="en-US" sz="2000" b="1" dirty="0">
                <a:solidFill>
                  <a:srgbClr val="C00000"/>
                </a:solidFill>
                <a:latin typeface="微软雅黑 Light" panose="020B0502040204020203" pitchFamily="34" charset="-122"/>
                <a:ea typeface="微软雅黑 Light" panose="020B0502040204020203" pitchFamily="34" charset="-122"/>
              </a:rPr>
              <a:t>程序副本</a:t>
            </a:r>
            <a:r>
              <a:rPr lang="zh-CN" altLang="en-US" sz="2000" b="1" dirty="0">
                <a:latin typeface="微软雅黑 Light" panose="020B0502040204020203" pitchFamily="34" charset="-122"/>
                <a:ea typeface="微软雅黑 Light" panose="020B0502040204020203" pitchFamily="34" charset="-122"/>
              </a:rPr>
              <a:t>在浏览器端运行。</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活动文档程序可与用户</a:t>
            </a:r>
            <a:r>
              <a:rPr lang="zh-CN" altLang="en-US" sz="2000" b="1" dirty="0">
                <a:solidFill>
                  <a:srgbClr val="C00000"/>
                </a:solidFill>
                <a:latin typeface="微软雅黑 Light" panose="020B0502040204020203" pitchFamily="34" charset="-122"/>
                <a:ea typeface="微软雅黑 Light" panose="020B0502040204020203" pitchFamily="34" charset="-122"/>
              </a:rPr>
              <a:t>直接交互，</a:t>
            </a:r>
            <a:r>
              <a:rPr lang="zh-CN" altLang="en-US" sz="2000" b="1" dirty="0">
                <a:latin typeface="微软雅黑 Light" panose="020B0502040204020203" pitchFamily="34" charset="-122"/>
                <a:ea typeface="微软雅黑 Light" panose="020B0502040204020203" pitchFamily="34" charset="-122"/>
              </a:rPr>
              <a:t>并可连续地改变屏幕的显示。</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由于活动文档技术</a:t>
            </a:r>
            <a:r>
              <a:rPr lang="zh-CN" altLang="en-US" sz="2000" b="1" dirty="0">
                <a:solidFill>
                  <a:srgbClr val="C00000"/>
                </a:solidFill>
                <a:latin typeface="微软雅黑 Light" panose="020B0502040204020203" pitchFamily="34" charset="-122"/>
                <a:ea typeface="微软雅黑 Light" panose="020B0502040204020203" pitchFamily="34" charset="-122"/>
              </a:rPr>
              <a:t>不需要</a:t>
            </a:r>
            <a:r>
              <a:rPr lang="zh-CN" altLang="en-US" sz="2000" b="1" dirty="0">
                <a:latin typeface="微软雅黑 Light" panose="020B0502040204020203" pitchFamily="34" charset="-122"/>
                <a:ea typeface="微软雅黑 Light" panose="020B0502040204020203" pitchFamily="34" charset="-122"/>
              </a:rPr>
              <a:t>服务器的连续更新传送，对网络带宽的要求也不会太高。 </a:t>
            </a:r>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5"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63674"/>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活动文档在客户端创建</a:t>
            </a:r>
          </a:p>
        </p:txBody>
      </p:sp>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2405"/>
            <a:ext cx="8230421"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Java</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语言是一项用于创建和运行活动文档的技术。</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 </a:t>
            </a:r>
            <a:r>
              <a:rPr lang="en-US" altLang="zh-CN" sz="2000" b="1" dirty="0">
                <a:latin typeface="微软雅黑 Light" panose="020B0502040204020203" pitchFamily="34" charset="-122"/>
                <a:ea typeface="微软雅黑 Light" panose="020B0502040204020203" pitchFamily="34" charset="-122"/>
              </a:rPr>
              <a:t>Java </a:t>
            </a:r>
            <a:r>
              <a:rPr lang="zh-CN" altLang="en-US" sz="2000" b="1" dirty="0">
                <a:latin typeface="微软雅黑 Light" panose="020B0502040204020203" pitchFamily="34" charset="-122"/>
                <a:ea typeface="微软雅黑 Light" panose="020B0502040204020203" pitchFamily="34" charset="-122"/>
              </a:rPr>
              <a:t>技术中使用</a:t>
            </a:r>
            <a:r>
              <a:rPr lang="zh-CN" altLang="en-US" sz="2000" b="1" dirty="0">
                <a:solidFill>
                  <a:srgbClr val="C00000"/>
                </a:solidFill>
                <a:latin typeface="微软雅黑 Light" panose="020B0502040204020203" pitchFamily="34" charset="-122"/>
                <a:ea typeface="微软雅黑 Light" panose="020B0502040204020203" pitchFamily="34" charset="-122"/>
              </a:rPr>
              <a:t>小应用程序</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(applet) </a:t>
            </a:r>
            <a:r>
              <a:rPr lang="zh-CN" altLang="en-US" sz="2000" b="1" dirty="0">
                <a:latin typeface="微软雅黑 Light" panose="020B0502040204020203" pitchFamily="34" charset="-122"/>
                <a:ea typeface="微软雅黑 Light" panose="020B0502040204020203" pitchFamily="34" charset="-122"/>
              </a:rPr>
              <a:t>来描述活动文档程序。</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用户从万维网服务器下载嵌入了 </a:t>
            </a:r>
            <a:r>
              <a:rPr lang="en-US" altLang="zh-CN" sz="2000" b="1" dirty="0">
                <a:latin typeface="微软雅黑 Light" panose="020B0502040204020203" pitchFamily="34" charset="-122"/>
                <a:ea typeface="微软雅黑 Light" panose="020B0502040204020203" pitchFamily="34" charset="-122"/>
              </a:rPr>
              <a:t>applet </a:t>
            </a:r>
            <a:r>
              <a:rPr lang="zh-CN" altLang="en-US" sz="2000" b="1" dirty="0">
                <a:latin typeface="微软雅黑 Light" panose="020B0502040204020203" pitchFamily="34" charset="-122"/>
                <a:ea typeface="微软雅黑 Light" panose="020B0502040204020203" pitchFamily="34" charset="-122"/>
              </a:rPr>
              <a:t>的 </a:t>
            </a:r>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文档后，可在浏览器的屏幕上点击某个图像，就可看到动画效果，或在下拉式菜单中点击某个项目，就可看到计算结果。</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Java </a:t>
            </a:r>
            <a:r>
              <a:rPr lang="zh-CN" altLang="en-US" sz="2000" b="1" dirty="0">
                <a:latin typeface="微软雅黑 Light" panose="020B0502040204020203" pitchFamily="34" charset="-122"/>
                <a:ea typeface="微软雅黑 Light" panose="020B0502040204020203" pitchFamily="34" charset="-122"/>
              </a:rPr>
              <a:t>技术是活动文档技术的一部分。 </a:t>
            </a:r>
          </a:p>
        </p:txBody>
      </p:sp>
      <p:sp>
        <p:nvSpPr>
          <p:cNvPr id="3" name="AutoShape 5"/>
          <p:cNvSpPr>
            <a:spLocks noChangeArrowheads="1"/>
          </p:cNvSpPr>
          <p:nvPr/>
        </p:nvSpPr>
        <p:spPr bwMode="auto">
          <a:xfrm>
            <a:off x="556963" y="616765"/>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5381"/>
            <a:ext cx="320228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用 </a:t>
            </a:r>
            <a:r>
              <a:rPr lang="en-US" altLang="zh-CN" sz="2000" b="1" dirty="0">
                <a:latin typeface="微软雅黑 Light" panose="020B0502040204020203" pitchFamily="34" charset="-122"/>
                <a:ea typeface="微软雅黑 Light" panose="020B0502040204020203" pitchFamily="34" charset="-122"/>
              </a:rPr>
              <a:t>Java </a:t>
            </a:r>
            <a:r>
              <a:rPr lang="zh-CN" altLang="en-US" sz="2000" b="1" dirty="0">
                <a:latin typeface="微软雅黑 Light" panose="020B0502040204020203" pitchFamily="34" charset="-122"/>
                <a:ea typeface="微软雅黑 Light" panose="020B0502040204020203" pitchFamily="34" charset="-122"/>
              </a:rPr>
              <a:t>语言创建活动文档</a:t>
            </a:r>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486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477520" y="572590"/>
            <a:ext cx="418896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6.4.5  </a:t>
            </a:r>
            <a:r>
              <a:rPr lang="zh-CN" altLang="en-US" sz="2400" b="1" dirty="0">
                <a:solidFill>
                  <a:schemeClr val="bg1"/>
                </a:solidFill>
                <a:latin typeface="微软雅黑 Light" panose="020B0502040204020203" pitchFamily="34" charset="-122"/>
                <a:ea typeface="微软雅黑 Light" panose="020B0502040204020203" pitchFamily="34" charset="-122"/>
              </a:rPr>
              <a:t>万维网的信息检索系统</a:t>
            </a:r>
          </a:p>
        </p:txBody>
      </p:sp>
      <p:sp>
        <p:nvSpPr>
          <p:cNvPr id="9" name="Rectangle 68"/>
          <p:cNvSpPr>
            <a:spLocks noChangeArrowheads="1"/>
          </p:cNvSpPr>
          <p:nvPr/>
        </p:nvSpPr>
        <p:spPr bwMode="auto">
          <a:xfrm>
            <a:off x="556963" y="1010341"/>
            <a:ext cx="8048776" cy="849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1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使用户能够很方便地找到所需的信息。</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1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在万维网中用来进行搜索的程序叫做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搜索引擎 </a:t>
            </a:r>
            <a:r>
              <a:rPr lang="en-US" altLang="zh-CN" sz="2000" b="1" dirty="0">
                <a:latin typeface="微软雅黑 Light" panose="020B0502040204020203" pitchFamily="34" charset="-122"/>
                <a:ea typeface="微软雅黑 Light" panose="020B0502040204020203" pitchFamily="34" charset="-122"/>
              </a:rPr>
              <a:t>(search engine)</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2880000" y="144000"/>
            <a:ext cx="3384000" cy="338554"/>
          </a:xfrm>
        </p:spPr>
        <p:txBody>
          <a:bodyPr/>
          <a:lstStyle/>
          <a:p>
            <a:r>
              <a:rPr lang="en-US" altLang="zh-CN" dirty="0"/>
              <a:t>1.  </a:t>
            </a:r>
            <a:r>
              <a:rPr lang="zh-CN" altLang="en-US" dirty="0"/>
              <a:t>全文检索搜索和分类目录搜索</a:t>
            </a:r>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2880000" y="144000"/>
            <a:ext cx="3384000" cy="338554"/>
          </a:xfrm>
        </p:spPr>
        <p:txBody>
          <a:bodyPr/>
          <a:lstStyle/>
          <a:p>
            <a:r>
              <a:rPr lang="zh-CN" altLang="en-US" dirty="0"/>
              <a:t>一些著名的搜索引擎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482554"/>
            <a:ext cx="8172000" cy="4284000"/>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3027"/>
            <a:ext cx="7941769" cy="2439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垂直搜索引擎 </a:t>
            </a:r>
            <a:r>
              <a:rPr lang="en-US" altLang="zh-CN" sz="2000" b="1" dirty="0">
                <a:latin typeface="微软雅黑 Light" panose="020B0502040204020203" pitchFamily="34" charset="-122"/>
                <a:ea typeface="微软雅黑 Light" panose="020B0502040204020203" pitchFamily="34" charset="-122"/>
              </a:rPr>
              <a:t>(Vertical Search Engine)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针对某一特定领域、特定人群或某一特定需求提供搜索服务。</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也是提供关键字来进行搜索，但被放到一个行业知识的上下文中，返回的结果更倾向于信息、消息、条目等。</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目前热门的垂直搜索行业有：购物、旅游、汽车、求职、房产、交友等。</a:t>
            </a:r>
          </a:p>
        </p:txBody>
      </p:sp>
      <p:sp>
        <p:nvSpPr>
          <p:cNvPr id="3" name="AutoShape 5"/>
          <p:cNvSpPr>
            <a:spLocks noChangeArrowheads="1"/>
          </p:cNvSpPr>
          <p:nvPr/>
        </p:nvSpPr>
        <p:spPr bwMode="auto">
          <a:xfrm>
            <a:off x="556963" y="608509"/>
            <a:ext cx="7941769"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57125"/>
            <a:ext cx="1723549"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垂直搜索引擎</a:t>
            </a:r>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3027"/>
            <a:ext cx="7941769" cy="2823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元搜索引擎 </a:t>
            </a:r>
            <a:r>
              <a:rPr lang="en-US" altLang="zh-CN" sz="2000" b="1" dirty="0">
                <a:latin typeface="微软雅黑 Light" panose="020B0502040204020203" pitchFamily="34" charset="-122"/>
                <a:ea typeface="微软雅黑 Light" panose="020B0502040204020203" pitchFamily="34" charset="-122"/>
              </a:rPr>
              <a:t>(Meta Search Engine)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把用户提交的检索请求发送到多个独立的搜索引擎上去搜索，并把检索结果集中统一处理，以统一的格式提供给用户，因此是</a:t>
            </a:r>
            <a:r>
              <a:rPr lang="zh-CN" altLang="en-US" sz="2000" b="1" dirty="0">
                <a:solidFill>
                  <a:srgbClr val="C00000"/>
                </a:solidFill>
                <a:latin typeface="微软雅黑 Light" panose="020B0502040204020203" pitchFamily="34" charset="-122"/>
                <a:ea typeface="微软雅黑 Light" panose="020B0502040204020203" pitchFamily="34" charset="-122"/>
              </a:rPr>
              <a:t>搜索引擎之上的搜索引擎。</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主要精力放在提高搜索速度、智能化处理搜索结果、个性化搜索功能的设置和用户检索界面的友好性上。</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其查全率和查准率都比较高。</a:t>
            </a:r>
          </a:p>
        </p:txBody>
      </p:sp>
      <p:sp>
        <p:nvSpPr>
          <p:cNvPr id="3" name="AutoShape 5"/>
          <p:cNvSpPr>
            <a:spLocks noChangeArrowheads="1"/>
          </p:cNvSpPr>
          <p:nvPr/>
        </p:nvSpPr>
        <p:spPr bwMode="auto">
          <a:xfrm>
            <a:off x="556963" y="608509"/>
            <a:ext cx="7941769"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57125"/>
            <a:ext cx="146706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元搜索引擎</a:t>
            </a:r>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17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6439" y="576959"/>
            <a:ext cx="33698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Google </a:t>
            </a:r>
            <a:r>
              <a:rPr lang="zh-CN" altLang="en-US" sz="2000" b="1" dirty="0">
                <a:solidFill>
                  <a:schemeClr val="bg1"/>
                </a:solidFill>
                <a:latin typeface="微软雅黑 Light" panose="020B0502040204020203" pitchFamily="34" charset="-122"/>
                <a:ea typeface="微软雅黑 Light" panose="020B0502040204020203" pitchFamily="34" charset="-122"/>
              </a:rPr>
              <a:t>搜索技术的特点</a:t>
            </a:r>
          </a:p>
        </p:txBody>
      </p:sp>
      <p:sp>
        <p:nvSpPr>
          <p:cNvPr id="6" name="Rectangle 68"/>
          <p:cNvSpPr>
            <a:spLocks noChangeArrowheads="1"/>
          </p:cNvSpPr>
          <p:nvPr/>
        </p:nvSpPr>
        <p:spPr bwMode="auto">
          <a:xfrm>
            <a:off x="556963" y="967417"/>
            <a:ext cx="8048776" cy="2439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核心技术：</a:t>
            </a:r>
            <a:r>
              <a:rPr lang="zh-CN" altLang="en-US" sz="2000" b="1" dirty="0">
                <a:latin typeface="微软雅黑 Light" panose="020B0502040204020203" pitchFamily="34" charset="-122"/>
                <a:ea typeface="微软雅黑 Light" panose="020B0502040204020203" pitchFamily="34" charset="-122"/>
              </a:rPr>
              <a:t>网页排名（</a:t>
            </a:r>
            <a:r>
              <a:rPr lang="en-US" altLang="zh-CN" sz="2000" b="1" dirty="0">
                <a:latin typeface="微软雅黑 Light" panose="020B0502040204020203" pitchFamily="34" charset="-122"/>
                <a:ea typeface="微软雅黑 Light" panose="020B0502040204020203" pitchFamily="34" charset="-122"/>
              </a:rPr>
              <a:t>PageRank</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solidFill>
                  <a:srgbClr val="0000FF"/>
                </a:solidFill>
                <a:latin typeface="微软雅黑 Light" panose="020B0502040204020203" pitchFamily="34" charset="-122"/>
                <a:ea typeface="微软雅黑 Light" panose="020B0502040204020203" pitchFamily="34" charset="-122"/>
              </a:rPr>
              <a:t>对搜索结果</a:t>
            </a:r>
            <a:r>
              <a:rPr lang="zh-CN" altLang="en-US" sz="2000" b="1" dirty="0">
                <a:solidFill>
                  <a:srgbClr val="C00000"/>
                </a:solidFill>
                <a:latin typeface="微软雅黑 Light" panose="020B0502040204020203" pitchFamily="34" charset="-122"/>
                <a:ea typeface="微软雅黑 Light" panose="020B0502040204020203" pitchFamily="34" charset="-122"/>
              </a:rPr>
              <a:t>按重要性</a:t>
            </a:r>
            <a:r>
              <a:rPr lang="zh-CN" altLang="en-US" sz="2000" b="1" dirty="0">
                <a:solidFill>
                  <a:srgbClr val="0000FF"/>
                </a:solidFill>
                <a:latin typeface="微软雅黑 Light" panose="020B0502040204020203" pitchFamily="34" charset="-122"/>
                <a:ea typeface="微软雅黑 Light" panose="020B0502040204020203" pitchFamily="34" charset="-122"/>
              </a:rPr>
              <a:t>排序。</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对链接的数目进行加权统计。来自重要网站的链接，其权重较大。</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进行超文本匹配分析，确定哪些网页与正在执行的特定搜索相关。</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在综合考虑整体重要性以及与特定查询的相关性之后，</a:t>
            </a:r>
            <a:r>
              <a:rPr lang="en-US" altLang="zh-CN" sz="2000" b="1" dirty="0">
                <a:latin typeface="微软雅黑 Light" panose="020B0502040204020203" pitchFamily="34" charset="-122"/>
                <a:ea typeface="微软雅黑 Light" panose="020B0502040204020203" pitchFamily="34" charset="-122"/>
              </a:rPr>
              <a:t>Google  </a:t>
            </a:r>
            <a:r>
              <a:rPr lang="zh-CN" altLang="en-US" sz="2000" b="1" dirty="0">
                <a:latin typeface="微软雅黑 Light" panose="020B0502040204020203" pitchFamily="34" charset="-122"/>
                <a:ea typeface="微软雅黑 Light" panose="020B0502040204020203" pitchFamily="34" charset="-122"/>
              </a:rPr>
              <a:t>就把最相关、最可靠的搜索结果放在首位。</a:t>
            </a:r>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47D808A8-EC1C-2617-A1E4-528DBDE227BF}"/>
              </a:ext>
            </a:extLst>
          </p:cNvPr>
          <p:cNvSpPr>
            <a:spLocks noGrp="1"/>
          </p:cNvSpPr>
          <p:nvPr>
            <p:ph type="title"/>
          </p:nvPr>
        </p:nvSpPr>
        <p:spPr>
          <a:xfrm>
            <a:off x="2880000" y="144000"/>
            <a:ext cx="3384000" cy="338554"/>
          </a:xfrm>
        </p:spPr>
        <p:txBody>
          <a:bodyPr/>
          <a:lstStyle/>
          <a:p>
            <a:r>
              <a:rPr lang="en-US" altLang="zh-CN" dirty="0"/>
              <a:t>6.4.6  </a:t>
            </a:r>
            <a:r>
              <a:rPr lang="zh-CN" altLang="en-US" dirty="0"/>
              <a:t>博客和微博</a:t>
            </a:r>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2880000" y="144000"/>
            <a:ext cx="3384000"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482554"/>
            <a:ext cx="8172000" cy="4284000"/>
          </a:xfrm>
        </p:spPr>
        <p:txBody>
          <a:bodyPr/>
          <a:lstStyle/>
          <a:p>
            <a:r>
              <a:rPr lang="zh-CN" altLang="en-US" dirty="0"/>
              <a:t>社交网站 </a:t>
            </a:r>
            <a:r>
              <a:rPr lang="en-US" altLang="zh-CN" dirty="0"/>
              <a:t>SNS (Social Networking Site) </a:t>
            </a:r>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
          <p:cNvSpPr>
            <a:spLocks noChangeArrowheads="1"/>
          </p:cNvSpPr>
          <p:nvPr/>
        </p:nvSpPr>
        <p:spPr bwMode="auto">
          <a:xfrm>
            <a:off x="2629135" y="3313838"/>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4" name="Rectangle 9"/>
          <p:cNvSpPr>
            <a:spLocks noChangeArrowheads="1"/>
          </p:cNvSpPr>
          <p:nvPr/>
        </p:nvSpPr>
        <p:spPr bwMode="auto">
          <a:xfrm>
            <a:off x="2629135" y="28628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240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Rectangle 9"/>
          <p:cNvSpPr>
            <a:spLocks noChangeArrowheads="1"/>
          </p:cNvSpPr>
          <p:nvPr/>
        </p:nvSpPr>
        <p:spPr bwMode="auto">
          <a:xfrm>
            <a:off x="2629135" y="194864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7" name="Rectangle 9"/>
          <p:cNvSpPr>
            <a:spLocks noChangeArrowheads="1"/>
          </p:cNvSpPr>
          <p:nvPr/>
        </p:nvSpPr>
        <p:spPr bwMode="auto">
          <a:xfrm>
            <a:off x="2629135" y="102633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8" name="Rectangle 10"/>
          <p:cNvSpPr>
            <a:spLocks noChangeArrowheads="1"/>
          </p:cNvSpPr>
          <p:nvPr/>
        </p:nvSpPr>
        <p:spPr bwMode="auto">
          <a:xfrm>
            <a:off x="2629135" y="149009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9" name="Line 16"/>
          <p:cNvSpPr>
            <a:spLocks noChangeShapeType="1"/>
          </p:cNvSpPr>
          <p:nvPr/>
        </p:nvSpPr>
        <p:spPr bwMode="auto">
          <a:xfrm>
            <a:off x="3637198" y="954899"/>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Rectangle 27"/>
          <p:cNvSpPr>
            <a:spLocks noChangeArrowheads="1"/>
          </p:cNvSpPr>
          <p:nvPr/>
        </p:nvSpPr>
        <p:spPr bwMode="auto">
          <a:xfrm>
            <a:off x="639730" y="102633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11" name="Rectangle 29"/>
          <p:cNvSpPr>
            <a:spLocks noChangeArrowheads="1"/>
          </p:cNvSpPr>
          <p:nvPr/>
        </p:nvSpPr>
        <p:spPr bwMode="auto">
          <a:xfrm>
            <a:off x="648619" y="1121269"/>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6.5</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电子邮件</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12" name="Rectangle 8"/>
          <p:cNvSpPr>
            <a:spLocks noChangeArrowheads="1"/>
          </p:cNvSpPr>
          <p:nvPr/>
        </p:nvSpPr>
        <p:spPr bwMode="auto">
          <a:xfrm>
            <a:off x="2700573" y="902036"/>
            <a:ext cx="5756006"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6.5.1                                           </a:t>
            </a:r>
            <a:r>
              <a:rPr lang="zh-CN" altLang="en-US" sz="2000" b="1" dirty="0">
                <a:solidFill>
                  <a:schemeClr val="bg1"/>
                </a:solidFill>
                <a:latin typeface="微软雅黑 Light" panose="020B0502040204020203" pitchFamily="34" charset="-122"/>
                <a:ea typeface="微软雅黑 Light" panose="020B0502040204020203" pitchFamily="34" charset="-122"/>
              </a:rPr>
              <a:t>电子邮件概述</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6.5.2                          </a:t>
            </a:r>
            <a:r>
              <a:rPr lang="zh-CN" altLang="en-US" sz="2000" b="1" dirty="0">
                <a:solidFill>
                  <a:schemeClr val="bg1"/>
                </a:solidFill>
                <a:latin typeface="微软雅黑 Light" panose="020B0502040204020203" pitchFamily="34" charset="-122"/>
                <a:ea typeface="微软雅黑 Light" panose="020B0502040204020203" pitchFamily="34" charset="-122"/>
              </a:rPr>
              <a:t>简单邮件传送协议 </a:t>
            </a:r>
            <a:r>
              <a:rPr lang="en-US" altLang="zh-CN" sz="2000" b="1" dirty="0">
                <a:solidFill>
                  <a:schemeClr val="bg1"/>
                </a:solidFill>
                <a:latin typeface="微软雅黑 Light" panose="020B0502040204020203" pitchFamily="34" charset="-122"/>
                <a:ea typeface="微软雅黑 Light" panose="020B0502040204020203" pitchFamily="34" charset="-122"/>
              </a:rPr>
              <a:t>SMTP</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6.5.3                                 </a:t>
            </a:r>
            <a:r>
              <a:rPr lang="zh-CN" altLang="en-US" sz="2000" b="1" dirty="0">
                <a:solidFill>
                  <a:schemeClr val="bg1"/>
                </a:solidFill>
                <a:latin typeface="微软雅黑 Light" panose="020B0502040204020203" pitchFamily="34" charset="-122"/>
                <a:ea typeface="微软雅黑 Light" panose="020B0502040204020203" pitchFamily="34" charset="-122"/>
              </a:rPr>
              <a:t>电子邮件的信息格式</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6.5.4                   </a:t>
            </a:r>
            <a:r>
              <a:rPr lang="zh-CN" altLang="en-US" sz="2000" b="1" dirty="0">
                <a:solidFill>
                  <a:schemeClr val="bg1"/>
                </a:solidFill>
                <a:latin typeface="微软雅黑 Light" panose="020B0502040204020203" pitchFamily="34" charset="-122"/>
                <a:ea typeface="微软雅黑 Light" panose="020B0502040204020203" pitchFamily="34" charset="-122"/>
              </a:rPr>
              <a:t>邮件读取协议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和 </a:t>
            </a:r>
            <a:r>
              <a:rPr lang="en-US" altLang="zh-CN" sz="2000" b="1" dirty="0">
                <a:solidFill>
                  <a:schemeClr val="bg1"/>
                </a:solidFill>
                <a:latin typeface="微软雅黑 Light" panose="020B0502040204020203" pitchFamily="34" charset="-122"/>
                <a:ea typeface="微软雅黑 Light" panose="020B0502040204020203" pitchFamily="34" charset="-122"/>
              </a:rPr>
              <a:t>IMAP</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6.5.5                              </a:t>
            </a:r>
            <a:r>
              <a:rPr lang="zh-CN" altLang="en-US" sz="2000" b="1" dirty="0">
                <a:solidFill>
                  <a:schemeClr val="bg1"/>
                </a:solidFill>
                <a:latin typeface="微软雅黑 Light" panose="020B0502040204020203" pitchFamily="34" charset="-122"/>
                <a:ea typeface="微软雅黑 Light" panose="020B0502040204020203" pitchFamily="34" charset="-122"/>
              </a:rPr>
              <a:t>基于万维网的电子邮件</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6.5.6                       </a:t>
            </a:r>
            <a:r>
              <a:rPr lang="zh-CN" altLang="en-US" sz="2000" b="1" dirty="0">
                <a:solidFill>
                  <a:schemeClr val="bg1"/>
                </a:solidFill>
                <a:latin typeface="微软雅黑 Light" panose="020B0502040204020203" pitchFamily="34" charset="-122"/>
                <a:ea typeface="微软雅黑 Light" panose="020B0502040204020203" pitchFamily="34" charset="-122"/>
              </a:rPr>
              <a:t>通用互联网邮件扩充 </a:t>
            </a:r>
            <a:r>
              <a:rPr lang="en-US" altLang="zh-CN" sz="2000" b="1" dirty="0">
                <a:solidFill>
                  <a:schemeClr val="bg1"/>
                </a:solidFill>
                <a:latin typeface="微软雅黑 Light" panose="020B0502040204020203" pitchFamily="34" charset="-122"/>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109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160398" y="567968"/>
            <a:ext cx="28232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6.5.1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电子邮件概述</a:t>
            </a:r>
          </a:p>
        </p:txBody>
      </p:sp>
      <p:sp>
        <p:nvSpPr>
          <p:cNvPr id="4" name="Rectangle 68"/>
          <p:cNvSpPr>
            <a:spLocks noChangeArrowheads="1"/>
          </p:cNvSpPr>
          <p:nvPr/>
        </p:nvSpPr>
        <p:spPr bwMode="auto">
          <a:xfrm>
            <a:off x="556963" y="982683"/>
            <a:ext cx="8048776" cy="322139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电子邮件</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(e-mail)</a:t>
            </a:r>
            <a:r>
              <a:rPr lang="zh-CN" altLang="en-US" sz="2000" b="1" dirty="0">
                <a:latin typeface="微软雅黑 Light" panose="020B0502040204020203" pitchFamily="34" charset="-122"/>
                <a:ea typeface="微软雅黑 Light" panose="020B0502040204020203" pitchFamily="34" charset="-122"/>
              </a:rPr>
              <a:t>：指使用电子设备交换的邮件及其方法</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285750" indent="-28575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优点：</a:t>
            </a:r>
            <a:r>
              <a:rPr lang="zh-CN" altLang="en-US" sz="2000" b="1" dirty="0">
                <a:latin typeface="微软雅黑 Light" panose="020B0502040204020203" pitchFamily="34" charset="-122"/>
                <a:ea typeface="微软雅黑 Light" panose="020B0502040204020203" pitchFamily="34" charset="-122"/>
              </a:rPr>
              <a:t>使用方便，传递迅速，费用低廉，可以传送多种类型的信息（包括：文字信息，声音和图像等）</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重要标准：</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简单邮件发送协议：</a:t>
            </a:r>
            <a:r>
              <a:rPr lang="en-US" altLang="zh-CN" sz="2000" b="1" dirty="0">
                <a:latin typeface="微软雅黑 Light" panose="020B0502040204020203" pitchFamily="34" charset="-122"/>
                <a:ea typeface="微软雅黑 Light" panose="020B0502040204020203" pitchFamily="34" charset="-122"/>
              </a:rPr>
              <a:t>SMTP</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互联网文本报文格式</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通用互联网邮件扩充 </a:t>
            </a:r>
            <a:r>
              <a:rPr lang="en-US" altLang="zh-CN" sz="2000" b="1" dirty="0">
                <a:latin typeface="微软雅黑 Light" panose="020B0502040204020203" pitchFamily="34" charset="-122"/>
                <a:ea typeface="微软雅黑 Light" panose="020B0502040204020203" pitchFamily="34" charset="-122"/>
              </a:rPr>
              <a:t>MIME</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邮件读取协议：</a:t>
            </a:r>
            <a:r>
              <a:rPr lang="en-US" altLang="zh-CN" sz="2000" b="1" dirty="0">
                <a:latin typeface="微软雅黑 Light" panose="020B0502040204020203" pitchFamily="34" charset="-122"/>
                <a:ea typeface="微软雅黑 Light" panose="020B0502040204020203" pitchFamily="34" charset="-122"/>
              </a:rPr>
              <a:t>POP3 </a:t>
            </a:r>
            <a:r>
              <a:rPr lang="zh-CN" altLang="en-US" sz="2000" b="1" dirty="0">
                <a:latin typeface="微软雅黑 Light" panose="020B0502040204020203" pitchFamily="34" charset="-122"/>
                <a:ea typeface="微软雅黑 Light" panose="020B0502040204020203" pitchFamily="34" charset="-122"/>
              </a:rPr>
              <a:t>和 </a:t>
            </a:r>
            <a:r>
              <a:rPr lang="en-US" altLang="zh-CN" sz="2000" b="1" dirty="0">
                <a:latin typeface="微软雅黑 Light" panose="020B0502040204020203" pitchFamily="34" charset="-122"/>
                <a:ea typeface="微软雅黑 Light" panose="020B0502040204020203" pitchFamily="34" charset="-122"/>
              </a:rPr>
              <a:t>IMAP</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0723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437177" y="574020"/>
            <a:ext cx="428835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电子邮件系统的组成：三个主要构件</a:t>
            </a:r>
          </a:p>
        </p:txBody>
      </p:sp>
      <p:sp>
        <p:nvSpPr>
          <p:cNvPr id="372" name="Rectangle 386"/>
          <p:cNvSpPr>
            <a:spLocks noChangeArrowheads="1"/>
          </p:cNvSpPr>
          <p:nvPr/>
        </p:nvSpPr>
        <p:spPr bwMode="auto">
          <a:xfrm>
            <a:off x="3019580" y="2138386"/>
            <a:ext cx="680437" cy="13465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657456" y="2138386"/>
            <a:ext cx="680437" cy="1346517"/>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34011" y="2481158"/>
            <a:ext cx="94185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377" name="Text Box 391"/>
          <p:cNvSpPr txBox="1">
            <a:spLocks noChangeArrowheads="1"/>
          </p:cNvSpPr>
          <p:nvPr/>
        </p:nvSpPr>
        <p:spPr bwMode="auto">
          <a:xfrm>
            <a:off x="2394683" y="1794215"/>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408816" y="250746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3" name="Oval 397"/>
          <p:cNvSpPr>
            <a:spLocks noChangeArrowheads="1"/>
          </p:cNvSpPr>
          <p:nvPr/>
        </p:nvSpPr>
        <p:spPr bwMode="auto">
          <a:xfrm>
            <a:off x="1713742" y="2202272"/>
            <a:ext cx="566615"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91" name="Oval 405"/>
          <p:cNvSpPr>
            <a:spLocks noChangeArrowheads="1"/>
          </p:cNvSpPr>
          <p:nvPr/>
        </p:nvSpPr>
        <p:spPr bwMode="auto">
          <a:xfrm>
            <a:off x="3077118" y="2202272"/>
            <a:ext cx="566615" cy="556545"/>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3077118" y="2815331"/>
            <a:ext cx="566615"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96" name="Text Box 399"/>
          <p:cNvSpPr txBox="1">
            <a:spLocks noChangeArrowheads="1"/>
          </p:cNvSpPr>
          <p:nvPr/>
        </p:nvSpPr>
        <p:spPr bwMode="auto">
          <a:xfrm>
            <a:off x="729032" y="1666614"/>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发件人</a:t>
            </a:r>
          </a:p>
        </p:txBody>
      </p:sp>
      <p:graphicFrame>
        <p:nvGraphicFramePr>
          <p:cNvPr id="412" name="对象 411"/>
          <p:cNvGraphicFramePr>
            <a:graphicFrameLocks noChangeAspect="1"/>
          </p:cNvGraphicFramePr>
          <p:nvPr>
            <p:extLst>
              <p:ext uri="{D42A27DB-BD31-4B8C-83A1-F6EECF244321}">
                <p14:modId xmlns:p14="http://schemas.microsoft.com/office/powerpoint/2010/main" val="2854833761"/>
              </p:ext>
            </p:extLst>
          </p:nvPr>
        </p:nvGraphicFramePr>
        <p:xfrm>
          <a:off x="875180" y="2178372"/>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6"/>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2178372"/>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71" name="Rectangle 385"/>
          <p:cNvSpPr>
            <a:spLocks noChangeArrowheads="1"/>
          </p:cNvSpPr>
          <p:nvPr/>
        </p:nvSpPr>
        <p:spPr bwMode="auto">
          <a:xfrm>
            <a:off x="6835923" y="2146987"/>
            <a:ext cx="680437" cy="1337917"/>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379" name="Text Box 393"/>
          <p:cNvSpPr txBox="1">
            <a:spLocks noChangeArrowheads="1"/>
          </p:cNvSpPr>
          <p:nvPr/>
        </p:nvSpPr>
        <p:spPr bwMode="auto">
          <a:xfrm>
            <a:off x="6201910" y="1812815"/>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1" name="Text Box 395"/>
          <p:cNvSpPr txBox="1">
            <a:spLocks noChangeArrowheads="1"/>
          </p:cNvSpPr>
          <p:nvPr/>
        </p:nvSpPr>
        <p:spPr bwMode="auto">
          <a:xfrm>
            <a:off x="6217922" y="248562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4" name="Oval 398"/>
          <p:cNvSpPr>
            <a:spLocks noChangeArrowheads="1"/>
          </p:cNvSpPr>
          <p:nvPr/>
        </p:nvSpPr>
        <p:spPr bwMode="auto">
          <a:xfrm>
            <a:off x="6892210" y="2202272"/>
            <a:ext cx="566614"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87" name="Rectangle 401"/>
          <p:cNvSpPr>
            <a:spLocks noChangeArrowheads="1"/>
          </p:cNvSpPr>
          <p:nvPr/>
        </p:nvSpPr>
        <p:spPr bwMode="auto">
          <a:xfrm>
            <a:off x="5475048" y="2146987"/>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531335" y="2815331"/>
            <a:ext cx="566614" cy="55654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531335" y="2202272"/>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394" name="Line 408"/>
          <p:cNvSpPr>
            <a:spLocks noChangeShapeType="1"/>
          </p:cNvSpPr>
          <p:nvPr/>
        </p:nvSpPr>
        <p:spPr bwMode="auto">
          <a:xfrm flipV="1">
            <a:off x="6097949" y="2481158"/>
            <a:ext cx="794261"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graphicFrame>
        <p:nvGraphicFramePr>
          <p:cNvPr id="414" name="对象 413"/>
          <p:cNvGraphicFramePr>
            <a:graphicFrameLocks noChangeAspect="1"/>
          </p:cNvGraphicFramePr>
          <p:nvPr>
            <p:extLst>
              <p:ext uri="{D42A27DB-BD31-4B8C-83A1-F6EECF244321}">
                <p14:modId xmlns:p14="http://schemas.microsoft.com/office/powerpoint/2010/main" val="4029124300"/>
              </p:ext>
            </p:extLst>
          </p:nvPr>
        </p:nvGraphicFramePr>
        <p:xfrm>
          <a:off x="7744964" y="2178372"/>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7"/>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2178372"/>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815300" y="1666614"/>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收件人</a:t>
            </a:r>
          </a:p>
        </p:txBody>
      </p:sp>
      <p:sp>
        <p:nvSpPr>
          <p:cNvPr id="378" name="Text Box 392"/>
          <p:cNvSpPr txBox="1">
            <a:spLocks noChangeArrowheads="1"/>
          </p:cNvSpPr>
          <p:nvPr/>
        </p:nvSpPr>
        <p:spPr bwMode="auto">
          <a:xfrm>
            <a:off x="4143646" y="281410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a:t>
            </a:r>
            <a:endParaRPr kumimoji="1" lang="en-US" altLang="zh-CN" sz="1200" b="1" dirty="0">
              <a:solidFill>
                <a:srgbClr val="C00000"/>
              </a:solidFill>
              <a:latin typeface="微软雅黑 Light" panose="020B0502040204020203" pitchFamily="34" charset="-122"/>
              <a:ea typeface="微软雅黑 Light" panose="020B0502040204020203" pitchFamily="34" charset="-122"/>
            </a:endParaRPr>
          </a:p>
        </p:txBody>
      </p:sp>
      <p:sp>
        <p:nvSpPr>
          <p:cNvPr id="390" name="Line 404"/>
          <p:cNvSpPr>
            <a:spLocks noChangeShapeType="1"/>
          </p:cNvSpPr>
          <p:nvPr/>
        </p:nvSpPr>
        <p:spPr bwMode="auto">
          <a:xfrm flipV="1">
            <a:off x="3628236" y="3094217"/>
            <a:ext cx="1928643"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304945" y="3111416"/>
            <a:ext cx="4955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419" name="圆角矩形 418"/>
          <p:cNvSpPr/>
          <p:nvPr/>
        </p:nvSpPr>
        <p:spPr>
          <a:xfrm>
            <a:off x="1484031" y="1568391"/>
            <a:ext cx="6194639" cy="2126256"/>
          </a:xfrm>
          <a:prstGeom prst="round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29" name="矩形 428"/>
          <p:cNvSpPr/>
          <p:nvPr/>
        </p:nvSpPr>
        <p:spPr>
          <a:xfrm>
            <a:off x="1096460" y="1094950"/>
            <a:ext cx="7188224" cy="443519"/>
          </a:xfrm>
          <a:prstGeom prst="rect">
            <a:avLst/>
          </a:prstGeom>
        </p:spPr>
        <p:txBody>
          <a:bodyPr wrap="square" anchor="ctr">
            <a:spAutoFit/>
          </a:bodyPr>
          <a:lstStyle/>
          <a:p>
            <a:pPr algn="ctr">
              <a:lnSpc>
                <a:spcPts val="3000"/>
              </a:lnSpc>
            </a:pPr>
            <a:r>
              <a:rPr lang="zh-CN" altLang="en-US" sz="2000" b="1" dirty="0">
                <a:solidFill>
                  <a:srgbClr val="C00000"/>
                </a:solidFill>
                <a:latin typeface="微软雅黑 Light" panose="020B0502040204020203" pitchFamily="34" charset="-122"/>
                <a:ea typeface="微软雅黑 Light" panose="020B0502040204020203" pitchFamily="34" charset="-122"/>
              </a:rPr>
              <a:t>用户代理</a:t>
            </a: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C00000"/>
                </a:solidFill>
                <a:latin typeface="微软雅黑 Light" panose="020B0502040204020203" pitchFamily="34" charset="-122"/>
                <a:ea typeface="微软雅黑 Light" panose="020B0502040204020203" pitchFamily="34" charset="-122"/>
              </a:rPr>
              <a:t>邮件服务器</a:t>
            </a:r>
            <a:r>
              <a:rPr lang="zh-CN" altLang="en-US" sz="2000" b="1" dirty="0">
                <a:latin typeface="微软雅黑 Light" panose="020B0502040204020203" pitchFamily="34" charset="-122"/>
                <a:ea typeface="微软雅黑 Light" panose="020B0502040204020203" pitchFamily="34" charset="-122"/>
              </a:rPr>
              <a:t>，以及</a:t>
            </a:r>
            <a:r>
              <a:rPr lang="zh-CN" altLang="en-US" sz="2000" b="1" dirty="0">
                <a:solidFill>
                  <a:srgbClr val="C00000"/>
                </a:solidFill>
                <a:latin typeface="微软雅黑 Light" panose="020B0502040204020203" pitchFamily="34" charset="-122"/>
                <a:ea typeface="微软雅黑 Light" panose="020B0502040204020203" pitchFamily="34" charset="-122"/>
              </a:rPr>
              <a:t>邮件发送和读取协议</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621814" y="1666614"/>
            <a:ext cx="5935194" cy="1424487"/>
            <a:chOff x="1621814" y="1666614"/>
            <a:chExt cx="5935194" cy="1424487"/>
          </a:xfrm>
        </p:grpSpPr>
        <p:grpSp>
          <p:nvGrpSpPr>
            <p:cNvPr id="420" name="组合 419"/>
            <p:cNvGrpSpPr/>
            <p:nvPr/>
          </p:nvGrpSpPr>
          <p:grpSpPr>
            <a:xfrm>
              <a:off x="1621814" y="1666614"/>
              <a:ext cx="5935194" cy="793211"/>
              <a:chOff x="1509292" y="1797262"/>
              <a:chExt cx="5935194" cy="793211"/>
            </a:xfrm>
          </p:grpSpPr>
          <p:sp>
            <p:nvSpPr>
              <p:cNvPr id="375" name="Text Box 389"/>
              <p:cNvSpPr txBox="1">
                <a:spLocks noChangeArrowheads="1"/>
              </p:cNvSpPr>
              <p:nvPr/>
            </p:nvSpPr>
            <p:spPr bwMode="auto">
              <a:xfrm>
                <a:off x="2262718" y="2319180"/>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sp>
            <p:nvSpPr>
              <p:cNvPr id="382" name="Text Box 396"/>
              <p:cNvSpPr txBox="1">
                <a:spLocks noChangeArrowheads="1"/>
              </p:cNvSpPr>
              <p:nvPr/>
            </p:nvSpPr>
            <p:spPr bwMode="auto">
              <a:xfrm>
                <a:off x="2805314" y="1797262"/>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发送方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5" name="Text Box 399"/>
              <p:cNvSpPr txBox="1">
                <a:spLocks noChangeArrowheads="1"/>
              </p:cNvSpPr>
              <p:nvPr/>
            </p:nvSpPr>
            <p:spPr bwMode="auto">
              <a:xfrm>
                <a:off x="1509292" y="1797262"/>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76" name="Text Box 390"/>
              <p:cNvSpPr txBox="1">
                <a:spLocks noChangeArrowheads="1"/>
              </p:cNvSpPr>
              <p:nvPr/>
            </p:nvSpPr>
            <p:spPr bwMode="auto">
              <a:xfrm>
                <a:off x="6069378" y="2318132"/>
                <a:ext cx="545342"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POP3</a:t>
                </a:r>
              </a:p>
            </p:txBody>
          </p:sp>
          <p:sp>
            <p:nvSpPr>
              <p:cNvPr id="386" name="Text Box 400"/>
              <p:cNvSpPr txBox="1">
                <a:spLocks noChangeArrowheads="1"/>
              </p:cNvSpPr>
              <p:nvPr/>
            </p:nvSpPr>
            <p:spPr bwMode="auto">
              <a:xfrm>
                <a:off x="5248753" y="1797262"/>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93" name="Text Box 407"/>
              <p:cNvSpPr txBox="1">
                <a:spLocks noChangeArrowheads="1"/>
              </p:cNvSpPr>
              <p:nvPr/>
            </p:nvSpPr>
            <p:spPr bwMode="auto">
              <a:xfrm>
                <a:off x="6695563" y="1797262"/>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grpSp>
        <p:sp>
          <p:nvSpPr>
            <p:cNvPr id="41" name="Text Box 392"/>
            <p:cNvSpPr txBox="1">
              <a:spLocks noChangeArrowheads="1"/>
            </p:cNvSpPr>
            <p:nvPr/>
          </p:nvSpPr>
          <p:spPr bwMode="auto">
            <a:xfrm>
              <a:off x="4763933" y="2814102"/>
              <a:ext cx="6254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gr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0723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002363" y="574020"/>
            <a:ext cx="315797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用户代理 </a:t>
            </a:r>
            <a:r>
              <a:rPr lang="en-US" altLang="zh-CN" sz="2000" b="1" dirty="0">
                <a:solidFill>
                  <a:schemeClr val="bg1"/>
                </a:solidFill>
                <a:latin typeface="微软雅黑 Light" panose="020B0502040204020203" pitchFamily="34" charset="-122"/>
                <a:ea typeface="微软雅黑 Light" panose="020B0502040204020203" pitchFamily="34" charset="-122"/>
              </a:rPr>
              <a:t>UA (User Agent)</a:t>
            </a:r>
          </a:p>
        </p:txBody>
      </p:sp>
      <p:sp>
        <p:nvSpPr>
          <p:cNvPr id="371" name="Rectangle 385"/>
          <p:cNvSpPr>
            <a:spLocks noChangeArrowheads="1"/>
          </p:cNvSpPr>
          <p:nvPr/>
        </p:nvSpPr>
        <p:spPr bwMode="auto">
          <a:xfrm>
            <a:off x="6814430" y="1436259"/>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29754"/>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29754"/>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88998"/>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62613"/>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61820"/>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69452"/>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87541"/>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83519"/>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088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692379"/>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3097" y="107294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78072"/>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78072"/>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72945"/>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18079" y="107294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36259"/>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41739"/>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78072"/>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52665"/>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78072"/>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41739"/>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72945"/>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88998"/>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300302" y="2112405"/>
            <a:ext cx="4955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72945"/>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aphicFrame>
        <p:nvGraphicFramePr>
          <p:cNvPr id="412" name="对象 411"/>
          <p:cNvGraphicFramePr>
            <a:graphicFrameLocks noChangeAspect="1"/>
          </p:cNvGraphicFramePr>
          <p:nvPr>
            <p:extLst>
              <p:ext uri="{D42A27DB-BD31-4B8C-83A1-F6EECF244321}">
                <p14:modId xmlns:p14="http://schemas.microsoft.com/office/powerpoint/2010/main" val="887099927"/>
              </p:ext>
            </p:extLst>
          </p:nvPr>
        </p:nvGraphicFramePr>
        <p:xfrm>
          <a:off x="1234937" y="1459996"/>
          <a:ext cx="440021" cy="504000"/>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4"/>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1234937" y="1459996"/>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048080532"/>
              </p:ext>
            </p:extLst>
          </p:nvPr>
        </p:nvGraphicFramePr>
        <p:xfrm>
          <a:off x="7436052" y="1459996"/>
          <a:ext cx="443938"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5"/>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436052" y="1459996"/>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72945"/>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1096460" y="2624004"/>
            <a:ext cx="7188224" cy="820546"/>
          </a:xfrm>
          <a:prstGeom prst="rect">
            <a:avLst/>
          </a:prstGeom>
        </p:spPr>
        <p:txBody>
          <a:bodyPr wrap="square">
            <a:spAutoFit/>
          </a:bodyPr>
          <a:lstStyle/>
          <a:p>
            <a:pPr>
              <a:lnSpc>
                <a:spcPts val="3000"/>
              </a:lnSpc>
            </a:pPr>
            <a:r>
              <a:rPr lang="zh-CN" altLang="en-US" b="1" dirty="0">
                <a:latin typeface="微软雅黑 Light" panose="020B0502040204020203" pitchFamily="34" charset="-122"/>
                <a:ea typeface="微软雅黑 Light" panose="020B0502040204020203" pitchFamily="34" charset="-122"/>
              </a:rPr>
              <a:t>用户与电子邮件系统的接口。又被称为</a:t>
            </a:r>
            <a:r>
              <a:rPr lang="zh-CN" altLang="en-US" b="1" dirty="0">
                <a:solidFill>
                  <a:srgbClr val="0000FF"/>
                </a:solidFill>
                <a:latin typeface="微软雅黑 Light" panose="020B0502040204020203" pitchFamily="34" charset="-122"/>
                <a:ea typeface="微软雅黑 Light" panose="020B0502040204020203" pitchFamily="34" charset="-122"/>
              </a:rPr>
              <a:t>电子邮件客户端软件。</a:t>
            </a:r>
          </a:p>
          <a:p>
            <a:pPr>
              <a:lnSpc>
                <a:spcPts val="3000"/>
              </a:lnSpc>
            </a:pPr>
            <a:r>
              <a:rPr lang="zh-CN" altLang="en-US" b="1" dirty="0">
                <a:solidFill>
                  <a:srgbClr val="C00000"/>
                </a:solidFill>
                <a:latin typeface="微软雅黑 Light" panose="020B0502040204020203" pitchFamily="34" charset="-122"/>
                <a:ea typeface="微软雅黑 Light" panose="020B0502040204020203" pitchFamily="34" charset="-122"/>
              </a:rPr>
              <a:t>基本功能：</a:t>
            </a:r>
            <a:r>
              <a:rPr lang="zh-CN" altLang="en-US" b="1" dirty="0">
                <a:latin typeface="微软雅黑 Light" panose="020B0502040204020203" pitchFamily="34" charset="-122"/>
                <a:ea typeface="微软雅黑 Light" panose="020B0502040204020203" pitchFamily="34" charset="-122"/>
              </a:rPr>
              <a:t>撰写、显示、处理、通信。</a:t>
            </a:r>
            <a:endParaRPr lang="en-US" altLang="zh-CN"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0052632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10000" fill="hold" grpId="0" nodeType="withEffect">
                                  <p:stCondLst>
                                    <p:cond delay="0"/>
                                  </p:stCondLst>
                                  <p:childTnLst>
                                    <p:anim calcmode="discrete" valueType="str">
                                      <p:cBhvr>
                                        <p:cTn id="6" dur="1000" fill="hold"/>
                                        <p:tgtEl>
                                          <p:spTgt spid="373"/>
                                        </p:tgtEl>
                                        <p:attrNameLst>
                                          <p:attrName>style.visibility</p:attrName>
                                        </p:attrNameLst>
                                      </p:cBhvr>
                                      <p:tavLst>
                                        <p:tav tm="0">
                                          <p:val>
                                            <p:strVal val="hidden"/>
                                          </p:val>
                                        </p:tav>
                                        <p:tav tm="50000">
                                          <p:val>
                                            <p:strVal val="visible"/>
                                          </p:val>
                                        </p:tav>
                                      </p:tavLst>
                                    </p:anim>
                                  </p:childTnLst>
                                </p:cTn>
                              </p:par>
                              <p:par>
                                <p:cTn id="7" presetID="35" presetClass="emph" presetSubtype="0" repeatCount="10000" fill="hold" grpId="0" nodeType="withEffect">
                                  <p:stCondLst>
                                    <p:cond delay="0"/>
                                  </p:stCondLst>
                                  <p:childTnLst>
                                    <p:anim calcmode="discrete" valueType="str">
                                      <p:cBhvr>
                                        <p:cTn id="8" dur="1000" fill="hold"/>
                                        <p:tgtEl>
                                          <p:spTgt spid="37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1" grpId="0" animBg="1"/>
      <p:bldP spid="373"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081936" y="582898"/>
            <a:ext cx="29988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邮件服务器</a:t>
            </a:r>
            <a:r>
              <a:rPr lang="en-US" altLang="zh-CN" sz="2000" b="1" dirty="0">
                <a:solidFill>
                  <a:schemeClr val="bg1"/>
                </a:solidFill>
                <a:latin typeface="微软雅黑 Light" panose="020B0502040204020203" pitchFamily="34" charset="-122"/>
                <a:ea typeface="微软雅黑 Light" panose="020B0502040204020203" pitchFamily="34" charset="-122"/>
              </a:rPr>
              <a:t> (Mail Server)</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3097"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18079"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300302" y="2121283"/>
            <a:ext cx="4955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aphicFrame>
        <p:nvGraphicFramePr>
          <p:cNvPr id="412" name="对象 411"/>
          <p:cNvGraphicFramePr>
            <a:graphicFrameLocks noChangeAspect="1"/>
          </p:cNvGraphicFramePr>
          <p:nvPr>
            <p:extLst>
              <p:ext uri="{D42A27DB-BD31-4B8C-83A1-F6EECF244321}">
                <p14:modId xmlns:p14="http://schemas.microsoft.com/office/powerpoint/2010/main" val="2552667843"/>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6"/>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526122300"/>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7"/>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1019340" y="2586786"/>
            <a:ext cx="7353477" cy="1246495"/>
          </a:xfrm>
          <a:prstGeom prst="rect">
            <a:avLst/>
          </a:prstGeom>
        </p:spPr>
        <p:txBody>
          <a:bodyPr wrap="square">
            <a:spAutoFit/>
          </a:bodyPr>
          <a:lstStyle/>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又被称为</a:t>
            </a:r>
            <a:r>
              <a:rPr lang="zh-CN" altLang="en-US" b="1" dirty="0">
                <a:solidFill>
                  <a:srgbClr val="0000FF"/>
                </a:solidFill>
                <a:latin typeface="微软雅黑 Light" panose="020B0502040204020203" pitchFamily="34" charset="-122"/>
                <a:ea typeface="微软雅黑 Light" panose="020B0502040204020203" pitchFamily="34" charset="-122"/>
              </a:rPr>
              <a:t>邮件传输代理。</a:t>
            </a:r>
            <a:endParaRPr lang="en-US" altLang="zh-CN" b="1" dirty="0">
              <a:solidFill>
                <a:srgbClr val="0000FF"/>
              </a:solidFill>
              <a:latin typeface="微软雅黑 Light" panose="020B0502040204020203" pitchFamily="34" charset="-122"/>
              <a:ea typeface="微软雅黑 Light" panose="020B0502040204020203" pitchFamily="34" charset="-122"/>
            </a:endParaRPr>
          </a:p>
          <a:p>
            <a:pPr marL="285750" indent="-285750">
              <a:lnSpc>
                <a:spcPts val="3000"/>
              </a:lnSpc>
              <a:buClr>
                <a:srgbClr val="0066FF"/>
              </a:buClr>
              <a:buFont typeface="Wingdings" pitchFamily="2" charset="2"/>
              <a:buChar char="l"/>
            </a:pPr>
            <a:r>
              <a:rPr lang="zh-CN" altLang="en-US" b="1" dirty="0">
                <a:solidFill>
                  <a:srgbClr val="C00000"/>
                </a:solidFill>
                <a:latin typeface="微软雅黑 Light" panose="020B0502040204020203" pitchFamily="34" charset="-122"/>
                <a:ea typeface="微软雅黑 Light" panose="020B0502040204020203" pitchFamily="34" charset="-122"/>
              </a:rPr>
              <a:t>功能：</a:t>
            </a:r>
            <a:r>
              <a:rPr lang="zh-CN" altLang="en-US" b="1" dirty="0">
                <a:latin typeface="微软雅黑 Light" panose="020B0502040204020203" pitchFamily="34" charset="-122"/>
                <a:ea typeface="微软雅黑 Light" panose="020B0502040204020203" pitchFamily="34" charset="-122"/>
              </a:rPr>
              <a:t>发送和接收邮件，同时还要向发信人报告邮件传送的情况。</a:t>
            </a:r>
          </a:p>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按照</a:t>
            </a:r>
            <a:r>
              <a:rPr lang="zh-CN" altLang="en-US" b="1" dirty="0">
                <a:solidFill>
                  <a:srgbClr val="CC00CC"/>
                </a:solidFill>
                <a:latin typeface="微软雅黑 Light" panose="020B0502040204020203" pitchFamily="34" charset="-122"/>
                <a:ea typeface="微软雅黑 Light" panose="020B0502040204020203" pitchFamily="34" charset="-122"/>
              </a:rPr>
              <a:t>客户服务器</a:t>
            </a:r>
            <a:r>
              <a:rPr lang="zh-CN" altLang="en-US" b="1" dirty="0">
                <a:latin typeface="微软雅黑 Light" panose="020B0502040204020203" pitchFamily="34" charset="-122"/>
                <a:ea typeface="微软雅黑 Light" panose="020B0502040204020203" pitchFamily="34" charset="-122"/>
              </a:rPr>
              <a:t>方式工作。</a:t>
            </a:r>
            <a:endParaRPr lang="en-US" altLang="zh-CN"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9093079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withEffect">
                                  <p:stCondLst>
                                    <p:cond delay="0"/>
                                  </p:stCondLst>
                                  <p:endCondLst>
                                    <p:cond evt="onNext" delay="0">
                                      <p:tgtEl>
                                        <p:sldTgt/>
                                      </p:tgtEl>
                                    </p:cond>
                                  </p:endCondLst>
                                  <p:childTnLst>
                                    <p:anim calcmode="discrete" valueType="str">
                                      <p:cBhvr>
                                        <p:cTn id="6" dur="1000" fill="hold"/>
                                        <p:tgtEl>
                                          <p:spTgt spid="372"/>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2" grpId="0" animBg="1"/>
      <p:bldP spid="387"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334858" y="58289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邮件发送和读取协议</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2303061" y="1178330"/>
            <a:ext cx="482824" cy="523993"/>
            <a:chOff x="2303061" y="1196086"/>
            <a:chExt cx="482824" cy="523993"/>
          </a:xfrm>
        </p:grpSpPr>
        <p:sp>
          <p:nvSpPr>
            <p:cNvPr id="375" name="Text Box 389"/>
            <p:cNvSpPr txBox="1">
              <a:spLocks noChangeArrowheads="1"/>
            </p:cNvSpPr>
            <p:nvPr/>
          </p:nvSpPr>
          <p:spPr bwMode="auto">
            <a:xfrm>
              <a:off x="2303061" y="1489247"/>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7" name="Text Box 391"/>
            <p:cNvSpPr txBox="1">
              <a:spLocks noChangeArrowheads="1"/>
            </p:cNvSpPr>
            <p:nvPr/>
          </p:nvSpPr>
          <p:spPr bwMode="auto">
            <a:xfrm>
              <a:off x="2319473" y="1196086"/>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gr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grpSp>
        <p:nvGrpSpPr>
          <p:cNvPr id="9" name="组合 8"/>
          <p:cNvGrpSpPr/>
          <p:nvPr/>
        </p:nvGrpSpPr>
        <p:grpSpPr>
          <a:xfrm>
            <a:off x="6268517" y="1192397"/>
            <a:ext cx="478016" cy="509133"/>
            <a:chOff x="6268517" y="1210153"/>
            <a:chExt cx="478016" cy="509133"/>
          </a:xfrm>
        </p:grpSpPr>
        <p:sp>
          <p:nvSpPr>
            <p:cNvPr id="376" name="Text Box 390"/>
            <p:cNvSpPr txBox="1">
              <a:spLocks noChangeArrowheads="1"/>
            </p:cNvSpPr>
            <p:nvPr/>
          </p:nvSpPr>
          <p:spPr bwMode="auto">
            <a:xfrm>
              <a:off x="6268517" y="1488454"/>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9" name="Text Box 393"/>
            <p:cNvSpPr txBox="1">
              <a:spLocks noChangeArrowheads="1"/>
            </p:cNvSpPr>
            <p:nvPr/>
          </p:nvSpPr>
          <p:spPr bwMode="auto">
            <a:xfrm>
              <a:off x="6284273" y="1210153"/>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gr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3097"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18079"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300302" y="2121283"/>
            <a:ext cx="4955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aphicFrame>
        <p:nvGraphicFramePr>
          <p:cNvPr id="412" name="对象 411"/>
          <p:cNvGraphicFramePr>
            <a:graphicFrameLocks noChangeAspect="1"/>
          </p:cNvGraphicFramePr>
          <p:nvPr>
            <p:extLst>
              <p:ext uri="{D42A27DB-BD31-4B8C-83A1-F6EECF244321}">
                <p14:modId xmlns:p14="http://schemas.microsoft.com/office/powerpoint/2010/main" val="712991522"/>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4"/>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67219314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5"/>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1019340" y="2586786"/>
            <a:ext cx="7353477" cy="1631216"/>
          </a:xfrm>
          <a:prstGeom prst="rect">
            <a:avLst/>
          </a:prstGeom>
        </p:spPr>
        <p:txBody>
          <a:bodyPr wrap="square">
            <a:spAutoFit/>
          </a:bodyPr>
          <a:lstStyle/>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邮件发送和读取使用不同的协议。</a:t>
            </a:r>
            <a:endParaRPr lang="en-US" altLang="zh-CN" b="1" dirty="0">
              <a:latin typeface="微软雅黑 Light" panose="020B0502040204020203" pitchFamily="34" charset="-122"/>
              <a:ea typeface="微软雅黑 Light" panose="020B0502040204020203" pitchFamily="34" charset="-122"/>
            </a:endParaRPr>
          </a:p>
          <a:p>
            <a:pPr marL="285750" indent="-285750">
              <a:lnSpc>
                <a:spcPts val="3000"/>
              </a:lnSpc>
              <a:buClr>
                <a:srgbClr val="0066FF"/>
              </a:buClr>
              <a:buFont typeface="Wingdings" pitchFamily="2" charset="2"/>
              <a:buChar char="l"/>
            </a:pPr>
            <a:r>
              <a:rPr lang="zh-CN" altLang="en-US" b="1" dirty="0">
                <a:solidFill>
                  <a:srgbClr val="C00000"/>
                </a:solidFill>
                <a:latin typeface="微软雅黑 Light" panose="020B0502040204020203" pitchFamily="34" charset="-122"/>
                <a:ea typeface="微软雅黑 Light" panose="020B0502040204020203" pitchFamily="34" charset="-122"/>
              </a:rPr>
              <a:t>简单邮件发送协议 </a:t>
            </a:r>
            <a:r>
              <a:rPr lang="en-US" altLang="zh-CN" b="1" dirty="0">
                <a:solidFill>
                  <a:srgbClr val="C00000"/>
                </a:solidFill>
                <a:latin typeface="微软雅黑 Light" panose="020B0502040204020203" pitchFamily="34" charset="-122"/>
                <a:ea typeface="微软雅黑 Light" panose="020B0502040204020203" pitchFamily="34" charset="-122"/>
              </a:rPr>
              <a:t>SMTP</a:t>
            </a:r>
            <a:r>
              <a:rPr lang="zh-CN" altLang="en-US" b="1" dirty="0">
                <a:solidFill>
                  <a:srgbClr val="C00000"/>
                </a:solidFill>
                <a:latin typeface="微软雅黑 Light" panose="020B0502040204020203" pitchFamily="34" charset="-122"/>
                <a:ea typeface="微软雅黑 Light" panose="020B0502040204020203" pitchFamily="34" charset="-122"/>
              </a:rPr>
              <a:t>：</a:t>
            </a:r>
            <a:r>
              <a:rPr lang="zh-CN" altLang="en-US" b="1" dirty="0">
                <a:latin typeface="微软雅黑 Light" panose="020B0502040204020203" pitchFamily="34" charset="-122"/>
                <a:ea typeface="微软雅黑 Light" panose="020B0502040204020203" pitchFamily="34" charset="-122"/>
              </a:rPr>
              <a:t>用于在用户代理向邮件服务器 或 邮件服务器之间</a:t>
            </a:r>
            <a:r>
              <a:rPr lang="zh-CN" altLang="en-US" b="1" dirty="0">
                <a:solidFill>
                  <a:srgbClr val="0000FF"/>
                </a:solidFill>
                <a:latin typeface="微软雅黑 Light" panose="020B0502040204020203" pitchFamily="34" charset="-122"/>
                <a:ea typeface="微软雅黑 Light" panose="020B0502040204020203" pitchFamily="34" charset="-122"/>
              </a:rPr>
              <a:t>发送</a:t>
            </a:r>
            <a:r>
              <a:rPr lang="zh-CN" altLang="en-US" b="1" dirty="0">
                <a:latin typeface="微软雅黑 Light" panose="020B0502040204020203" pitchFamily="34" charset="-122"/>
                <a:ea typeface="微软雅黑 Light" panose="020B0502040204020203" pitchFamily="34" charset="-122"/>
              </a:rPr>
              <a:t>邮件。</a:t>
            </a:r>
            <a:endParaRPr lang="en-US" altLang="zh-CN" b="1" dirty="0">
              <a:latin typeface="微软雅黑 Light" panose="020B0502040204020203" pitchFamily="34" charset="-122"/>
              <a:ea typeface="微软雅黑 Light" panose="020B0502040204020203" pitchFamily="34" charset="-122"/>
            </a:endParaRPr>
          </a:p>
          <a:p>
            <a:pPr marL="285750" indent="-285750">
              <a:lnSpc>
                <a:spcPts val="3000"/>
              </a:lnSpc>
              <a:buClr>
                <a:srgbClr val="0066FF"/>
              </a:buClr>
              <a:buFont typeface="Wingdings" pitchFamily="2" charset="2"/>
              <a:buChar char="l"/>
            </a:pPr>
            <a:r>
              <a:rPr lang="zh-CN" altLang="en-US" b="1" dirty="0">
                <a:solidFill>
                  <a:srgbClr val="C00000"/>
                </a:solidFill>
                <a:latin typeface="微软雅黑 Light" panose="020B0502040204020203" pitchFamily="34" charset="-122"/>
                <a:ea typeface="微软雅黑 Light" panose="020B0502040204020203" pitchFamily="34" charset="-122"/>
              </a:rPr>
              <a:t>邮局协议 </a:t>
            </a:r>
            <a:r>
              <a:rPr lang="en-US" altLang="zh-CN" b="1" dirty="0">
                <a:solidFill>
                  <a:srgbClr val="C00000"/>
                </a:solidFill>
                <a:latin typeface="微软雅黑 Light" panose="020B0502040204020203" pitchFamily="34" charset="-122"/>
                <a:ea typeface="微软雅黑 Light" panose="020B0502040204020203" pitchFamily="34" charset="-122"/>
              </a:rPr>
              <a:t>POP3</a:t>
            </a:r>
            <a:r>
              <a:rPr lang="zh-CN" altLang="en-US" b="1" dirty="0">
                <a:solidFill>
                  <a:srgbClr val="C00000"/>
                </a:solidFill>
                <a:latin typeface="微软雅黑 Light" panose="020B0502040204020203" pitchFamily="34" charset="-122"/>
                <a:ea typeface="微软雅黑 Light" panose="020B0502040204020203" pitchFamily="34" charset="-122"/>
              </a:rPr>
              <a:t>：</a:t>
            </a:r>
            <a:r>
              <a:rPr lang="zh-CN" altLang="en-US" b="1" dirty="0">
                <a:latin typeface="微软雅黑 Light" panose="020B0502040204020203" pitchFamily="34" charset="-122"/>
                <a:ea typeface="微软雅黑 Light" panose="020B0502040204020203" pitchFamily="34" charset="-122"/>
              </a:rPr>
              <a:t>用于用户代理从邮件服务器</a:t>
            </a:r>
            <a:r>
              <a:rPr lang="zh-CN" altLang="en-US" b="1" dirty="0">
                <a:solidFill>
                  <a:srgbClr val="0000FF"/>
                </a:solidFill>
                <a:latin typeface="微软雅黑 Light" panose="020B0502040204020203" pitchFamily="34" charset="-122"/>
                <a:ea typeface="微软雅黑 Light" panose="020B0502040204020203" pitchFamily="34" charset="-122"/>
              </a:rPr>
              <a:t>读取</a:t>
            </a:r>
            <a:r>
              <a:rPr lang="zh-CN" altLang="en-US" b="1" dirty="0">
                <a:latin typeface="微软雅黑 Light" panose="020B0502040204020203" pitchFamily="34" charset="-122"/>
                <a:ea typeface="微软雅黑 Light" panose="020B0502040204020203" pitchFamily="34" charset="-122"/>
              </a:rPr>
              <a:t>邮件。</a:t>
            </a:r>
          </a:p>
        </p:txBody>
      </p:sp>
    </p:spTree>
    <p:extLst>
      <p:ext uri="{BB962C8B-B14F-4D97-AF65-F5344CB8AC3E}">
        <p14:creationId xmlns:p14="http://schemas.microsoft.com/office/powerpoint/2010/main" val="3731353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78"/>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nodeType="withEffect">
                                  <p:stCondLst>
                                    <p:cond delay="0"/>
                                  </p:stCondLst>
                                  <p:endCondLst>
                                    <p:cond evt="onNext" delay="0">
                                      <p:tgtEl>
                                        <p:sldTgt/>
                                      </p:tgtEl>
                                    </p:cond>
                                  </p:endCondLst>
                                  <p:childTnLst>
                                    <p:anim calcmode="discrete" valueType="str">
                                      <p:cBhvr>
                                        <p:cTn id="10"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976059" y="58289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应当注意</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2303061" y="1178330"/>
            <a:ext cx="482824" cy="523993"/>
            <a:chOff x="2303061" y="1196086"/>
            <a:chExt cx="482824" cy="523993"/>
          </a:xfrm>
        </p:grpSpPr>
        <p:sp>
          <p:nvSpPr>
            <p:cNvPr id="375" name="Text Box 389"/>
            <p:cNvSpPr txBox="1">
              <a:spLocks noChangeArrowheads="1"/>
            </p:cNvSpPr>
            <p:nvPr/>
          </p:nvSpPr>
          <p:spPr bwMode="auto">
            <a:xfrm>
              <a:off x="2303061" y="1489247"/>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7" name="Text Box 391"/>
            <p:cNvSpPr txBox="1">
              <a:spLocks noChangeArrowheads="1"/>
            </p:cNvSpPr>
            <p:nvPr/>
          </p:nvSpPr>
          <p:spPr bwMode="auto">
            <a:xfrm>
              <a:off x="2319473" y="1196086"/>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gr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grpSp>
        <p:nvGrpSpPr>
          <p:cNvPr id="9" name="组合 8"/>
          <p:cNvGrpSpPr/>
          <p:nvPr/>
        </p:nvGrpSpPr>
        <p:grpSpPr>
          <a:xfrm>
            <a:off x="6268517" y="1192397"/>
            <a:ext cx="478016" cy="509133"/>
            <a:chOff x="6268517" y="1210153"/>
            <a:chExt cx="478016" cy="509133"/>
          </a:xfrm>
        </p:grpSpPr>
        <p:sp>
          <p:nvSpPr>
            <p:cNvPr id="376" name="Text Box 390"/>
            <p:cNvSpPr txBox="1">
              <a:spLocks noChangeArrowheads="1"/>
            </p:cNvSpPr>
            <p:nvPr/>
          </p:nvSpPr>
          <p:spPr bwMode="auto">
            <a:xfrm>
              <a:off x="6268517" y="1488454"/>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9" name="Text Box 393"/>
            <p:cNvSpPr txBox="1">
              <a:spLocks noChangeArrowheads="1"/>
            </p:cNvSpPr>
            <p:nvPr/>
          </p:nvSpPr>
          <p:spPr bwMode="auto">
            <a:xfrm>
              <a:off x="6284273" y="1210153"/>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gr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3097"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18079"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300302" y="2121283"/>
            <a:ext cx="4955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aphicFrame>
        <p:nvGraphicFramePr>
          <p:cNvPr id="412" name="对象 411"/>
          <p:cNvGraphicFramePr>
            <a:graphicFrameLocks noChangeAspect="1"/>
          </p:cNvGraphicFramePr>
          <p:nvPr>
            <p:extLst>
              <p:ext uri="{D42A27DB-BD31-4B8C-83A1-F6EECF244321}">
                <p14:modId xmlns:p14="http://schemas.microsoft.com/office/powerpoint/2010/main" val="46913800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4"/>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552248955"/>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5"/>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1019340" y="2790417"/>
            <a:ext cx="7353477" cy="820546"/>
          </a:xfrm>
          <a:prstGeom prst="rect">
            <a:avLst/>
          </a:prstGeom>
        </p:spPr>
        <p:txBody>
          <a:bodyPr wrap="square">
            <a:spAutoFit/>
          </a:bodyPr>
          <a:lstStyle/>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邮件服务器必须能够</a:t>
            </a:r>
            <a:r>
              <a:rPr lang="zh-CN" altLang="en-US" b="1" dirty="0">
                <a:solidFill>
                  <a:srgbClr val="C00000"/>
                </a:solidFill>
                <a:latin typeface="微软雅黑 Light" panose="020B0502040204020203" pitchFamily="34" charset="-122"/>
                <a:ea typeface="微软雅黑 Light" panose="020B0502040204020203" pitchFamily="34" charset="-122"/>
              </a:rPr>
              <a:t>同时充当</a:t>
            </a:r>
            <a:r>
              <a:rPr lang="zh-CN" altLang="en-US" b="1" dirty="0">
                <a:latin typeface="微软雅黑 Light" panose="020B0502040204020203" pitchFamily="34" charset="-122"/>
                <a:ea typeface="微软雅黑 Light" panose="020B0502040204020203" pitchFamily="34" charset="-122"/>
              </a:rPr>
              <a:t>客户和服务器。</a:t>
            </a:r>
            <a:endParaRPr lang="en-US" altLang="zh-CN" b="1" dirty="0">
              <a:latin typeface="微软雅黑 Light" panose="020B0502040204020203" pitchFamily="34" charset="-122"/>
              <a:ea typeface="微软雅黑 Light" panose="020B0502040204020203" pitchFamily="34" charset="-122"/>
            </a:endParaRPr>
          </a:p>
          <a:p>
            <a:pPr marL="285750" indent="-285750">
              <a:lnSpc>
                <a:spcPts val="3000"/>
              </a:lnSpc>
              <a:buClr>
                <a:srgbClr val="0066FF"/>
              </a:buClr>
              <a:buFont typeface="Wingdings" pitchFamily="2" charset="2"/>
              <a:buChar char="l"/>
            </a:pPr>
            <a:r>
              <a:rPr lang="en-US" altLang="zh-CN" b="1" dirty="0">
                <a:solidFill>
                  <a:srgbClr val="0000FF"/>
                </a:solidFill>
                <a:latin typeface="微软雅黑 Light" panose="020B0502040204020203" pitchFamily="34" charset="-122"/>
                <a:ea typeface="微软雅黑 Light" panose="020B0502040204020203" pitchFamily="34" charset="-122"/>
              </a:rPr>
              <a:t>SMTP </a:t>
            </a:r>
            <a:r>
              <a:rPr lang="zh-CN" altLang="en-US" b="1" dirty="0">
                <a:solidFill>
                  <a:srgbClr val="0000FF"/>
                </a:solidFill>
                <a:latin typeface="微软雅黑 Light" panose="020B0502040204020203" pitchFamily="34" charset="-122"/>
                <a:ea typeface="微软雅黑 Light" panose="020B0502040204020203" pitchFamily="34" charset="-122"/>
              </a:rPr>
              <a:t>和 </a:t>
            </a:r>
            <a:r>
              <a:rPr lang="en-US" altLang="zh-CN" b="1" dirty="0">
                <a:solidFill>
                  <a:srgbClr val="0000FF"/>
                </a:solidFill>
                <a:latin typeface="微软雅黑 Light" panose="020B0502040204020203" pitchFamily="34" charset="-122"/>
                <a:ea typeface="微软雅黑 Light" panose="020B0502040204020203" pitchFamily="34" charset="-122"/>
              </a:rPr>
              <a:t>POP3</a:t>
            </a:r>
            <a:r>
              <a:rPr lang="zh-CN" altLang="en-US" b="1" dirty="0">
                <a:solidFill>
                  <a:srgbClr val="0000FF"/>
                </a:solidFill>
                <a:latin typeface="微软雅黑 Light" panose="020B0502040204020203" pitchFamily="34" charset="-122"/>
                <a:ea typeface="微软雅黑 Light" panose="020B0502040204020203" pitchFamily="34" charset="-122"/>
              </a:rPr>
              <a:t>（或 </a:t>
            </a:r>
            <a:r>
              <a:rPr lang="en-US" altLang="zh-CN" b="1" dirty="0">
                <a:solidFill>
                  <a:srgbClr val="0000FF"/>
                </a:solidFill>
                <a:latin typeface="微软雅黑 Light" panose="020B0502040204020203" pitchFamily="34" charset="-122"/>
                <a:ea typeface="微软雅黑 Light" panose="020B0502040204020203" pitchFamily="34" charset="-122"/>
              </a:rPr>
              <a:t>IMAP</a:t>
            </a:r>
            <a:r>
              <a:rPr lang="zh-CN" altLang="en-US" b="1" dirty="0">
                <a:solidFill>
                  <a:srgbClr val="0000FF"/>
                </a:solidFill>
                <a:latin typeface="微软雅黑 Light" panose="020B0502040204020203" pitchFamily="34" charset="-122"/>
                <a:ea typeface="微软雅黑 Light" panose="020B0502040204020203" pitchFamily="34" charset="-122"/>
              </a:rPr>
              <a:t>）都使用 </a:t>
            </a:r>
            <a:r>
              <a:rPr lang="en-US" altLang="zh-CN" b="1" dirty="0">
                <a:solidFill>
                  <a:srgbClr val="C00000"/>
                </a:solidFill>
                <a:latin typeface="微软雅黑 Light" panose="020B0502040204020203" pitchFamily="34" charset="-122"/>
                <a:ea typeface="微软雅黑 Light" panose="020B0502040204020203" pitchFamily="34" charset="-122"/>
              </a:rPr>
              <a:t>TCP </a:t>
            </a:r>
            <a:r>
              <a:rPr lang="zh-CN" altLang="en-US" b="1" dirty="0">
                <a:solidFill>
                  <a:srgbClr val="C00000"/>
                </a:solidFill>
                <a:latin typeface="微软雅黑 Light" panose="020B0502040204020203" pitchFamily="34" charset="-122"/>
                <a:ea typeface="微软雅黑 Light" panose="020B0502040204020203" pitchFamily="34" charset="-122"/>
              </a:rPr>
              <a:t>连接</a:t>
            </a:r>
            <a:r>
              <a:rPr lang="zh-CN" altLang="en-US" b="1" dirty="0">
                <a:solidFill>
                  <a:srgbClr val="0000FF"/>
                </a:solidFill>
                <a:latin typeface="微软雅黑 Light" panose="020B0502040204020203" pitchFamily="34" charset="-122"/>
                <a:ea typeface="微软雅黑 Light" panose="020B0502040204020203" pitchFamily="34" charset="-122"/>
              </a:rPr>
              <a:t>可靠地传送邮件。</a:t>
            </a:r>
          </a:p>
        </p:txBody>
      </p:sp>
    </p:spTree>
    <p:extLst>
      <p:ext uri="{BB962C8B-B14F-4D97-AF65-F5344CB8AC3E}">
        <p14:creationId xmlns:p14="http://schemas.microsoft.com/office/powerpoint/2010/main" val="5225500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2000"/>
                                  </p:stCondLst>
                                  <p:childTnLst>
                                    <p:anim calcmode="discrete" valueType="str">
                                      <p:cBhvr>
                                        <p:cTn id="6" dur="1000" fill="hold"/>
                                        <p:tgtEl>
                                          <p:spTgt spid="38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2000"/>
                                  </p:stCondLst>
                                  <p:childTnLst>
                                    <p:anim calcmode="discrete" valueType="str">
                                      <p:cBhvr>
                                        <p:cTn id="8" dur="1000" fill="hold"/>
                                        <p:tgtEl>
                                          <p:spTgt spid="39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2000"/>
                                  </p:stCondLst>
                                  <p:childTnLst>
                                    <p:anim calcmode="discrete" valueType="str">
                                      <p:cBhvr>
                                        <p:cTn id="10" dur="1000" fill="hold"/>
                                        <p:tgtEl>
                                          <p:spTgt spid="384"/>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2000"/>
                                  </p:stCondLst>
                                  <p:childTnLst>
                                    <p:anim calcmode="discrete" valueType="str">
                                      <p:cBhvr>
                                        <p:cTn id="12" dur="1000" fill="hold"/>
                                        <p:tgtEl>
                                          <p:spTgt spid="389"/>
                                        </p:tgtEl>
                                        <p:attrNameLst>
                                          <p:attrName>style.visibility</p:attrName>
                                        </p:attrNameLst>
                                      </p:cBhvr>
                                      <p:tavLst>
                                        <p:tav tm="0">
                                          <p:val>
                                            <p:strVal val="hidden"/>
                                          </p:val>
                                        </p:tav>
                                        <p:tav tm="50000">
                                          <p:val>
                                            <p:strVal val="visible"/>
                                          </p:val>
                                        </p:tav>
                                      </p:tavLst>
                                    </p:anim>
                                  </p:childTnLst>
                                </p:cTn>
                              </p:par>
                            </p:childTnLst>
                          </p:cTn>
                        </p:par>
                        <p:par>
                          <p:cTn id="13" fill="hold">
                            <p:stCondLst>
                              <p:cond delay="5000"/>
                            </p:stCondLst>
                            <p:childTnLst>
                              <p:par>
                                <p:cTn id="14" presetID="35" presetClass="emph" presetSubtype="0" repeatCount="3000" fill="hold" grpId="0" nodeType="afterEffect">
                                  <p:stCondLst>
                                    <p:cond delay="1000"/>
                                  </p:stCondLst>
                                  <p:childTnLst>
                                    <p:anim calcmode="discrete" valueType="str">
                                      <p:cBhvr>
                                        <p:cTn id="15" dur="1000" fill="hold"/>
                                        <p:tgtEl>
                                          <p:spTgt spid="392"/>
                                        </p:tgtEl>
                                        <p:attrNameLst>
                                          <p:attrName>style.visibility</p:attrName>
                                        </p:attrNameLst>
                                      </p:cBhvr>
                                      <p:tavLst>
                                        <p:tav tm="0">
                                          <p:val>
                                            <p:strVal val="hidden"/>
                                          </p:val>
                                        </p:tav>
                                        <p:tav tm="50000">
                                          <p:val>
                                            <p:strVal val="visible"/>
                                          </p:val>
                                        </p:tav>
                                      </p:tavLst>
                                    </p:anim>
                                  </p:childTnLst>
                                </p:cTn>
                              </p:par>
                              <p:par>
                                <p:cTn id="16" presetID="35" presetClass="emph" presetSubtype="0" repeatCount="3000" fill="hold" grpId="0" nodeType="withEffect">
                                  <p:stCondLst>
                                    <p:cond delay="1000"/>
                                  </p:stCondLst>
                                  <p:childTnLst>
                                    <p:anim calcmode="discrete" valueType="str">
                                      <p:cBhvr>
                                        <p:cTn id="17" dur="1000" fill="hold"/>
                                        <p:tgtEl>
                                          <p:spTgt spid="3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3" grpId="0" animBg="1"/>
      <p:bldP spid="384" grpId="0" animBg="1"/>
      <p:bldP spid="388" grpId="0" animBg="1"/>
      <p:bldP spid="389" grpId="0" animBg="1"/>
      <p:bldP spid="391" grpId="0" animBg="1"/>
      <p:bldP spid="392"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93656" y="58289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发送和接收电子邮件的重要步骤</a:t>
            </a:r>
          </a:p>
        </p:txBody>
      </p:sp>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93657" y="58289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发送和接收电子邮件的重要步骤</a:t>
            </a:r>
          </a:p>
        </p:txBody>
      </p:sp>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93656" y="582898"/>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发送和接收电子邮件的重要步骤</a:t>
            </a:r>
          </a:p>
        </p:txBody>
      </p:sp>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93656" y="582898"/>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发送和接收电子邮件的重要步骤</a:t>
            </a:r>
          </a:p>
        </p:txBody>
      </p:sp>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93656" y="582898"/>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发送和接收电子邮件的重要步骤</a:t>
            </a:r>
          </a:p>
        </p:txBody>
      </p:sp>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334858" y="58289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两种不同的通信方式</a:t>
            </a:r>
          </a:p>
        </p:txBody>
      </p:sp>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91341" y="579626"/>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电子邮件的组成</a:t>
            </a:r>
          </a:p>
        </p:txBody>
      </p:sp>
      <p:sp>
        <p:nvSpPr>
          <p:cNvPr id="4" name="Rectangle 68"/>
          <p:cNvSpPr>
            <a:spLocks noChangeArrowheads="1"/>
          </p:cNvSpPr>
          <p:nvPr/>
        </p:nvSpPr>
        <p:spPr bwMode="auto">
          <a:xfrm>
            <a:off x="556963" y="973927"/>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电子邮件由</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(envelope) </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(content) </a:t>
            </a:r>
            <a:r>
              <a:rPr lang="zh-CN" altLang="en-US" sz="2000" b="1" dirty="0">
                <a:latin typeface="微软雅黑 Light" panose="020B0502040204020203" pitchFamily="34" charset="-122"/>
                <a:ea typeface="微软雅黑 Light" panose="020B0502040204020203" pitchFamily="34" charset="-122"/>
              </a:rPr>
              <a:t>两部分组成。</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电子邮件的传输程序根据邮件信封上的信息来传送邮件。</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用户在从自己的邮箱中读取邮件时才能见到邮件的内容。</a:t>
            </a:r>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78205"/>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电子邮件地址的格式</a:t>
            </a:r>
          </a:p>
        </p:txBody>
      </p:sp>
      <p:sp>
        <p:nvSpPr>
          <p:cNvPr id="4" name="Rectangle 68"/>
          <p:cNvSpPr>
            <a:spLocks noChangeArrowheads="1"/>
          </p:cNvSpPr>
          <p:nvPr/>
        </p:nvSpPr>
        <p:spPr bwMode="auto">
          <a:xfrm>
            <a:off x="556963" y="972506"/>
            <a:ext cx="8048776" cy="188769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在邮件的信封上，最重要的就是收件人的地址。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28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TCP/IP </a:t>
            </a:r>
            <a:r>
              <a:rPr lang="zh-CN" altLang="en-US" sz="2000" b="1" dirty="0">
                <a:latin typeface="微软雅黑 Light" panose="020B0502040204020203" pitchFamily="34" charset="-122"/>
                <a:ea typeface="微软雅黑 Light" panose="020B0502040204020203" pitchFamily="34" charset="-122"/>
              </a:rPr>
              <a:t>体系的电子邮件系统规定电子邮件地址的格式如下：</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2800"/>
              </a:lnSpc>
              <a:buClr>
                <a:srgbClr val="0070C0"/>
              </a:buClr>
              <a:buFont typeface="Wingdings" pitchFamily="2" charset="2"/>
              <a:buChar char="l"/>
            </a:pP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2800"/>
              </a:lnSpc>
              <a:buClr>
                <a:srgbClr val="0070C0"/>
              </a:buClr>
              <a:buFont typeface="Wingdings" pitchFamily="2" charset="2"/>
              <a:buChar char="l"/>
            </a:pPr>
            <a:endParaRPr lang="zh-CN" altLang="en-US" sz="2000" b="1" dirty="0">
              <a:latin typeface="微软雅黑 Light" panose="020B0502040204020203" pitchFamily="34" charset="-122"/>
              <a:ea typeface="微软雅黑 Light" panose="020B0502040204020203" pitchFamily="34" charset="-122"/>
            </a:endParaRPr>
          </a:p>
          <a:p>
            <a:pPr marL="342900" indent="-34290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	xiexiren@tsinghua.org.cn</a:t>
            </a:r>
          </a:p>
        </p:txBody>
      </p:sp>
      <p:grpSp>
        <p:nvGrpSpPr>
          <p:cNvPr id="16" name="组合 15"/>
          <p:cNvGrpSpPr/>
          <p:nvPr/>
        </p:nvGrpSpPr>
        <p:grpSpPr>
          <a:xfrm>
            <a:off x="1521181" y="2804542"/>
            <a:ext cx="5393247" cy="1052712"/>
            <a:chOff x="2570495" y="4437112"/>
            <a:chExt cx="8856921" cy="1728787"/>
          </a:xfrm>
        </p:grpSpPr>
        <p:grpSp>
          <p:nvGrpSpPr>
            <p:cNvPr id="6" name="Group 5"/>
            <p:cNvGrpSpPr>
              <a:grpSpLocks/>
            </p:cNvGrpSpPr>
            <p:nvPr/>
          </p:nvGrpSpPr>
          <p:grpSpPr bwMode="auto">
            <a:xfrm>
              <a:off x="6202693" y="4437112"/>
              <a:ext cx="5224723" cy="1728787"/>
              <a:chOff x="3696" y="2931"/>
              <a:chExt cx="3038" cy="1089"/>
            </a:xfrm>
          </p:grpSpPr>
          <p:sp>
            <p:nvSpPr>
              <p:cNvPr id="7" name="Line 6"/>
              <p:cNvSpPr>
                <a:spLocks noChangeShapeType="1"/>
              </p:cNvSpPr>
              <p:nvPr/>
            </p:nvSpPr>
            <p:spPr bwMode="auto">
              <a:xfrm>
                <a:off x="3696" y="2931"/>
                <a:ext cx="1998" cy="1"/>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solidFill>
                    <a:srgbClr val="000099"/>
                  </a:solidFill>
                  <a:latin typeface="微软雅黑 Light" panose="020B0502040204020203" pitchFamily="34" charset="-122"/>
                  <a:ea typeface="微软雅黑 Light" panose="020B0502040204020203" pitchFamily="34" charset="-122"/>
                </a:endParaRPr>
              </a:p>
            </p:txBody>
          </p:sp>
          <p:grpSp>
            <p:nvGrpSpPr>
              <p:cNvPr id="8" name="Group 7"/>
              <p:cNvGrpSpPr>
                <a:grpSpLocks/>
              </p:cNvGrpSpPr>
              <p:nvPr/>
            </p:nvGrpSpPr>
            <p:grpSpPr bwMode="auto">
              <a:xfrm>
                <a:off x="4330" y="3339"/>
                <a:ext cx="2404" cy="681"/>
                <a:chOff x="4330" y="3339"/>
                <a:chExt cx="2404" cy="681"/>
              </a:xfrm>
            </p:grpSpPr>
            <p:sp>
              <p:nvSpPr>
                <p:cNvPr id="9" name="AutoShape 8"/>
                <p:cNvSpPr>
                  <a:spLocks noChangeArrowheads="1"/>
                </p:cNvSpPr>
                <p:nvPr/>
              </p:nvSpPr>
              <p:spPr bwMode="auto">
                <a:xfrm>
                  <a:off x="4330" y="3339"/>
                  <a:ext cx="2404" cy="681"/>
                </a:xfrm>
                <a:prstGeom prst="wedgeRoundRectCallout">
                  <a:avLst>
                    <a:gd name="adj1" fmla="val -39328"/>
                    <a:gd name="adj2" fmla="val -106799"/>
                    <a:gd name="adj3" fmla="val 16667"/>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eaLnBrk="1" hangingPunct="1"/>
                  <a:endParaRPr lang="zh-CN" altLang="zh-CN" sz="1600" b="1" dirty="0">
                    <a:latin typeface="微软雅黑 Light" panose="020B0502040204020203" pitchFamily="34" charset="-122"/>
                    <a:ea typeface="微软雅黑 Light" panose="020B0502040204020203" pitchFamily="34" charset="-122"/>
                  </a:endParaRPr>
                </a:p>
              </p:txBody>
            </p:sp>
            <p:sp>
              <p:nvSpPr>
                <p:cNvPr id="10" name="Text Box 9"/>
                <p:cNvSpPr txBox="1">
                  <a:spLocks noChangeArrowheads="1"/>
                </p:cNvSpPr>
                <p:nvPr/>
              </p:nvSpPr>
              <p:spPr bwMode="auto">
                <a:xfrm>
                  <a:off x="4360" y="3386"/>
                  <a:ext cx="2332" cy="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邮箱所在的主机的域名，</a:t>
                  </a:r>
                </a:p>
                <a:p>
                  <a:pPr algn="ctr" eaLnBrk="1" hangingPunct="1"/>
                  <a:r>
                    <a:rPr lang="zh-CN" altLang="en-US" sz="1600" b="1" dirty="0">
                      <a:latin typeface="微软雅黑 Light" panose="020B0502040204020203" pitchFamily="34" charset="-122"/>
                      <a:ea typeface="微软雅黑 Light" panose="020B0502040204020203" pitchFamily="34" charset="-122"/>
                    </a:rPr>
                    <a:t>在全世界必须是唯一的 </a:t>
                  </a:r>
                </a:p>
              </p:txBody>
            </p:sp>
          </p:grpSp>
        </p:grpSp>
        <p:grpSp>
          <p:nvGrpSpPr>
            <p:cNvPr id="11" name="Group 10"/>
            <p:cNvGrpSpPr>
              <a:grpSpLocks/>
            </p:cNvGrpSpPr>
            <p:nvPr/>
          </p:nvGrpSpPr>
          <p:grpSpPr bwMode="auto">
            <a:xfrm>
              <a:off x="2570495" y="4437113"/>
              <a:ext cx="3823106" cy="1666875"/>
              <a:chOff x="1630" y="2931"/>
              <a:chExt cx="2223" cy="1050"/>
            </a:xfrm>
          </p:grpSpPr>
          <p:sp>
            <p:nvSpPr>
              <p:cNvPr id="12" name="Line 11"/>
              <p:cNvSpPr>
                <a:spLocks noChangeShapeType="1"/>
              </p:cNvSpPr>
              <p:nvPr/>
            </p:nvSpPr>
            <p:spPr bwMode="auto">
              <a:xfrm flipV="1">
                <a:off x="2537" y="2931"/>
                <a:ext cx="978" cy="1"/>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solidFill>
                    <a:srgbClr val="000099"/>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630" y="3300"/>
                <a:ext cx="2223" cy="681"/>
                <a:chOff x="1630" y="3300"/>
                <a:chExt cx="2223" cy="681"/>
              </a:xfrm>
            </p:grpSpPr>
            <p:sp>
              <p:nvSpPr>
                <p:cNvPr id="14" name="AutoShape 13"/>
                <p:cNvSpPr>
                  <a:spLocks noChangeArrowheads="1"/>
                </p:cNvSpPr>
                <p:nvPr/>
              </p:nvSpPr>
              <p:spPr bwMode="auto">
                <a:xfrm>
                  <a:off x="1630" y="3300"/>
                  <a:ext cx="2223" cy="681"/>
                </a:xfrm>
                <a:prstGeom prst="wedgeRoundRectCallout">
                  <a:avLst>
                    <a:gd name="adj1" fmla="val 8694"/>
                    <a:gd name="adj2" fmla="val -101405"/>
                    <a:gd name="adj3" fmla="val 16667"/>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eaLnBrk="1" hangingPunct="1"/>
                  <a:endParaRPr lang="zh-CN" altLang="zh-CN" sz="1600" b="1" dirty="0">
                    <a:solidFill>
                      <a:srgbClr val="000099"/>
                    </a:solidFill>
                    <a:latin typeface="微软雅黑 Light" panose="020B0502040204020203" pitchFamily="34" charset="-122"/>
                    <a:ea typeface="微软雅黑 Light" panose="020B0502040204020203" pitchFamily="34" charset="-122"/>
                  </a:endParaRPr>
                </a:p>
              </p:txBody>
            </p:sp>
            <p:sp>
              <p:nvSpPr>
                <p:cNvPr id="15" name="Text Box 14"/>
                <p:cNvSpPr txBox="1">
                  <a:spLocks noChangeArrowheads="1"/>
                </p:cNvSpPr>
                <p:nvPr/>
              </p:nvSpPr>
              <p:spPr bwMode="auto">
                <a:xfrm>
                  <a:off x="1742" y="3339"/>
                  <a:ext cx="1998" cy="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这个用户名在该域名</a:t>
                  </a:r>
                </a:p>
                <a:p>
                  <a:pPr algn="ctr" eaLnBrk="1" hangingPunct="1"/>
                  <a:r>
                    <a:rPr lang="zh-CN" altLang="en-US" sz="1600" b="1" dirty="0">
                      <a:latin typeface="微软雅黑 Light" panose="020B0502040204020203" pitchFamily="34" charset="-122"/>
                      <a:ea typeface="微软雅黑 Light" panose="020B0502040204020203" pitchFamily="34" charset="-122"/>
                    </a:rPr>
                    <a:t>的范围内是唯一的。 </a:t>
                  </a:r>
                </a:p>
              </p:txBody>
            </p:sp>
          </p:grpSp>
        </p:grpSp>
      </p:grpSp>
      <p:sp>
        <p:nvSpPr>
          <p:cNvPr id="5" name="矩形 4"/>
          <p:cNvSpPr/>
          <p:nvPr/>
        </p:nvSpPr>
        <p:spPr>
          <a:xfrm>
            <a:off x="1047565" y="1876976"/>
            <a:ext cx="6880196" cy="409101"/>
          </a:xfrm>
          <a:prstGeom prst="rect">
            <a:avLst/>
          </a:prstGeom>
          <a:solidFill>
            <a:srgbClr val="FF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dirty="0">
                <a:solidFill>
                  <a:srgbClr val="000099"/>
                </a:solidFill>
                <a:latin typeface="微软雅黑 Light" panose="020B0502040204020203" pitchFamily="34" charset="-122"/>
                <a:ea typeface="微软雅黑 Light" panose="020B0502040204020203" pitchFamily="34" charset="-122"/>
              </a:rPr>
              <a:t>收件人邮箱名</a:t>
            </a:r>
            <a:r>
              <a:rPr lang="en-US" altLang="zh-CN" b="1" dirty="0">
                <a:solidFill>
                  <a:srgbClr val="000099"/>
                </a:solidFill>
                <a:latin typeface="微软雅黑 Light" panose="020B0502040204020203" pitchFamily="34" charset="-122"/>
                <a:ea typeface="微软雅黑 Light" panose="020B0502040204020203" pitchFamily="34" charset="-122"/>
              </a:rPr>
              <a:t>@</a:t>
            </a:r>
            <a:r>
              <a:rPr lang="zh-CN" altLang="en-US" b="1" dirty="0">
                <a:solidFill>
                  <a:srgbClr val="000099"/>
                </a:solidFill>
                <a:latin typeface="微软雅黑 Light" panose="020B0502040204020203" pitchFamily="34" charset="-122"/>
                <a:ea typeface="微软雅黑 Light" panose="020B0502040204020203" pitchFamily="34" charset="-122"/>
              </a:rPr>
              <a:t>邮箱所在主机的域名          </a:t>
            </a:r>
            <a:r>
              <a:rPr lang="en-US" altLang="zh-CN" b="1" dirty="0">
                <a:solidFill>
                  <a:srgbClr val="000099"/>
                </a:solidFill>
                <a:latin typeface="微软雅黑 Light" panose="020B0502040204020203" pitchFamily="34" charset="-122"/>
                <a:ea typeface="微软雅黑 Light" panose="020B0502040204020203" pitchFamily="34" charset="-122"/>
              </a:rPr>
              <a:t>(6-1)</a:t>
            </a: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5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83744" y="566248"/>
            <a:ext cx="437651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6.5.2  </a:t>
            </a:r>
            <a:r>
              <a:rPr lang="zh-CN" altLang="en-US" sz="2400" b="1" dirty="0">
                <a:solidFill>
                  <a:schemeClr val="bg1"/>
                </a:solidFill>
                <a:latin typeface="微软雅黑 Light" panose="020B0502040204020203" pitchFamily="34" charset="-122"/>
                <a:ea typeface="微软雅黑 Light" panose="020B0502040204020203" pitchFamily="34" charset="-122"/>
              </a:rPr>
              <a:t>简单邮件传送协议 </a:t>
            </a:r>
            <a:r>
              <a:rPr lang="en-US" altLang="zh-CN" sz="2400" b="1" dirty="0">
                <a:solidFill>
                  <a:schemeClr val="bg1"/>
                </a:solidFill>
                <a:latin typeface="微软雅黑 Light" panose="020B0502040204020203" pitchFamily="34" charset="-122"/>
                <a:ea typeface="微软雅黑 Light" panose="020B0502040204020203" pitchFamily="34" charset="-122"/>
              </a:rPr>
              <a:t>SMTP</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6" name="Rectangle 386"/>
          <p:cNvSpPr>
            <a:spLocks noChangeArrowheads="1"/>
          </p:cNvSpPr>
          <p:nvPr/>
        </p:nvSpPr>
        <p:spPr bwMode="auto">
          <a:xfrm>
            <a:off x="2907058" y="1814899"/>
            <a:ext cx="680437" cy="13465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 name="Rectangle 387"/>
          <p:cNvSpPr>
            <a:spLocks noChangeArrowheads="1"/>
          </p:cNvSpPr>
          <p:nvPr/>
        </p:nvSpPr>
        <p:spPr bwMode="auto">
          <a:xfrm>
            <a:off x="1544934" y="1814899"/>
            <a:ext cx="680437" cy="1346517"/>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 name="Line 388"/>
          <p:cNvSpPr>
            <a:spLocks noChangeShapeType="1"/>
          </p:cNvSpPr>
          <p:nvPr/>
        </p:nvSpPr>
        <p:spPr bwMode="auto">
          <a:xfrm>
            <a:off x="2021489" y="2157671"/>
            <a:ext cx="94185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 name="Oval 397"/>
          <p:cNvSpPr>
            <a:spLocks noChangeArrowheads="1"/>
          </p:cNvSpPr>
          <p:nvPr/>
        </p:nvSpPr>
        <p:spPr bwMode="auto">
          <a:xfrm>
            <a:off x="1601220" y="1878785"/>
            <a:ext cx="566615"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 name="Oval 405"/>
          <p:cNvSpPr>
            <a:spLocks noChangeArrowheads="1"/>
          </p:cNvSpPr>
          <p:nvPr/>
        </p:nvSpPr>
        <p:spPr bwMode="auto">
          <a:xfrm>
            <a:off x="2964596" y="1878785"/>
            <a:ext cx="566615" cy="556545"/>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13" name="Oval 406"/>
          <p:cNvSpPr>
            <a:spLocks noChangeArrowheads="1"/>
          </p:cNvSpPr>
          <p:nvPr/>
        </p:nvSpPr>
        <p:spPr bwMode="auto">
          <a:xfrm>
            <a:off x="2964596" y="2491844"/>
            <a:ext cx="566615"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 name="Text Box 399"/>
          <p:cNvSpPr txBox="1">
            <a:spLocks noChangeArrowheads="1"/>
          </p:cNvSpPr>
          <p:nvPr/>
        </p:nvSpPr>
        <p:spPr bwMode="auto">
          <a:xfrm>
            <a:off x="616510" y="134312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发件人</a:t>
            </a:r>
          </a:p>
        </p:txBody>
      </p:sp>
      <p:graphicFrame>
        <p:nvGraphicFramePr>
          <p:cNvPr id="15" name="对象 14"/>
          <p:cNvGraphicFramePr>
            <a:graphicFrameLocks noChangeAspect="1"/>
          </p:cNvGraphicFramePr>
          <p:nvPr>
            <p:extLst>
              <p:ext uri="{D42A27DB-BD31-4B8C-83A1-F6EECF244321}">
                <p14:modId xmlns:p14="http://schemas.microsoft.com/office/powerpoint/2010/main" val="1302962114"/>
              </p:ext>
            </p:extLst>
          </p:nvPr>
        </p:nvGraphicFramePr>
        <p:xfrm>
          <a:off x="762658" y="1854885"/>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0"/>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762658" y="1854885"/>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 name="Rectangle 385"/>
          <p:cNvSpPr>
            <a:spLocks noChangeArrowheads="1"/>
          </p:cNvSpPr>
          <p:nvPr/>
        </p:nvSpPr>
        <p:spPr bwMode="auto">
          <a:xfrm>
            <a:off x="6723401" y="1823500"/>
            <a:ext cx="680437" cy="1337917"/>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7" name="Text Box 393"/>
          <p:cNvSpPr txBox="1">
            <a:spLocks noChangeArrowheads="1"/>
          </p:cNvSpPr>
          <p:nvPr/>
        </p:nvSpPr>
        <p:spPr bwMode="auto">
          <a:xfrm>
            <a:off x="6089388" y="148932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18" name="Text Box 395"/>
          <p:cNvSpPr txBox="1">
            <a:spLocks noChangeArrowheads="1"/>
          </p:cNvSpPr>
          <p:nvPr/>
        </p:nvSpPr>
        <p:spPr bwMode="auto">
          <a:xfrm>
            <a:off x="6105400" y="2162141"/>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19" name="Oval 398"/>
          <p:cNvSpPr>
            <a:spLocks noChangeArrowheads="1"/>
          </p:cNvSpPr>
          <p:nvPr/>
        </p:nvSpPr>
        <p:spPr bwMode="auto">
          <a:xfrm>
            <a:off x="6779688" y="1878785"/>
            <a:ext cx="566614"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0" name="Rectangle 401"/>
          <p:cNvSpPr>
            <a:spLocks noChangeArrowheads="1"/>
          </p:cNvSpPr>
          <p:nvPr/>
        </p:nvSpPr>
        <p:spPr bwMode="auto">
          <a:xfrm>
            <a:off x="5362526" y="1823500"/>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1" name="Oval 402"/>
          <p:cNvSpPr>
            <a:spLocks noChangeArrowheads="1"/>
          </p:cNvSpPr>
          <p:nvPr/>
        </p:nvSpPr>
        <p:spPr bwMode="auto">
          <a:xfrm>
            <a:off x="5418813" y="2491844"/>
            <a:ext cx="566614" cy="55654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2" name="Oval 403"/>
          <p:cNvSpPr>
            <a:spLocks noChangeArrowheads="1"/>
          </p:cNvSpPr>
          <p:nvPr/>
        </p:nvSpPr>
        <p:spPr bwMode="auto">
          <a:xfrm>
            <a:off x="5418813" y="1878785"/>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grpSp>
        <p:nvGrpSpPr>
          <p:cNvPr id="4" name="组合 3"/>
          <p:cNvGrpSpPr/>
          <p:nvPr/>
        </p:nvGrpSpPr>
        <p:grpSpPr>
          <a:xfrm>
            <a:off x="2262718" y="1470728"/>
            <a:ext cx="548548" cy="1190307"/>
            <a:chOff x="2262718" y="1525813"/>
            <a:chExt cx="548548" cy="1190307"/>
          </a:xfrm>
        </p:grpSpPr>
        <p:sp>
          <p:nvSpPr>
            <p:cNvPr id="9" name="Text Box 391"/>
            <p:cNvSpPr txBox="1">
              <a:spLocks noChangeArrowheads="1"/>
            </p:cNvSpPr>
            <p:nvPr/>
          </p:nvSpPr>
          <p:spPr bwMode="auto">
            <a:xfrm>
              <a:off x="2282161" y="1525813"/>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10" name="Text Box 394"/>
            <p:cNvSpPr txBox="1">
              <a:spLocks noChangeArrowheads="1"/>
            </p:cNvSpPr>
            <p:nvPr/>
          </p:nvSpPr>
          <p:spPr bwMode="auto">
            <a:xfrm>
              <a:off x="2296294" y="2239066"/>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24" name="Text Box 389"/>
            <p:cNvSpPr txBox="1">
              <a:spLocks noChangeArrowheads="1"/>
            </p:cNvSpPr>
            <p:nvPr/>
          </p:nvSpPr>
          <p:spPr bwMode="auto">
            <a:xfrm>
              <a:off x="2262718" y="1920130"/>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sp>
        <p:nvSpPr>
          <p:cNvPr id="25" name="Text Box 396"/>
          <p:cNvSpPr txBox="1">
            <a:spLocks noChangeArrowheads="1"/>
          </p:cNvSpPr>
          <p:nvPr/>
        </p:nvSpPr>
        <p:spPr bwMode="auto">
          <a:xfrm>
            <a:off x="2805314" y="1343127"/>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发送方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6" name="Text Box 399"/>
          <p:cNvSpPr txBox="1">
            <a:spLocks noChangeArrowheads="1"/>
          </p:cNvSpPr>
          <p:nvPr/>
        </p:nvSpPr>
        <p:spPr bwMode="auto">
          <a:xfrm>
            <a:off x="1509292" y="1343127"/>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27" name="Text Box 390"/>
          <p:cNvSpPr txBox="1">
            <a:spLocks noChangeArrowheads="1"/>
          </p:cNvSpPr>
          <p:nvPr/>
        </p:nvSpPr>
        <p:spPr bwMode="auto">
          <a:xfrm>
            <a:off x="6069378" y="1863997"/>
            <a:ext cx="545342"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POP3</a:t>
            </a:r>
          </a:p>
        </p:txBody>
      </p:sp>
      <p:sp>
        <p:nvSpPr>
          <p:cNvPr id="28" name="Text Box 400"/>
          <p:cNvSpPr txBox="1">
            <a:spLocks noChangeArrowheads="1"/>
          </p:cNvSpPr>
          <p:nvPr/>
        </p:nvSpPr>
        <p:spPr bwMode="auto">
          <a:xfrm>
            <a:off x="5248753" y="1343127"/>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9" name="Text Box 407"/>
          <p:cNvSpPr txBox="1">
            <a:spLocks noChangeArrowheads="1"/>
          </p:cNvSpPr>
          <p:nvPr/>
        </p:nvSpPr>
        <p:spPr bwMode="auto">
          <a:xfrm>
            <a:off x="6695563" y="1343127"/>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0" name="Line 408"/>
          <p:cNvSpPr>
            <a:spLocks noChangeShapeType="1"/>
          </p:cNvSpPr>
          <p:nvPr/>
        </p:nvSpPr>
        <p:spPr bwMode="auto">
          <a:xfrm flipV="1">
            <a:off x="5985427" y="2157671"/>
            <a:ext cx="794261"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graphicFrame>
        <p:nvGraphicFramePr>
          <p:cNvPr id="31" name="对象 30"/>
          <p:cNvGraphicFramePr>
            <a:graphicFrameLocks noChangeAspect="1"/>
          </p:cNvGraphicFramePr>
          <p:nvPr>
            <p:extLst>
              <p:ext uri="{D42A27DB-BD31-4B8C-83A1-F6EECF244321}">
                <p14:modId xmlns:p14="http://schemas.microsoft.com/office/powerpoint/2010/main" val="1204939000"/>
              </p:ext>
            </p:extLst>
          </p:nvPr>
        </p:nvGraphicFramePr>
        <p:xfrm>
          <a:off x="7632442" y="1854885"/>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1"/>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632442" y="1854885"/>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2" name="Text Box 399"/>
          <p:cNvSpPr txBox="1">
            <a:spLocks noChangeArrowheads="1"/>
          </p:cNvSpPr>
          <p:nvPr/>
        </p:nvSpPr>
        <p:spPr bwMode="auto">
          <a:xfrm>
            <a:off x="7702778" y="134312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收件人</a:t>
            </a:r>
          </a:p>
        </p:txBody>
      </p:sp>
      <p:sp>
        <p:nvSpPr>
          <p:cNvPr id="35" name="Line 404"/>
          <p:cNvSpPr>
            <a:spLocks noChangeShapeType="1"/>
          </p:cNvSpPr>
          <p:nvPr/>
        </p:nvSpPr>
        <p:spPr bwMode="auto">
          <a:xfrm flipV="1">
            <a:off x="3515714" y="2770730"/>
            <a:ext cx="1928643"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b="1" dirty="0">
              <a:latin typeface="微软雅黑 Light" panose="020B0502040204020203" pitchFamily="34" charset="-122"/>
              <a:ea typeface="微软雅黑 Light" panose="020B0502040204020203" pitchFamily="34" charset="-122"/>
            </a:endParaRPr>
          </a:p>
        </p:txBody>
      </p:sp>
      <p:grpSp>
        <p:nvGrpSpPr>
          <p:cNvPr id="39" name="组合 38"/>
          <p:cNvGrpSpPr/>
          <p:nvPr/>
        </p:nvGrpSpPr>
        <p:grpSpPr>
          <a:xfrm>
            <a:off x="3907261" y="2490615"/>
            <a:ext cx="1154483" cy="728201"/>
            <a:chOff x="3907261" y="2490615"/>
            <a:chExt cx="1154483" cy="728201"/>
          </a:xfrm>
        </p:grpSpPr>
        <p:sp>
          <p:nvSpPr>
            <p:cNvPr id="34" name="Text Box 392"/>
            <p:cNvSpPr txBox="1">
              <a:spLocks noChangeArrowheads="1"/>
            </p:cNvSpPr>
            <p:nvPr/>
          </p:nvSpPr>
          <p:spPr bwMode="auto">
            <a:xfrm>
              <a:off x="3907261" y="2490615"/>
              <a:ext cx="115448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sp>
          <p:nvSpPr>
            <p:cNvPr id="36" name="Text Box 409"/>
            <p:cNvSpPr txBox="1">
              <a:spLocks noChangeArrowheads="1"/>
            </p:cNvSpPr>
            <p:nvPr/>
          </p:nvSpPr>
          <p:spPr bwMode="auto">
            <a:xfrm>
              <a:off x="4242453" y="2787929"/>
              <a:ext cx="50206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grpSp>
      <p:sp>
        <p:nvSpPr>
          <p:cNvPr id="37" name="圆角矩形 36"/>
          <p:cNvSpPr/>
          <p:nvPr/>
        </p:nvSpPr>
        <p:spPr>
          <a:xfrm>
            <a:off x="1371509" y="1244904"/>
            <a:ext cx="6194639" cy="2126256"/>
          </a:xfrm>
          <a:prstGeom prst="round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8" name="矩形 37"/>
          <p:cNvSpPr/>
          <p:nvPr/>
        </p:nvSpPr>
        <p:spPr>
          <a:xfrm>
            <a:off x="1470662" y="3400777"/>
            <a:ext cx="6599140" cy="938719"/>
          </a:xfrm>
          <a:prstGeom prst="rect">
            <a:avLst/>
          </a:prstGeom>
        </p:spPr>
        <p:txBody>
          <a:bodyPr wrap="square" anchor="ctr">
            <a:spAutoFit/>
          </a:bodyPr>
          <a:lstStyle/>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SMTP </a:t>
            </a:r>
            <a:r>
              <a:rPr lang="zh-CN" altLang="en-US" sz="1600" b="1" dirty="0">
                <a:latin typeface="微软雅黑 Light" panose="020B0502040204020203" pitchFamily="34" charset="-122"/>
                <a:ea typeface="微软雅黑 Light" panose="020B0502040204020203" pitchFamily="34" charset="-122"/>
              </a:rPr>
              <a:t>规定了在两个相互通信的 </a:t>
            </a:r>
            <a:r>
              <a:rPr lang="en-US" altLang="zh-CN" sz="1600" b="1" dirty="0">
                <a:latin typeface="微软雅黑 Light" panose="020B0502040204020203" pitchFamily="34" charset="-122"/>
                <a:ea typeface="微软雅黑 Light" panose="020B0502040204020203" pitchFamily="34" charset="-122"/>
              </a:rPr>
              <a:t>SMTP </a:t>
            </a:r>
            <a:r>
              <a:rPr lang="zh-CN" altLang="en-US" sz="1600" b="1" dirty="0">
                <a:latin typeface="微软雅黑 Light" panose="020B0502040204020203" pitchFamily="34" charset="-122"/>
                <a:ea typeface="微软雅黑 Light" panose="020B0502040204020203" pitchFamily="34" charset="-122"/>
              </a:rPr>
              <a:t>进程之间交换信息的方法。</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SMTP </a:t>
            </a:r>
            <a:r>
              <a:rPr lang="zh-CN" altLang="en-US" sz="1600" b="1" dirty="0">
                <a:latin typeface="微软雅黑 Light" panose="020B0502040204020203" pitchFamily="34" charset="-122"/>
                <a:ea typeface="微软雅黑 Light" panose="020B0502040204020203" pitchFamily="34" charset="-122"/>
              </a:rPr>
              <a:t>使用</a:t>
            </a:r>
            <a:r>
              <a:rPr lang="zh-CN" altLang="en-US" sz="16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1600" b="1" dirty="0">
                <a:latin typeface="微软雅黑 Light" panose="020B0502040204020203" pitchFamily="34" charset="-122"/>
                <a:ea typeface="微软雅黑 Light" panose="020B0502040204020203" pitchFamily="34" charset="-122"/>
              </a:rPr>
              <a:t>方式。</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SMTP </a:t>
            </a:r>
            <a:r>
              <a:rPr lang="zh-CN" altLang="en-US" sz="1600" b="1" dirty="0">
                <a:solidFill>
                  <a:srgbClr val="C00000"/>
                </a:solidFill>
                <a:latin typeface="微软雅黑 Light" panose="020B0502040204020203" pitchFamily="34" charset="-122"/>
                <a:ea typeface="微软雅黑 Light" panose="020B0502040204020203" pitchFamily="34" charset="-122"/>
              </a:rPr>
              <a:t>基于 </a:t>
            </a:r>
            <a:r>
              <a:rPr lang="en-US" altLang="zh-CN" sz="1600" b="1" dirty="0">
                <a:solidFill>
                  <a:srgbClr val="C00000"/>
                </a:solidFill>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实现客户与服务器的通信。</a:t>
            </a:r>
            <a:endParaRPr lang="en-US" altLang="zh-CN" sz="16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5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83744" y="566248"/>
            <a:ext cx="437651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6.5.2  </a:t>
            </a:r>
            <a:r>
              <a:rPr lang="zh-CN" altLang="en-US" sz="2400" b="1" dirty="0">
                <a:solidFill>
                  <a:schemeClr val="bg1"/>
                </a:solidFill>
                <a:latin typeface="微软雅黑 Light" panose="020B0502040204020203" pitchFamily="34" charset="-122"/>
                <a:ea typeface="微软雅黑 Light" panose="020B0502040204020203" pitchFamily="34" charset="-122"/>
              </a:rPr>
              <a:t>简单邮件传送协议 </a:t>
            </a:r>
            <a:r>
              <a:rPr lang="en-US" altLang="zh-CN" sz="2400" b="1" dirty="0">
                <a:solidFill>
                  <a:schemeClr val="bg1"/>
                </a:solidFill>
                <a:latin typeface="微软雅黑 Light" panose="020B0502040204020203" pitchFamily="34" charset="-122"/>
                <a:ea typeface="微软雅黑 Light" panose="020B0502040204020203" pitchFamily="34" charset="-122"/>
              </a:rPr>
              <a:t>SMTP</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38" name="矩形 37"/>
          <p:cNvSpPr/>
          <p:nvPr/>
        </p:nvSpPr>
        <p:spPr>
          <a:xfrm>
            <a:off x="1576552" y="2546392"/>
            <a:ext cx="6708131" cy="820546"/>
          </a:xfrm>
          <a:prstGeom prst="rect">
            <a:avLst/>
          </a:prstGeom>
        </p:spPr>
        <p:txBody>
          <a:bodyPr wrap="square" anchor="ctr">
            <a:spAutoFit/>
          </a:bodyPr>
          <a:lstStyle/>
          <a:p>
            <a:pPr marL="285750" indent="-285750">
              <a:lnSpc>
                <a:spcPts val="3000"/>
              </a:lnSpc>
              <a:buClr>
                <a:srgbClr val="0066FF"/>
              </a:buClr>
              <a:buFont typeface="Wingdings" pitchFamily="2" charset="2"/>
              <a:buChar char="l"/>
            </a:pPr>
            <a:r>
              <a:rPr lang="en-US" altLang="zh-CN" b="1" dirty="0">
                <a:latin typeface="微软雅黑 Light" panose="020B0502040204020203" pitchFamily="34" charset="-122"/>
                <a:ea typeface="微软雅黑 Light" panose="020B0502040204020203" pitchFamily="34" charset="-122"/>
              </a:rPr>
              <a:t>SMTP </a:t>
            </a:r>
            <a:r>
              <a:rPr lang="zh-CN" altLang="en-US" b="1" dirty="0">
                <a:latin typeface="微软雅黑 Light" panose="020B0502040204020203" pitchFamily="34" charset="-122"/>
                <a:ea typeface="微软雅黑 Light" panose="020B0502040204020203" pitchFamily="34" charset="-122"/>
              </a:rPr>
              <a:t>是一个</a:t>
            </a:r>
            <a:r>
              <a:rPr lang="zh-CN" altLang="en-US" b="1" dirty="0">
                <a:solidFill>
                  <a:srgbClr val="C00000"/>
                </a:solidFill>
                <a:latin typeface="微软雅黑 Light" panose="020B0502040204020203" pitchFamily="34" charset="-122"/>
                <a:ea typeface="微软雅黑 Light" panose="020B0502040204020203" pitchFamily="34" charset="-122"/>
              </a:rPr>
              <a:t>基于文本</a:t>
            </a:r>
            <a:r>
              <a:rPr lang="zh-CN" altLang="en-US" b="1" dirty="0">
                <a:latin typeface="微软雅黑 Light" panose="020B0502040204020203" pitchFamily="34" charset="-122"/>
                <a:ea typeface="微软雅黑 Light" panose="020B0502040204020203" pitchFamily="34" charset="-122"/>
              </a:rPr>
              <a:t>的 （即 </a:t>
            </a:r>
            <a:r>
              <a:rPr lang="en-US" altLang="zh-CN" b="1" dirty="0">
                <a:latin typeface="微软雅黑 Light" panose="020B0502040204020203" pitchFamily="34" charset="-122"/>
                <a:ea typeface="微软雅黑 Light" panose="020B0502040204020203" pitchFamily="34" charset="-122"/>
              </a:rPr>
              <a:t>ASCII </a:t>
            </a:r>
            <a:r>
              <a:rPr lang="zh-CN" altLang="en-US" b="1" dirty="0">
                <a:latin typeface="微软雅黑 Light" panose="020B0502040204020203" pitchFamily="34" charset="-122"/>
                <a:ea typeface="微软雅黑 Light" panose="020B0502040204020203" pitchFamily="34" charset="-122"/>
              </a:rPr>
              <a:t>码） 的协议。 </a:t>
            </a:r>
            <a:endParaRPr lang="en-US" altLang="zh-CN" b="1" dirty="0">
              <a:latin typeface="微软雅黑 Light" panose="020B0502040204020203" pitchFamily="34" charset="-122"/>
              <a:ea typeface="微软雅黑 Light" panose="020B0502040204020203" pitchFamily="34" charset="-122"/>
            </a:endParaRPr>
          </a:p>
          <a:p>
            <a:pPr marL="285750" indent="-285750">
              <a:lnSpc>
                <a:spcPts val="3000"/>
              </a:lnSpc>
              <a:buClr>
                <a:srgbClr val="0066FF"/>
              </a:buClr>
              <a:buFont typeface="Wingdings" pitchFamily="2" charset="2"/>
              <a:buChar char="l"/>
            </a:pPr>
            <a:r>
              <a:rPr lang="en-US" altLang="zh-CN" b="1" dirty="0">
                <a:latin typeface="微软雅黑 Light" panose="020B0502040204020203" pitchFamily="34" charset="-122"/>
                <a:ea typeface="微软雅黑 Light" panose="020B0502040204020203" pitchFamily="34" charset="-122"/>
              </a:rPr>
              <a:t>SMTP </a:t>
            </a:r>
            <a:r>
              <a:rPr lang="zh-CN" altLang="en-US" b="1" dirty="0">
                <a:latin typeface="微软雅黑 Light" panose="020B0502040204020203" pitchFamily="34" charset="-122"/>
                <a:ea typeface="微软雅黑 Light" panose="020B0502040204020203" pitchFamily="34" charset="-122"/>
              </a:rPr>
              <a:t>客户与服务器之间采用</a:t>
            </a:r>
            <a:r>
              <a:rPr lang="zh-CN" altLang="en-US" b="1" dirty="0">
                <a:solidFill>
                  <a:srgbClr val="C00000"/>
                </a:solidFill>
                <a:latin typeface="微软雅黑 Light" panose="020B0502040204020203" pitchFamily="34" charset="-122"/>
                <a:ea typeface="微软雅黑 Light" panose="020B0502040204020203" pitchFamily="34" charset="-122"/>
              </a:rPr>
              <a:t>命令</a:t>
            </a:r>
            <a:r>
              <a:rPr lang="en-US" altLang="zh-CN" b="1" dirty="0">
                <a:solidFill>
                  <a:srgbClr val="C00000"/>
                </a:solidFill>
                <a:latin typeface="微软雅黑 Light" panose="020B0502040204020203" pitchFamily="34" charset="-122"/>
                <a:ea typeface="微软雅黑 Light" panose="020B0502040204020203" pitchFamily="34" charset="-122"/>
              </a:rPr>
              <a:t>-</a:t>
            </a:r>
            <a:r>
              <a:rPr lang="zh-CN" altLang="en-US" b="1" dirty="0">
                <a:solidFill>
                  <a:srgbClr val="C00000"/>
                </a:solidFill>
                <a:latin typeface="微软雅黑 Light" panose="020B0502040204020203" pitchFamily="34" charset="-122"/>
                <a:ea typeface="微软雅黑 Light" panose="020B0502040204020203" pitchFamily="34" charset="-122"/>
              </a:rPr>
              <a:t>响应</a:t>
            </a:r>
            <a:r>
              <a:rPr lang="zh-CN" altLang="en-US" b="1" dirty="0">
                <a:latin typeface="微软雅黑 Light" panose="020B0502040204020203" pitchFamily="34" charset="-122"/>
                <a:ea typeface="微软雅黑 Light" panose="020B0502040204020203" pitchFamily="34" charset="-122"/>
              </a:rPr>
              <a:t>方式进行交互。</a:t>
            </a:r>
            <a:endParaRPr lang="en-US" altLang="zh-CN" b="1" dirty="0">
              <a:latin typeface="微软雅黑 Light" panose="020B0502040204020203" pitchFamily="34" charset="-122"/>
              <a:ea typeface="微软雅黑 Light" panose="020B0502040204020203" pitchFamily="34" charset="-122"/>
            </a:endParaRPr>
          </a:p>
        </p:txBody>
      </p:sp>
      <p:sp>
        <p:nvSpPr>
          <p:cNvPr id="4" name="矩形 3"/>
          <p:cNvSpPr/>
          <p:nvPr/>
        </p:nvSpPr>
        <p:spPr>
          <a:xfrm>
            <a:off x="1660633" y="1424161"/>
            <a:ext cx="967261" cy="641131"/>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b="1" dirty="0">
                <a:solidFill>
                  <a:schemeClr val="tx1"/>
                </a:solidFill>
                <a:latin typeface="微软雅黑 Light" panose="020B0502040204020203" pitchFamily="34" charset="-122"/>
                <a:ea typeface="微软雅黑 Light" panose="020B0502040204020203" pitchFamily="34" charset="-122"/>
              </a:rPr>
              <a:t>SMTP</a:t>
            </a:r>
          </a:p>
          <a:p>
            <a:pPr algn="ctr"/>
            <a:r>
              <a:rPr lang="zh-CN" altLang="en-US" sz="1600" b="1" dirty="0">
                <a:solidFill>
                  <a:schemeClr val="tx1"/>
                </a:solidFill>
                <a:latin typeface="微软雅黑 Light" panose="020B0502040204020203" pitchFamily="34" charset="-122"/>
                <a:ea typeface="微软雅黑 Light" panose="020B0502040204020203" pitchFamily="34" charset="-122"/>
              </a:rPr>
              <a:t>客户</a:t>
            </a:r>
          </a:p>
        </p:txBody>
      </p:sp>
      <p:sp>
        <p:nvSpPr>
          <p:cNvPr id="40" name="矩形 39"/>
          <p:cNvSpPr/>
          <p:nvPr/>
        </p:nvSpPr>
        <p:spPr>
          <a:xfrm>
            <a:off x="6600186" y="1424161"/>
            <a:ext cx="967261" cy="641131"/>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600" b="1" dirty="0">
                <a:solidFill>
                  <a:schemeClr val="bg1"/>
                </a:solidFill>
                <a:latin typeface="微软雅黑 Light" panose="020B0502040204020203" pitchFamily="34" charset="-122"/>
                <a:ea typeface="微软雅黑 Light" panose="020B0502040204020203" pitchFamily="34" charset="-122"/>
              </a:rPr>
              <a:t>SMTP</a:t>
            </a:r>
          </a:p>
          <a:p>
            <a:pPr algn="ctr"/>
            <a:r>
              <a:rPr lang="zh-CN" altLang="en-US" sz="1600" b="1" dirty="0">
                <a:solidFill>
                  <a:schemeClr val="bg1"/>
                </a:solidFill>
                <a:latin typeface="微软雅黑 Light" panose="020B0502040204020203" pitchFamily="34" charset="-122"/>
                <a:ea typeface="微软雅黑 Light" panose="020B0502040204020203" pitchFamily="34" charset="-122"/>
              </a:rPr>
              <a:t>服务器</a:t>
            </a:r>
          </a:p>
        </p:txBody>
      </p:sp>
      <p:grpSp>
        <p:nvGrpSpPr>
          <p:cNvPr id="5" name="组合 4"/>
          <p:cNvGrpSpPr/>
          <p:nvPr/>
        </p:nvGrpSpPr>
        <p:grpSpPr>
          <a:xfrm>
            <a:off x="2650180" y="1374875"/>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4432137" y="1374875"/>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b="1" dirty="0">
                  <a:latin typeface="微软雅黑 Light" panose="020B0502040204020203" pitchFamily="34" charset="-122"/>
                  <a:ea typeface="微软雅黑 Light" panose="020B0502040204020203" pitchFamily="34" charset="-122"/>
                </a:rPr>
                <a:t>命令</a:t>
              </a:r>
            </a:p>
          </p:txBody>
        </p:sp>
      </p:grpSp>
      <p:grpSp>
        <p:nvGrpSpPr>
          <p:cNvPr id="6" name="组合 5"/>
          <p:cNvGrpSpPr/>
          <p:nvPr/>
        </p:nvGrpSpPr>
        <p:grpSpPr>
          <a:xfrm>
            <a:off x="2650180" y="1879872"/>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3333FF"/>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4432137" y="1879873"/>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b="1" dirty="0">
                  <a:solidFill>
                    <a:srgbClr val="0000FF"/>
                  </a:solidFill>
                  <a:latin typeface="微软雅黑 Light" panose="020B0502040204020203" pitchFamily="34" charset="-122"/>
                  <a:ea typeface="微软雅黑 Light" panose="020B0502040204020203" pitchFamily="34" charset="-122"/>
                </a:rPr>
                <a:t>响应</a:t>
              </a: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5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83744" y="566248"/>
            <a:ext cx="437651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6.5.2  </a:t>
            </a:r>
            <a:r>
              <a:rPr lang="zh-CN" altLang="en-US" sz="2400" b="1" dirty="0">
                <a:solidFill>
                  <a:schemeClr val="bg1"/>
                </a:solidFill>
                <a:latin typeface="微软雅黑 Light" panose="020B0502040204020203" pitchFamily="34" charset="-122"/>
                <a:ea typeface="微软雅黑 Light" panose="020B0502040204020203" pitchFamily="34" charset="-122"/>
              </a:rPr>
              <a:t>简单邮件传送协议 </a:t>
            </a:r>
            <a:r>
              <a:rPr lang="en-US" altLang="zh-CN" sz="2400" b="1" dirty="0">
                <a:solidFill>
                  <a:schemeClr val="bg1"/>
                </a:solidFill>
                <a:latin typeface="微软雅黑 Light" panose="020B0502040204020203" pitchFamily="34" charset="-122"/>
                <a:ea typeface="微软雅黑 Light" panose="020B0502040204020203" pitchFamily="34" charset="-122"/>
              </a:rPr>
              <a:t>SMTP</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40" name="矩形 39"/>
          <p:cNvSpPr/>
          <p:nvPr/>
        </p:nvSpPr>
        <p:spPr>
          <a:xfrm>
            <a:off x="6600186" y="1424161"/>
            <a:ext cx="967261" cy="641131"/>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600" b="1" dirty="0">
                <a:solidFill>
                  <a:schemeClr val="bg1"/>
                </a:solidFill>
                <a:latin typeface="微软雅黑 Light" panose="020B0502040204020203" pitchFamily="34" charset="-122"/>
                <a:ea typeface="微软雅黑 Light" panose="020B0502040204020203" pitchFamily="34" charset="-122"/>
              </a:rPr>
              <a:t>SMTP</a:t>
            </a:r>
          </a:p>
          <a:p>
            <a:pPr algn="ctr"/>
            <a:r>
              <a:rPr lang="zh-CN" altLang="en-US" sz="1600" b="1" dirty="0">
                <a:solidFill>
                  <a:schemeClr val="bg1"/>
                </a:solidFill>
                <a:latin typeface="微软雅黑 Light" panose="020B0502040204020203" pitchFamily="34" charset="-122"/>
                <a:ea typeface="微软雅黑 Light" panose="020B0502040204020203" pitchFamily="34" charset="-122"/>
              </a:rPr>
              <a:t>服务器</a:t>
            </a:r>
          </a:p>
        </p:txBody>
      </p:sp>
      <p:cxnSp>
        <p:nvCxnSpPr>
          <p:cNvPr id="41" name="直接箭头连接符 40"/>
          <p:cNvCxnSpPr/>
          <p:nvPr/>
        </p:nvCxnSpPr>
        <p:spPr>
          <a:xfrm>
            <a:off x="2280893" y="2033760"/>
            <a:ext cx="1303135" cy="1074398"/>
          </a:xfrm>
          <a:prstGeom prst="straightConnector1">
            <a:avLst/>
          </a:prstGeom>
          <a:ln w="28575">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2174872"/>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TCP</a:t>
            </a:r>
          </a:p>
          <a:p>
            <a:pPr algn="ctr" eaLnBrk="1" hangingPunct="1"/>
            <a:r>
              <a:rPr kumimoji="1" lang="zh-CN" altLang="en-US" sz="1400" b="1" dirty="0">
                <a:solidFill>
                  <a:srgbClr val="CC00CC"/>
                </a:solidFill>
                <a:latin typeface="微软雅黑 Light" panose="020B0502040204020203" pitchFamily="34" charset="-122"/>
                <a:ea typeface="微软雅黑 Light" panose="020B0502040204020203" pitchFamily="34" charset="-122"/>
              </a:rPr>
              <a:t>熟知</a:t>
            </a:r>
            <a:r>
              <a:rPr kumimoji="1" lang="zh-CN" altLang="en-US" sz="1400" b="1" dirty="0">
                <a:latin typeface="微软雅黑 Light" panose="020B0502040204020203" pitchFamily="34" charset="-122"/>
                <a:ea typeface="微软雅黑 Light" panose="020B0502040204020203" pitchFamily="34" charset="-122"/>
              </a:rPr>
              <a:t>端口 </a:t>
            </a:r>
            <a:r>
              <a:rPr kumimoji="1" lang="en-US" altLang="zh-CN" sz="1400" b="1" dirty="0">
                <a:latin typeface="微软雅黑 Light" panose="020B0502040204020203" pitchFamily="34" charset="-122"/>
                <a:ea typeface="微软雅黑 Light" panose="020B0502040204020203" pitchFamily="34" charset="-122"/>
              </a:rPr>
              <a:t>25</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13" name="矩形 12"/>
          <p:cNvSpPr/>
          <p:nvPr/>
        </p:nvSpPr>
        <p:spPr>
          <a:xfrm>
            <a:off x="1576553" y="3713186"/>
            <a:ext cx="6043448" cy="437236"/>
          </a:xfrm>
          <a:prstGeom prst="rect">
            <a:avLst/>
          </a:prstGeom>
        </p:spPr>
        <p:txBody>
          <a:bodyPr wrap="square" anchor="ctr">
            <a:spAutoFit/>
          </a:bodyPr>
          <a:lstStyle/>
          <a:p>
            <a:pPr algn="ctr">
              <a:lnSpc>
                <a:spcPts val="3000"/>
              </a:lnSpc>
              <a:buClr>
                <a:srgbClr val="0066FF"/>
              </a:buClr>
            </a:pPr>
            <a:r>
              <a:rPr lang="en-US" altLang="zh-CN" b="1" dirty="0">
                <a:latin typeface="微软雅黑 Light" panose="020B0502040204020203" pitchFamily="34" charset="-122"/>
                <a:ea typeface="微软雅黑 Light" panose="020B0502040204020203" pitchFamily="34" charset="-122"/>
              </a:rPr>
              <a:t>SMTP </a:t>
            </a:r>
            <a:r>
              <a:rPr lang="zh-CN" altLang="en-US" b="1" dirty="0">
                <a:solidFill>
                  <a:srgbClr val="C00000"/>
                </a:solidFill>
                <a:latin typeface="微软雅黑 Light" panose="020B0502040204020203" pitchFamily="34" charset="-122"/>
                <a:ea typeface="微软雅黑 Light" panose="020B0502040204020203" pitchFamily="34" charset="-122"/>
              </a:rPr>
              <a:t>基于 </a:t>
            </a:r>
            <a:r>
              <a:rPr lang="en-US" altLang="zh-CN" b="1" dirty="0">
                <a:solidFill>
                  <a:srgbClr val="C00000"/>
                </a:solidFill>
                <a:latin typeface="微软雅黑 Light" panose="020B0502040204020203" pitchFamily="34" charset="-122"/>
                <a:ea typeface="微软雅黑 Light" panose="020B0502040204020203" pitchFamily="34" charset="-122"/>
              </a:rPr>
              <a:t>TCP </a:t>
            </a:r>
            <a:r>
              <a:rPr lang="zh-CN" altLang="en-US" b="1" dirty="0">
                <a:latin typeface="微软雅黑 Light" panose="020B0502040204020203" pitchFamily="34" charset="-122"/>
                <a:ea typeface="微软雅黑 Light" panose="020B0502040204020203" pitchFamily="34" charset="-122"/>
              </a:rPr>
              <a:t>实现客户与服务器之间的通信。</a:t>
            </a:r>
            <a:endParaRPr lang="en-US" altLang="zh-CN" b="1" dirty="0">
              <a:latin typeface="微软雅黑 Light" panose="020B0502040204020203" pitchFamily="34" charset="-122"/>
              <a:ea typeface="微软雅黑 Light" panose="020B0502040204020203" pitchFamily="34" charset="-122"/>
            </a:endParaRPr>
          </a:p>
        </p:txBody>
      </p:sp>
      <p:sp>
        <p:nvSpPr>
          <p:cNvPr id="4" name="矩形 3"/>
          <p:cNvSpPr/>
          <p:nvPr/>
        </p:nvSpPr>
        <p:spPr>
          <a:xfrm>
            <a:off x="1660633" y="1424161"/>
            <a:ext cx="967261" cy="641131"/>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b="1" dirty="0">
                <a:solidFill>
                  <a:schemeClr val="tx1"/>
                </a:solidFill>
                <a:latin typeface="微软雅黑 Light" panose="020B0502040204020203" pitchFamily="34" charset="-122"/>
                <a:ea typeface="微软雅黑 Light" panose="020B0502040204020203" pitchFamily="34" charset="-122"/>
              </a:rPr>
              <a:t>SMTP</a:t>
            </a:r>
          </a:p>
          <a:p>
            <a:pPr algn="ctr"/>
            <a:r>
              <a:rPr lang="zh-CN" altLang="en-US" sz="1600" b="1" dirty="0">
                <a:solidFill>
                  <a:schemeClr val="tx1"/>
                </a:solidFill>
                <a:latin typeface="微软雅黑 Light" panose="020B0502040204020203" pitchFamily="34" charset="-122"/>
                <a:ea typeface="微软雅黑 Light" panose="020B0502040204020203" pitchFamily="34" charset="-122"/>
              </a:rPr>
              <a:t>客户</a:t>
            </a:r>
          </a:p>
        </p:txBody>
      </p:sp>
      <p:cxnSp>
        <p:nvCxnSpPr>
          <p:cNvPr id="19" name="直接箭头连接符 18"/>
          <p:cNvCxnSpPr/>
          <p:nvPr/>
        </p:nvCxnSpPr>
        <p:spPr>
          <a:xfrm flipV="1">
            <a:off x="5602014" y="2065292"/>
            <a:ext cx="1250421" cy="940667"/>
          </a:xfrm>
          <a:prstGeom prst="straightConnector1">
            <a:avLst/>
          </a:prstGeom>
          <a:ln w="28575">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2695352"/>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b="1" dirty="0">
                <a:latin typeface="微软雅黑 Light" panose="020B0502040204020203" pitchFamily="34" charset="-122"/>
                <a:ea typeface="微软雅黑 Light" panose="020B0502040204020203" pitchFamily="34" charset="-122"/>
              </a:rPr>
              <a:t>互联网</a:t>
            </a:r>
          </a:p>
        </p:txBody>
      </p:sp>
      <p:sp>
        <p:nvSpPr>
          <p:cNvPr id="22" name="Text Box 409"/>
          <p:cNvSpPr txBox="1">
            <a:spLocks noChangeArrowheads="1"/>
          </p:cNvSpPr>
          <p:nvPr/>
        </p:nvSpPr>
        <p:spPr bwMode="auto">
          <a:xfrm>
            <a:off x="1638439" y="2174872"/>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TCP</a:t>
            </a:r>
          </a:p>
          <a:p>
            <a:pPr algn="ctr" eaLnBrk="1" hangingPunct="1"/>
            <a:r>
              <a:rPr kumimoji="1" lang="zh-CN" altLang="en-US" sz="1400" b="1" dirty="0">
                <a:solidFill>
                  <a:srgbClr val="CC00CC"/>
                </a:solidFill>
                <a:latin typeface="微软雅黑 Light" panose="020B0502040204020203" pitchFamily="34" charset="-122"/>
                <a:ea typeface="微软雅黑 Light" panose="020B0502040204020203" pitchFamily="34" charset="-122"/>
              </a:rPr>
              <a:t>短暂</a:t>
            </a:r>
            <a:r>
              <a:rPr kumimoji="1" lang="zh-CN" altLang="en-US" sz="1400" b="1" dirty="0">
                <a:latin typeface="微软雅黑 Light" panose="020B0502040204020203" pitchFamily="34" charset="-122"/>
                <a:ea typeface="微软雅黑 Light" panose="020B0502040204020203" pitchFamily="34" charset="-122"/>
              </a:rPr>
              <a:t>端口</a:t>
            </a: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4" name="Rectangle 68"/>
          <p:cNvSpPr>
            <a:spLocks noChangeArrowheads="1"/>
          </p:cNvSpPr>
          <p:nvPr/>
        </p:nvSpPr>
        <p:spPr bwMode="auto">
          <a:xfrm>
            <a:off x="556963" y="973927"/>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9900CC"/>
              </a:buClr>
              <a:buFont typeface="+mj-lt"/>
              <a:buAutoNum type="arabicPeriod"/>
            </a:pPr>
            <a:r>
              <a:rPr lang="zh-CN" altLang="en-US" sz="2000" b="1" dirty="0">
                <a:solidFill>
                  <a:srgbClr val="0000FF"/>
                </a:solidFill>
                <a:latin typeface="微软雅黑 Light" panose="020B0502040204020203" pitchFamily="34" charset="-122"/>
                <a:ea typeface="微软雅黑 Light" panose="020B0502040204020203" pitchFamily="34" charset="-122"/>
              </a:rPr>
              <a:t>连接建立：</a:t>
            </a:r>
            <a:r>
              <a:rPr lang="zh-CN" altLang="en-US" sz="2000" b="1" dirty="0">
                <a:latin typeface="微软雅黑 Light" panose="020B0502040204020203" pitchFamily="34" charset="-122"/>
                <a:ea typeface="微软雅黑 Light" panose="020B0502040204020203" pitchFamily="34" charset="-122"/>
              </a:rPr>
              <a:t>连接是在发送主机的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客户和接收主机的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服务器之间建立的。</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不使用中间的邮件服务器。   </a:t>
            </a:r>
          </a:p>
          <a:p>
            <a:pPr marL="342900" indent="-342900" eaLnBrk="0" hangingPunct="0">
              <a:lnSpc>
                <a:spcPts val="3300"/>
              </a:lnSpc>
              <a:buClr>
                <a:srgbClr val="9900CC"/>
              </a:buClr>
              <a:buFont typeface="+mj-lt"/>
              <a:buAutoNum type="arabicPeriod"/>
            </a:pPr>
            <a:r>
              <a:rPr lang="zh-CN" altLang="en-US" sz="2000" b="1" dirty="0">
                <a:solidFill>
                  <a:srgbClr val="0000FF"/>
                </a:solidFill>
                <a:latin typeface="微软雅黑 Light" panose="020B0502040204020203" pitchFamily="34" charset="-122"/>
                <a:ea typeface="微软雅黑 Light" panose="020B0502040204020203" pitchFamily="34" charset="-122"/>
              </a:rPr>
              <a:t>邮件传送</a:t>
            </a:r>
          </a:p>
          <a:p>
            <a:pPr marL="342900" indent="-342900" eaLnBrk="0" hangingPunct="0">
              <a:lnSpc>
                <a:spcPts val="3300"/>
              </a:lnSpc>
              <a:buClr>
                <a:srgbClr val="9900CC"/>
              </a:buClr>
              <a:buFont typeface="+mj-lt"/>
              <a:buAutoNum type="arabicPeriod"/>
            </a:pPr>
            <a:r>
              <a:rPr lang="zh-CN" altLang="en-US" sz="2000" b="1" dirty="0">
                <a:solidFill>
                  <a:srgbClr val="0000FF"/>
                </a:solidFill>
                <a:latin typeface="微软雅黑 Light" panose="020B0502040204020203" pitchFamily="34" charset="-122"/>
                <a:ea typeface="微软雅黑 Light" panose="020B0502040204020203" pitchFamily="34" charset="-122"/>
              </a:rPr>
              <a:t>连接释放：</a:t>
            </a:r>
            <a:r>
              <a:rPr lang="zh-CN" altLang="en-US" sz="2000" b="1" dirty="0">
                <a:latin typeface="微软雅黑 Light" panose="020B0502040204020203" pitchFamily="34" charset="-122"/>
                <a:ea typeface="微软雅黑 Light" panose="020B0502040204020203" pitchFamily="34" charset="-122"/>
              </a:rPr>
              <a:t>邮件发送完毕后，</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应释放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连接。 </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0424" y="2004691"/>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274107"/>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连接建立</a:t>
            </a:r>
          </a:p>
        </p:txBody>
      </p:sp>
      <p:sp>
        <p:nvSpPr>
          <p:cNvPr id="6" name="矩形 5"/>
          <p:cNvSpPr/>
          <p:nvPr/>
        </p:nvSpPr>
        <p:spPr>
          <a:xfrm>
            <a:off x="6468639" y="1012053"/>
            <a:ext cx="1203916" cy="256400"/>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2117646" y="1012053"/>
            <a:ext cx="1203916" cy="256400"/>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grpSp>
        <p:nvGrpSpPr>
          <p:cNvPr id="49" name="组合 48"/>
          <p:cNvGrpSpPr/>
          <p:nvPr/>
        </p:nvGrpSpPr>
        <p:grpSpPr>
          <a:xfrm>
            <a:off x="2719604" y="1268453"/>
            <a:ext cx="4350993" cy="2053679"/>
            <a:chOff x="2719604" y="663644"/>
            <a:chExt cx="4350993" cy="3087284"/>
          </a:xfrm>
        </p:grpSpPr>
        <p:cxnSp>
          <p:nvCxnSpPr>
            <p:cNvPr id="7" name="直接箭头连接符 6"/>
            <p:cNvCxnSpPr>
              <a:stCxn id="10" idx="2"/>
            </p:cNvCxnSpPr>
            <p:nvPr/>
          </p:nvCxnSpPr>
          <p:spPr>
            <a:xfrm>
              <a:off x="2719604"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7070597"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组合 38"/>
          <p:cNvGrpSpPr/>
          <p:nvPr/>
        </p:nvGrpSpPr>
        <p:grpSpPr>
          <a:xfrm>
            <a:off x="2727397" y="1209516"/>
            <a:ext cx="4337778" cy="276999"/>
            <a:chOff x="2144264" y="1565533"/>
            <a:chExt cx="4926338" cy="426271"/>
          </a:xfrm>
        </p:grpSpPr>
        <p:sp>
          <p:nvSpPr>
            <p:cNvPr id="17" name="Text Box 52"/>
            <p:cNvSpPr txBox="1">
              <a:spLocks noChangeArrowheads="1"/>
            </p:cNvSpPr>
            <p:nvPr/>
          </p:nvSpPr>
          <p:spPr bwMode="auto">
            <a:xfrm>
              <a:off x="3888314" y="1565533"/>
              <a:ext cx="1349793" cy="426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200" dirty="0">
                  <a:latin typeface="微软雅黑 Light" panose="020B0502040204020203" pitchFamily="34" charset="-122"/>
                  <a:ea typeface="微软雅黑 Light" panose="020B0502040204020203" pitchFamily="34" charset="-122"/>
                </a:rPr>
                <a:t>建立 </a:t>
              </a:r>
              <a:r>
                <a:rPr lang="en-US" altLang="zh-CN" sz="1200" dirty="0">
                  <a:latin typeface="微软雅黑 Light" panose="020B0502040204020203" pitchFamily="34" charset="-122"/>
                  <a:ea typeface="微软雅黑 Light" panose="020B0502040204020203" pitchFamily="34" charset="-122"/>
                </a:rPr>
                <a:t>TCP </a:t>
              </a:r>
              <a:r>
                <a:rPr lang="zh-CN" altLang="en-US" sz="1200" dirty="0">
                  <a:latin typeface="微软雅黑 Light" panose="020B0502040204020203" pitchFamily="34" charset="-122"/>
                  <a:ea typeface="微软雅黑 Light" panose="020B0502040204020203" pitchFamily="34" charset="-122"/>
                </a:rPr>
                <a:t>连接</a:t>
              </a:r>
              <a:endParaRPr lang="en-US" altLang="zh-CN" sz="1200" dirty="0">
                <a:latin typeface="微软雅黑 Light" panose="020B0502040204020203" pitchFamily="34" charset="-122"/>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grpSp>
      <p:sp>
        <p:nvSpPr>
          <p:cNvPr id="30"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14" name="矩形 13"/>
          <p:cNvSpPr/>
          <p:nvPr/>
        </p:nvSpPr>
        <p:spPr>
          <a:xfrm>
            <a:off x="7108668" y="1588846"/>
            <a:ext cx="1836689" cy="954107"/>
          </a:xfrm>
          <a:prstGeom prst="rect">
            <a:avLst/>
          </a:prstGeom>
        </p:spPr>
        <p:txBody>
          <a:bodyPr wrap="square">
            <a:spAutoFit/>
          </a:bodyPr>
          <a:lstStyle/>
          <a:p>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客户首先使用熟知端口 </a:t>
            </a:r>
            <a:r>
              <a:rPr lang="en-US" altLang="zh-CN" sz="1400" b="1" dirty="0">
                <a:latin typeface="微软雅黑 Light" panose="020B0502040204020203" pitchFamily="34" charset="-122"/>
                <a:ea typeface="微软雅黑 Light" panose="020B0502040204020203" pitchFamily="34" charset="-122"/>
              </a:rPr>
              <a:t>25 </a:t>
            </a:r>
            <a:r>
              <a:rPr lang="zh-CN" altLang="en-US" sz="1400" b="1" dirty="0">
                <a:latin typeface="微软雅黑 Light" panose="020B0502040204020203" pitchFamily="34" charset="-122"/>
                <a:ea typeface="微软雅黑 Light" panose="020B0502040204020203" pitchFamily="34" charset="-122"/>
              </a:rPr>
              <a:t>与接收方的 </a:t>
            </a:r>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服务器建立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a:t>
            </a:r>
          </a:p>
        </p:txBody>
      </p:sp>
      <p:sp>
        <p:nvSpPr>
          <p:cNvPr id="15" name="矩形 14"/>
          <p:cNvSpPr/>
          <p:nvPr/>
        </p:nvSpPr>
        <p:spPr>
          <a:xfrm>
            <a:off x="7108668" y="2542953"/>
            <a:ext cx="1836689" cy="523220"/>
          </a:xfrm>
          <a:prstGeom prst="rect">
            <a:avLst/>
          </a:prstGeom>
          <a:solidFill>
            <a:srgbClr val="FFFF66"/>
          </a:solidFill>
        </p:spPr>
        <p:txBody>
          <a:bodyPr wrap="square">
            <a:spAutoFit/>
          </a:bodyPr>
          <a:lstStyle/>
          <a:p>
            <a:r>
              <a:rPr lang="zh-CN" altLang="en-US" sz="1400" b="1" dirty="0">
                <a:latin typeface="微软雅黑 Light" panose="020B0502040204020203" pitchFamily="34" charset="-122"/>
                <a:ea typeface="微软雅黑 Light" panose="020B0502040204020203" pitchFamily="34" charset="-122"/>
              </a:rPr>
              <a:t>注意：</a:t>
            </a:r>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不使用中间的邮件服务器。 </a:t>
            </a:r>
          </a:p>
        </p:txBody>
      </p:sp>
    </p:spTree>
    <p:extLst>
      <p:ext uri="{BB962C8B-B14F-4D97-AF65-F5344CB8AC3E}">
        <p14:creationId xmlns:p14="http://schemas.microsoft.com/office/powerpoint/2010/main" val="347651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0424" y="2004691"/>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274107"/>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连接建立</a:t>
            </a:r>
          </a:p>
        </p:txBody>
      </p:sp>
      <p:sp>
        <p:nvSpPr>
          <p:cNvPr id="6" name="矩形 5"/>
          <p:cNvSpPr/>
          <p:nvPr/>
        </p:nvSpPr>
        <p:spPr>
          <a:xfrm>
            <a:off x="6468639" y="1012053"/>
            <a:ext cx="1203916" cy="256400"/>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2117646" y="1012053"/>
            <a:ext cx="1203916" cy="256400"/>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grpSp>
        <p:nvGrpSpPr>
          <p:cNvPr id="49" name="组合 48"/>
          <p:cNvGrpSpPr/>
          <p:nvPr/>
        </p:nvGrpSpPr>
        <p:grpSpPr>
          <a:xfrm>
            <a:off x="2719604" y="1268453"/>
            <a:ext cx="4350993" cy="2053679"/>
            <a:chOff x="2719604" y="663644"/>
            <a:chExt cx="4350993" cy="3087284"/>
          </a:xfrm>
        </p:grpSpPr>
        <p:cxnSp>
          <p:nvCxnSpPr>
            <p:cNvPr id="7" name="直接箭头连接符 6"/>
            <p:cNvCxnSpPr>
              <a:stCxn id="10" idx="2"/>
            </p:cNvCxnSpPr>
            <p:nvPr/>
          </p:nvCxnSpPr>
          <p:spPr>
            <a:xfrm>
              <a:off x="2719604"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7070597"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组合 38"/>
          <p:cNvGrpSpPr/>
          <p:nvPr/>
        </p:nvGrpSpPr>
        <p:grpSpPr>
          <a:xfrm>
            <a:off x="2727397" y="1209516"/>
            <a:ext cx="4337778" cy="276999"/>
            <a:chOff x="2144264" y="1565533"/>
            <a:chExt cx="4926338" cy="426271"/>
          </a:xfrm>
        </p:grpSpPr>
        <p:sp>
          <p:nvSpPr>
            <p:cNvPr id="17" name="Text Box 52"/>
            <p:cNvSpPr txBox="1">
              <a:spLocks noChangeArrowheads="1"/>
            </p:cNvSpPr>
            <p:nvPr/>
          </p:nvSpPr>
          <p:spPr bwMode="auto">
            <a:xfrm>
              <a:off x="3888314" y="1565533"/>
              <a:ext cx="1349793" cy="426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200" dirty="0">
                  <a:latin typeface="微软雅黑 Light" panose="020B0502040204020203" pitchFamily="34" charset="-122"/>
                  <a:ea typeface="微软雅黑 Light" panose="020B0502040204020203" pitchFamily="34" charset="-122"/>
                </a:rPr>
                <a:t>建立 </a:t>
              </a:r>
              <a:r>
                <a:rPr lang="en-US" altLang="zh-CN" sz="1200" dirty="0">
                  <a:latin typeface="微软雅黑 Light" panose="020B0502040204020203" pitchFamily="34" charset="-122"/>
                  <a:ea typeface="微软雅黑 Light" panose="020B0502040204020203" pitchFamily="34" charset="-122"/>
                </a:rPr>
                <a:t>TCP </a:t>
              </a:r>
              <a:r>
                <a:rPr lang="zh-CN" altLang="en-US" sz="1200" dirty="0">
                  <a:latin typeface="微软雅黑 Light" panose="020B0502040204020203" pitchFamily="34" charset="-122"/>
                  <a:ea typeface="微软雅黑 Light" panose="020B0502040204020203" pitchFamily="34" charset="-122"/>
                </a:rPr>
                <a:t>连接</a:t>
              </a:r>
              <a:endParaRPr lang="en-US" altLang="zh-CN" sz="1200" dirty="0">
                <a:latin typeface="微软雅黑 Light" panose="020B0502040204020203" pitchFamily="34" charset="-122"/>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727397" y="1568991"/>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220 Service Ready</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sp>
        <p:nvSpPr>
          <p:cNvPr id="30"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14" name="矩形 13"/>
          <p:cNvSpPr/>
          <p:nvPr/>
        </p:nvSpPr>
        <p:spPr>
          <a:xfrm>
            <a:off x="7108668" y="1642114"/>
            <a:ext cx="1680223" cy="523220"/>
          </a:xfrm>
          <a:prstGeom prst="rect">
            <a:avLst/>
          </a:prstGeom>
        </p:spPr>
        <p:txBody>
          <a:bodyPr wrap="square">
            <a:spAutoFit/>
          </a:bodyPr>
          <a:lstStyle/>
          <a:p>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服务器发出服务就绪。</a:t>
            </a:r>
          </a:p>
        </p:txBody>
      </p:sp>
    </p:spTree>
    <p:extLst>
      <p:ext uri="{BB962C8B-B14F-4D97-AF65-F5344CB8AC3E}">
        <p14:creationId xmlns:p14="http://schemas.microsoft.com/office/powerpoint/2010/main" val="2159323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0424" y="2004691"/>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274107"/>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连接建立</a:t>
            </a:r>
          </a:p>
        </p:txBody>
      </p:sp>
      <p:sp>
        <p:nvSpPr>
          <p:cNvPr id="6" name="矩形 5"/>
          <p:cNvSpPr/>
          <p:nvPr/>
        </p:nvSpPr>
        <p:spPr>
          <a:xfrm>
            <a:off x="6468639" y="1012053"/>
            <a:ext cx="1203916" cy="256400"/>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2117646" y="1012053"/>
            <a:ext cx="1203916" cy="256400"/>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grpSp>
        <p:nvGrpSpPr>
          <p:cNvPr id="49" name="组合 48"/>
          <p:cNvGrpSpPr/>
          <p:nvPr/>
        </p:nvGrpSpPr>
        <p:grpSpPr>
          <a:xfrm>
            <a:off x="2719604" y="1268453"/>
            <a:ext cx="4350993" cy="2053679"/>
            <a:chOff x="2719604" y="663644"/>
            <a:chExt cx="4350993" cy="3087284"/>
          </a:xfrm>
        </p:grpSpPr>
        <p:cxnSp>
          <p:nvCxnSpPr>
            <p:cNvPr id="7" name="直接箭头连接符 6"/>
            <p:cNvCxnSpPr>
              <a:stCxn id="10" idx="2"/>
            </p:cNvCxnSpPr>
            <p:nvPr/>
          </p:nvCxnSpPr>
          <p:spPr>
            <a:xfrm>
              <a:off x="2719604"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7070597"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组合 38"/>
          <p:cNvGrpSpPr/>
          <p:nvPr/>
        </p:nvGrpSpPr>
        <p:grpSpPr>
          <a:xfrm>
            <a:off x="2727397" y="1209516"/>
            <a:ext cx="4337778" cy="276999"/>
            <a:chOff x="2144264" y="1565533"/>
            <a:chExt cx="4926338" cy="426271"/>
          </a:xfrm>
        </p:grpSpPr>
        <p:sp>
          <p:nvSpPr>
            <p:cNvPr id="17" name="Text Box 52"/>
            <p:cNvSpPr txBox="1">
              <a:spLocks noChangeArrowheads="1"/>
            </p:cNvSpPr>
            <p:nvPr/>
          </p:nvSpPr>
          <p:spPr bwMode="auto">
            <a:xfrm>
              <a:off x="3888314" y="1565533"/>
              <a:ext cx="1349793" cy="426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200" dirty="0">
                  <a:latin typeface="微软雅黑 Light" panose="020B0502040204020203" pitchFamily="34" charset="-122"/>
                  <a:ea typeface="微软雅黑 Light" panose="020B0502040204020203" pitchFamily="34" charset="-122"/>
                </a:rPr>
                <a:t>建立 </a:t>
              </a:r>
              <a:r>
                <a:rPr lang="en-US" altLang="zh-CN" sz="1200" dirty="0">
                  <a:latin typeface="微软雅黑 Light" panose="020B0502040204020203" pitchFamily="34" charset="-122"/>
                  <a:ea typeface="微软雅黑 Light" panose="020B0502040204020203" pitchFamily="34" charset="-122"/>
                </a:rPr>
                <a:t>TCP </a:t>
              </a:r>
              <a:r>
                <a:rPr lang="zh-CN" altLang="en-US" sz="1200" dirty="0">
                  <a:latin typeface="微软雅黑 Light" panose="020B0502040204020203" pitchFamily="34" charset="-122"/>
                  <a:ea typeface="微软雅黑 Light" panose="020B0502040204020203" pitchFamily="34" charset="-122"/>
                </a:rPr>
                <a:t>连接</a:t>
              </a:r>
              <a:endParaRPr lang="en-US" altLang="zh-CN" sz="1200" dirty="0">
                <a:latin typeface="微软雅黑 Light" panose="020B0502040204020203" pitchFamily="34" charset="-122"/>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727397" y="1568991"/>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220 Service Ready</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24" name="组合 23"/>
          <p:cNvGrpSpPr/>
          <p:nvPr/>
        </p:nvGrpSpPr>
        <p:grpSpPr>
          <a:xfrm>
            <a:off x="2727397" y="1790686"/>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HELO abc.edu.cn</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sp>
        <p:nvSpPr>
          <p:cNvPr id="30"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14" name="矩形 13"/>
          <p:cNvSpPr/>
          <p:nvPr/>
        </p:nvSpPr>
        <p:spPr>
          <a:xfrm>
            <a:off x="7108668" y="1642114"/>
            <a:ext cx="1680223" cy="954107"/>
          </a:xfrm>
          <a:prstGeom prst="rect">
            <a:avLst/>
          </a:prstGeom>
        </p:spPr>
        <p:txBody>
          <a:bodyPr wrap="square">
            <a:spAutoFit/>
          </a:bodyPr>
          <a:lstStyle/>
          <a:p>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客户向服务器发送问候 </a:t>
            </a:r>
            <a:r>
              <a:rPr lang="en-US" altLang="zh-CN" sz="1400" b="1" dirty="0">
                <a:latin typeface="微软雅黑 Light" panose="020B0502040204020203" pitchFamily="34" charset="-122"/>
                <a:ea typeface="微软雅黑 Light" panose="020B0502040204020203" pitchFamily="34" charset="-122"/>
              </a:rPr>
              <a:t>(HELO</a:t>
            </a:r>
            <a:r>
              <a:rPr lang="zh-CN" altLang="en-US" sz="1400" b="1" dirty="0">
                <a:latin typeface="微软雅黑 Light" panose="020B0502040204020203" pitchFamily="34" charset="-122"/>
                <a:ea typeface="微软雅黑 Light" panose="020B0502040204020203" pitchFamily="34" charset="-122"/>
              </a:rPr>
              <a:t>命令），附上发送方的主机名。</a:t>
            </a:r>
          </a:p>
        </p:txBody>
      </p:sp>
    </p:spTree>
    <p:extLst>
      <p:ext uri="{BB962C8B-B14F-4D97-AF65-F5344CB8AC3E}">
        <p14:creationId xmlns:p14="http://schemas.microsoft.com/office/powerpoint/2010/main" val="931833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0424" y="2004691"/>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274107"/>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连接建立</a:t>
            </a:r>
          </a:p>
        </p:txBody>
      </p:sp>
      <p:sp>
        <p:nvSpPr>
          <p:cNvPr id="6" name="矩形 5"/>
          <p:cNvSpPr/>
          <p:nvPr/>
        </p:nvSpPr>
        <p:spPr>
          <a:xfrm>
            <a:off x="6468639" y="1012053"/>
            <a:ext cx="1203916" cy="256400"/>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2117646" y="1012053"/>
            <a:ext cx="1203916" cy="256400"/>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grpSp>
        <p:nvGrpSpPr>
          <p:cNvPr id="49" name="组合 48"/>
          <p:cNvGrpSpPr/>
          <p:nvPr/>
        </p:nvGrpSpPr>
        <p:grpSpPr>
          <a:xfrm>
            <a:off x="2719604" y="1268453"/>
            <a:ext cx="4350993" cy="2053679"/>
            <a:chOff x="2719604" y="663644"/>
            <a:chExt cx="4350993" cy="3087284"/>
          </a:xfrm>
        </p:grpSpPr>
        <p:cxnSp>
          <p:nvCxnSpPr>
            <p:cNvPr id="7" name="直接箭头连接符 6"/>
            <p:cNvCxnSpPr>
              <a:stCxn id="10" idx="2"/>
            </p:cNvCxnSpPr>
            <p:nvPr/>
          </p:nvCxnSpPr>
          <p:spPr>
            <a:xfrm>
              <a:off x="2719604"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7070597"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组合 38"/>
          <p:cNvGrpSpPr/>
          <p:nvPr/>
        </p:nvGrpSpPr>
        <p:grpSpPr>
          <a:xfrm>
            <a:off x="2727397" y="1209516"/>
            <a:ext cx="4337778" cy="276999"/>
            <a:chOff x="2144264" y="1565533"/>
            <a:chExt cx="4926338" cy="426271"/>
          </a:xfrm>
        </p:grpSpPr>
        <p:sp>
          <p:nvSpPr>
            <p:cNvPr id="17" name="Text Box 52"/>
            <p:cNvSpPr txBox="1">
              <a:spLocks noChangeArrowheads="1"/>
            </p:cNvSpPr>
            <p:nvPr/>
          </p:nvSpPr>
          <p:spPr bwMode="auto">
            <a:xfrm>
              <a:off x="3888314" y="1565533"/>
              <a:ext cx="1349793" cy="426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200" dirty="0">
                  <a:latin typeface="微软雅黑 Light" panose="020B0502040204020203" pitchFamily="34" charset="-122"/>
                  <a:ea typeface="微软雅黑 Light" panose="020B0502040204020203" pitchFamily="34" charset="-122"/>
                </a:rPr>
                <a:t>建立 </a:t>
              </a:r>
              <a:r>
                <a:rPr lang="en-US" altLang="zh-CN" sz="1200" dirty="0">
                  <a:latin typeface="微软雅黑 Light" panose="020B0502040204020203" pitchFamily="34" charset="-122"/>
                  <a:ea typeface="微软雅黑 Light" panose="020B0502040204020203" pitchFamily="34" charset="-122"/>
                </a:rPr>
                <a:t>TCP </a:t>
              </a:r>
              <a:r>
                <a:rPr lang="zh-CN" altLang="en-US" sz="1200" dirty="0">
                  <a:latin typeface="微软雅黑 Light" panose="020B0502040204020203" pitchFamily="34" charset="-122"/>
                  <a:ea typeface="微软雅黑 Light" panose="020B0502040204020203" pitchFamily="34" charset="-122"/>
                </a:rPr>
                <a:t>连接</a:t>
              </a:r>
              <a:endParaRPr lang="en-US" altLang="zh-CN" sz="1200" dirty="0">
                <a:latin typeface="微软雅黑 Light" panose="020B0502040204020203" pitchFamily="34" charset="-122"/>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727397" y="1568991"/>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220 Service Ready</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24" name="组合 23"/>
          <p:cNvGrpSpPr/>
          <p:nvPr/>
        </p:nvGrpSpPr>
        <p:grpSpPr>
          <a:xfrm>
            <a:off x="2727397" y="1790686"/>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HELO abc.edu</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27" name="组合 26"/>
          <p:cNvGrpSpPr/>
          <p:nvPr/>
        </p:nvGrpSpPr>
        <p:grpSpPr>
          <a:xfrm>
            <a:off x="2727397" y="2014274"/>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250 OK</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sp>
        <p:nvSpPr>
          <p:cNvPr id="30"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14" name="矩形 13"/>
          <p:cNvSpPr/>
          <p:nvPr/>
        </p:nvSpPr>
        <p:spPr>
          <a:xfrm>
            <a:off x="7108668" y="1642114"/>
            <a:ext cx="1742367" cy="954107"/>
          </a:xfrm>
          <a:prstGeom prst="rect">
            <a:avLst/>
          </a:prstGeom>
        </p:spPr>
        <p:txBody>
          <a:bodyPr wrap="square">
            <a:spAutoFit/>
          </a:bodyPr>
          <a:lstStyle/>
          <a:p>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服务器若有能力接收邮件，则回答：“</a:t>
            </a:r>
            <a:r>
              <a:rPr lang="en-US" altLang="zh-CN" sz="1400" b="1" dirty="0">
                <a:latin typeface="微软雅黑 Light" panose="020B0502040204020203" pitchFamily="34" charset="-122"/>
                <a:ea typeface="微软雅黑 Light" panose="020B0502040204020203" pitchFamily="34" charset="-122"/>
              </a:rPr>
              <a:t>250 OK”</a:t>
            </a:r>
            <a:r>
              <a:rPr lang="zh-CN" altLang="en-US" sz="1400" b="1" dirty="0">
                <a:latin typeface="微软雅黑 Light" panose="020B0502040204020203" pitchFamily="34" charset="-122"/>
                <a:ea typeface="微软雅黑 Light" panose="020B0502040204020203" pitchFamily="34" charset="-122"/>
              </a:rPr>
              <a:t>，表示已准备好接收。</a:t>
            </a:r>
          </a:p>
        </p:txBody>
      </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矩形 85"/>
          <p:cNvSpPr/>
          <p:nvPr/>
        </p:nvSpPr>
        <p:spPr>
          <a:xfrm>
            <a:off x="2117646" y="3566713"/>
            <a:ext cx="5891237" cy="1022400"/>
          </a:xfrm>
          <a:prstGeom prst="rect">
            <a:avLst/>
          </a:prstGeom>
          <a:solidFill>
            <a:srgbClr val="FF66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2117646" y="2141768"/>
            <a:ext cx="5891237" cy="1197386"/>
          </a:xfrm>
          <a:prstGeom prst="rect">
            <a:avLst/>
          </a:prstGeom>
          <a:solidFill>
            <a:srgbClr val="99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2117646" y="1332913"/>
            <a:ext cx="5891237" cy="800765"/>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0424" y="2006812"/>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27622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邮件传送</a:t>
            </a:r>
          </a:p>
        </p:txBody>
      </p:sp>
      <p:sp>
        <p:nvSpPr>
          <p:cNvPr id="6" name="矩形 5"/>
          <p:cNvSpPr/>
          <p:nvPr/>
        </p:nvSpPr>
        <p:spPr>
          <a:xfrm>
            <a:off x="6468639" y="1009539"/>
            <a:ext cx="1203916" cy="257199"/>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 name="矩形 9"/>
          <p:cNvSpPr/>
          <p:nvPr/>
        </p:nvSpPr>
        <p:spPr>
          <a:xfrm>
            <a:off x="2117646" y="1009539"/>
            <a:ext cx="1203916" cy="257199"/>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grpSp>
        <p:nvGrpSpPr>
          <p:cNvPr id="4" name="组合 3"/>
          <p:cNvGrpSpPr/>
          <p:nvPr/>
        </p:nvGrpSpPr>
        <p:grpSpPr>
          <a:xfrm>
            <a:off x="2719604" y="1266738"/>
            <a:ext cx="4350993" cy="3411794"/>
            <a:chOff x="2719604" y="944102"/>
            <a:chExt cx="4350993" cy="2580075"/>
          </a:xfrm>
        </p:grpSpPr>
        <p:cxnSp>
          <p:nvCxnSpPr>
            <p:cNvPr id="7" name="直接箭头连接符 6"/>
            <p:cNvCxnSpPr>
              <a:stCxn id="10" idx="2"/>
            </p:cNvCxnSpPr>
            <p:nvPr/>
          </p:nvCxnSpPr>
          <p:spPr>
            <a:xfrm>
              <a:off x="2719604" y="944102"/>
              <a:ext cx="0" cy="2580075"/>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7070597" y="944102"/>
              <a:ext cx="0" cy="2580075"/>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 name="组合 23"/>
          <p:cNvGrpSpPr/>
          <p:nvPr/>
        </p:nvGrpSpPr>
        <p:grpSpPr>
          <a:xfrm>
            <a:off x="2727397" y="1332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MAIL FROM: Lion@abc.edu</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27" name="组合 26"/>
          <p:cNvGrpSpPr/>
          <p:nvPr/>
        </p:nvGrpSpPr>
        <p:grpSpPr>
          <a:xfrm>
            <a:off x="2727397" y="153548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250 OK</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30" name="组合 29"/>
          <p:cNvGrpSpPr/>
          <p:nvPr/>
        </p:nvGrpSpPr>
        <p:grpSpPr>
          <a:xfrm>
            <a:off x="2727397" y="1744808"/>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RCPT TO: Tiger@xyz.com</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40" name="组合 39"/>
          <p:cNvGrpSpPr/>
          <p:nvPr/>
        </p:nvGrpSpPr>
        <p:grpSpPr>
          <a:xfrm>
            <a:off x="2727397" y="1947376"/>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250 OK</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2727397" y="2154698"/>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DATA</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55" name="组合 54"/>
          <p:cNvGrpSpPr/>
          <p:nvPr/>
        </p:nvGrpSpPr>
        <p:grpSpPr>
          <a:xfrm>
            <a:off x="2727397" y="2357266"/>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b="1" dirty="0">
                  <a:solidFill>
                    <a:schemeClr val="tx1"/>
                  </a:solidFill>
                  <a:latin typeface="微软雅黑 Light" panose="020B0502040204020203" pitchFamily="34" charset="-122"/>
                  <a:ea typeface="微软雅黑 Light" panose="020B0502040204020203" pitchFamily="34" charset="-122"/>
                </a:rPr>
                <a:t>354 Start mail input; end with &lt;CRLF&gt;.&lt;CRLF&gt;</a:t>
              </a:r>
              <a:endParaRPr lang="zh-CN" altLang="en-US" sz="95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58" name="组合 57"/>
          <p:cNvGrpSpPr/>
          <p:nvPr/>
        </p:nvGrpSpPr>
        <p:grpSpPr>
          <a:xfrm>
            <a:off x="2727397" y="2558913"/>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From: Lion@abc.edu</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61" name="组合 60"/>
          <p:cNvGrpSpPr/>
          <p:nvPr/>
        </p:nvGrpSpPr>
        <p:grpSpPr>
          <a:xfrm>
            <a:off x="2727397" y="2756503"/>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To: Tiger@xyz.com</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64" name="组合 63"/>
          <p:cNvGrpSpPr/>
          <p:nvPr/>
        </p:nvGrpSpPr>
        <p:grpSpPr>
          <a:xfrm>
            <a:off x="2727397" y="2952686"/>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Date: 2018-08-18</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67" name="组合 66"/>
          <p:cNvGrpSpPr/>
          <p:nvPr/>
        </p:nvGrpSpPr>
        <p:grpSpPr>
          <a:xfrm>
            <a:off x="2727397" y="3159154"/>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Subject: Greetings</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70" name="组合 69"/>
          <p:cNvGrpSpPr/>
          <p:nvPr/>
        </p:nvGrpSpPr>
        <p:grpSpPr>
          <a:xfrm>
            <a:off x="2727397" y="3365693"/>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73" name="组合 72"/>
          <p:cNvGrpSpPr/>
          <p:nvPr/>
        </p:nvGrpSpPr>
        <p:grpSpPr>
          <a:xfrm>
            <a:off x="2727397" y="3566713"/>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Dear Mr. Tiger, </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76" name="组合 75"/>
          <p:cNvGrpSpPr/>
          <p:nvPr/>
        </p:nvGrpSpPr>
        <p:grpSpPr>
          <a:xfrm>
            <a:off x="2727397" y="3773181"/>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Welcome you back.</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79" name="组合 78"/>
          <p:cNvGrpSpPr/>
          <p:nvPr/>
        </p:nvGrpSpPr>
        <p:grpSpPr>
          <a:xfrm>
            <a:off x="2727397" y="4183123"/>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solidFill>
                    <a:schemeClr val="bg1"/>
                  </a:solidFill>
                  <a:latin typeface="微软雅黑 Light" panose="020B0502040204020203" pitchFamily="34" charset="-122"/>
                  <a:ea typeface="微软雅黑 Light" panose="020B0502040204020203" pitchFamily="34" charset="-122"/>
                </a:rPr>
                <a:t>.</a:t>
              </a:r>
              <a:endParaRPr lang="zh-CN" altLang="en-US" sz="16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82" name="组合 81"/>
          <p:cNvGrpSpPr/>
          <p:nvPr/>
        </p:nvGrpSpPr>
        <p:grpSpPr>
          <a:xfrm>
            <a:off x="2727397" y="4384219"/>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250 OK</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sp>
        <p:nvSpPr>
          <p:cNvPr id="87" name="Text Box 409"/>
          <p:cNvSpPr txBox="1">
            <a:spLocks noChangeArrowheads="1"/>
          </p:cNvSpPr>
          <p:nvPr/>
        </p:nvSpPr>
        <p:spPr bwMode="auto">
          <a:xfrm>
            <a:off x="7086640" y="1581040"/>
            <a:ext cx="92224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rgbClr val="3333FF"/>
                </a:solidFill>
                <a:latin typeface="微软雅黑 Light" panose="020B0502040204020203" pitchFamily="34" charset="-122"/>
                <a:ea typeface="微软雅黑 Light" panose="020B0502040204020203" pitchFamily="34" charset="-122"/>
              </a:rPr>
              <a:t>信封</a:t>
            </a:r>
          </a:p>
        </p:txBody>
      </p:sp>
      <p:sp>
        <p:nvSpPr>
          <p:cNvPr id="88" name="Text Box 409"/>
          <p:cNvSpPr txBox="1">
            <a:spLocks noChangeArrowheads="1"/>
          </p:cNvSpPr>
          <p:nvPr/>
        </p:nvSpPr>
        <p:spPr bwMode="auto">
          <a:xfrm>
            <a:off x="7086640" y="2583900"/>
            <a:ext cx="92224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rgbClr val="3333FF"/>
                </a:solidFill>
                <a:latin typeface="微软雅黑 Light" panose="020B0502040204020203" pitchFamily="34" charset="-122"/>
                <a:ea typeface="微软雅黑 Light" panose="020B0502040204020203" pitchFamily="34" charset="-122"/>
              </a:rPr>
              <a:t>首部</a:t>
            </a:r>
          </a:p>
        </p:txBody>
      </p:sp>
      <p:sp>
        <p:nvSpPr>
          <p:cNvPr id="89" name="Text Box 409"/>
          <p:cNvSpPr txBox="1">
            <a:spLocks noChangeArrowheads="1"/>
          </p:cNvSpPr>
          <p:nvPr/>
        </p:nvSpPr>
        <p:spPr bwMode="auto">
          <a:xfrm>
            <a:off x="7086640" y="3911141"/>
            <a:ext cx="92224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rgbClr val="333399"/>
                </a:solidFill>
                <a:latin typeface="微软雅黑 Light" panose="020B0502040204020203" pitchFamily="34" charset="-122"/>
                <a:ea typeface="微软雅黑 Light" panose="020B0502040204020203" pitchFamily="34" charset="-122"/>
              </a:rPr>
              <a:t>主体</a:t>
            </a:r>
          </a:p>
        </p:txBody>
      </p:sp>
      <p:sp>
        <p:nvSpPr>
          <p:cNvPr id="90" name="Text Box 409"/>
          <p:cNvSpPr txBox="1">
            <a:spLocks noChangeArrowheads="1"/>
          </p:cNvSpPr>
          <p:nvPr/>
        </p:nvSpPr>
        <p:spPr bwMode="auto">
          <a:xfrm>
            <a:off x="7086640" y="3311697"/>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空行</a:t>
            </a:r>
          </a:p>
        </p:txBody>
      </p:sp>
      <p:sp>
        <p:nvSpPr>
          <p:cNvPr id="91"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92"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93"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0424" y="1731607"/>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001023"/>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连接释放</a:t>
            </a:r>
          </a:p>
        </p:txBody>
      </p:sp>
      <p:grpSp>
        <p:nvGrpSpPr>
          <p:cNvPr id="4" name="组合 3"/>
          <p:cNvGrpSpPr/>
          <p:nvPr/>
        </p:nvGrpSpPr>
        <p:grpSpPr>
          <a:xfrm>
            <a:off x="2719604" y="1266738"/>
            <a:ext cx="4350993" cy="1645138"/>
            <a:chOff x="2719604" y="991533"/>
            <a:chExt cx="4350993" cy="2348869"/>
          </a:xfrm>
        </p:grpSpPr>
        <p:cxnSp>
          <p:nvCxnSpPr>
            <p:cNvPr id="7" name="直接箭头连接符 6"/>
            <p:cNvCxnSpPr/>
            <p:nvPr/>
          </p:nvCxnSpPr>
          <p:spPr>
            <a:xfrm>
              <a:off x="2719604" y="991533"/>
              <a:ext cx="0" cy="2348869"/>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7070597" y="991533"/>
              <a:ext cx="0" cy="2348869"/>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组合 38"/>
          <p:cNvGrpSpPr/>
          <p:nvPr/>
        </p:nvGrpSpPr>
        <p:grpSpPr>
          <a:xfrm>
            <a:off x="2727397" y="2290113"/>
            <a:ext cx="4337778" cy="276999"/>
            <a:chOff x="2144264" y="1950857"/>
            <a:chExt cx="4926338" cy="426271"/>
          </a:xfrm>
        </p:grpSpPr>
        <p:sp>
          <p:nvSpPr>
            <p:cNvPr id="17" name="Text Box 52"/>
            <p:cNvSpPr txBox="1">
              <a:spLocks noChangeArrowheads="1"/>
            </p:cNvSpPr>
            <p:nvPr/>
          </p:nvSpPr>
          <p:spPr bwMode="auto">
            <a:xfrm>
              <a:off x="3888314" y="1950857"/>
              <a:ext cx="1349793" cy="426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200" dirty="0">
                  <a:latin typeface="微软雅黑 Light" panose="020B0502040204020203" pitchFamily="34" charset="-122"/>
                  <a:ea typeface="微软雅黑 Light" panose="020B0502040204020203" pitchFamily="34" charset="-122"/>
                </a:rPr>
                <a:t>释放 </a:t>
              </a:r>
              <a:r>
                <a:rPr lang="en-US" altLang="zh-CN" sz="1200" dirty="0">
                  <a:latin typeface="微软雅黑 Light" panose="020B0502040204020203" pitchFamily="34" charset="-122"/>
                  <a:ea typeface="微软雅黑 Light" panose="020B0502040204020203" pitchFamily="34" charset="-122"/>
                </a:rPr>
                <a:t>TCP </a:t>
              </a:r>
              <a:r>
                <a:rPr lang="zh-CN" altLang="en-US" sz="1200" dirty="0">
                  <a:latin typeface="微软雅黑 Light" panose="020B0502040204020203" pitchFamily="34" charset="-122"/>
                  <a:ea typeface="微软雅黑 Light" panose="020B0502040204020203" pitchFamily="34" charset="-122"/>
                </a:rPr>
                <a:t>连接</a:t>
              </a:r>
              <a:endParaRPr lang="en-US" altLang="zh-CN" sz="1200" dirty="0">
                <a:latin typeface="微软雅黑 Light" panose="020B0502040204020203" pitchFamily="34" charset="-122"/>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727397" y="1446578"/>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12700">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QUIT</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27" name="组合 26"/>
          <p:cNvGrpSpPr/>
          <p:nvPr/>
        </p:nvGrpSpPr>
        <p:grpSpPr>
          <a:xfrm>
            <a:off x="2727397" y="1670166"/>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221 Service closed</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sp>
        <p:nvSpPr>
          <p:cNvPr id="19" name="矩形 18"/>
          <p:cNvSpPr/>
          <p:nvPr/>
        </p:nvSpPr>
        <p:spPr>
          <a:xfrm>
            <a:off x="6468639" y="1009539"/>
            <a:ext cx="1203916" cy="257199"/>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0" name="矩形 19"/>
          <p:cNvSpPr/>
          <p:nvPr/>
        </p:nvSpPr>
        <p:spPr>
          <a:xfrm>
            <a:off x="2117646" y="1009539"/>
            <a:ext cx="1203916" cy="257199"/>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sp>
        <p:nvSpPr>
          <p:cNvPr id="21"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2"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23"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1547"/>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075166" y="559276"/>
            <a:ext cx="49936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6.5.4  </a:t>
            </a:r>
            <a:r>
              <a:rPr lang="zh-CN" altLang="en-US" sz="2400" b="1" dirty="0">
                <a:solidFill>
                  <a:schemeClr val="bg1"/>
                </a:solidFill>
                <a:latin typeface="微软雅黑 Light" panose="020B0502040204020203" pitchFamily="34" charset="-122"/>
                <a:ea typeface="微软雅黑 Light" panose="020B0502040204020203" pitchFamily="34" charset="-122"/>
              </a:rPr>
              <a:t>邮件读取协议 </a:t>
            </a:r>
            <a:r>
              <a:rPr lang="en-US" altLang="zh-CN" sz="2400" b="1" dirty="0">
                <a:solidFill>
                  <a:schemeClr val="bg1"/>
                </a:solidFill>
                <a:latin typeface="微软雅黑 Light" panose="020B0502040204020203" pitchFamily="34" charset="-122"/>
                <a:ea typeface="微软雅黑 Light" panose="020B0502040204020203" pitchFamily="34" charset="-122"/>
              </a:rPr>
              <a:t>POP3 </a:t>
            </a:r>
            <a:r>
              <a:rPr lang="zh-CN" altLang="en-US" sz="2400" b="1" dirty="0">
                <a:solidFill>
                  <a:schemeClr val="bg1"/>
                </a:solidFill>
                <a:latin typeface="微软雅黑 Light" panose="020B0502040204020203" pitchFamily="34" charset="-122"/>
                <a:ea typeface="微软雅黑 Light" panose="020B0502040204020203" pitchFamily="34" charset="-122"/>
              </a:rPr>
              <a:t>和 </a:t>
            </a:r>
            <a:r>
              <a:rPr lang="en-US" altLang="zh-CN" sz="2400" b="1" dirty="0">
                <a:solidFill>
                  <a:schemeClr val="bg1"/>
                </a:solidFill>
                <a:latin typeface="微软雅黑 Light" panose="020B0502040204020203" pitchFamily="34" charset="-122"/>
                <a:ea typeface="微软雅黑 Light" panose="020B0502040204020203" pitchFamily="34" charset="-122"/>
              </a:rPr>
              <a:t>IMAP</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1007303"/>
            <a:ext cx="8231930"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zh-CN" altLang="en-US" sz="2000" b="1" dirty="0">
                <a:latin typeface="微软雅黑 Light" panose="020B0502040204020203" pitchFamily="34" charset="-122"/>
                <a:ea typeface="微软雅黑 Light" panose="020B0502040204020203" pitchFamily="34" charset="-122"/>
              </a:rPr>
              <a:t>两个常用的邮件读取协议：</a:t>
            </a:r>
            <a:endParaRPr lang="en-US" altLang="zh-CN" sz="2000" b="1" dirty="0">
              <a:latin typeface="微软雅黑 Light" panose="020B0502040204020203" pitchFamily="34" charset="-122"/>
              <a:ea typeface="微软雅黑 Light" panose="020B0502040204020203" pitchFamily="34" charset="-122"/>
            </a:endParaRPr>
          </a:p>
          <a:p>
            <a:pPr marL="357188" indent="-357188" eaLnBrk="0" hangingPunct="0">
              <a:lnSpc>
                <a:spcPts val="3300"/>
              </a:lnSpc>
              <a:buClr>
                <a:srgbClr val="9900CC"/>
              </a:buClr>
              <a:buFont typeface="+mj-lt"/>
              <a:buAutoNum type="arabicPeriod"/>
            </a:pPr>
            <a:r>
              <a:rPr lang="en-US" altLang="zh-CN" sz="2000" b="1" dirty="0">
                <a:solidFill>
                  <a:srgbClr val="C00000"/>
                </a:solidFill>
                <a:latin typeface="微软雅黑 Light" panose="020B0502040204020203" pitchFamily="34" charset="-122"/>
                <a:ea typeface="微软雅黑 Light" panose="020B0502040204020203" pitchFamily="34" charset="-122"/>
              </a:rPr>
              <a:t>POP3</a:t>
            </a:r>
            <a:r>
              <a:rPr lang="zh-CN" altLang="en-US" sz="2000" b="1" dirty="0">
                <a:solidFill>
                  <a:srgbClr val="C00000"/>
                </a:solidFill>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邮局协议 </a:t>
            </a:r>
            <a:r>
              <a:rPr lang="en-US" altLang="zh-CN" sz="2000" b="1" dirty="0">
                <a:latin typeface="微软雅黑 Light" panose="020B0502040204020203" pitchFamily="34" charset="-122"/>
                <a:ea typeface="微软雅黑 Light" panose="020B0502040204020203" pitchFamily="34" charset="-122"/>
              </a:rPr>
              <a:t>(Post Office Protocol) </a:t>
            </a:r>
            <a:r>
              <a:rPr lang="zh-CN" altLang="en-US" sz="2000" b="1" dirty="0">
                <a:latin typeface="微软雅黑 Light" panose="020B0502040204020203" pitchFamily="34" charset="-122"/>
                <a:ea typeface="微软雅黑 Light" panose="020B0502040204020203" pitchFamily="34" charset="-122"/>
              </a:rPr>
              <a:t>第</a:t>
            </a:r>
            <a:r>
              <a:rPr lang="en-US" altLang="zh-CN" sz="2000" b="1" dirty="0">
                <a:latin typeface="微软雅黑 Light" panose="020B0502040204020203" pitchFamily="34" charset="-122"/>
                <a:ea typeface="微软雅黑 Light" panose="020B0502040204020203" pitchFamily="34" charset="-122"/>
              </a:rPr>
              <a:t>3</a:t>
            </a:r>
            <a:r>
              <a:rPr lang="zh-CN" altLang="en-US" sz="2000" b="1" dirty="0">
                <a:latin typeface="微软雅黑 Light" panose="020B0502040204020203" pitchFamily="34" charset="-122"/>
                <a:ea typeface="微软雅黑 Light" panose="020B0502040204020203" pitchFamily="34" charset="-122"/>
              </a:rPr>
              <a:t>个版本 </a:t>
            </a:r>
            <a:endParaRPr lang="en-US" altLang="zh-CN" sz="2000" b="1" dirty="0">
              <a:latin typeface="微软雅黑 Light" panose="020B0502040204020203" pitchFamily="34" charset="-122"/>
              <a:ea typeface="微软雅黑 Light" panose="020B0502040204020203" pitchFamily="34" charset="-122"/>
            </a:endParaRPr>
          </a:p>
          <a:p>
            <a:pPr marL="357188" indent="-357188" eaLnBrk="0" hangingPunct="0">
              <a:lnSpc>
                <a:spcPts val="3300"/>
              </a:lnSpc>
              <a:buClr>
                <a:srgbClr val="9900CC"/>
              </a:buClr>
              <a:buFont typeface="+mj-lt"/>
              <a:buAutoNum type="arabicPeriod"/>
            </a:pPr>
            <a:r>
              <a:rPr lang="en-US" altLang="zh-CN" sz="2000" b="1" dirty="0">
                <a:solidFill>
                  <a:srgbClr val="C00000"/>
                </a:solidFill>
                <a:latin typeface="微软雅黑 Light" panose="020B0502040204020203" pitchFamily="34" charset="-122"/>
                <a:ea typeface="微软雅黑 Light" panose="020B0502040204020203" pitchFamily="34" charset="-122"/>
              </a:rPr>
              <a:t>IMAP</a:t>
            </a:r>
            <a:r>
              <a:rPr lang="zh-CN" altLang="en-US" sz="2000" b="1" dirty="0">
                <a:solidFill>
                  <a:srgbClr val="C00000"/>
                </a:solidFill>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网际报文存取协议</a:t>
            </a:r>
            <a:r>
              <a:rPr lang="en-US" altLang="zh-CN" sz="2000" b="1" dirty="0">
                <a:latin typeface="微软雅黑 Light" panose="020B0502040204020203" pitchFamily="34" charset="-122"/>
                <a:ea typeface="微软雅黑 Light" panose="020B0502040204020203" pitchFamily="34" charset="-122"/>
              </a:rPr>
              <a:t> (Internet Message Access Protocol)</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圆角矩形 36"/>
          <p:cNvSpPr/>
          <p:nvPr/>
        </p:nvSpPr>
        <p:spPr>
          <a:xfrm>
            <a:off x="1371509" y="1288278"/>
            <a:ext cx="6194639" cy="2126256"/>
          </a:xfrm>
          <a:prstGeom prst="roundRect">
            <a:avLst/>
          </a:prstGeom>
          <a:solidFill>
            <a:schemeClr val="bg1"/>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Rectangle 386"/>
          <p:cNvSpPr>
            <a:spLocks noChangeArrowheads="1"/>
          </p:cNvSpPr>
          <p:nvPr/>
        </p:nvSpPr>
        <p:spPr bwMode="auto">
          <a:xfrm>
            <a:off x="2907058" y="1858273"/>
            <a:ext cx="680437" cy="13465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 name="Rectangle 387"/>
          <p:cNvSpPr>
            <a:spLocks noChangeArrowheads="1"/>
          </p:cNvSpPr>
          <p:nvPr/>
        </p:nvSpPr>
        <p:spPr bwMode="auto">
          <a:xfrm>
            <a:off x="1544934" y="1858273"/>
            <a:ext cx="680437" cy="1346517"/>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 name="Line 388"/>
          <p:cNvSpPr>
            <a:spLocks noChangeShapeType="1"/>
          </p:cNvSpPr>
          <p:nvPr/>
        </p:nvSpPr>
        <p:spPr bwMode="auto">
          <a:xfrm>
            <a:off x="2021489" y="2201045"/>
            <a:ext cx="94185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 name="Oval 397"/>
          <p:cNvSpPr>
            <a:spLocks noChangeArrowheads="1"/>
          </p:cNvSpPr>
          <p:nvPr/>
        </p:nvSpPr>
        <p:spPr bwMode="auto">
          <a:xfrm>
            <a:off x="1601220" y="1922159"/>
            <a:ext cx="566615"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 name="Oval 405"/>
          <p:cNvSpPr>
            <a:spLocks noChangeArrowheads="1"/>
          </p:cNvSpPr>
          <p:nvPr/>
        </p:nvSpPr>
        <p:spPr bwMode="auto">
          <a:xfrm>
            <a:off x="2964596" y="1922159"/>
            <a:ext cx="566615" cy="556545"/>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13" name="Oval 406"/>
          <p:cNvSpPr>
            <a:spLocks noChangeArrowheads="1"/>
          </p:cNvSpPr>
          <p:nvPr/>
        </p:nvSpPr>
        <p:spPr bwMode="auto">
          <a:xfrm>
            <a:off x="2964596" y="2535218"/>
            <a:ext cx="566615"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 name="Text Box 399"/>
          <p:cNvSpPr txBox="1">
            <a:spLocks noChangeArrowheads="1"/>
          </p:cNvSpPr>
          <p:nvPr/>
        </p:nvSpPr>
        <p:spPr bwMode="auto">
          <a:xfrm>
            <a:off x="616510" y="1386501"/>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发件人</a:t>
            </a:r>
          </a:p>
        </p:txBody>
      </p:sp>
      <p:graphicFrame>
        <p:nvGraphicFramePr>
          <p:cNvPr id="15" name="对象 14"/>
          <p:cNvGraphicFramePr>
            <a:graphicFrameLocks noChangeAspect="1"/>
          </p:cNvGraphicFramePr>
          <p:nvPr>
            <p:extLst>
              <p:ext uri="{D42A27DB-BD31-4B8C-83A1-F6EECF244321}">
                <p14:modId xmlns:p14="http://schemas.microsoft.com/office/powerpoint/2010/main" val="987497209"/>
              </p:ext>
            </p:extLst>
          </p:nvPr>
        </p:nvGraphicFramePr>
        <p:xfrm>
          <a:off x="762658" y="189825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0"/>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762658" y="189825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 name="Rectangle 385"/>
          <p:cNvSpPr>
            <a:spLocks noChangeArrowheads="1"/>
          </p:cNvSpPr>
          <p:nvPr/>
        </p:nvSpPr>
        <p:spPr bwMode="auto">
          <a:xfrm>
            <a:off x="6723401" y="1866874"/>
            <a:ext cx="680437" cy="1337917"/>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 name="Oval 398"/>
          <p:cNvSpPr>
            <a:spLocks noChangeArrowheads="1"/>
          </p:cNvSpPr>
          <p:nvPr/>
        </p:nvSpPr>
        <p:spPr bwMode="auto">
          <a:xfrm>
            <a:off x="6779688" y="1922159"/>
            <a:ext cx="566614"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0" name="Rectangle 401"/>
          <p:cNvSpPr>
            <a:spLocks noChangeArrowheads="1"/>
          </p:cNvSpPr>
          <p:nvPr/>
        </p:nvSpPr>
        <p:spPr bwMode="auto">
          <a:xfrm>
            <a:off x="5362526" y="1866874"/>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1" name="Oval 402"/>
          <p:cNvSpPr>
            <a:spLocks noChangeArrowheads="1"/>
          </p:cNvSpPr>
          <p:nvPr/>
        </p:nvSpPr>
        <p:spPr bwMode="auto">
          <a:xfrm>
            <a:off x="5418813" y="2535218"/>
            <a:ext cx="566614" cy="55654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2" name="Oval 403"/>
          <p:cNvSpPr>
            <a:spLocks noChangeArrowheads="1"/>
          </p:cNvSpPr>
          <p:nvPr/>
        </p:nvSpPr>
        <p:spPr bwMode="auto">
          <a:xfrm>
            <a:off x="5418813" y="1922159"/>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grpSp>
        <p:nvGrpSpPr>
          <p:cNvPr id="4" name="组合 3"/>
          <p:cNvGrpSpPr/>
          <p:nvPr/>
        </p:nvGrpSpPr>
        <p:grpSpPr>
          <a:xfrm>
            <a:off x="2262718" y="1514102"/>
            <a:ext cx="548548" cy="1190307"/>
            <a:chOff x="2262718" y="1525813"/>
            <a:chExt cx="548548" cy="1190307"/>
          </a:xfrm>
        </p:grpSpPr>
        <p:sp>
          <p:nvSpPr>
            <p:cNvPr id="9" name="Text Box 391"/>
            <p:cNvSpPr txBox="1">
              <a:spLocks noChangeArrowheads="1"/>
            </p:cNvSpPr>
            <p:nvPr/>
          </p:nvSpPr>
          <p:spPr bwMode="auto">
            <a:xfrm>
              <a:off x="2282161" y="1525813"/>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10" name="Text Box 394"/>
            <p:cNvSpPr txBox="1">
              <a:spLocks noChangeArrowheads="1"/>
            </p:cNvSpPr>
            <p:nvPr/>
          </p:nvSpPr>
          <p:spPr bwMode="auto">
            <a:xfrm>
              <a:off x="2296294" y="2239066"/>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24" name="Text Box 389"/>
            <p:cNvSpPr txBox="1">
              <a:spLocks noChangeArrowheads="1"/>
            </p:cNvSpPr>
            <p:nvPr/>
          </p:nvSpPr>
          <p:spPr bwMode="auto">
            <a:xfrm>
              <a:off x="2262718" y="1920130"/>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sp>
        <p:nvSpPr>
          <p:cNvPr id="25" name="Text Box 396"/>
          <p:cNvSpPr txBox="1">
            <a:spLocks noChangeArrowheads="1"/>
          </p:cNvSpPr>
          <p:nvPr/>
        </p:nvSpPr>
        <p:spPr bwMode="auto">
          <a:xfrm>
            <a:off x="2805314" y="138650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发送方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6" name="Text Box 399"/>
          <p:cNvSpPr txBox="1">
            <a:spLocks noChangeArrowheads="1"/>
          </p:cNvSpPr>
          <p:nvPr/>
        </p:nvSpPr>
        <p:spPr bwMode="auto">
          <a:xfrm>
            <a:off x="1509292" y="138650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grpSp>
        <p:nvGrpSpPr>
          <p:cNvPr id="23" name="组合 22"/>
          <p:cNvGrpSpPr/>
          <p:nvPr/>
        </p:nvGrpSpPr>
        <p:grpSpPr>
          <a:xfrm>
            <a:off x="6069378" y="1532702"/>
            <a:ext cx="545342" cy="1149867"/>
            <a:chOff x="6069378" y="1489328"/>
            <a:chExt cx="545342" cy="1149867"/>
          </a:xfrm>
        </p:grpSpPr>
        <p:sp>
          <p:nvSpPr>
            <p:cNvPr id="17" name="Text Box 393"/>
            <p:cNvSpPr txBox="1">
              <a:spLocks noChangeArrowheads="1"/>
            </p:cNvSpPr>
            <p:nvPr/>
          </p:nvSpPr>
          <p:spPr bwMode="auto">
            <a:xfrm>
              <a:off x="6089388" y="148932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18" name="Text Box 395"/>
            <p:cNvSpPr txBox="1">
              <a:spLocks noChangeArrowheads="1"/>
            </p:cNvSpPr>
            <p:nvPr/>
          </p:nvSpPr>
          <p:spPr bwMode="auto">
            <a:xfrm>
              <a:off x="6105400" y="2162141"/>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27" name="Text Box 390"/>
            <p:cNvSpPr txBox="1">
              <a:spLocks noChangeArrowheads="1"/>
            </p:cNvSpPr>
            <p:nvPr/>
          </p:nvSpPr>
          <p:spPr bwMode="auto">
            <a:xfrm>
              <a:off x="6069378" y="1863997"/>
              <a:ext cx="545342"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POP3</a:t>
              </a:r>
            </a:p>
          </p:txBody>
        </p:sp>
      </p:grpSp>
      <p:sp>
        <p:nvSpPr>
          <p:cNvPr id="28" name="Text Box 400"/>
          <p:cNvSpPr txBox="1">
            <a:spLocks noChangeArrowheads="1"/>
          </p:cNvSpPr>
          <p:nvPr/>
        </p:nvSpPr>
        <p:spPr bwMode="auto">
          <a:xfrm>
            <a:off x="5248753" y="138650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9" name="Text Box 407"/>
          <p:cNvSpPr txBox="1">
            <a:spLocks noChangeArrowheads="1"/>
          </p:cNvSpPr>
          <p:nvPr/>
        </p:nvSpPr>
        <p:spPr bwMode="auto">
          <a:xfrm>
            <a:off x="6695563" y="138650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0" name="Line 408"/>
          <p:cNvSpPr>
            <a:spLocks noChangeShapeType="1"/>
          </p:cNvSpPr>
          <p:nvPr/>
        </p:nvSpPr>
        <p:spPr bwMode="auto">
          <a:xfrm flipV="1">
            <a:off x="5985427" y="2201045"/>
            <a:ext cx="794261"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graphicFrame>
        <p:nvGraphicFramePr>
          <p:cNvPr id="31" name="对象 30"/>
          <p:cNvGraphicFramePr>
            <a:graphicFrameLocks noChangeAspect="1"/>
          </p:cNvGraphicFramePr>
          <p:nvPr>
            <p:extLst>
              <p:ext uri="{D42A27DB-BD31-4B8C-83A1-F6EECF244321}">
                <p14:modId xmlns:p14="http://schemas.microsoft.com/office/powerpoint/2010/main" val="736628236"/>
              </p:ext>
            </p:extLst>
          </p:nvPr>
        </p:nvGraphicFramePr>
        <p:xfrm>
          <a:off x="7632442" y="189825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1"/>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632442" y="189825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2" name="Text Box 399"/>
          <p:cNvSpPr txBox="1">
            <a:spLocks noChangeArrowheads="1"/>
          </p:cNvSpPr>
          <p:nvPr/>
        </p:nvSpPr>
        <p:spPr bwMode="auto">
          <a:xfrm>
            <a:off x="7702778" y="1386501"/>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收件人</a:t>
            </a:r>
          </a:p>
        </p:txBody>
      </p:sp>
      <p:grpSp>
        <p:nvGrpSpPr>
          <p:cNvPr id="33" name="组合 32"/>
          <p:cNvGrpSpPr/>
          <p:nvPr/>
        </p:nvGrpSpPr>
        <p:grpSpPr>
          <a:xfrm>
            <a:off x="3515714" y="2533989"/>
            <a:ext cx="1928643" cy="728201"/>
            <a:chOff x="3473673" y="2734550"/>
            <a:chExt cx="3063219" cy="728201"/>
          </a:xfrm>
        </p:grpSpPr>
        <p:sp>
          <p:nvSpPr>
            <p:cNvPr id="34" name="Text Box 392"/>
            <p:cNvSpPr txBox="1">
              <a:spLocks noChangeArrowheads="1"/>
            </p:cNvSpPr>
            <p:nvPr/>
          </p:nvSpPr>
          <p:spPr bwMode="auto">
            <a:xfrm>
              <a:off x="4095558" y="2734550"/>
              <a:ext cx="183363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sp>
          <p:nvSpPr>
            <p:cNvPr id="35" name="Line 404"/>
            <p:cNvSpPr>
              <a:spLocks noChangeShapeType="1"/>
            </p:cNvSpPr>
            <p:nvPr/>
          </p:nvSpPr>
          <p:spPr bwMode="auto">
            <a:xfrm flipV="1">
              <a:off x="3473673" y="3014665"/>
              <a:ext cx="3063219"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b="1" dirty="0">
                <a:latin typeface="微软雅黑 Light" panose="020B0502040204020203" pitchFamily="34" charset="-122"/>
                <a:ea typeface="微软雅黑 Light" panose="020B0502040204020203" pitchFamily="34" charset="-122"/>
              </a:endParaRPr>
            </a:p>
          </p:txBody>
        </p:sp>
        <p:sp>
          <p:nvSpPr>
            <p:cNvPr id="36" name="Text Box 409"/>
            <p:cNvSpPr txBox="1">
              <a:spLocks noChangeArrowheads="1"/>
            </p:cNvSpPr>
            <p:nvPr/>
          </p:nvSpPr>
          <p:spPr bwMode="auto">
            <a:xfrm>
              <a:off x="4627936" y="3031864"/>
              <a:ext cx="79741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grpSp>
      <p:sp>
        <p:nvSpPr>
          <p:cNvPr id="38" name="矩形 37"/>
          <p:cNvSpPr/>
          <p:nvPr/>
        </p:nvSpPr>
        <p:spPr>
          <a:xfrm>
            <a:off x="1470662" y="3585215"/>
            <a:ext cx="6331270" cy="656590"/>
          </a:xfrm>
          <a:prstGeom prst="rect">
            <a:avLst/>
          </a:prstGeom>
        </p:spPr>
        <p:txBody>
          <a:bodyPr wrap="square" anchor="ctr">
            <a:spAutoFit/>
          </a:bodyPr>
          <a:lstStyle/>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POP3 </a:t>
            </a:r>
            <a:r>
              <a:rPr lang="zh-CN" altLang="en-US" sz="1600" b="1" dirty="0">
                <a:latin typeface="微软雅黑 Light" panose="020B0502040204020203" pitchFamily="34" charset="-122"/>
                <a:ea typeface="微软雅黑 Light" panose="020B0502040204020203" pitchFamily="34" charset="-122"/>
              </a:rPr>
              <a:t>使用</a:t>
            </a:r>
            <a:r>
              <a:rPr lang="zh-CN" altLang="en-US" sz="16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1600" b="1" dirty="0">
                <a:latin typeface="微软雅黑 Light" panose="020B0502040204020203" pitchFamily="34" charset="-122"/>
                <a:ea typeface="微软雅黑 Light" panose="020B0502040204020203" pitchFamily="34" charset="-122"/>
              </a:rPr>
              <a:t>方式。</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POP3 </a:t>
            </a:r>
            <a:r>
              <a:rPr lang="zh-CN" altLang="en-US" sz="1600" b="1" dirty="0">
                <a:solidFill>
                  <a:srgbClr val="C00000"/>
                </a:solidFill>
                <a:latin typeface="微软雅黑 Light" panose="020B0502040204020203" pitchFamily="34" charset="-122"/>
                <a:ea typeface="微软雅黑 Light" panose="020B0502040204020203" pitchFamily="34" charset="-122"/>
              </a:rPr>
              <a:t>基于 </a:t>
            </a:r>
            <a:r>
              <a:rPr lang="en-US" altLang="zh-CN" sz="1600" b="1" dirty="0">
                <a:solidFill>
                  <a:srgbClr val="C00000"/>
                </a:solidFill>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实现客户与服务器的通信。</a:t>
            </a:r>
            <a:endParaRPr lang="en-US" altLang="zh-CN" sz="1600" b="1" dirty="0">
              <a:latin typeface="微软雅黑 Light" panose="020B0502040204020203" pitchFamily="34" charset="-122"/>
              <a:ea typeface="微软雅黑 Light" panose="020B0502040204020203" pitchFamily="34" charset="-122"/>
            </a:endParaRPr>
          </a:p>
        </p:txBody>
      </p:sp>
      <p:sp>
        <p:nvSpPr>
          <p:cNvPr id="41" name="AutoShape 5"/>
          <p:cNvSpPr>
            <a:spLocks noChangeArrowheads="1"/>
          </p:cNvSpPr>
          <p:nvPr/>
        </p:nvSpPr>
        <p:spPr bwMode="auto">
          <a:xfrm>
            <a:off x="556963" y="60098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2" name="Rectangle 6"/>
          <p:cNvSpPr>
            <a:spLocks noChangeArrowheads="1"/>
          </p:cNvSpPr>
          <p:nvPr/>
        </p:nvSpPr>
        <p:spPr bwMode="auto">
          <a:xfrm>
            <a:off x="3828346" y="567770"/>
            <a:ext cx="14798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协议</a:t>
            </a:r>
          </a:p>
        </p:txBody>
      </p:sp>
    </p:spTree>
    <p:extLst>
      <p:ext uri="{BB962C8B-B14F-4D97-AF65-F5344CB8AC3E}">
        <p14:creationId xmlns:p14="http://schemas.microsoft.com/office/powerpoint/2010/main" val="41299357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385"/>
          <p:cNvSpPr>
            <a:spLocks noChangeArrowheads="1"/>
          </p:cNvSpPr>
          <p:nvPr/>
        </p:nvSpPr>
        <p:spPr bwMode="auto">
          <a:xfrm>
            <a:off x="6091422" y="1700732"/>
            <a:ext cx="680437" cy="1337917"/>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 name="Oval 398"/>
          <p:cNvSpPr>
            <a:spLocks noChangeArrowheads="1"/>
          </p:cNvSpPr>
          <p:nvPr/>
        </p:nvSpPr>
        <p:spPr bwMode="auto">
          <a:xfrm>
            <a:off x="6147709" y="1756017"/>
            <a:ext cx="566614"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0" name="Rectangle 401"/>
          <p:cNvSpPr>
            <a:spLocks noChangeArrowheads="1"/>
          </p:cNvSpPr>
          <p:nvPr/>
        </p:nvSpPr>
        <p:spPr bwMode="auto">
          <a:xfrm>
            <a:off x="2377527" y="1700732"/>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1" name="Oval 402"/>
          <p:cNvSpPr>
            <a:spLocks noChangeArrowheads="1"/>
          </p:cNvSpPr>
          <p:nvPr/>
        </p:nvSpPr>
        <p:spPr bwMode="auto">
          <a:xfrm>
            <a:off x="2433814" y="2369076"/>
            <a:ext cx="566614" cy="55654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2" name="Oval 403"/>
          <p:cNvSpPr>
            <a:spLocks noChangeArrowheads="1"/>
          </p:cNvSpPr>
          <p:nvPr/>
        </p:nvSpPr>
        <p:spPr bwMode="auto">
          <a:xfrm>
            <a:off x="2433814" y="1756017"/>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17" name="Text Box 393"/>
          <p:cNvSpPr txBox="1">
            <a:spLocks noChangeArrowheads="1"/>
          </p:cNvSpPr>
          <p:nvPr/>
        </p:nvSpPr>
        <p:spPr bwMode="auto">
          <a:xfrm>
            <a:off x="3455860" y="1416541"/>
            <a:ext cx="2339102" cy="2846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lnSpc>
                <a:spcPts val="1500"/>
              </a:lnSpc>
            </a:pPr>
            <a:r>
              <a:rPr kumimoji="1" lang="zh-CN" altLang="en-US" sz="1400" b="1" dirty="0">
                <a:solidFill>
                  <a:srgbClr val="0000FF"/>
                </a:solidFill>
                <a:latin typeface="微软雅黑 Light" panose="020B0502040204020203" pitchFamily="34" charset="-122"/>
                <a:ea typeface="微软雅黑 Light" panose="020B0502040204020203" pitchFamily="34" charset="-122"/>
              </a:rPr>
              <a:t>你是谁？（用户名和口令）</a:t>
            </a:r>
          </a:p>
        </p:txBody>
      </p:sp>
      <p:sp>
        <p:nvSpPr>
          <p:cNvPr id="27" name="Text Box 390"/>
          <p:cNvSpPr txBox="1">
            <a:spLocks noChangeArrowheads="1"/>
          </p:cNvSpPr>
          <p:nvPr/>
        </p:nvSpPr>
        <p:spPr bwMode="auto">
          <a:xfrm>
            <a:off x="4437883" y="1793305"/>
            <a:ext cx="643125" cy="2846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400" b="1" dirty="0">
                <a:solidFill>
                  <a:srgbClr val="C00000"/>
                </a:solidFill>
                <a:latin typeface="微软雅黑 Light" panose="020B0502040204020203" pitchFamily="34" charset="-122"/>
                <a:ea typeface="微软雅黑 Light" panose="020B0502040204020203" pitchFamily="34" charset="-122"/>
              </a:rPr>
              <a:t>POP3</a:t>
            </a:r>
          </a:p>
        </p:txBody>
      </p:sp>
      <p:sp>
        <p:nvSpPr>
          <p:cNvPr id="28" name="Text Box 400"/>
          <p:cNvSpPr txBox="1">
            <a:spLocks noChangeArrowheads="1"/>
          </p:cNvSpPr>
          <p:nvPr/>
        </p:nvSpPr>
        <p:spPr bwMode="auto">
          <a:xfrm>
            <a:off x="2263754" y="1220359"/>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9" name="Text Box 407"/>
          <p:cNvSpPr txBox="1">
            <a:spLocks noChangeArrowheads="1"/>
          </p:cNvSpPr>
          <p:nvPr/>
        </p:nvSpPr>
        <p:spPr bwMode="auto">
          <a:xfrm>
            <a:off x="6063584" y="1220359"/>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0" name="Line 408"/>
          <p:cNvSpPr>
            <a:spLocks noChangeShapeType="1"/>
          </p:cNvSpPr>
          <p:nvPr/>
        </p:nvSpPr>
        <p:spPr bwMode="auto">
          <a:xfrm flipV="1">
            <a:off x="3000429" y="2034903"/>
            <a:ext cx="314728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38" name="矩形 37"/>
          <p:cNvSpPr/>
          <p:nvPr/>
        </p:nvSpPr>
        <p:spPr>
          <a:xfrm>
            <a:off x="2263754" y="3212226"/>
            <a:ext cx="5221263" cy="656590"/>
          </a:xfrm>
          <a:prstGeom prst="rect">
            <a:avLst/>
          </a:prstGeom>
        </p:spPr>
        <p:txBody>
          <a:bodyPr wrap="square" anchor="ctr">
            <a:spAutoFit/>
          </a:bodyPr>
          <a:lstStyle/>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POP3 </a:t>
            </a:r>
            <a:r>
              <a:rPr lang="zh-CN" altLang="en-US" sz="1600" b="1" dirty="0">
                <a:latin typeface="微软雅黑 Light" panose="020B0502040204020203" pitchFamily="34" charset="-122"/>
                <a:ea typeface="微软雅黑 Light" panose="020B0502040204020203" pitchFamily="34" charset="-122"/>
              </a:rPr>
              <a:t>支持用户</a:t>
            </a:r>
            <a:r>
              <a:rPr lang="zh-CN" altLang="en-US" sz="1600" b="1" dirty="0">
                <a:solidFill>
                  <a:srgbClr val="C00000"/>
                </a:solidFill>
                <a:latin typeface="微软雅黑 Light" panose="020B0502040204020203" pitchFamily="34" charset="-122"/>
                <a:ea typeface="微软雅黑 Light" panose="020B0502040204020203" pitchFamily="34" charset="-122"/>
              </a:rPr>
              <a:t>鉴别</a:t>
            </a:r>
            <a:r>
              <a:rPr lang="zh-CN" altLang="en-US" sz="1600" b="1" dirty="0">
                <a:latin typeface="微软雅黑 Light" panose="020B0502040204020203" pitchFamily="34" charset="-122"/>
                <a:ea typeface="微软雅黑 Light" panose="020B0502040204020203" pitchFamily="34" charset="-122"/>
              </a:rPr>
              <a:t>。</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POP3 </a:t>
            </a:r>
            <a:r>
              <a:rPr lang="zh-CN" altLang="en-US" sz="1600" b="1" dirty="0">
                <a:latin typeface="微软雅黑 Light" panose="020B0502040204020203" pitchFamily="34" charset="-122"/>
                <a:ea typeface="微软雅黑 Light" panose="020B0502040204020203" pitchFamily="34" charset="-122"/>
              </a:rPr>
              <a:t>服务器</a:t>
            </a:r>
            <a:r>
              <a:rPr lang="zh-CN" altLang="en-US" sz="1600" b="1" dirty="0">
                <a:solidFill>
                  <a:srgbClr val="C00000"/>
                </a:solidFill>
                <a:latin typeface="微软雅黑 Light" panose="020B0502040204020203" pitchFamily="34" charset="-122"/>
                <a:ea typeface="微软雅黑 Light" panose="020B0502040204020203" pitchFamily="34" charset="-122"/>
              </a:rPr>
              <a:t>删除</a:t>
            </a:r>
            <a:r>
              <a:rPr lang="zh-CN" altLang="en-US" sz="1600" b="1" dirty="0">
                <a:latin typeface="微软雅黑 Light" panose="020B0502040204020203" pitchFamily="34" charset="-122"/>
                <a:ea typeface="微软雅黑 Light" panose="020B0502040204020203" pitchFamily="34" charset="-122"/>
              </a:rPr>
              <a:t>被用户读取了的邮件。</a:t>
            </a:r>
            <a:endParaRPr lang="en-US" altLang="zh-CN" sz="1600" b="1" dirty="0">
              <a:latin typeface="微软雅黑 Light" panose="020B0502040204020203" pitchFamily="34" charset="-122"/>
              <a:ea typeface="微软雅黑 Light" panose="020B0502040204020203" pitchFamily="34" charset="-122"/>
            </a:endParaRPr>
          </a:p>
        </p:txBody>
      </p:sp>
      <p:sp>
        <p:nvSpPr>
          <p:cNvPr id="39" name="AutoShape 5"/>
          <p:cNvSpPr>
            <a:spLocks noChangeArrowheads="1"/>
          </p:cNvSpPr>
          <p:nvPr/>
        </p:nvSpPr>
        <p:spPr bwMode="auto">
          <a:xfrm>
            <a:off x="556963" y="60098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0" name="Rectangle 6"/>
          <p:cNvSpPr>
            <a:spLocks noChangeArrowheads="1"/>
          </p:cNvSpPr>
          <p:nvPr/>
        </p:nvSpPr>
        <p:spPr bwMode="auto">
          <a:xfrm>
            <a:off x="3828346" y="567770"/>
            <a:ext cx="14798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协议</a:t>
            </a:r>
          </a:p>
        </p:txBody>
      </p:sp>
      <p:graphicFrame>
        <p:nvGraphicFramePr>
          <p:cNvPr id="3" name="对象 2"/>
          <p:cNvGraphicFramePr>
            <a:graphicFrameLocks noChangeAspect="1"/>
          </p:cNvGraphicFramePr>
          <p:nvPr>
            <p:extLst>
              <p:ext uri="{D42A27DB-BD31-4B8C-83A1-F6EECF244321}">
                <p14:modId xmlns:p14="http://schemas.microsoft.com/office/powerpoint/2010/main" val="3371438583"/>
              </p:ext>
            </p:extLst>
          </p:nvPr>
        </p:nvGraphicFramePr>
        <p:xfrm>
          <a:off x="4006897" y="1721272"/>
          <a:ext cx="325507" cy="529316"/>
        </p:xfrm>
        <a:graphic>
          <a:graphicData uri="http://schemas.openxmlformats.org/presentationml/2006/ole">
            <mc:AlternateContent xmlns:mc="http://schemas.openxmlformats.org/markup-compatibility/2006">
              <mc:Choice xmlns:v="urn:schemas-microsoft-com:vml" Requires="v">
                <p:oleObj name="Visio" r:id="rId2" imgW="795436" imgH="1560250" progId="">
                  <p:embed/>
                </p:oleObj>
              </mc:Choice>
              <mc:Fallback>
                <p:oleObj name="Visio" r:id="rId2" imgW="795436" imgH="1560250"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6897" y="1721272"/>
                        <a:ext cx="325507" cy="5293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 name="Text Box 395"/>
          <p:cNvSpPr txBox="1">
            <a:spLocks noChangeArrowheads="1"/>
          </p:cNvSpPr>
          <p:nvPr/>
        </p:nvSpPr>
        <p:spPr bwMode="auto">
          <a:xfrm>
            <a:off x="4303388" y="2023308"/>
            <a:ext cx="904719" cy="271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385"/>
          <p:cNvSpPr>
            <a:spLocks noChangeArrowheads="1"/>
          </p:cNvSpPr>
          <p:nvPr/>
        </p:nvSpPr>
        <p:spPr bwMode="auto">
          <a:xfrm>
            <a:off x="6091422" y="1618677"/>
            <a:ext cx="680437" cy="1337917"/>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 name="Oval 398"/>
          <p:cNvSpPr>
            <a:spLocks noChangeArrowheads="1"/>
          </p:cNvSpPr>
          <p:nvPr/>
        </p:nvSpPr>
        <p:spPr bwMode="auto">
          <a:xfrm>
            <a:off x="6147709" y="1673962"/>
            <a:ext cx="566614"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IMAP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0" name="Rectangle 401"/>
          <p:cNvSpPr>
            <a:spLocks noChangeArrowheads="1"/>
          </p:cNvSpPr>
          <p:nvPr/>
        </p:nvSpPr>
        <p:spPr bwMode="auto">
          <a:xfrm>
            <a:off x="2377527" y="1618677"/>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1" name="Oval 402"/>
          <p:cNvSpPr>
            <a:spLocks noChangeArrowheads="1"/>
          </p:cNvSpPr>
          <p:nvPr/>
        </p:nvSpPr>
        <p:spPr bwMode="auto">
          <a:xfrm>
            <a:off x="2433814" y="2287021"/>
            <a:ext cx="566614" cy="55654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2" name="Oval 403"/>
          <p:cNvSpPr>
            <a:spLocks noChangeArrowheads="1"/>
          </p:cNvSpPr>
          <p:nvPr/>
        </p:nvSpPr>
        <p:spPr bwMode="auto">
          <a:xfrm>
            <a:off x="2433814" y="1673962"/>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IMAP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7" name="Text Box 390"/>
          <p:cNvSpPr txBox="1">
            <a:spLocks noChangeArrowheads="1"/>
          </p:cNvSpPr>
          <p:nvPr/>
        </p:nvSpPr>
        <p:spPr bwMode="auto">
          <a:xfrm>
            <a:off x="4309001" y="1689324"/>
            <a:ext cx="619080" cy="2846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400" b="1" dirty="0">
                <a:solidFill>
                  <a:srgbClr val="C00000"/>
                </a:solidFill>
                <a:latin typeface="微软雅黑 Light" panose="020B0502040204020203" pitchFamily="34" charset="-122"/>
                <a:ea typeface="微软雅黑 Light" panose="020B0502040204020203" pitchFamily="34" charset="-122"/>
              </a:rPr>
              <a:t>IMAP</a:t>
            </a:r>
          </a:p>
        </p:txBody>
      </p:sp>
      <p:sp>
        <p:nvSpPr>
          <p:cNvPr id="28" name="Text Box 400"/>
          <p:cNvSpPr txBox="1">
            <a:spLocks noChangeArrowheads="1"/>
          </p:cNvSpPr>
          <p:nvPr/>
        </p:nvSpPr>
        <p:spPr bwMode="auto">
          <a:xfrm>
            <a:off x="2263754" y="1138304"/>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9" name="Text Box 407"/>
          <p:cNvSpPr txBox="1">
            <a:spLocks noChangeArrowheads="1"/>
          </p:cNvSpPr>
          <p:nvPr/>
        </p:nvSpPr>
        <p:spPr bwMode="auto">
          <a:xfrm>
            <a:off x="6063584" y="1138304"/>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0" name="Line 408"/>
          <p:cNvSpPr>
            <a:spLocks noChangeShapeType="1"/>
          </p:cNvSpPr>
          <p:nvPr/>
        </p:nvSpPr>
        <p:spPr bwMode="auto">
          <a:xfrm flipV="1">
            <a:off x="3000429" y="1952848"/>
            <a:ext cx="314728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38" name="矩形 37"/>
          <p:cNvSpPr/>
          <p:nvPr/>
        </p:nvSpPr>
        <p:spPr>
          <a:xfrm>
            <a:off x="2263754" y="3105232"/>
            <a:ext cx="5221263" cy="1015663"/>
          </a:xfrm>
          <a:prstGeom prst="rect">
            <a:avLst/>
          </a:prstGeom>
        </p:spPr>
        <p:txBody>
          <a:bodyPr wrap="square" anchor="ctr">
            <a:spAutoFit/>
          </a:bodyPr>
          <a:lstStyle/>
          <a:p>
            <a:pPr marL="285750" indent="-285750">
              <a:lnSpc>
                <a:spcPts val="24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IMAP </a:t>
            </a:r>
            <a:r>
              <a:rPr lang="zh-CN" altLang="en-US" sz="1600" b="1" dirty="0">
                <a:latin typeface="微软雅黑 Light" panose="020B0502040204020203" pitchFamily="34" charset="-122"/>
                <a:ea typeface="微软雅黑 Light" panose="020B0502040204020203" pitchFamily="34" charset="-122"/>
              </a:rPr>
              <a:t>使用</a:t>
            </a:r>
            <a:r>
              <a:rPr lang="zh-CN" altLang="en-US" sz="1600" b="1" dirty="0">
                <a:solidFill>
                  <a:srgbClr val="C00000"/>
                </a:solidFill>
                <a:latin typeface="微软雅黑 Light" panose="020B0502040204020203" pitchFamily="34" charset="-122"/>
                <a:ea typeface="微软雅黑 Light" panose="020B0502040204020203" pitchFamily="34" charset="-122"/>
              </a:rPr>
              <a:t>客户服务</a:t>
            </a:r>
            <a:r>
              <a:rPr lang="zh-CN" altLang="en-US" sz="1600" b="1" dirty="0">
                <a:latin typeface="微软雅黑 Light" panose="020B0502040204020203" pitchFamily="34" charset="-122"/>
                <a:ea typeface="微软雅黑 Light" panose="020B0502040204020203" pitchFamily="34" charset="-122"/>
              </a:rPr>
              <a:t>器方式。</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4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IMAP </a:t>
            </a:r>
            <a:r>
              <a:rPr lang="zh-CN" altLang="en-US" sz="1600" b="1" dirty="0">
                <a:solidFill>
                  <a:srgbClr val="C00000"/>
                </a:solidFill>
                <a:latin typeface="微软雅黑 Light" panose="020B0502040204020203" pitchFamily="34" charset="-122"/>
                <a:ea typeface="微软雅黑 Light" panose="020B0502040204020203" pitchFamily="34" charset="-122"/>
              </a:rPr>
              <a:t>基于 </a:t>
            </a:r>
            <a:r>
              <a:rPr lang="en-US" altLang="zh-CN" sz="1600" b="1" dirty="0">
                <a:solidFill>
                  <a:srgbClr val="C00000"/>
                </a:solidFill>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实现客户与服务器的通信。</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4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IMAP </a:t>
            </a:r>
            <a:r>
              <a:rPr lang="zh-CN" altLang="en-US" sz="1600" b="1" dirty="0">
                <a:latin typeface="微软雅黑 Light" panose="020B0502040204020203" pitchFamily="34" charset="-122"/>
                <a:ea typeface="微软雅黑 Light" panose="020B0502040204020203" pitchFamily="34" charset="-122"/>
              </a:rPr>
              <a:t>是一个</a:t>
            </a:r>
            <a:r>
              <a:rPr lang="zh-CN" altLang="en-US" sz="1600" b="1" dirty="0">
                <a:solidFill>
                  <a:srgbClr val="C00000"/>
                </a:solidFill>
                <a:latin typeface="微软雅黑 Light" panose="020B0502040204020203" pitchFamily="34" charset="-122"/>
                <a:ea typeface="微软雅黑 Light" panose="020B0502040204020203" pitchFamily="34" charset="-122"/>
              </a:rPr>
              <a:t>联机</a:t>
            </a:r>
            <a:r>
              <a:rPr lang="zh-CN" altLang="en-US" sz="1600" b="1" dirty="0">
                <a:latin typeface="微软雅黑 Light" panose="020B0502040204020203" pitchFamily="34" charset="-122"/>
                <a:ea typeface="微软雅黑 Light" panose="020B0502040204020203" pitchFamily="34" charset="-122"/>
              </a:rPr>
              <a:t>协议。</a:t>
            </a:r>
            <a:endParaRPr lang="en-US" altLang="zh-CN" sz="1600" b="1" dirty="0">
              <a:latin typeface="微软雅黑 Light" panose="020B0502040204020203" pitchFamily="34" charset="-122"/>
              <a:ea typeface="微软雅黑 Light" panose="020B0502040204020203" pitchFamily="34" charset="-122"/>
            </a:endParaRPr>
          </a:p>
        </p:txBody>
      </p:sp>
      <p:sp>
        <p:nvSpPr>
          <p:cNvPr id="39" name="AutoShape 5"/>
          <p:cNvSpPr>
            <a:spLocks noChangeArrowheads="1"/>
          </p:cNvSpPr>
          <p:nvPr/>
        </p:nvSpPr>
        <p:spPr bwMode="auto">
          <a:xfrm>
            <a:off x="556963" y="60098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0" name="Rectangle 6"/>
          <p:cNvSpPr>
            <a:spLocks noChangeArrowheads="1"/>
          </p:cNvSpPr>
          <p:nvPr/>
        </p:nvSpPr>
        <p:spPr bwMode="auto">
          <a:xfrm>
            <a:off x="3872429" y="567770"/>
            <a:ext cx="13917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协议</a:t>
            </a:r>
          </a:p>
        </p:txBody>
      </p:sp>
      <p:sp>
        <p:nvSpPr>
          <p:cNvPr id="17" name="Text Box 395"/>
          <p:cNvSpPr txBox="1">
            <a:spLocks noChangeArrowheads="1"/>
          </p:cNvSpPr>
          <p:nvPr/>
        </p:nvSpPr>
        <p:spPr bwMode="auto">
          <a:xfrm>
            <a:off x="4170222" y="1943406"/>
            <a:ext cx="904719" cy="271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684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57251" y="573636"/>
            <a:ext cx="16482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的特点</a:t>
            </a:r>
          </a:p>
        </p:txBody>
      </p:sp>
      <p:sp>
        <p:nvSpPr>
          <p:cNvPr id="4" name="Rectangle 68"/>
          <p:cNvSpPr>
            <a:spLocks noChangeArrowheads="1"/>
          </p:cNvSpPr>
          <p:nvPr/>
        </p:nvSpPr>
        <p:spPr bwMode="auto">
          <a:xfrm>
            <a:off x="556963" y="967937"/>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连接后只下载</a:t>
            </a:r>
            <a:r>
              <a:rPr lang="zh-CN" altLang="en-US" sz="2000" b="1" dirty="0">
                <a:solidFill>
                  <a:srgbClr val="C00000"/>
                </a:solidFill>
                <a:latin typeface="微软雅黑 Light" panose="020B0502040204020203" pitchFamily="34" charset="-122"/>
                <a:ea typeface="微软雅黑 Light" panose="020B0502040204020203" pitchFamily="34" charset="-122"/>
              </a:rPr>
              <a:t>邮件首部</a:t>
            </a:r>
            <a:r>
              <a:rPr lang="zh-CN" altLang="en-US" sz="2000" b="1" dirty="0">
                <a:latin typeface="微软雅黑 Light" panose="020B0502040204020203" pitchFamily="34" charset="-122"/>
                <a:ea typeface="微软雅黑 Light" panose="020B0502040204020203" pitchFamily="34" charset="-122"/>
              </a:rPr>
              <a:t>（部分下载）。</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用户直接在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服务器上</a:t>
            </a:r>
            <a:r>
              <a:rPr lang="zh-CN" altLang="en-US" sz="2000" b="1" dirty="0">
                <a:solidFill>
                  <a:srgbClr val="C00000"/>
                </a:solidFill>
                <a:latin typeface="微软雅黑 Light" panose="020B0502040204020203" pitchFamily="34" charset="-122"/>
                <a:ea typeface="微软雅黑 Light" panose="020B0502040204020203" pitchFamily="34" charset="-122"/>
              </a:rPr>
              <a:t>创建和管理</a:t>
            </a:r>
            <a:r>
              <a:rPr lang="zh-CN" altLang="en-US" sz="2000" b="1" dirty="0">
                <a:latin typeface="微软雅黑 Light" panose="020B0502040204020203" pitchFamily="34" charset="-122"/>
                <a:ea typeface="微软雅黑 Light" panose="020B0502040204020203" pitchFamily="34" charset="-122"/>
              </a:rPr>
              <a:t>文件夹。</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用户可以</a:t>
            </a:r>
            <a:r>
              <a:rPr lang="zh-CN" altLang="en-US" sz="2000" b="1" dirty="0">
                <a:solidFill>
                  <a:srgbClr val="C00000"/>
                </a:solidFill>
                <a:latin typeface="微软雅黑 Light" panose="020B0502040204020203" pitchFamily="34" charset="-122"/>
                <a:ea typeface="微软雅黑 Light" panose="020B0502040204020203" pitchFamily="34" charset="-122"/>
              </a:rPr>
              <a:t>搜索</a:t>
            </a:r>
            <a:r>
              <a:rPr lang="zh-CN" altLang="en-US" sz="2000" b="1" dirty="0">
                <a:latin typeface="微软雅黑 Light" panose="020B0502040204020203" pitchFamily="34" charset="-122"/>
                <a:ea typeface="微软雅黑 Light" panose="020B0502040204020203" pitchFamily="34" charset="-122"/>
              </a:rPr>
              <a:t>邮件内容。</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用户可以在不同的地方使用不同的计算机随时上网阅读和处理自己的邮件。</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允许收信人</a:t>
            </a:r>
            <a:r>
              <a:rPr lang="zh-CN" altLang="en-US" sz="2000" b="1" dirty="0">
                <a:solidFill>
                  <a:srgbClr val="C00000"/>
                </a:solidFill>
                <a:latin typeface="微软雅黑 Light" panose="020B0502040204020203" pitchFamily="34" charset="-122"/>
                <a:ea typeface="微软雅黑 Light" panose="020B0502040204020203" pitchFamily="34" charset="-122"/>
              </a:rPr>
              <a:t>只读取</a:t>
            </a:r>
            <a:r>
              <a:rPr lang="zh-CN" altLang="en-US" sz="2000" b="1" dirty="0">
                <a:latin typeface="微软雅黑 Light" panose="020B0502040204020203" pitchFamily="34" charset="-122"/>
                <a:ea typeface="微软雅黑 Light" panose="020B0502040204020203" pitchFamily="34" charset="-122"/>
              </a:rPr>
              <a:t>邮件中的某一个部分。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CC00CC"/>
                </a:solidFill>
                <a:latin typeface="微软雅黑 Light" panose="020B0502040204020203" pitchFamily="34" charset="-122"/>
                <a:ea typeface="微软雅黑 Light" panose="020B0502040204020203" pitchFamily="34" charset="-122"/>
              </a:rPr>
              <a:t>缺点</a:t>
            </a:r>
            <a:r>
              <a:rPr lang="zh-CN" altLang="en-US" sz="2000" b="1" dirty="0">
                <a:latin typeface="微软雅黑 Light" panose="020B0502040204020203" pitchFamily="34" charset="-122"/>
                <a:ea typeface="微软雅黑 Light" panose="020B0502040204020203" pitchFamily="34" charset="-122"/>
              </a:rPr>
              <a:t>：要想查阅邮件，必须先联网。</a:t>
            </a:r>
          </a:p>
        </p:txBody>
      </p:sp>
    </p:spTree>
    <p:extLst>
      <p:ext uri="{BB962C8B-B14F-4D97-AF65-F5344CB8AC3E}">
        <p14:creationId xmlns:p14="http://schemas.microsoft.com/office/powerpoint/2010/main" val="30957560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34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0189"/>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graphicFrame>
        <p:nvGraphicFramePr>
          <p:cNvPr id="7" name="表格 6"/>
          <p:cNvGraphicFramePr>
            <a:graphicFrameLocks noGrp="1"/>
          </p:cNvGraphicFramePr>
          <p:nvPr>
            <p:extLst>
              <p:ext uri="{D42A27DB-BD31-4B8C-83A1-F6EECF244321}">
                <p14:modId xmlns:p14="http://schemas.microsoft.com/office/powerpoint/2010/main" val="699911378"/>
              </p:ext>
            </p:extLst>
          </p:nvPr>
        </p:nvGraphicFramePr>
        <p:xfrm>
          <a:off x="556963" y="1069695"/>
          <a:ext cx="8048775" cy="2548154"/>
        </p:xfrm>
        <a:graphic>
          <a:graphicData uri="http://schemas.openxmlformats.org/drawingml/2006/table">
            <a:tbl>
              <a:tblPr firstRow="1" bandRow="1">
                <a:tableStyleId>{5C22544A-7EE6-4342-B048-85BDC9FD1C3A}</a:tableStyleId>
              </a:tblPr>
              <a:tblGrid>
                <a:gridCol w="1354838">
                  <a:extLst>
                    <a:ext uri="{9D8B030D-6E8A-4147-A177-3AD203B41FA5}">
                      <a16:colId xmlns:a16="http://schemas.microsoft.com/office/drawing/2014/main" val="20000"/>
                    </a:ext>
                  </a:extLst>
                </a:gridCol>
                <a:gridCol w="3025325">
                  <a:extLst>
                    <a:ext uri="{9D8B030D-6E8A-4147-A177-3AD203B41FA5}">
                      <a16:colId xmlns:a16="http://schemas.microsoft.com/office/drawing/2014/main" val="20001"/>
                    </a:ext>
                  </a:extLst>
                </a:gridCol>
                <a:gridCol w="2279548">
                  <a:extLst>
                    <a:ext uri="{9D8B030D-6E8A-4147-A177-3AD203B41FA5}">
                      <a16:colId xmlns:a16="http://schemas.microsoft.com/office/drawing/2014/main" val="20002"/>
                    </a:ext>
                  </a:extLst>
                </a:gridCol>
                <a:gridCol w="1389064">
                  <a:extLst>
                    <a:ext uri="{9D8B030D-6E8A-4147-A177-3AD203B41FA5}">
                      <a16:colId xmlns:a16="http://schemas.microsoft.com/office/drawing/2014/main" val="20003"/>
                    </a:ext>
                  </a:extLst>
                </a:gridCol>
              </a:tblGrid>
              <a:tr h="364022">
                <a:tc>
                  <a:txBody>
                    <a:bodyPr/>
                    <a:lstStyle/>
                    <a:p>
                      <a:pPr algn="ctr"/>
                      <a:r>
                        <a:rPr lang="zh-CN" altLang="en-US" sz="1600" b="1" dirty="0">
                          <a:latin typeface="微软雅黑 Light" panose="020B0502040204020203" pitchFamily="34" charset="-122"/>
                          <a:ea typeface="微软雅黑 Light" panose="020B0502040204020203" pitchFamily="34" charset="-122"/>
                        </a:rPr>
                        <a:t>操作位置</a:t>
                      </a:r>
                    </a:p>
                  </a:txBody>
                  <a:tcPr anchor="ctr">
                    <a:solidFill>
                      <a:schemeClr val="accent5">
                        <a:lumMod val="7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600" b="1" dirty="0">
                          <a:latin typeface="微软雅黑 Light" panose="020B0502040204020203" pitchFamily="34" charset="-122"/>
                          <a:ea typeface="微软雅黑 Light" panose="020B0502040204020203" pitchFamily="34" charset="-122"/>
                        </a:rPr>
                        <a:t>操作内容</a:t>
                      </a:r>
                    </a:p>
                  </a:txBody>
                  <a:tcPr anchor="ctr">
                    <a:solidFill>
                      <a:schemeClr val="accent5">
                        <a:lumMod val="7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600" b="1" dirty="0">
                          <a:latin typeface="微软雅黑 Light" panose="020B0502040204020203" pitchFamily="34" charset="-122"/>
                          <a:ea typeface="微软雅黑 Light" panose="020B0502040204020203" pitchFamily="34" charset="-122"/>
                        </a:rPr>
                        <a:t>IMAP</a:t>
                      </a:r>
                    </a:p>
                  </a:txBody>
                  <a:tcPr anchor="ctr">
                    <a:solidFill>
                      <a:schemeClr val="accent5">
                        <a:lumMod val="7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600" b="1" dirty="0">
                          <a:latin typeface="微软雅黑 Light" panose="020B0502040204020203" pitchFamily="34" charset="-122"/>
                          <a:ea typeface="微软雅黑 Light" panose="020B0502040204020203" pitchFamily="34" charset="-122"/>
                        </a:rPr>
                        <a:t>POP3</a:t>
                      </a:r>
                      <a:endParaRPr lang="zh-CN" altLang="en-US" sz="1600" b="1" dirty="0">
                        <a:latin typeface="微软雅黑 Light" panose="020B0502040204020203" pitchFamily="34" charset="-122"/>
                        <a:ea typeface="微软雅黑 Light" panose="020B0502040204020203" pitchFamily="34" charset="-122"/>
                      </a:endParaRPr>
                    </a:p>
                  </a:txBody>
                  <a:tcPr anchor="ctr">
                    <a:solidFill>
                      <a:schemeClr val="accent5">
                        <a:lumMod val="75000"/>
                      </a:schemeClr>
                    </a:solidFill>
                  </a:tcPr>
                </a:tc>
                <a:extLst>
                  <a:ext uri="{0D108BD9-81ED-4DB2-BD59-A6C34878D82A}">
                    <a16:rowId xmlns:a16="http://schemas.microsoft.com/office/drawing/2014/main" val="10000"/>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收件箱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阅读、标记、移动、删除邮件等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客户端与邮箱更新同步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发件箱</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保存到已发送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客户端与邮箱更新同步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仅在客户端内</a:t>
                      </a:r>
                    </a:p>
                  </a:txBody>
                  <a:tcPr anchor="ctr">
                    <a:solidFill>
                      <a:srgbClr val="00FFCC"/>
                    </a:solidFill>
                  </a:tcPr>
                </a:tc>
                <a:extLst>
                  <a:ext uri="{0D108BD9-81ED-4DB2-BD59-A6C34878D82A}">
                    <a16:rowId xmlns:a16="http://schemas.microsoft.com/office/drawing/2014/main" val="10002"/>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创建文件夹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新建自定义的文件夹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客户端与邮箱更新同步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草稿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保存草稿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客户端与邮箱更新同步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仅在客户端内</a:t>
                      </a:r>
                    </a:p>
                  </a:txBody>
                  <a:tcPr anchor="ctr">
                    <a:solidFill>
                      <a:srgbClr val="00FFCC"/>
                    </a:solidFill>
                  </a:tcPr>
                </a:tc>
                <a:extLst>
                  <a:ext uri="{0D108BD9-81ED-4DB2-BD59-A6C34878D82A}">
                    <a16:rowId xmlns:a16="http://schemas.microsoft.com/office/drawing/2014/main" val="10004"/>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垃圾文件夹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接收并移入垃圾文件夹的邮件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支持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广告邮件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接收并移入广告邮件夹的邮</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支持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不支持 </a:t>
                      </a:r>
                    </a:p>
                  </a:txBody>
                  <a:tcPr anchor="ctr">
                    <a:solidFill>
                      <a:srgbClr val="00FFC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0070"/>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77519" y="557799"/>
            <a:ext cx="418896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6.5.5  </a:t>
            </a:r>
            <a:r>
              <a:rPr lang="zh-CN" altLang="en-US" sz="2400" b="1" dirty="0">
                <a:solidFill>
                  <a:schemeClr val="bg1"/>
                </a:solidFill>
                <a:latin typeface="微软雅黑 Light" panose="020B0502040204020203" pitchFamily="34" charset="-122"/>
                <a:ea typeface="微软雅黑 Light" panose="020B0502040204020203" pitchFamily="34" charset="-122"/>
              </a:rPr>
              <a:t>基于万维网的电子邮件</a:t>
            </a:r>
          </a:p>
        </p:txBody>
      </p:sp>
      <p:sp>
        <p:nvSpPr>
          <p:cNvPr id="25" name="Rectangle 68"/>
          <p:cNvSpPr>
            <a:spLocks noChangeArrowheads="1"/>
          </p:cNvSpPr>
          <p:nvPr/>
        </p:nvSpPr>
        <p:spPr bwMode="auto">
          <a:xfrm>
            <a:off x="556963" y="981006"/>
            <a:ext cx="8048776"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zh-CN" altLang="en-US" sz="2000" b="1" dirty="0">
                <a:latin typeface="微软雅黑 Light" panose="020B0502040204020203" pitchFamily="34" charset="-122"/>
                <a:ea typeface="微软雅黑 Light" panose="020B0502040204020203" pitchFamily="34" charset="-122"/>
              </a:rPr>
              <a:t>用户代理 </a:t>
            </a:r>
            <a:r>
              <a:rPr lang="en-US" altLang="zh-CN" sz="2000" b="1" dirty="0">
                <a:latin typeface="微软雅黑 Light" panose="020B0502040204020203" pitchFamily="34" charset="-122"/>
                <a:ea typeface="微软雅黑 Light" panose="020B0502040204020203" pitchFamily="34" charset="-122"/>
              </a:rPr>
              <a:t>(UA) </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缺点</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必须在计算机中安装用户代理软件。</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收发邮件不方便。</a:t>
            </a:r>
            <a:endParaRPr lang="en-US" altLang="zh-CN" sz="2000" b="1" dirty="0">
              <a:latin typeface="微软雅黑 Light" panose="020B0502040204020203" pitchFamily="34" charset="-122"/>
              <a:ea typeface="微软雅黑 Light" panose="020B0502040204020203" pitchFamily="34" charset="-122"/>
            </a:endParaRPr>
          </a:p>
          <a:p>
            <a:pPr eaLnBrk="0" hangingPunct="0">
              <a:lnSpc>
                <a:spcPts val="3300"/>
              </a:lnSpc>
              <a:buClr>
                <a:srgbClr val="0070C0"/>
              </a:buClr>
            </a:pPr>
            <a:r>
              <a:rPr lang="zh-CN" altLang="en-US" sz="2000" b="1" dirty="0">
                <a:latin typeface="微软雅黑 Light" panose="020B0502040204020203" pitchFamily="34" charset="-122"/>
                <a:ea typeface="微软雅黑 Light" panose="020B0502040204020203" pitchFamily="34" charset="-122"/>
              </a:rPr>
              <a:t>万维网电子邮件</a:t>
            </a:r>
            <a:r>
              <a:rPr lang="zh-CN" altLang="en-US" sz="2000" b="1" dirty="0">
                <a:solidFill>
                  <a:srgbClr val="C00000"/>
                </a:solidFill>
                <a:latin typeface="微软雅黑 Light" panose="020B0502040204020203" pitchFamily="34" charset="-122"/>
                <a:ea typeface="微软雅黑 Light" panose="020B0502040204020203" pitchFamily="34" charset="-122"/>
              </a:rPr>
              <a:t>优点：</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不需要在计算机中再安装用户代理软件。</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计算机能联网，就能非常方便地收发电子邮件。</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界面非常友好。</a:t>
            </a:r>
          </a:p>
          <a:p>
            <a:pPr marL="285750" indent="-285750" eaLnBrk="0" hangingPunct="0">
              <a:lnSpc>
                <a:spcPts val="3300"/>
              </a:lnSpc>
              <a:buClr>
                <a:srgbClr val="0070C0"/>
              </a:buClr>
              <a:buFont typeface="Wingdings" pitchFamily="2" charset="2"/>
              <a:buChar char="l"/>
            </a:pP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圆角矩形 40"/>
          <p:cNvSpPr/>
          <p:nvPr/>
        </p:nvSpPr>
        <p:spPr>
          <a:xfrm>
            <a:off x="1371509" y="1261643"/>
            <a:ext cx="6194639" cy="2151439"/>
          </a:xfrm>
          <a:prstGeom prst="roundRect">
            <a:avLst/>
          </a:prstGeom>
          <a:solidFill>
            <a:schemeClr val="bg1"/>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AutoShape 5"/>
          <p:cNvSpPr>
            <a:spLocks noChangeArrowheads="1"/>
          </p:cNvSpPr>
          <p:nvPr/>
        </p:nvSpPr>
        <p:spPr bwMode="auto">
          <a:xfrm>
            <a:off x="556963" y="60730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591341" y="574096"/>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万维网电子邮件</a:t>
            </a:r>
          </a:p>
        </p:txBody>
      </p:sp>
      <p:sp>
        <p:nvSpPr>
          <p:cNvPr id="8" name="Rectangle 386"/>
          <p:cNvSpPr>
            <a:spLocks noChangeArrowheads="1"/>
          </p:cNvSpPr>
          <p:nvPr/>
        </p:nvSpPr>
        <p:spPr bwMode="auto">
          <a:xfrm>
            <a:off x="2907058" y="1727135"/>
            <a:ext cx="680437" cy="13465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9" name="Rectangle 387"/>
          <p:cNvSpPr>
            <a:spLocks noChangeArrowheads="1"/>
          </p:cNvSpPr>
          <p:nvPr/>
        </p:nvSpPr>
        <p:spPr bwMode="auto">
          <a:xfrm>
            <a:off x="1466556" y="1831639"/>
            <a:ext cx="680437" cy="487647"/>
          </a:xfrm>
          <a:prstGeom prst="rect">
            <a:avLst/>
          </a:prstGeom>
          <a:solidFill>
            <a:srgbClr val="66FFFF"/>
          </a:solidFill>
          <a:ln w="9525">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 name="Line 388"/>
          <p:cNvSpPr>
            <a:spLocks noChangeShapeType="1"/>
          </p:cNvSpPr>
          <p:nvPr/>
        </p:nvSpPr>
        <p:spPr bwMode="auto">
          <a:xfrm>
            <a:off x="2146993" y="2069293"/>
            <a:ext cx="816352" cy="614"/>
          </a:xfrm>
          <a:prstGeom prst="line">
            <a:avLst/>
          </a:prstGeom>
          <a:noFill/>
          <a:ln w="76200">
            <a:solidFill>
              <a:srgbClr val="C00000"/>
            </a:solidFill>
            <a:round/>
            <a:headEnd/>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 name="Oval 405"/>
          <p:cNvSpPr>
            <a:spLocks noChangeArrowheads="1"/>
          </p:cNvSpPr>
          <p:nvPr/>
        </p:nvSpPr>
        <p:spPr bwMode="auto">
          <a:xfrm>
            <a:off x="2964596" y="1791021"/>
            <a:ext cx="566615"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HTTP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13" name="Oval 406"/>
          <p:cNvSpPr>
            <a:spLocks noChangeArrowheads="1"/>
          </p:cNvSpPr>
          <p:nvPr/>
        </p:nvSpPr>
        <p:spPr bwMode="auto">
          <a:xfrm>
            <a:off x="2964596" y="2404080"/>
            <a:ext cx="566615"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 name="Text Box 399"/>
          <p:cNvSpPr txBox="1">
            <a:spLocks noChangeArrowheads="1"/>
          </p:cNvSpPr>
          <p:nvPr/>
        </p:nvSpPr>
        <p:spPr bwMode="auto">
          <a:xfrm>
            <a:off x="616510" y="135986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发件人</a:t>
            </a:r>
          </a:p>
        </p:txBody>
      </p:sp>
      <p:graphicFrame>
        <p:nvGraphicFramePr>
          <p:cNvPr id="15" name="对象 14"/>
          <p:cNvGraphicFramePr>
            <a:graphicFrameLocks noChangeAspect="1"/>
          </p:cNvGraphicFramePr>
          <p:nvPr>
            <p:extLst>
              <p:ext uri="{D42A27DB-BD31-4B8C-83A1-F6EECF244321}">
                <p14:modId xmlns:p14="http://schemas.microsoft.com/office/powerpoint/2010/main" val="2043639842"/>
              </p:ext>
            </p:extLst>
          </p:nvPr>
        </p:nvGraphicFramePr>
        <p:xfrm>
          <a:off x="762658" y="1871625"/>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0"/>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762658" y="1871625"/>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 name="Rectangle 385"/>
          <p:cNvSpPr>
            <a:spLocks noChangeArrowheads="1"/>
          </p:cNvSpPr>
          <p:nvPr/>
        </p:nvSpPr>
        <p:spPr bwMode="auto">
          <a:xfrm>
            <a:off x="6827905" y="1831639"/>
            <a:ext cx="680437" cy="484532"/>
          </a:xfrm>
          <a:prstGeom prst="rect">
            <a:avLst/>
          </a:prstGeom>
          <a:solidFill>
            <a:srgbClr val="66FFFF"/>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8" name="Rectangle 401"/>
          <p:cNvSpPr>
            <a:spLocks noChangeArrowheads="1"/>
          </p:cNvSpPr>
          <p:nvPr/>
        </p:nvSpPr>
        <p:spPr bwMode="auto">
          <a:xfrm>
            <a:off x="5362526" y="1735736"/>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 name="Oval 402"/>
          <p:cNvSpPr>
            <a:spLocks noChangeArrowheads="1"/>
          </p:cNvSpPr>
          <p:nvPr/>
        </p:nvSpPr>
        <p:spPr bwMode="auto">
          <a:xfrm>
            <a:off x="5418813" y="2404080"/>
            <a:ext cx="566614"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0" name="Oval 403"/>
          <p:cNvSpPr>
            <a:spLocks noChangeArrowheads="1"/>
          </p:cNvSpPr>
          <p:nvPr/>
        </p:nvSpPr>
        <p:spPr bwMode="auto">
          <a:xfrm>
            <a:off x="5418813" y="1791021"/>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HTTP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grpSp>
        <p:nvGrpSpPr>
          <p:cNvPr id="21" name="组合 20"/>
          <p:cNvGrpSpPr/>
          <p:nvPr/>
        </p:nvGrpSpPr>
        <p:grpSpPr>
          <a:xfrm>
            <a:off x="2273138" y="1382964"/>
            <a:ext cx="527709" cy="1183063"/>
            <a:chOff x="2273138" y="1525813"/>
            <a:chExt cx="527709" cy="1183063"/>
          </a:xfrm>
        </p:grpSpPr>
        <p:sp>
          <p:nvSpPr>
            <p:cNvPr id="22" name="Text Box 391"/>
            <p:cNvSpPr txBox="1">
              <a:spLocks noChangeArrowheads="1"/>
            </p:cNvSpPr>
            <p:nvPr/>
          </p:nvSpPr>
          <p:spPr bwMode="auto">
            <a:xfrm>
              <a:off x="2282161" y="1525813"/>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23" name="Text Box 394"/>
            <p:cNvSpPr txBox="1">
              <a:spLocks noChangeArrowheads="1"/>
            </p:cNvSpPr>
            <p:nvPr/>
          </p:nvSpPr>
          <p:spPr bwMode="auto">
            <a:xfrm>
              <a:off x="2296294" y="2246313"/>
              <a:ext cx="466794"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24" name="Text Box 389"/>
            <p:cNvSpPr txBox="1">
              <a:spLocks noChangeArrowheads="1"/>
            </p:cNvSpPr>
            <p:nvPr/>
          </p:nvSpPr>
          <p:spPr bwMode="auto">
            <a:xfrm>
              <a:off x="2273138" y="1920130"/>
              <a:ext cx="527709"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p:txBody>
        </p:sp>
      </p:grpSp>
      <p:sp>
        <p:nvSpPr>
          <p:cNvPr id="27" name="Text Box 399"/>
          <p:cNvSpPr txBox="1">
            <a:spLocks noChangeArrowheads="1"/>
          </p:cNvSpPr>
          <p:nvPr/>
        </p:nvSpPr>
        <p:spPr bwMode="auto">
          <a:xfrm>
            <a:off x="1557753" y="1367112"/>
            <a:ext cx="527709"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客户</a:t>
            </a:r>
          </a:p>
        </p:txBody>
      </p:sp>
      <p:grpSp>
        <p:nvGrpSpPr>
          <p:cNvPr id="28" name="组合 27"/>
          <p:cNvGrpSpPr/>
          <p:nvPr/>
        </p:nvGrpSpPr>
        <p:grpSpPr>
          <a:xfrm>
            <a:off x="6169635" y="1401564"/>
            <a:ext cx="527709" cy="1149869"/>
            <a:chOff x="6169635" y="1489328"/>
            <a:chExt cx="527709" cy="1149869"/>
          </a:xfrm>
        </p:grpSpPr>
        <p:sp>
          <p:nvSpPr>
            <p:cNvPr id="29" name="Text Box 393"/>
            <p:cNvSpPr txBox="1">
              <a:spLocks noChangeArrowheads="1"/>
            </p:cNvSpPr>
            <p:nvPr/>
          </p:nvSpPr>
          <p:spPr bwMode="auto">
            <a:xfrm>
              <a:off x="6193892" y="148932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30" name="Text Box 395"/>
            <p:cNvSpPr txBox="1">
              <a:spLocks noChangeArrowheads="1"/>
            </p:cNvSpPr>
            <p:nvPr/>
          </p:nvSpPr>
          <p:spPr bwMode="auto">
            <a:xfrm>
              <a:off x="6222967" y="2162143"/>
              <a:ext cx="466795"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31" name="Text Box 390"/>
            <p:cNvSpPr txBox="1">
              <a:spLocks noChangeArrowheads="1"/>
            </p:cNvSpPr>
            <p:nvPr/>
          </p:nvSpPr>
          <p:spPr bwMode="auto">
            <a:xfrm>
              <a:off x="6169635" y="1863997"/>
              <a:ext cx="527709"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p:txBody>
        </p:sp>
      </p:grpSp>
      <p:sp>
        <p:nvSpPr>
          <p:cNvPr id="34" name="Line 408"/>
          <p:cNvSpPr>
            <a:spLocks noChangeShapeType="1"/>
          </p:cNvSpPr>
          <p:nvPr/>
        </p:nvSpPr>
        <p:spPr bwMode="auto">
          <a:xfrm flipV="1">
            <a:off x="5985427" y="2069907"/>
            <a:ext cx="842478" cy="0"/>
          </a:xfrm>
          <a:prstGeom prst="line">
            <a:avLst/>
          </a:prstGeom>
          <a:noFill/>
          <a:ln w="76200">
            <a:solidFill>
              <a:srgbClr val="C00000"/>
            </a:solidFill>
            <a:round/>
            <a:headEnd/>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graphicFrame>
        <p:nvGraphicFramePr>
          <p:cNvPr id="35" name="对象 34"/>
          <p:cNvGraphicFramePr>
            <a:graphicFrameLocks noChangeAspect="1"/>
          </p:cNvGraphicFramePr>
          <p:nvPr>
            <p:extLst>
              <p:ext uri="{D42A27DB-BD31-4B8C-83A1-F6EECF244321}">
                <p14:modId xmlns:p14="http://schemas.microsoft.com/office/powerpoint/2010/main" val="1973728988"/>
              </p:ext>
            </p:extLst>
          </p:nvPr>
        </p:nvGraphicFramePr>
        <p:xfrm>
          <a:off x="7632442" y="1871625"/>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1"/>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632442" y="1871625"/>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6" name="Text Box 399"/>
          <p:cNvSpPr txBox="1">
            <a:spLocks noChangeArrowheads="1"/>
          </p:cNvSpPr>
          <p:nvPr/>
        </p:nvSpPr>
        <p:spPr bwMode="auto">
          <a:xfrm>
            <a:off x="7702778" y="135986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收件人</a:t>
            </a:r>
          </a:p>
        </p:txBody>
      </p:sp>
      <p:grpSp>
        <p:nvGrpSpPr>
          <p:cNvPr id="37" name="组合 36"/>
          <p:cNvGrpSpPr/>
          <p:nvPr/>
        </p:nvGrpSpPr>
        <p:grpSpPr>
          <a:xfrm>
            <a:off x="3515714" y="2402851"/>
            <a:ext cx="1928643" cy="728201"/>
            <a:chOff x="3473673" y="2734550"/>
            <a:chExt cx="3063219" cy="728201"/>
          </a:xfrm>
        </p:grpSpPr>
        <p:sp>
          <p:nvSpPr>
            <p:cNvPr id="38" name="Text Box 392"/>
            <p:cNvSpPr txBox="1">
              <a:spLocks noChangeArrowheads="1"/>
            </p:cNvSpPr>
            <p:nvPr/>
          </p:nvSpPr>
          <p:spPr bwMode="auto">
            <a:xfrm>
              <a:off x="4095558" y="2734550"/>
              <a:ext cx="183363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sp>
          <p:nvSpPr>
            <p:cNvPr id="39" name="Line 404"/>
            <p:cNvSpPr>
              <a:spLocks noChangeShapeType="1"/>
            </p:cNvSpPr>
            <p:nvPr/>
          </p:nvSpPr>
          <p:spPr bwMode="auto">
            <a:xfrm flipV="1">
              <a:off x="3473673" y="3014665"/>
              <a:ext cx="3063219"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b="1" dirty="0">
                <a:latin typeface="微软雅黑 Light" panose="020B0502040204020203" pitchFamily="34" charset="-122"/>
                <a:ea typeface="微软雅黑 Light" panose="020B0502040204020203" pitchFamily="34" charset="-122"/>
              </a:endParaRPr>
            </a:p>
          </p:txBody>
        </p:sp>
        <p:sp>
          <p:nvSpPr>
            <p:cNvPr id="40" name="Text Box 409"/>
            <p:cNvSpPr txBox="1">
              <a:spLocks noChangeArrowheads="1"/>
            </p:cNvSpPr>
            <p:nvPr/>
          </p:nvSpPr>
          <p:spPr bwMode="auto">
            <a:xfrm>
              <a:off x="4627936" y="3031864"/>
              <a:ext cx="79741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grpSp>
      <p:sp>
        <p:nvSpPr>
          <p:cNvPr id="42" name="矩形 41"/>
          <p:cNvSpPr/>
          <p:nvPr/>
        </p:nvSpPr>
        <p:spPr>
          <a:xfrm>
            <a:off x="1470662" y="3446285"/>
            <a:ext cx="6331270" cy="775662"/>
          </a:xfrm>
          <a:prstGeom prst="rect">
            <a:avLst/>
          </a:prstGeom>
        </p:spPr>
        <p:txBody>
          <a:bodyPr wrap="square" anchor="ctr">
            <a:spAutoFit/>
          </a:bodyPr>
          <a:lstStyle/>
          <a:p>
            <a:pPr marL="285750" indent="-285750">
              <a:lnSpc>
                <a:spcPts val="28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发送、接收电子邮件时使用 </a:t>
            </a:r>
            <a:r>
              <a:rPr lang="en-US" altLang="zh-CN" b="1" dirty="0">
                <a:latin typeface="微软雅黑 Light" panose="020B0502040204020203" pitchFamily="34" charset="-122"/>
                <a:ea typeface="微软雅黑 Light" panose="020B0502040204020203" pitchFamily="34" charset="-122"/>
              </a:rPr>
              <a:t>HTTP </a:t>
            </a:r>
            <a:r>
              <a:rPr lang="zh-CN" altLang="en-US" b="1" dirty="0">
                <a:latin typeface="微软雅黑 Light" panose="020B0502040204020203" pitchFamily="34" charset="-122"/>
                <a:ea typeface="微软雅黑 Light" panose="020B0502040204020203" pitchFamily="34" charset="-122"/>
              </a:rPr>
              <a:t>协议。</a:t>
            </a:r>
          </a:p>
          <a:p>
            <a:pPr marL="285750" indent="-285750">
              <a:lnSpc>
                <a:spcPts val="28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两个邮件服务器之间传送邮件时使用 </a:t>
            </a:r>
            <a:r>
              <a:rPr lang="en-US" altLang="zh-CN" b="1" dirty="0">
                <a:latin typeface="微软雅黑 Light" panose="020B0502040204020203" pitchFamily="34" charset="-122"/>
                <a:ea typeface="微软雅黑 Light" panose="020B0502040204020203" pitchFamily="34" charset="-122"/>
              </a:rPr>
              <a:t>SMTP</a:t>
            </a:r>
            <a:r>
              <a:rPr lang="zh-CN" altLang="en-US" b="1" dirty="0">
                <a:latin typeface="微软雅黑 Light" panose="020B0502040204020203" pitchFamily="34" charset="-122"/>
                <a:ea typeface="微软雅黑 Light" panose="020B0502040204020203" pitchFamily="34" charset="-122"/>
              </a:rPr>
              <a:t>。</a:t>
            </a:r>
          </a:p>
        </p:txBody>
      </p:sp>
      <p:sp>
        <p:nvSpPr>
          <p:cNvPr id="43" name="Text Box 399"/>
          <p:cNvSpPr txBox="1">
            <a:spLocks noChangeArrowheads="1"/>
          </p:cNvSpPr>
          <p:nvPr/>
        </p:nvSpPr>
        <p:spPr bwMode="auto">
          <a:xfrm>
            <a:off x="6901068" y="1367112"/>
            <a:ext cx="527709"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客户</a:t>
            </a:r>
          </a:p>
        </p:txBody>
      </p:sp>
      <p:sp>
        <p:nvSpPr>
          <p:cNvPr id="44" name="Text Box 396"/>
          <p:cNvSpPr txBox="1">
            <a:spLocks noChangeArrowheads="1"/>
          </p:cNvSpPr>
          <p:nvPr/>
        </p:nvSpPr>
        <p:spPr bwMode="auto">
          <a:xfrm>
            <a:off x="2843146" y="1472452"/>
            <a:ext cx="805029" cy="270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ABC </a:t>
            </a:r>
            <a:r>
              <a:rPr kumimoji="1" lang="zh-CN" altLang="en-US" sz="1100" b="1" dirty="0">
                <a:latin typeface="微软雅黑 Light" panose="020B0502040204020203" pitchFamily="34" charset="-122"/>
                <a:ea typeface="微软雅黑 Light" panose="020B0502040204020203" pitchFamily="34" charset="-122"/>
              </a:rPr>
              <a:t>网站</a:t>
            </a:r>
          </a:p>
        </p:txBody>
      </p:sp>
      <p:sp>
        <p:nvSpPr>
          <p:cNvPr id="45" name="Text Box 396"/>
          <p:cNvSpPr txBox="1">
            <a:spLocks noChangeArrowheads="1"/>
          </p:cNvSpPr>
          <p:nvPr/>
        </p:nvSpPr>
        <p:spPr bwMode="auto">
          <a:xfrm>
            <a:off x="5321211" y="1479248"/>
            <a:ext cx="763351" cy="271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XYZ </a:t>
            </a:r>
            <a:r>
              <a:rPr kumimoji="1" lang="zh-CN" altLang="en-US" sz="1100" b="1" dirty="0">
                <a:latin typeface="微软雅黑 Light" panose="020B0502040204020203" pitchFamily="34" charset="-122"/>
                <a:ea typeface="微软雅黑 Light" panose="020B0502040204020203" pitchFamily="34" charset="-122"/>
              </a:rPr>
              <a:t>网站</a:t>
            </a:r>
          </a:p>
        </p:txBody>
      </p: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7"/>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nodeType="withEffect">
                                  <p:stCondLst>
                                    <p:cond delay="0"/>
                                  </p:stCondLst>
                                  <p:childTnLst>
                                    <p:anim calcmode="discrete" valueType="str">
                                      <p:cBhvr>
                                        <p:cTn id="12" dur="1000" fill="hold"/>
                                        <p:tgtEl>
                                          <p:spTgt spid="2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43" grpId="0"/>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圆角矩形 40"/>
          <p:cNvSpPr/>
          <p:nvPr/>
        </p:nvSpPr>
        <p:spPr>
          <a:xfrm>
            <a:off x="1371509" y="1261643"/>
            <a:ext cx="6194639" cy="2151439"/>
          </a:xfrm>
          <a:prstGeom prst="roundRect">
            <a:avLst/>
          </a:prstGeom>
          <a:solidFill>
            <a:schemeClr val="bg1"/>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AutoShape 5"/>
          <p:cNvSpPr>
            <a:spLocks noChangeArrowheads="1"/>
          </p:cNvSpPr>
          <p:nvPr/>
        </p:nvSpPr>
        <p:spPr bwMode="auto">
          <a:xfrm>
            <a:off x="556963" y="60730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591341" y="574096"/>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万维网电子邮件</a:t>
            </a:r>
          </a:p>
        </p:txBody>
      </p:sp>
      <p:sp>
        <p:nvSpPr>
          <p:cNvPr id="8" name="Rectangle 386"/>
          <p:cNvSpPr>
            <a:spLocks noChangeArrowheads="1"/>
          </p:cNvSpPr>
          <p:nvPr/>
        </p:nvSpPr>
        <p:spPr bwMode="auto">
          <a:xfrm>
            <a:off x="2907058" y="1727135"/>
            <a:ext cx="680437" cy="13465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9" name="Rectangle 387"/>
          <p:cNvSpPr>
            <a:spLocks noChangeArrowheads="1"/>
          </p:cNvSpPr>
          <p:nvPr/>
        </p:nvSpPr>
        <p:spPr bwMode="auto">
          <a:xfrm>
            <a:off x="1466556" y="1831639"/>
            <a:ext cx="680437" cy="487647"/>
          </a:xfrm>
          <a:prstGeom prst="rect">
            <a:avLst/>
          </a:prstGeom>
          <a:solidFill>
            <a:srgbClr val="66FFFF"/>
          </a:solidFill>
          <a:ln w="9525">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 name="Line 388"/>
          <p:cNvSpPr>
            <a:spLocks noChangeShapeType="1"/>
          </p:cNvSpPr>
          <p:nvPr/>
        </p:nvSpPr>
        <p:spPr bwMode="auto">
          <a:xfrm>
            <a:off x="2146993" y="2069293"/>
            <a:ext cx="816352" cy="614"/>
          </a:xfrm>
          <a:prstGeom prst="line">
            <a:avLst/>
          </a:prstGeom>
          <a:noFill/>
          <a:ln w="76200">
            <a:solidFill>
              <a:srgbClr val="C00000"/>
            </a:solidFill>
            <a:round/>
            <a:headEnd/>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 name="Oval 405"/>
          <p:cNvSpPr>
            <a:spLocks noChangeArrowheads="1"/>
          </p:cNvSpPr>
          <p:nvPr/>
        </p:nvSpPr>
        <p:spPr bwMode="auto">
          <a:xfrm>
            <a:off x="2964596" y="1791021"/>
            <a:ext cx="566615"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HTTP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13" name="Oval 406"/>
          <p:cNvSpPr>
            <a:spLocks noChangeArrowheads="1"/>
          </p:cNvSpPr>
          <p:nvPr/>
        </p:nvSpPr>
        <p:spPr bwMode="auto">
          <a:xfrm>
            <a:off x="2964596" y="2404080"/>
            <a:ext cx="566615"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 name="Text Box 399"/>
          <p:cNvSpPr txBox="1">
            <a:spLocks noChangeArrowheads="1"/>
          </p:cNvSpPr>
          <p:nvPr/>
        </p:nvSpPr>
        <p:spPr bwMode="auto">
          <a:xfrm>
            <a:off x="616510" y="135986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发件人</a:t>
            </a:r>
          </a:p>
        </p:txBody>
      </p:sp>
      <p:graphicFrame>
        <p:nvGraphicFramePr>
          <p:cNvPr id="15" name="对象 14"/>
          <p:cNvGraphicFramePr>
            <a:graphicFrameLocks noChangeAspect="1"/>
          </p:cNvGraphicFramePr>
          <p:nvPr>
            <p:extLst>
              <p:ext uri="{D42A27DB-BD31-4B8C-83A1-F6EECF244321}">
                <p14:modId xmlns:p14="http://schemas.microsoft.com/office/powerpoint/2010/main" val="2043639842"/>
              </p:ext>
            </p:extLst>
          </p:nvPr>
        </p:nvGraphicFramePr>
        <p:xfrm>
          <a:off x="762658" y="1871625"/>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52"/>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762658" y="1871625"/>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 name="Rectangle 385"/>
          <p:cNvSpPr>
            <a:spLocks noChangeArrowheads="1"/>
          </p:cNvSpPr>
          <p:nvPr/>
        </p:nvSpPr>
        <p:spPr bwMode="auto">
          <a:xfrm>
            <a:off x="6827905" y="1831639"/>
            <a:ext cx="680437" cy="484532"/>
          </a:xfrm>
          <a:prstGeom prst="rect">
            <a:avLst/>
          </a:prstGeom>
          <a:solidFill>
            <a:srgbClr val="66FFFF"/>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8" name="Rectangle 401"/>
          <p:cNvSpPr>
            <a:spLocks noChangeArrowheads="1"/>
          </p:cNvSpPr>
          <p:nvPr/>
        </p:nvSpPr>
        <p:spPr bwMode="auto">
          <a:xfrm>
            <a:off x="5362526" y="1735736"/>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 name="Oval 402"/>
          <p:cNvSpPr>
            <a:spLocks noChangeArrowheads="1"/>
          </p:cNvSpPr>
          <p:nvPr/>
        </p:nvSpPr>
        <p:spPr bwMode="auto">
          <a:xfrm>
            <a:off x="5418813" y="2404080"/>
            <a:ext cx="566614"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0" name="Oval 403"/>
          <p:cNvSpPr>
            <a:spLocks noChangeArrowheads="1"/>
          </p:cNvSpPr>
          <p:nvPr/>
        </p:nvSpPr>
        <p:spPr bwMode="auto">
          <a:xfrm>
            <a:off x="5418813" y="1791021"/>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HTTP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grpSp>
        <p:nvGrpSpPr>
          <p:cNvPr id="21" name="组合 20"/>
          <p:cNvGrpSpPr/>
          <p:nvPr/>
        </p:nvGrpSpPr>
        <p:grpSpPr>
          <a:xfrm>
            <a:off x="2273138" y="1382964"/>
            <a:ext cx="527709" cy="665610"/>
            <a:chOff x="2273138" y="1525813"/>
            <a:chExt cx="527709" cy="665610"/>
          </a:xfrm>
        </p:grpSpPr>
        <p:sp>
          <p:nvSpPr>
            <p:cNvPr id="22" name="Text Box 391"/>
            <p:cNvSpPr txBox="1">
              <a:spLocks noChangeArrowheads="1"/>
            </p:cNvSpPr>
            <p:nvPr/>
          </p:nvSpPr>
          <p:spPr bwMode="auto">
            <a:xfrm>
              <a:off x="2282161" y="1525813"/>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24" name="Text Box 389"/>
            <p:cNvSpPr txBox="1">
              <a:spLocks noChangeArrowheads="1"/>
            </p:cNvSpPr>
            <p:nvPr/>
          </p:nvSpPr>
          <p:spPr bwMode="auto">
            <a:xfrm>
              <a:off x="2273138" y="1920130"/>
              <a:ext cx="527709"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p:txBody>
        </p:sp>
      </p:grpSp>
      <p:sp>
        <p:nvSpPr>
          <p:cNvPr id="27" name="Text Box 399"/>
          <p:cNvSpPr txBox="1">
            <a:spLocks noChangeArrowheads="1"/>
          </p:cNvSpPr>
          <p:nvPr/>
        </p:nvSpPr>
        <p:spPr bwMode="auto">
          <a:xfrm>
            <a:off x="1557753" y="1367112"/>
            <a:ext cx="527709"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客户</a:t>
            </a:r>
          </a:p>
        </p:txBody>
      </p:sp>
      <p:grpSp>
        <p:nvGrpSpPr>
          <p:cNvPr id="28" name="组合 27"/>
          <p:cNvGrpSpPr/>
          <p:nvPr/>
        </p:nvGrpSpPr>
        <p:grpSpPr>
          <a:xfrm>
            <a:off x="6169635" y="1401564"/>
            <a:ext cx="527709" cy="645962"/>
            <a:chOff x="6169635" y="1489328"/>
            <a:chExt cx="527709" cy="645962"/>
          </a:xfrm>
        </p:grpSpPr>
        <p:sp>
          <p:nvSpPr>
            <p:cNvPr id="29" name="Text Box 393"/>
            <p:cNvSpPr txBox="1">
              <a:spLocks noChangeArrowheads="1"/>
            </p:cNvSpPr>
            <p:nvPr/>
          </p:nvSpPr>
          <p:spPr bwMode="auto">
            <a:xfrm>
              <a:off x="6193892" y="148932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31" name="Text Box 390"/>
            <p:cNvSpPr txBox="1">
              <a:spLocks noChangeArrowheads="1"/>
            </p:cNvSpPr>
            <p:nvPr/>
          </p:nvSpPr>
          <p:spPr bwMode="auto">
            <a:xfrm>
              <a:off x="6169635" y="1863997"/>
              <a:ext cx="527709"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p:txBody>
        </p:sp>
      </p:grpSp>
      <p:sp>
        <p:nvSpPr>
          <p:cNvPr id="34" name="Line 408"/>
          <p:cNvSpPr>
            <a:spLocks noChangeShapeType="1"/>
          </p:cNvSpPr>
          <p:nvPr/>
        </p:nvSpPr>
        <p:spPr bwMode="auto">
          <a:xfrm flipV="1">
            <a:off x="5985427" y="2069907"/>
            <a:ext cx="842478" cy="0"/>
          </a:xfrm>
          <a:prstGeom prst="line">
            <a:avLst/>
          </a:prstGeom>
          <a:noFill/>
          <a:ln w="76200">
            <a:solidFill>
              <a:srgbClr val="C00000"/>
            </a:solidFill>
            <a:round/>
            <a:headEnd/>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graphicFrame>
        <p:nvGraphicFramePr>
          <p:cNvPr id="35" name="对象 34"/>
          <p:cNvGraphicFramePr>
            <a:graphicFrameLocks noChangeAspect="1"/>
          </p:cNvGraphicFramePr>
          <p:nvPr>
            <p:extLst>
              <p:ext uri="{D42A27DB-BD31-4B8C-83A1-F6EECF244321}">
                <p14:modId xmlns:p14="http://schemas.microsoft.com/office/powerpoint/2010/main" val="1973728988"/>
              </p:ext>
            </p:extLst>
          </p:nvPr>
        </p:nvGraphicFramePr>
        <p:xfrm>
          <a:off x="7632442" y="1871625"/>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53"/>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632442" y="1871625"/>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6" name="Text Box 399"/>
          <p:cNvSpPr txBox="1">
            <a:spLocks noChangeArrowheads="1"/>
          </p:cNvSpPr>
          <p:nvPr/>
        </p:nvSpPr>
        <p:spPr bwMode="auto">
          <a:xfrm>
            <a:off x="7702778" y="135986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收件人</a:t>
            </a:r>
          </a:p>
        </p:txBody>
      </p:sp>
      <p:grpSp>
        <p:nvGrpSpPr>
          <p:cNvPr id="37" name="组合 36"/>
          <p:cNvGrpSpPr/>
          <p:nvPr/>
        </p:nvGrpSpPr>
        <p:grpSpPr>
          <a:xfrm>
            <a:off x="3515714" y="2402851"/>
            <a:ext cx="1928643" cy="728201"/>
            <a:chOff x="3473673" y="2734550"/>
            <a:chExt cx="3063219" cy="728201"/>
          </a:xfrm>
        </p:grpSpPr>
        <p:sp>
          <p:nvSpPr>
            <p:cNvPr id="38" name="Text Box 392"/>
            <p:cNvSpPr txBox="1">
              <a:spLocks noChangeArrowheads="1"/>
            </p:cNvSpPr>
            <p:nvPr/>
          </p:nvSpPr>
          <p:spPr bwMode="auto">
            <a:xfrm>
              <a:off x="4095558" y="2734550"/>
              <a:ext cx="183363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sp>
          <p:nvSpPr>
            <p:cNvPr id="39" name="Line 404"/>
            <p:cNvSpPr>
              <a:spLocks noChangeShapeType="1"/>
            </p:cNvSpPr>
            <p:nvPr/>
          </p:nvSpPr>
          <p:spPr bwMode="auto">
            <a:xfrm flipV="1">
              <a:off x="3473673" y="3014665"/>
              <a:ext cx="3063219"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b="1" dirty="0">
                <a:latin typeface="微软雅黑 Light" panose="020B0502040204020203" pitchFamily="34" charset="-122"/>
                <a:ea typeface="微软雅黑 Light" panose="020B0502040204020203" pitchFamily="34" charset="-122"/>
              </a:endParaRPr>
            </a:p>
          </p:txBody>
        </p:sp>
        <p:sp>
          <p:nvSpPr>
            <p:cNvPr id="40" name="Text Box 409"/>
            <p:cNvSpPr txBox="1">
              <a:spLocks noChangeArrowheads="1"/>
            </p:cNvSpPr>
            <p:nvPr/>
          </p:nvSpPr>
          <p:spPr bwMode="auto">
            <a:xfrm>
              <a:off x="4627936" y="3031864"/>
              <a:ext cx="79741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grpSp>
      <p:sp>
        <p:nvSpPr>
          <p:cNvPr id="42" name="矩形 41"/>
          <p:cNvSpPr/>
          <p:nvPr/>
        </p:nvSpPr>
        <p:spPr>
          <a:xfrm>
            <a:off x="1470662" y="3441599"/>
            <a:ext cx="6331270" cy="820546"/>
          </a:xfrm>
          <a:prstGeom prst="rect">
            <a:avLst/>
          </a:prstGeom>
        </p:spPr>
        <p:txBody>
          <a:bodyPr wrap="square" anchor="ctr">
            <a:spAutoFit/>
          </a:bodyPr>
          <a:lstStyle/>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使用 </a:t>
            </a:r>
            <a:r>
              <a:rPr lang="en-US" altLang="zh-CN" b="1" dirty="0">
                <a:latin typeface="微软雅黑 Light" panose="020B0502040204020203" pitchFamily="34" charset="-122"/>
                <a:ea typeface="微软雅黑 Light" panose="020B0502040204020203" pitchFamily="34" charset="-122"/>
              </a:rPr>
              <a:t>HTTP POST </a:t>
            </a:r>
            <a:r>
              <a:rPr lang="zh-CN" altLang="en-US" b="1" dirty="0">
                <a:latin typeface="微软雅黑 Light" panose="020B0502040204020203" pitchFamily="34" charset="-122"/>
                <a:ea typeface="微软雅黑 Light" panose="020B0502040204020203" pitchFamily="34" charset="-122"/>
              </a:rPr>
              <a:t>方法提交要发送的邮件。</a:t>
            </a:r>
          </a:p>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使用 </a:t>
            </a:r>
            <a:r>
              <a:rPr lang="en-US" altLang="zh-CN" b="1" dirty="0">
                <a:latin typeface="微软雅黑 Light" panose="020B0502040204020203" pitchFamily="34" charset="-122"/>
                <a:ea typeface="微软雅黑 Light" panose="020B0502040204020203" pitchFamily="34" charset="-122"/>
              </a:rPr>
              <a:t>HTTP GET </a:t>
            </a:r>
            <a:r>
              <a:rPr lang="zh-CN" altLang="en-US" b="1" dirty="0">
                <a:latin typeface="微软雅黑 Light" panose="020B0502040204020203" pitchFamily="34" charset="-122"/>
                <a:ea typeface="微软雅黑 Light" panose="020B0502040204020203" pitchFamily="34" charset="-122"/>
              </a:rPr>
              <a:t>方法读取邮件。</a:t>
            </a:r>
          </a:p>
        </p:txBody>
      </p:sp>
      <p:sp>
        <p:nvSpPr>
          <p:cNvPr id="43" name="Text Box 399"/>
          <p:cNvSpPr txBox="1">
            <a:spLocks noChangeArrowheads="1"/>
          </p:cNvSpPr>
          <p:nvPr/>
        </p:nvSpPr>
        <p:spPr bwMode="auto">
          <a:xfrm>
            <a:off x="6901068" y="1367112"/>
            <a:ext cx="527709"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客户</a:t>
            </a:r>
          </a:p>
        </p:txBody>
      </p:sp>
      <p:sp>
        <p:nvSpPr>
          <p:cNvPr id="44" name="Text Box 396"/>
          <p:cNvSpPr txBox="1">
            <a:spLocks noChangeArrowheads="1"/>
          </p:cNvSpPr>
          <p:nvPr/>
        </p:nvSpPr>
        <p:spPr bwMode="auto">
          <a:xfrm>
            <a:off x="2843146" y="1472452"/>
            <a:ext cx="805029" cy="270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ABC </a:t>
            </a:r>
            <a:r>
              <a:rPr kumimoji="1" lang="zh-CN" altLang="en-US" sz="1100" b="1" dirty="0">
                <a:latin typeface="微软雅黑 Light" panose="020B0502040204020203" pitchFamily="34" charset="-122"/>
                <a:ea typeface="微软雅黑 Light" panose="020B0502040204020203" pitchFamily="34" charset="-122"/>
              </a:rPr>
              <a:t>网站</a:t>
            </a:r>
          </a:p>
        </p:txBody>
      </p:sp>
      <p:sp>
        <p:nvSpPr>
          <p:cNvPr id="45" name="Text Box 396"/>
          <p:cNvSpPr txBox="1">
            <a:spLocks noChangeArrowheads="1"/>
          </p:cNvSpPr>
          <p:nvPr/>
        </p:nvSpPr>
        <p:spPr bwMode="auto">
          <a:xfrm>
            <a:off x="5321211" y="1479248"/>
            <a:ext cx="763351" cy="271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XYZ </a:t>
            </a:r>
            <a:r>
              <a:rPr kumimoji="1" lang="zh-CN" altLang="en-US" sz="1100" b="1" dirty="0">
                <a:latin typeface="微软雅黑 Light" panose="020B0502040204020203" pitchFamily="34" charset="-122"/>
                <a:ea typeface="微软雅黑 Light" panose="020B0502040204020203" pitchFamily="34" charset="-122"/>
              </a:rPr>
              <a:t>网站</a:t>
            </a:r>
          </a:p>
        </p:txBody>
      </p:sp>
      <p:sp>
        <p:nvSpPr>
          <p:cNvPr id="46" name="Text Box 394"/>
          <p:cNvSpPr txBox="1">
            <a:spLocks noChangeArrowheads="1"/>
          </p:cNvSpPr>
          <p:nvPr/>
        </p:nvSpPr>
        <p:spPr bwMode="auto">
          <a:xfrm>
            <a:off x="2261028" y="2130097"/>
            <a:ext cx="537327"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POST</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提交</a:t>
            </a:r>
          </a:p>
        </p:txBody>
      </p:sp>
      <p:sp>
        <p:nvSpPr>
          <p:cNvPr id="47" name="Text Box 395"/>
          <p:cNvSpPr txBox="1">
            <a:spLocks noChangeArrowheads="1"/>
          </p:cNvSpPr>
          <p:nvPr/>
        </p:nvSpPr>
        <p:spPr bwMode="auto">
          <a:xfrm>
            <a:off x="6222967" y="2109890"/>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GET</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下载</a:t>
            </a:r>
          </a:p>
        </p:txBody>
      </p:sp>
    </p:spTree>
    <p:extLst>
      <p:ext uri="{BB962C8B-B14F-4D97-AF65-F5344CB8AC3E}">
        <p14:creationId xmlns:p14="http://schemas.microsoft.com/office/powerpoint/2010/main" val="252395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6"/>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p:bldP spid="47" grpId="0"/>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563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228252" y="563360"/>
            <a:ext cx="4687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6.5.6  </a:t>
            </a:r>
            <a:r>
              <a:rPr lang="zh-CN" altLang="en-US" sz="2400" b="1" dirty="0">
                <a:solidFill>
                  <a:schemeClr val="bg1"/>
                </a:solidFill>
                <a:latin typeface="微软雅黑 Light" panose="020B0502040204020203" pitchFamily="34" charset="-122"/>
                <a:ea typeface="微软雅黑 Light" panose="020B0502040204020203" pitchFamily="34" charset="-122"/>
              </a:rPr>
              <a:t>通用互联网邮件扩充 </a:t>
            </a:r>
            <a:r>
              <a:rPr lang="en-US" altLang="zh-CN" sz="2400" b="1" dirty="0">
                <a:solidFill>
                  <a:schemeClr val="bg1"/>
                </a:solidFill>
                <a:latin typeface="微软雅黑 Light" panose="020B0502040204020203" pitchFamily="34" charset="-122"/>
                <a:ea typeface="微软雅黑 Light" panose="020B0502040204020203" pitchFamily="34" charset="-122"/>
              </a:rPr>
              <a:t>MIME</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99849"/>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solidFill>
                  <a:srgbClr val="0000FF"/>
                </a:solidFill>
                <a:latin typeface="微软雅黑 Light" panose="020B0502040204020203" pitchFamily="34" charset="-122"/>
                <a:ea typeface="微软雅黑 Light" panose="020B0502040204020203" pitchFamily="34" charset="-122"/>
              </a:rPr>
              <a:t>缺点</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不能传送可执行文件或其他的二进制对象。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限于传送 </a:t>
            </a:r>
            <a:r>
              <a:rPr lang="en-US" altLang="zh-CN" sz="2000" b="1" dirty="0">
                <a:latin typeface="微软雅黑 Light" panose="020B0502040204020203" pitchFamily="34" charset="-122"/>
                <a:ea typeface="微软雅黑 Light" panose="020B0502040204020203" pitchFamily="34" charset="-122"/>
              </a:rPr>
              <a:t>7 </a:t>
            </a:r>
            <a:r>
              <a:rPr lang="zh-CN" altLang="en-US" sz="2000" b="1" dirty="0">
                <a:latin typeface="微软雅黑 Light" panose="020B0502040204020203" pitchFamily="34" charset="-122"/>
                <a:ea typeface="微软雅黑 Light" panose="020B0502040204020203" pitchFamily="34" charset="-122"/>
              </a:rPr>
              <a:t>位的 </a:t>
            </a:r>
            <a:r>
              <a:rPr lang="en-US" altLang="zh-CN" sz="2000" b="1" dirty="0">
                <a:latin typeface="微软雅黑 Light" panose="020B0502040204020203" pitchFamily="34" charset="-122"/>
                <a:ea typeface="微软雅黑 Light" panose="020B0502040204020203" pitchFamily="34" charset="-122"/>
              </a:rPr>
              <a:t>ASCII </a:t>
            </a:r>
            <a:r>
              <a:rPr lang="zh-CN" altLang="en-US" sz="2000" b="1" dirty="0">
                <a:latin typeface="微软雅黑 Light" panose="020B0502040204020203" pitchFamily="34" charset="-122"/>
                <a:ea typeface="微软雅黑 Light" panose="020B0502040204020203" pitchFamily="34" charset="-122"/>
              </a:rPr>
              <a:t>码，无法传送非 </a:t>
            </a:r>
            <a:r>
              <a:rPr lang="en-US" altLang="zh-CN" sz="2000" b="1" dirty="0">
                <a:latin typeface="微软雅黑 Light" panose="020B0502040204020203" pitchFamily="34" charset="-122"/>
                <a:ea typeface="微软雅黑 Light" panose="020B0502040204020203" pitchFamily="34" charset="-122"/>
              </a:rPr>
              <a:t>ASCII </a:t>
            </a:r>
            <a:r>
              <a:rPr lang="zh-CN" altLang="en-US" sz="2000" b="1" dirty="0">
                <a:latin typeface="微软雅黑 Light" panose="020B0502040204020203" pitchFamily="34" charset="-122"/>
                <a:ea typeface="微软雅黑 Light" panose="020B0502040204020203" pitchFamily="34" charset="-122"/>
              </a:rPr>
              <a:t>编码的信息。</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服务器会拒绝超过一定长度的邮件。</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某些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的实现并没有完全按照 </a:t>
            </a:r>
            <a:r>
              <a:rPr lang="en-US" altLang="zh-CN" sz="2000" b="1" dirty="0">
                <a:latin typeface="微软雅黑 Light" panose="020B0502040204020203" pitchFamily="34" charset="-122"/>
                <a:ea typeface="微软雅黑 Light" panose="020B0502040204020203" pitchFamily="34" charset="-122"/>
              </a:rPr>
              <a:t>[RFC 821] </a:t>
            </a:r>
            <a:r>
              <a:rPr lang="zh-CN" altLang="en-US" sz="2000" b="1" dirty="0">
                <a:latin typeface="微软雅黑 Light" panose="020B0502040204020203" pitchFamily="34" charset="-122"/>
                <a:ea typeface="微软雅黑 Light" panose="020B0502040204020203" pitchFamily="34" charset="-122"/>
              </a:rPr>
              <a:t>的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标准。 </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669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08360" y="573485"/>
            <a:ext cx="17459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MIME </a:t>
            </a:r>
            <a:r>
              <a:rPr lang="zh-CN" altLang="en-US" sz="2000" b="1" dirty="0">
                <a:solidFill>
                  <a:schemeClr val="bg1"/>
                </a:solidFill>
                <a:latin typeface="微软雅黑 Light" panose="020B0502040204020203" pitchFamily="34" charset="-122"/>
                <a:ea typeface="微软雅黑 Light" panose="020B0502040204020203" pitchFamily="34" charset="-122"/>
              </a:rPr>
              <a:t>概述</a:t>
            </a:r>
          </a:p>
        </p:txBody>
      </p:sp>
      <p:sp>
        <p:nvSpPr>
          <p:cNvPr id="4" name="Rectangle 68"/>
          <p:cNvSpPr>
            <a:spLocks noChangeArrowheads="1"/>
          </p:cNvSpPr>
          <p:nvPr/>
        </p:nvSpPr>
        <p:spPr bwMode="auto">
          <a:xfrm>
            <a:off x="483810" y="1004362"/>
            <a:ext cx="8278450"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通用互联网邮件扩充 </a:t>
            </a:r>
            <a:r>
              <a:rPr lang="en-US" altLang="zh-CN" sz="2000" b="1" dirty="0">
                <a:solidFill>
                  <a:srgbClr val="C00000"/>
                </a:solidFill>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并没有改动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或取代它。</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意图：</a:t>
            </a:r>
            <a:r>
              <a:rPr lang="zh-CN" altLang="en-US" sz="2000" b="1" dirty="0">
                <a:latin typeface="微软雅黑 Light" panose="020B0502040204020203" pitchFamily="34" charset="-122"/>
                <a:ea typeface="微软雅黑 Light" panose="020B0502040204020203" pitchFamily="34" charset="-122"/>
              </a:rPr>
              <a:t>继续使用目前的 </a:t>
            </a:r>
            <a:r>
              <a:rPr lang="en-US" altLang="zh-CN" sz="2000" b="1" dirty="0">
                <a:latin typeface="微软雅黑 Light" panose="020B0502040204020203" pitchFamily="34" charset="-122"/>
                <a:ea typeface="微软雅黑 Light" panose="020B0502040204020203" pitchFamily="34" charset="-122"/>
              </a:rPr>
              <a:t>[RFC 822] </a:t>
            </a:r>
            <a:r>
              <a:rPr lang="zh-CN" altLang="en-US" sz="2000" b="1" dirty="0">
                <a:latin typeface="微软雅黑 Light" panose="020B0502040204020203" pitchFamily="34" charset="-122"/>
                <a:ea typeface="微软雅黑 Light" panose="020B0502040204020203" pitchFamily="34" charset="-122"/>
              </a:rPr>
              <a:t>格式，但</a:t>
            </a:r>
            <a:r>
              <a:rPr lang="zh-CN" altLang="en-US" sz="2000" b="1" dirty="0">
                <a:solidFill>
                  <a:srgbClr val="C00000"/>
                </a:solidFill>
                <a:latin typeface="微软雅黑 Light" panose="020B0502040204020203" pitchFamily="34" charset="-122"/>
                <a:ea typeface="微软雅黑 Light" panose="020B0502040204020203" pitchFamily="34" charset="-122"/>
              </a:rPr>
              <a:t>增加</a:t>
            </a:r>
            <a:r>
              <a:rPr lang="zh-CN" altLang="en-US" sz="2000" b="1" dirty="0">
                <a:latin typeface="微软雅黑 Light" panose="020B0502040204020203" pitchFamily="34" charset="-122"/>
                <a:ea typeface="微软雅黑 Light" panose="020B0502040204020203" pitchFamily="34" charset="-122"/>
              </a:rPr>
              <a:t>了邮件主体的结构，并定义了传送非 </a:t>
            </a:r>
            <a:r>
              <a:rPr lang="en-US" altLang="zh-CN" sz="2000" b="1" dirty="0">
                <a:latin typeface="微软雅黑 Light" panose="020B0502040204020203" pitchFamily="34" charset="-122"/>
                <a:ea typeface="微软雅黑 Light" panose="020B0502040204020203" pitchFamily="34" charset="-122"/>
              </a:rPr>
              <a:t>ASCII </a:t>
            </a:r>
            <a:r>
              <a:rPr lang="zh-CN" altLang="en-US" sz="2000" b="1" dirty="0">
                <a:latin typeface="微软雅黑 Light" panose="020B0502040204020203" pitchFamily="34" charset="-122"/>
                <a:ea typeface="微软雅黑 Light" panose="020B0502040204020203" pitchFamily="34" charset="-122"/>
              </a:rPr>
              <a:t>码的</a:t>
            </a:r>
            <a:r>
              <a:rPr lang="zh-CN" altLang="en-US" sz="2000" b="1" dirty="0">
                <a:solidFill>
                  <a:srgbClr val="C00000"/>
                </a:solidFill>
                <a:latin typeface="微软雅黑 Light" panose="020B0502040204020203" pitchFamily="34" charset="-122"/>
                <a:ea typeface="微软雅黑 Light" panose="020B0502040204020203" pitchFamily="34" charset="-122"/>
              </a:rPr>
              <a:t>编码规则。 </a:t>
            </a:r>
          </a:p>
        </p:txBody>
      </p:sp>
    </p:spTree>
    <p:extLst>
      <p:ext uri="{BB962C8B-B14F-4D97-AF65-F5344CB8AC3E}">
        <p14:creationId xmlns:p14="http://schemas.microsoft.com/office/powerpoint/2010/main" val="2472745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组合 20"/>
          <p:cNvGrpSpPr/>
          <p:nvPr/>
        </p:nvGrpSpPr>
        <p:grpSpPr>
          <a:xfrm>
            <a:off x="1474462" y="1156605"/>
            <a:ext cx="6187085" cy="2778773"/>
            <a:chOff x="1184473" y="1772816"/>
            <a:chExt cx="7800975" cy="3503611"/>
          </a:xfrm>
        </p:grpSpPr>
        <p:sp>
          <p:nvSpPr>
            <p:cNvPr id="5" name="Text Box 3"/>
            <p:cNvSpPr txBox="1">
              <a:spLocks noChangeArrowheads="1"/>
            </p:cNvSpPr>
            <p:nvPr/>
          </p:nvSpPr>
          <p:spPr bwMode="auto">
            <a:xfrm>
              <a:off x="1839713" y="2430041"/>
              <a:ext cx="1522325" cy="4268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rgbClr val="C00000"/>
                  </a:solidFill>
                  <a:latin typeface="微软雅黑 Light" panose="020B0502040204020203" pitchFamily="34" charset="-122"/>
                  <a:ea typeface="微软雅黑 Light" panose="020B0502040204020203" pitchFamily="34" charset="-122"/>
                </a:rPr>
                <a:t>非 </a:t>
              </a:r>
              <a:r>
                <a:rPr kumimoji="1" lang="en-US" altLang="zh-CN" sz="1600" b="1" dirty="0">
                  <a:solidFill>
                    <a:srgbClr val="C00000"/>
                  </a:solidFill>
                  <a:latin typeface="微软雅黑 Light" panose="020B0502040204020203" pitchFamily="34" charset="-122"/>
                  <a:ea typeface="微软雅黑 Light" panose="020B0502040204020203" pitchFamily="34" charset="-122"/>
                </a:rPr>
                <a:t>ASCII </a:t>
              </a:r>
              <a:r>
                <a:rPr kumimoji="1" lang="zh-CN" altLang="en-US" sz="1600" b="1" dirty="0">
                  <a:solidFill>
                    <a:srgbClr val="C00000"/>
                  </a:solidFill>
                  <a:latin typeface="微软雅黑 Light" panose="020B0502040204020203" pitchFamily="34" charset="-122"/>
                  <a:ea typeface="微软雅黑 Light" panose="020B0502040204020203" pitchFamily="34" charset="-122"/>
                </a:rPr>
                <a:t>码</a:t>
              </a:r>
            </a:p>
          </p:txBody>
        </p:sp>
        <p:sp>
          <p:nvSpPr>
            <p:cNvPr id="6" name="Text Box 4"/>
            <p:cNvSpPr txBox="1">
              <a:spLocks noChangeArrowheads="1"/>
            </p:cNvSpPr>
            <p:nvPr/>
          </p:nvSpPr>
          <p:spPr bwMode="auto">
            <a:xfrm>
              <a:off x="1855191" y="3942927"/>
              <a:ext cx="1738589" cy="4268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b="1" dirty="0">
                  <a:solidFill>
                    <a:srgbClr val="0000FF"/>
                  </a:solidFill>
                  <a:latin typeface="微软雅黑 Light" panose="020B0502040204020203" pitchFamily="34" charset="-122"/>
                  <a:ea typeface="微软雅黑 Light" panose="020B0502040204020203" pitchFamily="34" charset="-122"/>
                </a:rPr>
                <a:t>7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位 </a:t>
              </a:r>
              <a:r>
                <a:rPr kumimoji="1" lang="en-US" altLang="zh-CN" sz="1600" b="1" dirty="0">
                  <a:solidFill>
                    <a:srgbClr val="0000FF"/>
                  </a:solidFill>
                  <a:latin typeface="微软雅黑 Light" panose="020B0502040204020203" pitchFamily="34" charset="-122"/>
                  <a:ea typeface="微软雅黑 Light" panose="020B0502040204020203" pitchFamily="34" charset="-122"/>
                </a:rPr>
                <a:t>ASCII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码</a:t>
              </a:r>
            </a:p>
          </p:txBody>
        </p:sp>
        <p:sp>
          <p:nvSpPr>
            <p:cNvPr id="7" name="Rectangle 5"/>
            <p:cNvSpPr>
              <a:spLocks noChangeArrowheads="1"/>
            </p:cNvSpPr>
            <p:nvPr/>
          </p:nvSpPr>
          <p:spPr bwMode="auto">
            <a:xfrm>
              <a:off x="1184473" y="3007890"/>
              <a:ext cx="1281244" cy="596900"/>
            </a:xfrm>
            <a:prstGeom prst="rect">
              <a:avLst/>
            </a:prstGeom>
            <a:solidFill>
              <a:srgbClr val="0000FF"/>
            </a:solidFill>
            <a:ln w="9525">
              <a:solidFill>
                <a:srgbClr val="333399"/>
              </a:solidFill>
              <a:miter lim="800000"/>
              <a:headEnd/>
              <a:tailEnd/>
            </a:ln>
            <a:effectLst/>
          </p:spPr>
          <p:txBody>
            <a:bodyPr wrap="none" anchor="ctr"/>
            <a:lstStyle/>
            <a:p>
              <a:pPr algn="ctr" eaLnBrk="1" hangingPunct="1"/>
              <a:r>
                <a:rPr kumimoji="1" lang="en-US" altLang="zh-CN" sz="1600" b="1" dirty="0">
                  <a:ln w="12700">
                    <a:solidFill>
                      <a:schemeClr val="bg1"/>
                    </a:solidFill>
                    <a:prstDash val="solid"/>
                  </a:ln>
                  <a:solidFill>
                    <a:schemeClr val="bg1"/>
                  </a:solidFill>
                  <a:effectLst>
                    <a:outerShdw blurRad="41275" dist="20320" dir="1800000" algn="tl" rotWithShape="0">
                      <a:srgbClr val="000000">
                        <a:alpha val="40000"/>
                      </a:srgbClr>
                    </a:outerShdw>
                  </a:effectLst>
                  <a:latin typeface="微软雅黑 Light" panose="020B0502040204020203" pitchFamily="34" charset="-122"/>
                  <a:ea typeface="微软雅黑 Light" panose="020B0502040204020203" pitchFamily="34" charset="-122"/>
                </a:rPr>
                <a:t>MIME</a:t>
              </a:r>
            </a:p>
          </p:txBody>
        </p:sp>
        <p:sp>
          <p:nvSpPr>
            <p:cNvPr id="8" name="Rectangle 6"/>
            <p:cNvSpPr>
              <a:spLocks noChangeArrowheads="1"/>
            </p:cNvSpPr>
            <p:nvPr/>
          </p:nvSpPr>
          <p:spPr bwMode="auto">
            <a:xfrm>
              <a:off x="1184473" y="4679527"/>
              <a:ext cx="1281244" cy="596900"/>
            </a:xfrm>
            <a:prstGeom prst="rect">
              <a:avLst/>
            </a:prstGeom>
            <a:solidFill>
              <a:srgbClr val="00FFCC"/>
            </a:solidFill>
            <a:ln w="9525">
              <a:solidFill>
                <a:srgbClr val="333399"/>
              </a:solidFill>
              <a:miter lim="800000"/>
              <a:headEnd/>
              <a:tailEnd/>
            </a:ln>
            <a:effectLst/>
          </p:spPr>
          <p:txBody>
            <a:bodyPr wrap="none" anchor="ctr"/>
            <a:lstStyle/>
            <a:p>
              <a:pPr algn="ctr" eaLnBrk="1" hangingPunct="1"/>
              <a:r>
                <a:rPr kumimoji="1" lang="en-US" altLang="zh-CN" sz="1600" b="1" dirty="0">
                  <a:latin typeface="微软雅黑 Light" panose="020B0502040204020203" pitchFamily="34" charset="-122"/>
                  <a:ea typeface="微软雅黑 Light" panose="020B0502040204020203" pitchFamily="34" charset="-122"/>
                </a:rPr>
                <a:t>SMTP</a:t>
              </a:r>
            </a:p>
          </p:txBody>
        </p:sp>
        <p:sp>
          <p:nvSpPr>
            <p:cNvPr id="9" name="Rectangle 7"/>
            <p:cNvSpPr>
              <a:spLocks noChangeArrowheads="1"/>
            </p:cNvSpPr>
            <p:nvPr/>
          </p:nvSpPr>
          <p:spPr bwMode="auto">
            <a:xfrm>
              <a:off x="7704203" y="3007890"/>
              <a:ext cx="1281245" cy="596900"/>
            </a:xfrm>
            <a:prstGeom prst="rect">
              <a:avLst/>
            </a:prstGeom>
            <a:solidFill>
              <a:srgbClr val="0000FF"/>
            </a:solidFill>
            <a:ln w="9525">
              <a:solidFill>
                <a:srgbClr val="333399"/>
              </a:solidFill>
              <a:miter lim="800000"/>
              <a:headEnd/>
              <a:tailEnd/>
            </a:ln>
            <a:effectLst/>
          </p:spPr>
          <p:txBody>
            <a:bodyPr wrap="none" anchor="ctr"/>
            <a:lstStyle/>
            <a:p>
              <a:pPr algn="ctr" eaLnBrk="1" hangingPunct="1"/>
              <a:r>
                <a:rPr kumimoji="1" lang="en-US" altLang="zh-CN" sz="1600" b="1" dirty="0">
                  <a:ln w="12700">
                    <a:solidFill>
                      <a:schemeClr val="bg1"/>
                    </a:solidFill>
                    <a:prstDash val="solid"/>
                  </a:ln>
                  <a:solidFill>
                    <a:schemeClr val="bg1"/>
                  </a:solidFill>
                  <a:effectLst>
                    <a:outerShdw blurRad="41275" dist="20320" dir="1800000" algn="tl" rotWithShape="0">
                      <a:srgbClr val="000000">
                        <a:alpha val="40000"/>
                      </a:srgbClr>
                    </a:outerShdw>
                  </a:effectLst>
                  <a:latin typeface="微软雅黑 Light" panose="020B0502040204020203" pitchFamily="34" charset="-122"/>
                  <a:ea typeface="微软雅黑 Light" panose="020B0502040204020203" pitchFamily="34" charset="-122"/>
                </a:rPr>
                <a:t>MIME</a:t>
              </a:r>
            </a:p>
          </p:txBody>
        </p:sp>
        <p:sp>
          <p:nvSpPr>
            <p:cNvPr id="10" name="Rectangle 8"/>
            <p:cNvSpPr>
              <a:spLocks noChangeArrowheads="1"/>
            </p:cNvSpPr>
            <p:nvPr/>
          </p:nvSpPr>
          <p:spPr bwMode="auto">
            <a:xfrm>
              <a:off x="7704203" y="4679527"/>
              <a:ext cx="1281245" cy="596900"/>
            </a:xfrm>
            <a:prstGeom prst="rect">
              <a:avLst/>
            </a:prstGeom>
            <a:solidFill>
              <a:srgbClr val="00FFCC"/>
            </a:solidFill>
            <a:ln w="9525">
              <a:solidFill>
                <a:srgbClr val="333399"/>
              </a:solidFill>
              <a:miter lim="800000"/>
              <a:headEnd/>
              <a:tailEnd/>
            </a:ln>
            <a:effectLst/>
          </p:spPr>
          <p:txBody>
            <a:bodyPr wrap="none" anchor="ctr"/>
            <a:lstStyle/>
            <a:p>
              <a:pPr algn="ctr" eaLnBrk="1" hangingPunct="1"/>
              <a:r>
                <a:rPr kumimoji="1" lang="en-US" altLang="zh-CN" sz="1600" b="1" dirty="0">
                  <a:latin typeface="微软雅黑 Light" panose="020B0502040204020203" pitchFamily="34" charset="-122"/>
                  <a:ea typeface="微软雅黑 Light" panose="020B0502040204020203" pitchFamily="34" charset="-122"/>
                </a:rPr>
                <a:t>SMTP</a:t>
              </a:r>
            </a:p>
          </p:txBody>
        </p:sp>
        <p:sp>
          <p:nvSpPr>
            <p:cNvPr id="11" name="Line 9"/>
            <p:cNvSpPr>
              <a:spLocks noChangeShapeType="1"/>
            </p:cNvSpPr>
            <p:nvPr/>
          </p:nvSpPr>
          <p:spPr bwMode="auto">
            <a:xfrm>
              <a:off x="2484635" y="4977977"/>
              <a:ext cx="5240205" cy="0"/>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rot="5400000" flipH="1" flipV="1">
              <a:off x="1286867" y="4142159"/>
              <a:ext cx="1074737" cy="0"/>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13" name="Line 11"/>
            <p:cNvSpPr>
              <a:spLocks noChangeShapeType="1"/>
            </p:cNvSpPr>
            <p:nvPr/>
          </p:nvSpPr>
          <p:spPr bwMode="auto">
            <a:xfrm rot="5400000" flipH="1" flipV="1">
              <a:off x="7808317" y="4142159"/>
              <a:ext cx="1074737" cy="0"/>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14" name="Line 12"/>
            <p:cNvSpPr>
              <a:spLocks noChangeShapeType="1"/>
            </p:cNvSpPr>
            <p:nvPr/>
          </p:nvSpPr>
          <p:spPr bwMode="auto">
            <a:xfrm rot="16200000" flipV="1">
              <a:off x="1439266" y="2622921"/>
              <a:ext cx="769938" cy="0"/>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rot="16200000" flipV="1">
              <a:off x="7960716" y="2622921"/>
              <a:ext cx="769938" cy="0"/>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16" name="Text Box 14"/>
            <p:cNvSpPr txBox="1">
              <a:spLocks noChangeArrowheads="1"/>
            </p:cNvSpPr>
            <p:nvPr/>
          </p:nvSpPr>
          <p:spPr bwMode="auto">
            <a:xfrm>
              <a:off x="6490030" y="3914352"/>
              <a:ext cx="1738589" cy="4268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b="1" dirty="0">
                  <a:solidFill>
                    <a:srgbClr val="0000FF"/>
                  </a:solidFill>
                  <a:latin typeface="微软雅黑 Light" panose="020B0502040204020203" pitchFamily="34" charset="-122"/>
                  <a:ea typeface="微软雅黑 Light" panose="020B0502040204020203" pitchFamily="34" charset="-122"/>
                </a:rPr>
                <a:t>7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位 </a:t>
              </a:r>
              <a:r>
                <a:rPr kumimoji="1" lang="en-US" altLang="zh-CN" sz="1600" b="1" dirty="0">
                  <a:solidFill>
                    <a:srgbClr val="0000FF"/>
                  </a:solidFill>
                  <a:latin typeface="微软雅黑 Light" panose="020B0502040204020203" pitchFamily="34" charset="-122"/>
                  <a:ea typeface="微软雅黑 Light" panose="020B0502040204020203" pitchFamily="34" charset="-122"/>
                </a:rPr>
                <a:t>ASCII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码</a:t>
              </a:r>
            </a:p>
          </p:txBody>
        </p:sp>
        <p:sp>
          <p:nvSpPr>
            <p:cNvPr id="17" name="Text Box 15"/>
            <p:cNvSpPr txBox="1">
              <a:spLocks noChangeArrowheads="1"/>
            </p:cNvSpPr>
            <p:nvPr/>
          </p:nvSpPr>
          <p:spPr bwMode="auto">
            <a:xfrm>
              <a:off x="3955057" y="4555702"/>
              <a:ext cx="1738589" cy="4268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b="1" dirty="0">
                  <a:solidFill>
                    <a:srgbClr val="0000FF"/>
                  </a:solidFill>
                  <a:latin typeface="微软雅黑 Light" panose="020B0502040204020203" pitchFamily="34" charset="-122"/>
                  <a:ea typeface="微软雅黑 Light" panose="020B0502040204020203" pitchFamily="34" charset="-122"/>
                </a:rPr>
                <a:t>7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位 </a:t>
              </a:r>
              <a:r>
                <a:rPr kumimoji="1" lang="en-US" altLang="zh-CN" sz="1600" b="1" dirty="0">
                  <a:solidFill>
                    <a:srgbClr val="0000FF"/>
                  </a:solidFill>
                  <a:latin typeface="微软雅黑 Light" panose="020B0502040204020203" pitchFamily="34" charset="-122"/>
                  <a:ea typeface="微软雅黑 Light" panose="020B0502040204020203" pitchFamily="34" charset="-122"/>
                </a:rPr>
                <a:t>ASCII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码</a:t>
              </a:r>
            </a:p>
          </p:txBody>
        </p:sp>
        <p:sp>
          <p:nvSpPr>
            <p:cNvPr id="18" name="Text Box 16"/>
            <p:cNvSpPr txBox="1">
              <a:spLocks noChangeArrowheads="1"/>
            </p:cNvSpPr>
            <p:nvPr/>
          </p:nvSpPr>
          <p:spPr bwMode="auto">
            <a:xfrm>
              <a:off x="6662009" y="2430041"/>
              <a:ext cx="1522325" cy="4268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rgbClr val="C00000"/>
                  </a:solidFill>
                  <a:latin typeface="微软雅黑 Light" panose="020B0502040204020203" pitchFamily="34" charset="-122"/>
                  <a:ea typeface="微软雅黑 Light" panose="020B0502040204020203" pitchFamily="34" charset="-122"/>
                </a:rPr>
                <a:t>非 </a:t>
              </a:r>
              <a:r>
                <a:rPr kumimoji="1" lang="en-US" altLang="zh-CN" sz="1600" b="1" dirty="0">
                  <a:solidFill>
                    <a:srgbClr val="C00000"/>
                  </a:solidFill>
                  <a:latin typeface="微软雅黑 Light" panose="020B0502040204020203" pitchFamily="34" charset="-122"/>
                  <a:ea typeface="微软雅黑 Light" panose="020B0502040204020203" pitchFamily="34" charset="-122"/>
                </a:rPr>
                <a:t>ASCII </a:t>
              </a:r>
              <a:r>
                <a:rPr kumimoji="1" lang="zh-CN" altLang="en-US" sz="1600" b="1" dirty="0">
                  <a:solidFill>
                    <a:srgbClr val="C00000"/>
                  </a:solidFill>
                  <a:latin typeface="微软雅黑 Light" panose="020B0502040204020203" pitchFamily="34" charset="-122"/>
                  <a:ea typeface="微软雅黑 Light" panose="020B0502040204020203" pitchFamily="34" charset="-122"/>
                </a:rPr>
                <a:t>码</a:t>
              </a:r>
            </a:p>
          </p:txBody>
        </p:sp>
        <p:sp>
          <p:nvSpPr>
            <p:cNvPr id="19" name="Rectangle 17"/>
            <p:cNvSpPr>
              <a:spLocks noChangeArrowheads="1"/>
            </p:cNvSpPr>
            <p:nvPr/>
          </p:nvSpPr>
          <p:spPr bwMode="auto">
            <a:xfrm>
              <a:off x="1301419" y="1772816"/>
              <a:ext cx="1047353" cy="477837"/>
            </a:xfrm>
            <a:prstGeom prst="rect">
              <a:avLst/>
            </a:prstGeom>
            <a:solidFill>
              <a:srgbClr val="99FFCC"/>
            </a:solidFill>
            <a:ln w="9525">
              <a:solidFill>
                <a:srgbClr val="333399"/>
              </a:solidFill>
              <a:miter lim="800000"/>
              <a:headEnd/>
              <a:tailEnd/>
            </a:ln>
            <a:effectLst/>
          </p:spPr>
          <p:txBody>
            <a:bodyPr wrap="none" anchor="ctr"/>
            <a:lstStyle/>
            <a:p>
              <a:pPr algn="ctr" eaLnBrk="1" hangingPunct="1"/>
              <a:r>
                <a:rPr kumimoji="1" lang="zh-CN" altLang="en-US" sz="1600" b="1" dirty="0">
                  <a:latin typeface="微软雅黑 Light" panose="020B0502040204020203" pitchFamily="34" charset="-122"/>
                  <a:ea typeface="微软雅黑 Light" panose="020B0502040204020203" pitchFamily="34" charset="-122"/>
                </a:rPr>
                <a:t>用户</a:t>
              </a:r>
            </a:p>
          </p:txBody>
        </p:sp>
        <p:sp>
          <p:nvSpPr>
            <p:cNvPr id="20" name="Rectangle 18"/>
            <p:cNvSpPr>
              <a:spLocks noChangeArrowheads="1"/>
            </p:cNvSpPr>
            <p:nvPr/>
          </p:nvSpPr>
          <p:spPr bwMode="auto">
            <a:xfrm>
              <a:off x="7821148" y="1772816"/>
              <a:ext cx="1047354" cy="477837"/>
            </a:xfrm>
            <a:prstGeom prst="rect">
              <a:avLst/>
            </a:prstGeom>
            <a:solidFill>
              <a:srgbClr val="99FFCC"/>
            </a:solidFill>
            <a:ln w="9525">
              <a:solidFill>
                <a:srgbClr val="333399"/>
              </a:solidFill>
              <a:miter lim="800000"/>
              <a:headEnd/>
              <a:tailEnd/>
            </a:ln>
            <a:effectLst/>
          </p:spPr>
          <p:txBody>
            <a:bodyPr wrap="none" anchor="ctr"/>
            <a:lstStyle/>
            <a:p>
              <a:pPr algn="ctr" eaLnBrk="1" hangingPunct="1"/>
              <a:r>
                <a:rPr kumimoji="1" lang="zh-CN" altLang="en-US" sz="1600" b="1" dirty="0">
                  <a:latin typeface="微软雅黑 Light" panose="020B0502040204020203" pitchFamily="34" charset="-122"/>
                  <a:ea typeface="微软雅黑 Light" panose="020B0502040204020203" pitchFamily="34" charset="-122"/>
                </a:rPr>
                <a:t>用户</a:t>
              </a:r>
            </a:p>
          </p:txBody>
        </p:sp>
      </p:grpSp>
      <p:sp>
        <p:nvSpPr>
          <p:cNvPr id="22" name="AutoShape 5"/>
          <p:cNvSpPr>
            <a:spLocks noChangeArrowheads="1"/>
          </p:cNvSpPr>
          <p:nvPr/>
        </p:nvSpPr>
        <p:spPr bwMode="auto">
          <a:xfrm>
            <a:off x="556963" y="602576"/>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23" name="矩形 22"/>
          <p:cNvSpPr/>
          <p:nvPr/>
        </p:nvSpPr>
        <p:spPr>
          <a:xfrm>
            <a:off x="645268" y="560336"/>
            <a:ext cx="2759089"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和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的关系</a:t>
            </a:r>
          </a:p>
        </p:txBody>
      </p:sp>
    </p:spTree>
    <p:extLst>
      <p:ext uri="{BB962C8B-B14F-4D97-AF65-F5344CB8AC3E}">
        <p14:creationId xmlns:p14="http://schemas.microsoft.com/office/powerpoint/2010/main" val="2291374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4" y="913277"/>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5 </a:t>
            </a:r>
            <a:r>
              <a:rPr lang="zh-CN" altLang="en-US" sz="2000" b="1" dirty="0">
                <a:latin typeface="微软雅黑 Light" panose="020B0502040204020203" pitchFamily="34" charset="-122"/>
                <a:ea typeface="微软雅黑 Light" panose="020B0502040204020203" pitchFamily="34" charset="-122"/>
              </a:rPr>
              <a:t>个新的邮件</a:t>
            </a:r>
            <a:r>
              <a:rPr lang="zh-CN" altLang="en-US" sz="2000" b="1" dirty="0">
                <a:solidFill>
                  <a:srgbClr val="0000FF"/>
                </a:solidFill>
                <a:latin typeface="微软雅黑 Light" panose="020B0502040204020203" pitchFamily="34" charset="-122"/>
                <a:ea typeface="微软雅黑 Light" panose="020B0502040204020203" pitchFamily="34" charset="-122"/>
              </a:rPr>
              <a:t>首部字段</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定义了许多邮件内容的</a:t>
            </a:r>
            <a:r>
              <a:rPr lang="zh-CN" altLang="en-US" sz="2000" b="1" dirty="0">
                <a:solidFill>
                  <a:srgbClr val="0000FF"/>
                </a:solidFill>
                <a:latin typeface="微软雅黑 Light" panose="020B0502040204020203" pitchFamily="34" charset="-122"/>
                <a:ea typeface="微软雅黑 Light" panose="020B0502040204020203" pitchFamily="34" charset="-122"/>
              </a:rPr>
              <a:t>格式</a:t>
            </a:r>
            <a:r>
              <a:rPr lang="zh-CN" altLang="en-US" sz="2000" b="1" dirty="0">
                <a:latin typeface="微软雅黑 Light" panose="020B0502040204020203" pitchFamily="34" charset="-122"/>
                <a:ea typeface="微软雅黑 Light" panose="020B0502040204020203" pitchFamily="34" charset="-122"/>
              </a:rPr>
              <a:t>，对多媒体电子邮件的表示方法进行了标准化。</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定义了</a:t>
            </a:r>
            <a:r>
              <a:rPr lang="zh-CN" altLang="en-US" sz="2000" b="1" dirty="0">
                <a:solidFill>
                  <a:srgbClr val="0000FF"/>
                </a:solidFill>
                <a:latin typeface="微软雅黑 Light" panose="020B0502040204020203" pitchFamily="34" charset="-122"/>
                <a:ea typeface="微软雅黑 Light" panose="020B0502040204020203" pitchFamily="34" charset="-122"/>
              </a:rPr>
              <a:t>传送编码</a:t>
            </a:r>
            <a:r>
              <a:rPr lang="zh-CN" altLang="en-US" sz="2000" b="1" dirty="0">
                <a:latin typeface="微软雅黑 Light" panose="020B0502040204020203" pitchFamily="34" charset="-122"/>
                <a:ea typeface="微软雅黑 Light" panose="020B0502040204020203" pitchFamily="34" charset="-122"/>
              </a:rPr>
              <a:t>，可对任何内容格式进行转换，而不会被邮件系统改变。</a:t>
            </a:r>
          </a:p>
        </p:txBody>
      </p:sp>
      <p:sp>
        <p:nvSpPr>
          <p:cNvPr id="5" name="AutoShape 5"/>
          <p:cNvSpPr>
            <a:spLocks noChangeArrowheads="1"/>
          </p:cNvSpPr>
          <p:nvPr/>
        </p:nvSpPr>
        <p:spPr bwMode="auto">
          <a:xfrm>
            <a:off x="556963" y="60433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52954"/>
            <a:ext cx="307488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主要包括三个部分</a:t>
            </a:r>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209"/>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44681"/>
            <a:ext cx="3643946" cy="400110"/>
          </a:xfrm>
          <a:prstGeom prst="rect">
            <a:avLst/>
          </a:prstGeom>
        </p:spPr>
        <p:txBody>
          <a:bodyPr wrap="none"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增加 </a:t>
            </a:r>
            <a:r>
              <a:rPr lang="en-US" altLang="zh-CN" sz="2000" b="1" dirty="0">
                <a:latin typeface="微软雅黑 Light" panose="020B0502040204020203" pitchFamily="34" charset="-122"/>
                <a:ea typeface="微软雅黑 Light" panose="020B0502040204020203" pitchFamily="34" charset="-122"/>
              </a:rPr>
              <a:t>5 </a:t>
            </a:r>
            <a:r>
              <a:rPr lang="zh-CN" altLang="en-US" sz="2000" b="1" dirty="0">
                <a:latin typeface="微软雅黑 Light" panose="020B0502040204020203" pitchFamily="34" charset="-122"/>
                <a:ea typeface="微软雅黑 Light" panose="020B0502040204020203" pitchFamily="34" charset="-122"/>
              </a:rPr>
              <a:t>个新的邮件首部</a:t>
            </a:r>
          </a:p>
        </p:txBody>
      </p:sp>
      <p:sp>
        <p:nvSpPr>
          <p:cNvPr id="2" name="矩形 1"/>
          <p:cNvSpPr/>
          <p:nvPr/>
        </p:nvSpPr>
        <p:spPr>
          <a:xfrm>
            <a:off x="1789774" y="1273689"/>
            <a:ext cx="6345239" cy="367862"/>
          </a:xfrm>
          <a:prstGeom prst="rect">
            <a:avLst/>
          </a:prstGeom>
          <a:solidFill>
            <a:srgbClr val="00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b="1" dirty="0">
                <a:solidFill>
                  <a:schemeClr val="bg1"/>
                </a:solidFill>
                <a:latin typeface="微软雅黑 Light" panose="020B0502040204020203" pitchFamily="34" charset="-122"/>
                <a:ea typeface="微软雅黑 Light" panose="020B0502040204020203" pitchFamily="34" charset="-122"/>
              </a:rPr>
              <a:t>邮件首部</a:t>
            </a:r>
          </a:p>
        </p:txBody>
      </p:sp>
      <p:sp>
        <p:nvSpPr>
          <p:cNvPr id="7" name="矩形 6"/>
          <p:cNvSpPr/>
          <p:nvPr/>
        </p:nvSpPr>
        <p:spPr>
          <a:xfrm>
            <a:off x="1789774" y="1641551"/>
            <a:ext cx="6345239" cy="1921650"/>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 name="矩形 7"/>
          <p:cNvSpPr/>
          <p:nvPr/>
        </p:nvSpPr>
        <p:spPr>
          <a:xfrm>
            <a:off x="1789774" y="3563201"/>
            <a:ext cx="6345239" cy="367862"/>
          </a:xfrm>
          <a:prstGeom prst="rect">
            <a:avLst/>
          </a:prstGeom>
          <a:solidFill>
            <a:srgbClr val="FF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b="1" dirty="0">
                <a:solidFill>
                  <a:schemeClr val="tx1"/>
                </a:solidFill>
                <a:latin typeface="微软雅黑 Light" panose="020B0502040204020203" pitchFamily="34" charset="-122"/>
                <a:ea typeface="微软雅黑 Light" panose="020B0502040204020203" pitchFamily="34" charset="-122"/>
              </a:rPr>
              <a:t>邮件主体</a:t>
            </a:r>
          </a:p>
        </p:txBody>
      </p:sp>
      <p:sp>
        <p:nvSpPr>
          <p:cNvPr id="3" name="矩形 2"/>
          <p:cNvSpPr/>
          <p:nvPr/>
        </p:nvSpPr>
        <p:spPr>
          <a:xfrm>
            <a:off x="927204" y="2197229"/>
            <a:ext cx="784189" cy="646331"/>
          </a:xfrm>
          <a:prstGeom prst="rect">
            <a:avLst/>
          </a:prstGeom>
        </p:spPr>
        <p:txBody>
          <a:bodyPr wrap="none">
            <a:spAutoFit/>
          </a:bodyPr>
          <a:lstStyle/>
          <a:p>
            <a:pPr algn="ctr"/>
            <a:r>
              <a:rPr lang="en-US" altLang="zh-CN" b="1" dirty="0">
                <a:solidFill>
                  <a:srgbClr val="0000FF"/>
                </a:solidFill>
                <a:latin typeface="微软雅黑 Light" panose="020B0502040204020203" pitchFamily="34" charset="-122"/>
                <a:ea typeface="微软雅黑 Light" panose="020B0502040204020203" pitchFamily="34" charset="-122"/>
              </a:rPr>
              <a:t>MIME</a:t>
            </a:r>
          </a:p>
          <a:p>
            <a:pPr algn="ctr"/>
            <a:r>
              <a:rPr lang="zh-CN" altLang="en-US" b="1" dirty="0">
                <a:solidFill>
                  <a:srgbClr val="0000FF"/>
                </a:solidFill>
                <a:latin typeface="微软雅黑 Light" panose="020B0502040204020203" pitchFamily="34" charset="-122"/>
                <a:ea typeface="微软雅黑 Light" panose="020B0502040204020203" pitchFamily="34" charset="-122"/>
              </a:rPr>
              <a:t>首部</a:t>
            </a:r>
          </a:p>
        </p:txBody>
      </p:sp>
      <p:sp>
        <p:nvSpPr>
          <p:cNvPr id="9" name="Rectangle 68"/>
          <p:cNvSpPr>
            <a:spLocks noChangeArrowheads="1"/>
          </p:cNvSpPr>
          <p:nvPr/>
        </p:nvSpPr>
        <p:spPr bwMode="auto">
          <a:xfrm>
            <a:off x="1825141" y="1675198"/>
            <a:ext cx="6383444" cy="175945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179388" indent="-179388" eaLnBrk="0" hangingPunct="0">
              <a:lnSpc>
                <a:spcPts val="2600"/>
              </a:lnSpc>
              <a:buClr>
                <a:srgbClr val="0070C0"/>
              </a:buClr>
              <a:buFont typeface="Wingdings" pitchFamily="2" charset="2"/>
              <a:buChar char="l"/>
            </a:pPr>
            <a:r>
              <a:rPr lang="en-US" altLang="zh-CN" sz="1600" b="1" dirty="0">
                <a:solidFill>
                  <a:srgbClr val="0000FF"/>
                </a:solidFill>
                <a:latin typeface="微软雅黑 Light" panose="020B0502040204020203" pitchFamily="34" charset="-122"/>
                <a:ea typeface="微软雅黑 Light" panose="020B0502040204020203" pitchFamily="34" charset="-122"/>
              </a:rPr>
              <a:t>MIME-Version</a:t>
            </a:r>
            <a:r>
              <a:rPr lang="zh-CN" altLang="en-US" sz="1600" b="1" dirty="0">
                <a:solidFill>
                  <a:srgbClr val="0000FF"/>
                </a:solidFill>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MIME </a:t>
            </a:r>
            <a:r>
              <a:rPr lang="zh-CN" altLang="en-US" sz="1600" b="1" dirty="0">
                <a:latin typeface="微软雅黑 Light" panose="020B0502040204020203" pitchFamily="34" charset="-122"/>
                <a:ea typeface="微软雅黑 Light" panose="020B0502040204020203" pitchFamily="34" charset="-122"/>
              </a:rPr>
              <a:t>的版本。若无此行，则为英文文本。</a:t>
            </a:r>
          </a:p>
          <a:p>
            <a:pPr marL="179388" indent="-179388" eaLnBrk="0" hangingPunct="0">
              <a:lnSpc>
                <a:spcPts val="2600"/>
              </a:lnSpc>
              <a:buClr>
                <a:srgbClr val="0070C0"/>
              </a:buClr>
              <a:buFont typeface="Wingdings" pitchFamily="2" charset="2"/>
              <a:buChar char="l"/>
            </a:pPr>
            <a:r>
              <a:rPr lang="en-US" altLang="zh-CN" sz="1600" b="1" dirty="0">
                <a:solidFill>
                  <a:srgbClr val="0000FF"/>
                </a:solidFill>
                <a:latin typeface="微软雅黑 Light" panose="020B0502040204020203" pitchFamily="34" charset="-122"/>
                <a:ea typeface="微软雅黑 Light" panose="020B0502040204020203" pitchFamily="34" charset="-122"/>
              </a:rPr>
              <a:t>Content-Description</a:t>
            </a:r>
            <a:r>
              <a:rPr lang="zh-CN" altLang="en-US" sz="1600" b="1" dirty="0">
                <a:solidFill>
                  <a:srgbClr val="0000FF"/>
                </a:solidFill>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这是可读字符串，此邮件的说明。</a:t>
            </a:r>
          </a:p>
          <a:p>
            <a:pPr marL="179388" indent="-179388" eaLnBrk="0" hangingPunct="0">
              <a:lnSpc>
                <a:spcPts val="2600"/>
              </a:lnSpc>
              <a:buClr>
                <a:srgbClr val="0070C0"/>
              </a:buClr>
              <a:buFont typeface="Wingdings" pitchFamily="2" charset="2"/>
              <a:buChar char="l"/>
            </a:pPr>
            <a:r>
              <a:rPr lang="en-US" altLang="zh-CN" sz="1600" b="1" dirty="0">
                <a:solidFill>
                  <a:srgbClr val="0000FF"/>
                </a:solidFill>
                <a:latin typeface="微软雅黑 Light" panose="020B0502040204020203" pitchFamily="34" charset="-122"/>
                <a:ea typeface="微软雅黑 Light" panose="020B0502040204020203" pitchFamily="34" charset="-122"/>
              </a:rPr>
              <a:t>Content-Id</a:t>
            </a:r>
            <a:r>
              <a:rPr lang="zh-CN" altLang="en-US" sz="1600" b="1" dirty="0">
                <a:solidFill>
                  <a:srgbClr val="0000FF"/>
                </a:solidFill>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邮件的唯一标识符。 </a:t>
            </a:r>
          </a:p>
          <a:p>
            <a:pPr marL="179388" indent="-179388" eaLnBrk="0" hangingPunct="0">
              <a:lnSpc>
                <a:spcPts val="2600"/>
              </a:lnSpc>
              <a:buClr>
                <a:srgbClr val="0070C0"/>
              </a:buClr>
              <a:buFont typeface="Wingdings" pitchFamily="2" charset="2"/>
              <a:buChar char="l"/>
            </a:pPr>
            <a:r>
              <a:rPr lang="en-US" altLang="zh-CN" sz="1600" b="1" dirty="0">
                <a:solidFill>
                  <a:srgbClr val="0000FF"/>
                </a:solidFill>
                <a:latin typeface="微软雅黑 Light" panose="020B0502040204020203" pitchFamily="34" charset="-122"/>
                <a:ea typeface="微软雅黑 Light" panose="020B0502040204020203" pitchFamily="34" charset="-122"/>
              </a:rPr>
              <a:t>Content-Transfer-Encoding</a:t>
            </a:r>
            <a:r>
              <a:rPr lang="zh-CN" altLang="en-US" sz="1600" b="1" dirty="0">
                <a:solidFill>
                  <a:srgbClr val="0000FF"/>
                </a:solidFill>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传送时邮件主体使用的编码方法。</a:t>
            </a:r>
          </a:p>
          <a:p>
            <a:pPr marL="179388" indent="-179388" eaLnBrk="0" hangingPunct="0">
              <a:lnSpc>
                <a:spcPts val="2600"/>
              </a:lnSpc>
              <a:buClr>
                <a:srgbClr val="0070C0"/>
              </a:buClr>
              <a:buFont typeface="Wingdings" pitchFamily="2" charset="2"/>
              <a:buChar char="l"/>
            </a:pPr>
            <a:r>
              <a:rPr lang="en-US" altLang="zh-CN" sz="1600" b="1" dirty="0">
                <a:solidFill>
                  <a:srgbClr val="0000FF"/>
                </a:solidFill>
                <a:latin typeface="微软雅黑 Light" panose="020B0502040204020203" pitchFamily="34" charset="-122"/>
                <a:ea typeface="微软雅黑 Light" panose="020B0502040204020203" pitchFamily="34" charset="-122"/>
              </a:rPr>
              <a:t>Content-Type</a:t>
            </a:r>
            <a:r>
              <a:rPr lang="zh-CN" altLang="en-US" sz="1600" b="1" dirty="0">
                <a:solidFill>
                  <a:srgbClr val="0000FF"/>
                </a:solidFill>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邮件内容类型 </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子类型。 </a:t>
            </a:r>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088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861540" y="567673"/>
            <a:ext cx="54396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内容传送编码</a:t>
            </a:r>
            <a:r>
              <a:rPr lang="en-US" altLang="zh-CN" sz="2000" b="1" dirty="0">
                <a:solidFill>
                  <a:schemeClr val="bg1"/>
                </a:solidFill>
                <a:latin typeface="微软雅黑 Light" panose="020B0502040204020203" pitchFamily="34" charset="-122"/>
                <a:ea typeface="微软雅黑 Light" panose="020B0502040204020203" pitchFamily="34" charset="-122"/>
              </a:rPr>
              <a:t>(Content-Transfer-Encoding) </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graphicFrame>
        <p:nvGraphicFramePr>
          <p:cNvPr id="5" name="Group 34"/>
          <p:cNvGraphicFramePr>
            <a:graphicFrameLocks noGrp="1"/>
          </p:cNvGraphicFramePr>
          <p:nvPr>
            <p:extLst>
              <p:ext uri="{D42A27DB-BD31-4B8C-83A1-F6EECF244321}">
                <p14:modId xmlns:p14="http://schemas.microsoft.com/office/powerpoint/2010/main" val="3733025834"/>
              </p:ext>
            </p:extLst>
          </p:nvPr>
        </p:nvGraphicFramePr>
        <p:xfrm>
          <a:off x="663499" y="1027960"/>
          <a:ext cx="7814680" cy="3033085"/>
        </p:xfrm>
        <a:graphic>
          <a:graphicData uri="http://schemas.openxmlformats.org/drawingml/2006/table">
            <a:tbl>
              <a:tblPr firstRow="1" bandRow="1">
                <a:tableStyleId>{5C22544A-7EE6-4342-B048-85BDC9FD1C3A}</a:tableStyleId>
              </a:tblPr>
              <a:tblGrid>
                <a:gridCol w="1149825">
                  <a:extLst>
                    <a:ext uri="{9D8B030D-6E8A-4147-A177-3AD203B41FA5}">
                      <a16:colId xmlns:a16="http://schemas.microsoft.com/office/drawing/2014/main" val="20000"/>
                    </a:ext>
                  </a:extLst>
                </a:gridCol>
                <a:gridCol w="6664855">
                  <a:extLst>
                    <a:ext uri="{9D8B030D-6E8A-4147-A177-3AD203B41FA5}">
                      <a16:colId xmlns:a16="http://schemas.microsoft.com/office/drawing/2014/main" val="20001"/>
                    </a:ext>
                  </a:extLst>
                </a:gridCol>
              </a:tblGrid>
              <a:tr h="36603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
                          <a:schemeClr val="folHlink"/>
                        </a:buClr>
                        <a:buSzPct val="60000"/>
                        <a:buFont typeface="Wingdings" pitchFamily="2" charset="2"/>
                        <a:buNone/>
                        <a:tabLst/>
                      </a:pPr>
                      <a:r>
                        <a:rPr kumimoji="1"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编码方法</a:t>
                      </a:r>
                      <a:endParaRPr kumimoji="1" lang="en-US" altLang="ko-KR"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
                          <a:schemeClr val="folHlink"/>
                        </a:buClr>
                        <a:buSzPct val="60000"/>
                        <a:buFont typeface="Wingdings" pitchFamily="2" charset="2"/>
                        <a:buNone/>
                        <a:tabLst/>
                      </a:pPr>
                      <a:r>
                        <a:rPr kumimoji="1"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说明</a:t>
                      </a:r>
                      <a:endParaRPr kumimoji="1" lang="en-US" altLang="ko-KR"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extLst>
                  <a:ext uri="{0D108BD9-81ED-4DB2-BD59-A6C34878D82A}">
                    <a16:rowId xmlns:a16="http://schemas.microsoft.com/office/drawing/2014/main" val="10000"/>
                  </a:ext>
                </a:extLst>
              </a:tr>
              <a:tr h="644119">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7bit</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7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位 </a:t>
                      </a: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ASCII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编码，每行不能超过 </a:t>
                      </a:r>
                      <a:r>
                        <a:rPr kumimoji="1" lang="en-US" altLang="zh-CN" sz="1600" b="1" u="none" strike="noStrike" cap="none" normalizeH="0" baseline="0" dirty="0">
                          <a:ln>
                            <a:noFill/>
                          </a:ln>
                          <a:effectLst/>
                          <a:latin typeface="微软雅黑 Light" panose="020B0502040204020203" pitchFamily="34" charset="-122"/>
                          <a:ea typeface="微软雅黑 Light" panose="020B0502040204020203" pitchFamily="34" charset="-122"/>
                        </a:rPr>
                        <a:t>1000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个字符（包括回车和换行）。默认编码方法。</a:t>
                      </a:r>
                      <a:endParaRPr kumimoji="1" lang="ko-KR" altLang="en-US" sz="1600" b="1" i="0" u="none" strike="noStrike" cap="none" normalizeH="0" baseline="0" dirty="0">
                        <a:ln>
                          <a:noFill/>
                        </a:ln>
                        <a:solidFill>
                          <a:schemeClr val="tx1"/>
                        </a:solidFill>
                        <a:effectLst/>
                        <a:latin typeface="微软雅黑 Light" panose="020B0502040204020203" pitchFamily="34" charset="-122"/>
                        <a:ea typeface="굴림" pitchFamily="50" charset="-127"/>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001"/>
                  </a:ext>
                </a:extLst>
              </a:tr>
              <a:tr h="367349">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8bit</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8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位非 </a:t>
                      </a:r>
                      <a:r>
                        <a:rPr kumimoji="1" lang="en-US" altLang="zh-CN" sz="1600" b="1" u="none" strike="noStrike" cap="none" normalizeH="0" baseline="0" dirty="0">
                          <a:ln>
                            <a:noFill/>
                          </a:ln>
                          <a:effectLst/>
                          <a:latin typeface="微软雅黑 Light" panose="020B0502040204020203" pitchFamily="34" charset="-122"/>
                          <a:ea typeface="微软雅黑 Light" panose="020B0502040204020203" pitchFamily="34" charset="-122"/>
                        </a:rPr>
                        <a:t>ASCII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编码，每行不能超过 </a:t>
                      </a:r>
                      <a:r>
                        <a:rPr kumimoji="1" lang="en-US" altLang="zh-CN" sz="1600" b="1" u="none" strike="noStrike" cap="none" normalizeH="0" baseline="0" dirty="0">
                          <a:ln>
                            <a:noFill/>
                          </a:ln>
                          <a:effectLst/>
                          <a:latin typeface="微软雅黑 Light" panose="020B0502040204020203" pitchFamily="34" charset="-122"/>
                          <a:ea typeface="微软雅黑 Light" panose="020B0502040204020203" pitchFamily="34" charset="-122"/>
                        </a:rPr>
                        <a:t>1000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个字节（包括回车和换行）。</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367349">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Binary</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8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位非 </a:t>
                      </a:r>
                      <a:r>
                        <a:rPr kumimoji="1" lang="en-US" altLang="zh-CN" sz="1600" b="1" u="none" strike="noStrike" cap="none" normalizeH="0" baseline="0" dirty="0">
                          <a:ln>
                            <a:noFill/>
                          </a:ln>
                          <a:effectLst/>
                          <a:latin typeface="微软雅黑 Light" panose="020B0502040204020203" pitchFamily="34" charset="-122"/>
                          <a:ea typeface="微软雅黑 Light" panose="020B0502040204020203" pitchFamily="34" charset="-122"/>
                        </a:rPr>
                        <a:t>ASCII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编码，任意长度的字节串。</a:t>
                      </a:r>
                      <a:endParaRPr kumimoji="1" lang="ko-KR" altLang="en-US" sz="1600" b="1" i="0" u="none" strike="noStrike" cap="none" normalizeH="0" baseline="0" dirty="0">
                        <a:ln>
                          <a:noFill/>
                        </a:ln>
                        <a:solidFill>
                          <a:schemeClr val="tx1"/>
                        </a:solidFill>
                        <a:effectLst/>
                        <a:latin typeface="微软雅黑 Light" panose="020B0502040204020203" pitchFamily="34" charset="-122"/>
                        <a:ea typeface="굴림" pitchFamily="50" charset="-127"/>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003"/>
                  </a:ext>
                </a:extLst>
              </a:tr>
              <a:tr h="644119">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Base64</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zh-CN" altLang="en-US" sz="1600" b="1" u="none" strike="noStrike" kern="1200" cap="none" normalizeH="0" baseline="0" dirty="0">
                          <a:ln>
                            <a:noFill/>
                          </a:ln>
                          <a:solidFill>
                            <a:schemeClr val="dk1"/>
                          </a:solidFill>
                          <a:effectLst/>
                          <a:latin typeface="微软雅黑 Light" panose="020B0502040204020203" pitchFamily="34" charset="-122"/>
                          <a:ea typeface="微软雅黑 Light" panose="020B0502040204020203" pitchFamily="34" charset="-122"/>
                          <a:cs typeface="+mn-cs"/>
                        </a:rPr>
                        <a:t>将任意长度的字节串转换为用 </a:t>
                      </a:r>
                      <a:r>
                        <a:rPr kumimoji="1" lang="en-US" altLang="zh-CN" sz="1600" b="1" u="none" strike="noStrike" kern="1200" cap="none" normalizeH="0" baseline="0" dirty="0">
                          <a:ln>
                            <a:noFill/>
                          </a:ln>
                          <a:solidFill>
                            <a:schemeClr val="dk1"/>
                          </a:solidFill>
                          <a:effectLst/>
                          <a:latin typeface="微软雅黑 Light" panose="020B0502040204020203" pitchFamily="34" charset="-122"/>
                          <a:ea typeface="微软雅黑 Light" panose="020B0502040204020203" pitchFamily="34" charset="-122"/>
                          <a:cs typeface="+mn-cs"/>
                        </a:rPr>
                        <a:t>7 </a:t>
                      </a:r>
                      <a:r>
                        <a:rPr kumimoji="1" lang="zh-CN" altLang="en-US" sz="1600" b="1" u="none" strike="noStrike" kern="1200" cap="none" normalizeH="0" baseline="0" dirty="0">
                          <a:ln>
                            <a:noFill/>
                          </a:ln>
                          <a:solidFill>
                            <a:schemeClr val="dk1"/>
                          </a:solidFill>
                          <a:effectLst/>
                          <a:latin typeface="微软雅黑 Light" panose="020B0502040204020203" pitchFamily="34" charset="-122"/>
                          <a:ea typeface="微软雅黑 Light" panose="020B0502040204020203" pitchFamily="34" charset="-122"/>
                          <a:cs typeface="+mn-cs"/>
                        </a:rPr>
                        <a:t>位 </a:t>
                      </a:r>
                      <a:r>
                        <a:rPr kumimoji="1" lang="en-US" altLang="zh-CN" sz="1600" b="1" u="none" strike="noStrike" kern="1200" cap="none" normalizeH="0" baseline="0" dirty="0">
                          <a:ln>
                            <a:noFill/>
                          </a:ln>
                          <a:solidFill>
                            <a:schemeClr val="dk1"/>
                          </a:solidFill>
                          <a:effectLst/>
                          <a:latin typeface="微软雅黑 Light" panose="020B0502040204020203" pitchFamily="34" charset="-122"/>
                          <a:ea typeface="微软雅黑 Light" panose="020B0502040204020203" pitchFamily="34" charset="-122"/>
                          <a:cs typeface="+mn-cs"/>
                        </a:rPr>
                        <a:t>ASCII </a:t>
                      </a:r>
                      <a:r>
                        <a:rPr kumimoji="1" lang="zh-CN" altLang="en-US" sz="1600" b="1" u="none" strike="noStrike" kern="1200" cap="none" normalizeH="0" baseline="0" dirty="0">
                          <a:ln>
                            <a:noFill/>
                          </a:ln>
                          <a:solidFill>
                            <a:schemeClr val="dk1"/>
                          </a:solidFill>
                          <a:effectLst/>
                          <a:latin typeface="微软雅黑 Light" panose="020B0502040204020203" pitchFamily="34" charset="-122"/>
                          <a:ea typeface="微软雅黑 Light" panose="020B0502040204020203" pitchFamily="34" charset="-122"/>
                          <a:cs typeface="+mn-cs"/>
                        </a:rPr>
                        <a:t>编码表示的字符串。可用于二进制和非文本数据的编码。</a:t>
                      </a:r>
                      <a:endParaRPr kumimoji="1" lang="ko-KR" altLang="en-US" sz="1600" b="1" u="none" strike="noStrike" kern="1200" cap="none" normalizeH="0" baseline="0" dirty="0">
                        <a:ln>
                          <a:noFill/>
                        </a:ln>
                        <a:solidFill>
                          <a:schemeClr val="dk1"/>
                        </a:solidFill>
                        <a:effectLst/>
                        <a:latin typeface="微软雅黑 Light" panose="020B0502040204020203" pitchFamily="34" charset="-122"/>
                        <a:ea typeface="微软雅黑" pitchFamily="34" charset="-122"/>
                        <a:cs typeface="+mn-cs"/>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644119">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Quoted-printable</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将任意长度的字节串转换为 </a:t>
                      </a:r>
                      <a:r>
                        <a:rPr kumimoji="1" lang="en-US" altLang="zh-CN" sz="1600" b="1" u="none" strike="noStrike" cap="none" normalizeH="0" baseline="0" dirty="0">
                          <a:ln>
                            <a:noFill/>
                          </a:ln>
                          <a:effectLst/>
                          <a:latin typeface="微软雅黑 Light" panose="020B0502040204020203" pitchFamily="34" charset="-122"/>
                          <a:ea typeface="微软雅黑 Light" panose="020B0502040204020203" pitchFamily="34" charset="-122"/>
                        </a:rPr>
                        <a:t>ASCII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编码表示的字符串。可用于二进制和非文本数据的编码。</a:t>
                      </a: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4" y="913678"/>
            <a:ext cx="8048776" cy="42428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适用于所传送的数据中只有</a:t>
            </a:r>
            <a:r>
              <a:rPr lang="zh-CN" altLang="en-US" sz="2000" b="1" dirty="0">
                <a:solidFill>
                  <a:srgbClr val="C00000"/>
                </a:solidFill>
                <a:latin typeface="微软雅黑 Light" panose="020B0502040204020203" pitchFamily="34" charset="-122"/>
                <a:ea typeface="微软雅黑 Light" panose="020B0502040204020203" pitchFamily="34" charset="-122"/>
              </a:rPr>
              <a:t>少量</a:t>
            </a:r>
            <a:r>
              <a:rPr lang="zh-CN" altLang="en-US" sz="2000" b="1" dirty="0">
                <a:latin typeface="微软雅黑 Light" panose="020B0502040204020203" pitchFamily="34" charset="-122"/>
                <a:ea typeface="微软雅黑 Light" panose="020B0502040204020203" pitchFamily="34" charset="-122"/>
              </a:rPr>
              <a:t>的非 </a:t>
            </a:r>
            <a:r>
              <a:rPr lang="en-US" altLang="zh-CN" sz="2000" b="1" dirty="0">
                <a:latin typeface="微软雅黑 Light" panose="020B0502040204020203" pitchFamily="34" charset="-122"/>
                <a:ea typeface="微软雅黑 Light" panose="020B0502040204020203" pitchFamily="34" charset="-122"/>
              </a:rPr>
              <a:t>ASCII </a:t>
            </a:r>
            <a:r>
              <a:rPr lang="zh-CN" altLang="en-US" sz="2000" b="1" dirty="0">
                <a:latin typeface="微软雅黑 Light" panose="020B0502040204020203" pitchFamily="34" charset="-122"/>
                <a:ea typeface="微软雅黑 Light" panose="020B0502040204020203" pitchFamily="34" charset="-122"/>
              </a:rPr>
              <a:t>码的情况。</a:t>
            </a:r>
            <a:endParaRPr lang="en-US" altLang="zh-CN" sz="2000" b="1" dirty="0">
              <a:latin typeface="微软雅黑 Light" panose="020B0502040204020203" pitchFamily="34" charset="-122"/>
              <a:ea typeface="微软雅黑 Light" panose="020B0502040204020203" pitchFamily="34" charset="-122"/>
            </a:endParaRPr>
          </a:p>
        </p:txBody>
      </p:sp>
      <p:sp>
        <p:nvSpPr>
          <p:cNvPr id="5" name="AutoShape 5"/>
          <p:cNvSpPr>
            <a:spLocks noChangeArrowheads="1"/>
          </p:cNvSpPr>
          <p:nvPr/>
        </p:nvSpPr>
        <p:spPr bwMode="auto">
          <a:xfrm>
            <a:off x="556963" y="599254"/>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47870"/>
            <a:ext cx="5072360" cy="40011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Quoted-printable </a:t>
            </a:r>
            <a:r>
              <a:rPr lang="zh-CN" altLang="en-US" sz="2000" b="1" dirty="0">
                <a:latin typeface="微软雅黑 Light" panose="020B0502040204020203" pitchFamily="34" charset="-122"/>
                <a:ea typeface="微软雅黑 Light" panose="020B0502040204020203" pitchFamily="34" charset="-122"/>
              </a:rPr>
              <a:t>编码</a:t>
            </a:r>
          </a:p>
        </p:txBody>
      </p:sp>
      <p:sp>
        <p:nvSpPr>
          <p:cNvPr id="8" name="Rectangle 1030"/>
          <p:cNvSpPr>
            <a:spLocks noChangeArrowheads="1"/>
          </p:cNvSpPr>
          <p:nvPr/>
        </p:nvSpPr>
        <p:spPr bwMode="auto">
          <a:xfrm>
            <a:off x="1037781" y="2730424"/>
            <a:ext cx="993646" cy="277470"/>
          </a:xfrm>
          <a:prstGeom prst="rect">
            <a:avLst/>
          </a:prstGeom>
          <a:solidFill>
            <a:srgbClr val="0000FF"/>
          </a:solidFill>
          <a:ln w="9525">
            <a:solidFill>
              <a:srgbClr val="000000"/>
            </a:solidFill>
            <a:miter lim="800000"/>
            <a:headEnd/>
            <a:tailEnd/>
          </a:ln>
          <a:effectLst/>
        </p:spPr>
        <p:txBody>
          <a:bodyPr wrap="none" anchor="ct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eaLnBrk="1" hangingPunct="1"/>
            <a:r>
              <a:rPr lang="en-US" altLang="zh-CN" sz="1200" b="1" dirty="0">
                <a:solidFill>
                  <a:schemeClr val="bg1"/>
                </a:solidFill>
                <a:latin typeface="微软雅黑 Light" panose="020B0502040204020203" pitchFamily="34" charset="-122"/>
                <a:ea typeface="微软雅黑 Light" panose="020B0502040204020203" pitchFamily="34" charset="-122"/>
              </a:rPr>
              <a:t>00111101</a:t>
            </a:r>
          </a:p>
        </p:txBody>
      </p:sp>
      <p:sp>
        <p:nvSpPr>
          <p:cNvPr id="9" name="Rectangle 1031"/>
          <p:cNvSpPr>
            <a:spLocks noChangeArrowheads="1"/>
          </p:cNvSpPr>
          <p:nvPr/>
        </p:nvSpPr>
        <p:spPr bwMode="auto">
          <a:xfrm>
            <a:off x="2039791" y="2730424"/>
            <a:ext cx="993646" cy="277470"/>
          </a:xfrm>
          <a:prstGeom prst="rect">
            <a:avLst/>
          </a:prstGeom>
          <a:solidFill>
            <a:srgbClr val="0000FF"/>
          </a:solidFill>
          <a:ln w="9525">
            <a:solidFill>
              <a:srgbClr val="000000"/>
            </a:solidFill>
            <a:miter lim="800000"/>
            <a:headEnd/>
            <a:tailEnd/>
          </a:ln>
          <a:effectLst/>
        </p:spPr>
        <p:txBody>
          <a:bodyPr wrap="none" anchor="ct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eaLnBrk="1" hangingPunct="1"/>
            <a:r>
              <a:rPr lang="en-US" altLang="zh-CN" sz="1200" b="1" dirty="0">
                <a:solidFill>
                  <a:schemeClr val="bg1"/>
                </a:solidFill>
                <a:latin typeface="微软雅黑 Light" panose="020B0502040204020203" pitchFamily="34" charset="-122"/>
                <a:ea typeface="微软雅黑 Light" panose="020B0502040204020203" pitchFamily="34" charset="-122"/>
              </a:rPr>
              <a:t>00111001</a:t>
            </a:r>
          </a:p>
        </p:txBody>
      </p:sp>
      <p:sp>
        <p:nvSpPr>
          <p:cNvPr id="10" name="Rectangle 1032"/>
          <p:cNvSpPr>
            <a:spLocks noChangeArrowheads="1"/>
          </p:cNvSpPr>
          <p:nvPr/>
        </p:nvSpPr>
        <p:spPr bwMode="auto">
          <a:xfrm>
            <a:off x="3031291" y="2730424"/>
            <a:ext cx="993646" cy="277470"/>
          </a:xfrm>
          <a:prstGeom prst="rect">
            <a:avLst/>
          </a:prstGeom>
          <a:solidFill>
            <a:srgbClr val="0000FF"/>
          </a:solidFill>
          <a:ln w="9525">
            <a:solidFill>
              <a:srgbClr val="000000"/>
            </a:solidFill>
            <a:miter lim="800000"/>
            <a:headEnd/>
            <a:tailEnd/>
          </a:ln>
          <a:effectLst/>
        </p:spPr>
        <p:txBody>
          <a:bodyPr wrap="none" anchor="ct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eaLnBrk="1" hangingPunct="1"/>
            <a:r>
              <a:rPr lang="en-US" altLang="zh-CN" sz="1200" b="1" dirty="0">
                <a:solidFill>
                  <a:schemeClr val="bg1"/>
                </a:solidFill>
                <a:latin typeface="微软雅黑 Light" panose="020B0502040204020203" pitchFamily="34" charset="-122"/>
                <a:ea typeface="微软雅黑 Light" panose="020B0502040204020203" pitchFamily="34" charset="-122"/>
              </a:rPr>
              <a:t>01000100</a:t>
            </a:r>
          </a:p>
        </p:txBody>
      </p:sp>
      <p:sp>
        <p:nvSpPr>
          <p:cNvPr id="11" name="Line 1035"/>
          <p:cNvSpPr>
            <a:spLocks noChangeShapeType="1"/>
          </p:cNvSpPr>
          <p:nvPr/>
        </p:nvSpPr>
        <p:spPr bwMode="auto">
          <a:xfrm flipH="1">
            <a:off x="1546227" y="1999099"/>
            <a:ext cx="738668" cy="731324"/>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Line 1036"/>
          <p:cNvSpPr>
            <a:spLocks noChangeShapeType="1"/>
          </p:cNvSpPr>
          <p:nvPr/>
        </p:nvSpPr>
        <p:spPr bwMode="auto">
          <a:xfrm flipH="1">
            <a:off x="2487095" y="1945728"/>
            <a:ext cx="0" cy="784695"/>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1037"/>
          <p:cNvSpPr>
            <a:spLocks noChangeShapeType="1"/>
          </p:cNvSpPr>
          <p:nvPr/>
        </p:nvSpPr>
        <p:spPr bwMode="auto">
          <a:xfrm>
            <a:off x="2757862" y="1818633"/>
            <a:ext cx="791917" cy="911791"/>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043"/>
          <p:cNvSpPr txBox="1">
            <a:spLocks noChangeArrowheads="1"/>
          </p:cNvSpPr>
          <p:nvPr/>
        </p:nvSpPr>
        <p:spPr bwMode="auto">
          <a:xfrm>
            <a:off x="1268065" y="2422994"/>
            <a:ext cx="3850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lgn="l" eaLnBrk="1" hangingPunct="1"/>
            <a:r>
              <a:rPr lang="en-US" altLang="zh-CN" sz="1200" b="1" dirty="0">
                <a:solidFill>
                  <a:srgbClr val="020202"/>
                </a:solidFill>
                <a:latin typeface="微软雅黑 Light" panose="020B0502040204020203" pitchFamily="34" charset="-122"/>
                <a:ea typeface="微软雅黑 Light" panose="020B0502040204020203" pitchFamily="34" charset="-122"/>
              </a:rPr>
              <a:t>(=)</a:t>
            </a:r>
          </a:p>
        </p:txBody>
      </p:sp>
      <p:sp>
        <p:nvSpPr>
          <p:cNvPr id="15" name="Text Box 1044"/>
          <p:cNvSpPr txBox="1">
            <a:spLocks noChangeArrowheads="1"/>
          </p:cNvSpPr>
          <p:nvPr/>
        </p:nvSpPr>
        <p:spPr bwMode="auto">
          <a:xfrm>
            <a:off x="2482976" y="242299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lgn="l" eaLnBrk="1" hangingPunct="1"/>
            <a:r>
              <a:rPr lang="en-US" altLang="zh-CN" sz="1200" b="1" dirty="0">
                <a:solidFill>
                  <a:srgbClr val="020202"/>
                </a:solidFill>
                <a:latin typeface="微软雅黑 Light" panose="020B0502040204020203" pitchFamily="34" charset="-122"/>
                <a:ea typeface="微软雅黑 Light" panose="020B0502040204020203" pitchFamily="34" charset="-122"/>
              </a:rPr>
              <a:t>(9)</a:t>
            </a:r>
          </a:p>
        </p:txBody>
      </p:sp>
      <p:sp>
        <p:nvSpPr>
          <p:cNvPr id="16" name="Text Box 1045"/>
          <p:cNvSpPr txBox="1">
            <a:spLocks noChangeArrowheads="1"/>
          </p:cNvSpPr>
          <p:nvPr/>
        </p:nvSpPr>
        <p:spPr bwMode="auto">
          <a:xfrm>
            <a:off x="3445006" y="2422994"/>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lgn="l" eaLnBrk="1" hangingPunct="1"/>
            <a:r>
              <a:rPr lang="en-US" altLang="zh-CN" sz="1200" b="1" dirty="0">
                <a:solidFill>
                  <a:srgbClr val="020202"/>
                </a:solidFill>
                <a:latin typeface="微软雅黑 Light" panose="020B0502040204020203" pitchFamily="34" charset="-122"/>
                <a:ea typeface="微软雅黑 Light" panose="020B0502040204020203" pitchFamily="34" charset="-122"/>
              </a:rPr>
              <a:t>(D)</a:t>
            </a:r>
          </a:p>
        </p:txBody>
      </p:sp>
      <p:sp>
        <p:nvSpPr>
          <p:cNvPr id="7" name="Rectangle 1028"/>
          <p:cNvSpPr>
            <a:spLocks noChangeArrowheads="1"/>
          </p:cNvSpPr>
          <p:nvPr/>
        </p:nvSpPr>
        <p:spPr bwMode="auto">
          <a:xfrm>
            <a:off x="943192" y="1818633"/>
            <a:ext cx="3186846" cy="360933"/>
          </a:xfrm>
          <a:prstGeom prst="rect">
            <a:avLst/>
          </a:prstGeom>
          <a:solidFill>
            <a:srgbClr val="00CCFF"/>
          </a:solidFill>
          <a:ln w="9525">
            <a:solidFill>
              <a:srgbClr val="000000"/>
            </a:solidFill>
            <a:miter lim="800000"/>
            <a:headEnd/>
            <a:tailEnd/>
          </a:ln>
          <a:effectLst/>
        </p:spPr>
        <p:txBody>
          <a:bodyPr wrap="none" anchor="ct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eaLnBrk="1" hangingPunct="1"/>
            <a:r>
              <a:rPr lang="en-US" altLang="zh-CN" sz="1200" b="1" dirty="0">
                <a:solidFill>
                  <a:srgbClr val="020202"/>
                </a:solidFill>
                <a:latin typeface="微软雅黑 Light" panose="020B0502040204020203" pitchFamily="34" charset="-122"/>
                <a:ea typeface="微软雅黑 Light" panose="020B0502040204020203" pitchFamily="34" charset="-122"/>
              </a:rPr>
              <a:t> … 01001100   </a:t>
            </a:r>
            <a:r>
              <a:rPr lang="en-US" altLang="zh-CN" sz="1200" b="1" dirty="0">
                <a:solidFill>
                  <a:srgbClr val="0000FF"/>
                </a:solidFill>
                <a:latin typeface="微软雅黑 Light" panose="020B0502040204020203" pitchFamily="34" charset="-122"/>
                <a:ea typeface="微软雅黑 Light" panose="020B0502040204020203" pitchFamily="34" charset="-122"/>
              </a:rPr>
              <a:t>1001</a:t>
            </a:r>
            <a:r>
              <a:rPr lang="en-US" altLang="zh-CN" sz="1200" b="1" dirty="0">
                <a:solidFill>
                  <a:srgbClr val="C00000"/>
                </a:solidFill>
                <a:latin typeface="微软雅黑 Light" panose="020B0502040204020203" pitchFamily="34" charset="-122"/>
                <a:ea typeface="微软雅黑 Light" panose="020B0502040204020203" pitchFamily="34" charset="-122"/>
              </a:rPr>
              <a:t>1101 </a:t>
            </a:r>
            <a:r>
              <a:rPr lang="en-US" altLang="zh-CN" sz="1200" b="1" dirty="0">
                <a:solidFill>
                  <a:srgbClr val="020202"/>
                </a:solidFill>
                <a:latin typeface="微软雅黑 Light" panose="020B0502040204020203" pitchFamily="34" charset="-122"/>
                <a:ea typeface="微软雅黑 Light" panose="020B0502040204020203" pitchFamily="34" charset="-122"/>
              </a:rPr>
              <a:t>     00111001  … </a:t>
            </a:r>
          </a:p>
        </p:txBody>
      </p:sp>
      <p:sp>
        <p:nvSpPr>
          <p:cNvPr id="17" name="矩形 16"/>
          <p:cNvSpPr/>
          <p:nvPr/>
        </p:nvSpPr>
        <p:spPr>
          <a:xfrm>
            <a:off x="2092340" y="1860673"/>
            <a:ext cx="951937" cy="288000"/>
          </a:xfrm>
          <a:prstGeom prst="rect">
            <a:avLst/>
          </a:prstGeom>
          <a:solidFill>
            <a:srgbClr val="FFFF00"/>
          </a:solidFill>
          <a:ln w="9525">
            <a:solidFill>
              <a:srgbClr val="000000"/>
            </a:solidFill>
            <a:miter lim="800000"/>
            <a:headEnd/>
            <a:tailEnd/>
          </a:ln>
          <a:effectLst/>
        </p:spPr>
        <p:txBody>
          <a:bodyPr wrap="none" anchor="ctr"/>
          <a:lstStyle/>
          <a:p>
            <a:pPr algn="ctr" fontAlgn="base">
              <a:spcBef>
                <a:spcPct val="0"/>
              </a:spcBef>
              <a:spcAft>
                <a:spcPct val="0"/>
              </a:spcAft>
            </a:pPr>
            <a:r>
              <a:rPr lang="en-US" altLang="zh-CN" sz="1200" b="1" dirty="0">
                <a:solidFill>
                  <a:srgbClr val="0000FF"/>
                </a:solidFill>
                <a:latin typeface="微软雅黑 Light" panose="020B0502040204020203" pitchFamily="34" charset="-122"/>
                <a:ea typeface="微软雅黑 Light" panose="020B0502040204020203" pitchFamily="34" charset="-122"/>
              </a:rPr>
              <a:t>1001</a:t>
            </a:r>
            <a:r>
              <a:rPr lang="en-US" altLang="zh-CN" sz="1200" b="1" dirty="0">
                <a:solidFill>
                  <a:srgbClr val="C00000"/>
                </a:solidFill>
                <a:latin typeface="微软雅黑 Light" panose="020B0502040204020203" pitchFamily="34" charset="-122"/>
                <a:ea typeface="微软雅黑 Light" panose="020B0502040204020203" pitchFamily="34" charset="-122"/>
              </a:rPr>
              <a:t>1101</a:t>
            </a:r>
            <a:endParaRPr lang="zh-CN" altLang="en-US" sz="1200" b="1" dirty="0">
              <a:solidFill>
                <a:srgbClr val="020202"/>
              </a:solidFill>
              <a:latin typeface="微软雅黑 Light" panose="020B0502040204020203" pitchFamily="34" charset="-122"/>
              <a:ea typeface="微软雅黑 Light" panose="020B0502040204020203" pitchFamily="34" charset="-122"/>
            </a:endParaRPr>
          </a:p>
        </p:txBody>
      </p:sp>
      <p:sp>
        <p:nvSpPr>
          <p:cNvPr id="20" name="Line 1036"/>
          <p:cNvSpPr>
            <a:spLocks noChangeShapeType="1"/>
          </p:cNvSpPr>
          <p:nvPr/>
        </p:nvSpPr>
        <p:spPr bwMode="auto">
          <a:xfrm flipH="1">
            <a:off x="6334120" y="2187812"/>
            <a:ext cx="0" cy="469041"/>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矩形 17"/>
          <p:cNvSpPr/>
          <p:nvPr/>
        </p:nvSpPr>
        <p:spPr>
          <a:xfrm>
            <a:off x="4704345" y="2007813"/>
            <a:ext cx="3350597" cy="360000"/>
          </a:xfrm>
          <a:prstGeom prst="rect">
            <a:avLst/>
          </a:prstGeom>
          <a:solidFill>
            <a:srgbClr val="FFFF00"/>
          </a:solidFill>
          <a:ln w="9525">
            <a:solidFill>
              <a:srgbClr val="000000"/>
            </a:solidFill>
            <a:miter lim="800000"/>
            <a:headEnd/>
            <a:tailEnd/>
          </a:ln>
          <a:effectLst/>
        </p:spPr>
        <p:txBody>
          <a:bodyPr wrap="none" anchor="ctr"/>
          <a:lstStyle/>
          <a:p>
            <a:pPr algn="ctr" fontAlgn="base">
              <a:spcBef>
                <a:spcPct val="0"/>
              </a:spcBef>
              <a:spcAft>
                <a:spcPct val="0"/>
              </a:spcAft>
            </a:pPr>
            <a:r>
              <a:rPr lang="en-US" altLang="zh-CN" sz="1200" b="1" dirty="0">
                <a:solidFill>
                  <a:srgbClr val="020202"/>
                </a:solidFill>
                <a:latin typeface="微软雅黑 Light" panose="020B0502040204020203" pitchFamily="34" charset="-122"/>
                <a:ea typeface="微软雅黑 Light" panose="020B0502040204020203" pitchFamily="34" charset="-122"/>
              </a:rPr>
              <a:t>11001111 10110101 11001101 10110011</a:t>
            </a:r>
            <a:endParaRPr lang="zh-CN" altLang="en-US" sz="1200" b="1" dirty="0">
              <a:solidFill>
                <a:srgbClr val="020202"/>
              </a:solidFill>
              <a:latin typeface="微软雅黑 Light" panose="020B0502040204020203" pitchFamily="34" charset="-122"/>
              <a:ea typeface="微软雅黑 Light" panose="020B0502040204020203" pitchFamily="34" charset="-122"/>
            </a:endParaRPr>
          </a:p>
        </p:txBody>
      </p:sp>
      <p:sp>
        <p:nvSpPr>
          <p:cNvPr id="19" name="矩形 18"/>
          <p:cNvSpPr/>
          <p:nvPr/>
        </p:nvSpPr>
        <p:spPr>
          <a:xfrm>
            <a:off x="5599465" y="2646344"/>
            <a:ext cx="1470274" cy="276999"/>
          </a:xfrm>
          <a:prstGeom prst="rect">
            <a:avLst/>
          </a:prstGeom>
          <a:solidFill>
            <a:srgbClr val="0000FF"/>
          </a:solidFill>
          <a:ln w="9525">
            <a:solidFill>
              <a:srgbClr val="000000"/>
            </a:solidFill>
            <a:miter lim="800000"/>
            <a:headEnd/>
            <a:tailEnd/>
          </a:ln>
          <a:effectLst/>
        </p:spPr>
        <p:txBody>
          <a:bodyPr wrap="none" anchor="ctr"/>
          <a:lstStyle/>
          <a:p>
            <a:pPr algn="ctr" fontAlgn="base">
              <a:spcBef>
                <a:spcPct val="0"/>
              </a:spcBef>
              <a:spcAft>
                <a:spcPct val="0"/>
              </a:spcAft>
            </a:pPr>
            <a:r>
              <a:rPr lang="en-US" altLang="zh-CN" sz="1200" b="1" dirty="0">
                <a:solidFill>
                  <a:schemeClr val="bg1"/>
                </a:solidFill>
                <a:latin typeface="微软雅黑 Light" panose="020B0502040204020203" pitchFamily="34" charset="-122"/>
                <a:ea typeface="微软雅黑 Light" panose="020B0502040204020203" pitchFamily="34" charset="-122"/>
              </a:rPr>
              <a:t>=CF=B5=CD=B3</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21" name="矩形 20"/>
          <p:cNvSpPr/>
          <p:nvPr/>
        </p:nvSpPr>
        <p:spPr>
          <a:xfrm>
            <a:off x="6062383" y="1749577"/>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32</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2" name="矩形 21"/>
          <p:cNvSpPr/>
          <p:nvPr/>
        </p:nvSpPr>
        <p:spPr>
          <a:xfrm>
            <a:off x="6072893" y="2942423"/>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96</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3" name="矩形 22"/>
          <p:cNvSpPr/>
          <p:nvPr/>
        </p:nvSpPr>
        <p:spPr>
          <a:xfrm>
            <a:off x="1534604" y="3250851"/>
            <a:ext cx="5776107" cy="369332"/>
          </a:xfrm>
          <a:prstGeom prst="rect">
            <a:avLst/>
          </a:prstGeom>
        </p:spPr>
        <p:txBody>
          <a:bodyPr wrap="square" anchor="ctr">
            <a:spAutoFit/>
          </a:bodyPr>
          <a:lstStyle/>
          <a:p>
            <a:pPr algn="ctr"/>
            <a:r>
              <a:rPr lang="zh-CN" altLang="en-US" b="1" dirty="0">
                <a:solidFill>
                  <a:srgbClr val="C00000"/>
                </a:solidFill>
                <a:latin typeface="微软雅黑 Light" panose="020B0502040204020203" pitchFamily="34" charset="-122"/>
                <a:ea typeface="微软雅黑 Light" panose="020B0502040204020203" pitchFamily="34" charset="-122"/>
              </a:rPr>
              <a:t>原来 </a:t>
            </a:r>
            <a:r>
              <a:rPr lang="en-US" altLang="zh-CN" b="1" dirty="0">
                <a:solidFill>
                  <a:srgbClr val="C00000"/>
                </a:solidFill>
                <a:latin typeface="微软雅黑 Light" panose="020B0502040204020203" pitchFamily="34" charset="-122"/>
                <a:ea typeface="微软雅黑 Light" panose="020B0502040204020203" pitchFamily="34" charset="-122"/>
              </a:rPr>
              <a:t>1 </a:t>
            </a:r>
            <a:r>
              <a:rPr lang="zh-CN" altLang="en-US" b="1" dirty="0">
                <a:solidFill>
                  <a:srgbClr val="C00000"/>
                </a:solidFill>
                <a:latin typeface="微软雅黑 Light" panose="020B0502040204020203" pitchFamily="34" charset="-122"/>
                <a:ea typeface="微软雅黑 Light" panose="020B0502040204020203" pitchFamily="34" charset="-122"/>
              </a:rPr>
              <a:t>个字节，现在需要 </a:t>
            </a:r>
            <a:r>
              <a:rPr lang="en-US" altLang="zh-CN" b="1" dirty="0">
                <a:solidFill>
                  <a:srgbClr val="C00000"/>
                </a:solidFill>
                <a:latin typeface="微软雅黑 Light" panose="020B0502040204020203" pitchFamily="34" charset="-122"/>
                <a:ea typeface="微软雅黑 Light" panose="020B0502040204020203" pitchFamily="34" charset="-122"/>
              </a:rPr>
              <a:t>3 </a:t>
            </a:r>
            <a:r>
              <a:rPr lang="zh-CN" altLang="en-US" b="1" dirty="0">
                <a:solidFill>
                  <a:srgbClr val="C00000"/>
                </a:solidFill>
                <a:latin typeface="微软雅黑 Light" panose="020B0502040204020203" pitchFamily="34" charset="-122"/>
                <a:ea typeface="微软雅黑 Light" panose="020B0502040204020203" pitchFamily="34" charset="-122"/>
              </a:rPr>
              <a:t>个字节，开销 </a:t>
            </a:r>
            <a:r>
              <a:rPr lang="en-US" altLang="zh-CN" b="1" dirty="0">
                <a:solidFill>
                  <a:srgbClr val="C00000"/>
                </a:solidFill>
                <a:latin typeface="微软雅黑 Light" panose="020B0502040204020203" pitchFamily="34" charset="-122"/>
                <a:ea typeface="微软雅黑 Light" panose="020B0502040204020203" pitchFamily="34" charset="-122"/>
              </a:rPr>
              <a:t>= 200%</a:t>
            </a:r>
            <a:endParaRPr lang="zh-CN" altLang="en-US" b="1" dirty="0">
              <a:solidFill>
                <a:srgbClr val="C000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4" y="838042"/>
            <a:ext cx="8048776" cy="418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8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适合</a:t>
            </a:r>
            <a:r>
              <a:rPr lang="zh-CN" altLang="en-US" b="1" dirty="0">
                <a:solidFill>
                  <a:srgbClr val="C00000"/>
                </a:solidFill>
                <a:latin typeface="微软雅黑 Light" panose="020B0502040204020203" pitchFamily="34" charset="-122"/>
                <a:ea typeface="微软雅黑 Light" panose="020B0502040204020203" pitchFamily="34" charset="-122"/>
              </a:rPr>
              <a:t>任意长度</a:t>
            </a:r>
            <a:r>
              <a:rPr lang="zh-CN" altLang="en-US" b="1" dirty="0">
                <a:latin typeface="微软雅黑 Light" panose="020B0502040204020203" pitchFamily="34" charset="-122"/>
                <a:ea typeface="微软雅黑 Light" panose="020B0502040204020203" pitchFamily="34" charset="-122"/>
              </a:rPr>
              <a:t>的二进制数据。编码表如下：</a:t>
            </a:r>
            <a:endParaRPr lang="en-US" altLang="zh-CN" b="1" dirty="0">
              <a:latin typeface="微软雅黑 Light" panose="020B0502040204020203" pitchFamily="34" charset="-122"/>
              <a:ea typeface="微软雅黑 Light" panose="020B0502040204020203" pitchFamily="34" charset="-122"/>
            </a:endParaRPr>
          </a:p>
        </p:txBody>
      </p:sp>
      <p:sp>
        <p:nvSpPr>
          <p:cNvPr id="5" name="AutoShape 5"/>
          <p:cNvSpPr>
            <a:spLocks noChangeArrowheads="1"/>
          </p:cNvSpPr>
          <p:nvPr/>
        </p:nvSpPr>
        <p:spPr bwMode="auto">
          <a:xfrm>
            <a:off x="556963" y="594406"/>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43022"/>
            <a:ext cx="5072360" cy="40011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Base64 </a:t>
            </a:r>
            <a:r>
              <a:rPr lang="zh-CN" altLang="en-US" sz="2000" b="1" dirty="0">
                <a:latin typeface="微软雅黑 Light" panose="020B0502040204020203" pitchFamily="34" charset="-122"/>
                <a:ea typeface="微软雅黑 Light" panose="020B0502040204020203" pitchFamily="34" charset="-122"/>
              </a:rPr>
              <a:t>编码</a:t>
            </a:r>
          </a:p>
        </p:txBody>
      </p:sp>
      <p:graphicFrame>
        <p:nvGraphicFramePr>
          <p:cNvPr id="2" name="表格 1"/>
          <p:cNvGraphicFramePr>
            <a:graphicFrameLocks noGrp="1"/>
          </p:cNvGraphicFramePr>
          <p:nvPr>
            <p:extLst>
              <p:ext uri="{D42A27DB-BD31-4B8C-83A1-F6EECF244321}">
                <p14:modId xmlns:p14="http://schemas.microsoft.com/office/powerpoint/2010/main" val="3774189887"/>
              </p:ext>
            </p:extLst>
          </p:nvPr>
        </p:nvGraphicFramePr>
        <p:xfrm>
          <a:off x="556963" y="1255083"/>
          <a:ext cx="8048780" cy="3093912"/>
        </p:xfrm>
        <a:graphic>
          <a:graphicData uri="http://schemas.openxmlformats.org/drawingml/2006/table">
            <a:tbl>
              <a:tblPr firstRow="1" bandCol="1">
                <a:tableStyleId>{5C22544A-7EE6-4342-B048-85BDC9FD1C3A}</a:tableStyleId>
              </a:tblPr>
              <a:tblGrid>
                <a:gridCol w="804878">
                  <a:extLst>
                    <a:ext uri="{9D8B030D-6E8A-4147-A177-3AD203B41FA5}">
                      <a16:colId xmlns:a16="http://schemas.microsoft.com/office/drawing/2014/main" val="20000"/>
                    </a:ext>
                  </a:extLst>
                </a:gridCol>
                <a:gridCol w="804878">
                  <a:extLst>
                    <a:ext uri="{9D8B030D-6E8A-4147-A177-3AD203B41FA5}">
                      <a16:colId xmlns:a16="http://schemas.microsoft.com/office/drawing/2014/main" val="20001"/>
                    </a:ext>
                  </a:extLst>
                </a:gridCol>
                <a:gridCol w="804878">
                  <a:extLst>
                    <a:ext uri="{9D8B030D-6E8A-4147-A177-3AD203B41FA5}">
                      <a16:colId xmlns:a16="http://schemas.microsoft.com/office/drawing/2014/main" val="20002"/>
                    </a:ext>
                  </a:extLst>
                </a:gridCol>
                <a:gridCol w="804878">
                  <a:extLst>
                    <a:ext uri="{9D8B030D-6E8A-4147-A177-3AD203B41FA5}">
                      <a16:colId xmlns:a16="http://schemas.microsoft.com/office/drawing/2014/main" val="20003"/>
                    </a:ext>
                  </a:extLst>
                </a:gridCol>
                <a:gridCol w="804878">
                  <a:extLst>
                    <a:ext uri="{9D8B030D-6E8A-4147-A177-3AD203B41FA5}">
                      <a16:colId xmlns:a16="http://schemas.microsoft.com/office/drawing/2014/main" val="20004"/>
                    </a:ext>
                  </a:extLst>
                </a:gridCol>
                <a:gridCol w="804878">
                  <a:extLst>
                    <a:ext uri="{9D8B030D-6E8A-4147-A177-3AD203B41FA5}">
                      <a16:colId xmlns:a16="http://schemas.microsoft.com/office/drawing/2014/main" val="20005"/>
                    </a:ext>
                  </a:extLst>
                </a:gridCol>
                <a:gridCol w="804878">
                  <a:extLst>
                    <a:ext uri="{9D8B030D-6E8A-4147-A177-3AD203B41FA5}">
                      <a16:colId xmlns:a16="http://schemas.microsoft.com/office/drawing/2014/main" val="20006"/>
                    </a:ext>
                  </a:extLst>
                </a:gridCol>
                <a:gridCol w="804878">
                  <a:extLst>
                    <a:ext uri="{9D8B030D-6E8A-4147-A177-3AD203B41FA5}">
                      <a16:colId xmlns:a16="http://schemas.microsoft.com/office/drawing/2014/main" val="20007"/>
                    </a:ext>
                  </a:extLst>
                </a:gridCol>
                <a:gridCol w="804878">
                  <a:extLst>
                    <a:ext uri="{9D8B030D-6E8A-4147-A177-3AD203B41FA5}">
                      <a16:colId xmlns:a16="http://schemas.microsoft.com/office/drawing/2014/main" val="20008"/>
                    </a:ext>
                  </a:extLst>
                </a:gridCol>
                <a:gridCol w="804878">
                  <a:extLst>
                    <a:ext uri="{9D8B030D-6E8A-4147-A177-3AD203B41FA5}">
                      <a16:colId xmlns:a16="http://schemas.microsoft.com/office/drawing/2014/main" val="20009"/>
                    </a:ext>
                  </a:extLst>
                </a:gridCol>
              </a:tblGrid>
              <a:tr h="280205">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索引</a:t>
                      </a: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对应字符</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索引</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对应字符</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索引</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对应字符</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索引</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对应字符</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索引</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对应字符</a:t>
                      </a: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A</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N</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a</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n</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0</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B</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O</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b</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o</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C</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P</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c</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p</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D</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Q</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d</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q</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E</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R</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e</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r</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F</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S</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f</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s</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G</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T</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g</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t</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H</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U</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h</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u</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7</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I</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V</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err="1">
                          <a:effectLst/>
                          <a:latin typeface="微软雅黑 Light" panose="020B0502040204020203" pitchFamily="34" charset="-122"/>
                          <a:ea typeface="微软雅黑 Light" panose="020B0502040204020203" pitchFamily="34" charset="-122"/>
                        </a:rPr>
                        <a:t>i</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v</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8</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9"/>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J</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W</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j</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w</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9</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0"/>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K</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X</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k</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x</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1"/>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L</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Y</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l</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y</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2"/>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M</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Z</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m</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z</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200" b="1" dirty="0">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algn="ctr"/>
                      <a:endParaRPr lang="zh-CN" altLang="en-US" sz="1200" b="1" dirty="0">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
        <p:nvSpPr>
          <p:cNvPr id="25" name="矩形 24"/>
          <p:cNvSpPr/>
          <p:nvPr/>
        </p:nvSpPr>
        <p:spPr>
          <a:xfrm>
            <a:off x="459267" y="4337201"/>
            <a:ext cx="7734820" cy="307777"/>
          </a:xfrm>
          <a:prstGeom prst="rect">
            <a:avLst/>
          </a:prstGeom>
        </p:spPr>
        <p:txBody>
          <a:bodyPr wrap="square">
            <a:spAutoFit/>
          </a:bodyPr>
          <a:lstStyle/>
          <a:p>
            <a:r>
              <a:rPr lang="zh-CN" altLang="en-US" sz="1400" b="1" dirty="0">
                <a:latin typeface="微软雅黑 Light" panose="020B0502040204020203" pitchFamily="34" charset="-122"/>
                <a:ea typeface="微软雅黑 Light" panose="020B0502040204020203" pitchFamily="34" charset="-122"/>
              </a:rPr>
              <a:t>用两个连在一起的二个等号“</a:t>
            </a:r>
            <a:r>
              <a:rPr lang="en-US" altLang="zh-CN" sz="1400" b="1" dirty="0">
                <a:latin typeface="微软雅黑 Light" panose="020B0502040204020203" pitchFamily="34" charset="-122"/>
                <a:ea typeface="微软雅黑 Light" panose="020B0502040204020203" pitchFamily="34" charset="-122"/>
              </a:rPr>
              <a:t>==”</a:t>
            </a:r>
            <a:r>
              <a:rPr lang="zh-CN" altLang="en-US" sz="1400" b="1" dirty="0">
                <a:latin typeface="微软雅黑 Light" panose="020B0502040204020203" pitchFamily="34" charset="-122"/>
                <a:ea typeface="微软雅黑 Light" panose="020B0502040204020203" pitchFamily="34" charset="-122"/>
              </a:rPr>
              <a:t>和一个等号“</a:t>
            </a:r>
            <a:r>
              <a:rPr lang="en-US" altLang="zh-CN" sz="1400" b="1" dirty="0">
                <a:latin typeface="微软雅黑 Light" panose="020B0502040204020203" pitchFamily="34" charset="-122"/>
                <a:ea typeface="微软雅黑 Light" panose="020B0502040204020203" pitchFamily="34" charset="-122"/>
              </a:rPr>
              <a:t>=”</a:t>
            </a:r>
            <a:r>
              <a:rPr lang="zh-CN" altLang="en-US" sz="1400" b="1" dirty="0">
                <a:latin typeface="微软雅黑 Light" panose="020B0502040204020203" pitchFamily="34" charset="-122"/>
                <a:ea typeface="微软雅黑 Light" panose="020B0502040204020203" pitchFamily="34" charset="-122"/>
              </a:rPr>
              <a:t>分别表示最后一组的代码只有 </a:t>
            </a:r>
            <a:r>
              <a:rPr lang="en-US" altLang="zh-CN" sz="1400" b="1" dirty="0">
                <a:latin typeface="微软雅黑 Light" panose="020B0502040204020203" pitchFamily="34" charset="-122"/>
                <a:ea typeface="微软雅黑 Light" panose="020B0502040204020203" pitchFamily="34" charset="-122"/>
              </a:rPr>
              <a:t>8 </a:t>
            </a:r>
            <a:r>
              <a:rPr lang="zh-CN" altLang="en-US" sz="1400" b="1" dirty="0">
                <a:latin typeface="微软雅黑 Light" panose="020B0502040204020203" pitchFamily="34" charset="-122"/>
                <a:ea typeface="微软雅黑 Light" panose="020B0502040204020203" pitchFamily="34" charset="-122"/>
              </a:rPr>
              <a:t>位或 </a:t>
            </a:r>
            <a:r>
              <a:rPr lang="en-US" altLang="zh-CN" sz="1400" b="1" dirty="0">
                <a:latin typeface="微软雅黑 Light" panose="020B0502040204020203" pitchFamily="34" charset="-122"/>
                <a:ea typeface="微软雅黑 Light" panose="020B0502040204020203" pitchFamily="34" charset="-122"/>
              </a:rPr>
              <a:t>16 </a:t>
            </a:r>
            <a:r>
              <a:rPr lang="zh-CN" altLang="en-US" sz="1400" b="1" dirty="0">
                <a:latin typeface="微软雅黑 Light" panose="020B0502040204020203" pitchFamily="34" charset="-122"/>
                <a:ea typeface="微软雅黑 Light" panose="020B0502040204020203" pitchFamily="34" charset="-122"/>
              </a:rPr>
              <a:t>位。</a:t>
            </a: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3075"/>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51691"/>
            <a:ext cx="5072360" cy="40011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Base64 </a:t>
            </a:r>
            <a:r>
              <a:rPr lang="zh-CN" altLang="en-US" sz="2000" b="1" dirty="0">
                <a:latin typeface="微软雅黑 Light" panose="020B0502040204020203" pitchFamily="34" charset="-122"/>
                <a:ea typeface="微软雅黑 Light" panose="020B0502040204020203" pitchFamily="34" charset="-122"/>
              </a:rPr>
              <a:t>编码</a:t>
            </a:r>
          </a:p>
        </p:txBody>
      </p:sp>
      <p:sp>
        <p:nvSpPr>
          <p:cNvPr id="22" name="矩形 21"/>
          <p:cNvSpPr/>
          <p:nvPr/>
        </p:nvSpPr>
        <p:spPr>
          <a:xfrm>
            <a:off x="804903" y="1341208"/>
            <a:ext cx="800219" cy="276999"/>
          </a:xfrm>
          <a:prstGeom prst="rect">
            <a:avLst/>
          </a:prstGeom>
        </p:spPr>
        <p:txBody>
          <a:bodyPr wrap="none">
            <a:spAutoFit/>
          </a:bodyPr>
          <a:lstStyle/>
          <a:p>
            <a:pPr algn="r"/>
            <a:r>
              <a:rPr lang="zh-CN" altLang="en-US" sz="1200" b="1" dirty="0">
                <a:solidFill>
                  <a:srgbClr val="020202"/>
                </a:solidFill>
                <a:latin typeface="微软雅黑 Light" panose="020B0502040204020203" pitchFamily="34" charset="-122"/>
                <a:ea typeface="微软雅黑 Light" panose="020B0502040204020203" pitchFamily="34" charset="-122"/>
              </a:rPr>
              <a:t>原始字节</a:t>
            </a:r>
          </a:p>
        </p:txBody>
      </p:sp>
      <p:sp>
        <p:nvSpPr>
          <p:cNvPr id="23" name="矩形 22"/>
          <p:cNvSpPr/>
          <p:nvPr/>
        </p:nvSpPr>
        <p:spPr>
          <a:xfrm>
            <a:off x="1509216" y="3006326"/>
            <a:ext cx="5650604" cy="369332"/>
          </a:xfrm>
          <a:prstGeom prst="rect">
            <a:avLst/>
          </a:prstGeom>
        </p:spPr>
        <p:txBody>
          <a:bodyPr wrap="square" anchor="ctr">
            <a:spAutoFit/>
          </a:bodyPr>
          <a:lstStyle/>
          <a:p>
            <a:pPr algn="ctr"/>
            <a:r>
              <a:rPr lang="zh-CN" altLang="en-US" b="1" dirty="0">
                <a:solidFill>
                  <a:srgbClr val="C00000"/>
                </a:solidFill>
                <a:latin typeface="微软雅黑 Light" panose="020B0502040204020203" pitchFamily="34" charset="-122"/>
                <a:ea typeface="微软雅黑 Light" panose="020B0502040204020203" pitchFamily="34" charset="-122"/>
              </a:rPr>
              <a:t>原来为 </a:t>
            </a:r>
            <a:r>
              <a:rPr lang="en-US" altLang="zh-CN" b="1" dirty="0">
                <a:solidFill>
                  <a:srgbClr val="C00000"/>
                </a:solidFill>
                <a:latin typeface="微软雅黑 Light" panose="020B0502040204020203" pitchFamily="34" charset="-122"/>
                <a:ea typeface="微软雅黑 Light" panose="020B0502040204020203" pitchFamily="34" charset="-122"/>
              </a:rPr>
              <a:t>3 </a:t>
            </a:r>
            <a:r>
              <a:rPr lang="zh-CN" altLang="en-US" b="1" dirty="0">
                <a:solidFill>
                  <a:srgbClr val="C00000"/>
                </a:solidFill>
                <a:latin typeface="微软雅黑 Light" panose="020B0502040204020203" pitchFamily="34" charset="-122"/>
                <a:ea typeface="微软雅黑 Light" panose="020B0502040204020203" pitchFamily="34" charset="-122"/>
              </a:rPr>
              <a:t>个字节，编码后为 </a:t>
            </a:r>
            <a:r>
              <a:rPr lang="en-US" altLang="zh-CN" b="1" dirty="0">
                <a:solidFill>
                  <a:srgbClr val="C00000"/>
                </a:solidFill>
                <a:latin typeface="微软雅黑 Light" panose="020B0502040204020203" pitchFamily="34" charset="-122"/>
                <a:ea typeface="微软雅黑 Light" panose="020B0502040204020203" pitchFamily="34" charset="-122"/>
              </a:rPr>
              <a:t>4 </a:t>
            </a:r>
            <a:r>
              <a:rPr lang="zh-CN" altLang="en-US" b="1" dirty="0">
                <a:solidFill>
                  <a:srgbClr val="C00000"/>
                </a:solidFill>
                <a:latin typeface="微软雅黑 Light" panose="020B0502040204020203" pitchFamily="34" charset="-122"/>
                <a:ea typeface="微软雅黑 Light" panose="020B0502040204020203" pitchFamily="34" charset="-122"/>
              </a:rPr>
              <a:t>个字节，开销 </a:t>
            </a:r>
            <a:r>
              <a:rPr lang="en-US" altLang="zh-CN" b="1" dirty="0">
                <a:solidFill>
                  <a:srgbClr val="C00000"/>
                </a:solidFill>
                <a:latin typeface="微软雅黑 Light" panose="020B0502040204020203" pitchFamily="34" charset="-122"/>
                <a:ea typeface="微软雅黑 Light" panose="020B0502040204020203" pitchFamily="34" charset="-122"/>
              </a:rPr>
              <a:t>= 25%</a:t>
            </a:r>
            <a:endParaRPr lang="zh-CN" altLang="en-US" b="1" dirty="0">
              <a:solidFill>
                <a:srgbClr val="C00000"/>
              </a:solidFill>
              <a:latin typeface="微软雅黑 Light" panose="020B0502040204020203" pitchFamily="34" charset="-122"/>
              <a:ea typeface="微软雅黑 Light" panose="020B0502040204020203" pitchFamily="34" charset="-122"/>
            </a:endParaRPr>
          </a:p>
        </p:txBody>
      </p:sp>
      <p:graphicFrame>
        <p:nvGraphicFramePr>
          <p:cNvPr id="3" name="表格 2"/>
          <p:cNvGraphicFramePr>
            <a:graphicFrameLocks noGrp="1"/>
          </p:cNvGraphicFramePr>
          <p:nvPr>
            <p:extLst>
              <p:ext uri="{D42A27DB-BD31-4B8C-83A1-F6EECF244321}">
                <p14:modId xmlns:p14="http://schemas.microsoft.com/office/powerpoint/2010/main" val="2655679417"/>
              </p:ext>
            </p:extLst>
          </p:nvPr>
        </p:nvGraphicFramePr>
        <p:xfrm>
          <a:off x="1566773" y="1351494"/>
          <a:ext cx="5549904" cy="27432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0</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10000"/>
                  </a:ext>
                </a:extLst>
              </a:tr>
            </a:tbl>
          </a:graphicData>
        </a:graphic>
      </p:graphicFrame>
      <p:graphicFrame>
        <p:nvGraphicFramePr>
          <p:cNvPr id="26" name="表格 25"/>
          <p:cNvGraphicFramePr>
            <a:graphicFrameLocks noGrp="1"/>
          </p:cNvGraphicFramePr>
          <p:nvPr>
            <p:extLst>
              <p:ext uri="{D42A27DB-BD31-4B8C-83A1-F6EECF244321}">
                <p14:modId xmlns:p14="http://schemas.microsoft.com/office/powerpoint/2010/main" val="1196655226"/>
              </p:ext>
            </p:extLst>
          </p:nvPr>
        </p:nvGraphicFramePr>
        <p:xfrm>
          <a:off x="1566773" y="1750883"/>
          <a:ext cx="5549904" cy="27432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0</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graphicFrame>
        <p:nvGraphicFramePr>
          <p:cNvPr id="27" name="表格 26"/>
          <p:cNvGraphicFramePr>
            <a:graphicFrameLocks noGrp="1"/>
          </p:cNvGraphicFramePr>
          <p:nvPr>
            <p:extLst>
              <p:ext uri="{D42A27DB-BD31-4B8C-83A1-F6EECF244321}">
                <p14:modId xmlns:p14="http://schemas.microsoft.com/office/powerpoint/2010/main" val="2170669653"/>
              </p:ext>
            </p:extLst>
          </p:nvPr>
        </p:nvGraphicFramePr>
        <p:xfrm>
          <a:off x="1566773" y="2173796"/>
          <a:ext cx="5549904" cy="27432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S</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T</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F</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graphicFrame>
        <p:nvGraphicFramePr>
          <p:cNvPr id="28" name="表格 27"/>
          <p:cNvGraphicFramePr>
            <a:graphicFrameLocks noGrp="1"/>
          </p:cNvGraphicFramePr>
          <p:nvPr>
            <p:extLst>
              <p:ext uri="{D42A27DB-BD31-4B8C-83A1-F6EECF244321}">
                <p14:modId xmlns:p14="http://schemas.microsoft.com/office/powerpoint/2010/main" val="2389835901"/>
              </p:ext>
            </p:extLst>
          </p:nvPr>
        </p:nvGraphicFramePr>
        <p:xfrm>
          <a:off x="1566773" y="2625741"/>
          <a:ext cx="6981408" cy="274320"/>
        </p:xfrm>
        <a:graphic>
          <a:graphicData uri="http://schemas.openxmlformats.org/drawingml/2006/table">
            <a:tbl>
              <a:tblPr firstRow="1" bandRow="1">
                <a:tableStyleId>{5C22544A-7EE6-4342-B048-85BDC9FD1C3A}</a:tableStyleId>
              </a:tblPr>
              <a:tblGrid>
                <a:gridCol w="218169">
                  <a:extLst>
                    <a:ext uri="{9D8B030D-6E8A-4147-A177-3AD203B41FA5}">
                      <a16:colId xmlns:a16="http://schemas.microsoft.com/office/drawing/2014/main" val="20000"/>
                    </a:ext>
                  </a:extLst>
                </a:gridCol>
                <a:gridCol w="218169">
                  <a:extLst>
                    <a:ext uri="{9D8B030D-6E8A-4147-A177-3AD203B41FA5}">
                      <a16:colId xmlns:a16="http://schemas.microsoft.com/office/drawing/2014/main" val="20001"/>
                    </a:ext>
                  </a:extLst>
                </a:gridCol>
                <a:gridCol w="218169">
                  <a:extLst>
                    <a:ext uri="{9D8B030D-6E8A-4147-A177-3AD203B41FA5}">
                      <a16:colId xmlns:a16="http://schemas.microsoft.com/office/drawing/2014/main" val="20002"/>
                    </a:ext>
                  </a:extLst>
                </a:gridCol>
                <a:gridCol w="218169">
                  <a:extLst>
                    <a:ext uri="{9D8B030D-6E8A-4147-A177-3AD203B41FA5}">
                      <a16:colId xmlns:a16="http://schemas.microsoft.com/office/drawing/2014/main" val="20003"/>
                    </a:ext>
                  </a:extLst>
                </a:gridCol>
                <a:gridCol w="218169">
                  <a:extLst>
                    <a:ext uri="{9D8B030D-6E8A-4147-A177-3AD203B41FA5}">
                      <a16:colId xmlns:a16="http://schemas.microsoft.com/office/drawing/2014/main" val="20004"/>
                    </a:ext>
                  </a:extLst>
                </a:gridCol>
                <a:gridCol w="218169">
                  <a:extLst>
                    <a:ext uri="{9D8B030D-6E8A-4147-A177-3AD203B41FA5}">
                      <a16:colId xmlns:a16="http://schemas.microsoft.com/office/drawing/2014/main" val="20005"/>
                    </a:ext>
                  </a:extLst>
                </a:gridCol>
                <a:gridCol w="218169">
                  <a:extLst>
                    <a:ext uri="{9D8B030D-6E8A-4147-A177-3AD203B41FA5}">
                      <a16:colId xmlns:a16="http://schemas.microsoft.com/office/drawing/2014/main" val="20006"/>
                    </a:ext>
                  </a:extLst>
                </a:gridCol>
                <a:gridCol w="218169">
                  <a:extLst>
                    <a:ext uri="{9D8B030D-6E8A-4147-A177-3AD203B41FA5}">
                      <a16:colId xmlns:a16="http://schemas.microsoft.com/office/drawing/2014/main" val="20007"/>
                    </a:ext>
                  </a:extLst>
                </a:gridCol>
                <a:gridCol w="218169">
                  <a:extLst>
                    <a:ext uri="{9D8B030D-6E8A-4147-A177-3AD203B41FA5}">
                      <a16:colId xmlns:a16="http://schemas.microsoft.com/office/drawing/2014/main" val="20008"/>
                    </a:ext>
                  </a:extLst>
                </a:gridCol>
                <a:gridCol w="218169">
                  <a:extLst>
                    <a:ext uri="{9D8B030D-6E8A-4147-A177-3AD203B41FA5}">
                      <a16:colId xmlns:a16="http://schemas.microsoft.com/office/drawing/2014/main" val="20009"/>
                    </a:ext>
                  </a:extLst>
                </a:gridCol>
                <a:gridCol w="218169">
                  <a:extLst>
                    <a:ext uri="{9D8B030D-6E8A-4147-A177-3AD203B41FA5}">
                      <a16:colId xmlns:a16="http://schemas.microsoft.com/office/drawing/2014/main" val="20010"/>
                    </a:ext>
                  </a:extLst>
                </a:gridCol>
                <a:gridCol w="218169">
                  <a:extLst>
                    <a:ext uri="{9D8B030D-6E8A-4147-A177-3AD203B41FA5}">
                      <a16:colId xmlns:a16="http://schemas.microsoft.com/office/drawing/2014/main" val="20011"/>
                    </a:ext>
                  </a:extLst>
                </a:gridCol>
                <a:gridCol w="218169">
                  <a:extLst>
                    <a:ext uri="{9D8B030D-6E8A-4147-A177-3AD203B41FA5}">
                      <a16:colId xmlns:a16="http://schemas.microsoft.com/office/drawing/2014/main" val="20012"/>
                    </a:ext>
                  </a:extLst>
                </a:gridCol>
                <a:gridCol w="218169">
                  <a:extLst>
                    <a:ext uri="{9D8B030D-6E8A-4147-A177-3AD203B41FA5}">
                      <a16:colId xmlns:a16="http://schemas.microsoft.com/office/drawing/2014/main" val="20013"/>
                    </a:ext>
                  </a:extLst>
                </a:gridCol>
                <a:gridCol w="218169">
                  <a:extLst>
                    <a:ext uri="{9D8B030D-6E8A-4147-A177-3AD203B41FA5}">
                      <a16:colId xmlns:a16="http://schemas.microsoft.com/office/drawing/2014/main" val="20014"/>
                    </a:ext>
                  </a:extLst>
                </a:gridCol>
                <a:gridCol w="218169">
                  <a:extLst>
                    <a:ext uri="{9D8B030D-6E8A-4147-A177-3AD203B41FA5}">
                      <a16:colId xmlns:a16="http://schemas.microsoft.com/office/drawing/2014/main" val="20015"/>
                    </a:ext>
                  </a:extLst>
                </a:gridCol>
                <a:gridCol w="218169">
                  <a:extLst>
                    <a:ext uri="{9D8B030D-6E8A-4147-A177-3AD203B41FA5}">
                      <a16:colId xmlns:a16="http://schemas.microsoft.com/office/drawing/2014/main" val="20016"/>
                    </a:ext>
                  </a:extLst>
                </a:gridCol>
                <a:gridCol w="218169">
                  <a:extLst>
                    <a:ext uri="{9D8B030D-6E8A-4147-A177-3AD203B41FA5}">
                      <a16:colId xmlns:a16="http://schemas.microsoft.com/office/drawing/2014/main" val="20017"/>
                    </a:ext>
                  </a:extLst>
                </a:gridCol>
                <a:gridCol w="218169">
                  <a:extLst>
                    <a:ext uri="{9D8B030D-6E8A-4147-A177-3AD203B41FA5}">
                      <a16:colId xmlns:a16="http://schemas.microsoft.com/office/drawing/2014/main" val="20018"/>
                    </a:ext>
                  </a:extLst>
                </a:gridCol>
                <a:gridCol w="218169">
                  <a:extLst>
                    <a:ext uri="{9D8B030D-6E8A-4147-A177-3AD203B41FA5}">
                      <a16:colId xmlns:a16="http://schemas.microsoft.com/office/drawing/2014/main" val="20019"/>
                    </a:ext>
                  </a:extLst>
                </a:gridCol>
                <a:gridCol w="218169">
                  <a:extLst>
                    <a:ext uri="{9D8B030D-6E8A-4147-A177-3AD203B41FA5}">
                      <a16:colId xmlns:a16="http://schemas.microsoft.com/office/drawing/2014/main" val="20020"/>
                    </a:ext>
                  </a:extLst>
                </a:gridCol>
                <a:gridCol w="218169">
                  <a:extLst>
                    <a:ext uri="{9D8B030D-6E8A-4147-A177-3AD203B41FA5}">
                      <a16:colId xmlns:a16="http://schemas.microsoft.com/office/drawing/2014/main" val="20021"/>
                    </a:ext>
                  </a:extLst>
                </a:gridCol>
                <a:gridCol w="218169">
                  <a:extLst>
                    <a:ext uri="{9D8B030D-6E8A-4147-A177-3AD203B41FA5}">
                      <a16:colId xmlns:a16="http://schemas.microsoft.com/office/drawing/2014/main" val="20022"/>
                    </a:ext>
                  </a:extLst>
                </a:gridCol>
                <a:gridCol w="218169">
                  <a:extLst>
                    <a:ext uri="{9D8B030D-6E8A-4147-A177-3AD203B41FA5}">
                      <a16:colId xmlns:a16="http://schemas.microsoft.com/office/drawing/2014/main" val="20023"/>
                    </a:ext>
                  </a:extLst>
                </a:gridCol>
                <a:gridCol w="218169">
                  <a:extLst>
                    <a:ext uri="{9D8B030D-6E8A-4147-A177-3AD203B41FA5}">
                      <a16:colId xmlns:a16="http://schemas.microsoft.com/office/drawing/2014/main" val="20024"/>
                    </a:ext>
                  </a:extLst>
                </a:gridCol>
                <a:gridCol w="218169">
                  <a:extLst>
                    <a:ext uri="{9D8B030D-6E8A-4147-A177-3AD203B41FA5}">
                      <a16:colId xmlns:a16="http://schemas.microsoft.com/office/drawing/2014/main" val="20025"/>
                    </a:ext>
                  </a:extLst>
                </a:gridCol>
                <a:gridCol w="218169">
                  <a:extLst>
                    <a:ext uri="{9D8B030D-6E8A-4147-A177-3AD203B41FA5}">
                      <a16:colId xmlns:a16="http://schemas.microsoft.com/office/drawing/2014/main" val="20026"/>
                    </a:ext>
                  </a:extLst>
                </a:gridCol>
                <a:gridCol w="218169">
                  <a:extLst>
                    <a:ext uri="{9D8B030D-6E8A-4147-A177-3AD203B41FA5}">
                      <a16:colId xmlns:a16="http://schemas.microsoft.com/office/drawing/2014/main" val="20027"/>
                    </a:ext>
                  </a:extLst>
                </a:gridCol>
                <a:gridCol w="218169">
                  <a:extLst>
                    <a:ext uri="{9D8B030D-6E8A-4147-A177-3AD203B41FA5}">
                      <a16:colId xmlns:a16="http://schemas.microsoft.com/office/drawing/2014/main" val="20028"/>
                    </a:ext>
                  </a:extLst>
                </a:gridCol>
                <a:gridCol w="218169">
                  <a:extLst>
                    <a:ext uri="{9D8B030D-6E8A-4147-A177-3AD203B41FA5}">
                      <a16:colId xmlns:a16="http://schemas.microsoft.com/office/drawing/2014/main" val="20029"/>
                    </a:ext>
                  </a:extLst>
                </a:gridCol>
                <a:gridCol w="218169">
                  <a:extLst>
                    <a:ext uri="{9D8B030D-6E8A-4147-A177-3AD203B41FA5}">
                      <a16:colId xmlns:a16="http://schemas.microsoft.com/office/drawing/2014/main" val="20030"/>
                    </a:ext>
                  </a:extLst>
                </a:gridCol>
                <a:gridCol w="218169">
                  <a:extLst>
                    <a:ext uri="{9D8B030D-6E8A-4147-A177-3AD203B41FA5}">
                      <a16:colId xmlns:a16="http://schemas.microsoft.com/office/drawing/2014/main" val="20031"/>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0</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sp>
        <p:nvSpPr>
          <p:cNvPr id="29" name="矩形 28"/>
          <p:cNvSpPr/>
          <p:nvPr/>
        </p:nvSpPr>
        <p:spPr>
          <a:xfrm>
            <a:off x="630175" y="1761623"/>
            <a:ext cx="974947"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4 </a:t>
            </a:r>
            <a:r>
              <a:rPr lang="zh-CN" altLang="en-US" sz="1200" b="1" dirty="0">
                <a:solidFill>
                  <a:srgbClr val="020202"/>
                </a:solidFill>
                <a:latin typeface="微软雅黑 Light" panose="020B0502040204020203" pitchFamily="34" charset="-122"/>
                <a:ea typeface="微软雅黑 Light" panose="020B0502040204020203" pitchFamily="34" charset="-122"/>
              </a:rPr>
              <a:t>个 </a:t>
            </a:r>
            <a:r>
              <a:rPr lang="en-US" altLang="zh-CN" sz="1200" b="1" dirty="0">
                <a:solidFill>
                  <a:srgbClr val="020202"/>
                </a:solidFill>
                <a:latin typeface="微软雅黑 Light" panose="020B0502040204020203" pitchFamily="34" charset="-122"/>
                <a:ea typeface="微软雅黑 Light" panose="020B0502040204020203" pitchFamily="34" charset="-122"/>
              </a:rPr>
              <a:t>6 </a:t>
            </a:r>
            <a:r>
              <a:rPr lang="zh-CN" altLang="en-US" sz="1200" b="1" dirty="0">
                <a:solidFill>
                  <a:srgbClr val="020202"/>
                </a:solidFill>
                <a:latin typeface="微软雅黑 Light" panose="020B0502040204020203" pitchFamily="34" charset="-122"/>
                <a:ea typeface="微软雅黑 Light" panose="020B0502040204020203" pitchFamily="34" charset="-122"/>
              </a:rPr>
              <a:t>位组</a:t>
            </a:r>
          </a:p>
        </p:txBody>
      </p:sp>
      <p:sp>
        <p:nvSpPr>
          <p:cNvPr id="30" name="矩形 29"/>
          <p:cNvSpPr/>
          <p:nvPr/>
        </p:nvSpPr>
        <p:spPr>
          <a:xfrm>
            <a:off x="575673" y="2184836"/>
            <a:ext cx="1029449"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Base64 </a:t>
            </a:r>
            <a:r>
              <a:rPr lang="zh-CN" altLang="en-US" sz="1200" b="1" dirty="0">
                <a:solidFill>
                  <a:srgbClr val="020202"/>
                </a:solidFill>
                <a:latin typeface="微软雅黑 Light" panose="020B0502040204020203" pitchFamily="34" charset="-122"/>
                <a:ea typeface="微软雅黑 Light" panose="020B0502040204020203" pitchFamily="34" charset="-122"/>
              </a:rPr>
              <a:t>编码</a:t>
            </a:r>
          </a:p>
        </p:txBody>
      </p:sp>
      <p:sp>
        <p:nvSpPr>
          <p:cNvPr id="31" name="矩形 30"/>
          <p:cNvSpPr/>
          <p:nvPr/>
        </p:nvSpPr>
        <p:spPr>
          <a:xfrm>
            <a:off x="700707" y="2615761"/>
            <a:ext cx="904415"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ASCII </a:t>
            </a:r>
            <a:r>
              <a:rPr lang="zh-CN" altLang="en-US" sz="1200" b="1" dirty="0">
                <a:solidFill>
                  <a:srgbClr val="020202"/>
                </a:solidFill>
                <a:latin typeface="微软雅黑 Light" panose="020B0502040204020203" pitchFamily="34" charset="-122"/>
                <a:ea typeface="微软雅黑 Light" panose="020B0502040204020203" pitchFamily="34" charset="-122"/>
              </a:rPr>
              <a:t>编码</a:t>
            </a: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3075"/>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51691"/>
            <a:ext cx="5072360" cy="40011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Base64 </a:t>
            </a:r>
            <a:r>
              <a:rPr lang="zh-CN" altLang="en-US" sz="2000" b="1" dirty="0">
                <a:latin typeface="微软雅黑 Light" panose="020B0502040204020203" pitchFamily="34" charset="-122"/>
                <a:ea typeface="微软雅黑 Light" panose="020B0502040204020203" pitchFamily="34" charset="-122"/>
              </a:rPr>
              <a:t>编码</a:t>
            </a:r>
          </a:p>
        </p:txBody>
      </p:sp>
      <p:sp>
        <p:nvSpPr>
          <p:cNvPr id="14" name="矩形 13"/>
          <p:cNvSpPr/>
          <p:nvPr/>
        </p:nvSpPr>
        <p:spPr>
          <a:xfrm>
            <a:off x="808389" y="1341212"/>
            <a:ext cx="800219" cy="276999"/>
          </a:xfrm>
          <a:prstGeom prst="rect">
            <a:avLst/>
          </a:prstGeom>
        </p:spPr>
        <p:txBody>
          <a:bodyPr wrap="none">
            <a:spAutoFit/>
          </a:bodyPr>
          <a:lstStyle/>
          <a:p>
            <a:pPr algn="r"/>
            <a:r>
              <a:rPr lang="zh-CN" altLang="en-US" sz="1200" b="1" dirty="0">
                <a:solidFill>
                  <a:srgbClr val="020202"/>
                </a:solidFill>
                <a:latin typeface="微软雅黑 Light" panose="020B0502040204020203" pitchFamily="34" charset="-122"/>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804540881"/>
              </p:ext>
            </p:extLst>
          </p:nvPr>
        </p:nvGraphicFramePr>
        <p:xfrm>
          <a:off x="1570259" y="1351498"/>
          <a:ext cx="5549904" cy="27432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0</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3772995503"/>
              </p:ext>
            </p:extLst>
          </p:nvPr>
        </p:nvGraphicFramePr>
        <p:xfrm>
          <a:off x="1570259" y="1750887"/>
          <a:ext cx="5549904" cy="27432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0</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919708434"/>
              </p:ext>
            </p:extLst>
          </p:nvPr>
        </p:nvGraphicFramePr>
        <p:xfrm>
          <a:off x="1570259" y="2173800"/>
          <a:ext cx="5549904" cy="27432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T</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Q</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sp>
        <p:nvSpPr>
          <p:cNvPr id="18" name="矩形 17"/>
          <p:cNvSpPr/>
          <p:nvPr/>
        </p:nvSpPr>
        <p:spPr>
          <a:xfrm>
            <a:off x="633661" y="1761627"/>
            <a:ext cx="974947"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4 </a:t>
            </a:r>
            <a:r>
              <a:rPr lang="zh-CN" altLang="en-US" sz="1200" b="1" dirty="0">
                <a:solidFill>
                  <a:srgbClr val="020202"/>
                </a:solidFill>
                <a:latin typeface="微软雅黑 Light" panose="020B0502040204020203" pitchFamily="34" charset="-122"/>
                <a:ea typeface="微软雅黑 Light" panose="020B0502040204020203" pitchFamily="34" charset="-122"/>
              </a:rPr>
              <a:t>个 </a:t>
            </a:r>
            <a:r>
              <a:rPr lang="en-US" altLang="zh-CN" sz="1200" b="1" dirty="0">
                <a:solidFill>
                  <a:srgbClr val="020202"/>
                </a:solidFill>
                <a:latin typeface="微软雅黑 Light" panose="020B0502040204020203" pitchFamily="34" charset="-122"/>
                <a:ea typeface="微软雅黑 Light" panose="020B0502040204020203" pitchFamily="34" charset="-122"/>
              </a:rPr>
              <a:t>6 </a:t>
            </a:r>
            <a:r>
              <a:rPr lang="zh-CN" altLang="en-US" sz="1200" b="1" dirty="0">
                <a:solidFill>
                  <a:srgbClr val="020202"/>
                </a:solidFill>
                <a:latin typeface="微软雅黑 Light" panose="020B0502040204020203" pitchFamily="34" charset="-122"/>
                <a:ea typeface="微软雅黑 Light" panose="020B0502040204020203" pitchFamily="34" charset="-122"/>
              </a:rPr>
              <a:t>位组</a:t>
            </a:r>
          </a:p>
        </p:txBody>
      </p:sp>
      <p:sp>
        <p:nvSpPr>
          <p:cNvPr id="19" name="矩形 18"/>
          <p:cNvSpPr/>
          <p:nvPr/>
        </p:nvSpPr>
        <p:spPr>
          <a:xfrm>
            <a:off x="579159" y="2184840"/>
            <a:ext cx="1029449"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Base64 </a:t>
            </a:r>
            <a:r>
              <a:rPr lang="zh-CN" altLang="en-US" sz="1200" b="1" dirty="0">
                <a:solidFill>
                  <a:srgbClr val="020202"/>
                </a:solidFill>
                <a:latin typeface="微软雅黑 Light" panose="020B0502040204020203" pitchFamily="34" charset="-122"/>
                <a:ea typeface="微软雅黑 Light" panose="020B0502040204020203" pitchFamily="34" charset="-122"/>
              </a:rPr>
              <a:t>编码</a:t>
            </a:r>
          </a:p>
        </p:txBody>
      </p:sp>
      <p:graphicFrame>
        <p:nvGraphicFramePr>
          <p:cNvPr id="20" name="表格 19"/>
          <p:cNvGraphicFramePr>
            <a:graphicFrameLocks noGrp="1"/>
          </p:cNvGraphicFramePr>
          <p:nvPr>
            <p:extLst>
              <p:ext uri="{D42A27DB-BD31-4B8C-83A1-F6EECF244321}">
                <p14:modId xmlns:p14="http://schemas.microsoft.com/office/powerpoint/2010/main" val="1504527244"/>
              </p:ext>
            </p:extLst>
          </p:nvPr>
        </p:nvGraphicFramePr>
        <p:xfrm>
          <a:off x="1570259" y="2625745"/>
          <a:ext cx="6981408" cy="274320"/>
        </p:xfrm>
        <a:graphic>
          <a:graphicData uri="http://schemas.openxmlformats.org/drawingml/2006/table">
            <a:tbl>
              <a:tblPr firstRow="1" bandRow="1">
                <a:tableStyleId>{5C22544A-7EE6-4342-B048-85BDC9FD1C3A}</a:tableStyleId>
              </a:tblPr>
              <a:tblGrid>
                <a:gridCol w="218169">
                  <a:extLst>
                    <a:ext uri="{9D8B030D-6E8A-4147-A177-3AD203B41FA5}">
                      <a16:colId xmlns:a16="http://schemas.microsoft.com/office/drawing/2014/main" val="20000"/>
                    </a:ext>
                  </a:extLst>
                </a:gridCol>
                <a:gridCol w="218169">
                  <a:extLst>
                    <a:ext uri="{9D8B030D-6E8A-4147-A177-3AD203B41FA5}">
                      <a16:colId xmlns:a16="http://schemas.microsoft.com/office/drawing/2014/main" val="20001"/>
                    </a:ext>
                  </a:extLst>
                </a:gridCol>
                <a:gridCol w="218169">
                  <a:extLst>
                    <a:ext uri="{9D8B030D-6E8A-4147-A177-3AD203B41FA5}">
                      <a16:colId xmlns:a16="http://schemas.microsoft.com/office/drawing/2014/main" val="20002"/>
                    </a:ext>
                  </a:extLst>
                </a:gridCol>
                <a:gridCol w="218169">
                  <a:extLst>
                    <a:ext uri="{9D8B030D-6E8A-4147-A177-3AD203B41FA5}">
                      <a16:colId xmlns:a16="http://schemas.microsoft.com/office/drawing/2014/main" val="20003"/>
                    </a:ext>
                  </a:extLst>
                </a:gridCol>
                <a:gridCol w="218169">
                  <a:extLst>
                    <a:ext uri="{9D8B030D-6E8A-4147-A177-3AD203B41FA5}">
                      <a16:colId xmlns:a16="http://schemas.microsoft.com/office/drawing/2014/main" val="20004"/>
                    </a:ext>
                  </a:extLst>
                </a:gridCol>
                <a:gridCol w="218169">
                  <a:extLst>
                    <a:ext uri="{9D8B030D-6E8A-4147-A177-3AD203B41FA5}">
                      <a16:colId xmlns:a16="http://schemas.microsoft.com/office/drawing/2014/main" val="20005"/>
                    </a:ext>
                  </a:extLst>
                </a:gridCol>
                <a:gridCol w="218169">
                  <a:extLst>
                    <a:ext uri="{9D8B030D-6E8A-4147-A177-3AD203B41FA5}">
                      <a16:colId xmlns:a16="http://schemas.microsoft.com/office/drawing/2014/main" val="20006"/>
                    </a:ext>
                  </a:extLst>
                </a:gridCol>
                <a:gridCol w="218169">
                  <a:extLst>
                    <a:ext uri="{9D8B030D-6E8A-4147-A177-3AD203B41FA5}">
                      <a16:colId xmlns:a16="http://schemas.microsoft.com/office/drawing/2014/main" val="20007"/>
                    </a:ext>
                  </a:extLst>
                </a:gridCol>
                <a:gridCol w="218169">
                  <a:extLst>
                    <a:ext uri="{9D8B030D-6E8A-4147-A177-3AD203B41FA5}">
                      <a16:colId xmlns:a16="http://schemas.microsoft.com/office/drawing/2014/main" val="20008"/>
                    </a:ext>
                  </a:extLst>
                </a:gridCol>
                <a:gridCol w="218169">
                  <a:extLst>
                    <a:ext uri="{9D8B030D-6E8A-4147-A177-3AD203B41FA5}">
                      <a16:colId xmlns:a16="http://schemas.microsoft.com/office/drawing/2014/main" val="20009"/>
                    </a:ext>
                  </a:extLst>
                </a:gridCol>
                <a:gridCol w="218169">
                  <a:extLst>
                    <a:ext uri="{9D8B030D-6E8A-4147-A177-3AD203B41FA5}">
                      <a16:colId xmlns:a16="http://schemas.microsoft.com/office/drawing/2014/main" val="20010"/>
                    </a:ext>
                  </a:extLst>
                </a:gridCol>
                <a:gridCol w="218169">
                  <a:extLst>
                    <a:ext uri="{9D8B030D-6E8A-4147-A177-3AD203B41FA5}">
                      <a16:colId xmlns:a16="http://schemas.microsoft.com/office/drawing/2014/main" val="20011"/>
                    </a:ext>
                  </a:extLst>
                </a:gridCol>
                <a:gridCol w="218169">
                  <a:extLst>
                    <a:ext uri="{9D8B030D-6E8A-4147-A177-3AD203B41FA5}">
                      <a16:colId xmlns:a16="http://schemas.microsoft.com/office/drawing/2014/main" val="20012"/>
                    </a:ext>
                  </a:extLst>
                </a:gridCol>
                <a:gridCol w="218169">
                  <a:extLst>
                    <a:ext uri="{9D8B030D-6E8A-4147-A177-3AD203B41FA5}">
                      <a16:colId xmlns:a16="http://schemas.microsoft.com/office/drawing/2014/main" val="20013"/>
                    </a:ext>
                  </a:extLst>
                </a:gridCol>
                <a:gridCol w="218169">
                  <a:extLst>
                    <a:ext uri="{9D8B030D-6E8A-4147-A177-3AD203B41FA5}">
                      <a16:colId xmlns:a16="http://schemas.microsoft.com/office/drawing/2014/main" val="20014"/>
                    </a:ext>
                  </a:extLst>
                </a:gridCol>
                <a:gridCol w="218169">
                  <a:extLst>
                    <a:ext uri="{9D8B030D-6E8A-4147-A177-3AD203B41FA5}">
                      <a16:colId xmlns:a16="http://schemas.microsoft.com/office/drawing/2014/main" val="20015"/>
                    </a:ext>
                  </a:extLst>
                </a:gridCol>
                <a:gridCol w="218169">
                  <a:extLst>
                    <a:ext uri="{9D8B030D-6E8A-4147-A177-3AD203B41FA5}">
                      <a16:colId xmlns:a16="http://schemas.microsoft.com/office/drawing/2014/main" val="20016"/>
                    </a:ext>
                  </a:extLst>
                </a:gridCol>
                <a:gridCol w="218169">
                  <a:extLst>
                    <a:ext uri="{9D8B030D-6E8A-4147-A177-3AD203B41FA5}">
                      <a16:colId xmlns:a16="http://schemas.microsoft.com/office/drawing/2014/main" val="20017"/>
                    </a:ext>
                  </a:extLst>
                </a:gridCol>
                <a:gridCol w="218169">
                  <a:extLst>
                    <a:ext uri="{9D8B030D-6E8A-4147-A177-3AD203B41FA5}">
                      <a16:colId xmlns:a16="http://schemas.microsoft.com/office/drawing/2014/main" val="20018"/>
                    </a:ext>
                  </a:extLst>
                </a:gridCol>
                <a:gridCol w="218169">
                  <a:extLst>
                    <a:ext uri="{9D8B030D-6E8A-4147-A177-3AD203B41FA5}">
                      <a16:colId xmlns:a16="http://schemas.microsoft.com/office/drawing/2014/main" val="20019"/>
                    </a:ext>
                  </a:extLst>
                </a:gridCol>
                <a:gridCol w="218169">
                  <a:extLst>
                    <a:ext uri="{9D8B030D-6E8A-4147-A177-3AD203B41FA5}">
                      <a16:colId xmlns:a16="http://schemas.microsoft.com/office/drawing/2014/main" val="20020"/>
                    </a:ext>
                  </a:extLst>
                </a:gridCol>
                <a:gridCol w="218169">
                  <a:extLst>
                    <a:ext uri="{9D8B030D-6E8A-4147-A177-3AD203B41FA5}">
                      <a16:colId xmlns:a16="http://schemas.microsoft.com/office/drawing/2014/main" val="20021"/>
                    </a:ext>
                  </a:extLst>
                </a:gridCol>
                <a:gridCol w="218169">
                  <a:extLst>
                    <a:ext uri="{9D8B030D-6E8A-4147-A177-3AD203B41FA5}">
                      <a16:colId xmlns:a16="http://schemas.microsoft.com/office/drawing/2014/main" val="20022"/>
                    </a:ext>
                  </a:extLst>
                </a:gridCol>
                <a:gridCol w="218169">
                  <a:extLst>
                    <a:ext uri="{9D8B030D-6E8A-4147-A177-3AD203B41FA5}">
                      <a16:colId xmlns:a16="http://schemas.microsoft.com/office/drawing/2014/main" val="20023"/>
                    </a:ext>
                  </a:extLst>
                </a:gridCol>
                <a:gridCol w="218169">
                  <a:extLst>
                    <a:ext uri="{9D8B030D-6E8A-4147-A177-3AD203B41FA5}">
                      <a16:colId xmlns:a16="http://schemas.microsoft.com/office/drawing/2014/main" val="20024"/>
                    </a:ext>
                  </a:extLst>
                </a:gridCol>
                <a:gridCol w="218169">
                  <a:extLst>
                    <a:ext uri="{9D8B030D-6E8A-4147-A177-3AD203B41FA5}">
                      <a16:colId xmlns:a16="http://schemas.microsoft.com/office/drawing/2014/main" val="20025"/>
                    </a:ext>
                  </a:extLst>
                </a:gridCol>
                <a:gridCol w="218169">
                  <a:extLst>
                    <a:ext uri="{9D8B030D-6E8A-4147-A177-3AD203B41FA5}">
                      <a16:colId xmlns:a16="http://schemas.microsoft.com/office/drawing/2014/main" val="20026"/>
                    </a:ext>
                  </a:extLst>
                </a:gridCol>
                <a:gridCol w="218169">
                  <a:extLst>
                    <a:ext uri="{9D8B030D-6E8A-4147-A177-3AD203B41FA5}">
                      <a16:colId xmlns:a16="http://schemas.microsoft.com/office/drawing/2014/main" val="20027"/>
                    </a:ext>
                  </a:extLst>
                </a:gridCol>
                <a:gridCol w="218169">
                  <a:extLst>
                    <a:ext uri="{9D8B030D-6E8A-4147-A177-3AD203B41FA5}">
                      <a16:colId xmlns:a16="http://schemas.microsoft.com/office/drawing/2014/main" val="20028"/>
                    </a:ext>
                  </a:extLst>
                </a:gridCol>
                <a:gridCol w="218169">
                  <a:extLst>
                    <a:ext uri="{9D8B030D-6E8A-4147-A177-3AD203B41FA5}">
                      <a16:colId xmlns:a16="http://schemas.microsoft.com/office/drawing/2014/main" val="20029"/>
                    </a:ext>
                  </a:extLst>
                </a:gridCol>
                <a:gridCol w="218169">
                  <a:extLst>
                    <a:ext uri="{9D8B030D-6E8A-4147-A177-3AD203B41FA5}">
                      <a16:colId xmlns:a16="http://schemas.microsoft.com/office/drawing/2014/main" val="20030"/>
                    </a:ext>
                  </a:extLst>
                </a:gridCol>
                <a:gridCol w="218169">
                  <a:extLst>
                    <a:ext uri="{9D8B030D-6E8A-4147-A177-3AD203B41FA5}">
                      <a16:colId xmlns:a16="http://schemas.microsoft.com/office/drawing/2014/main" val="20031"/>
                    </a:ext>
                  </a:extLst>
                </a:gridCol>
              </a:tblGrid>
              <a:tr h="195974">
                <a:tc>
                  <a:txBody>
                    <a:bodyPr/>
                    <a:lstStyle/>
                    <a:p>
                      <a:pPr marL="0" algn="ctr" defTabSz="914400" rtl="0" eaLnBrk="1" latinLnBrk="0" hangingPunct="1"/>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sp>
        <p:nvSpPr>
          <p:cNvPr id="21" name="矩形 20"/>
          <p:cNvSpPr/>
          <p:nvPr/>
        </p:nvSpPr>
        <p:spPr>
          <a:xfrm>
            <a:off x="704194" y="2615765"/>
            <a:ext cx="904415"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ASCII </a:t>
            </a:r>
            <a:r>
              <a:rPr lang="zh-CN" altLang="en-US" sz="1200" b="1" dirty="0">
                <a:solidFill>
                  <a:srgbClr val="020202"/>
                </a:solidFill>
                <a:latin typeface="微软雅黑 Light" panose="020B0502040204020203" pitchFamily="34" charset="-122"/>
                <a:ea typeface="微软雅黑 Light" panose="020B0502040204020203" pitchFamily="34" charset="-122"/>
              </a:rPr>
              <a:t>编码</a:t>
            </a: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12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82900" y="579914"/>
            <a:ext cx="159691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内容类型</a:t>
            </a:r>
          </a:p>
        </p:txBody>
      </p:sp>
      <p:sp>
        <p:nvSpPr>
          <p:cNvPr id="4" name="Rectangle 68"/>
          <p:cNvSpPr>
            <a:spLocks noChangeArrowheads="1"/>
          </p:cNvSpPr>
          <p:nvPr/>
        </p:nvSpPr>
        <p:spPr bwMode="auto">
          <a:xfrm>
            <a:off x="556963" y="974215"/>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MIME </a:t>
            </a:r>
            <a:r>
              <a:rPr lang="zh-CN" altLang="en-US" sz="2000" b="1" dirty="0">
                <a:solidFill>
                  <a:srgbClr val="0000FF"/>
                </a:solidFill>
                <a:latin typeface="微软雅黑 Light" panose="020B0502040204020203" pitchFamily="34" charset="-122"/>
                <a:ea typeface="微软雅黑 Light" panose="020B0502040204020203" pitchFamily="34" charset="-122"/>
              </a:rPr>
              <a:t>标准规定：</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标准原先定义了 </a:t>
            </a:r>
            <a:r>
              <a:rPr lang="en-US" altLang="zh-CN" sz="2000" b="1" dirty="0">
                <a:latin typeface="微软雅黑 Light" panose="020B0502040204020203" pitchFamily="34" charset="-122"/>
                <a:ea typeface="微软雅黑 Light" panose="020B0502040204020203" pitchFamily="34" charset="-122"/>
              </a:rPr>
              <a:t>7 </a:t>
            </a:r>
            <a:r>
              <a:rPr lang="zh-CN" altLang="en-US" sz="2000" b="1" dirty="0">
                <a:latin typeface="微软雅黑 Light" panose="020B0502040204020203" pitchFamily="34" charset="-122"/>
                <a:ea typeface="微软雅黑 Light" panose="020B0502040204020203" pitchFamily="34" charset="-122"/>
              </a:rPr>
              <a:t>个基本内容类型和 </a:t>
            </a:r>
            <a:r>
              <a:rPr lang="en-US" altLang="zh-CN" sz="2000" b="1" dirty="0">
                <a:latin typeface="微软雅黑 Light" panose="020B0502040204020203" pitchFamily="34" charset="-122"/>
                <a:ea typeface="微软雅黑 Light" panose="020B0502040204020203" pitchFamily="34" charset="-122"/>
              </a:rPr>
              <a:t>15 </a:t>
            </a:r>
            <a:r>
              <a:rPr lang="zh-CN" altLang="en-US" sz="2000" b="1" dirty="0">
                <a:latin typeface="微软雅黑 Light" panose="020B0502040204020203" pitchFamily="34" charset="-122"/>
                <a:ea typeface="微软雅黑 Light" panose="020B0502040204020203" pitchFamily="34" charset="-122"/>
              </a:rPr>
              <a:t>种子类型。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允许发件人和收件人</a:t>
            </a:r>
            <a:r>
              <a:rPr lang="zh-CN" altLang="en-US" sz="2000" b="1" dirty="0">
                <a:solidFill>
                  <a:srgbClr val="C00000"/>
                </a:solidFill>
                <a:latin typeface="微软雅黑 Light" panose="020B0502040204020203" pitchFamily="34" charset="-122"/>
                <a:ea typeface="微软雅黑 Light" panose="020B0502040204020203" pitchFamily="34" charset="-122"/>
              </a:rPr>
              <a:t>自己定义</a:t>
            </a:r>
            <a:r>
              <a:rPr lang="zh-CN" altLang="en-US" sz="2000" b="1" dirty="0">
                <a:latin typeface="微软雅黑 Light" panose="020B0502040204020203" pitchFamily="34" charset="-122"/>
                <a:ea typeface="微软雅黑 Light" panose="020B0502040204020203" pitchFamily="34" charset="-122"/>
              </a:rPr>
              <a:t>专用的内容类型。但为避免可能出现名字冲突，标准要求为专用内容类型选择的名字要以字符串 </a:t>
            </a:r>
            <a:r>
              <a:rPr lang="en-US" altLang="zh-CN" sz="2000" b="1" dirty="0">
                <a:solidFill>
                  <a:srgbClr val="C00000"/>
                </a:solidFill>
                <a:latin typeface="微软雅黑 Light" panose="020B0502040204020203" pitchFamily="34" charset="-122"/>
                <a:ea typeface="微软雅黑 Light" panose="020B0502040204020203" pitchFamily="34" charset="-122"/>
              </a:rPr>
              <a:t>X-</a:t>
            </a:r>
            <a:r>
              <a:rPr lang="zh-CN" altLang="en-US" sz="2000" b="1" dirty="0">
                <a:latin typeface="微软雅黑 Light" panose="020B0502040204020203" pitchFamily="34" charset="-122"/>
                <a:ea typeface="微软雅黑 Light" panose="020B0502040204020203" pitchFamily="34" charset="-122"/>
              </a:rPr>
              <a:t>开始。</a:t>
            </a:r>
          </a:p>
        </p:txBody>
      </p:sp>
      <p:sp>
        <p:nvSpPr>
          <p:cNvPr id="5" name="矩形 4"/>
          <p:cNvSpPr/>
          <p:nvPr/>
        </p:nvSpPr>
        <p:spPr>
          <a:xfrm>
            <a:off x="1363196" y="1441780"/>
            <a:ext cx="6489577" cy="775662"/>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marL="355600" eaLnBrk="0" hangingPunct="0">
              <a:lnSpc>
                <a:spcPts val="2800"/>
              </a:lnSpc>
              <a:buClr>
                <a:srgbClr val="0070C0"/>
              </a:buClr>
            </a:pPr>
            <a:r>
              <a:rPr lang="en-US" altLang="zh-CN" b="1" dirty="0">
                <a:solidFill>
                  <a:srgbClr val="C00000"/>
                </a:solidFill>
                <a:latin typeface="微软雅黑 Light" panose="020B0502040204020203" pitchFamily="34" charset="-122"/>
                <a:ea typeface="微软雅黑 Light" panose="020B0502040204020203" pitchFamily="34" charset="-122"/>
              </a:rPr>
              <a:t>Content-Type </a:t>
            </a:r>
            <a:r>
              <a:rPr lang="zh-CN" altLang="en-US" b="1" dirty="0">
                <a:latin typeface="微软雅黑 Light" panose="020B0502040204020203" pitchFamily="34" charset="-122"/>
                <a:ea typeface="微软雅黑 Light" panose="020B0502040204020203" pitchFamily="34" charset="-122"/>
              </a:rPr>
              <a:t>说明必须含有两个标识符：</a:t>
            </a:r>
            <a:r>
              <a:rPr lang="zh-CN" altLang="en-US" b="1" dirty="0">
                <a:solidFill>
                  <a:srgbClr val="C00000"/>
                </a:solidFill>
                <a:latin typeface="微软雅黑 Light" panose="020B0502040204020203" pitchFamily="34" charset="-122"/>
                <a:ea typeface="微软雅黑 Light" panose="020B0502040204020203" pitchFamily="34" charset="-122"/>
              </a:rPr>
              <a:t>内容类型</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(type) </a:t>
            </a:r>
            <a:r>
              <a:rPr lang="zh-CN" altLang="en-US" b="1" dirty="0">
                <a:latin typeface="微软雅黑 Light" panose="020B0502040204020203" pitchFamily="34" charset="-122"/>
                <a:ea typeface="微软雅黑 Light" panose="020B0502040204020203" pitchFamily="34" charset="-122"/>
              </a:rPr>
              <a:t>和</a:t>
            </a:r>
            <a:r>
              <a:rPr lang="zh-CN" altLang="en-US" b="1" dirty="0">
                <a:solidFill>
                  <a:srgbClr val="C00000"/>
                </a:solidFill>
                <a:latin typeface="微软雅黑 Light" panose="020B0502040204020203" pitchFamily="34" charset="-122"/>
                <a:ea typeface="微软雅黑 Light" panose="020B0502040204020203" pitchFamily="34" charset="-122"/>
              </a:rPr>
              <a:t>子类型</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(subtype)</a:t>
            </a:r>
            <a:r>
              <a:rPr lang="zh-CN" altLang="en-US" b="1" dirty="0">
                <a:latin typeface="微软雅黑 Light" panose="020B0502040204020203" pitchFamily="34" charset="-122"/>
                <a:ea typeface="微软雅黑 Light" panose="020B0502040204020203" pitchFamily="34" charset="-122"/>
              </a:rPr>
              <a:t>，中间用“</a:t>
            </a:r>
            <a:r>
              <a:rPr lang="en-US" altLang="zh-CN" b="1" dirty="0">
                <a:latin typeface="微软雅黑 Light" panose="020B0502040204020203" pitchFamily="34" charset="-122"/>
                <a:ea typeface="微软雅黑 Light" panose="020B0502040204020203" pitchFamily="34" charset="-122"/>
              </a:rPr>
              <a:t>/”</a:t>
            </a:r>
            <a:r>
              <a:rPr lang="zh-CN" altLang="en-US" b="1" dirty="0">
                <a:latin typeface="微软雅黑 Light" panose="020B0502040204020203" pitchFamily="34" charset="-122"/>
                <a:ea typeface="微软雅黑 Light" panose="020B0502040204020203" pitchFamily="34" charset="-122"/>
              </a:rPr>
              <a:t>分开。 </a:t>
            </a:r>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61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74370"/>
            <a:ext cx="5138714"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MIME Content-Type </a:t>
            </a:r>
            <a:r>
              <a:rPr lang="zh-CN" altLang="en-US" sz="2000" b="1" dirty="0">
                <a:latin typeface="微软雅黑 Light" panose="020B0502040204020203" pitchFamily="34" charset="-122"/>
                <a:ea typeface="微软雅黑 Light" panose="020B0502040204020203" pitchFamily="34" charset="-122"/>
              </a:rPr>
              <a:t>说明中的类型及子类型</a:t>
            </a:r>
          </a:p>
        </p:txBody>
      </p:sp>
      <p:graphicFrame>
        <p:nvGraphicFramePr>
          <p:cNvPr id="5" name="内容占位符 4"/>
          <p:cNvGraphicFramePr>
            <a:graphicFrameLocks/>
          </p:cNvGraphicFramePr>
          <p:nvPr>
            <p:extLst>
              <p:ext uri="{D42A27DB-BD31-4B8C-83A1-F6EECF244321}">
                <p14:modId xmlns:p14="http://schemas.microsoft.com/office/powerpoint/2010/main" val="1139208833"/>
              </p:ext>
            </p:extLst>
          </p:nvPr>
        </p:nvGraphicFramePr>
        <p:xfrm>
          <a:off x="556963" y="1016720"/>
          <a:ext cx="8048775" cy="2995289"/>
        </p:xfrm>
        <a:graphic>
          <a:graphicData uri="http://schemas.openxmlformats.org/drawingml/2006/table">
            <a:tbl>
              <a:tblPr firstRow="1" firstCol="1" bandRow="1" bandCol="1"/>
              <a:tblGrid>
                <a:gridCol w="2327758">
                  <a:extLst>
                    <a:ext uri="{9D8B030D-6E8A-4147-A177-3AD203B41FA5}">
                      <a16:colId xmlns:a16="http://schemas.microsoft.com/office/drawing/2014/main" val="20000"/>
                    </a:ext>
                  </a:extLst>
                </a:gridCol>
                <a:gridCol w="2897348">
                  <a:extLst>
                    <a:ext uri="{9D8B030D-6E8A-4147-A177-3AD203B41FA5}">
                      <a16:colId xmlns:a16="http://schemas.microsoft.com/office/drawing/2014/main" val="20001"/>
                    </a:ext>
                  </a:extLst>
                </a:gridCol>
                <a:gridCol w="2823669">
                  <a:extLst>
                    <a:ext uri="{9D8B030D-6E8A-4147-A177-3AD203B41FA5}">
                      <a16:colId xmlns:a16="http://schemas.microsoft.com/office/drawing/2014/main" val="20002"/>
                    </a:ext>
                  </a:extLst>
                </a:gridCol>
              </a:tblGrid>
              <a:tr h="296779">
                <a:tc>
                  <a:txBody>
                    <a:bodyPr/>
                    <a:lstStyle/>
                    <a:p>
                      <a:pPr algn="ctr" hangingPunct="0">
                        <a:lnSpc>
                          <a:spcPct val="1000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内容类型</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99FF"/>
                    </a:solidFill>
                  </a:tcPr>
                </a:tc>
                <a:tc>
                  <a:txBody>
                    <a:bodyPr/>
                    <a:lstStyle/>
                    <a:p>
                      <a:pPr algn="ctr" hangingPunct="0">
                        <a:lnSpc>
                          <a:spcPct val="1000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子类型举例</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99FF"/>
                    </a:solidFill>
                  </a:tcPr>
                </a:tc>
                <a:tc>
                  <a:txBody>
                    <a:bodyPr/>
                    <a:lstStyle/>
                    <a:p>
                      <a:pPr algn="ctr" hangingPunct="0">
                        <a:lnSpc>
                          <a:spcPct val="1000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说明</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99FF"/>
                    </a:solidFill>
                  </a:tcPr>
                </a:tc>
                <a:extLst>
                  <a:ext uri="{0D108BD9-81ED-4DB2-BD59-A6C34878D82A}">
                    <a16:rowId xmlns:a16="http://schemas.microsoft.com/office/drawing/2014/main" val="10000"/>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text</a:t>
                      </a:r>
                      <a:r>
                        <a:rPr lang="zh-CN" sz="1400" b="1" dirty="0">
                          <a:effectLst/>
                          <a:latin typeface="微软雅黑 Light" panose="020B0502040204020203" pitchFamily="34" charset="-122"/>
                          <a:ea typeface="微软雅黑 Light" panose="020B0502040204020203" pitchFamily="34" charset="-122"/>
                        </a:rPr>
                        <a:t>（文本）</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plain, html, xml, </a:t>
                      </a:r>
                      <a:r>
                        <a:rPr lang="en-US" sz="1400" b="1" dirty="0" err="1">
                          <a:effectLst/>
                          <a:latin typeface="微软雅黑 Light" panose="020B0502040204020203" pitchFamily="34" charset="-122"/>
                          <a:ea typeface="微软雅黑 Light" panose="020B0502040204020203" pitchFamily="34" charset="-122"/>
                        </a:rPr>
                        <a:t>css</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不同格式的文本</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image</a:t>
                      </a:r>
                      <a:r>
                        <a:rPr lang="zh-CN" sz="1400" b="1" dirty="0">
                          <a:effectLst/>
                          <a:latin typeface="微软雅黑 Light" panose="020B0502040204020203" pitchFamily="34" charset="-122"/>
                          <a:ea typeface="微软雅黑 Light" panose="020B0502040204020203" pitchFamily="34" charset="-122"/>
                        </a:rPr>
                        <a:t>（图像）</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gif, jpeg, tiff</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不同格式的静止图像</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audio</a:t>
                      </a:r>
                      <a:r>
                        <a:rPr lang="zh-CN" sz="1400" b="1" dirty="0">
                          <a:effectLst/>
                          <a:latin typeface="微软雅黑 Light" panose="020B0502040204020203" pitchFamily="34" charset="-122"/>
                          <a:ea typeface="微软雅黑 Light" panose="020B0502040204020203" pitchFamily="34" charset="-122"/>
                        </a:rPr>
                        <a:t>（音频）</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basic, mpeg, mp4</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可听见的声音</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video</a:t>
                      </a:r>
                      <a:r>
                        <a:rPr lang="zh-CN" sz="1400" b="1" dirty="0">
                          <a:effectLst/>
                          <a:latin typeface="微软雅黑 Light" panose="020B0502040204020203" pitchFamily="34" charset="-122"/>
                          <a:ea typeface="微软雅黑 Light" panose="020B0502040204020203" pitchFamily="34" charset="-122"/>
                        </a:rPr>
                        <a:t>（视频）</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mpeg, mp4, </a:t>
                      </a:r>
                      <a:r>
                        <a:rPr lang="en-US" sz="1400" b="1" dirty="0" err="1">
                          <a:effectLst/>
                          <a:latin typeface="微软雅黑 Light" panose="020B0502040204020203" pitchFamily="34" charset="-122"/>
                          <a:ea typeface="微软雅黑 Light" panose="020B0502040204020203" pitchFamily="34" charset="-122"/>
                        </a:rPr>
                        <a:t>quicktime</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不同格式的影片</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model</a:t>
                      </a:r>
                      <a:r>
                        <a:rPr lang="zh-CN" sz="1400" b="1" dirty="0">
                          <a:effectLst/>
                          <a:latin typeface="微软雅黑 Light" panose="020B0502040204020203" pitchFamily="34" charset="-122"/>
                          <a:ea typeface="微软雅黑 Light" panose="020B0502040204020203" pitchFamily="34" charset="-122"/>
                        </a:rPr>
                        <a:t>（模型）</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400" b="1" dirty="0" err="1">
                          <a:effectLst/>
                          <a:latin typeface="微软雅黑 Light" panose="020B0502040204020203" pitchFamily="34" charset="-122"/>
                          <a:ea typeface="微软雅黑 Light" panose="020B0502040204020203" pitchFamily="34" charset="-122"/>
                        </a:rPr>
                        <a:t>vrml</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3D</a:t>
                      </a:r>
                      <a:r>
                        <a:rPr lang="zh-CN" sz="1400" b="1" dirty="0">
                          <a:effectLst/>
                          <a:latin typeface="微软雅黑 Light" panose="020B0502040204020203" pitchFamily="34" charset="-122"/>
                          <a:ea typeface="微软雅黑 Light" panose="020B0502040204020203" pitchFamily="34" charset="-122"/>
                        </a:rPr>
                        <a:t>模型</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539702">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application</a:t>
                      </a:r>
                      <a:r>
                        <a:rPr lang="zh-CN" sz="1400" b="1" dirty="0">
                          <a:effectLst/>
                          <a:latin typeface="微软雅黑 Light" panose="020B0502040204020203" pitchFamily="34" charset="-122"/>
                          <a:ea typeface="微软雅黑 Light" panose="020B0502040204020203" pitchFamily="34" charset="-122"/>
                        </a:rPr>
                        <a:t>（应用）</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octet-stream, </a:t>
                      </a:r>
                      <a:r>
                        <a:rPr lang="en-US" sz="1400" b="1" dirty="0" err="1">
                          <a:effectLst/>
                          <a:latin typeface="微软雅黑 Light" panose="020B0502040204020203" pitchFamily="34" charset="-122"/>
                          <a:ea typeface="微软雅黑 Light" panose="020B0502040204020203" pitchFamily="34" charset="-122"/>
                        </a:rPr>
                        <a:t>pdf</a:t>
                      </a:r>
                      <a:r>
                        <a:rPr lang="en-US" sz="1400" b="1" dirty="0">
                          <a:effectLst/>
                          <a:latin typeface="微软雅黑 Light" panose="020B0502040204020203" pitchFamily="34" charset="-122"/>
                          <a:ea typeface="微软雅黑 Light" panose="020B0502040204020203" pitchFamily="34" charset="-122"/>
                        </a:rPr>
                        <a:t>, </a:t>
                      </a:r>
                      <a:r>
                        <a:rPr lang="en-US" sz="1400" b="1" dirty="0" err="1">
                          <a:effectLst/>
                          <a:latin typeface="微软雅黑 Light" panose="020B0502040204020203" pitchFamily="34" charset="-122"/>
                          <a:ea typeface="微软雅黑 Light" panose="020B0502040204020203" pitchFamily="34" charset="-122"/>
                        </a:rPr>
                        <a:t>javascript</a:t>
                      </a:r>
                      <a:r>
                        <a:rPr lang="en-US" sz="1400" b="1" dirty="0">
                          <a:effectLst/>
                          <a:latin typeface="微软雅黑 Light" panose="020B0502040204020203" pitchFamily="34" charset="-122"/>
                          <a:ea typeface="微软雅黑 Light" panose="020B0502040204020203" pitchFamily="34" charset="-122"/>
                        </a:rPr>
                        <a:t>, zip</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不同应用程序产生的数据</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message</a:t>
                      </a:r>
                      <a:r>
                        <a:rPr lang="zh-CN" sz="1400" b="1" dirty="0">
                          <a:effectLst/>
                          <a:latin typeface="微软雅黑 Light" panose="020B0502040204020203" pitchFamily="34" charset="-122"/>
                          <a:ea typeface="微软雅黑 Light" panose="020B0502040204020203" pitchFamily="34" charset="-122"/>
                        </a:rPr>
                        <a:t>（报文）</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http, rfc822</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封装的报文</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539702">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multipart</a:t>
                      </a:r>
                      <a:r>
                        <a:rPr lang="zh-CN" sz="1400" b="1" dirty="0">
                          <a:effectLst/>
                          <a:latin typeface="微软雅黑 Light" panose="020B0502040204020203" pitchFamily="34" charset="-122"/>
                          <a:ea typeface="微软雅黑 Light" panose="020B0502040204020203" pitchFamily="34" charset="-122"/>
                        </a:rPr>
                        <a:t>（多部分）</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mixed, alternative, parallel, digest</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多种类型的组合</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
        <p:nvSpPr>
          <p:cNvPr id="2" name="矩形 1"/>
          <p:cNvSpPr/>
          <p:nvPr/>
        </p:nvSpPr>
        <p:spPr>
          <a:xfrm>
            <a:off x="1485262" y="4054249"/>
            <a:ext cx="6211678" cy="369332"/>
          </a:xfrm>
          <a:prstGeom prst="rect">
            <a:avLst/>
          </a:prstGeom>
        </p:spPr>
        <p:txBody>
          <a:bodyPr wrap="square">
            <a:spAutoFit/>
          </a:bodyPr>
          <a:lstStyle/>
          <a:p>
            <a:pPr algn="ctr"/>
            <a:r>
              <a:rPr lang="en-US" altLang="zh-CN" b="1" dirty="0">
                <a:latin typeface="微软雅黑 Light" panose="020B0502040204020203" pitchFamily="34" charset="-122"/>
                <a:ea typeface="微软雅黑 Light" panose="020B0502040204020203" pitchFamily="34" charset="-122"/>
              </a:rPr>
              <a:t>Multipart </a:t>
            </a:r>
            <a:r>
              <a:rPr lang="zh-CN" altLang="en-US" b="1" dirty="0">
                <a:latin typeface="微软雅黑 Light" panose="020B0502040204020203" pitchFamily="34" charset="-122"/>
                <a:ea typeface="微软雅黑 Light" panose="020B0502040204020203" pitchFamily="34" charset="-122"/>
              </a:rPr>
              <a:t>很有用，使邮件增加了相当大的灵活性。</a:t>
            </a:r>
          </a:p>
        </p:txBody>
      </p:sp>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732"/>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62348"/>
            <a:ext cx="5072360" cy="40011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举例</a:t>
            </a:r>
          </a:p>
        </p:txBody>
      </p:sp>
      <p:sp>
        <p:nvSpPr>
          <p:cNvPr id="13" name="Text Box 4"/>
          <p:cNvSpPr txBox="1">
            <a:spLocks noChangeArrowheads="1"/>
          </p:cNvSpPr>
          <p:nvPr/>
        </p:nvSpPr>
        <p:spPr bwMode="auto">
          <a:xfrm>
            <a:off x="3158350" y="1227463"/>
            <a:ext cx="4966133" cy="2554545"/>
          </a:xfrm>
          <a:prstGeom prst="rect">
            <a:avLst/>
          </a:prstGeom>
          <a:solidFill>
            <a:srgbClr val="CCFFFF"/>
          </a:solidFill>
          <a:ln w="19050">
            <a:solidFill>
              <a:schemeClr val="tx1"/>
            </a:solidFill>
            <a:miter lim="800000"/>
            <a:headEnd/>
            <a:tailEnd/>
          </a:ln>
          <a:effec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600" b="1" dirty="0">
                <a:latin typeface="Montserrat" panose="00000500000000000000" pitchFamily="2" charset="0"/>
                <a:ea typeface="微软雅黑 Light" panose="020B0502040204020203" pitchFamily="34" charset="-122"/>
              </a:rPr>
              <a:t>From: lionking@abc.edu </a:t>
            </a:r>
          </a:p>
          <a:p>
            <a:r>
              <a:rPr lang="en-US" altLang="zh-CN" sz="1600" b="1" dirty="0">
                <a:latin typeface="Montserrat" panose="00000500000000000000" pitchFamily="2" charset="0"/>
                <a:ea typeface="微软雅黑 Light" panose="020B0502040204020203" pitchFamily="34" charset="-122"/>
              </a:rPr>
              <a:t>To: tigerwang@xyz.com </a:t>
            </a:r>
          </a:p>
          <a:p>
            <a:r>
              <a:rPr lang="en-US" altLang="zh-CN" sz="1600" b="1" dirty="0">
                <a:latin typeface="Montserrat" panose="00000500000000000000" pitchFamily="2" charset="0"/>
                <a:ea typeface="微软雅黑 Light" panose="020B0502040204020203" pitchFamily="34" charset="-122"/>
              </a:rPr>
              <a:t>Subject: picture of my new home </a:t>
            </a:r>
          </a:p>
          <a:p>
            <a:r>
              <a:rPr lang="en-US" altLang="zh-CN" sz="1600" b="1" dirty="0">
                <a:solidFill>
                  <a:srgbClr val="FF0000"/>
                </a:solidFill>
                <a:latin typeface="Montserrat" panose="00000500000000000000" pitchFamily="2" charset="0"/>
                <a:ea typeface="微软雅黑 Light" panose="020B0502040204020203" pitchFamily="34" charset="-122"/>
              </a:rPr>
              <a:t>MIME-Version: 1.0</a:t>
            </a:r>
            <a:r>
              <a:rPr lang="en-US" altLang="zh-CN" sz="1600" b="1" dirty="0">
                <a:solidFill>
                  <a:srgbClr val="FF3300"/>
                </a:solidFill>
                <a:latin typeface="Montserrat" panose="00000500000000000000" pitchFamily="2" charset="0"/>
                <a:ea typeface="微软雅黑 Light" panose="020B0502040204020203" pitchFamily="34" charset="-122"/>
              </a:rPr>
              <a:t> </a:t>
            </a:r>
          </a:p>
          <a:p>
            <a:r>
              <a:rPr lang="en-US" altLang="zh-CN" sz="1600" b="1" dirty="0">
                <a:solidFill>
                  <a:srgbClr val="990000"/>
                </a:solidFill>
                <a:latin typeface="Montserrat" panose="00000500000000000000" pitchFamily="2" charset="0"/>
                <a:ea typeface="微软雅黑 Light" panose="020B0502040204020203" pitchFamily="34" charset="-122"/>
              </a:rPr>
              <a:t>Content-Transfer-Encoding: base64</a:t>
            </a:r>
            <a:r>
              <a:rPr lang="en-US" altLang="zh-CN" sz="1600" b="1" dirty="0">
                <a:solidFill>
                  <a:schemeClr val="accent1"/>
                </a:solidFill>
                <a:latin typeface="Montserrat" panose="00000500000000000000" pitchFamily="2" charset="0"/>
                <a:ea typeface="微软雅黑 Light" panose="020B0502040204020203" pitchFamily="34" charset="-122"/>
              </a:rPr>
              <a:t> </a:t>
            </a:r>
          </a:p>
          <a:p>
            <a:r>
              <a:rPr lang="en-US" altLang="zh-CN" sz="1600" b="1" dirty="0">
                <a:solidFill>
                  <a:srgbClr val="0000FF"/>
                </a:solidFill>
                <a:latin typeface="Montserrat" panose="00000500000000000000" pitchFamily="2" charset="0"/>
                <a:ea typeface="微软雅黑 Light" panose="020B0502040204020203" pitchFamily="34" charset="-122"/>
              </a:rPr>
              <a:t>Content-Type: image/jpeg </a:t>
            </a:r>
          </a:p>
          <a:p>
            <a:endParaRPr lang="en-US" altLang="zh-CN" sz="1600" b="1" dirty="0">
              <a:solidFill>
                <a:srgbClr val="0000FF"/>
              </a:solidFill>
              <a:latin typeface="Montserrat" panose="00000500000000000000" pitchFamily="2" charset="0"/>
              <a:ea typeface="微软雅黑 Light" panose="020B0502040204020203" pitchFamily="34" charset="-122"/>
            </a:endParaRPr>
          </a:p>
          <a:p>
            <a:r>
              <a:rPr lang="en-US" altLang="zh-CN" sz="1600" b="1" dirty="0">
                <a:solidFill>
                  <a:srgbClr val="008000"/>
                </a:solidFill>
                <a:latin typeface="Montserrat" panose="00000500000000000000" pitchFamily="2" charset="0"/>
                <a:ea typeface="微软雅黑 Light" panose="020B0502040204020203" pitchFamily="34" charset="-122"/>
              </a:rPr>
              <a:t>base64 encoded data ..... </a:t>
            </a:r>
          </a:p>
          <a:p>
            <a:r>
              <a:rPr lang="en-US" altLang="zh-CN" sz="1600" b="1" dirty="0">
                <a:solidFill>
                  <a:srgbClr val="008000"/>
                </a:solidFill>
                <a:latin typeface="Montserrat" panose="00000500000000000000" pitchFamily="2" charset="0"/>
                <a:ea typeface="微软雅黑 Light" panose="020B0502040204020203" pitchFamily="34" charset="-122"/>
              </a:rPr>
              <a:t>......................... </a:t>
            </a:r>
          </a:p>
          <a:p>
            <a:r>
              <a:rPr lang="en-US" altLang="zh-CN" sz="1600" b="1" dirty="0">
                <a:solidFill>
                  <a:srgbClr val="008000"/>
                </a:solidFill>
                <a:latin typeface="Montserrat" panose="00000500000000000000" pitchFamily="2" charset="0"/>
                <a:ea typeface="微软雅黑 Light" panose="020B0502040204020203" pitchFamily="34" charset="-122"/>
              </a:rPr>
              <a:t>......base64 encoded data</a:t>
            </a:r>
            <a:r>
              <a:rPr lang="en-US" altLang="zh-CN" sz="1600" b="1" dirty="0">
                <a:latin typeface="Montserrat" panose="00000500000000000000" pitchFamily="2" charset="0"/>
                <a:ea typeface="微软雅黑 Light" panose="020B0502040204020203" pitchFamily="34" charset="-122"/>
              </a:rPr>
              <a:t> </a:t>
            </a:r>
          </a:p>
        </p:txBody>
      </p:sp>
      <p:sp>
        <p:nvSpPr>
          <p:cNvPr id="16" name="Text Box 5"/>
          <p:cNvSpPr txBox="1">
            <a:spLocks noChangeArrowheads="1"/>
          </p:cNvSpPr>
          <p:nvPr/>
        </p:nvSpPr>
        <p:spPr bwMode="auto">
          <a:xfrm>
            <a:off x="766943" y="2286429"/>
            <a:ext cx="1526380"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400" b="1" dirty="0">
                <a:solidFill>
                  <a:srgbClr val="0000FF"/>
                </a:solidFill>
                <a:latin typeface="微软雅黑 Light" panose="020B0502040204020203" pitchFamily="34" charset="-122"/>
                <a:ea typeface="微软雅黑 Light" panose="020B0502040204020203" pitchFamily="34" charset="-122"/>
              </a:rPr>
              <a:t>内容类型</a:t>
            </a:r>
            <a:r>
              <a:rPr lang="en-US" altLang="zh-CN" sz="1400" b="1" dirty="0">
                <a:solidFill>
                  <a:srgbClr val="0000FF"/>
                </a:solidFill>
                <a:latin typeface="微软雅黑 Light" panose="020B0502040204020203" pitchFamily="34" charset="-122"/>
                <a:ea typeface="微软雅黑 Light" panose="020B0502040204020203" pitchFamily="34" charset="-122"/>
              </a:rPr>
              <a:t>/</a:t>
            </a:r>
            <a:r>
              <a:rPr lang="zh-CN" altLang="en-US" sz="1400" b="1" dirty="0">
                <a:solidFill>
                  <a:srgbClr val="0000FF"/>
                </a:solidFill>
                <a:latin typeface="微软雅黑 Light" panose="020B0502040204020203" pitchFamily="34" charset="-122"/>
                <a:ea typeface="微软雅黑 Light" panose="020B0502040204020203" pitchFamily="34" charset="-122"/>
              </a:rPr>
              <a:t>子类型</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7" name="Text Box 6"/>
          <p:cNvSpPr txBox="1">
            <a:spLocks noChangeArrowheads="1"/>
          </p:cNvSpPr>
          <p:nvPr/>
        </p:nvSpPr>
        <p:spPr bwMode="auto">
          <a:xfrm>
            <a:off x="1390512" y="1865122"/>
            <a:ext cx="902811"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400" b="1" dirty="0">
                <a:solidFill>
                  <a:srgbClr val="990000"/>
                </a:solidFill>
                <a:latin typeface="微软雅黑 Light" panose="020B0502040204020203" pitchFamily="34" charset="-122"/>
                <a:ea typeface="微软雅黑 Light" panose="020B0502040204020203" pitchFamily="34" charset="-122"/>
              </a:rPr>
              <a:t>编码方法</a:t>
            </a:r>
            <a:endParaRPr lang="en-US" altLang="zh-CN" sz="1400" b="1" dirty="0">
              <a:solidFill>
                <a:srgbClr val="990000"/>
              </a:solidFill>
              <a:latin typeface="微软雅黑 Light" panose="020B0502040204020203" pitchFamily="34" charset="-122"/>
              <a:ea typeface="微软雅黑 Light" panose="020B0502040204020203" pitchFamily="34" charset="-122"/>
            </a:endParaRPr>
          </a:p>
        </p:txBody>
      </p:sp>
      <p:sp>
        <p:nvSpPr>
          <p:cNvPr id="18" name="Text Box 7"/>
          <p:cNvSpPr txBox="1">
            <a:spLocks noChangeArrowheads="1"/>
          </p:cNvSpPr>
          <p:nvPr/>
        </p:nvSpPr>
        <p:spPr bwMode="auto">
          <a:xfrm>
            <a:off x="1230211" y="1426932"/>
            <a:ext cx="1063112"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en-US" altLang="zh-CN" sz="1400" b="1" dirty="0">
                <a:solidFill>
                  <a:srgbClr val="FF0000"/>
                </a:solidFill>
                <a:latin typeface="微软雅黑 Light" panose="020B0502040204020203" pitchFamily="34" charset="-122"/>
                <a:ea typeface="微软雅黑 Light" panose="020B0502040204020203" pitchFamily="34" charset="-122"/>
              </a:rPr>
              <a:t>MIME </a:t>
            </a:r>
            <a:r>
              <a:rPr lang="zh-CN" altLang="en-US" sz="1400" b="1" dirty="0">
                <a:solidFill>
                  <a:srgbClr val="FF0000"/>
                </a:solidFill>
                <a:latin typeface="微软雅黑 Light" panose="020B0502040204020203" pitchFamily="34" charset="-122"/>
                <a:ea typeface="微软雅黑 Light" panose="020B0502040204020203" pitchFamily="34" charset="-122"/>
              </a:rPr>
              <a:t>版本</a:t>
            </a:r>
            <a:endParaRPr lang="en-US" altLang="zh-CN" sz="1400" b="1" dirty="0">
              <a:solidFill>
                <a:srgbClr val="FF0000"/>
              </a:solidFill>
              <a:latin typeface="微软雅黑 Light" panose="020B0502040204020203" pitchFamily="34" charset="-122"/>
              <a:ea typeface="微软雅黑 Light" panose="020B0502040204020203" pitchFamily="34" charset="-122"/>
            </a:endParaRPr>
          </a:p>
        </p:txBody>
      </p:sp>
      <p:sp>
        <p:nvSpPr>
          <p:cNvPr id="19" name="Text Box 8"/>
          <p:cNvSpPr txBox="1">
            <a:spLocks noChangeArrowheads="1"/>
          </p:cNvSpPr>
          <p:nvPr/>
        </p:nvSpPr>
        <p:spPr bwMode="auto">
          <a:xfrm>
            <a:off x="1031439" y="2819166"/>
            <a:ext cx="1261884"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400" b="1" dirty="0">
                <a:solidFill>
                  <a:srgbClr val="008000"/>
                </a:solidFill>
                <a:latin typeface="微软雅黑 Light" panose="020B0502040204020203" pitchFamily="34" charset="-122"/>
                <a:ea typeface="微软雅黑 Light" panose="020B0502040204020203" pitchFamily="34" charset="-122"/>
              </a:rPr>
              <a:t>编码后的数据</a:t>
            </a:r>
            <a:endParaRPr lang="en-US" altLang="zh-CN" sz="1400" b="1" dirty="0">
              <a:solidFill>
                <a:srgbClr val="008000"/>
              </a:solidFill>
              <a:latin typeface="微软雅黑 Light" panose="020B0502040204020203" pitchFamily="34" charset="-122"/>
              <a:ea typeface="微软雅黑 Light" panose="020B0502040204020203" pitchFamily="34" charset="-122"/>
            </a:endParaRPr>
          </a:p>
        </p:txBody>
      </p:sp>
      <p:sp>
        <p:nvSpPr>
          <p:cNvPr id="20" name="Line 9"/>
          <p:cNvSpPr>
            <a:spLocks noChangeShapeType="1"/>
          </p:cNvSpPr>
          <p:nvPr/>
        </p:nvSpPr>
        <p:spPr bwMode="auto">
          <a:xfrm>
            <a:off x="2219753" y="1586452"/>
            <a:ext cx="928688" cy="554038"/>
          </a:xfrm>
          <a:prstGeom prst="line">
            <a:avLst/>
          </a:prstGeom>
          <a:noFill/>
          <a:ln w="254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1" name="Line 10"/>
          <p:cNvSpPr>
            <a:spLocks noChangeShapeType="1"/>
          </p:cNvSpPr>
          <p:nvPr/>
        </p:nvSpPr>
        <p:spPr bwMode="auto">
          <a:xfrm>
            <a:off x="2219753" y="2044031"/>
            <a:ext cx="928688" cy="332968"/>
          </a:xfrm>
          <a:prstGeom prst="line">
            <a:avLst/>
          </a:prstGeom>
          <a:noFill/>
          <a:ln w="25400">
            <a:solidFill>
              <a:srgbClr val="6633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11"/>
          <p:cNvSpPr>
            <a:spLocks noChangeShapeType="1"/>
          </p:cNvSpPr>
          <p:nvPr/>
        </p:nvSpPr>
        <p:spPr bwMode="auto">
          <a:xfrm>
            <a:off x="2219753" y="2466968"/>
            <a:ext cx="938597" cy="136474"/>
          </a:xfrm>
          <a:prstGeom prst="line">
            <a:avLst/>
          </a:prstGeom>
          <a:noFill/>
          <a:ln w="254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5" name="Line 12"/>
          <p:cNvSpPr>
            <a:spLocks noChangeShapeType="1"/>
          </p:cNvSpPr>
          <p:nvPr/>
        </p:nvSpPr>
        <p:spPr bwMode="auto">
          <a:xfrm>
            <a:off x="2219753" y="2991065"/>
            <a:ext cx="658812" cy="256573"/>
          </a:xfrm>
          <a:prstGeom prst="line">
            <a:avLst/>
          </a:prstGeom>
          <a:noFill/>
          <a:ln w="25400">
            <a:solidFill>
              <a:srgbClr val="0099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9" name="左中括号 8"/>
          <p:cNvSpPr/>
          <p:nvPr/>
        </p:nvSpPr>
        <p:spPr>
          <a:xfrm>
            <a:off x="2933736" y="3043615"/>
            <a:ext cx="163270" cy="684149"/>
          </a:xfrm>
          <a:prstGeom prst="leftBracket">
            <a:avLst>
              <a:gd name="adj" fmla="val 0"/>
            </a:avLst>
          </a:prstGeom>
          <a:ln w="19050">
            <a:solidFill>
              <a:srgbClr val="33993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729727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2880000" y="144000"/>
            <a:ext cx="3384000"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482554"/>
            <a:ext cx="8172000" cy="4284000"/>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2880000" y="144000"/>
            <a:ext cx="3384000"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482554"/>
            <a:ext cx="8172000" cy="4284000"/>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2880000" y="144000"/>
            <a:ext cx="3384000"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482554"/>
            <a:ext cx="8172000" cy="4284000"/>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2880000" y="144000"/>
            <a:ext cx="3384000"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482554"/>
            <a:ext cx="8172000" cy="4284000"/>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2880000" y="144000"/>
            <a:ext cx="3384000"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482554"/>
            <a:ext cx="8172000" cy="4284000"/>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2880000" y="144000"/>
            <a:ext cx="3384000"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482554"/>
            <a:ext cx="8172000" cy="4284000"/>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2880000" y="144000"/>
            <a:ext cx="3384000"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482554"/>
            <a:ext cx="8172000" cy="4284000"/>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2880000" y="144000"/>
            <a:ext cx="3384000"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482554"/>
            <a:ext cx="8172000" cy="4284000"/>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2880000" y="144000"/>
            <a:ext cx="3384000"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482554"/>
            <a:ext cx="8172000" cy="4284000"/>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
          <p:cNvSpPr>
            <a:spLocks noChangeArrowheads="1"/>
          </p:cNvSpPr>
          <p:nvPr/>
        </p:nvSpPr>
        <p:spPr bwMode="auto">
          <a:xfrm>
            <a:off x="2629135" y="250919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9"/>
          <p:cNvSpPr>
            <a:spLocks noChangeArrowheads="1"/>
          </p:cNvSpPr>
          <p:nvPr/>
        </p:nvSpPr>
        <p:spPr bwMode="auto">
          <a:xfrm>
            <a:off x="2629135" y="205348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Rectangle 9"/>
          <p:cNvSpPr>
            <a:spLocks noChangeArrowheads="1"/>
          </p:cNvSpPr>
          <p:nvPr/>
        </p:nvSpPr>
        <p:spPr bwMode="auto">
          <a:xfrm>
            <a:off x="2629135" y="113118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7" name="Rectangle 10"/>
          <p:cNvSpPr>
            <a:spLocks noChangeArrowheads="1"/>
          </p:cNvSpPr>
          <p:nvPr/>
        </p:nvSpPr>
        <p:spPr bwMode="auto">
          <a:xfrm>
            <a:off x="2629135" y="159493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 name="Rectangle 27"/>
          <p:cNvSpPr>
            <a:spLocks noChangeArrowheads="1"/>
          </p:cNvSpPr>
          <p:nvPr/>
        </p:nvSpPr>
        <p:spPr bwMode="auto">
          <a:xfrm>
            <a:off x="639730" y="113118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10" name="Rectangle 29"/>
          <p:cNvSpPr>
            <a:spLocks noChangeArrowheads="1"/>
          </p:cNvSpPr>
          <p:nvPr/>
        </p:nvSpPr>
        <p:spPr bwMode="auto">
          <a:xfrm>
            <a:off x="648619" y="1226114"/>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6.7</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2700573" y="1006881"/>
            <a:ext cx="5756006"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6.7.1                                 </a:t>
            </a:r>
            <a:r>
              <a:rPr lang="zh-CN" altLang="en-US" sz="2000" b="1" dirty="0">
                <a:solidFill>
                  <a:schemeClr val="bg1"/>
                </a:solidFill>
                <a:latin typeface="微软雅黑 Light" panose="020B0502040204020203" pitchFamily="34" charset="-122"/>
                <a:ea typeface="微软雅黑 Light" panose="020B0502040204020203" pitchFamily="34" charset="-122"/>
              </a:rPr>
              <a:t>网络管理的基本概念</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6.7.2                                    </a:t>
            </a:r>
            <a:r>
              <a:rPr lang="zh-CN" altLang="en-US" sz="20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000" b="1" dirty="0">
                <a:solidFill>
                  <a:schemeClr val="bg1"/>
                </a:solidFill>
                <a:latin typeface="微软雅黑 Light" panose="020B0502040204020203" pitchFamily="34" charset="-122"/>
                <a:ea typeface="微软雅黑 Light" panose="020B0502040204020203" pitchFamily="34" charset="-122"/>
              </a:rPr>
              <a:t>SMI</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6.7.3                                       </a:t>
            </a:r>
            <a:r>
              <a:rPr lang="zh-CN" altLang="en-US" sz="20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000" b="1" dirty="0">
                <a:solidFill>
                  <a:schemeClr val="bg1"/>
                </a:solidFill>
                <a:latin typeface="微软雅黑 Light" panose="020B0502040204020203" pitchFamily="34" charset="-122"/>
                <a:ea typeface="微软雅黑 Light" panose="020B0502040204020203" pitchFamily="34" charset="-122"/>
              </a:rPr>
              <a:t>MIB</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5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8" y="568687"/>
            <a:ext cx="38811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6.7.1  </a:t>
            </a:r>
            <a:r>
              <a:rPr lang="zh-CN" altLang="en-US" sz="2400" b="1" dirty="0">
                <a:solidFill>
                  <a:schemeClr val="bg1"/>
                </a:solidFill>
                <a:latin typeface="微软雅黑 Light" panose="020B0502040204020203" pitchFamily="34" charset="-122"/>
                <a:ea typeface="微软雅黑 Light" panose="020B0502040204020203" pitchFamily="34" charset="-122"/>
              </a:rPr>
              <a:t>网络管理的基本概念</a:t>
            </a:r>
          </a:p>
        </p:txBody>
      </p:sp>
      <p:sp>
        <p:nvSpPr>
          <p:cNvPr id="4" name="Rectangle 68"/>
          <p:cNvSpPr>
            <a:spLocks noChangeArrowheads="1"/>
          </p:cNvSpPr>
          <p:nvPr/>
        </p:nvSpPr>
        <p:spPr bwMode="auto">
          <a:xfrm>
            <a:off x="556963" y="1005176"/>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a:t>
            </a:r>
            <a:r>
              <a:rPr lang="zh-CN" altLang="en-US" sz="2000" b="1" dirty="0">
                <a:latin typeface="微软雅黑 Light" panose="020B0502040204020203" pitchFamily="34" charset="-122"/>
                <a:ea typeface="微软雅黑 Light" panose="020B0502040204020203" pitchFamily="34" charset="-122"/>
              </a:rPr>
              <a:t>包括对硬件、软件和人力的使用、综合与协调，以便对网络资源进行监视、测试、配置、分析、评价和控制，这样就能以合理的价格满足网络的一些需求，如实时运行性能，服务质量等。</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网络管理常简称为</a:t>
            </a:r>
            <a:r>
              <a:rPr lang="zh-CN" altLang="en-US" sz="2000" b="1" dirty="0">
                <a:solidFill>
                  <a:srgbClr val="C00000"/>
                </a:solidFill>
                <a:latin typeface="微软雅黑 Light" panose="020B0502040204020203" pitchFamily="34" charset="-122"/>
                <a:ea typeface="微软雅黑 Light" panose="020B0502040204020203" pitchFamily="34" charset="-122"/>
              </a:rPr>
              <a:t>网管。</a:t>
            </a:r>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71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6382"/>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网络管理的五大功能</a:t>
            </a:r>
          </a:p>
        </p:txBody>
      </p:sp>
      <p:sp>
        <p:nvSpPr>
          <p:cNvPr id="4" name="Rectangle 68"/>
          <p:cNvSpPr>
            <a:spLocks noChangeArrowheads="1"/>
          </p:cNvSpPr>
          <p:nvPr/>
        </p:nvSpPr>
        <p:spPr bwMode="auto">
          <a:xfrm>
            <a:off x="556962" y="971805"/>
            <a:ext cx="816978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故障管理</a:t>
            </a:r>
            <a:r>
              <a:rPr lang="zh-CN" altLang="en-US" sz="2000" b="1" dirty="0">
                <a:latin typeface="微软雅黑 Light" panose="020B0502040204020203" pitchFamily="34" charset="-122"/>
                <a:ea typeface="微软雅黑 Light" panose="020B0502040204020203" pitchFamily="34" charset="-122"/>
              </a:rPr>
              <a:t>：故障检测、隔离和纠正。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配置管理</a:t>
            </a:r>
            <a:r>
              <a:rPr lang="zh-CN" altLang="en-US" sz="2000" b="1" dirty="0">
                <a:latin typeface="微软雅黑 Light" panose="020B0502040204020203" pitchFamily="34" charset="-122"/>
                <a:ea typeface="微软雅黑 Light" panose="020B0502040204020203" pitchFamily="34" charset="-122"/>
              </a:rPr>
              <a:t>：初始化网络、并配置网络。</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计费管理</a:t>
            </a:r>
            <a:r>
              <a:rPr lang="zh-CN" altLang="en-US" sz="2000" b="1" dirty="0">
                <a:latin typeface="微软雅黑 Light" panose="020B0502040204020203" pitchFamily="34" charset="-122"/>
                <a:ea typeface="微软雅黑 Light" panose="020B0502040204020203" pitchFamily="34" charset="-122"/>
              </a:rPr>
              <a:t>：记录网络资源的使用。</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性能管理</a:t>
            </a:r>
            <a:r>
              <a:rPr lang="zh-CN" altLang="en-US" sz="2000" b="1" dirty="0">
                <a:latin typeface="微软雅黑 Light" panose="020B0502040204020203" pitchFamily="34" charset="-122"/>
                <a:ea typeface="微软雅黑 Light" panose="020B0502040204020203" pitchFamily="34" charset="-122"/>
              </a:rPr>
              <a:t>：估价系统资源的运行状况及通信效率等。</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网络安全管理</a:t>
            </a:r>
            <a:r>
              <a:rPr lang="zh-CN" altLang="en-US" sz="2000" b="1" dirty="0">
                <a:latin typeface="微软雅黑 Light" panose="020B0502040204020203" pitchFamily="34" charset="-122"/>
                <a:ea typeface="微软雅黑 Light" panose="020B0502040204020203" pitchFamily="34" charset="-122"/>
              </a:rPr>
              <a:t>：对授权机制、访问控制、加密和加密关键字的管理。</a:t>
            </a:r>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296385" y="582898"/>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网络管理的一般模型</a:t>
            </a:r>
          </a:p>
        </p:txBody>
      </p:sp>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05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911667" y="578844"/>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网络管理模型中的主要构件</a:t>
            </a:r>
          </a:p>
        </p:txBody>
      </p:sp>
      <p:sp>
        <p:nvSpPr>
          <p:cNvPr id="4" name="Rectangle 68"/>
          <p:cNvSpPr>
            <a:spLocks noChangeArrowheads="1"/>
          </p:cNvSpPr>
          <p:nvPr/>
        </p:nvSpPr>
        <p:spPr bwMode="auto">
          <a:xfrm>
            <a:off x="556962" y="973145"/>
            <a:ext cx="8048777"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r>
              <a:rPr lang="zh-CN" altLang="en-US" sz="2000" b="1" dirty="0">
                <a:latin typeface="微软雅黑 Light" panose="020B0502040204020203" pitchFamily="34" charset="-122"/>
                <a:ea typeface="微软雅黑 Light" panose="020B0502040204020203" pitchFamily="34" charset="-122"/>
              </a:rPr>
              <a:t>也常称为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网络运行中心 </a:t>
            </a:r>
            <a:r>
              <a:rPr lang="en-US" altLang="zh-CN" sz="2000" b="1" dirty="0">
                <a:latin typeface="微软雅黑 Light" panose="020B0502040204020203" pitchFamily="34" charset="-122"/>
                <a:ea typeface="微软雅黑 Light" panose="020B0502040204020203" pitchFamily="34" charset="-122"/>
              </a:rPr>
              <a:t>NOC (Network Operations Center)</a:t>
            </a:r>
            <a:r>
              <a:rPr lang="zh-CN" altLang="en-US" sz="2000" b="1" dirty="0">
                <a:latin typeface="微软雅黑 Light" panose="020B0502040204020203" pitchFamily="34" charset="-122"/>
                <a:ea typeface="微软雅黑 Light" panose="020B0502040204020203" pitchFamily="34" charset="-122"/>
              </a:rPr>
              <a:t>，是网络管理系统的核心。</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是管理站中的关键构件，在运行时就成为</a:t>
            </a:r>
            <a:r>
              <a:rPr lang="zh-CN" altLang="en-US" sz="2000" b="1" dirty="0">
                <a:solidFill>
                  <a:srgbClr val="0000FF"/>
                </a:solidFill>
                <a:latin typeface="微软雅黑 Light" panose="020B0502040204020203" pitchFamily="34" charset="-122"/>
                <a:ea typeface="微软雅黑 Light" panose="020B0502040204020203" pitchFamily="34" charset="-122"/>
              </a:rPr>
              <a:t>管理进程</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管理站（硬件）或管理程序（软件）都可称为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管理者</a:t>
            </a:r>
            <a:r>
              <a:rPr lang="en-US" altLang="zh-CN" sz="2000" b="1" dirty="0">
                <a:latin typeface="微软雅黑 Light" panose="020B0502040204020203" pitchFamily="34" charset="-122"/>
                <a:ea typeface="微软雅黑 Light" panose="020B0502040204020203" pitchFamily="34" charset="-122"/>
              </a:rPr>
              <a:t>(manager)</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Manager</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不是指人，而是指机器或软件。</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网络管理员</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(administrator) </a:t>
            </a:r>
            <a:r>
              <a:rPr lang="zh-CN" altLang="en-US" sz="2000" b="1" dirty="0">
                <a:latin typeface="微软雅黑 Light" panose="020B0502040204020203" pitchFamily="34" charset="-122"/>
                <a:ea typeface="微软雅黑 Light" panose="020B0502040204020203" pitchFamily="34" charset="-122"/>
              </a:rPr>
              <a:t>指的是负责网络管理的人员。</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大型网络往往实行</a:t>
            </a:r>
            <a:r>
              <a:rPr lang="zh-CN" altLang="en-US" sz="2000" b="1" dirty="0">
                <a:solidFill>
                  <a:srgbClr val="C00000"/>
                </a:solidFill>
                <a:latin typeface="微软雅黑 Light" panose="020B0502040204020203" pitchFamily="34" charset="-122"/>
                <a:ea typeface="微软雅黑 Light" panose="020B0502040204020203" pitchFamily="34" charset="-122"/>
              </a:rPr>
              <a:t>多级管理，</a:t>
            </a:r>
            <a:r>
              <a:rPr lang="zh-CN" altLang="en-US" sz="2000" b="1" dirty="0">
                <a:latin typeface="微软雅黑 Light" panose="020B0502040204020203" pitchFamily="34" charset="-122"/>
                <a:ea typeface="微软雅黑 Light" panose="020B0502040204020203" pitchFamily="34" charset="-122"/>
              </a:rPr>
              <a:t>因而有多个管理者，而一个管理者一般只管理本地网络的设备。</a:t>
            </a:r>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8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86020" y="576681"/>
            <a:ext cx="33906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被管对象 </a:t>
            </a:r>
            <a:r>
              <a:rPr lang="en-US" altLang="zh-CN" sz="2000" b="1" dirty="0">
                <a:solidFill>
                  <a:schemeClr val="bg1"/>
                </a:solidFill>
                <a:latin typeface="微软雅黑 Light" panose="020B0502040204020203" pitchFamily="34" charset="-122"/>
                <a:ea typeface="微软雅黑 Light" panose="020B0502040204020203" pitchFamily="34" charset="-122"/>
              </a:rPr>
              <a:t>(Managed Object)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80924"/>
            <a:ext cx="787682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网络的每一个被管设备（包括设备中的软件）中可能有多个</a:t>
            </a:r>
            <a:r>
              <a:rPr lang="zh-CN" altLang="en-US" sz="2000" b="1" dirty="0">
                <a:solidFill>
                  <a:srgbClr val="C00000"/>
                </a:solidFill>
                <a:latin typeface="微软雅黑 Light" panose="020B0502040204020203" pitchFamily="34" charset="-122"/>
                <a:ea typeface="微软雅黑 Light" panose="020B0502040204020203" pitchFamily="34" charset="-122"/>
              </a:rPr>
              <a:t>被管对象。</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被管设备有时可称为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网络元素</a:t>
            </a:r>
            <a:r>
              <a:rPr lang="zh-CN" altLang="en-US" sz="2000" b="1" dirty="0">
                <a:latin typeface="微软雅黑 Light" panose="020B0502040204020203" pitchFamily="34" charset="-122"/>
                <a:ea typeface="微软雅黑 Light" panose="020B0502040204020203" pitchFamily="34" charset="-122"/>
              </a:rPr>
              <a:t>或</a:t>
            </a:r>
            <a:r>
              <a:rPr lang="zh-CN" altLang="en-US" sz="2000" b="1" dirty="0">
                <a:solidFill>
                  <a:srgbClr val="0000FF"/>
                </a:solidFill>
                <a:latin typeface="微软雅黑 Light" panose="020B0502040204020203" pitchFamily="34" charset="-122"/>
                <a:ea typeface="微软雅黑 Light" panose="020B0502040204020203" pitchFamily="34" charset="-122"/>
              </a:rPr>
              <a:t>网元</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在被管设备中也会有一些不能被管的对象。 </a:t>
            </a:r>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85304" y="577480"/>
            <a:ext cx="15921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代理 </a:t>
            </a:r>
            <a:r>
              <a:rPr lang="en-US" altLang="zh-CN" sz="2000" b="1" dirty="0">
                <a:solidFill>
                  <a:schemeClr val="bg1"/>
                </a:solidFill>
                <a:latin typeface="微软雅黑 Light" panose="020B0502040204020203" pitchFamily="34" charset="-122"/>
                <a:ea typeface="微软雅黑 Light" panose="020B0502040204020203" pitchFamily="34" charset="-122"/>
              </a:rPr>
              <a:t>(agent)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80925"/>
            <a:ext cx="816090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在每一个被管设备中都要运行一个程序，以便和管理站中的管理程序进行通信。</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这些运行着的程序叫做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网络管理代理程序，</a:t>
            </a:r>
            <a:r>
              <a:rPr lang="zh-CN" altLang="en-US" sz="2000" b="1" dirty="0">
                <a:latin typeface="微软雅黑 Light" panose="020B0502040204020203" pitchFamily="34" charset="-122"/>
                <a:ea typeface="微软雅黑 Light" panose="020B0502040204020203" pitchFamily="34" charset="-122"/>
              </a:rPr>
              <a:t>或简称为</a:t>
            </a:r>
            <a:r>
              <a:rPr lang="zh-CN" altLang="en-US" sz="2000" b="1" dirty="0">
                <a:solidFill>
                  <a:srgbClr val="C00000"/>
                </a:solidFill>
                <a:latin typeface="微软雅黑 Light" panose="020B0502040204020203" pitchFamily="34" charset="-122"/>
                <a:ea typeface="微软雅黑 Light" panose="020B0502040204020203" pitchFamily="34" charset="-122"/>
              </a:rPr>
              <a:t>代理。</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代理程序在管理程序的命令和控制下在被管设备上采取本地的行动。</a:t>
            </a:r>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68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网络管理协议</a:t>
            </a:r>
          </a:p>
        </p:txBody>
      </p:sp>
      <p:sp>
        <p:nvSpPr>
          <p:cNvPr id="4" name="Rectangle 68"/>
          <p:cNvSpPr>
            <a:spLocks noChangeArrowheads="1"/>
          </p:cNvSpPr>
          <p:nvPr/>
        </p:nvSpPr>
        <p:spPr bwMode="auto">
          <a:xfrm>
            <a:off x="556962" y="971108"/>
            <a:ext cx="804877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网络管理协议</a:t>
            </a:r>
            <a:r>
              <a:rPr lang="zh-CN" altLang="en-US" sz="2000" b="1" dirty="0">
                <a:latin typeface="微软雅黑 Light" panose="020B0502040204020203" pitchFamily="34" charset="-122"/>
                <a:ea typeface="微软雅黑 Light" panose="020B0502040204020203" pitchFamily="34" charset="-122"/>
              </a:rPr>
              <a:t>简称为</a:t>
            </a:r>
            <a:r>
              <a:rPr lang="zh-CN" altLang="en-US" sz="2000" b="1" dirty="0">
                <a:solidFill>
                  <a:srgbClr val="0000FF"/>
                </a:solidFill>
                <a:latin typeface="微软雅黑 Light" panose="020B0502040204020203" pitchFamily="34" charset="-122"/>
                <a:ea typeface="微软雅黑 Light" panose="020B0502040204020203" pitchFamily="34" charset="-122"/>
              </a:rPr>
              <a:t>网管协议。</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网络管理协议是管理程序和代理程序之间进行通信的规则。</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网络管理员利用网络管理协议，通过管理站对网络中的被管设备进行管理。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注意：网管协议本身不管理网络。</a:t>
            </a:r>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6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67160" y="577451"/>
            <a:ext cx="3028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752"/>
            <a:ext cx="790345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简单网络管理协议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en-US" altLang="zh-CN" sz="2000" b="1" dirty="0">
                <a:latin typeface="微软雅黑 Light" panose="020B0502040204020203" pitchFamily="34" charset="-122"/>
                <a:ea typeface="微软雅黑 Light" panose="020B0502040204020203" pitchFamily="34" charset="-122"/>
              </a:rPr>
              <a:t>(Simple Network Management Protocol) </a:t>
            </a:r>
            <a:r>
              <a:rPr lang="zh-CN" altLang="en-US" sz="2000" b="1" dirty="0">
                <a:latin typeface="微软雅黑 Light" panose="020B0502040204020203" pitchFamily="34" charset="-122"/>
                <a:ea typeface="微软雅黑 Light" panose="020B0502040204020203" pitchFamily="34" charset="-122"/>
              </a:rPr>
              <a:t>中的管理程序和代理程序按</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方式工作。</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客户程序，</a:t>
            </a:r>
            <a:r>
              <a:rPr lang="zh-CN" altLang="en-US" sz="2000" b="1" dirty="0">
                <a:latin typeface="微软雅黑 Light" panose="020B0502040204020203" pitchFamily="34" charset="-122"/>
                <a:ea typeface="微软雅黑 Light" panose="020B0502040204020203" pitchFamily="34" charset="-122"/>
              </a:rPr>
              <a:t>向某个代理程序发出请求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或命令</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服务器程序，</a:t>
            </a:r>
            <a:r>
              <a:rPr lang="zh-CN" altLang="en-US" sz="2000" b="1" dirty="0">
                <a:latin typeface="微软雅黑 Light" panose="020B0502040204020203" pitchFamily="34" charset="-122"/>
                <a:ea typeface="微软雅黑 Light" panose="020B0502040204020203" pitchFamily="34" charset="-122"/>
              </a:rPr>
              <a:t>返回响应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或执行某个动作</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在网管系统中，往往是一个（或少数几个）客户程序与很多的服务器程序进行交互。</a:t>
            </a:r>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62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040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网络管理的基本原理</a:t>
            </a:r>
          </a:p>
        </p:txBody>
      </p:sp>
      <p:grpSp>
        <p:nvGrpSpPr>
          <p:cNvPr id="5" name="组合 4"/>
          <p:cNvGrpSpPr/>
          <p:nvPr/>
        </p:nvGrpSpPr>
        <p:grpSpPr>
          <a:xfrm>
            <a:off x="976547" y="1395148"/>
            <a:ext cx="7270808" cy="1206008"/>
            <a:chOff x="1154100" y="3809877"/>
            <a:chExt cx="7270808" cy="795008"/>
          </a:xfrm>
        </p:grpSpPr>
        <p:sp>
          <p:nvSpPr>
            <p:cNvPr id="6" name="对角圆角矩形 5"/>
            <p:cNvSpPr/>
            <p:nvPr/>
          </p:nvSpPr>
          <p:spPr>
            <a:xfrm>
              <a:off x="1154100" y="3809877"/>
              <a:ext cx="7270808" cy="79500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1482570" y="3948251"/>
              <a:ext cx="6587231" cy="534272"/>
            </a:xfrm>
            <a:prstGeom prst="rect">
              <a:avLst/>
            </a:prstGeom>
          </p:spPr>
          <p:txBody>
            <a:bodyPr wrap="square">
              <a:spAutoFit/>
            </a:bodyPr>
            <a:lstStyle/>
            <a:p>
              <a:pPr eaLnBrk="0" hangingPunct="0">
                <a:lnSpc>
                  <a:spcPts val="2800"/>
                </a:lnSpc>
                <a:buClr>
                  <a:srgbClr val="0070C0"/>
                </a:buClr>
              </a:pPr>
              <a:r>
                <a:rPr lang="zh-CN" altLang="en-US" sz="2000" b="1" dirty="0">
                  <a:solidFill>
                    <a:schemeClr val="bg1"/>
                  </a:solidFill>
                  <a:latin typeface="微软雅黑 Light" panose="020B0502040204020203" pitchFamily="34" charset="-122"/>
                  <a:ea typeface="微软雅黑 Light" panose="020B0502040204020203" pitchFamily="34" charset="-122"/>
                </a:rPr>
                <a:t>若要管理某个对象，就必然会给该对象添加一些软件或硬件，但这种“添加”必须对原有对象的影响尽量小些。</a:t>
              </a:r>
            </a:p>
          </p:txBody>
        </p:sp>
      </p:gr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2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7" y="577713"/>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的基本功能</a:t>
            </a:r>
          </a:p>
        </p:txBody>
      </p:sp>
      <p:sp>
        <p:nvSpPr>
          <p:cNvPr id="4" name="Rectangle 68"/>
          <p:cNvSpPr>
            <a:spLocks noChangeArrowheads="1"/>
          </p:cNvSpPr>
          <p:nvPr/>
        </p:nvSpPr>
        <p:spPr bwMode="auto">
          <a:xfrm>
            <a:off x="556963" y="972014"/>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最重要的指导思想：</a:t>
            </a:r>
            <a:r>
              <a:rPr lang="zh-CN" altLang="en-US" sz="2000" b="1" dirty="0">
                <a:solidFill>
                  <a:srgbClr val="C00000"/>
                </a:solidFill>
                <a:latin typeface="微软雅黑 Light" panose="020B0502040204020203" pitchFamily="34" charset="-122"/>
                <a:ea typeface="微软雅黑 Light" panose="020B0502040204020203" pitchFamily="34" charset="-122"/>
              </a:rPr>
              <a:t>尽可能简单。</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基本功能：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监视网络性能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检测分析网络差错</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配置网络设备等。</a:t>
            </a:r>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4035" y="577781"/>
            <a:ext cx="33746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的管理站和委托代理</a:t>
            </a:r>
          </a:p>
        </p:txBody>
      </p:sp>
      <p:sp>
        <p:nvSpPr>
          <p:cNvPr id="4" name="Rectangle 68"/>
          <p:cNvSpPr>
            <a:spLocks noChangeArrowheads="1"/>
          </p:cNvSpPr>
          <p:nvPr/>
        </p:nvSpPr>
        <p:spPr bwMode="auto">
          <a:xfrm>
            <a:off x="556963" y="972082"/>
            <a:ext cx="8258564"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整个系统必须有一个</a:t>
            </a: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若网络元素使用的不是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而是另一种网络管理协议，</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协议就无法控制该网络元素。这时可使用</a:t>
            </a:r>
            <a:r>
              <a:rPr lang="zh-CN" altLang="en-US" sz="2000" b="1" dirty="0">
                <a:solidFill>
                  <a:srgbClr val="C00000"/>
                </a:solidFill>
                <a:latin typeface="微软雅黑 Light" panose="020B0502040204020203" pitchFamily="34" charset="-122"/>
                <a:ea typeface="微软雅黑 Light" panose="020B0502040204020203" pitchFamily="34" charset="-122"/>
              </a:rPr>
              <a:t>委托代理 </a:t>
            </a:r>
            <a:r>
              <a:rPr lang="en-US" altLang="zh-CN" sz="2000" b="1" dirty="0">
                <a:latin typeface="微软雅黑 Light" panose="020B0502040204020203" pitchFamily="34" charset="-122"/>
                <a:ea typeface="微软雅黑 Light" panose="020B0502040204020203" pitchFamily="34" charset="-122"/>
              </a:rPr>
              <a:t>(proxy agent)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委托代理能提供协议转换和过滤操作等功能，对被管对象进行管理。</a:t>
            </a:r>
          </a:p>
        </p:txBody>
      </p:sp>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37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23640" y="579167"/>
            <a:ext cx="2515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网络管理组成</a:t>
            </a:r>
          </a:p>
        </p:txBody>
      </p:sp>
      <p:sp>
        <p:nvSpPr>
          <p:cNvPr id="4" name="Rectangle 68"/>
          <p:cNvSpPr>
            <a:spLocks noChangeArrowheads="1"/>
          </p:cNvSpPr>
          <p:nvPr/>
        </p:nvSpPr>
        <p:spPr bwMode="auto">
          <a:xfrm>
            <a:off x="483810" y="973468"/>
            <a:ext cx="8229537"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的网络管理由三个部分组成：</a:t>
            </a:r>
          </a:p>
          <a:p>
            <a:pPr marL="720725" indent="-360363" eaLnBrk="0" hangingPunct="0">
              <a:lnSpc>
                <a:spcPts val="3300"/>
              </a:lnSpc>
              <a:buClr>
                <a:srgbClr val="9900CC"/>
              </a:buClr>
              <a:buFont typeface="+mj-lt"/>
              <a:buAutoNum type="arabicPeriod"/>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本身</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管理信息结构 </a:t>
            </a:r>
            <a:r>
              <a:rPr lang="en-US" altLang="zh-CN" sz="2000" b="1" dirty="0">
                <a:latin typeface="微软雅黑 Light" panose="020B0502040204020203" pitchFamily="34" charset="-122"/>
                <a:ea typeface="微软雅黑 Light" panose="020B0502040204020203" pitchFamily="34" charset="-122"/>
              </a:rPr>
              <a:t>SMI (Structure of Management Information)</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35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2276" y="576148"/>
            <a:ext cx="3118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0449"/>
            <a:ext cx="812192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定义了管理站和代理之间所交换的</a:t>
            </a:r>
            <a:r>
              <a:rPr lang="zh-CN" altLang="en-US" sz="2000" b="1" dirty="0">
                <a:solidFill>
                  <a:srgbClr val="C00000"/>
                </a:solidFill>
                <a:latin typeface="微软雅黑 Light" panose="020B0502040204020203" pitchFamily="34" charset="-122"/>
                <a:ea typeface="微软雅黑 Light" panose="020B0502040204020203" pitchFamily="34" charset="-122"/>
              </a:rPr>
              <a:t>分组格式。</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所交换的分组包含各代理中的对象（</a:t>
            </a:r>
            <a:r>
              <a:rPr lang="zh-CN" altLang="en-US" sz="2000" b="1" dirty="0">
                <a:solidFill>
                  <a:srgbClr val="C00000"/>
                </a:solidFill>
                <a:latin typeface="微软雅黑 Light" panose="020B0502040204020203" pitchFamily="34" charset="-122"/>
                <a:ea typeface="微软雅黑 Light" panose="020B0502040204020203" pitchFamily="34" charset="-122"/>
              </a:rPr>
              <a:t>变量</a:t>
            </a:r>
            <a:r>
              <a:rPr lang="zh-CN" altLang="en-US" sz="2000" b="1" dirty="0">
                <a:latin typeface="微软雅黑 Light" panose="020B0502040204020203" pitchFamily="34" charset="-122"/>
                <a:ea typeface="微软雅黑 Light" panose="020B0502040204020203" pitchFamily="34" charset="-122"/>
              </a:rPr>
              <a:t>）名及其状态（</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负责读取和改变这些数值。 </a:t>
            </a:r>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53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28637" y="580321"/>
            <a:ext cx="23054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000" b="1" dirty="0">
                <a:solidFill>
                  <a:schemeClr val="bg1"/>
                </a:solidFill>
                <a:latin typeface="微软雅黑 Light" panose="020B0502040204020203" pitchFamily="34" charset="-122"/>
                <a:ea typeface="微软雅黑 Light" panose="020B0502040204020203" pitchFamily="34" charset="-122"/>
              </a:rPr>
              <a:t>SMI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462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定义了命名对象和定义对象类型（包括范围和长度）的</a:t>
            </a:r>
            <a:r>
              <a:rPr lang="zh-CN" altLang="en-US" sz="2000" b="1" dirty="0">
                <a:solidFill>
                  <a:srgbClr val="C00000"/>
                </a:solidFill>
                <a:latin typeface="微软雅黑 Light" panose="020B0502040204020203" pitchFamily="34" charset="-122"/>
                <a:ea typeface="微软雅黑 Light" panose="020B0502040204020203" pitchFamily="34" charset="-122"/>
              </a:rPr>
              <a:t>通用规则，</a:t>
            </a:r>
            <a:r>
              <a:rPr lang="zh-CN" altLang="en-US" sz="2000" b="1" dirty="0">
                <a:latin typeface="微软雅黑 Light" panose="020B0502040204020203" pitchFamily="34" charset="-122"/>
                <a:ea typeface="微软雅黑 Light" panose="020B0502040204020203" pitchFamily="34" charset="-122"/>
              </a:rPr>
              <a:t>以及把对象和对象的值进行</a:t>
            </a:r>
            <a:r>
              <a:rPr lang="zh-CN" altLang="en-US" sz="2000" b="1" dirty="0">
                <a:solidFill>
                  <a:srgbClr val="C00000"/>
                </a:solidFill>
                <a:latin typeface="微软雅黑 Light" panose="020B0502040204020203" pitchFamily="34" charset="-122"/>
                <a:ea typeface="微软雅黑 Light" panose="020B0502040204020203" pitchFamily="34" charset="-122"/>
              </a:rPr>
              <a:t>编码的规则，</a:t>
            </a:r>
            <a:r>
              <a:rPr lang="zh-CN" altLang="en-US" sz="2000" b="1" dirty="0">
                <a:latin typeface="微软雅黑 Light" panose="020B0502040204020203" pitchFamily="34" charset="-122"/>
                <a:ea typeface="微软雅黑 Light" panose="020B0502040204020203" pitchFamily="34" charset="-122"/>
              </a:rPr>
              <a:t>以确保网络管理数据的语法和语义的</a:t>
            </a:r>
            <a:r>
              <a:rPr lang="zh-CN" altLang="en-US" sz="2000" b="1" dirty="0">
                <a:solidFill>
                  <a:srgbClr val="C00000"/>
                </a:solidFill>
                <a:latin typeface="微软雅黑 Light" panose="020B0502040204020203" pitchFamily="34" charset="-122"/>
                <a:ea typeface="微软雅黑 Light" panose="020B0502040204020203" pitchFamily="34" charset="-122"/>
              </a:rPr>
              <a:t>无二义性。</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但从 </a:t>
            </a: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的名称并不能看出它的功能。</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并不定义一个实体应管理的对象数目，也不定义被管对象名以及对象名及其值之间的关联。 </a:t>
            </a:r>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46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257"/>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000" b="1" dirty="0">
                <a:solidFill>
                  <a:schemeClr val="bg1"/>
                </a:solidFill>
                <a:latin typeface="微软雅黑 Light" panose="020B0502040204020203" pitchFamily="34" charset="-122"/>
                <a:ea typeface="微软雅黑 Light" panose="020B0502040204020203" pitchFamily="34" charset="-122"/>
              </a:rPr>
              <a:t>MIB</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77090"/>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在被管理的实体中创建了命名对象，并规定了其类型。</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中的信息，对网络进行管理。</a:t>
            </a:r>
          </a:p>
        </p:txBody>
      </p:sp>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 </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
          <p:cNvSpPr>
            <a:spLocks noChangeArrowheads="1"/>
          </p:cNvSpPr>
          <p:nvPr/>
        </p:nvSpPr>
        <p:spPr bwMode="auto">
          <a:xfrm>
            <a:off x="2629135" y="26689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3" name="Rectangle 9"/>
          <p:cNvSpPr>
            <a:spLocks noChangeArrowheads="1"/>
          </p:cNvSpPr>
          <p:nvPr/>
        </p:nvSpPr>
        <p:spPr bwMode="auto">
          <a:xfrm>
            <a:off x="2629135" y="221328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4" name="Rectangle 9"/>
          <p:cNvSpPr>
            <a:spLocks noChangeArrowheads="1"/>
          </p:cNvSpPr>
          <p:nvPr/>
        </p:nvSpPr>
        <p:spPr bwMode="auto">
          <a:xfrm>
            <a:off x="2629135" y="129098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473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19543"/>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098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5913"/>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6.9</a:t>
            </a:r>
          </a:p>
          <a:p>
            <a:pP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应用</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6680"/>
            <a:ext cx="5756006"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6.9.1         </a:t>
            </a:r>
            <a:r>
              <a:rPr lang="zh-CN" altLang="en-US" sz="2000" b="1" dirty="0">
                <a:solidFill>
                  <a:schemeClr val="bg1"/>
                </a:solidFill>
                <a:latin typeface="微软雅黑 Light" panose="020B0502040204020203" pitchFamily="34" charset="-122"/>
                <a:ea typeface="微软雅黑 Light" panose="020B0502040204020203" pitchFamily="34" charset="-122"/>
              </a:rPr>
              <a:t>具有集中目录服务器的 </a:t>
            </a:r>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工作方式</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6.9.2      </a:t>
            </a:r>
            <a:r>
              <a:rPr lang="zh-CN" altLang="en-US" sz="2000" b="1" dirty="0">
                <a:solidFill>
                  <a:schemeClr val="bg1"/>
                </a:solidFill>
                <a:latin typeface="微软雅黑 Light" panose="020B0502040204020203" pitchFamily="34" charset="-122"/>
                <a:ea typeface="微软雅黑 Light" panose="020B0502040204020203" pitchFamily="34" charset="-122"/>
              </a:rPr>
              <a:t>具有全分布式结构的 </a:t>
            </a:r>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文件共享程序</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6.9.3                                 P2P </a:t>
            </a:r>
            <a:r>
              <a:rPr lang="zh-CN" altLang="en-US" sz="2000" b="1" dirty="0">
                <a:solidFill>
                  <a:schemeClr val="bg1"/>
                </a:solidFill>
                <a:latin typeface="微软雅黑 Light" panose="020B0502040204020203" pitchFamily="34" charset="-122"/>
                <a:ea typeface="微软雅黑 Light" panose="020B0502040204020203" pitchFamily="34" charset="-122"/>
              </a:rPr>
              <a:t>文件分发的分析</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6.9.4                          </a:t>
            </a:r>
            <a:r>
              <a:rPr lang="zh-CN" altLang="en-US" sz="2000" b="1" dirty="0">
                <a:solidFill>
                  <a:schemeClr val="bg1"/>
                </a:solidFill>
                <a:latin typeface="微软雅黑 Light" panose="020B0502040204020203" pitchFamily="34" charset="-122"/>
                <a:ea typeface="微软雅黑 Light" panose="020B0502040204020203" pitchFamily="34" charset="-122"/>
              </a:rPr>
              <a:t>在 </a:t>
            </a:r>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对等方中搜索对象</a:t>
            </a:r>
          </a:p>
        </p:txBody>
      </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196"/>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14099" y="583069"/>
            <a:ext cx="271580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P2P </a:t>
            </a:r>
            <a:r>
              <a:rPr lang="zh-CN" altLang="en-US" sz="2400" b="1" dirty="0">
                <a:solidFill>
                  <a:schemeClr val="bg1"/>
                </a:solidFill>
                <a:latin typeface="微软雅黑 Light" panose="020B0502040204020203" pitchFamily="34" charset="-122"/>
                <a:ea typeface="微软雅黑 Light" panose="020B0502040204020203" pitchFamily="34" charset="-122"/>
              </a:rPr>
              <a:t>工作方式概述</a:t>
            </a:r>
          </a:p>
        </p:txBody>
      </p:sp>
      <p:grpSp>
        <p:nvGrpSpPr>
          <p:cNvPr id="6" name="组合 5"/>
          <p:cNvGrpSpPr/>
          <p:nvPr/>
        </p:nvGrpSpPr>
        <p:grpSpPr>
          <a:xfrm>
            <a:off x="2648991" y="1185337"/>
            <a:ext cx="4946636" cy="2904070"/>
            <a:chOff x="2648991" y="1185337"/>
            <a:chExt cx="4946636" cy="2904070"/>
          </a:xfrm>
        </p:grpSpPr>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48991" y="2033162"/>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83860" y="1185337"/>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0204" y="1257345"/>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1812" y="3157959"/>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84060" y="3590007"/>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6228" y="3157959"/>
              <a:ext cx="499399" cy="499400"/>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57"/>
            <p:cNvGrpSpPr>
              <a:grpSpLocks/>
            </p:cNvGrpSpPr>
            <p:nvPr/>
          </p:nvGrpSpPr>
          <p:grpSpPr bwMode="auto">
            <a:xfrm>
              <a:off x="3955835" y="1672987"/>
              <a:ext cx="2715518" cy="1325336"/>
              <a:chOff x="1776" y="2768"/>
              <a:chExt cx="1824" cy="736"/>
            </a:xfrm>
            <a:solidFill>
              <a:schemeClr val="bg1">
                <a:lumMod val="95000"/>
              </a:schemeClr>
            </a:solidFill>
            <a:effectLst>
              <a:outerShdw blurRad="50800" dist="38100" dir="5400000" algn="t" rotWithShape="0">
                <a:prstClr val="black">
                  <a:alpha val="40000"/>
                </a:prstClr>
              </a:outerShdw>
            </a:effectLst>
          </p:grpSpPr>
          <p:grpSp>
            <p:nvGrpSpPr>
              <p:cNvPr id="14" name="Group 458"/>
              <p:cNvGrpSpPr>
                <a:grpSpLocks/>
              </p:cNvGrpSpPr>
              <p:nvPr/>
            </p:nvGrpSpPr>
            <p:grpSpPr bwMode="auto">
              <a:xfrm>
                <a:off x="1787" y="2783"/>
                <a:ext cx="1813" cy="721"/>
                <a:chOff x="1787" y="2783"/>
                <a:chExt cx="1813" cy="721"/>
              </a:xfrm>
              <a:grpFill/>
            </p:grpSpPr>
            <p:sp>
              <p:nvSpPr>
                <p:cNvPr id="24" name="Oval 459"/>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5" name="Oval 460"/>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6" name="Oval 461"/>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7" name="Oval 462"/>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8" name="Oval 463"/>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9" name="Oval 464"/>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0" name="Oval 465"/>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1" name="Oval 466"/>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2" name="Oval 467"/>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grpSp>
          <p:sp>
            <p:nvSpPr>
              <p:cNvPr id="15" name="Oval 468"/>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16" name="Oval 469"/>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17" name="Oval 470"/>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18" name="Oval 471"/>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19" name="Oval 472"/>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0" name="Oval 473"/>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1" name="Oval 474"/>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Oval 475"/>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3" name="Oval 476"/>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grpSp>
        <p:sp>
          <p:nvSpPr>
            <p:cNvPr id="33" name="Text Box 477"/>
            <p:cNvSpPr txBox="1">
              <a:spLocks noChangeArrowheads="1"/>
            </p:cNvSpPr>
            <p:nvPr/>
          </p:nvSpPr>
          <p:spPr bwMode="auto">
            <a:xfrm>
              <a:off x="5014834" y="2241015"/>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600" b="1" dirty="0">
                  <a:solidFill>
                    <a:sysClr val="windowText" lastClr="000000"/>
                  </a:solidFill>
                  <a:latin typeface="微软雅黑 Light" panose="020B0502040204020203" pitchFamily="34" charset="-122"/>
                  <a:ea typeface="微软雅黑 Light" panose="020B0502040204020203" pitchFamily="34" charset="-122"/>
                </a:rPr>
                <a:t>互联网</a:t>
              </a:r>
            </a:p>
          </p:txBody>
        </p:sp>
        <p:sp>
          <p:nvSpPr>
            <p:cNvPr id="34" name="Line 479"/>
            <p:cNvSpPr>
              <a:spLocks noChangeShapeType="1"/>
            </p:cNvSpPr>
            <p:nvPr/>
          </p:nvSpPr>
          <p:spPr bwMode="auto">
            <a:xfrm>
              <a:off x="3135758" y="2235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35" name="Line 480"/>
            <p:cNvSpPr>
              <a:spLocks noChangeShapeType="1"/>
            </p:cNvSpPr>
            <p:nvPr/>
          </p:nvSpPr>
          <p:spPr bwMode="auto">
            <a:xfrm rot="10800000">
              <a:off x="3032965" y="2322752"/>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37" name="Text Box 2748"/>
            <p:cNvSpPr txBox="1">
              <a:spLocks noChangeArrowheads="1"/>
            </p:cNvSpPr>
            <p:nvPr/>
          </p:nvSpPr>
          <p:spPr bwMode="auto">
            <a:xfrm>
              <a:off x="6994268" y="2163550"/>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b="1" dirty="0">
                  <a:solidFill>
                    <a:srgbClr val="0000FF"/>
                  </a:solidFill>
                  <a:latin typeface="微软雅黑 Light" panose="020B0502040204020203" pitchFamily="34" charset="-122"/>
                  <a:ea typeface="微软雅黑 Light" panose="020B0502040204020203" pitchFamily="34" charset="-122"/>
                  <a:sym typeface="Symbol" pitchFamily="18" charset="2"/>
                </a:rPr>
                <a:t></a:t>
              </a:r>
            </a:p>
          </p:txBody>
        </p:sp>
        <p:sp>
          <p:nvSpPr>
            <p:cNvPr id="38" name="Line 2750"/>
            <p:cNvSpPr>
              <a:spLocks noChangeShapeType="1"/>
            </p:cNvSpPr>
            <p:nvPr/>
          </p:nvSpPr>
          <p:spPr bwMode="auto">
            <a:xfrm rot="816166">
              <a:off x="4273247" y="1510783"/>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9" name="Line 2751"/>
            <p:cNvSpPr>
              <a:spLocks noChangeShapeType="1"/>
            </p:cNvSpPr>
            <p:nvPr/>
          </p:nvSpPr>
          <p:spPr bwMode="auto">
            <a:xfrm rot="11616166">
              <a:off x="4147864" y="1580436"/>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0" name="Line 2753"/>
            <p:cNvSpPr>
              <a:spLocks noChangeShapeType="1"/>
            </p:cNvSpPr>
            <p:nvPr/>
          </p:nvSpPr>
          <p:spPr bwMode="auto">
            <a:xfrm rot="18950026">
              <a:off x="3700549" y="2924651"/>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1" name="Line 2754"/>
            <p:cNvSpPr>
              <a:spLocks noChangeShapeType="1"/>
            </p:cNvSpPr>
            <p:nvPr/>
          </p:nvSpPr>
          <p:spPr bwMode="auto">
            <a:xfrm rot="8150026">
              <a:off x="3691512" y="3032467"/>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2" name="Line 2756"/>
            <p:cNvSpPr>
              <a:spLocks noChangeShapeType="1"/>
            </p:cNvSpPr>
            <p:nvPr/>
          </p:nvSpPr>
          <p:spPr bwMode="auto">
            <a:xfrm rot="13567995">
              <a:off x="5278444" y="3228884"/>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3" name="Line 2757"/>
            <p:cNvSpPr>
              <a:spLocks noChangeShapeType="1"/>
            </p:cNvSpPr>
            <p:nvPr/>
          </p:nvSpPr>
          <p:spPr bwMode="auto">
            <a:xfrm rot="2767995">
              <a:off x="5384142" y="3215526"/>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4" name="Line 2759"/>
            <p:cNvSpPr>
              <a:spLocks noChangeShapeType="1"/>
            </p:cNvSpPr>
            <p:nvPr/>
          </p:nvSpPr>
          <p:spPr bwMode="auto">
            <a:xfrm rot="18997895">
              <a:off x="6107691" y="1610013"/>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5" name="Line 2760"/>
            <p:cNvSpPr>
              <a:spLocks noChangeShapeType="1"/>
            </p:cNvSpPr>
            <p:nvPr/>
          </p:nvSpPr>
          <p:spPr bwMode="auto">
            <a:xfrm rot="8197895">
              <a:off x="6269221" y="1662491"/>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6" name="Line 2762"/>
            <p:cNvSpPr>
              <a:spLocks noChangeShapeType="1"/>
            </p:cNvSpPr>
            <p:nvPr/>
          </p:nvSpPr>
          <p:spPr bwMode="auto">
            <a:xfrm rot="1048487">
              <a:off x="6466899" y="2913201"/>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7" name="Line 2763"/>
            <p:cNvSpPr>
              <a:spLocks noChangeShapeType="1"/>
            </p:cNvSpPr>
            <p:nvPr/>
          </p:nvSpPr>
          <p:spPr bwMode="auto">
            <a:xfrm rot="11848487">
              <a:off x="6336996" y="2976174"/>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51" name="Text Box 2767"/>
            <p:cNvSpPr txBox="1">
              <a:spLocks noChangeArrowheads="1"/>
            </p:cNvSpPr>
            <p:nvPr/>
          </p:nvSpPr>
          <p:spPr bwMode="auto">
            <a:xfrm>
              <a:off x="6575502" y="1626950"/>
              <a:ext cx="3802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err="1">
                  <a:solidFill>
                    <a:srgbClr val="0000FF"/>
                  </a:solidFill>
                  <a:latin typeface="微软雅黑 Light" panose="020B0502040204020203" pitchFamily="34" charset="-122"/>
                  <a:ea typeface="微软雅黑 Light" panose="020B0502040204020203" pitchFamily="34" charset="-122"/>
                </a:rPr>
                <a:t>u</a:t>
              </a:r>
              <a:r>
                <a:rPr kumimoji="1" lang="en-US" altLang="zh-CN" sz="1400" b="1" i="1" baseline="-25000" dirty="0" err="1">
                  <a:solidFill>
                    <a:srgbClr val="0000FF"/>
                  </a:solidFill>
                  <a:latin typeface="微软雅黑 Light" panose="020B0502040204020203" pitchFamily="34" charset="-122"/>
                  <a:ea typeface="微软雅黑 Light" panose="020B0502040204020203" pitchFamily="34" charset="-122"/>
                </a:rPr>
                <a:t>N</a:t>
              </a:r>
              <a:endParaRPr kumimoji="1" lang="en-US" altLang="zh-CN" sz="1400" b="1" i="1" baseline="-25000" dirty="0">
                <a:solidFill>
                  <a:srgbClr val="0000FF"/>
                </a:solidFill>
                <a:latin typeface="微软雅黑 Light" panose="020B0502040204020203" pitchFamily="34" charset="-122"/>
                <a:ea typeface="微软雅黑 Light" panose="020B0502040204020203" pitchFamily="34" charset="-122"/>
              </a:endParaRPr>
            </a:p>
          </p:txBody>
        </p:sp>
        <p:sp>
          <p:nvSpPr>
            <p:cNvPr id="52" name="Text Box 2768"/>
            <p:cNvSpPr txBox="1">
              <a:spLocks noChangeArrowheads="1"/>
            </p:cNvSpPr>
            <p:nvPr/>
          </p:nvSpPr>
          <p:spPr bwMode="auto">
            <a:xfrm>
              <a:off x="6517729" y="2955183"/>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5</a:t>
              </a:r>
            </a:p>
          </p:txBody>
        </p:sp>
        <p:sp>
          <p:nvSpPr>
            <p:cNvPr id="53" name="Text Box 2769"/>
            <p:cNvSpPr txBox="1">
              <a:spLocks noChangeArrowheads="1"/>
            </p:cNvSpPr>
            <p:nvPr/>
          </p:nvSpPr>
          <p:spPr bwMode="auto">
            <a:xfrm>
              <a:off x="5326397" y="3214707"/>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4</a:t>
              </a:r>
            </a:p>
          </p:txBody>
        </p:sp>
        <p:sp>
          <p:nvSpPr>
            <p:cNvPr id="54" name="Text Box 2770"/>
            <p:cNvSpPr txBox="1">
              <a:spLocks noChangeArrowheads="1"/>
            </p:cNvSpPr>
            <p:nvPr/>
          </p:nvSpPr>
          <p:spPr bwMode="auto">
            <a:xfrm>
              <a:off x="3853043" y="2724837"/>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3</a:t>
              </a:r>
            </a:p>
          </p:txBody>
        </p:sp>
        <p:sp>
          <p:nvSpPr>
            <p:cNvPr id="55" name="Text Box 2771"/>
            <p:cNvSpPr txBox="1">
              <a:spLocks noChangeArrowheads="1"/>
            </p:cNvSpPr>
            <p:nvPr/>
          </p:nvSpPr>
          <p:spPr bwMode="auto">
            <a:xfrm>
              <a:off x="3341341" y="2029910"/>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2</a:t>
              </a:r>
            </a:p>
          </p:txBody>
        </p:sp>
        <p:sp>
          <p:nvSpPr>
            <p:cNvPr id="56" name="Text Box 2772"/>
            <p:cNvSpPr txBox="1">
              <a:spLocks noChangeArrowheads="1"/>
            </p:cNvSpPr>
            <p:nvPr/>
          </p:nvSpPr>
          <p:spPr bwMode="auto">
            <a:xfrm>
              <a:off x="4468665" y="1303418"/>
              <a:ext cx="335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1</a:t>
              </a:r>
            </a:p>
          </p:txBody>
        </p:sp>
        <p:sp>
          <p:nvSpPr>
            <p:cNvPr id="57" name="Text Box 2773"/>
            <p:cNvSpPr txBox="1">
              <a:spLocks noChangeArrowheads="1"/>
            </p:cNvSpPr>
            <p:nvPr/>
          </p:nvSpPr>
          <p:spPr bwMode="auto">
            <a:xfrm>
              <a:off x="6217802" y="1398434"/>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err="1">
                  <a:solidFill>
                    <a:srgbClr val="0000FF"/>
                  </a:solidFill>
                  <a:latin typeface="微软雅黑 Light" panose="020B0502040204020203" pitchFamily="34" charset="-122"/>
                  <a:ea typeface="微软雅黑 Light" panose="020B0502040204020203" pitchFamily="34" charset="-122"/>
                </a:rPr>
                <a:t>d</a:t>
              </a:r>
              <a:r>
                <a:rPr kumimoji="1" lang="en-US" altLang="zh-CN" sz="1400" b="1" i="1" baseline="-25000" dirty="0" err="1">
                  <a:solidFill>
                    <a:srgbClr val="0000FF"/>
                  </a:solidFill>
                  <a:latin typeface="微软雅黑 Light" panose="020B0502040204020203" pitchFamily="34" charset="-122"/>
                  <a:ea typeface="微软雅黑 Light" panose="020B0502040204020203" pitchFamily="34" charset="-122"/>
                </a:rPr>
                <a:t>N</a:t>
              </a:r>
              <a:endParaRPr kumimoji="1" lang="en-US" altLang="zh-CN" sz="1400" b="1" i="1" baseline="-25000" dirty="0">
                <a:solidFill>
                  <a:srgbClr val="0000FF"/>
                </a:solidFill>
                <a:latin typeface="微软雅黑 Light" panose="020B0502040204020203" pitchFamily="34" charset="-122"/>
                <a:ea typeface="微软雅黑 Light" panose="020B0502040204020203" pitchFamily="34" charset="-122"/>
              </a:endParaRPr>
            </a:p>
          </p:txBody>
        </p:sp>
        <p:sp>
          <p:nvSpPr>
            <p:cNvPr id="58" name="Text Box 2774"/>
            <p:cNvSpPr txBox="1">
              <a:spLocks noChangeArrowheads="1"/>
            </p:cNvSpPr>
            <p:nvPr/>
          </p:nvSpPr>
          <p:spPr bwMode="auto">
            <a:xfrm>
              <a:off x="4217361" y="1574870"/>
              <a:ext cx="34015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1</a:t>
              </a:r>
            </a:p>
          </p:txBody>
        </p:sp>
        <p:sp>
          <p:nvSpPr>
            <p:cNvPr id="59" name="Text Box 2775"/>
            <p:cNvSpPr txBox="1">
              <a:spLocks noChangeArrowheads="1"/>
            </p:cNvSpPr>
            <p:nvPr/>
          </p:nvSpPr>
          <p:spPr bwMode="auto">
            <a:xfrm>
              <a:off x="6740472" y="2738594"/>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5</a:t>
              </a:r>
            </a:p>
          </p:txBody>
        </p:sp>
        <p:sp>
          <p:nvSpPr>
            <p:cNvPr id="60" name="Text Box 2776"/>
            <p:cNvSpPr txBox="1">
              <a:spLocks noChangeArrowheads="1"/>
            </p:cNvSpPr>
            <p:nvPr/>
          </p:nvSpPr>
          <p:spPr bwMode="auto">
            <a:xfrm>
              <a:off x="5697652" y="3128835"/>
              <a:ext cx="3770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4</a:t>
              </a:r>
            </a:p>
          </p:txBody>
        </p:sp>
        <p:sp>
          <p:nvSpPr>
            <p:cNvPr id="61" name="Text Box 2777"/>
            <p:cNvSpPr txBox="1">
              <a:spLocks noChangeArrowheads="1"/>
            </p:cNvSpPr>
            <p:nvPr/>
          </p:nvSpPr>
          <p:spPr bwMode="auto">
            <a:xfrm>
              <a:off x="4068849" y="3007263"/>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3</a:t>
              </a:r>
            </a:p>
          </p:txBody>
        </p:sp>
        <p:sp>
          <p:nvSpPr>
            <p:cNvPr id="62" name="Text Box 2778"/>
            <p:cNvSpPr txBox="1">
              <a:spLocks noChangeArrowheads="1"/>
            </p:cNvSpPr>
            <p:nvPr/>
          </p:nvSpPr>
          <p:spPr bwMode="auto">
            <a:xfrm>
              <a:off x="3289381" y="2386044"/>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2</a:t>
              </a:r>
            </a:p>
          </p:txBody>
        </p:sp>
      </p:grpSp>
      <p:sp>
        <p:nvSpPr>
          <p:cNvPr id="4" name="矩形 3"/>
          <p:cNvSpPr/>
          <p:nvPr/>
        </p:nvSpPr>
        <p:spPr>
          <a:xfrm>
            <a:off x="734437" y="1558776"/>
            <a:ext cx="1773087" cy="2092881"/>
          </a:xfrm>
          <a:prstGeom prst="rect">
            <a:avLst/>
          </a:prstGeom>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在 </a:t>
            </a:r>
            <a:r>
              <a:rPr lang="en-US" altLang="zh-CN" b="1" dirty="0">
                <a:latin typeface="微软雅黑 Light" panose="020B0502040204020203" pitchFamily="34" charset="-122"/>
                <a:ea typeface="微软雅黑 Light" panose="020B0502040204020203" pitchFamily="34" charset="-122"/>
              </a:rPr>
              <a:t>P2P </a:t>
            </a:r>
            <a:r>
              <a:rPr lang="zh-CN" altLang="en-US" b="1" dirty="0">
                <a:latin typeface="微软雅黑 Light" panose="020B0502040204020203" pitchFamily="34" charset="-122"/>
                <a:ea typeface="微软雅黑 Light" panose="020B0502040204020203" pitchFamily="34" charset="-122"/>
              </a:rPr>
              <a:t>工作方式下，所有的音频</a:t>
            </a:r>
            <a:r>
              <a:rPr lang="en-US" altLang="zh-CN" b="1" dirty="0">
                <a:latin typeface="微软雅黑 Light" panose="020B0502040204020203" pitchFamily="34" charset="-122"/>
                <a:ea typeface="微软雅黑 Light" panose="020B0502040204020203" pitchFamily="34" charset="-122"/>
              </a:rPr>
              <a:t>/</a:t>
            </a:r>
            <a:r>
              <a:rPr lang="zh-CN" altLang="en-US" b="1" dirty="0">
                <a:latin typeface="微软雅黑 Light" panose="020B0502040204020203" pitchFamily="34" charset="-122"/>
                <a:ea typeface="微软雅黑 Light" panose="020B0502040204020203" pitchFamily="34" charset="-122"/>
              </a:rPr>
              <a:t>视频文件都是在普通的互联网</a:t>
            </a:r>
            <a:r>
              <a:rPr lang="zh-CN" altLang="en-US" b="1" dirty="0">
                <a:solidFill>
                  <a:srgbClr val="C00000"/>
                </a:solidFill>
                <a:latin typeface="微软雅黑 Light" panose="020B0502040204020203" pitchFamily="34" charset="-122"/>
                <a:ea typeface="微软雅黑 Light" panose="020B0502040204020203" pitchFamily="34" charset="-122"/>
              </a:rPr>
              <a:t>用户之间传输。</a:t>
            </a:r>
          </a:p>
        </p:txBody>
      </p:sp>
    </p:spTree>
    <p:extLst>
      <p:ext uri="{BB962C8B-B14F-4D97-AF65-F5344CB8AC3E}">
        <p14:creationId xmlns:p14="http://schemas.microsoft.com/office/powerpoint/2010/main" val="2668492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19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519728" y="573924"/>
            <a:ext cx="61045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6.9.1 </a:t>
            </a:r>
            <a:r>
              <a:rPr lang="zh-CN" altLang="en-US" sz="2400" b="1" dirty="0">
                <a:solidFill>
                  <a:schemeClr val="bg1"/>
                </a:solidFill>
                <a:latin typeface="微软雅黑 Light" panose="020B0502040204020203" pitchFamily="34" charset="-122"/>
                <a:ea typeface="微软雅黑 Light" panose="020B0502040204020203" pitchFamily="34" charset="-122"/>
              </a:rPr>
              <a:t>具有集中目录服务器的 </a:t>
            </a:r>
            <a:r>
              <a:rPr lang="en-US" altLang="zh-CN" sz="2400" b="1" dirty="0">
                <a:solidFill>
                  <a:schemeClr val="bg1"/>
                </a:solidFill>
                <a:latin typeface="微软雅黑 Light" panose="020B0502040204020203" pitchFamily="34" charset="-122"/>
                <a:ea typeface="微软雅黑 Light" panose="020B0502040204020203" pitchFamily="34" charset="-122"/>
              </a:rPr>
              <a:t>P2P </a:t>
            </a:r>
            <a:r>
              <a:rPr lang="zh-CN" altLang="en-US" sz="2400" b="1" dirty="0">
                <a:solidFill>
                  <a:schemeClr val="bg1"/>
                </a:solidFill>
                <a:latin typeface="微软雅黑 Light" panose="020B0502040204020203" pitchFamily="34" charset="-122"/>
                <a:ea typeface="微软雅黑 Light" panose="020B0502040204020203" pitchFamily="34" charset="-122"/>
              </a:rPr>
              <a:t>工作方式</a:t>
            </a:r>
          </a:p>
        </p:txBody>
      </p:sp>
      <p:sp>
        <p:nvSpPr>
          <p:cNvPr id="4" name="Rectangle 68"/>
          <p:cNvSpPr>
            <a:spLocks noChangeArrowheads="1"/>
          </p:cNvSpPr>
          <p:nvPr/>
        </p:nvSpPr>
        <p:spPr bwMode="auto">
          <a:xfrm>
            <a:off x="556963" y="1010413"/>
            <a:ext cx="7788252"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solidFill>
                  <a:srgbClr val="0000FF"/>
                </a:solidFill>
                <a:latin typeface="微软雅黑 Light" panose="020B0502040204020203" pitchFamily="34" charset="-122"/>
                <a:ea typeface="微软雅黑 Light" panose="020B0502040204020203" pitchFamily="34" charset="-122"/>
              </a:rPr>
              <a:t>最早</a:t>
            </a: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P2P </a:t>
            </a:r>
            <a:r>
              <a:rPr lang="zh-CN" altLang="en-US" sz="2000" b="1" dirty="0">
                <a:latin typeface="微软雅黑 Light" panose="020B0502040204020203" pitchFamily="34" charset="-122"/>
                <a:ea typeface="微软雅黑 Light" panose="020B0502040204020203" pitchFamily="34" charset="-122"/>
              </a:rPr>
              <a:t>技术，提供免费下载 </a:t>
            </a:r>
            <a:r>
              <a:rPr lang="en-US" altLang="zh-CN" sz="2000" b="1" dirty="0">
                <a:latin typeface="微软雅黑 Light" panose="020B0502040204020203" pitchFamily="34" charset="-122"/>
                <a:ea typeface="微软雅黑 Light" panose="020B0502040204020203" pitchFamily="34" charset="-122"/>
              </a:rPr>
              <a:t>MP3 </a:t>
            </a:r>
            <a:r>
              <a:rPr lang="zh-CN" altLang="en-US" sz="2000" b="1" dirty="0">
                <a:latin typeface="微软雅黑 Light" panose="020B0502040204020203" pitchFamily="34" charset="-122"/>
                <a:ea typeface="微软雅黑 Light" panose="020B0502040204020203" pitchFamily="34" charset="-122"/>
              </a:rPr>
              <a:t>音乐。</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将所有音乐文件的索引信息都集中存放在 </a:t>
            </a: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目录服务器中。</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使用者只要查找目录服务器，就可知道应从何处下载所要的 </a:t>
            </a:r>
            <a:r>
              <a:rPr lang="en-US" altLang="zh-CN" sz="2000" b="1" dirty="0">
                <a:latin typeface="微软雅黑 Light" panose="020B0502040204020203" pitchFamily="34" charset="-122"/>
                <a:ea typeface="微软雅黑 Light" panose="020B0502040204020203" pitchFamily="34" charset="-122"/>
              </a:rPr>
              <a:t>MP3 </a:t>
            </a:r>
            <a:r>
              <a:rPr lang="zh-CN" altLang="en-US" sz="2000" b="1" dirty="0">
                <a:latin typeface="微软雅黑 Light" panose="020B0502040204020203" pitchFamily="34" charset="-122"/>
                <a:ea typeface="微软雅黑 Light" panose="020B0502040204020203" pitchFamily="34" charset="-122"/>
              </a:rPr>
              <a:t>文件。</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用户要及时向 </a:t>
            </a: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的目录服务器报告自己存有的音乐文件。</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的文件传输是</a:t>
            </a:r>
            <a:r>
              <a:rPr lang="zh-CN" altLang="en-US" sz="2000" b="1" dirty="0">
                <a:solidFill>
                  <a:srgbClr val="C00000"/>
                </a:solidFill>
                <a:latin typeface="微软雅黑 Light" panose="020B0502040204020203" pitchFamily="34" charset="-122"/>
                <a:ea typeface="微软雅黑 Light" panose="020B0502040204020203" pitchFamily="34" charset="-122"/>
              </a:rPr>
              <a:t>分散</a:t>
            </a:r>
            <a:r>
              <a:rPr lang="zh-CN" altLang="en-US" sz="2000" b="1" dirty="0">
                <a:latin typeface="微软雅黑 Light" panose="020B0502040204020203" pitchFamily="34" charset="-122"/>
                <a:ea typeface="微软雅黑 Light" panose="020B0502040204020203" pitchFamily="34" charset="-122"/>
              </a:rPr>
              <a:t>的，文件的定位则是</a:t>
            </a:r>
            <a:r>
              <a:rPr lang="zh-CN" altLang="en-US" sz="2000" b="1" dirty="0">
                <a:solidFill>
                  <a:srgbClr val="C00000"/>
                </a:solidFill>
                <a:latin typeface="微软雅黑 Light" panose="020B0502040204020203" pitchFamily="34" charset="-122"/>
                <a:ea typeface="微软雅黑 Light" panose="020B0502040204020203" pitchFamily="34" charset="-122"/>
              </a:rPr>
              <a:t>集中</a:t>
            </a:r>
            <a:r>
              <a:rPr lang="zh-CN" altLang="en-US" sz="2000" b="1" dirty="0">
                <a:latin typeface="微软雅黑 Light" panose="020B0502040204020203" pitchFamily="34" charset="-122"/>
                <a:ea typeface="微软雅黑 Light" panose="020B0502040204020203" pitchFamily="34" charset="-122"/>
              </a:rPr>
              <a:t>的。</a:t>
            </a:r>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44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5700" y="581236"/>
            <a:ext cx="24513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Napster </a:t>
            </a:r>
            <a:r>
              <a:rPr lang="zh-CN" altLang="en-US" sz="2000" b="1" dirty="0">
                <a:solidFill>
                  <a:schemeClr val="bg1"/>
                </a:solidFill>
                <a:latin typeface="微软雅黑 Light" panose="020B0502040204020203" pitchFamily="34" charset="-122"/>
                <a:ea typeface="微软雅黑 Light" panose="020B0502040204020203" pitchFamily="34" charset="-122"/>
              </a:rPr>
              <a:t>的工作过程</a:t>
            </a:r>
          </a:p>
        </p:txBody>
      </p:sp>
      <p:graphicFrame>
        <p:nvGraphicFramePr>
          <p:cNvPr id="8" name="Object 5">
            <a:hlinkClick r:id="" action="ppaction://ole?verb=0"/>
          </p:cNvPr>
          <p:cNvGraphicFramePr>
            <a:graphicFrameLocks/>
          </p:cNvGraphicFramePr>
          <p:nvPr>
            <p:extLst>
              <p:ext uri="{D42A27DB-BD31-4B8C-83A1-F6EECF244321}">
                <p14:modId xmlns:p14="http://schemas.microsoft.com/office/powerpoint/2010/main" val="1858729976"/>
              </p:ext>
            </p:extLst>
          </p:nvPr>
        </p:nvGraphicFramePr>
        <p:xfrm>
          <a:off x="2812570" y="1986319"/>
          <a:ext cx="575345" cy="1000249"/>
        </p:xfrm>
        <a:graphic>
          <a:graphicData uri="http://schemas.openxmlformats.org/presentationml/2006/ole">
            <mc:AlternateContent xmlns:mc="http://schemas.openxmlformats.org/markup-compatibility/2006">
              <mc:Choice xmlns:v="urn:schemas-microsoft-com:vml" Requires="v">
                <p:oleObj name="Microsoft ClipArt Gallery" r:id="rId2" imgW="2735263" imgH="3825875" progId="">
                  <p:embed/>
                </p:oleObj>
              </mc:Choice>
              <mc:Fallback>
                <p:oleObj name="Microsoft ClipArt Gallery" r:id="rId2" imgW="2735263" imgH="3825875" progId="">
                  <p:embed/>
                  <p:pic>
                    <p:nvPicPr>
                      <p:cNvPr id="0" name="Picture 75"/>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2570" y="1986319"/>
                        <a:ext cx="575345" cy="1000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9" name="Text Box 6"/>
          <p:cNvSpPr txBox="1">
            <a:spLocks noChangeArrowheads="1"/>
          </p:cNvSpPr>
          <p:nvPr/>
        </p:nvSpPr>
        <p:spPr bwMode="auto">
          <a:xfrm>
            <a:off x="2294506" y="1495249"/>
            <a:ext cx="1414169" cy="523220"/>
          </a:xfrm>
          <a:prstGeom prst="rect">
            <a:avLst/>
          </a:prstGeom>
          <a:noFill/>
          <a:ln w="9525">
            <a:noFill/>
            <a:miter lim="800000"/>
            <a:headEnd/>
            <a:tailEnd/>
          </a:ln>
        </p:spPr>
        <p:txBody>
          <a:bodyPr wrap="none">
            <a:spAutoFit/>
          </a:bodyPr>
          <a:lstStyle/>
          <a:p>
            <a:pPr algn="ctr"/>
            <a:r>
              <a:rPr kumimoji="1" lang="en-US" altLang="zh-CN" sz="1400" b="1" dirty="0">
                <a:latin typeface="微软雅黑 Light" panose="020B0502040204020203" pitchFamily="34" charset="-122"/>
                <a:ea typeface="微软雅黑 Light" panose="020B0502040204020203" pitchFamily="34" charset="-122"/>
                <a:cs typeface="Times New Roman" pitchFamily="18" charset="0"/>
              </a:rPr>
              <a:t>Napster </a:t>
            </a: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集中式</a:t>
            </a:r>
          </a:p>
          <a:p>
            <a:pPr algn="ct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目录服务器</a:t>
            </a:r>
          </a:p>
        </p:txBody>
      </p:sp>
      <p:pic>
        <p:nvPicPr>
          <p:cNvPr id="10" name="Picture 9"/>
          <p:cNvPicPr>
            <a:picLocks noChangeArrowheads="1"/>
          </p:cNvPicPr>
          <p:nvPr/>
        </p:nvPicPr>
        <p:blipFill>
          <a:blip r:embed="rId4" cstate="print"/>
          <a:srcRect/>
          <a:stretch>
            <a:fillRect/>
          </a:stretch>
        </p:blipFill>
        <p:spPr bwMode="auto">
          <a:xfrm>
            <a:off x="4784684" y="1215251"/>
            <a:ext cx="432469" cy="427137"/>
          </a:xfrm>
          <a:prstGeom prst="rect">
            <a:avLst/>
          </a:prstGeom>
          <a:noFill/>
          <a:ln w="9525">
            <a:noFill/>
            <a:miter lim="800000"/>
            <a:headEnd/>
            <a:tailEnd/>
          </a:ln>
        </p:spPr>
      </p:pic>
      <p:sp>
        <p:nvSpPr>
          <p:cNvPr id="11" name="Text Box 13"/>
          <p:cNvSpPr txBox="1">
            <a:spLocks noChangeArrowheads="1"/>
          </p:cNvSpPr>
          <p:nvPr/>
        </p:nvSpPr>
        <p:spPr bwMode="auto">
          <a:xfrm>
            <a:off x="6052930" y="3282463"/>
            <a:ext cx="277640"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X</a:t>
            </a:r>
          </a:p>
        </p:txBody>
      </p:sp>
      <p:pic>
        <p:nvPicPr>
          <p:cNvPr id="12" name="Picture 9"/>
          <p:cNvPicPr>
            <a:picLocks noChangeArrowheads="1"/>
          </p:cNvPicPr>
          <p:nvPr/>
        </p:nvPicPr>
        <p:blipFill>
          <a:blip r:embed="rId4" cstate="print"/>
          <a:srcRect/>
          <a:stretch>
            <a:fillRect/>
          </a:stretch>
        </p:blipFill>
        <p:spPr bwMode="auto">
          <a:xfrm>
            <a:off x="5908914" y="1431275"/>
            <a:ext cx="432469" cy="427137"/>
          </a:xfrm>
          <a:prstGeom prst="rect">
            <a:avLst/>
          </a:prstGeom>
          <a:noFill/>
          <a:ln w="9525">
            <a:noFill/>
            <a:miter lim="800000"/>
            <a:headEnd/>
            <a:tailEnd/>
          </a:ln>
        </p:spPr>
      </p:pic>
      <p:pic>
        <p:nvPicPr>
          <p:cNvPr id="13" name="Picture 9"/>
          <p:cNvPicPr>
            <a:picLocks noChangeArrowheads="1"/>
          </p:cNvPicPr>
          <p:nvPr/>
        </p:nvPicPr>
        <p:blipFill>
          <a:blip r:embed="rId4" cstate="print"/>
          <a:srcRect/>
          <a:stretch>
            <a:fillRect/>
          </a:stretch>
        </p:blipFill>
        <p:spPr bwMode="auto">
          <a:xfrm>
            <a:off x="6628994" y="2490375"/>
            <a:ext cx="432469" cy="427137"/>
          </a:xfrm>
          <a:prstGeom prst="rect">
            <a:avLst/>
          </a:prstGeom>
          <a:noFill/>
          <a:ln w="9525">
            <a:noFill/>
            <a:miter lim="800000"/>
            <a:headEnd/>
            <a:tailEnd/>
          </a:ln>
        </p:spPr>
      </p:pic>
      <p:pic>
        <p:nvPicPr>
          <p:cNvPr id="14" name="Picture 9"/>
          <p:cNvPicPr>
            <a:picLocks noChangeArrowheads="1"/>
          </p:cNvPicPr>
          <p:nvPr/>
        </p:nvPicPr>
        <p:blipFill>
          <a:blip r:embed="rId4" cstate="print"/>
          <a:srcRect/>
          <a:stretch>
            <a:fillRect/>
          </a:stretch>
        </p:blipFill>
        <p:spPr bwMode="auto">
          <a:xfrm>
            <a:off x="5764898" y="3282463"/>
            <a:ext cx="432469" cy="427137"/>
          </a:xfrm>
          <a:prstGeom prst="rect">
            <a:avLst/>
          </a:prstGeom>
          <a:noFill/>
          <a:ln w="9525">
            <a:noFill/>
            <a:miter lim="800000"/>
            <a:headEnd/>
            <a:tailEnd/>
          </a:ln>
        </p:spPr>
      </p:pic>
      <p:pic>
        <p:nvPicPr>
          <p:cNvPr id="15" name="Picture 9"/>
          <p:cNvPicPr>
            <a:picLocks noChangeArrowheads="1"/>
          </p:cNvPicPr>
          <p:nvPr/>
        </p:nvPicPr>
        <p:blipFill>
          <a:blip r:embed="rId4" cstate="print"/>
          <a:srcRect/>
          <a:stretch>
            <a:fillRect/>
          </a:stretch>
        </p:blipFill>
        <p:spPr bwMode="auto">
          <a:xfrm>
            <a:off x="4036706" y="3619921"/>
            <a:ext cx="432469" cy="427137"/>
          </a:xfrm>
          <a:prstGeom prst="rect">
            <a:avLst/>
          </a:prstGeom>
          <a:noFill/>
          <a:ln w="9525">
            <a:noFill/>
            <a:miter lim="800000"/>
            <a:headEnd/>
            <a:tailEnd/>
          </a:ln>
        </p:spPr>
      </p:pic>
      <p:pic>
        <p:nvPicPr>
          <p:cNvPr id="16" name="Picture 9"/>
          <p:cNvPicPr>
            <a:picLocks noChangeArrowheads="1"/>
          </p:cNvPicPr>
          <p:nvPr/>
        </p:nvPicPr>
        <p:blipFill>
          <a:blip r:embed="rId4" cstate="print"/>
          <a:srcRect/>
          <a:stretch>
            <a:fillRect/>
          </a:stretch>
        </p:blipFill>
        <p:spPr bwMode="auto">
          <a:xfrm>
            <a:off x="2920794" y="3393387"/>
            <a:ext cx="432469" cy="427137"/>
          </a:xfrm>
          <a:prstGeom prst="rect">
            <a:avLst/>
          </a:prstGeom>
          <a:noFill/>
          <a:ln w="9525">
            <a:noFill/>
            <a:miter lim="800000"/>
            <a:headEnd/>
            <a:tailEnd/>
          </a:ln>
        </p:spPr>
      </p:pic>
      <p:sp>
        <p:nvSpPr>
          <p:cNvPr id="17" name="Text Box 13"/>
          <p:cNvSpPr txBox="1">
            <a:spLocks noChangeArrowheads="1"/>
          </p:cNvSpPr>
          <p:nvPr/>
        </p:nvSpPr>
        <p:spPr bwMode="auto">
          <a:xfrm>
            <a:off x="4396746" y="3619921"/>
            <a:ext cx="28886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989034" y="2490375"/>
            <a:ext cx="274434"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5144724" y="1215251"/>
            <a:ext cx="30008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3384061" y="2716979"/>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3420210" y="2815881"/>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731068" y="2890225"/>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谁有文件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3" name="TextBox 22"/>
          <p:cNvSpPr txBox="1"/>
          <p:nvPr/>
        </p:nvSpPr>
        <p:spPr>
          <a:xfrm rot="3562759">
            <a:off x="4820450" y="2421954"/>
            <a:ext cx="1872208"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请求文件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4" name="TextBox 23"/>
          <p:cNvSpPr txBox="1"/>
          <p:nvPr/>
        </p:nvSpPr>
        <p:spPr>
          <a:xfrm>
            <a:off x="5476866" y="3210455"/>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5" name="TextBox 24"/>
          <p:cNvSpPr txBox="1"/>
          <p:nvPr/>
        </p:nvSpPr>
        <p:spPr>
          <a:xfrm>
            <a:off x="5951112" y="3057147"/>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6" name="TextBox 25"/>
          <p:cNvSpPr txBox="1"/>
          <p:nvPr/>
        </p:nvSpPr>
        <p:spPr>
          <a:xfrm>
            <a:off x="3244618" y="2791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7" name="TextBox 26"/>
          <p:cNvSpPr txBox="1"/>
          <p:nvPr/>
        </p:nvSpPr>
        <p:spPr>
          <a:xfrm>
            <a:off x="4756786" y="162627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8" name="TextBox 27"/>
          <p:cNvSpPr txBox="1"/>
          <p:nvPr/>
        </p:nvSpPr>
        <p:spPr>
          <a:xfrm rot="1111699">
            <a:off x="3681883" y="3299604"/>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B</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C</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29" name="直接箭头连接符 28"/>
          <p:cNvCxnSpPr/>
          <p:nvPr/>
        </p:nvCxnSpPr>
        <p:spPr>
          <a:xfrm flipH="1" flipV="1">
            <a:off x="5116826" y="1626279"/>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623695" y="2454490"/>
            <a:ext cx="1584176" cy="288032"/>
            <a:chOff x="5796136" y="1484784"/>
            <a:chExt cx="1584176" cy="288032"/>
          </a:xfrm>
        </p:grpSpPr>
        <p:sp>
          <p:nvSpPr>
            <p:cNvPr id="31" name="矩形 30"/>
            <p:cNvSpPr/>
            <p:nvPr/>
          </p:nvSpPr>
          <p:spPr>
            <a:xfrm>
              <a:off x="5796136" y="1484784"/>
              <a:ext cx="1080120" cy="288032"/>
            </a:xfrm>
            <a:prstGeom prst="rect">
              <a:avLst/>
            </a:prstGeom>
            <a:solidFill>
              <a:srgbClr val="66FF66"/>
            </a:solidFill>
            <a:ln w="25400" cap="flat" cmpd="sng" algn="ctr">
              <a:solidFill>
                <a:sysClr val="windowText" lastClr="00000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00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 lastClr="FFFFFF"/>
                </a:solidFill>
                <a:effectLst/>
                <a:uLnTx/>
                <a:uFillTx/>
                <a:latin typeface="微软雅黑 Light" panose="020B0502040204020203" pitchFamily="34" charset="-122"/>
                <a:ea typeface="微软雅黑 Light" panose="020B0502040204020203" pitchFamily="34" charset="-122"/>
              </a:endParaRPr>
            </a:p>
          </p:txBody>
        </p:sp>
      </p:grpSp>
      <p:grpSp>
        <p:nvGrpSpPr>
          <p:cNvPr id="34" name="组合 33"/>
          <p:cNvGrpSpPr/>
          <p:nvPr/>
        </p:nvGrpSpPr>
        <p:grpSpPr>
          <a:xfrm>
            <a:off x="3742318" y="1800008"/>
            <a:ext cx="4540548" cy="656590"/>
            <a:chOff x="3703202" y="3664310"/>
            <a:chExt cx="4540548" cy="656590"/>
          </a:xfrm>
        </p:grpSpPr>
        <p:sp>
          <p:nvSpPr>
            <p:cNvPr id="4" name="矩形 3"/>
            <p:cNvSpPr/>
            <p:nvPr/>
          </p:nvSpPr>
          <p:spPr>
            <a:xfrm>
              <a:off x="3703202" y="3664310"/>
              <a:ext cx="4540548" cy="656590"/>
            </a:xfrm>
            <a:prstGeom prst="rect">
              <a:avLst/>
            </a:prstGeom>
            <a:solidFill>
              <a:srgbClr val="0000FF"/>
            </a:solidFill>
          </p:spPr>
          <p:txBody>
            <a:bodyPr wrap="square">
              <a:spAutoFit/>
            </a:bodyPr>
            <a:lstStyle/>
            <a:p>
              <a:pPr marL="452438">
                <a:lnSpc>
                  <a:spcPts val="2200"/>
                </a:lnSpc>
              </a:pPr>
              <a:r>
                <a:rPr lang="zh-CN" altLang="en-US" sz="1600" b="1" dirty="0">
                  <a:solidFill>
                    <a:schemeClr val="bg1"/>
                  </a:solidFill>
                  <a:latin typeface="微软雅黑 Light" panose="020B0502040204020203" pitchFamily="34" charset="-122"/>
                  <a:ea typeface="微软雅黑 Light" panose="020B0502040204020203" pitchFamily="34" charset="-122"/>
                </a:rPr>
                <a:t>用户 </a:t>
              </a:r>
              <a:r>
                <a:rPr lang="en-US" altLang="zh-CN" sz="1600" b="1" dirty="0">
                  <a:solidFill>
                    <a:schemeClr val="bg1"/>
                  </a:solidFill>
                  <a:latin typeface="微软雅黑 Light" panose="020B0502040204020203" pitchFamily="34" charset="-122"/>
                  <a:ea typeface="微软雅黑 Light" panose="020B0502040204020203" pitchFamily="34" charset="-122"/>
                </a:rPr>
                <a:t>X </a:t>
              </a:r>
              <a:r>
                <a:rPr lang="zh-CN" altLang="en-US" sz="1600" b="1" dirty="0">
                  <a:solidFill>
                    <a:schemeClr val="bg1"/>
                  </a:solidFill>
                  <a:latin typeface="微软雅黑 Light" panose="020B0502040204020203" pitchFamily="34" charset="-122"/>
                  <a:ea typeface="微软雅黑 Light" panose="020B0502040204020203" pitchFamily="34" charset="-122"/>
                </a:rPr>
                <a:t>向 </a:t>
              </a:r>
              <a:r>
                <a:rPr lang="en-US" altLang="zh-CN" sz="1600" b="1" dirty="0">
                  <a:solidFill>
                    <a:schemeClr val="bg1"/>
                  </a:solidFill>
                  <a:latin typeface="微软雅黑 Light" panose="020B0502040204020203" pitchFamily="34" charset="-122"/>
                  <a:ea typeface="微软雅黑 Light" panose="020B0502040204020203" pitchFamily="34" charset="-122"/>
                </a:rPr>
                <a:t>Napster </a:t>
              </a:r>
              <a:r>
                <a:rPr lang="zh-CN" altLang="en-US" sz="1600" b="1" dirty="0">
                  <a:solidFill>
                    <a:schemeClr val="bg1"/>
                  </a:solidFill>
                  <a:latin typeface="微软雅黑 Light" panose="020B0502040204020203" pitchFamily="34" charset="-122"/>
                  <a:ea typeface="微软雅黑 Light" panose="020B0502040204020203" pitchFamily="34" charset="-122"/>
                </a:rPr>
                <a:t>目录服务器查询（采用客户服务器方式）谁有音乐文件 </a:t>
              </a:r>
              <a:r>
                <a:rPr lang="en-US" altLang="zh-CN" sz="1600" b="1" dirty="0">
                  <a:solidFill>
                    <a:schemeClr val="bg1"/>
                  </a:solidFill>
                  <a:latin typeface="微软雅黑 Light" panose="020B0502040204020203" pitchFamily="34" charset="-122"/>
                  <a:ea typeface="微软雅黑 Light" panose="020B0502040204020203" pitchFamily="34" charset="-122"/>
                </a:rPr>
                <a:t>MP3#</a:t>
              </a:r>
              <a:r>
                <a:rPr lang="zh-CN" altLang="en-US" sz="16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Box 32"/>
            <p:cNvSpPr txBox="1"/>
            <p:nvPr/>
          </p:nvSpPr>
          <p:spPr>
            <a:xfrm>
              <a:off x="3790252" y="3760902"/>
              <a:ext cx="458780" cy="46166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4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5700" y="581235"/>
            <a:ext cx="24513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Napster </a:t>
            </a:r>
            <a:r>
              <a:rPr lang="zh-CN" altLang="en-US" sz="2000" b="1" dirty="0">
                <a:solidFill>
                  <a:schemeClr val="bg1"/>
                </a:solidFill>
                <a:latin typeface="微软雅黑 Light" panose="020B0502040204020203" pitchFamily="34" charset="-122"/>
                <a:ea typeface="微软雅黑 Light" panose="020B0502040204020203" pitchFamily="34" charset="-122"/>
              </a:rPr>
              <a:t>的工作过程</a:t>
            </a:r>
          </a:p>
        </p:txBody>
      </p:sp>
      <p:graphicFrame>
        <p:nvGraphicFramePr>
          <p:cNvPr id="8" name="Object 5">
            <a:hlinkClick r:id="" action="ppaction://ole?verb=0"/>
          </p:cNvPr>
          <p:cNvGraphicFramePr>
            <a:graphicFrameLocks/>
          </p:cNvGraphicFramePr>
          <p:nvPr>
            <p:extLst>
              <p:ext uri="{D42A27DB-BD31-4B8C-83A1-F6EECF244321}">
                <p14:modId xmlns:p14="http://schemas.microsoft.com/office/powerpoint/2010/main" val="149499988"/>
              </p:ext>
            </p:extLst>
          </p:nvPr>
        </p:nvGraphicFramePr>
        <p:xfrm>
          <a:off x="2812570" y="1986318"/>
          <a:ext cx="575345" cy="1000249"/>
        </p:xfrm>
        <a:graphic>
          <a:graphicData uri="http://schemas.openxmlformats.org/presentationml/2006/ole">
            <mc:AlternateContent xmlns:mc="http://schemas.openxmlformats.org/markup-compatibility/2006">
              <mc:Choice xmlns:v="urn:schemas-microsoft-com:vml" Requires="v">
                <p:oleObj name="Microsoft ClipArt Gallery" r:id="rId2" imgW="2735263" imgH="3825875" progId="">
                  <p:embed/>
                </p:oleObj>
              </mc:Choice>
              <mc:Fallback>
                <p:oleObj name="Microsoft ClipArt Gallery" r:id="rId2" imgW="2735263" imgH="3825875" progId="">
                  <p:embed/>
                  <p:pic>
                    <p:nvPicPr>
                      <p:cNvPr id="0" name="Picture 75"/>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2570" y="1986318"/>
                        <a:ext cx="575345" cy="1000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0" name="Picture 9"/>
          <p:cNvPicPr>
            <a:picLocks noChangeArrowheads="1"/>
          </p:cNvPicPr>
          <p:nvPr/>
        </p:nvPicPr>
        <p:blipFill>
          <a:blip r:embed="rId4" cstate="print"/>
          <a:srcRect/>
          <a:stretch>
            <a:fillRect/>
          </a:stretch>
        </p:blipFill>
        <p:spPr bwMode="auto">
          <a:xfrm>
            <a:off x="4784684" y="1215250"/>
            <a:ext cx="432469" cy="427137"/>
          </a:xfrm>
          <a:prstGeom prst="rect">
            <a:avLst/>
          </a:prstGeom>
          <a:noFill/>
          <a:ln w="9525">
            <a:noFill/>
            <a:miter lim="800000"/>
            <a:headEnd/>
            <a:tailEnd/>
          </a:ln>
        </p:spPr>
      </p:pic>
      <p:sp>
        <p:nvSpPr>
          <p:cNvPr id="11" name="Text Box 13"/>
          <p:cNvSpPr txBox="1">
            <a:spLocks noChangeArrowheads="1"/>
          </p:cNvSpPr>
          <p:nvPr/>
        </p:nvSpPr>
        <p:spPr bwMode="auto">
          <a:xfrm>
            <a:off x="6052930" y="3282462"/>
            <a:ext cx="277640"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X</a:t>
            </a:r>
          </a:p>
        </p:txBody>
      </p:sp>
      <p:pic>
        <p:nvPicPr>
          <p:cNvPr id="12" name="Picture 9"/>
          <p:cNvPicPr>
            <a:picLocks noChangeArrowheads="1"/>
          </p:cNvPicPr>
          <p:nvPr/>
        </p:nvPicPr>
        <p:blipFill>
          <a:blip r:embed="rId4" cstate="print"/>
          <a:srcRect/>
          <a:stretch>
            <a:fillRect/>
          </a:stretch>
        </p:blipFill>
        <p:spPr bwMode="auto">
          <a:xfrm>
            <a:off x="5908914" y="1431274"/>
            <a:ext cx="432469" cy="427137"/>
          </a:xfrm>
          <a:prstGeom prst="rect">
            <a:avLst/>
          </a:prstGeom>
          <a:noFill/>
          <a:ln w="9525">
            <a:noFill/>
            <a:miter lim="800000"/>
            <a:headEnd/>
            <a:tailEnd/>
          </a:ln>
        </p:spPr>
      </p:pic>
      <p:pic>
        <p:nvPicPr>
          <p:cNvPr id="13" name="Picture 9"/>
          <p:cNvPicPr>
            <a:picLocks noChangeArrowheads="1"/>
          </p:cNvPicPr>
          <p:nvPr/>
        </p:nvPicPr>
        <p:blipFill>
          <a:blip r:embed="rId4" cstate="print"/>
          <a:srcRect/>
          <a:stretch>
            <a:fillRect/>
          </a:stretch>
        </p:blipFill>
        <p:spPr bwMode="auto">
          <a:xfrm>
            <a:off x="6628994" y="2490374"/>
            <a:ext cx="432469" cy="427137"/>
          </a:xfrm>
          <a:prstGeom prst="rect">
            <a:avLst/>
          </a:prstGeom>
          <a:noFill/>
          <a:ln w="9525">
            <a:noFill/>
            <a:miter lim="800000"/>
            <a:headEnd/>
            <a:tailEnd/>
          </a:ln>
        </p:spPr>
      </p:pic>
      <p:pic>
        <p:nvPicPr>
          <p:cNvPr id="14" name="Picture 9"/>
          <p:cNvPicPr>
            <a:picLocks noChangeArrowheads="1"/>
          </p:cNvPicPr>
          <p:nvPr/>
        </p:nvPicPr>
        <p:blipFill>
          <a:blip r:embed="rId4" cstate="print"/>
          <a:srcRect/>
          <a:stretch>
            <a:fillRect/>
          </a:stretch>
        </p:blipFill>
        <p:spPr bwMode="auto">
          <a:xfrm>
            <a:off x="5764898" y="3282462"/>
            <a:ext cx="432469" cy="427137"/>
          </a:xfrm>
          <a:prstGeom prst="rect">
            <a:avLst/>
          </a:prstGeom>
          <a:noFill/>
          <a:ln w="9525">
            <a:noFill/>
            <a:miter lim="800000"/>
            <a:headEnd/>
            <a:tailEnd/>
          </a:ln>
        </p:spPr>
      </p:pic>
      <p:pic>
        <p:nvPicPr>
          <p:cNvPr id="15" name="Picture 9"/>
          <p:cNvPicPr>
            <a:picLocks noChangeArrowheads="1"/>
          </p:cNvPicPr>
          <p:nvPr/>
        </p:nvPicPr>
        <p:blipFill>
          <a:blip r:embed="rId4" cstate="print"/>
          <a:srcRect/>
          <a:stretch>
            <a:fillRect/>
          </a:stretch>
        </p:blipFill>
        <p:spPr bwMode="auto">
          <a:xfrm>
            <a:off x="4036706" y="3619920"/>
            <a:ext cx="432469" cy="427137"/>
          </a:xfrm>
          <a:prstGeom prst="rect">
            <a:avLst/>
          </a:prstGeom>
          <a:noFill/>
          <a:ln w="9525">
            <a:noFill/>
            <a:miter lim="800000"/>
            <a:headEnd/>
            <a:tailEnd/>
          </a:ln>
        </p:spPr>
      </p:pic>
      <p:pic>
        <p:nvPicPr>
          <p:cNvPr id="16" name="Picture 9"/>
          <p:cNvPicPr>
            <a:picLocks noChangeArrowheads="1"/>
          </p:cNvPicPr>
          <p:nvPr/>
        </p:nvPicPr>
        <p:blipFill>
          <a:blip r:embed="rId4" cstate="print"/>
          <a:srcRect/>
          <a:stretch>
            <a:fillRect/>
          </a:stretch>
        </p:blipFill>
        <p:spPr bwMode="auto">
          <a:xfrm>
            <a:off x="2920794" y="3393386"/>
            <a:ext cx="432469" cy="427137"/>
          </a:xfrm>
          <a:prstGeom prst="rect">
            <a:avLst/>
          </a:prstGeom>
          <a:noFill/>
          <a:ln w="9525">
            <a:noFill/>
            <a:miter lim="800000"/>
            <a:headEnd/>
            <a:tailEnd/>
          </a:ln>
        </p:spPr>
      </p:pic>
      <p:sp>
        <p:nvSpPr>
          <p:cNvPr id="17" name="Text Box 13"/>
          <p:cNvSpPr txBox="1">
            <a:spLocks noChangeArrowheads="1"/>
          </p:cNvSpPr>
          <p:nvPr/>
        </p:nvSpPr>
        <p:spPr bwMode="auto">
          <a:xfrm>
            <a:off x="4396746" y="3619920"/>
            <a:ext cx="28886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989034" y="2490374"/>
            <a:ext cx="274434"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5144724" y="1215250"/>
            <a:ext cx="30008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3384061" y="2716978"/>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3420210" y="2815880"/>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731068" y="2890224"/>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谁有文件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3" name="TextBox 22"/>
          <p:cNvSpPr txBox="1"/>
          <p:nvPr/>
        </p:nvSpPr>
        <p:spPr>
          <a:xfrm rot="3562759">
            <a:off x="4820450" y="2421953"/>
            <a:ext cx="1872208"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请求文件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4" name="TextBox 23"/>
          <p:cNvSpPr txBox="1"/>
          <p:nvPr/>
        </p:nvSpPr>
        <p:spPr>
          <a:xfrm>
            <a:off x="5476866" y="321045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5" name="TextBox 24"/>
          <p:cNvSpPr txBox="1"/>
          <p:nvPr/>
        </p:nvSpPr>
        <p:spPr>
          <a:xfrm>
            <a:off x="5951112" y="3057146"/>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6" name="TextBox 25"/>
          <p:cNvSpPr txBox="1"/>
          <p:nvPr/>
        </p:nvSpPr>
        <p:spPr>
          <a:xfrm>
            <a:off x="3244618" y="2791783"/>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7" name="TextBox 26"/>
          <p:cNvSpPr txBox="1"/>
          <p:nvPr/>
        </p:nvSpPr>
        <p:spPr>
          <a:xfrm>
            <a:off x="4756786" y="1626278"/>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8" name="TextBox 27"/>
          <p:cNvSpPr txBox="1"/>
          <p:nvPr/>
        </p:nvSpPr>
        <p:spPr>
          <a:xfrm rot="1111699">
            <a:off x="3681883" y="3299603"/>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B</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C</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29" name="直接箭头连接符 28"/>
          <p:cNvCxnSpPr/>
          <p:nvPr/>
        </p:nvCxnSpPr>
        <p:spPr>
          <a:xfrm flipH="1" flipV="1">
            <a:off x="5116826" y="1626278"/>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623695" y="2454489"/>
            <a:ext cx="1584176" cy="288032"/>
            <a:chOff x="5796136" y="1484784"/>
            <a:chExt cx="1584176" cy="288032"/>
          </a:xfrm>
        </p:grpSpPr>
        <p:sp>
          <p:nvSpPr>
            <p:cNvPr id="31" name="矩形 30"/>
            <p:cNvSpPr/>
            <p:nvPr/>
          </p:nvSpPr>
          <p:spPr>
            <a:xfrm>
              <a:off x="5796136" y="1484784"/>
              <a:ext cx="1080120" cy="288032"/>
            </a:xfrm>
            <a:prstGeom prst="rect">
              <a:avLst/>
            </a:prstGeom>
            <a:solidFill>
              <a:srgbClr val="66FF66"/>
            </a:solidFill>
            <a:ln w="25400" cap="flat" cmpd="sng" algn="ctr">
              <a:solidFill>
                <a:sysClr val="windowText" lastClr="00000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00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 lastClr="FFFFFF"/>
                </a:solidFill>
                <a:effectLst/>
                <a:uLnTx/>
                <a:uFillTx/>
                <a:latin typeface="微软雅黑 Light" panose="020B0502040204020203" pitchFamily="34" charset="-122"/>
                <a:ea typeface="微软雅黑 Light" panose="020B0502040204020203" pitchFamily="34" charset="-122"/>
              </a:endParaRPr>
            </a:p>
          </p:txBody>
        </p:sp>
      </p:grpSp>
      <p:grpSp>
        <p:nvGrpSpPr>
          <p:cNvPr id="7" name="组合 6"/>
          <p:cNvGrpSpPr/>
          <p:nvPr/>
        </p:nvGrpSpPr>
        <p:grpSpPr>
          <a:xfrm>
            <a:off x="3737691" y="1211357"/>
            <a:ext cx="4326691" cy="1220847"/>
            <a:chOff x="3737691" y="1255747"/>
            <a:chExt cx="4326691" cy="1220847"/>
          </a:xfrm>
        </p:grpSpPr>
        <p:sp>
          <p:nvSpPr>
            <p:cNvPr id="4" name="矩形 3"/>
            <p:cNvSpPr/>
            <p:nvPr/>
          </p:nvSpPr>
          <p:spPr>
            <a:xfrm>
              <a:off x="3737691" y="1255747"/>
              <a:ext cx="4326691" cy="1220847"/>
            </a:xfrm>
            <a:prstGeom prst="rect">
              <a:avLst/>
            </a:prstGeom>
            <a:solidFill>
              <a:srgbClr val="0000FF"/>
            </a:solidFill>
          </p:spPr>
          <p:txBody>
            <a:bodyPr wrap="square">
              <a:spAutoFit/>
            </a:bodyPr>
            <a:lstStyle/>
            <a:p>
              <a:pPr marL="452438">
                <a:lnSpc>
                  <a:spcPts val="2200"/>
                </a:lnSpc>
              </a:pPr>
              <a:r>
                <a:rPr lang="en-US" altLang="zh-CN" sz="1600" b="1" dirty="0">
                  <a:solidFill>
                    <a:schemeClr val="bg1"/>
                  </a:solidFill>
                  <a:latin typeface="微软雅黑 Light" panose="020B0502040204020203" pitchFamily="34" charset="-122"/>
                  <a:ea typeface="微软雅黑 Light" panose="020B0502040204020203" pitchFamily="34" charset="-122"/>
                </a:rPr>
                <a:t>Napster </a:t>
              </a:r>
              <a:r>
                <a:rPr lang="zh-CN" altLang="en-US" sz="1600" b="1" dirty="0">
                  <a:solidFill>
                    <a:schemeClr val="bg1"/>
                  </a:solidFill>
                  <a:latin typeface="微软雅黑 Light" panose="020B0502040204020203" pitchFamily="34" charset="-122"/>
                  <a:ea typeface="微软雅黑 Light" panose="020B0502040204020203" pitchFamily="34" charset="-122"/>
                </a:rPr>
                <a:t>目录服务器回答 </a:t>
              </a:r>
              <a:r>
                <a:rPr lang="en-US" altLang="zh-CN" sz="1600" b="1" dirty="0">
                  <a:solidFill>
                    <a:schemeClr val="bg1"/>
                  </a:solidFill>
                  <a:latin typeface="微软雅黑 Light" panose="020B0502040204020203" pitchFamily="34" charset="-122"/>
                  <a:ea typeface="微软雅黑 Light" panose="020B0502040204020203" pitchFamily="34" charset="-122"/>
                </a:rPr>
                <a:t>X</a:t>
              </a:r>
              <a:r>
                <a:rPr lang="zh-CN" altLang="en-US" sz="1600" b="1" dirty="0">
                  <a:solidFill>
                    <a:schemeClr val="bg1"/>
                  </a:solidFill>
                  <a:latin typeface="微软雅黑 Light" panose="020B0502040204020203" pitchFamily="34" charset="-122"/>
                  <a:ea typeface="微软雅黑 Light" panose="020B0502040204020203" pitchFamily="34" charset="-122"/>
                </a:rPr>
                <a:t>：有三个地点有文件 </a:t>
              </a:r>
              <a:r>
                <a:rPr lang="en-US" altLang="zh-CN" sz="1600" b="1" dirty="0">
                  <a:solidFill>
                    <a:schemeClr val="bg1"/>
                  </a:solidFill>
                  <a:latin typeface="微软雅黑 Light" panose="020B0502040204020203" pitchFamily="34" charset="-122"/>
                  <a:ea typeface="微软雅黑 Light" panose="020B0502040204020203" pitchFamily="34" charset="-122"/>
                </a:rPr>
                <a:t>MP3#</a:t>
              </a:r>
              <a:r>
                <a:rPr lang="zh-CN" altLang="en-US" sz="1600" b="1" dirty="0">
                  <a:solidFill>
                    <a:schemeClr val="bg1"/>
                  </a:solidFill>
                  <a:latin typeface="微软雅黑 Light" panose="020B0502040204020203" pitchFamily="34" charset="-122"/>
                  <a:ea typeface="微软雅黑 Light" panose="020B0502040204020203" pitchFamily="34" charset="-122"/>
                </a:rPr>
                <a:t>，即 </a:t>
              </a:r>
              <a:r>
                <a:rPr lang="en-US" altLang="zh-CN" sz="1600" b="1" dirty="0">
                  <a:solidFill>
                    <a:schemeClr val="bg1"/>
                  </a:solidFill>
                  <a:latin typeface="微软雅黑 Light" panose="020B0502040204020203" pitchFamily="34" charset="-122"/>
                  <a:ea typeface="微软雅黑 Light" panose="020B0502040204020203" pitchFamily="34" charset="-122"/>
                </a:rPr>
                <a:t>A, B </a:t>
              </a:r>
              <a:r>
                <a:rPr lang="zh-CN" altLang="en-US" sz="1600" b="1" dirty="0">
                  <a:solidFill>
                    <a:schemeClr val="bg1"/>
                  </a:solidFill>
                  <a:latin typeface="微软雅黑 Light" panose="020B0502040204020203" pitchFamily="34" charset="-122"/>
                  <a:ea typeface="微软雅黑 Light" panose="020B0502040204020203" pitchFamily="34" charset="-122"/>
                </a:rPr>
                <a:t>和 </a:t>
              </a:r>
              <a:r>
                <a:rPr lang="en-US" altLang="zh-CN" sz="1600" b="1" dirty="0">
                  <a:solidFill>
                    <a:schemeClr val="bg1"/>
                  </a:solidFill>
                  <a:latin typeface="微软雅黑 Light" panose="020B0502040204020203" pitchFamily="34" charset="-122"/>
                  <a:ea typeface="微软雅黑 Light" panose="020B0502040204020203" pitchFamily="34" charset="-122"/>
                </a:rPr>
                <a:t>C</a:t>
              </a:r>
              <a:r>
                <a:rPr lang="zh-CN" altLang="en-US" sz="1600" b="1" dirty="0">
                  <a:solidFill>
                    <a:schemeClr val="bg1"/>
                  </a:solidFill>
                  <a:latin typeface="微软雅黑 Light" panose="020B0502040204020203" pitchFamily="34" charset="-122"/>
                  <a:ea typeface="微软雅黑 Light" panose="020B0502040204020203" pitchFamily="34" charset="-122"/>
                </a:rPr>
                <a:t>（给出了这三个地点的 </a:t>
              </a:r>
              <a:r>
                <a:rPr lang="en-US" altLang="zh-CN" sz="1600" b="1" dirty="0">
                  <a:solidFill>
                    <a:schemeClr val="bg1"/>
                  </a:solidFill>
                  <a:latin typeface="微软雅黑 Light" panose="020B0502040204020203" pitchFamily="34" charset="-122"/>
                  <a:ea typeface="微软雅黑 Light" panose="020B0502040204020203" pitchFamily="34" charset="-122"/>
                </a:rPr>
                <a:t>IP </a:t>
              </a:r>
              <a:r>
                <a:rPr lang="zh-CN" altLang="en-US" sz="1600" b="1" dirty="0">
                  <a:solidFill>
                    <a:schemeClr val="bg1"/>
                  </a:solidFill>
                  <a:latin typeface="微软雅黑 Light" panose="020B0502040204020203" pitchFamily="34" charset="-122"/>
                  <a:ea typeface="微软雅黑 Light" panose="020B0502040204020203" pitchFamily="34" charset="-122"/>
                </a:rPr>
                <a:t>地址）。于是用户 </a:t>
              </a:r>
              <a:r>
                <a:rPr lang="en-US" altLang="zh-CN" sz="1600" b="1" dirty="0">
                  <a:solidFill>
                    <a:schemeClr val="bg1"/>
                  </a:solidFill>
                  <a:latin typeface="微软雅黑 Light" panose="020B0502040204020203" pitchFamily="34" charset="-122"/>
                  <a:ea typeface="微软雅黑 Light" panose="020B0502040204020203" pitchFamily="34" charset="-122"/>
                </a:rPr>
                <a:t>X </a:t>
              </a:r>
              <a:r>
                <a:rPr lang="zh-CN" altLang="en-US" sz="1600" b="1" dirty="0">
                  <a:solidFill>
                    <a:schemeClr val="bg1"/>
                  </a:solidFill>
                  <a:latin typeface="微软雅黑 Light" panose="020B0502040204020203" pitchFamily="34" charset="-122"/>
                  <a:ea typeface="微软雅黑 Light" panose="020B0502040204020203" pitchFamily="34" charset="-122"/>
                </a:rPr>
                <a:t>得知所需的文件 </a:t>
              </a:r>
              <a:r>
                <a:rPr lang="en-US" altLang="zh-CN" sz="1600" b="1" dirty="0">
                  <a:solidFill>
                    <a:schemeClr val="bg1"/>
                  </a:solidFill>
                  <a:latin typeface="微软雅黑 Light" panose="020B0502040204020203" pitchFamily="34" charset="-122"/>
                  <a:ea typeface="微软雅黑 Light" panose="020B0502040204020203" pitchFamily="34" charset="-122"/>
                </a:rPr>
                <a:t>MP3# </a:t>
              </a:r>
              <a:r>
                <a:rPr lang="zh-CN" altLang="en-US" sz="1600" b="1" dirty="0">
                  <a:solidFill>
                    <a:schemeClr val="bg1"/>
                  </a:solidFill>
                  <a:latin typeface="微软雅黑 Light" panose="020B0502040204020203" pitchFamily="34" charset="-122"/>
                  <a:ea typeface="微软雅黑 Light" panose="020B0502040204020203" pitchFamily="34" charset="-122"/>
                </a:rPr>
                <a:t>的三个下载地点。</a:t>
              </a:r>
            </a:p>
          </p:txBody>
        </p:sp>
        <p:sp>
          <p:nvSpPr>
            <p:cNvPr id="35" name="TextBox 34"/>
            <p:cNvSpPr txBox="1"/>
            <p:nvPr/>
          </p:nvSpPr>
          <p:spPr>
            <a:xfrm>
              <a:off x="3798061" y="1626188"/>
              <a:ext cx="458780" cy="46166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endParaRPr>
            </a:p>
          </p:txBody>
        </p:sp>
      </p:grpSp>
      <p:sp>
        <p:nvSpPr>
          <p:cNvPr id="34" name="Text Box 6"/>
          <p:cNvSpPr txBox="1">
            <a:spLocks noChangeArrowheads="1"/>
          </p:cNvSpPr>
          <p:nvPr/>
        </p:nvSpPr>
        <p:spPr bwMode="auto">
          <a:xfrm>
            <a:off x="2294506" y="1495249"/>
            <a:ext cx="1414169" cy="523220"/>
          </a:xfrm>
          <a:prstGeom prst="rect">
            <a:avLst/>
          </a:prstGeom>
          <a:noFill/>
          <a:ln w="9525">
            <a:noFill/>
            <a:miter lim="800000"/>
            <a:headEnd/>
            <a:tailEnd/>
          </a:ln>
        </p:spPr>
        <p:txBody>
          <a:bodyPr wrap="none">
            <a:spAutoFit/>
          </a:bodyPr>
          <a:lstStyle/>
          <a:p>
            <a:pPr algn="ctr"/>
            <a:r>
              <a:rPr kumimoji="1" lang="en-US" altLang="zh-CN" sz="1400" b="1" dirty="0">
                <a:latin typeface="微软雅黑 Light" panose="020B0502040204020203" pitchFamily="34" charset="-122"/>
                <a:ea typeface="微软雅黑 Light" panose="020B0502040204020203" pitchFamily="34" charset="-122"/>
                <a:cs typeface="Times New Roman" pitchFamily="18" charset="0"/>
              </a:rPr>
              <a:t>Napster </a:t>
            </a: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集中式</a:t>
            </a:r>
          </a:p>
          <a:p>
            <a:pPr algn="ct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目录服务器</a:t>
            </a:r>
          </a:p>
        </p:txBody>
      </p:sp>
    </p:spTree>
    <p:extLst>
      <p:ext uri="{BB962C8B-B14F-4D97-AF65-F5344CB8AC3E}">
        <p14:creationId xmlns:p14="http://schemas.microsoft.com/office/powerpoint/2010/main" val="4246301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4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5700" y="581235"/>
            <a:ext cx="24513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Napster </a:t>
            </a:r>
            <a:r>
              <a:rPr lang="zh-CN" altLang="en-US" sz="2000" b="1" dirty="0">
                <a:solidFill>
                  <a:schemeClr val="bg1"/>
                </a:solidFill>
                <a:latin typeface="微软雅黑 Light" panose="020B0502040204020203" pitchFamily="34" charset="-122"/>
                <a:ea typeface="微软雅黑 Light" panose="020B0502040204020203" pitchFamily="34" charset="-122"/>
              </a:rPr>
              <a:t>的工作过程</a:t>
            </a:r>
          </a:p>
        </p:txBody>
      </p:sp>
      <p:graphicFrame>
        <p:nvGraphicFramePr>
          <p:cNvPr id="8" name="Object 5">
            <a:hlinkClick r:id="" action="ppaction://ole?verb=0"/>
          </p:cNvPr>
          <p:cNvGraphicFramePr>
            <a:graphicFrameLocks/>
          </p:cNvGraphicFramePr>
          <p:nvPr>
            <p:extLst>
              <p:ext uri="{D42A27DB-BD31-4B8C-83A1-F6EECF244321}">
                <p14:modId xmlns:p14="http://schemas.microsoft.com/office/powerpoint/2010/main" val="2912699077"/>
              </p:ext>
            </p:extLst>
          </p:nvPr>
        </p:nvGraphicFramePr>
        <p:xfrm>
          <a:off x="2812570" y="1986318"/>
          <a:ext cx="575345" cy="1000249"/>
        </p:xfrm>
        <a:graphic>
          <a:graphicData uri="http://schemas.openxmlformats.org/presentationml/2006/ole">
            <mc:AlternateContent xmlns:mc="http://schemas.openxmlformats.org/markup-compatibility/2006">
              <mc:Choice xmlns:v="urn:schemas-microsoft-com:vml" Requires="v">
                <p:oleObj name="Microsoft ClipArt Gallery" r:id="rId2" imgW="2735263" imgH="3825875" progId="">
                  <p:embed/>
                </p:oleObj>
              </mc:Choice>
              <mc:Fallback>
                <p:oleObj name="Microsoft ClipArt Gallery" r:id="rId2" imgW="2735263" imgH="3825875" progId="">
                  <p:embed/>
                  <p:pic>
                    <p:nvPicPr>
                      <p:cNvPr id="0" name="Picture 76"/>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2570" y="1986318"/>
                        <a:ext cx="575345" cy="1000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0" name="Picture 9"/>
          <p:cNvPicPr>
            <a:picLocks noChangeArrowheads="1"/>
          </p:cNvPicPr>
          <p:nvPr/>
        </p:nvPicPr>
        <p:blipFill>
          <a:blip r:embed="rId4" cstate="print"/>
          <a:srcRect/>
          <a:stretch>
            <a:fillRect/>
          </a:stretch>
        </p:blipFill>
        <p:spPr bwMode="auto">
          <a:xfrm>
            <a:off x="4784684" y="1215250"/>
            <a:ext cx="432469" cy="427137"/>
          </a:xfrm>
          <a:prstGeom prst="rect">
            <a:avLst/>
          </a:prstGeom>
          <a:noFill/>
          <a:ln w="9525">
            <a:noFill/>
            <a:miter lim="800000"/>
            <a:headEnd/>
            <a:tailEnd/>
          </a:ln>
        </p:spPr>
      </p:pic>
      <p:sp>
        <p:nvSpPr>
          <p:cNvPr id="11" name="Text Box 13"/>
          <p:cNvSpPr txBox="1">
            <a:spLocks noChangeArrowheads="1"/>
          </p:cNvSpPr>
          <p:nvPr/>
        </p:nvSpPr>
        <p:spPr bwMode="auto">
          <a:xfrm>
            <a:off x="6052930" y="3282462"/>
            <a:ext cx="277640"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X</a:t>
            </a:r>
          </a:p>
        </p:txBody>
      </p:sp>
      <p:pic>
        <p:nvPicPr>
          <p:cNvPr id="12" name="Picture 9"/>
          <p:cNvPicPr>
            <a:picLocks noChangeArrowheads="1"/>
          </p:cNvPicPr>
          <p:nvPr/>
        </p:nvPicPr>
        <p:blipFill>
          <a:blip r:embed="rId4" cstate="print"/>
          <a:srcRect/>
          <a:stretch>
            <a:fillRect/>
          </a:stretch>
        </p:blipFill>
        <p:spPr bwMode="auto">
          <a:xfrm>
            <a:off x="5908914" y="1431274"/>
            <a:ext cx="432469" cy="427137"/>
          </a:xfrm>
          <a:prstGeom prst="rect">
            <a:avLst/>
          </a:prstGeom>
          <a:noFill/>
          <a:ln w="9525">
            <a:noFill/>
            <a:miter lim="800000"/>
            <a:headEnd/>
            <a:tailEnd/>
          </a:ln>
        </p:spPr>
      </p:pic>
      <p:pic>
        <p:nvPicPr>
          <p:cNvPr id="13" name="Picture 9"/>
          <p:cNvPicPr>
            <a:picLocks noChangeArrowheads="1"/>
          </p:cNvPicPr>
          <p:nvPr/>
        </p:nvPicPr>
        <p:blipFill>
          <a:blip r:embed="rId4" cstate="print"/>
          <a:srcRect/>
          <a:stretch>
            <a:fillRect/>
          </a:stretch>
        </p:blipFill>
        <p:spPr bwMode="auto">
          <a:xfrm>
            <a:off x="6628994" y="2490374"/>
            <a:ext cx="432469" cy="427137"/>
          </a:xfrm>
          <a:prstGeom prst="rect">
            <a:avLst/>
          </a:prstGeom>
          <a:noFill/>
          <a:ln w="9525">
            <a:noFill/>
            <a:miter lim="800000"/>
            <a:headEnd/>
            <a:tailEnd/>
          </a:ln>
        </p:spPr>
      </p:pic>
      <p:pic>
        <p:nvPicPr>
          <p:cNvPr id="14" name="Picture 9"/>
          <p:cNvPicPr>
            <a:picLocks noChangeArrowheads="1"/>
          </p:cNvPicPr>
          <p:nvPr/>
        </p:nvPicPr>
        <p:blipFill>
          <a:blip r:embed="rId4" cstate="print"/>
          <a:srcRect/>
          <a:stretch>
            <a:fillRect/>
          </a:stretch>
        </p:blipFill>
        <p:spPr bwMode="auto">
          <a:xfrm>
            <a:off x="5764898" y="3282462"/>
            <a:ext cx="432469" cy="427137"/>
          </a:xfrm>
          <a:prstGeom prst="rect">
            <a:avLst/>
          </a:prstGeom>
          <a:noFill/>
          <a:ln w="9525">
            <a:noFill/>
            <a:miter lim="800000"/>
            <a:headEnd/>
            <a:tailEnd/>
          </a:ln>
        </p:spPr>
      </p:pic>
      <p:pic>
        <p:nvPicPr>
          <p:cNvPr id="15" name="Picture 9"/>
          <p:cNvPicPr>
            <a:picLocks noChangeArrowheads="1"/>
          </p:cNvPicPr>
          <p:nvPr/>
        </p:nvPicPr>
        <p:blipFill>
          <a:blip r:embed="rId4" cstate="print"/>
          <a:srcRect/>
          <a:stretch>
            <a:fillRect/>
          </a:stretch>
        </p:blipFill>
        <p:spPr bwMode="auto">
          <a:xfrm>
            <a:off x="4036706" y="3619920"/>
            <a:ext cx="432469" cy="427137"/>
          </a:xfrm>
          <a:prstGeom prst="rect">
            <a:avLst/>
          </a:prstGeom>
          <a:noFill/>
          <a:ln w="9525">
            <a:noFill/>
            <a:miter lim="800000"/>
            <a:headEnd/>
            <a:tailEnd/>
          </a:ln>
        </p:spPr>
      </p:pic>
      <p:pic>
        <p:nvPicPr>
          <p:cNvPr id="16" name="Picture 9"/>
          <p:cNvPicPr>
            <a:picLocks noChangeArrowheads="1"/>
          </p:cNvPicPr>
          <p:nvPr/>
        </p:nvPicPr>
        <p:blipFill>
          <a:blip r:embed="rId4" cstate="print"/>
          <a:srcRect/>
          <a:stretch>
            <a:fillRect/>
          </a:stretch>
        </p:blipFill>
        <p:spPr bwMode="auto">
          <a:xfrm>
            <a:off x="2920794" y="3393386"/>
            <a:ext cx="432469" cy="427137"/>
          </a:xfrm>
          <a:prstGeom prst="rect">
            <a:avLst/>
          </a:prstGeom>
          <a:noFill/>
          <a:ln w="9525">
            <a:noFill/>
            <a:miter lim="800000"/>
            <a:headEnd/>
            <a:tailEnd/>
          </a:ln>
        </p:spPr>
      </p:pic>
      <p:sp>
        <p:nvSpPr>
          <p:cNvPr id="17" name="Text Box 13"/>
          <p:cNvSpPr txBox="1">
            <a:spLocks noChangeArrowheads="1"/>
          </p:cNvSpPr>
          <p:nvPr/>
        </p:nvSpPr>
        <p:spPr bwMode="auto">
          <a:xfrm>
            <a:off x="4396746" y="3619920"/>
            <a:ext cx="28886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989034" y="2490374"/>
            <a:ext cx="274434"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5144724" y="1215250"/>
            <a:ext cx="30008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3384061" y="2716978"/>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3420210" y="2815880"/>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731068" y="2890224"/>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谁有文件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3" name="TextBox 22"/>
          <p:cNvSpPr txBox="1"/>
          <p:nvPr/>
        </p:nvSpPr>
        <p:spPr>
          <a:xfrm rot="3562759">
            <a:off x="4820450" y="2421953"/>
            <a:ext cx="1872208"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请求文件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4" name="TextBox 23"/>
          <p:cNvSpPr txBox="1"/>
          <p:nvPr/>
        </p:nvSpPr>
        <p:spPr>
          <a:xfrm>
            <a:off x="5476866" y="321045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5" name="TextBox 24"/>
          <p:cNvSpPr txBox="1"/>
          <p:nvPr/>
        </p:nvSpPr>
        <p:spPr>
          <a:xfrm>
            <a:off x="5951112" y="3057146"/>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6" name="TextBox 25"/>
          <p:cNvSpPr txBox="1"/>
          <p:nvPr/>
        </p:nvSpPr>
        <p:spPr>
          <a:xfrm>
            <a:off x="3244618" y="2791783"/>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7" name="TextBox 26"/>
          <p:cNvSpPr txBox="1"/>
          <p:nvPr/>
        </p:nvSpPr>
        <p:spPr>
          <a:xfrm>
            <a:off x="4756786" y="1626278"/>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8" name="TextBox 27"/>
          <p:cNvSpPr txBox="1"/>
          <p:nvPr/>
        </p:nvSpPr>
        <p:spPr>
          <a:xfrm rot="1111699">
            <a:off x="3681883" y="3299603"/>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B</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C</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29" name="直接箭头连接符 28"/>
          <p:cNvCxnSpPr/>
          <p:nvPr/>
        </p:nvCxnSpPr>
        <p:spPr>
          <a:xfrm flipH="1" flipV="1">
            <a:off x="5116826" y="1626278"/>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623695" y="2454489"/>
            <a:ext cx="1584176" cy="288032"/>
            <a:chOff x="5796136" y="1484784"/>
            <a:chExt cx="1584176" cy="288032"/>
          </a:xfrm>
        </p:grpSpPr>
        <p:sp>
          <p:nvSpPr>
            <p:cNvPr id="31" name="矩形 30"/>
            <p:cNvSpPr/>
            <p:nvPr/>
          </p:nvSpPr>
          <p:spPr>
            <a:xfrm>
              <a:off x="5796136" y="1484784"/>
              <a:ext cx="1080120" cy="288032"/>
            </a:xfrm>
            <a:prstGeom prst="rect">
              <a:avLst/>
            </a:prstGeom>
            <a:solidFill>
              <a:srgbClr val="66FF66"/>
            </a:solidFill>
            <a:ln w="25400" cap="flat" cmpd="sng" algn="ctr">
              <a:solidFill>
                <a:sysClr val="windowText" lastClr="00000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00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 lastClr="FFFFFF"/>
                </a:solidFill>
                <a:effectLst/>
                <a:uLnTx/>
                <a:uFillTx/>
                <a:latin typeface="微软雅黑 Light" panose="020B0502040204020203" pitchFamily="34" charset="-122"/>
                <a:ea typeface="微软雅黑 Light" panose="020B0502040204020203" pitchFamily="34" charset="-122"/>
              </a:endParaRPr>
            </a:p>
          </p:txBody>
        </p:sp>
      </p:grpSp>
      <p:sp>
        <p:nvSpPr>
          <p:cNvPr id="34" name="Text Box 6"/>
          <p:cNvSpPr txBox="1">
            <a:spLocks noChangeArrowheads="1"/>
          </p:cNvSpPr>
          <p:nvPr/>
        </p:nvSpPr>
        <p:spPr bwMode="auto">
          <a:xfrm>
            <a:off x="2294506" y="1495249"/>
            <a:ext cx="1414169" cy="523220"/>
          </a:xfrm>
          <a:prstGeom prst="rect">
            <a:avLst/>
          </a:prstGeom>
          <a:noFill/>
          <a:ln w="9525">
            <a:noFill/>
            <a:miter lim="800000"/>
            <a:headEnd/>
            <a:tailEnd/>
          </a:ln>
        </p:spPr>
        <p:txBody>
          <a:bodyPr wrap="none">
            <a:spAutoFit/>
          </a:bodyPr>
          <a:lstStyle/>
          <a:p>
            <a:pPr algn="ctr"/>
            <a:r>
              <a:rPr kumimoji="1" lang="en-US" altLang="zh-CN" sz="1400" b="1" dirty="0">
                <a:latin typeface="微软雅黑 Light" panose="020B0502040204020203" pitchFamily="34" charset="-122"/>
                <a:ea typeface="微软雅黑 Light" panose="020B0502040204020203" pitchFamily="34" charset="-122"/>
                <a:cs typeface="Times New Roman" pitchFamily="18" charset="0"/>
              </a:rPr>
              <a:t>Napster </a:t>
            </a: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集中式</a:t>
            </a:r>
          </a:p>
          <a:p>
            <a:pPr algn="ct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目录服务器</a:t>
            </a:r>
          </a:p>
        </p:txBody>
      </p:sp>
      <p:grpSp>
        <p:nvGrpSpPr>
          <p:cNvPr id="7" name="组合 6"/>
          <p:cNvGrpSpPr/>
          <p:nvPr/>
        </p:nvGrpSpPr>
        <p:grpSpPr>
          <a:xfrm>
            <a:off x="1015810" y="1375405"/>
            <a:ext cx="3592532" cy="1220847"/>
            <a:chOff x="1015810" y="1419795"/>
            <a:chExt cx="3592532" cy="1220847"/>
          </a:xfrm>
        </p:grpSpPr>
        <p:sp>
          <p:nvSpPr>
            <p:cNvPr id="4" name="矩形 3"/>
            <p:cNvSpPr/>
            <p:nvPr/>
          </p:nvSpPr>
          <p:spPr>
            <a:xfrm>
              <a:off x="1015810" y="1419795"/>
              <a:ext cx="3592532" cy="1220847"/>
            </a:xfrm>
            <a:prstGeom prst="rect">
              <a:avLst/>
            </a:prstGeom>
            <a:solidFill>
              <a:srgbClr val="0000FF"/>
            </a:solidFill>
          </p:spPr>
          <p:txBody>
            <a:bodyPr wrap="square">
              <a:spAutoFit/>
            </a:bodyPr>
            <a:lstStyle/>
            <a:p>
              <a:pPr marL="452438">
                <a:lnSpc>
                  <a:spcPts val="2200"/>
                </a:lnSpc>
              </a:pPr>
              <a:r>
                <a:rPr lang="zh-CN" altLang="en-US" sz="1600" b="1" dirty="0">
                  <a:solidFill>
                    <a:schemeClr val="bg1"/>
                  </a:solidFill>
                  <a:latin typeface="微软雅黑 Light" panose="020B0502040204020203" pitchFamily="34" charset="-122"/>
                  <a:ea typeface="微软雅黑 Light" panose="020B0502040204020203" pitchFamily="34" charset="-122"/>
                </a:rPr>
                <a:t>用户 </a:t>
              </a:r>
              <a:r>
                <a:rPr lang="en-US" altLang="zh-CN" sz="1600" b="1" dirty="0">
                  <a:solidFill>
                    <a:schemeClr val="bg1"/>
                  </a:solidFill>
                  <a:latin typeface="微软雅黑 Light" panose="020B0502040204020203" pitchFamily="34" charset="-122"/>
                  <a:ea typeface="微软雅黑 Light" panose="020B0502040204020203" pitchFamily="34" charset="-122"/>
                </a:rPr>
                <a:t>X </a:t>
              </a:r>
              <a:r>
                <a:rPr lang="zh-CN" altLang="en-US" sz="1600" b="1" dirty="0">
                  <a:solidFill>
                    <a:schemeClr val="bg1"/>
                  </a:solidFill>
                  <a:latin typeface="微软雅黑 Light" panose="020B0502040204020203" pitchFamily="34" charset="-122"/>
                  <a:ea typeface="微软雅黑 Light" panose="020B0502040204020203" pitchFamily="34" charset="-122"/>
                </a:rPr>
                <a:t>可以</a:t>
              </a:r>
              <a:r>
                <a:rPr lang="zh-CN" altLang="en-US" sz="1600" b="1" dirty="0">
                  <a:solidFill>
                    <a:srgbClr val="FFFF00"/>
                  </a:solidFill>
                  <a:latin typeface="微软雅黑 Light" panose="020B0502040204020203" pitchFamily="34" charset="-122"/>
                  <a:ea typeface="微软雅黑 Light" panose="020B0502040204020203" pitchFamily="34" charset="-122"/>
                </a:rPr>
                <a:t>随机</a:t>
              </a:r>
              <a:r>
                <a:rPr lang="zh-CN" altLang="en-US" sz="1600" b="1" dirty="0">
                  <a:solidFill>
                    <a:schemeClr val="bg1"/>
                  </a:solidFill>
                  <a:latin typeface="微软雅黑 Light" panose="020B0502040204020203" pitchFamily="34" charset="-122"/>
                  <a:ea typeface="微软雅黑 Light" panose="020B0502040204020203" pitchFamily="34" charset="-122"/>
                </a:rPr>
                <a:t>地选择三个地点中的任一个。假定 </a:t>
              </a:r>
              <a:r>
                <a:rPr lang="en-US" altLang="zh-CN" sz="1600" b="1" dirty="0">
                  <a:solidFill>
                    <a:schemeClr val="bg1"/>
                  </a:solidFill>
                  <a:latin typeface="微软雅黑 Light" panose="020B0502040204020203" pitchFamily="34" charset="-122"/>
                  <a:ea typeface="微软雅黑 Light" panose="020B0502040204020203" pitchFamily="34" charset="-122"/>
                </a:rPr>
                <a:t>X </a:t>
              </a:r>
              <a:r>
                <a:rPr lang="zh-CN" altLang="en-US" sz="1600" b="1" dirty="0">
                  <a:solidFill>
                    <a:schemeClr val="bg1"/>
                  </a:solidFill>
                  <a:latin typeface="微软雅黑 Light" panose="020B0502040204020203" pitchFamily="34" charset="-122"/>
                  <a:ea typeface="微软雅黑 Light" panose="020B0502040204020203" pitchFamily="34" charset="-122"/>
                </a:rPr>
                <a:t>向 </a:t>
              </a:r>
              <a:r>
                <a:rPr lang="en-US" altLang="zh-CN" sz="1600" b="1" dirty="0">
                  <a:solidFill>
                    <a:schemeClr val="bg1"/>
                  </a:solidFill>
                  <a:latin typeface="微软雅黑 Light" panose="020B0502040204020203" pitchFamily="34" charset="-122"/>
                  <a:ea typeface="微软雅黑 Light" panose="020B0502040204020203" pitchFamily="34" charset="-122"/>
                </a:rPr>
                <a:t>A </a:t>
              </a:r>
              <a:r>
                <a:rPr lang="zh-CN" altLang="en-US" sz="1600" b="1" dirty="0">
                  <a:solidFill>
                    <a:schemeClr val="bg1"/>
                  </a:solidFill>
                  <a:latin typeface="微软雅黑 Light" panose="020B0502040204020203" pitchFamily="34" charset="-122"/>
                  <a:ea typeface="微软雅黑 Light" panose="020B0502040204020203" pitchFamily="34" charset="-122"/>
                </a:rPr>
                <a:t>发送下载文件 </a:t>
              </a:r>
              <a:r>
                <a:rPr lang="en-US" altLang="zh-CN" sz="1600" b="1" dirty="0">
                  <a:solidFill>
                    <a:schemeClr val="bg1"/>
                  </a:solidFill>
                  <a:latin typeface="微软雅黑 Light" panose="020B0502040204020203" pitchFamily="34" charset="-122"/>
                  <a:ea typeface="微软雅黑 Light" panose="020B0502040204020203" pitchFamily="34" charset="-122"/>
                </a:rPr>
                <a:t>MP3# </a:t>
              </a:r>
              <a:r>
                <a:rPr lang="zh-CN" altLang="en-US" sz="1600" b="1" dirty="0">
                  <a:solidFill>
                    <a:schemeClr val="bg1"/>
                  </a:solidFill>
                  <a:latin typeface="微软雅黑 Light" panose="020B0502040204020203" pitchFamily="34" charset="-122"/>
                  <a:ea typeface="微软雅黑 Light" panose="020B0502040204020203" pitchFamily="34" charset="-122"/>
                </a:rPr>
                <a:t>的请求报文。双方都使用 </a:t>
              </a:r>
              <a:r>
                <a:rPr lang="en-US" altLang="zh-CN" sz="1600" b="1" dirty="0">
                  <a:solidFill>
                    <a:schemeClr val="bg1"/>
                  </a:solidFill>
                  <a:latin typeface="微软雅黑 Light" panose="020B0502040204020203" pitchFamily="34" charset="-122"/>
                  <a:ea typeface="微软雅黑 Light" panose="020B0502040204020203" pitchFamily="34" charset="-122"/>
                </a:rPr>
                <a:t>P2P </a:t>
              </a:r>
              <a:r>
                <a:rPr lang="zh-CN" altLang="en-US" sz="1600" b="1" dirty="0">
                  <a:solidFill>
                    <a:schemeClr val="bg1"/>
                  </a:solidFill>
                  <a:latin typeface="微软雅黑 Light" panose="020B0502040204020203" pitchFamily="34" charset="-122"/>
                  <a:ea typeface="微软雅黑 Light" panose="020B0502040204020203" pitchFamily="34" charset="-122"/>
                </a:rPr>
                <a:t>方式通信。</a:t>
              </a:r>
            </a:p>
          </p:txBody>
        </p:sp>
        <p:sp>
          <p:nvSpPr>
            <p:cNvPr id="33" name="TextBox 32"/>
            <p:cNvSpPr txBox="1"/>
            <p:nvPr/>
          </p:nvSpPr>
          <p:spPr>
            <a:xfrm>
              <a:off x="1105843" y="1765640"/>
              <a:ext cx="458780" cy="46166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1414531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4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5700" y="581235"/>
            <a:ext cx="24513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Napster </a:t>
            </a:r>
            <a:r>
              <a:rPr lang="zh-CN" altLang="en-US" sz="2000" b="1" dirty="0">
                <a:solidFill>
                  <a:schemeClr val="bg1"/>
                </a:solidFill>
                <a:latin typeface="微软雅黑 Light" panose="020B0502040204020203" pitchFamily="34" charset="-122"/>
                <a:ea typeface="微软雅黑 Light" panose="020B0502040204020203" pitchFamily="34" charset="-122"/>
              </a:rPr>
              <a:t>的工作过程</a:t>
            </a:r>
          </a:p>
        </p:txBody>
      </p:sp>
      <p:graphicFrame>
        <p:nvGraphicFramePr>
          <p:cNvPr id="8" name="Object 5">
            <a:hlinkClick r:id="" action="ppaction://ole?verb=0"/>
          </p:cNvPr>
          <p:cNvGraphicFramePr>
            <a:graphicFrameLocks/>
          </p:cNvGraphicFramePr>
          <p:nvPr>
            <p:extLst>
              <p:ext uri="{D42A27DB-BD31-4B8C-83A1-F6EECF244321}">
                <p14:modId xmlns:p14="http://schemas.microsoft.com/office/powerpoint/2010/main" val="3938535677"/>
              </p:ext>
            </p:extLst>
          </p:nvPr>
        </p:nvGraphicFramePr>
        <p:xfrm>
          <a:off x="2812570" y="1986318"/>
          <a:ext cx="575345" cy="1000249"/>
        </p:xfrm>
        <a:graphic>
          <a:graphicData uri="http://schemas.openxmlformats.org/presentationml/2006/ole">
            <mc:AlternateContent xmlns:mc="http://schemas.openxmlformats.org/markup-compatibility/2006">
              <mc:Choice xmlns:v="urn:schemas-microsoft-com:vml" Requires="v">
                <p:oleObj name="Microsoft ClipArt Gallery" r:id="rId2" imgW="2735263" imgH="3825875" progId="">
                  <p:embed/>
                </p:oleObj>
              </mc:Choice>
              <mc:Fallback>
                <p:oleObj name="Microsoft ClipArt Gallery" r:id="rId2" imgW="2735263" imgH="3825875" progId="">
                  <p:embed/>
                  <p:pic>
                    <p:nvPicPr>
                      <p:cNvPr id="0" name="Picture 75"/>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2570" y="1986318"/>
                        <a:ext cx="575345" cy="1000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0" name="Picture 9"/>
          <p:cNvPicPr>
            <a:picLocks noChangeArrowheads="1"/>
          </p:cNvPicPr>
          <p:nvPr/>
        </p:nvPicPr>
        <p:blipFill>
          <a:blip r:embed="rId4" cstate="print"/>
          <a:srcRect/>
          <a:stretch>
            <a:fillRect/>
          </a:stretch>
        </p:blipFill>
        <p:spPr bwMode="auto">
          <a:xfrm>
            <a:off x="4784684" y="1215250"/>
            <a:ext cx="432469" cy="427137"/>
          </a:xfrm>
          <a:prstGeom prst="rect">
            <a:avLst/>
          </a:prstGeom>
          <a:noFill/>
          <a:ln w="9525">
            <a:noFill/>
            <a:miter lim="800000"/>
            <a:headEnd/>
            <a:tailEnd/>
          </a:ln>
        </p:spPr>
      </p:pic>
      <p:sp>
        <p:nvSpPr>
          <p:cNvPr id="11" name="Text Box 13"/>
          <p:cNvSpPr txBox="1">
            <a:spLocks noChangeArrowheads="1"/>
          </p:cNvSpPr>
          <p:nvPr/>
        </p:nvSpPr>
        <p:spPr bwMode="auto">
          <a:xfrm>
            <a:off x="6052930" y="3282462"/>
            <a:ext cx="277640"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X</a:t>
            </a:r>
          </a:p>
        </p:txBody>
      </p:sp>
      <p:pic>
        <p:nvPicPr>
          <p:cNvPr id="12" name="Picture 9"/>
          <p:cNvPicPr>
            <a:picLocks noChangeArrowheads="1"/>
          </p:cNvPicPr>
          <p:nvPr/>
        </p:nvPicPr>
        <p:blipFill>
          <a:blip r:embed="rId4" cstate="print"/>
          <a:srcRect/>
          <a:stretch>
            <a:fillRect/>
          </a:stretch>
        </p:blipFill>
        <p:spPr bwMode="auto">
          <a:xfrm>
            <a:off x="5908914" y="1431274"/>
            <a:ext cx="432469" cy="427137"/>
          </a:xfrm>
          <a:prstGeom prst="rect">
            <a:avLst/>
          </a:prstGeom>
          <a:noFill/>
          <a:ln w="9525">
            <a:noFill/>
            <a:miter lim="800000"/>
            <a:headEnd/>
            <a:tailEnd/>
          </a:ln>
        </p:spPr>
      </p:pic>
      <p:pic>
        <p:nvPicPr>
          <p:cNvPr id="13" name="Picture 9"/>
          <p:cNvPicPr>
            <a:picLocks noChangeArrowheads="1"/>
          </p:cNvPicPr>
          <p:nvPr/>
        </p:nvPicPr>
        <p:blipFill>
          <a:blip r:embed="rId4" cstate="print"/>
          <a:srcRect/>
          <a:stretch>
            <a:fillRect/>
          </a:stretch>
        </p:blipFill>
        <p:spPr bwMode="auto">
          <a:xfrm>
            <a:off x="6628994" y="2490374"/>
            <a:ext cx="432469" cy="427137"/>
          </a:xfrm>
          <a:prstGeom prst="rect">
            <a:avLst/>
          </a:prstGeom>
          <a:noFill/>
          <a:ln w="9525">
            <a:noFill/>
            <a:miter lim="800000"/>
            <a:headEnd/>
            <a:tailEnd/>
          </a:ln>
        </p:spPr>
      </p:pic>
      <p:pic>
        <p:nvPicPr>
          <p:cNvPr id="14" name="Picture 9"/>
          <p:cNvPicPr>
            <a:picLocks noChangeArrowheads="1"/>
          </p:cNvPicPr>
          <p:nvPr/>
        </p:nvPicPr>
        <p:blipFill>
          <a:blip r:embed="rId4" cstate="print"/>
          <a:srcRect/>
          <a:stretch>
            <a:fillRect/>
          </a:stretch>
        </p:blipFill>
        <p:spPr bwMode="auto">
          <a:xfrm>
            <a:off x="5764898" y="3282462"/>
            <a:ext cx="432469" cy="427137"/>
          </a:xfrm>
          <a:prstGeom prst="rect">
            <a:avLst/>
          </a:prstGeom>
          <a:noFill/>
          <a:ln w="9525">
            <a:noFill/>
            <a:miter lim="800000"/>
            <a:headEnd/>
            <a:tailEnd/>
          </a:ln>
        </p:spPr>
      </p:pic>
      <p:pic>
        <p:nvPicPr>
          <p:cNvPr id="15" name="Picture 9"/>
          <p:cNvPicPr>
            <a:picLocks noChangeArrowheads="1"/>
          </p:cNvPicPr>
          <p:nvPr/>
        </p:nvPicPr>
        <p:blipFill>
          <a:blip r:embed="rId4" cstate="print"/>
          <a:srcRect/>
          <a:stretch>
            <a:fillRect/>
          </a:stretch>
        </p:blipFill>
        <p:spPr bwMode="auto">
          <a:xfrm>
            <a:off x="4036706" y="3619920"/>
            <a:ext cx="432469" cy="427137"/>
          </a:xfrm>
          <a:prstGeom prst="rect">
            <a:avLst/>
          </a:prstGeom>
          <a:noFill/>
          <a:ln w="9525">
            <a:noFill/>
            <a:miter lim="800000"/>
            <a:headEnd/>
            <a:tailEnd/>
          </a:ln>
        </p:spPr>
      </p:pic>
      <p:pic>
        <p:nvPicPr>
          <p:cNvPr id="16" name="Picture 9"/>
          <p:cNvPicPr>
            <a:picLocks noChangeArrowheads="1"/>
          </p:cNvPicPr>
          <p:nvPr/>
        </p:nvPicPr>
        <p:blipFill>
          <a:blip r:embed="rId4" cstate="print"/>
          <a:srcRect/>
          <a:stretch>
            <a:fillRect/>
          </a:stretch>
        </p:blipFill>
        <p:spPr bwMode="auto">
          <a:xfrm>
            <a:off x="2920794" y="3393386"/>
            <a:ext cx="432469" cy="427137"/>
          </a:xfrm>
          <a:prstGeom prst="rect">
            <a:avLst/>
          </a:prstGeom>
          <a:noFill/>
          <a:ln w="9525">
            <a:noFill/>
            <a:miter lim="800000"/>
            <a:headEnd/>
            <a:tailEnd/>
          </a:ln>
        </p:spPr>
      </p:pic>
      <p:sp>
        <p:nvSpPr>
          <p:cNvPr id="17" name="Text Box 13"/>
          <p:cNvSpPr txBox="1">
            <a:spLocks noChangeArrowheads="1"/>
          </p:cNvSpPr>
          <p:nvPr/>
        </p:nvSpPr>
        <p:spPr bwMode="auto">
          <a:xfrm>
            <a:off x="4396746" y="3619920"/>
            <a:ext cx="28886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989034" y="2490374"/>
            <a:ext cx="274434"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5144724" y="1215250"/>
            <a:ext cx="30008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3384061" y="2716978"/>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3420210" y="2815880"/>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731068" y="2890224"/>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谁有文件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3" name="TextBox 22"/>
          <p:cNvSpPr txBox="1"/>
          <p:nvPr/>
        </p:nvSpPr>
        <p:spPr>
          <a:xfrm rot="3562759">
            <a:off x="4820450" y="2421953"/>
            <a:ext cx="1872208"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请求文件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4" name="TextBox 23"/>
          <p:cNvSpPr txBox="1"/>
          <p:nvPr/>
        </p:nvSpPr>
        <p:spPr>
          <a:xfrm>
            <a:off x="5476866" y="321045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5" name="TextBox 24"/>
          <p:cNvSpPr txBox="1"/>
          <p:nvPr/>
        </p:nvSpPr>
        <p:spPr>
          <a:xfrm>
            <a:off x="5951112" y="3057146"/>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6" name="TextBox 25"/>
          <p:cNvSpPr txBox="1"/>
          <p:nvPr/>
        </p:nvSpPr>
        <p:spPr>
          <a:xfrm>
            <a:off x="3244618" y="2791783"/>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7" name="TextBox 26"/>
          <p:cNvSpPr txBox="1"/>
          <p:nvPr/>
        </p:nvSpPr>
        <p:spPr>
          <a:xfrm>
            <a:off x="4756786" y="1626278"/>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8" name="TextBox 27"/>
          <p:cNvSpPr txBox="1"/>
          <p:nvPr/>
        </p:nvSpPr>
        <p:spPr>
          <a:xfrm rot="1111699">
            <a:off x="3681883" y="3299603"/>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B</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C</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29" name="直接箭头连接符 28"/>
          <p:cNvCxnSpPr/>
          <p:nvPr/>
        </p:nvCxnSpPr>
        <p:spPr>
          <a:xfrm flipH="1" flipV="1">
            <a:off x="5116826" y="1626278"/>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623695" y="2454489"/>
            <a:ext cx="1584176" cy="288032"/>
            <a:chOff x="5796136" y="1484784"/>
            <a:chExt cx="1584176" cy="288032"/>
          </a:xfrm>
        </p:grpSpPr>
        <p:sp>
          <p:nvSpPr>
            <p:cNvPr id="31" name="矩形 30"/>
            <p:cNvSpPr/>
            <p:nvPr/>
          </p:nvSpPr>
          <p:spPr>
            <a:xfrm>
              <a:off x="5796136" y="1484784"/>
              <a:ext cx="1080120" cy="288032"/>
            </a:xfrm>
            <a:prstGeom prst="rect">
              <a:avLst/>
            </a:prstGeom>
            <a:solidFill>
              <a:srgbClr val="66FF66"/>
            </a:solidFill>
            <a:ln w="25400" cap="flat" cmpd="sng" algn="ctr">
              <a:solidFill>
                <a:sysClr val="windowText" lastClr="00000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00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 lastClr="FFFFFF"/>
                </a:solidFill>
                <a:effectLst/>
                <a:uLnTx/>
                <a:uFillTx/>
                <a:latin typeface="微软雅黑 Light" panose="020B0502040204020203" pitchFamily="34" charset="-122"/>
                <a:ea typeface="微软雅黑 Light" panose="020B0502040204020203" pitchFamily="34" charset="-122"/>
              </a:endParaRPr>
            </a:p>
          </p:txBody>
        </p:sp>
      </p:grpSp>
      <p:sp>
        <p:nvSpPr>
          <p:cNvPr id="35" name="Text Box 6"/>
          <p:cNvSpPr txBox="1">
            <a:spLocks noChangeArrowheads="1"/>
          </p:cNvSpPr>
          <p:nvPr/>
        </p:nvSpPr>
        <p:spPr bwMode="auto">
          <a:xfrm>
            <a:off x="2294506" y="1495249"/>
            <a:ext cx="1414169" cy="523220"/>
          </a:xfrm>
          <a:prstGeom prst="rect">
            <a:avLst/>
          </a:prstGeom>
          <a:noFill/>
          <a:ln w="9525">
            <a:noFill/>
            <a:miter lim="800000"/>
            <a:headEnd/>
            <a:tailEnd/>
          </a:ln>
        </p:spPr>
        <p:txBody>
          <a:bodyPr wrap="none">
            <a:spAutoFit/>
          </a:bodyPr>
          <a:lstStyle/>
          <a:p>
            <a:pPr algn="ctr"/>
            <a:r>
              <a:rPr kumimoji="1" lang="en-US" altLang="zh-CN" sz="1400" b="1" dirty="0">
                <a:latin typeface="微软雅黑 Light" panose="020B0502040204020203" pitchFamily="34" charset="-122"/>
                <a:ea typeface="微软雅黑 Light" panose="020B0502040204020203" pitchFamily="34" charset="-122"/>
                <a:cs typeface="Times New Roman" pitchFamily="18" charset="0"/>
              </a:rPr>
              <a:t>Napster </a:t>
            </a: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集中式</a:t>
            </a:r>
          </a:p>
          <a:p>
            <a:pPr algn="ct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目录服务器</a:t>
            </a:r>
          </a:p>
        </p:txBody>
      </p:sp>
      <p:grpSp>
        <p:nvGrpSpPr>
          <p:cNvPr id="7" name="组合 6"/>
          <p:cNvGrpSpPr/>
          <p:nvPr/>
        </p:nvGrpSpPr>
        <p:grpSpPr>
          <a:xfrm>
            <a:off x="1057850" y="1501525"/>
            <a:ext cx="3592532" cy="656590"/>
            <a:chOff x="1057850" y="1545915"/>
            <a:chExt cx="3592532" cy="656590"/>
          </a:xfrm>
        </p:grpSpPr>
        <p:sp>
          <p:nvSpPr>
            <p:cNvPr id="4" name="矩形 3"/>
            <p:cNvSpPr/>
            <p:nvPr/>
          </p:nvSpPr>
          <p:spPr>
            <a:xfrm>
              <a:off x="1057850" y="1545915"/>
              <a:ext cx="3592532" cy="656590"/>
            </a:xfrm>
            <a:prstGeom prst="rect">
              <a:avLst/>
            </a:prstGeom>
            <a:solidFill>
              <a:srgbClr val="0000FF"/>
            </a:solidFill>
          </p:spPr>
          <p:txBody>
            <a:bodyPr wrap="square">
              <a:spAutoFit/>
            </a:bodyPr>
            <a:lstStyle/>
            <a:p>
              <a:pPr marL="452438">
                <a:lnSpc>
                  <a:spcPts val="2200"/>
                </a:lnSpc>
              </a:pPr>
              <a:r>
                <a:rPr lang="zh-CN" altLang="en-US" sz="1600" b="1" dirty="0">
                  <a:solidFill>
                    <a:schemeClr val="bg1"/>
                  </a:solidFill>
                  <a:latin typeface="微软雅黑 Light" panose="020B0502040204020203" pitchFamily="34" charset="-122"/>
                  <a:ea typeface="微软雅黑 Light" panose="020B0502040204020203" pitchFamily="34" charset="-122"/>
                </a:rPr>
                <a:t>对等方 </a:t>
              </a:r>
              <a:r>
                <a:rPr lang="en-US" altLang="zh-CN" sz="1600" b="1" dirty="0">
                  <a:solidFill>
                    <a:schemeClr val="bg1"/>
                  </a:solidFill>
                  <a:latin typeface="微软雅黑 Light" panose="020B0502040204020203" pitchFamily="34" charset="-122"/>
                  <a:ea typeface="微软雅黑 Light" panose="020B0502040204020203" pitchFamily="34" charset="-122"/>
                </a:rPr>
                <a:t>A</a:t>
              </a:r>
              <a:r>
                <a:rPr lang="zh-CN" altLang="en-US" sz="1600" b="1" dirty="0">
                  <a:solidFill>
                    <a:schemeClr val="bg1"/>
                  </a:solidFill>
                  <a:latin typeface="微软雅黑 Light" panose="020B0502040204020203" pitchFamily="34" charset="-122"/>
                  <a:ea typeface="微软雅黑 Light" panose="020B0502040204020203" pitchFamily="34" charset="-122"/>
                </a:rPr>
                <a:t>（现在作为服务器）把文件 </a:t>
              </a:r>
              <a:r>
                <a:rPr lang="en-US" altLang="zh-CN" sz="1600" b="1" dirty="0">
                  <a:solidFill>
                    <a:schemeClr val="bg1"/>
                  </a:solidFill>
                  <a:latin typeface="微软雅黑 Light" panose="020B0502040204020203" pitchFamily="34" charset="-122"/>
                  <a:ea typeface="微软雅黑 Light" panose="020B0502040204020203" pitchFamily="34" charset="-122"/>
                </a:rPr>
                <a:t>MP3# </a:t>
              </a:r>
              <a:r>
                <a:rPr lang="zh-CN" altLang="en-US" sz="1600" b="1" dirty="0">
                  <a:solidFill>
                    <a:schemeClr val="bg1"/>
                  </a:solidFill>
                  <a:latin typeface="微软雅黑 Light" panose="020B0502040204020203" pitchFamily="34" charset="-122"/>
                  <a:ea typeface="微软雅黑 Light" panose="020B0502040204020203" pitchFamily="34" charset="-122"/>
                </a:rPr>
                <a:t>发送给 </a:t>
              </a:r>
              <a:r>
                <a:rPr lang="en-US" altLang="zh-CN" sz="1600" b="1" dirty="0">
                  <a:solidFill>
                    <a:schemeClr val="bg1"/>
                  </a:solidFill>
                  <a:latin typeface="微软雅黑 Light" panose="020B0502040204020203" pitchFamily="34" charset="-122"/>
                  <a:ea typeface="微软雅黑 Light" panose="020B0502040204020203" pitchFamily="34" charset="-122"/>
                </a:rPr>
                <a:t>X</a:t>
              </a:r>
              <a:r>
                <a:rPr lang="zh-CN" altLang="en-US" sz="1600" b="1" dirty="0">
                  <a:solidFill>
                    <a:schemeClr val="bg1"/>
                  </a:solidFill>
                  <a:latin typeface="微软雅黑 Light" panose="020B0502040204020203" pitchFamily="34" charset="-122"/>
                  <a:ea typeface="微软雅黑 Light" panose="020B0502040204020203" pitchFamily="34" charset="-122"/>
                </a:rPr>
                <a:t>。</a:t>
              </a:r>
            </a:p>
          </p:txBody>
        </p:sp>
        <p:sp>
          <p:nvSpPr>
            <p:cNvPr id="34" name="TextBox 33"/>
            <p:cNvSpPr txBox="1"/>
            <p:nvPr/>
          </p:nvSpPr>
          <p:spPr>
            <a:xfrm>
              <a:off x="1130719" y="1651093"/>
              <a:ext cx="458780" cy="46166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11871048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80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78380" y="576596"/>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集中式目录服务器的缺点</a:t>
            </a:r>
          </a:p>
        </p:txBody>
      </p:sp>
      <p:sp>
        <p:nvSpPr>
          <p:cNvPr id="4" name="Rectangle 68"/>
          <p:cNvSpPr>
            <a:spLocks noChangeArrowheads="1"/>
          </p:cNvSpPr>
          <p:nvPr/>
        </p:nvSpPr>
        <p:spPr bwMode="auto">
          <a:xfrm>
            <a:off x="483810" y="970897"/>
            <a:ext cx="8212134"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可靠性差。</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会成为性能的瓶颈。</a:t>
            </a:r>
          </a:p>
        </p:txBody>
      </p:sp>
    </p:spTree>
    <p:extLst>
      <p:ext uri="{BB962C8B-B14F-4D97-AF65-F5344CB8AC3E}">
        <p14:creationId xmlns:p14="http://schemas.microsoft.com/office/powerpoint/2010/main" val="33021888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780"/>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365839" y="568509"/>
            <a:ext cx="641233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6.9.2 </a:t>
            </a:r>
            <a:r>
              <a:rPr lang="zh-CN" altLang="en-US" sz="2400" b="1" dirty="0">
                <a:solidFill>
                  <a:schemeClr val="bg1"/>
                </a:solidFill>
                <a:latin typeface="微软雅黑 Light" panose="020B0502040204020203" pitchFamily="34" charset="-122"/>
                <a:ea typeface="微软雅黑 Light" panose="020B0502040204020203" pitchFamily="34" charset="-122"/>
              </a:rPr>
              <a:t>具有全分布式结构的 </a:t>
            </a:r>
            <a:r>
              <a:rPr lang="en-US" altLang="zh-CN" sz="2400" b="1" dirty="0">
                <a:solidFill>
                  <a:schemeClr val="bg1"/>
                </a:solidFill>
                <a:latin typeface="微软雅黑 Light" panose="020B0502040204020203" pitchFamily="34" charset="-122"/>
                <a:ea typeface="微软雅黑 Light" panose="020B0502040204020203" pitchFamily="34" charset="-122"/>
              </a:rPr>
              <a:t>P2P </a:t>
            </a:r>
            <a:r>
              <a:rPr lang="zh-CN" altLang="en-US" sz="2400" b="1" dirty="0">
                <a:solidFill>
                  <a:schemeClr val="bg1"/>
                </a:solidFill>
                <a:latin typeface="微软雅黑 Light" panose="020B0502040204020203" pitchFamily="34" charset="-122"/>
                <a:ea typeface="微软雅黑 Light" panose="020B0502040204020203" pitchFamily="34" charset="-122"/>
              </a:rPr>
              <a:t>文件共享程序</a:t>
            </a:r>
          </a:p>
        </p:txBody>
      </p:sp>
      <p:sp>
        <p:nvSpPr>
          <p:cNvPr id="4" name="Rectangle 68"/>
          <p:cNvSpPr>
            <a:spLocks noChangeArrowheads="1"/>
          </p:cNvSpPr>
          <p:nvPr/>
        </p:nvSpPr>
        <p:spPr bwMode="auto">
          <a:xfrm>
            <a:off x="511242" y="1004998"/>
            <a:ext cx="8138981" cy="35196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是</a:t>
            </a:r>
            <a:r>
              <a:rPr lang="zh-CN" altLang="en-US" sz="2000" b="1" dirty="0">
                <a:solidFill>
                  <a:srgbClr val="0000FF"/>
                </a:solidFill>
                <a:latin typeface="微软雅黑 Light" panose="020B0502040204020203" pitchFamily="34" charset="-122"/>
                <a:ea typeface="微软雅黑 Light" panose="020B0502040204020203" pitchFamily="34" charset="-122"/>
              </a:rPr>
              <a:t>第二代</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P2P </a:t>
            </a:r>
            <a:r>
              <a:rPr lang="zh-CN" altLang="en-US" sz="2000" b="1" dirty="0">
                <a:latin typeface="微软雅黑 Light" panose="020B0502040204020203" pitchFamily="34" charset="-122"/>
                <a:ea typeface="微软雅黑 Light" panose="020B0502040204020203" pitchFamily="34" charset="-122"/>
              </a:rPr>
              <a:t>文件共享程序，采用</a:t>
            </a:r>
            <a:r>
              <a:rPr lang="zh-CN" altLang="en-US" sz="2000" b="1" dirty="0">
                <a:solidFill>
                  <a:srgbClr val="C00000"/>
                </a:solidFill>
                <a:latin typeface="微软雅黑 Light" panose="020B0502040204020203" pitchFamily="34" charset="-122"/>
                <a:ea typeface="微软雅黑 Light" panose="020B0502040204020203" pitchFamily="34" charset="-122"/>
              </a:rPr>
              <a:t>全分布</a:t>
            </a:r>
            <a:r>
              <a:rPr lang="zh-CN" altLang="en-US" sz="2000" b="1" dirty="0">
                <a:latin typeface="微软雅黑 Light" panose="020B0502040204020203" pitchFamily="34" charset="-122"/>
                <a:ea typeface="微软雅黑 Light" panose="020B0502040204020203" pitchFamily="34" charset="-122"/>
              </a:rPr>
              <a:t>方法定位内容的 </a:t>
            </a:r>
            <a:r>
              <a:rPr lang="en-US" altLang="zh-CN" sz="2000" b="1" dirty="0">
                <a:latin typeface="微软雅黑 Light" panose="020B0502040204020203" pitchFamily="34" charset="-122"/>
                <a:ea typeface="微软雅黑 Light" panose="020B0502040204020203" pitchFamily="34" charset="-122"/>
              </a:rPr>
              <a:t>P2P </a:t>
            </a:r>
            <a:r>
              <a:rPr lang="zh-CN" altLang="en-US" sz="2000" b="1" dirty="0">
                <a:latin typeface="微软雅黑 Light" panose="020B0502040204020203" pitchFamily="34" charset="-122"/>
                <a:ea typeface="微软雅黑 Light" panose="020B0502040204020203" pitchFamily="34" charset="-122"/>
              </a:rPr>
              <a:t>文件共享应用程序。 </a:t>
            </a:r>
          </a:p>
          <a:p>
            <a:pPr marL="285750" indent="-28575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与 </a:t>
            </a: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最大的</a:t>
            </a:r>
            <a:r>
              <a:rPr lang="zh-CN" altLang="en-US" sz="2000" b="1" dirty="0">
                <a:solidFill>
                  <a:srgbClr val="C00000"/>
                </a:solidFill>
                <a:latin typeface="微软雅黑 Light" panose="020B0502040204020203" pitchFamily="34" charset="-122"/>
                <a:ea typeface="微软雅黑 Light" panose="020B0502040204020203" pitchFamily="34" charset="-122"/>
              </a:rPr>
              <a:t>区别</a:t>
            </a: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不使用</a:t>
            </a:r>
            <a:r>
              <a:rPr lang="zh-CN" altLang="en-US" sz="2000" b="1" dirty="0">
                <a:latin typeface="微软雅黑 Light" panose="020B0502040204020203" pitchFamily="34" charset="-122"/>
                <a:ea typeface="微软雅黑 Light" panose="020B0502040204020203" pitchFamily="34" charset="-122"/>
              </a:rPr>
              <a:t>集中式的目录服务器，而是使用</a:t>
            </a:r>
            <a:r>
              <a:rPr lang="zh-CN" altLang="en-US" sz="2000" b="1" dirty="0">
                <a:solidFill>
                  <a:srgbClr val="C00000"/>
                </a:solidFill>
                <a:latin typeface="微软雅黑 Light" panose="020B0502040204020203" pitchFamily="34" charset="-122"/>
                <a:ea typeface="微软雅黑 Light" panose="020B0502040204020203" pitchFamily="34" charset="-122"/>
              </a:rPr>
              <a:t>洪泛法</a:t>
            </a:r>
            <a:r>
              <a:rPr lang="zh-CN" altLang="en-US" sz="2000" b="1" dirty="0">
                <a:latin typeface="微软雅黑 Light" panose="020B0502040204020203" pitchFamily="34" charset="-122"/>
                <a:ea typeface="微软雅黑 Light" panose="020B0502040204020203" pitchFamily="34" charset="-122"/>
              </a:rPr>
              <a:t>在大量 </a:t>
            </a: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用户之间进行查询。</a:t>
            </a:r>
          </a:p>
          <a:p>
            <a:pPr marL="285750" indent="-28575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为了不使查询的通信量过大，</a:t>
            </a: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设计了一种</a:t>
            </a:r>
            <a:r>
              <a:rPr lang="zh-CN" altLang="en-US" sz="2000" b="1" dirty="0">
                <a:solidFill>
                  <a:srgbClr val="C00000"/>
                </a:solidFill>
                <a:latin typeface="微软雅黑 Light" panose="020B0502040204020203" pitchFamily="34" charset="-122"/>
                <a:ea typeface="微软雅黑 Light" panose="020B0502040204020203" pitchFamily="34" charset="-122"/>
              </a:rPr>
              <a:t>有限范围</a:t>
            </a:r>
            <a:r>
              <a:rPr lang="zh-CN" altLang="en-US" sz="2000" b="1" dirty="0">
                <a:latin typeface="微软雅黑 Light" panose="020B0502040204020203" pitchFamily="34" charset="-122"/>
                <a:ea typeface="微软雅黑 Light" panose="020B0502040204020203" pitchFamily="34" charset="-122"/>
              </a:rPr>
              <a:t>的洪泛查询，减少了倾注到互联网的查询流量，但也影响到查询定位的准确性。</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第三代 </a:t>
            </a:r>
            <a:r>
              <a:rPr lang="en-US" altLang="zh-CN" sz="2000" b="1" dirty="0">
                <a:latin typeface="微软雅黑 Light" panose="020B0502040204020203" pitchFamily="34" charset="-122"/>
                <a:ea typeface="微软雅黑 Light" panose="020B0502040204020203" pitchFamily="34" charset="-122"/>
              </a:rPr>
              <a:t>P2P </a:t>
            </a:r>
            <a:r>
              <a:rPr lang="zh-CN" altLang="en-US" sz="2000" b="1" dirty="0">
                <a:latin typeface="微软雅黑 Light" panose="020B0502040204020203" pitchFamily="34" charset="-122"/>
                <a:ea typeface="微软雅黑 Light" panose="020B0502040204020203" pitchFamily="34" charset="-122"/>
              </a:rPr>
              <a:t>文件共享程序采用分散定位和分散传输技术。例如 </a:t>
            </a:r>
            <a:r>
              <a:rPr lang="en-US" altLang="zh-CN" sz="2000" b="1" dirty="0" err="1">
                <a:latin typeface="微软雅黑 Light" panose="020B0502040204020203" pitchFamily="34" charset="-122"/>
                <a:ea typeface="微软雅黑 Light" panose="020B0502040204020203" pitchFamily="34" charset="-122"/>
              </a:rPr>
              <a:t>KaZaA</a:t>
            </a:r>
            <a:r>
              <a:rPr lang="zh-CN" altLang="en-US" sz="2000" b="1" dirty="0">
                <a:latin typeface="微软雅黑 Light" panose="020B0502040204020203" pitchFamily="34" charset="-122"/>
                <a:ea typeface="微软雅黑 Light" panose="020B0502040204020203" pitchFamily="34" charset="-122"/>
              </a:rPr>
              <a:t>，电骡 </a:t>
            </a:r>
            <a:r>
              <a:rPr lang="en-US" altLang="zh-CN" sz="2000" b="1" dirty="0" err="1">
                <a:latin typeface="微软雅黑 Light" panose="020B0502040204020203" pitchFamily="34" charset="-122"/>
                <a:ea typeface="微软雅黑 Light" panose="020B0502040204020203" pitchFamily="34" charset="-122"/>
              </a:rPr>
              <a:t>eMule</a:t>
            </a:r>
            <a:r>
              <a:rPr lang="zh-CN" altLang="en-US" sz="2000" b="1" dirty="0">
                <a:latin typeface="微软雅黑 Light" panose="020B0502040204020203" pitchFamily="34" charset="-122"/>
                <a:ea typeface="微软雅黑 Light" panose="020B0502040204020203" pitchFamily="34" charset="-122"/>
              </a:rPr>
              <a:t>，比特洪流 </a:t>
            </a:r>
            <a:r>
              <a:rPr lang="en-US" altLang="zh-CN" sz="2000" b="1" dirty="0">
                <a:latin typeface="微软雅黑 Light" panose="020B0502040204020203" pitchFamily="34" charset="-122"/>
                <a:ea typeface="微软雅黑 Light" panose="020B0502040204020203" pitchFamily="34" charset="-122"/>
              </a:rPr>
              <a:t>BT (Bit Torrent) </a:t>
            </a:r>
            <a:r>
              <a:rPr lang="zh-CN" altLang="en-US" sz="2000" b="1" dirty="0">
                <a:latin typeface="微软雅黑 Light" panose="020B0502040204020203" pitchFamily="34" charset="-122"/>
                <a:ea typeface="微软雅黑 Light" panose="020B0502040204020203" pitchFamily="34" charset="-122"/>
              </a:rPr>
              <a:t>等。</a:t>
            </a:r>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49242" y="2325241"/>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27984" y="3561494"/>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96136" y="341747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2240" y="305743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56376" y="3561494"/>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56376" y="161727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28384" y="2409366"/>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53912" y="121266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46711" y="1276805"/>
            <a:ext cx="485811" cy="680135"/>
          </a:xfrm>
          <a:prstGeom prst="rect">
            <a:avLst/>
          </a:prstGeom>
        </p:spPr>
      </p:pic>
      <p:sp>
        <p:nvSpPr>
          <p:cNvPr id="2" name="AutoShape 5"/>
          <p:cNvSpPr>
            <a:spLocks noChangeArrowheads="1"/>
          </p:cNvSpPr>
          <p:nvPr/>
        </p:nvSpPr>
        <p:spPr bwMode="auto">
          <a:xfrm>
            <a:off x="556963" y="60826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512939" y="575054"/>
            <a:ext cx="41368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的比特洪流 </a:t>
            </a:r>
            <a:r>
              <a:rPr lang="en-US" altLang="zh-CN" sz="2000" b="1" dirty="0">
                <a:solidFill>
                  <a:schemeClr val="bg1"/>
                </a:solidFill>
                <a:latin typeface="微软雅黑 Light" panose="020B0502040204020203" pitchFamily="34" charset="-122"/>
                <a:ea typeface="微软雅黑 Light" panose="020B0502040204020203" pitchFamily="34" charset="-122"/>
              </a:rPr>
              <a:t>BT </a:t>
            </a:r>
            <a:r>
              <a:rPr lang="zh-CN" altLang="en-US" sz="2000" b="1" dirty="0">
                <a:solidFill>
                  <a:schemeClr val="bg1"/>
                </a:solidFill>
                <a:latin typeface="微软雅黑 Light" panose="020B0502040204020203" pitchFamily="34" charset="-122"/>
                <a:ea typeface="微软雅黑 Light" panose="020B0502040204020203" pitchFamily="34" charset="-122"/>
              </a:rPr>
              <a:t>主要特点</a:t>
            </a:r>
          </a:p>
        </p:txBody>
      </p:sp>
      <p:sp>
        <p:nvSpPr>
          <p:cNvPr id="4" name="Rectangle 68"/>
          <p:cNvSpPr>
            <a:spLocks noChangeArrowheads="1"/>
          </p:cNvSpPr>
          <p:nvPr/>
        </p:nvSpPr>
        <p:spPr bwMode="auto">
          <a:xfrm>
            <a:off x="521449" y="984615"/>
            <a:ext cx="2564159" cy="37600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179388" indent="-179388" eaLnBrk="0" hangingPunct="0">
              <a:lnSpc>
                <a:spcPts val="2200"/>
              </a:lnSpc>
              <a:buClr>
                <a:srgbClr val="0070C0"/>
              </a:buClr>
              <a:buFont typeface="Wingdings" pitchFamily="2" charset="2"/>
              <a:buChar char="l"/>
            </a:pPr>
            <a:r>
              <a:rPr lang="en-US" altLang="zh-CN" sz="1600" b="1" dirty="0" err="1">
                <a:latin typeface="微软雅黑 Light" panose="020B0502040204020203" pitchFamily="34" charset="-122"/>
                <a:ea typeface="微软雅黑 Light" panose="020B0502040204020203" pitchFamily="34" charset="-122"/>
              </a:rPr>
              <a:t>BitTorrent</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所有对等方集合称为一个</a:t>
            </a:r>
            <a:r>
              <a:rPr lang="zh-CN" altLang="en-US" sz="1600" b="1" dirty="0">
                <a:solidFill>
                  <a:srgbClr val="0000FF"/>
                </a:solidFill>
                <a:latin typeface="微软雅黑 Light" panose="020B0502040204020203" pitchFamily="34" charset="-122"/>
                <a:ea typeface="微软雅黑 Light" panose="020B0502040204020203" pitchFamily="34" charset="-122"/>
              </a:rPr>
              <a:t>洪流 </a:t>
            </a:r>
            <a:r>
              <a:rPr lang="en-US" altLang="zh-CN" sz="1600" b="1" dirty="0">
                <a:latin typeface="微软雅黑 Light" panose="020B0502040204020203" pitchFamily="34" charset="-122"/>
                <a:ea typeface="微软雅黑 Light" panose="020B0502040204020203" pitchFamily="34" charset="-122"/>
              </a:rPr>
              <a:t>(torrent)</a:t>
            </a:r>
            <a:r>
              <a:rPr lang="zh-CN" altLang="en-US" sz="1600" b="1" dirty="0">
                <a:latin typeface="微软雅黑 Light" panose="020B0502040204020203" pitchFamily="34" charset="-122"/>
                <a:ea typeface="微软雅黑 Light" panose="020B0502040204020203" pitchFamily="34" charset="-122"/>
              </a:rPr>
              <a:t>。</a:t>
            </a:r>
            <a:endParaRPr lang="en-US" altLang="zh-CN" sz="1600" b="1" dirty="0">
              <a:latin typeface="微软雅黑 Light" panose="020B0502040204020203" pitchFamily="34" charset="-122"/>
              <a:ea typeface="微软雅黑 Light" panose="020B0502040204020203" pitchFamily="34" charset="-122"/>
            </a:endParaRPr>
          </a:p>
          <a:p>
            <a:pPr marL="179388" indent="-179388" eaLnBrk="0" hangingPunct="0">
              <a:lnSpc>
                <a:spcPts val="22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下载文件的数据单元为长度固定的</a:t>
            </a:r>
            <a:r>
              <a:rPr lang="zh-CN" altLang="en-US" sz="1600" b="1" dirty="0">
                <a:solidFill>
                  <a:srgbClr val="0000FF"/>
                </a:solidFill>
                <a:latin typeface="微软雅黑 Light" panose="020B0502040204020203" pitchFamily="34" charset="-122"/>
                <a:ea typeface="微软雅黑 Light" panose="020B0502040204020203" pitchFamily="34" charset="-122"/>
              </a:rPr>
              <a:t>文件块</a:t>
            </a:r>
            <a:r>
              <a:rPr lang="zh-CN" altLang="en-US" sz="1600" b="1" dirty="0">
                <a:latin typeface="微软雅黑 Light" panose="020B0502040204020203" pitchFamily="34" charset="-122"/>
                <a:ea typeface="微软雅黑 Light" panose="020B0502040204020203" pitchFamily="34" charset="-122"/>
              </a:rPr>
              <a:t> </a:t>
            </a:r>
            <a:r>
              <a:rPr lang="en-US" altLang="zh-CN" sz="1600" b="1" dirty="0">
                <a:latin typeface="微软雅黑 Light" panose="020B0502040204020203" pitchFamily="34" charset="-122"/>
                <a:ea typeface="微软雅黑 Light" panose="020B0502040204020203" pitchFamily="34" charset="-122"/>
              </a:rPr>
              <a:t>(chunk)</a:t>
            </a:r>
            <a:r>
              <a:rPr lang="zh-CN" altLang="en-US" sz="1600" b="1" dirty="0">
                <a:latin typeface="微软雅黑 Light" panose="020B0502040204020203" pitchFamily="34" charset="-122"/>
                <a:ea typeface="微软雅黑 Light" panose="020B0502040204020203" pitchFamily="34" charset="-122"/>
              </a:rPr>
              <a:t>。</a:t>
            </a:r>
            <a:endParaRPr lang="en-US" altLang="zh-CN" sz="1600" b="1" dirty="0">
              <a:latin typeface="微软雅黑 Light" panose="020B0502040204020203" pitchFamily="34" charset="-122"/>
              <a:ea typeface="微软雅黑 Light" panose="020B0502040204020203" pitchFamily="34" charset="-122"/>
            </a:endParaRPr>
          </a:p>
          <a:p>
            <a:pPr marL="179388" indent="-179388" eaLnBrk="0" hangingPunct="0">
              <a:lnSpc>
                <a:spcPts val="22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基础设施结点，叫做</a:t>
            </a:r>
            <a:r>
              <a:rPr lang="zh-CN" altLang="en-US" sz="1600" b="1" dirty="0">
                <a:solidFill>
                  <a:srgbClr val="0000FF"/>
                </a:solidFill>
                <a:latin typeface="微软雅黑 Light" panose="020B0502040204020203" pitchFamily="34" charset="-122"/>
                <a:ea typeface="微软雅黑 Light" panose="020B0502040204020203" pitchFamily="34" charset="-122"/>
              </a:rPr>
              <a:t>追踪器</a:t>
            </a:r>
            <a:r>
              <a:rPr lang="zh-CN" altLang="en-US" sz="1600" b="1" dirty="0">
                <a:latin typeface="微软雅黑 Light" panose="020B0502040204020203" pitchFamily="34" charset="-122"/>
                <a:ea typeface="微软雅黑 Light" panose="020B0502040204020203" pitchFamily="34" charset="-122"/>
              </a:rPr>
              <a:t> </a:t>
            </a:r>
            <a:r>
              <a:rPr lang="en-US" altLang="zh-CN" sz="1600" b="1" dirty="0">
                <a:latin typeface="微软雅黑 Light" panose="020B0502040204020203" pitchFamily="34" charset="-122"/>
                <a:ea typeface="微软雅黑 Light" panose="020B0502040204020203" pitchFamily="34" charset="-122"/>
              </a:rPr>
              <a:t>(tracker)</a:t>
            </a:r>
            <a:r>
              <a:rPr lang="zh-CN" altLang="en-US" sz="1600" b="1" dirty="0">
                <a:latin typeface="微软雅黑 Light" panose="020B0502040204020203" pitchFamily="34" charset="-122"/>
                <a:ea typeface="微软雅黑 Light" panose="020B0502040204020203" pitchFamily="34" charset="-122"/>
              </a:rPr>
              <a:t>。</a:t>
            </a:r>
            <a:endParaRPr lang="en-US" altLang="zh-CN" sz="1600" b="1" dirty="0">
              <a:latin typeface="微软雅黑 Light" panose="020B0502040204020203" pitchFamily="34" charset="-122"/>
              <a:ea typeface="微软雅黑 Light" panose="020B0502040204020203" pitchFamily="34" charset="-122"/>
            </a:endParaRPr>
          </a:p>
          <a:p>
            <a:pPr marL="179388" indent="-179388" eaLnBrk="0" hangingPunct="0">
              <a:lnSpc>
                <a:spcPts val="22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A </a:t>
            </a:r>
            <a:r>
              <a:rPr lang="zh-CN" altLang="en-US" sz="1600" b="1" dirty="0">
                <a:latin typeface="微软雅黑 Light" panose="020B0502040204020203" pitchFamily="34" charset="-122"/>
                <a:ea typeface="微软雅黑 Light" panose="020B0502040204020203" pitchFamily="34" charset="-122"/>
              </a:rPr>
              <a:t>和对等方建立了 </a:t>
            </a:r>
            <a:r>
              <a:rPr lang="en-US" altLang="zh-CN" sz="1600" b="1" dirty="0">
                <a:solidFill>
                  <a:srgbClr val="C00000"/>
                </a:solidFill>
                <a:latin typeface="微软雅黑 Light" panose="020B0502040204020203" pitchFamily="34" charset="-122"/>
                <a:ea typeface="微软雅黑 Light" panose="020B0502040204020203" pitchFamily="34" charset="-122"/>
              </a:rPr>
              <a:t>TCP </a:t>
            </a:r>
            <a:r>
              <a:rPr lang="zh-CN" altLang="en-US" sz="1600" b="1" dirty="0">
                <a:solidFill>
                  <a:srgbClr val="C00000"/>
                </a:solidFill>
                <a:latin typeface="微软雅黑 Light" panose="020B0502040204020203" pitchFamily="34" charset="-122"/>
                <a:ea typeface="微软雅黑 Light" panose="020B0502040204020203" pitchFamily="34" charset="-122"/>
              </a:rPr>
              <a:t>连接。</a:t>
            </a:r>
            <a:r>
              <a:rPr lang="zh-CN" altLang="en-US" sz="1600" b="1" dirty="0">
                <a:latin typeface="微软雅黑 Light" panose="020B0502040204020203" pitchFamily="34" charset="-122"/>
                <a:ea typeface="微软雅黑 Light" panose="020B0502040204020203" pitchFamily="34" charset="-122"/>
              </a:rPr>
              <a:t>所有与 </a:t>
            </a:r>
            <a:r>
              <a:rPr lang="en-US" altLang="zh-CN" sz="1600" b="1" dirty="0">
                <a:latin typeface="微软雅黑 Light" panose="020B0502040204020203" pitchFamily="34" charset="-122"/>
                <a:ea typeface="微软雅黑 Light" panose="020B0502040204020203" pitchFamily="34" charset="-122"/>
              </a:rPr>
              <a:t>A </a:t>
            </a:r>
            <a:r>
              <a:rPr lang="zh-CN" altLang="en-US" sz="1600" b="1" dirty="0">
                <a:latin typeface="微软雅黑 Light" panose="020B0502040204020203" pitchFamily="34" charset="-122"/>
                <a:ea typeface="微软雅黑 Light" panose="020B0502040204020203" pitchFamily="34" charset="-122"/>
              </a:rPr>
              <a:t>建立了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连接的对等方为</a:t>
            </a:r>
            <a:r>
              <a:rPr lang="zh-CN" altLang="en-US" sz="1600" b="1" dirty="0">
                <a:solidFill>
                  <a:srgbClr val="0000FF"/>
                </a:solidFill>
                <a:latin typeface="微软雅黑 Light" panose="020B0502040204020203" pitchFamily="34" charset="-122"/>
                <a:ea typeface="微软雅黑 Light" panose="020B0502040204020203" pitchFamily="34" charset="-122"/>
              </a:rPr>
              <a:t>相邻对等方</a:t>
            </a:r>
            <a:r>
              <a:rPr lang="en-US" altLang="zh-CN" sz="1600" b="1" dirty="0">
                <a:latin typeface="微软雅黑 Light" panose="020B0502040204020203" pitchFamily="34" charset="-122"/>
                <a:ea typeface="微软雅黑 Light" panose="020B0502040204020203" pitchFamily="34" charset="-122"/>
              </a:rPr>
              <a:t>(neighboring peers)</a:t>
            </a:r>
            <a:r>
              <a:rPr lang="zh-CN" altLang="en-US" sz="1600" b="1" dirty="0">
                <a:latin typeface="微软雅黑 Light" panose="020B0502040204020203" pitchFamily="34" charset="-122"/>
                <a:ea typeface="微软雅黑 Light" panose="020B0502040204020203" pitchFamily="34" charset="-122"/>
              </a:rPr>
              <a:t>。</a:t>
            </a:r>
          </a:p>
        </p:txBody>
      </p:sp>
      <p:sp>
        <p:nvSpPr>
          <p:cNvPr id="459" name="Text Box 457"/>
          <p:cNvSpPr txBox="1">
            <a:spLocks noChangeArrowheads="1"/>
          </p:cNvSpPr>
          <p:nvPr/>
        </p:nvSpPr>
        <p:spPr bwMode="auto">
          <a:xfrm>
            <a:off x="4876873" y="2325350"/>
            <a:ext cx="10823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交换文件块</a:t>
            </a:r>
          </a:p>
        </p:txBody>
      </p:sp>
      <p:sp>
        <p:nvSpPr>
          <p:cNvPr id="461" name="Text Box 459"/>
          <p:cNvSpPr txBox="1">
            <a:spLocks noChangeArrowheads="1"/>
          </p:cNvSpPr>
          <p:nvPr/>
        </p:nvSpPr>
        <p:spPr bwMode="auto">
          <a:xfrm>
            <a:off x="4596810" y="149141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追踪器</a:t>
            </a:r>
          </a:p>
        </p:txBody>
      </p:sp>
      <p:sp>
        <p:nvSpPr>
          <p:cNvPr id="2727" name="Line 2725"/>
          <p:cNvSpPr>
            <a:spLocks noChangeShapeType="1"/>
          </p:cNvSpPr>
          <p:nvPr/>
        </p:nvSpPr>
        <p:spPr bwMode="auto">
          <a:xfrm rot="816166">
            <a:off x="3857631" y="2991881"/>
            <a:ext cx="2015690" cy="248572"/>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728" name="Text Box 2726"/>
          <p:cNvSpPr txBox="1">
            <a:spLocks noChangeArrowheads="1"/>
          </p:cNvSpPr>
          <p:nvPr/>
        </p:nvSpPr>
        <p:spPr bwMode="auto">
          <a:xfrm>
            <a:off x="3117051" y="2325241"/>
            <a:ext cx="3064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b="1" dirty="0">
                <a:solidFill>
                  <a:sysClr val="windowText" lastClr="000000"/>
                </a:solidFill>
                <a:latin typeface="微软雅黑 Light" panose="020B0502040204020203" pitchFamily="34" charset="-122"/>
                <a:ea typeface="微软雅黑 Light" panose="020B0502040204020203" pitchFamily="34" charset="-122"/>
              </a:rPr>
              <a:t>A</a:t>
            </a:r>
            <a:endParaRPr kumimoji="1" lang="en-US" altLang="zh-CN" sz="1400" b="1" i="1"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2729" name="Line 2727"/>
          <p:cNvSpPr>
            <a:spLocks noChangeShapeType="1"/>
          </p:cNvSpPr>
          <p:nvPr/>
        </p:nvSpPr>
        <p:spPr bwMode="auto">
          <a:xfrm rot="816166" flipV="1">
            <a:off x="4034334" y="2234092"/>
            <a:ext cx="3996187" cy="821086"/>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730" name="Line 2728"/>
          <p:cNvSpPr>
            <a:spLocks noChangeShapeType="1"/>
          </p:cNvSpPr>
          <p:nvPr/>
        </p:nvSpPr>
        <p:spPr bwMode="auto">
          <a:xfrm rot="816166" flipV="1">
            <a:off x="4026584" y="1496943"/>
            <a:ext cx="2258355" cy="1194749"/>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731" name="Line 2729"/>
          <p:cNvSpPr>
            <a:spLocks noChangeShapeType="1"/>
          </p:cNvSpPr>
          <p:nvPr/>
        </p:nvSpPr>
        <p:spPr bwMode="auto">
          <a:xfrm rot="816166" flipV="1">
            <a:off x="3732390" y="1808544"/>
            <a:ext cx="370744" cy="73185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38" name="Line 3637"/>
          <p:cNvSpPr>
            <a:spLocks noChangeShapeType="1"/>
          </p:cNvSpPr>
          <p:nvPr/>
        </p:nvSpPr>
        <p:spPr bwMode="auto">
          <a:xfrm rot="816166">
            <a:off x="6476590" y="2001298"/>
            <a:ext cx="1703238" cy="1349082"/>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39" name="Line 3638"/>
          <p:cNvSpPr>
            <a:spLocks noChangeShapeType="1"/>
          </p:cNvSpPr>
          <p:nvPr/>
        </p:nvSpPr>
        <p:spPr bwMode="auto">
          <a:xfrm rot="816166" flipV="1">
            <a:off x="6866178" y="1672115"/>
            <a:ext cx="1090939" cy="107523"/>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0" name="Line 3639"/>
          <p:cNvSpPr>
            <a:spLocks noChangeShapeType="1"/>
          </p:cNvSpPr>
          <p:nvPr/>
        </p:nvSpPr>
        <p:spPr bwMode="auto">
          <a:xfrm rot="816166" flipH="1">
            <a:off x="5177790" y="1687145"/>
            <a:ext cx="1152312" cy="2142376"/>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1" name="Line 3640"/>
          <p:cNvSpPr>
            <a:spLocks noChangeShapeType="1"/>
          </p:cNvSpPr>
          <p:nvPr/>
        </p:nvSpPr>
        <p:spPr bwMode="auto">
          <a:xfrm rot="816166">
            <a:off x="6817907" y="1915140"/>
            <a:ext cx="1277756" cy="419728"/>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2" name="Line 3641"/>
          <p:cNvSpPr>
            <a:spLocks noChangeShapeType="1"/>
          </p:cNvSpPr>
          <p:nvPr/>
        </p:nvSpPr>
        <p:spPr bwMode="auto">
          <a:xfrm rot="816166" flipV="1">
            <a:off x="6338869" y="3325434"/>
            <a:ext cx="462178" cy="297134"/>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3" name="Line 3642"/>
          <p:cNvSpPr>
            <a:spLocks noChangeShapeType="1"/>
          </p:cNvSpPr>
          <p:nvPr/>
        </p:nvSpPr>
        <p:spPr bwMode="auto">
          <a:xfrm rot="816166" flipV="1">
            <a:off x="4951085" y="3622568"/>
            <a:ext cx="807871" cy="298291"/>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4" name="Line 3643"/>
          <p:cNvSpPr>
            <a:spLocks noChangeShapeType="1"/>
          </p:cNvSpPr>
          <p:nvPr/>
        </p:nvSpPr>
        <p:spPr bwMode="auto">
          <a:xfrm rot="816166">
            <a:off x="7106660" y="3585570"/>
            <a:ext cx="884274" cy="159551"/>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5" name="Line 3644"/>
          <p:cNvSpPr>
            <a:spLocks noChangeShapeType="1"/>
          </p:cNvSpPr>
          <p:nvPr/>
        </p:nvSpPr>
        <p:spPr bwMode="auto">
          <a:xfrm rot="816166" flipH="1" flipV="1">
            <a:off x="8239901" y="2975188"/>
            <a:ext cx="70846" cy="598952"/>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6" name="Line 3645"/>
          <p:cNvSpPr>
            <a:spLocks noChangeShapeType="1"/>
          </p:cNvSpPr>
          <p:nvPr/>
        </p:nvSpPr>
        <p:spPr bwMode="auto">
          <a:xfrm rot="816166" flipH="1">
            <a:off x="7388475" y="1980811"/>
            <a:ext cx="457168" cy="1152698"/>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7" name="Text Box 3646"/>
          <p:cNvSpPr txBox="1">
            <a:spLocks noChangeArrowheads="1"/>
          </p:cNvSpPr>
          <p:nvPr/>
        </p:nvSpPr>
        <p:spPr bwMode="auto">
          <a:xfrm>
            <a:off x="3270551" y="1533376"/>
            <a:ext cx="723275"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获得</a:t>
            </a:r>
          </a:p>
          <a:p>
            <a:pPr algn="ctr"/>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对等方</a:t>
            </a:r>
          </a:p>
          <a:p>
            <a:pPr algn="ctr"/>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列表</a:t>
            </a: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26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795984" y="575054"/>
            <a:ext cx="557075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相邻关系是逻辑的，对等方的数目是动态变化的</a:t>
            </a:r>
          </a:p>
        </p:txBody>
      </p:sp>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TCP </a:t>
              </a:r>
              <a:r>
                <a:rPr lang="zh-CN" altLang="en-US" sz="1100" b="1"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b="1"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A</a:t>
              </a:r>
              <a:endParaRPr lang="en-US" altLang="zh-CN" sz="1100" b="1"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D</a:t>
              </a:r>
              <a:endParaRPr lang="en-US" altLang="zh-CN" sz="1100" b="1"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C</a:t>
              </a:r>
              <a:endParaRPr lang="en-US" altLang="zh-CN" sz="1100" b="1"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dirty="0">
                  <a:solidFill>
                    <a:srgbClr val="0000CC"/>
                  </a:solidFill>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A</a:t>
              </a:r>
              <a:endParaRPr lang="en-US" altLang="zh-CN" sz="1100" b="1"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C</a:t>
              </a:r>
              <a:endParaRPr lang="en-US" altLang="zh-CN" sz="1100" b="1"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B</a:t>
              </a:r>
              <a:endParaRPr lang="en-US" altLang="zh-CN" sz="1100" b="1"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D</a:t>
              </a:r>
            </a:p>
          </p:txBody>
        </p:sp>
      </p:gr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Rectangle 303"/>
          <p:cNvSpPr>
            <a:spLocks noChangeArrowheads="1"/>
          </p:cNvSpPr>
          <p:nvPr/>
        </p:nvSpPr>
        <p:spPr bwMode="auto">
          <a:xfrm>
            <a:off x="2187660" y="2517488"/>
            <a:ext cx="1905000" cy="348480"/>
          </a:xfrm>
          <a:prstGeom prst="rect">
            <a:avLst/>
          </a:prstGeom>
          <a:solidFill>
            <a:schemeClr val="bg1"/>
          </a:solidFill>
          <a:ln w="9525">
            <a:solidFill>
              <a:srgbClr val="00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5" name="Rectangle 304"/>
          <p:cNvSpPr>
            <a:spLocks noChangeArrowheads="1"/>
          </p:cNvSpPr>
          <p:nvPr/>
        </p:nvSpPr>
        <p:spPr bwMode="auto">
          <a:xfrm>
            <a:off x="5003878" y="2517488"/>
            <a:ext cx="1905000" cy="348480"/>
          </a:xfrm>
          <a:prstGeom prst="rect">
            <a:avLst/>
          </a:prstGeom>
          <a:solidFill>
            <a:schemeClr val="bg1"/>
          </a:solidFill>
          <a:ln w="9525">
            <a:solidFill>
              <a:srgbClr val="00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6" name="Rectangle 305"/>
          <p:cNvSpPr>
            <a:spLocks noChangeArrowheads="1"/>
          </p:cNvSpPr>
          <p:nvPr/>
        </p:nvSpPr>
        <p:spPr bwMode="auto">
          <a:xfrm>
            <a:off x="3597275" y="3548100"/>
            <a:ext cx="1905000" cy="348480"/>
          </a:xfrm>
          <a:prstGeom prst="rect">
            <a:avLst/>
          </a:prstGeom>
          <a:solidFill>
            <a:schemeClr val="bg1"/>
          </a:solidFill>
          <a:ln w="9525">
            <a:solidFill>
              <a:srgbClr val="00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0" name="Rectangle 305"/>
          <p:cNvSpPr>
            <a:spLocks noChangeArrowheads="1"/>
          </p:cNvSpPr>
          <p:nvPr/>
        </p:nvSpPr>
        <p:spPr bwMode="auto">
          <a:xfrm>
            <a:off x="3651250" y="1640470"/>
            <a:ext cx="1905000" cy="348480"/>
          </a:xfrm>
          <a:prstGeom prst="rect">
            <a:avLst/>
          </a:prstGeom>
          <a:solidFill>
            <a:schemeClr val="bg1"/>
          </a:solidFill>
          <a:ln w="9525">
            <a:solidFill>
              <a:srgbClr val="00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 name="AutoShape 5"/>
          <p:cNvSpPr>
            <a:spLocks noChangeArrowheads="1"/>
          </p:cNvSpPr>
          <p:nvPr/>
        </p:nvSpPr>
        <p:spPr bwMode="auto">
          <a:xfrm>
            <a:off x="556963" y="60826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93660" y="575054"/>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对等方之间互相传送文件数据块</a:t>
            </a:r>
          </a:p>
        </p:txBody>
      </p:sp>
      <p:sp>
        <p:nvSpPr>
          <p:cNvPr id="32" name="Rectangle 260"/>
          <p:cNvSpPr>
            <a:spLocks noChangeArrowheads="1"/>
          </p:cNvSpPr>
          <p:nvPr/>
        </p:nvSpPr>
        <p:spPr bwMode="auto">
          <a:xfrm>
            <a:off x="234006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3" name="Rectangle 261"/>
          <p:cNvSpPr>
            <a:spLocks noChangeArrowheads="1"/>
          </p:cNvSpPr>
          <p:nvPr/>
        </p:nvSpPr>
        <p:spPr bwMode="auto">
          <a:xfrm>
            <a:off x="264486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4" name="Rectangle 262"/>
          <p:cNvSpPr>
            <a:spLocks noChangeArrowheads="1"/>
          </p:cNvSpPr>
          <p:nvPr/>
        </p:nvSpPr>
        <p:spPr bwMode="auto">
          <a:xfrm>
            <a:off x="2743285"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5" name="Rectangle 263"/>
          <p:cNvSpPr>
            <a:spLocks noChangeArrowheads="1"/>
          </p:cNvSpPr>
          <p:nvPr/>
        </p:nvSpPr>
        <p:spPr bwMode="auto">
          <a:xfrm>
            <a:off x="294966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6" name="Rectangle 265"/>
          <p:cNvSpPr>
            <a:spLocks noChangeArrowheads="1"/>
          </p:cNvSpPr>
          <p:nvPr/>
        </p:nvSpPr>
        <p:spPr bwMode="auto">
          <a:xfrm>
            <a:off x="321001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7" name="Rectangle 266"/>
          <p:cNvSpPr>
            <a:spLocks noChangeArrowheads="1"/>
          </p:cNvSpPr>
          <p:nvPr/>
        </p:nvSpPr>
        <p:spPr bwMode="auto">
          <a:xfrm>
            <a:off x="340686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8" name="Rectangle 267"/>
          <p:cNvSpPr>
            <a:spLocks noChangeArrowheads="1"/>
          </p:cNvSpPr>
          <p:nvPr/>
        </p:nvSpPr>
        <p:spPr bwMode="auto">
          <a:xfrm>
            <a:off x="3803735"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9" name="Rectangle 268"/>
          <p:cNvSpPr>
            <a:spLocks noChangeArrowheads="1"/>
          </p:cNvSpPr>
          <p:nvPr/>
        </p:nvSpPr>
        <p:spPr bwMode="auto">
          <a:xfrm>
            <a:off x="5048328"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0" name="Rectangle 269"/>
          <p:cNvSpPr>
            <a:spLocks noChangeArrowheads="1"/>
          </p:cNvSpPr>
          <p:nvPr/>
        </p:nvSpPr>
        <p:spPr bwMode="auto">
          <a:xfrm>
            <a:off x="5227715"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1" name="Rectangle 270"/>
          <p:cNvSpPr>
            <a:spLocks noChangeArrowheads="1"/>
          </p:cNvSpPr>
          <p:nvPr/>
        </p:nvSpPr>
        <p:spPr bwMode="auto">
          <a:xfrm>
            <a:off x="5765878"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2" name="Rectangle 271"/>
          <p:cNvSpPr>
            <a:spLocks noChangeArrowheads="1"/>
          </p:cNvSpPr>
          <p:nvPr/>
        </p:nvSpPr>
        <p:spPr bwMode="auto">
          <a:xfrm>
            <a:off x="620879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3" name="Rectangle 272"/>
          <p:cNvSpPr>
            <a:spLocks noChangeArrowheads="1"/>
          </p:cNvSpPr>
          <p:nvPr/>
        </p:nvSpPr>
        <p:spPr bwMode="auto">
          <a:xfrm>
            <a:off x="647549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4" name="Rectangle 273"/>
          <p:cNvSpPr>
            <a:spLocks noChangeArrowheads="1"/>
          </p:cNvSpPr>
          <p:nvPr/>
        </p:nvSpPr>
        <p:spPr bwMode="auto">
          <a:xfrm>
            <a:off x="6637415"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5" name="Rectangle 274"/>
          <p:cNvSpPr>
            <a:spLocks noChangeArrowheads="1"/>
          </p:cNvSpPr>
          <p:nvPr/>
        </p:nvSpPr>
        <p:spPr bwMode="auto">
          <a:xfrm>
            <a:off x="6731078"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6" name="Rectangle 275"/>
          <p:cNvSpPr>
            <a:spLocks noChangeArrowheads="1"/>
          </p:cNvSpPr>
          <p:nvPr/>
        </p:nvSpPr>
        <p:spPr bwMode="auto">
          <a:xfrm>
            <a:off x="3749675"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7" name="Rectangle 276"/>
          <p:cNvSpPr>
            <a:spLocks noChangeArrowheads="1"/>
          </p:cNvSpPr>
          <p:nvPr/>
        </p:nvSpPr>
        <p:spPr bwMode="auto">
          <a:xfrm>
            <a:off x="4064000"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8" name="Rectangle 277"/>
          <p:cNvSpPr>
            <a:spLocks noChangeArrowheads="1"/>
          </p:cNvSpPr>
          <p:nvPr/>
        </p:nvSpPr>
        <p:spPr bwMode="auto">
          <a:xfrm>
            <a:off x="4359275"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9" name="Rectangle 278"/>
          <p:cNvSpPr>
            <a:spLocks noChangeArrowheads="1"/>
          </p:cNvSpPr>
          <p:nvPr/>
        </p:nvSpPr>
        <p:spPr bwMode="auto">
          <a:xfrm>
            <a:off x="3641725"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0" name="Rectangle 279"/>
          <p:cNvSpPr>
            <a:spLocks noChangeArrowheads="1"/>
          </p:cNvSpPr>
          <p:nvPr/>
        </p:nvSpPr>
        <p:spPr bwMode="auto">
          <a:xfrm>
            <a:off x="4764088"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1" name="Rectangle 280"/>
          <p:cNvSpPr>
            <a:spLocks noChangeArrowheads="1"/>
          </p:cNvSpPr>
          <p:nvPr/>
        </p:nvSpPr>
        <p:spPr bwMode="auto">
          <a:xfrm>
            <a:off x="4937125"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2" name="Rectangle 281"/>
          <p:cNvSpPr>
            <a:spLocks noChangeArrowheads="1"/>
          </p:cNvSpPr>
          <p:nvPr/>
        </p:nvSpPr>
        <p:spPr bwMode="auto">
          <a:xfrm>
            <a:off x="5213350"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3" name="Text Box 284"/>
          <p:cNvSpPr txBox="1">
            <a:spLocks noChangeArrowheads="1"/>
          </p:cNvSpPr>
          <p:nvPr/>
        </p:nvSpPr>
        <p:spPr bwMode="auto">
          <a:xfrm>
            <a:off x="1197060" y="2547070"/>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对等方 </a:t>
            </a:r>
            <a:r>
              <a:rPr lang="en-US" altLang="zh-CN" sz="1200" b="1" dirty="0">
                <a:latin typeface="微软雅黑 Light" panose="020B0502040204020203" pitchFamily="34" charset="-122"/>
                <a:ea typeface="微软雅黑 Light" panose="020B0502040204020203" pitchFamily="34" charset="-122"/>
              </a:rPr>
              <a:t>A</a:t>
            </a:r>
          </a:p>
        </p:txBody>
      </p:sp>
      <p:sp>
        <p:nvSpPr>
          <p:cNvPr id="54" name="Text Box 287"/>
          <p:cNvSpPr txBox="1">
            <a:spLocks noChangeArrowheads="1"/>
          </p:cNvSpPr>
          <p:nvPr/>
        </p:nvSpPr>
        <p:spPr bwMode="auto">
          <a:xfrm>
            <a:off x="6919990" y="2515320"/>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对等方 </a:t>
            </a:r>
            <a:r>
              <a:rPr lang="en-US" altLang="zh-CN" sz="1200" b="1" dirty="0">
                <a:latin typeface="微软雅黑 Light" panose="020B0502040204020203" pitchFamily="34" charset="-122"/>
                <a:ea typeface="微软雅黑 Light" panose="020B0502040204020203" pitchFamily="34" charset="-122"/>
              </a:rPr>
              <a:t>C</a:t>
            </a:r>
          </a:p>
        </p:txBody>
      </p:sp>
      <p:sp>
        <p:nvSpPr>
          <p:cNvPr id="55" name="Text Box 290"/>
          <p:cNvSpPr txBox="1">
            <a:spLocks noChangeArrowheads="1"/>
          </p:cNvSpPr>
          <p:nvPr/>
        </p:nvSpPr>
        <p:spPr bwMode="auto">
          <a:xfrm>
            <a:off x="2584450" y="3640140"/>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对等方 </a:t>
            </a:r>
            <a:r>
              <a:rPr lang="en-US" altLang="zh-CN" sz="1200" b="1" dirty="0">
                <a:latin typeface="微软雅黑 Light" panose="020B0502040204020203" pitchFamily="34" charset="-122"/>
                <a:ea typeface="微软雅黑 Light" panose="020B0502040204020203" pitchFamily="34" charset="-122"/>
              </a:rPr>
              <a:t>D</a:t>
            </a:r>
          </a:p>
        </p:txBody>
      </p:sp>
      <p:sp>
        <p:nvSpPr>
          <p:cNvPr id="56" name="Text Box 293"/>
          <p:cNvSpPr txBox="1">
            <a:spLocks noChangeArrowheads="1"/>
          </p:cNvSpPr>
          <p:nvPr/>
        </p:nvSpPr>
        <p:spPr bwMode="auto">
          <a:xfrm>
            <a:off x="4065588" y="1322390"/>
            <a:ext cx="79861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对等方 </a:t>
            </a:r>
            <a:r>
              <a:rPr lang="en-US" altLang="zh-CN" sz="1200" b="1" dirty="0">
                <a:latin typeface="微软雅黑 Light" panose="020B0502040204020203" pitchFamily="34" charset="-122"/>
                <a:ea typeface="微软雅黑 Light" panose="020B0502040204020203" pitchFamily="34" charset="-122"/>
              </a:rPr>
              <a:t>B</a:t>
            </a:r>
          </a:p>
        </p:txBody>
      </p:sp>
      <p:sp>
        <p:nvSpPr>
          <p:cNvPr id="57" name="Line 294"/>
          <p:cNvSpPr>
            <a:spLocks noChangeShapeType="1"/>
          </p:cNvSpPr>
          <p:nvPr/>
        </p:nvSpPr>
        <p:spPr bwMode="auto">
          <a:xfrm>
            <a:off x="4565650" y="1988950"/>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8" name="Line 295"/>
          <p:cNvSpPr>
            <a:spLocks noChangeShapeType="1"/>
          </p:cNvSpPr>
          <p:nvPr/>
        </p:nvSpPr>
        <p:spPr bwMode="auto">
          <a:xfrm flipH="1">
            <a:off x="3263984" y="2005928"/>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9" name="Line 296"/>
          <p:cNvSpPr>
            <a:spLocks noChangeShapeType="1"/>
          </p:cNvSpPr>
          <p:nvPr/>
        </p:nvSpPr>
        <p:spPr bwMode="auto">
          <a:xfrm>
            <a:off x="5327650" y="2005928"/>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0" name="Line 298"/>
          <p:cNvSpPr>
            <a:spLocks noChangeShapeType="1"/>
          </p:cNvSpPr>
          <p:nvPr/>
        </p:nvSpPr>
        <p:spPr bwMode="auto">
          <a:xfrm flipH="1">
            <a:off x="4087869" y="2704525"/>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1" name="Line 300"/>
          <p:cNvSpPr>
            <a:spLocks noChangeShapeType="1"/>
          </p:cNvSpPr>
          <p:nvPr/>
        </p:nvSpPr>
        <p:spPr bwMode="auto">
          <a:xfrm flipH="1" flipV="1">
            <a:off x="3263983" y="2865968"/>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2" name="Line 301"/>
          <p:cNvSpPr>
            <a:spLocks noChangeShapeType="1"/>
          </p:cNvSpPr>
          <p:nvPr/>
        </p:nvSpPr>
        <p:spPr bwMode="auto">
          <a:xfrm flipV="1">
            <a:off x="5099050" y="2865968"/>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3" name="Line 302"/>
          <p:cNvSpPr>
            <a:spLocks noChangeShapeType="1"/>
          </p:cNvSpPr>
          <p:nvPr/>
        </p:nvSpPr>
        <p:spPr bwMode="auto">
          <a:xfrm flipH="1">
            <a:off x="5335665" y="2865968"/>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7" name="Rectangle 306"/>
          <p:cNvSpPr>
            <a:spLocks noChangeArrowheads="1"/>
          </p:cNvSpPr>
          <p:nvPr/>
        </p:nvSpPr>
        <p:spPr bwMode="auto">
          <a:xfrm>
            <a:off x="7002463" y="172726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8" name="Text Box 307"/>
          <p:cNvSpPr txBox="1">
            <a:spLocks noChangeArrowheads="1"/>
          </p:cNvSpPr>
          <p:nvPr/>
        </p:nvSpPr>
        <p:spPr bwMode="auto">
          <a:xfrm>
            <a:off x="7232650" y="1727260"/>
            <a:ext cx="6463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数据块</a:t>
            </a:r>
          </a:p>
        </p:txBody>
      </p:sp>
      <p:sp>
        <p:nvSpPr>
          <p:cNvPr id="69" name="Text Box 308"/>
          <p:cNvSpPr txBox="1">
            <a:spLocks noChangeArrowheads="1"/>
          </p:cNvSpPr>
          <p:nvPr/>
        </p:nvSpPr>
        <p:spPr bwMode="auto">
          <a:xfrm>
            <a:off x="7232650" y="1346260"/>
            <a:ext cx="6463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图例：</a:t>
            </a:r>
          </a:p>
        </p:txBody>
      </p:sp>
      <p:sp>
        <p:nvSpPr>
          <p:cNvPr id="70" name="Line 310"/>
          <p:cNvSpPr>
            <a:spLocks noChangeShapeType="1"/>
          </p:cNvSpPr>
          <p:nvPr/>
        </p:nvSpPr>
        <p:spPr bwMode="auto">
          <a:xfrm>
            <a:off x="6875463" y="2216210"/>
            <a:ext cx="304800"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1" name="Text Box 311"/>
          <p:cNvSpPr txBox="1">
            <a:spLocks noChangeArrowheads="1"/>
          </p:cNvSpPr>
          <p:nvPr/>
        </p:nvSpPr>
        <p:spPr bwMode="auto">
          <a:xfrm>
            <a:off x="7156451" y="2063590"/>
            <a:ext cx="112570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数据块传送</a:t>
            </a:r>
          </a:p>
        </p:txBody>
      </p:sp>
      <p:sp>
        <p:nvSpPr>
          <p:cNvPr id="72" name="矩形 71"/>
          <p:cNvSpPr/>
          <p:nvPr/>
        </p:nvSpPr>
        <p:spPr>
          <a:xfrm>
            <a:off x="6775450" y="1651060"/>
            <a:ext cx="1600200" cy="685800"/>
          </a:xfrm>
          <a:prstGeom prst="rect">
            <a:avLst/>
          </a:prstGeom>
          <a:noFill/>
          <a:ln w="12700" cap="flat" cmpd="sng" algn="ctr">
            <a:solidFill>
              <a:schemeClr val="tx1"/>
            </a:solidFill>
            <a:prstDash val="solid"/>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rgbClr val="FFFFFF"/>
              </a:solidFill>
              <a:effectLst/>
              <a:uLnTx/>
              <a:uFillTx/>
              <a:latin typeface="微软雅黑 Light" panose="020B0502040204020203" pitchFamily="34" charset="-122"/>
              <a:ea typeface="微软雅黑 Light" panose="020B0502040204020203" pitchFamily="34" charset="-122"/>
            </a:endParaRPr>
          </a:p>
        </p:txBody>
      </p:sp>
      <p:sp>
        <p:nvSpPr>
          <p:cNvPr id="73" name="Rectangle 275"/>
          <p:cNvSpPr>
            <a:spLocks noChangeArrowheads="1"/>
          </p:cNvSpPr>
          <p:nvPr/>
        </p:nvSpPr>
        <p:spPr bwMode="auto">
          <a:xfrm>
            <a:off x="400050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4" name="Rectangle 276"/>
          <p:cNvSpPr>
            <a:spLocks noChangeArrowheads="1"/>
          </p:cNvSpPr>
          <p:nvPr/>
        </p:nvSpPr>
        <p:spPr bwMode="auto">
          <a:xfrm>
            <a:off x="4117975"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5" name="Rectangle 277"/>
          <p:cNvSpPr>
            <a:spLocks noChangeArrowheads="1"/>
          </p:cNvSpPr>
          <p:nvPr/>
        </p:nvSpPr>
        <p:spPr bwMode="auto">
          <a:xfrm>
            <a:off x="464185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6" name="Rectangle 278"/>
          <p:cNvSpPr>
            <a:spLocks noChangeArrowheads="1"/>
          </p:cNvSpPr>
          <p:nvPr/>
        </p:nvSpPr>
        <p:spPr bwMode="auto">
          <a:xfrm>
            <a:off x="369570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7" name="Rectangle 279"/>
          <p:cNvSpPr>
            <a:spLocks noChangeArrowheads="1"/>
          </p:cNvSpPr>
          <p:nvPr/>
        </p:nvSpPr>
        <p:spPr bwMode="auto">
          <a:xfrm>
            <a:off x="4818063"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8" name="Rectangle 280"/>
          <p:cNvSpPr>
            <a:spLocks noChangeArrowheads="1"/>
          </p:cNvSpPr>
          <p:nvPr/>
        </p:nvSpPr>
        <p:spPr bwMode="auto">
          <a:xfrm>
            <a:off x="491490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9" name="Rectangle 281"/>
          <p:cNvSpPr>
            <a:spLocks noChangeArrowheads="1"/>
          </p:cNvSpPr>
          <p:nvPr/>
        </p:nvSpPr>
        <p:spPr bwMode="auto">
          <a:xfrm>
            <a:off x="5267325"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1" name="Rectangle 278"/>
          <p:cNvSpPr>
            <a:spLocks noChangeArrowheads="1"/>
          </p:cNvSpPr>
          <p:nvPr/>
        </p:nvSpPr>
        <p:spPr bwMode="auto">
          <a:xfrm>
            <a:off x="380365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2" name="Rectangle 278"/>
          <p:cNvSpPr>
            <a:spLocks noChangeArrowheads="1"/>
          </p:cNvSpPr>
          <p:nvPr/>
        </p:nvSpPr>
        <p:spPr bwMode="auto">
          <a:xfrm>
            <a:off x="422910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3" name="Rectangle 278"/>
          <p:cNvSpPr>
            <a:spLocks noChangeArrowheads="1"/>
          </p:cNvSpPr>
          <p:nvPr/>
        </p:nvSpPr>
        <p:spPr bwMode="auto">
          <a:xfrm>
            <a:off x="433705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4" name="Rectangle 269"/>
          <p:cNvSpPr>
            <a:spLocks noChangeArrowheads="1"/>
          </p:cNvSpPr>
          <p:nvPr/>
        </p:nvSpPr>
        <p:spPr bwMode="auto">
          <a:xfrm>
            <a:off x="5380115"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5" name="Rectangle 281"/>
          <p:cNvSpPr>
            <a:spLocks noChangeArrowheads="1"/>
          </p:cNvSpPr>
          <p:nvPr/>
        </p:nvSpPr>
        <p:spPr bwMode="auto">
          <a:xfrm>
            <a:off x="509905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6" name="Rectangle 281"/>
          <p:cNvSpPr>
            <a:spLocks noChangeArrowheads="1"/>
          </p:cNvSpPr>
          <p:nvPr/>
        </p:nvSpPr>
        <p:spPr bwMode="auto">
          <a:xfrm>
            <a:off x="5419725"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7" name="Rectangle 270"/>
          <p:cNvSpPr>
            <a:spLocks noChangeArrowheads="1"/>
          </p:cNvSpPr>
          <p:nvPr/>
        </p:nvSpPr>
        <p:spPr bwMode="auto">
          <a:xfrm>
            <a:off x="5918278"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8" name="Rectangle 277"/>
          <p:cNvSpPr>
            <a:spLocks noChangeArrowheads="1"/>
          </p:cNvSpPr>
          <p:nvPr/>
        </p:nvSpPr>
        <p:spPr bwMode="auto">
          <a:xfrm>
            <a:off x="448945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9" name="Rectangle 281"/>
          <p:cNvSpPr>
            <a:spLocks noChangeArrowheads="1"/>
          </p:cNvSpPr>
          <p:nvPr/>
        </p:nvSpPr>
        <p:spPr bwMode="auto">
          <a:xfrm>
            <a:off x="5327650"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3" name="AutoShape 5"/>
          <p:cNvSpPr>
            <a:spLocks noChangeArrowheads="1"/>
          </p:cNvSpPr>
          <p:nvPr/>
        </p:nvSpPr>
        <p:spPr bwMode="auto">
          <a:xfrm>
            <a:off x="556963" y="61216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784" name="Rectangle 6"/>
          <p:cNvSpPr>
            <a:spLocks noChangeArrowheads="1"/>
          </p:cNvSpPr>
          <p:nvPr/>
        </p:nvSpPr>
        <p:spPr bwMode="auto">
          <a:xfrm>
            <a:off x="4030179" y="578951"/>
            <a:ext cx="110235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BT </a:t>
            </a:r>
            <a:r>
              <a:rPr lang="zh-CN" altLang="en-US" sz="2000" b="1" dirty="0">
                <a:solidFill>
                  <a:schemeClr val="bg1"/>
                </a:solidFill>
                <a:latin typeface="微软雅黑 Light" panose="020B0502040204020203" pitchFamily="34" charset="-122"/>
                <a:ea typeface="微软雅黑 Light" panose="020B0502040204020203" pitchFamily="34" charset="-122"/>
              </a:rPr>
              <a:t>协议</a:t>
            </a:r>
          </a:p>
        </p:txBody>
      </p:sp>
      <p:sp>
        <p:nvSpPr>
          <p:cNvPr id="2785" name="Rectangle 68"/>
          <p:cNvSpPr>
            <a:spLocks noChangeArrowheads="1"/>
          </p:cNvSpPr>
          <p:nvPr/>
        </p:nvSpPr>
        <p:spPr bwMode="auto">
          <a:xfrm>
            <a:off x="556963" y="963310"/>
            <a:ext cx="8048776"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问题：</a:t>
            </a:r>
            <a:r>
              <a:rPr lang="zh-CN" altLang="en-US" sz="2000" b="1" dirty="0">
                <a:latin typeface="微软雅黑 Light" panose="020B0502040204020203" pitchFamily="34" charset="-122"/>
                <a:ea typeface="微软雅黑 Light" panose="020B0502040204020203" pitchFamily="34" charset="-122"/>
              </a:rPr>
              <a:t>哪些文件块是</a:t>
            </a:r>
            <a:r>
              <a:rPr lang="zh-CN" altLang="en-US" sz="2000" b="1" dirty="0">
                <a:solidFill>
                  <a:srgbClr val="0000FF"/>
                </a:solidFill>
                <a:latin typeface="微软雅黑 Light" panose="020B0502040204020203" pitchFamily="34" charset="-122"/>
                <a:ea typeface="微软雅黑 Light" panose="020B0502040204020203" pitchFamily="34" charset="-122"/>
              </a:rPr>
              <a:t>首先</a:t>
            </a:r>
            <a:r>
              <a:rPr lang="zh-CN" altLang="en-US" sz="2000" b="1" dirty="0">
                <a:latin typeface="微软雅黑 Light" panose="020B0502040204020203" pitchFamily="34" charset="-122"/>
                <a:ea typeface="微软雅黑 Light" panose="020B0502040204020203" pitchFamily="34" charset="-122"/>
              </a:rPr>
              <a:t>需要</a:t>
            </a:r>
            <a:r>
              <a:rPr lang="zh-CN" altLang="en-US" sz="2000" b="1" dirty="0">
                <a:solidFill>
                  <a:srgbClr val="0000FF"/>
                </a:solidFill>
                <a:latin typeface="微软雅黑 Light" panose="020B0502040204020203" pitchFamily="34" charset="-122"/>
                <a:ea typeface="微软雅黑 Light" panose="020B0502040204020203" pitchFamily="34" charset="-122"/>
              </a:rPr>
              <a:t>向其相邻</a:t>
            </a:r>
            <a:r>
              <a:rPr lang="zh-CN" altLang="en-US" sz="2000" b="1" dirty="0">
                <a:latin typeface="微软雅黑 Light" panose="020B0502040204020203" pitchFamily="34" charset="-122"/>
                <a:ea typeface="微软雅黑 Light" panose="020B0502040204020203" pitchFamily="34" charset="-122"/>
              </a:rPr>
              <a:t>对等方请求的？</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方法：</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最稀有的优先 </a:t>
            </a:r>
            <a:r>
              <a:rPr lang="en-US" altLang="zh-CN" sz="2000" b="1" dirty="0">
                <a:latin typeface="微软雅黑 Light" panose="020B0502040204020203" pitchFamily="34" charset="-122"/>
                <a:ea typeface="微软雅黑 Light" panose="020B0502040204020203" pitchFamily="34" charset="-122"/>
              </a:rPr>
              <a:t>(rarest first) </a:t>
            </a:r>
            <a:r>
              <a:rPr lang="zh-CN" altLang="en-US" sz="2000" b="1" dirty="0">
                <a:latin typeface="微软雅黑 Light" panose="020B0502040204020203" pitchFamily="34" charset="-122"/>
                <a:ea typeface="微软雅黑 Light" panose="020B0502040204020203" pitchFamily="34" charset="-122"/>
              </a:rPr>
              <a:t>的技术，首先向其相邻对等方请求对应的文件块。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solidFill>
                  <a:srgbClr val="CC00CC"/>
                </a:solidFill>
                <a:latin typeface="微软雅黑 Light" panose="020B0502040204020203" pitchFamily="34" charset="-122"/>
                <a:ea typeface="微软雅黑 Light" panose="020B0502040204020203" pitchFamily="34" charset="-122"/>
              </a:rPr>
              <a:t>稀有：</a:t>
            </a:r>
            <a:r>
              <a:rPr lang="zh-CN" altLang="en-US" sz="2000" b="1" dirty="0">
                <a:latin typeface="微软雅黑 Light" panose="020B0502040204020203" pitchFamily="34" charset="-122"/>
                <a:ea typeface="微软雅黑 Light" panose="020B0502040204020203" pitchFamily="34" charset="-122"/>
              </a:rPr>
              <a:t>如果 </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所缺少的文件块在相邻对等方中的副本很少，那就是“很稀有的”。</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问题：</a:t>
            </a:r>
            <a:r>
              <a:rPr lang="zh-CN" altLang="en-US" sz="2000" b="1" dirty="0">
                <a:latin typeface="微软雅黑 Light" panose="020B0502040204020203" pitchFamily="34" charset="-122"/>
                <a:ea typeface="微软雅黑 Light" panose="020B0502040204020203" pitchFamily="34" charset="-122"/>
              </a:rPr>
              <a:t>在很多向 </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请求文件块的相邻对等方中，</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应当向哪些相邻对等方发送所请求的文件块？</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方法：</a:t>
            </a:r>
            <a:r>
              <a:rPr lang="zh-CN" altLang="en-US" sz="2000" b="1" dirty="0">
                <a:latin typeface="微软雅黑 Light" panose="020B0502040204020203" pitchFamily="34" charset="-122"/>
                <a:ea typeface="微软雅黑 Light" panose="020B0502040204020203" pitchFamily="34" charset="-122"/>
              </a:rPr>
              <a:t>凡当前以</a:t>
            </a:r>
            <a:r>
              <a:rPr lang="zh-CN" altLang="en-US" sz="2000" b="1" dirty="0">
                <a:solidFill>
                  <a:srgbClr val="C00000"/>
                </a:solidFill>
                <a:latin typeface="微软雅黑 Light" panose="020B0502040204020203" pitchFamily="34" charset="-122"/>
                <a:ea typeface="微软雅黑 Light" panose="020B0502040204020203" pitchFamily="34" charset="-122"/>
              </a:rPr>
              <a:t>最高数据率</a:t>
            </a:r>
            <a:r>
              <a:rPr lang="zh-CN" altLang="en-US" sz="2000" b="1" dirty="0">
                <a:latin typeface="微软雅黑 Light" panose="020B0502040204020203" pitchFamily="34" charset="-122"/>
                <a:ea typeface="微软雅黑 Light" panose="020B0502040204020203" pitchFamily="34" charset="-122"/>
              </a:rPr>
              <a:t>向 </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传送文件块的某相邻对等方，</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就</a:t>
            </a:r>
            <a:r>
              <a:rPr lang="zh-CN" altLang="en-US" sz="2000" b="1" dirty="0">
                <a:solidFill>
                  <a:srgbClr val="C00000"/>
                </a:solidFill>
                <a:latin typeface="微软雅黑 Light" panose="020B0502040204020203" pitchFamily="34" charset="-122"/>
                <a:ea typeface="微软雅黑 Light" panose="020B0502040204020203" pitchFamily="34" charset="-122"/>
              </a:rPr>
              <a:t>优先</a:t>
            </a:r>
            <a:r>
              <a:rPr lang="zh-CN" altLang="en-US" sz="2000" b="1" dirty="0">
                <a:latin typeface="微软雅黑 Light" panose="020B0502040204020203" pitchFamily="34" charset="-122"/>
                <a:ea typeface="微软雅黑 Light" panose="020B0502040204020203" pitchFamily="34" charset="-122"/>
              </a:rPr>
              <a:t>把所请求的文件块传送给该相邻对等方。</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278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85">
                                            <p:txEl>
                                              <p:pRg st="1" end="1"/>
                                            </p:txEl>
                                          </p:spTgt>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grpId="0" nodeType="afterEffect">
                                  <p:stCondLst>
                                    <p:cond delay="0"/>
                                  </p:stCondLst>
                                  <p:childTnLst>
                                    <p:set>
                                      <p:cBhvr>
                                        <p:cTn id="13" dur="1" fill="hold">
                                          <p:stCondLst>
                                            <p:cond delay="0"/>
                                          </p:stCondLst>
                                        </p:cTn>
                                        <p:tgtEl>
                                          <p:spTgt spid="2785">
                                            <p:txEl>
                                              <p:pRg st="2" end="2"/>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785">
                                            <p:txEl>
                                              <p:pRg st="3" end="3"/>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278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85" grpId="0" uiExpand="1" build="p"/>
    </p:bld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AutoShape 5"/>
          <p:cNvSpPr>
            <a:spLocks noChangeArrowheads="1"/>
          </p:cNvSpPr>
          <p:nvPr/>
        </p:nvSpPr>
        <p:spPr bwMode="auto">
          <a:xfrm>
            <a:off x="556963" y="60857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4" name="Rectangle 6"/>
          <p:cNvSpPr>
            <a:spLocks noChangeArrowheads="1"/>
          </p:cNvSpPr>
          <p:nvPr/>
        </p:nvSpPr>
        <p:spPr bwMode="auto">
          <a:xfrm>
            <a:off x="2596943" y="566304"/>
            <a:ext cx="395012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6.9.3  P2P </a:t>
            </a:r>
            <a:r>
              <a:rPr lang="zh-CN" altLang="en-US" sz="2400" b="1" dirty="0">
                <a:solidFill>
                  <a:schemeClr val="bg1"/>
                </a:solidFill>
                <a:latin typeface="微软雅黑 Light" panose="020B0502040204020203" pitchFamily="34" charset="-122"/>
                <a:ea typeface="微软雅黑 Light" panose="020B0502040204020203" pitchFamily="34" charset="-122"/>
              </a:rPr>
              <a:t>文件分发的分析</a:t>
            </a:r>
          </a:p>
        </p:txBody>
      </p:sp>
      <p:sp>
        <p:nvSpPr>
          <p:cNvPr id="15" name="Rectangle 68"/>
          <p:cNvSpPr>
            <a:spLocks noChangeArrowheads="1"/>
          </p:cNvSpPr>
          <p:nvPr/>
        </p:nvSpPr>
        <p:spPr bwMode="auto">
          <a:xfrm>
            <a:off x="556963" y="1021080"/>
            <a:ext cx="8048776"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buClr>
                <a:srgbClr val="0070C0"/>
              </a:buClr>
            </a:pPr>
            <a:r>
              <a:rPr lang="zh-CN" altLang="en-US" sz="2000" b="1" dirty="0">
                <a:latin typeface="微软雅黑 Light" panose="020B0502040204020203" pitchFamily="34" charset="-122"/>
                <a:ea typeface="微软雅黑 Light" panose="020B0502040204020203" pitchFamily="34" charset="-122"/>
              </a:rPr>
              <a:t>一些概念：</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从互联网传送数据到主机，叫做</a:t>
            </a:r>
            <a:r>
              <a:rPr lang="zh-CN" altLang="en-US" sz="2000" b="1" dirty="0">
                <a:solidFill>
                  <a:srgbClr val="C00000"/>
                </a:solidFill>
                <a:latin typeface="微软雅黑 Light" panose="020B0502040204020203" pitchFamily="34" charset="-122"/>
                <a:ea typeface="微软雅黑 Light" panose="020B0502040204020203" pitchFamily="34" charset="-122"/>
              </a:rPr>
              <a:t>下载</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(download)</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从主机向互联网传送，则称为</a:t>
            </a:r>
            <a:r>
              <a:rPr lang="zh-CN" altLang="en-US" sz="2000" b="1" dirty="0">
                <a:solidFill>
                  <a:srgbClr val="C00000"/>
                </a:solidFill>
                <a:latin typeface="微软雅黑 Light" panose="020B0502040204020203" pitchFamily="34" charset="-122"/>
                <a:ea typeface="微软雅黑 Light" panose="020B0502040204020203" pitchFamily="34" charset="-122"/>
              </a:rPr>
              <a:t>上传</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(upload) </a:t>
            </a:r>
            <a:r>
              <a:rPr lang="zh-CN" altLang="en-US" sz="2000" b="1" dirty="0">
                <a:latin typeface="微软雅黑 Light" panose="020B0502040204020203" pitchFamily="34" charset="-122"/>
                <a:ea typeface="微软雅黑 Light" panose="020B0502040204020203" pitchFamily="34" charset="-122"/>
              </a:rPr>
              <a:t>或</a:t>
            </a:r>
            <a:r>
              <a:rPr lang="zh-CN" altLang="en-US" sz="2000" b="1" dirty="0">
                <a:solidFill>
                  <a:srgbClr val="C00000"/>
                </a:solidFill>
                <a:latin typeface="微软雅黑 Light" panose="020B0502040204020203" pitchFamily="34" charset="-122"/>
                <a:ea typeface="微软雅黑 Light" panose="020B0502040204020203" pitchFamily="34" charset="-122"/>
              </a:rPr>
              <a:t>上载。</a:t>
            </a:r>
          </a:p>
        </p:txBody>
      </p:sp>
    </p:spTree>
    <p:extLst>
      <p:ext uri="{BB962C8B-B14F-4D97-AF65-F5344CB8AC3E}">
        <p14:creationId xmlns:p14="http://schemas.microsoft.com/office/powerpoint/2010/main" val="16142434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91929" y="2252778"/>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9099" y="2123431"/>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83968" y="1275606"/>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0312" y="1347614"/>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51920" y="3363838"/>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84168" y="3795886"/>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96336" y="3363838"/>
            <a:ext cx="499399" cy="499400"/>
          </a:xfrm>
          <a:prstGeom prst="rect">
            <a:avLst/>
          </a:prstGeom>
          <a:noFill/>
          <a:extLst>
            <a:ext uri="{909E8E84-426E-40DD-AFC4-6F175D3DCCD1}">
              <a14:hiddenFill xmlns:a14="http://schemas.microsoft.com/office/drawing/2010/main">
                <a:solidFill>
                  <a:srgbClr val="FFFFFF"/>
                </a:solidFill>
              </a14:hiddenFill>
            </a:ext>
          </a:extLst>
        </p:spPr>
      </p:pic>
      <p:sp>
        <p:nvSpPr>
          <p:cNvPr id="13" name="AutoShape 5"/>
          <p:cNvSpPr>
            <a:spLocks noChangeArrowheads="1"/>
          </p:cNvSpPr>
          <p:nvPr/>
        </p:nvSpPr>
        <p:spPr bwMode="auto">
          <a:xfrm>
            <a:off x="556963" y="61166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4" name="Rectangle 6"/>
          <p:cNvSpPr>
            <a:spLocks noChangeArrowheads="1"/>
          </p:cNvSpPr>
          <p:nvPr/>
        </p:nvSpPr>
        <p:spPr bwMode="auto">
          <a:xfrm>
            <a:off x="2596943" y="569398"/>
            <a:ext cx="395012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6.9.3  P2P </a:t>
            </a:r>
            <a:r>
              <a:rPr lang="zh-CN" altLang="en-US" sz="2400" b="1" dirty="0">
                <a:solidFill>
                  <a:schemeClr val="bg1"/>
                </a:solidFill>
                <a:latin typeface="微软雅黑 Light" panose="020B0502040204020203" pitchFamily="34" charset="-122"/>
                <a:ea typeface="微软雅黑 Light" panose="020B0502040204020203" pitchFamily="34" charset="-122"/>
              </a:rPr>
              <a:t>文件分发的分析</a:t>
            </a:r>
          </a:p>
        </p:txBody>
      </p:sp>
      <p:sp>
        <p:nvSpPr>
          <p:cNvPr id="15" name="Rectangle 68"/>
          <p:cNvSpPr>
            <a:spLocks noChangeArrowheads="1"/>
          </p:cNvSpPr>
          <p:nvPr/>
        </p:nvSpPr>
        <p:spPr bwMode="auto">
          <a:xfrm>
            <a:off x="483810" y="997540"/>
            <a:ext cx="2579430" cy="343940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29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有 </a:t>
            </a:r>
            <a:r>
              <a:rPr lang="en-US" altLang="zh-CN" sz="2000" b="1" i="1" dirty="0">
                <a:latin typeface="微软雅黑 Light" panose="020B0502040204020203" pitchFamily="34" charset="-122"/>
                <a:ea typeface="微软雅黑 Light" panose="020B0502040204020203" pitchFamily="34" charset="-122"/>
              </a:rPr>
              <a:t>N</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台主机从服务器</a:t>
            </a:r>
            <a:r>
              <a:rPr lang="zh-CN" altLang="en-US" sz="2000" b="1" dirty="0">
                <a:solidFill>
                  <a:srgbClr val="C00000"/>
                </a:solidFill>
                <a:latin typeface="微软雅黑 Light" panose="020B0502040204020203" pitchFamily="34" charset="-122"/>
                <a:ea typeface="微软雅黑 Light" panose="020B0502040204020203" pitchFamily="34" charset="-122"/>
              </a:rPr>
              <a:t>下载</a:t>
            </a:r>
            <a:r>
              <a:rPr lang="zh-CN" altLang="en-US" sz="2000" b="1" dirty="0">
                <a:latin typeface="微软雅黑 Light" panose="020B0502040204020203" pitchFamily="34" charset="-122"/>
                <a:ea typeface="微软雅黑 Light" panose="020B0502040204020203" pitchFamily="34" charset="-122"/>
              </a:rPr>
              <a:t>一个大文件，其长度为 </a:t>
            </a:r>
            <a:r>
              <a:rPr lang="en-US" altLang="zh-CN" sz="2000" b="1" i="1" dirty="0">
                <a:latin typeface="微软雅黑 Light" panose="020B0502040204020203" pitchFamily="34" charset="-122"/>
                <a:ea typeface="微软雅黑 Light" panose="020B0502040204020203" pitchFamily="34" charset="-122"/>
              </a:rPr>
              <a:t>F</a:t>
            </a:r>
            <a:r>
              <a:rPr lang="en-US" altLang="zh-CN" sz="2000" b="1" dirty="0">
                <a:latin typeface="微软雅黑 Light" panose="020B0502040204020203" pitchFamily="34" charset="-122"/>
                <a:ea typeface="微软雅黑 Light" panose="020B0502040204020203" pitchFamily="34" charset="-122"/>
              </a:rPr>
              <a:t> bit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29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假定主机与互联网连接的链路的上传速率和下载速率分别为 </a:t>
            </a:r>
            <a:r>
              <a:rPr lang="en-US" altLang="zh-CN" sz="2000" b="1" i="1" dirty="0" err="1">
                <a:latin typeface="微软雅黑 Light" panose="020B0502040204020203" pitchFamily="34" charset="-122"/>
                <a:ea typeface="微软雅黑 Light" panose="020B0502040204020203" pitchFamily="34" charset="-122"/>
              </a:rPr>
              <a:t>u</a:t>
            </a:r>
            <a:r>
              <a:rPr lang="en-US" altLang="zh-CN" sz="2000" b="1" i="1" baseline="-25000" dirty="0" err="1">
                <a:latin typeface="微软雅黑 Light" panose="020B0502040204020203" pitchFamily="34" charset="-122"/>
                <a:ea typeface="微软雅黑 Light" panose="020B0502040204020203" pitchFamily="34" charset="-122"/>
              </a:rPr>
              <a:t>i</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和 </a:t>
            </a:r>
            <a:r>
              <a:rPr lang="en-US" altLang="zh-CN" sz="2000" b="1" i="1" dirty="0">
                <a:latin typeface="微软雅黑 Light" panose="020B0502040204020203" pitchFamily="34" charset="-122"/>
                <a:ea typeface="微软雅黑 Light" panose="020B0502040204020203" pitchFamily="34" charset="-122"/>
              </a:rPr>
              <a:t>d</a:t>
            </a:r>
            <a:r>
              <a:rPr lang="en-US" altLang="zh-CN" sz="2000" b="1" i="1" baseline="-25000" dirty="0">
                <a:latin typeface="微软雅黑 Light" panose="020B0502040204020203" pitchFamily="34" charset="-122"/>
                <a:ea typeface="微软雅黑 Light" panose="020B0502040204020203" pitchFamily="34" charset="-122"/>
              </a:rPr>
              <a:t>i</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，单位都是 </a:t>
            </a:r>
            <a:r>
              <a:rPr lang="en-US" altLang="zh-CN" sz="2000" b="1" dirty="0">
                <a:latin typeface="微软雅黑 Light" panose="020B0502040204020203" pitchFamily="34" charset="-122"/>
                <a:ea typeface="微软雅黑 Light" panose="020B0502040204020203" pitchFamily="34" charset="-122"/>
              </a:rPr>
              <a:t>bit/s</a:t>
            </a:r>
            <a:r>
              <a:rPr lang="zh-CN" altLang="en-US" sz="2000" b="1" dirty="0">
                <a:latin typeface="微软雅黑 Light" panose="020B0502040204020203" pitchFamily="34" charset="-122"/>
                <a:ea typeface="微软雅黑 Light" panose="020B0502040204020203" pitchFamily="34" charset="-122"/>
              </a:rPr>
              <a:t>。</a:t>
            </a:r>
          </a:p>
        </p:txBody>
      </p:sp>
      <p:grpSp>
        <p:nvGrpSpPr>
          <p:cNvPr id="16" name="Group 457"/>
          <p:cNvGrpSpPr>
            <a:grpSpLocks/>
          </p:cNvGrpSpPr>
          <p:nvPr/>
        </p:nvGrpSpPr>
        <p:grpSpPr bwMode="auto">
          <a:xfrm>
            <a:off x="4455943" y="1763255"/>
            <a:ext cx="2715518" cy="1471274"/>
            <a:chOff x="1776" y="2768"/>
            <a:chExt cx="1824" cy="736"/>
          </a:xfrm>
          <a:solidFill>
            <a:schemeClr val="bg1">
              <a:lumMod val="95000"/>
            </a:schemeClr>
          </a:solidFill>
          <a:effectLst>
            <a:outerShdw blurRad="50800" dist="38100" dir="2700000" algn="tl" rotWithShape="0">
              <a:prstClr val="black">
                <a:alpha val="40000"/>
              </a:prstClr>
            </a:outerShdw>
          </a:effectLst>
        </p:grpSpPr>
        <p:grpSp>
          <p:nvGrpSpPr>
            <p:cNvPr id="17" name="Group 458"/>
            <p:cNvGrpSpPr>
              <a:grpSpLocks/>
            </p:cNvGrpSpPr>
            <p:nvPr/>
          </p:nvGrpSpPr>
          <p:grpSpPr bwMode="auto">
            <a:xfrm>
              <a:off x="1787" y="2783"/>
              <a:ext cx="1813" cy="721"/>
              <a:chOff x="1787" y="2783"/>
              <a:chExt cx="1813" cy="721"/>
            </a:xfrm>
            <a:grpFill/>
          </p:grpSpPr>
          <p:sp>
            <p:nvSpPr>
              <p:cNvPr id="27" name="Oval 459"/>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8" name="Oval 460"/>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9" name="Oval 461"/>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0" name="Oval 462"/>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1" name="Oval 463"/>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2" name="Oval 464"/>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3" name="Oval 465"/>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4" name="Oval 466"/>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5" name="Oval 467"/>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grpSp>
        <p:sp>
          <p:nvSpPr>
            <p:cNvPr id="18" name="Oval 468"/>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19" name="Oval 469"/>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0" name="Oval 470"/>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1" name="Oval 471"/>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Oval 472"/>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3" name="Oval 473"/>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4" name="Oval 474"/>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5" name="Oval 475"/>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6" name="Oval 476"/>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grpSp>
      <p:sp>
        <p:nvSpPr>
          <p:cNvPr id="36" name="Text Box 477"/>
          <p:cNvSpPr txBox="1">
            <a:spLocks noChangeArrowheads="1"/>
          </p:cNvSpPr>
          <p:nvPr/>
        </p:nvSpPr>
        <p:spPr bwMode="auto">
          <a:xfrm>
            <a:off x="5514942" y="2331284"/>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600" b="1" dirty="0">
                <a:solidFill>
                  <a:sysClr val="windowText" lastClr="000000"/>
                </a:solidFill>
                <a:latin typeface="微软雅黑 Light" panose="020B0502040204020203" pitchFamily="34" charset="-122"/>
                <a:ea typeface="微软雅黑 Light" panose="020B0502040204020203" pitchFamily="34" charset="-122"/>
              </a:rPr>
              <a:t>互联网</a:t>
            </a:r>
          </a:p>
        </p:txBody>
      </p:sp>
      <p:sp>
        <p:nvSpPr>
          <p:cNvPr id="37" name="Line 479"/>
          <p:cNvSpPr>
            <a:spLocks noChangeShapeType="1"/>
          </p:cNvSpPr>
          <p:nvPr/>
        </p:nvSpPr>
        <p:spPr bwMode="auto">
          <a:xfrm>
            <a:off x="3635866" y="2326194"/>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3533073" y="2413021"/>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7887628" y="2907022"/>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服务器</a:t>
            </a:r>
          </a:p>
        </p:txBody>
      </p:sp>
      <p:sp>
        <p:nvSpPr>
          <p:cNvPr id="40" name="Text Box 2748"/>
          <p:cNvSpPr txBox="1">
            <a:spLocks noChangeArrowheads="1"/>
          </p:cNvSpPr>
          <p:nvPr/>
        </p:nvSpPr>
        <p:spPr bwMode="auto">
          <a:xfrm>
            <a:off x="5787721" y="1393051"/>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dirty="0">
                <a:solidFill>
                  <a:srgbClr val="0000FF"/>
                </a:solidFill>
                <a:latin typeface="微软雅黑 Light" panose="020B0502040204020203" pitchFamily="34" charset="-122"/>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4773355" y="160105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2" name="Line 2751"/>
          <p:cNvSpPr>
            <a:spLocks noChangeShapeType="1"/>
          </p:cNvSpPr>
          <p:nvPr/>
        </p:nvSpPr>
        <p:spPr bwMode="auto">
          <a:xfrm rot="11616166">
            <a:off x="4647972" y="1670705"/>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3" name="Line 2753"/>
          <p:cNvSpPr>
            <a:spLocks noChangeShapeType="1"/>
          </p:cNvSpPr>
          <p:nvPr/>
        </p:nvSpPr>
        <p:spPr bwMode="auto">
          <a:xfrm rot="18950026">
            <a:off x="4200657" y="3130530"/>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4" name="Line 2754"/>
          <p:cNvSpPr>
            <a:spLocks noChangeShapeType="1"/>
          </p:cNvSpPr>
          <p:nvPr/>
        </p:nvSpPr>
        <p:spPr bwMode="auto">
          <a:xfrm rot="8150026">
            <a:off x="4191620" y="3238346"/>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5" name="Line 2756"/>
          <p:cNvSpPr>
            <a:spLocks noChangeShapeType="1"/>
          </p:cNvSpPr>
          <p:nvPr/>
        </p:nvSpPr>
        <p:spPr bwMode="auto">
          <a:xfrm rot="13567995">
            <a:off x="5778552" y="3434763"/>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6" name="Line 2757"/>
          <p:cNvSpPr>
            <a:spLocks noChangeShapeType="1"/>
          </p:cNvSpPr>
          <p:nvPr/>
        </p:nvSpPr>
        <p:spPr bwMode="auto">
          <a:xfrm rot="2767995">
            <a:off x="5884250" y="3421405"/>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7" name="Line 2759"/>
          <p:cNvSpPr>
            <a:spLocks noChangeShapeType="1"/>
          </p:cNvSpPr>
          <p:nvPr/>
        </p:nvSpPr>
        <p:spPr bwMode="auto">
          <a:xfrm rot="18997895">
            <a:off x="6607799" y="1700282"/>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8" name="Line 2760"/>
          <p:cNvSpPr>
            <a:spLocks noChangeShapeType="1"/>
          </p:cNvSpPr>
          <p:nvPr/>
        </p:nvSpPr>
        <p:spPr bwMode="auto">
          <a:xfrm rot="8197895">
            <a:off x="6769329" y="1752760"/>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9" name="Line 2762"/>
          <p:cNvSpPr>
            <a:spLocks noChangeShapeType="1"/>
          </p:cNvSpPr>
          <p:nvPr/>
        </p:nvSpPr>
        <p:spPr bwMode="auto">
          <a:xfrm rot="1048487">
            <a:off x="6967007" y="3119080"/>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50" name="Line 2763"/>
          <p:cNvSpPr>
            <a:spLocks noChangeShapeType="1"/>
          </p:cNvSpPr>
          <p:nvPr/>
        </p:nvSpPr>
        <p:spPr bwMode="auto">
          <a:xfrm rot="11848487">
            <a:off x="6837104" y="3182053"/>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51" name="Line 2764"/>
          <p:cNvSpPr>
            <a:spLocks noChangeShapeType="1"/>
          </p:cNvSpPr>
          <p:nvPr/>
        </p:nvSpPr>
        <p:spPr bwMode="auto">
          <a:xfrm rot="10046881">
            <a:off x="7217774" y="2523146"/>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52" name="Text Box 2765"/>
          <p:cNvSpPr txBox="1">
            <a:spLocks noChangeArrowheads="1"/>
          </p:cNvSpPr>
          <p:nvPr/>
        </p:nvSpPr>
        <p:spPr bwMode="auto">
          <a:xfrm>
            <a:off x="7874492" y="1972449"/>
            <a:ext cx="6447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文件</a:t>
            </a:r>
            <a:r>
              <a:rPr kumimoji="1" lang="en-US" altLang="zh-CN" sz="1400" b="1" i="1" dirty="0">
                <a:solidFill>
                  <a:sysClr val="windowText" lastClr="000000"/>
                </a:solidFill>
                <a:latin typeface="微软雅黑 Light" panose="020B0502040204020203" pitchFamily="34" charset="-122"/>
                <a:ea typeface="微软雅黑 Light" panose="020B0502040204020203" pitchFamily="34" charset="-122"/>
              </a:rPr>
              <a:t>F</a:t>
            </a:r>
          </a:p>
        </p:txBody>
      </p:sp>
      <p:sp>
        <p:nvSpPr>
          <p:cNvPr id="53" name="Text Box 2766"/>
          <p:cNvSpPr txBox="1">
            <a:spLocks noChangeArrowheads="1"/>
          </p:cNvSpPr>
          <p:nvPr/>
        </p:nvSpPr>
        <p:spPr bwMode="auto">
          <a:xfrm>
            <a:off x="7493392" y="2252726"/>
            <a:ext cx="3385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i="1" baseline="-25000" dirty="0">
                <a:solidFill>
                  <a:srgbClr val="0000FF"/>
                </a:solidFill>
                <a:latin typeface="微软雅黑 Light" panose="020B0502040204020203" pitchFamily="34" charset="-122"/>
                <a:ea typeface="微软雅黑 Light" panose="020B0502040204020203" pitchFamily="34" charset="-122"/>
              </a:rPr>
              <a:t>s</a:t>
            </a:r>
          </a:p>
        </p:txBody>
      </p:sp>
      <p:sp>
        <p:nvSpPr>
          <p:cNvPr id="54" name="Text Box 2767"/>
          <p:cNvSpPr txBox="1">
            <a:spLocks noChangeArrowheads="1"/>
          </p:cNvSpPr>
          <p:nvPr/>
        </p:nvSpPr>
        <p:spPr bwMode="auto">
          <a:xfrm>
            <a:off x="7075610" y="1717219"/>
            <a:ext cx="3802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err="1">
                <a:solidFill>
                  <a:srgbClr val="0000FF"/>
                </a:solidFill>
                <a:latin typeface="微软雅黑 Light" panose="020B0502040204020203" pitchFamily="34" charset="-122"/>
                <a:ea typeface="微软雅黑 Light" panose="020B0502040204020203" pitchFamily="34" charset="-122"/>
              </a:rPr>
              <a:t>u</a:t>
            </a:r>
            <a:r>
              <a:rPr kumimoji="1" lang="en-US" altLang="zh-CN" sz="1400" b="1" i="1" baseline="-25000" dirty="0" err="1">
                <a:solidFill>
                  <a:srgbClr val="0000FF"/>
                </a:solidFill>
                <a:latin typeface="微软雅黑 Light" panose="020B0502040204020203" pitchFamily="34" charset="-122"/>
                <a:ea typeface="微软雅黑 Light" panose="020B0502040204020203" pitchFamily="34" charset="-122"/>
              </a:rPr>
              <a:t>N</a:t>
            </a:r>
            <a:endParaRPr kumimoji="1" lang="en-US" altLang="zh-CN" sz="1400" b="1" i="1" baseline="-25000" dirty="0">
              <a:solidFill>
                <a:srgbClr val="0000FF"/>
              </a:solidFill>
              <a:latin typeface="微软雅黑 Light" panose="020B0502040204020203" pitchFamily="34" charset="-122"/>
              <a:ea typeface="微软雅黑 Light" panose="020B0502040204020203" pitchFamily="34" charset="-122"/>
            </a:endParaRPr>
          </a:p>
        </p:txBody>
      </p:sp>
      <p:sp>
        <p:nvSpPr>
          <p:cNvPr id="55" name="Text Box 2768"/>
          <p:cNvSpPr txBox="1">
            <a:spLocks noChangeArrowheads="1"/>
          </p:cNvSpPr>
          <p:nvPr/>
        </p:nvSpPr>
        <p:spPr bwMode="auto">
          <a:xfrm>
            <a:off x="7017837" y="3161062"/>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5</a:t>
            </a:r>
          </a:p>
        </p:txBody>
      </p:sp>
      <p:sp>
        <p:nvSpPr>
          <p:cNvPr id="56" name="Text Box 2769"/>
          <p:cNvSpPr txBox="1">
            <a:spLocks noChangeArrowheads="1"/>
          </p:cNvSpPr>
          <p:nvPr/>
        </p:nvSpPr>
        <p:spPr bwMode="auto">
          <a:xfrm>
            <a:off x="5826505" y="3420586"/>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4</a:t>
            </a:r>
          </a:p>
        </p:txBody>
      </p:sp>
      <p:sp>
        <p:nvSpPr>
          <p:cNvPr id="57" name="Text Box 2770"/>
          <p:cNvSpPr txBox="1">
            <a:spLocks noChangeArrowheads="1"/>
          </p:cNvSpPr>
          <p:nvPr/>
        </p:nvSpPr>
        <p:spPr bwMode="auto">
          <a:xfrm>
            <a:off x="4353151" y="2930716"/>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3</a:t>
            </a:r>
          </a:p>
        </p:txBody>
      </p:sp>
      <p:sp>
        <p:nvSpPr>
          <p:cNvPr id="58" name="Text Box 2771"/>
          <p:cNvSpPr txBox="1">
            <a:spLocks noChangeArrowheads="1"/>
          </p:cNvSpPr>
          <p:nvPr/>
        </p:nvSpPr>
        <p:spPr bwMode="auto">
          <a:xfrm>
            <a:off x="3841449" y="2120179"/>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2</a:t>
            </a:r>
          </a:p>
        </p:txBody>
      </p:sp>
      <p:sp>
        <p:nvSpPr>
          <p:cNvPr id="59" name="Text Box 2772"/>
          <p:cNvSpPr txBox="1">
            <a:spLocks noChangeArrowheads="1"/>
          </p:cNvSpPr>
          <p:nvPr/>
        </p:nvSpPr>
        <p:spPr bwMode="auto">
          <a:xfrm>
            <a:off x="4968773" y="1393687"/>
            <a:ext cx="335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1</a:t>
            </a:r>
          </a:p>
        </p:txBody>
      </p:sp>
      <p:sp>
        <p:nvSpPr>
          <p:cNvPr id="60" name="Text Box 2773"/>
          <p:cNvSpPr txBox="1">
            <a:spLocks noChangeArrowheads="1"/>
          </p:cNvSpPr>
          <p:nvPr/>
        </p:nvSpPr>
        <p:spPr bwMode="auto">
          <a:xfrm>
            <a:off x="6717910" y="1488703"/>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err="1">
                <a:solidFill>
                  <a:srgbClr val="0000FF"/>
                </a:solidFill>
                <a:latin typeface="微软雅黑 Light" panose="020B0502040204020203" pitchFamily="34" charset="-122"/>
                <a:ea typeface="微软雅黑 Light" panose="020B0502040204020203" pitchFamily="34" charset="-122"/>
              </a:rPr>
              <a:t>d</a:t>
            </a:r>
            <a:r>
              <a:rPr kumimoji="1" lang="en-US" altLang="zh-CN" sz="1400" b="1" i="1" baseline="-25000" dirty="0" err="1">
                <a:solidFill>
                  <a:srgbClr val="0000FF"/>
                </a:solidFill>
                <a:latin typeface="微软雅黑 Light" panose="020B0502040204020203" pitchFamily="34" charset="-122"/>
                <a:ea typeface="微软雅黑 Light" panose="020B0502040204020203" pitchFamily="34" charset="-122"/>
              </a:rPr>
              <a:t>N</a:t>
            </a:r>
            <a:endParaRPr kumimoji="1" lang="en-US" altLang="zh-CN" sz="1400" b="1" i="1" baseline="-25000" dirty="0">
              <a:solidFill>
                <a:srgbClr val="0000FF"/>
              </a:solidFill>
              <a:latin typeface="微软雅黑 Light" panose="020B0502040204020203" pitchFamily="34" charset="-122"/>
              <a:ea typeface="微软雅黑 Light" panose="020B0502040204020203" pitchFamily="34" charset="-122"/>
            </a:endParaRPr>
          </a:p>
        </p:txBody>
      </p:sp>
      <p:sp>
        <p:nvSpPr>
          <p:cNvPr id="61" name="Text Box 2774"/>
          <p:cNvSpPr txBox="1">
            <a:spLocks noChangeArrowheads="1"/>
          </p:cNvSpPr>
          <p:nvPr/>
        </p:nvSpPr>
        <p:spPr bwMode="auto">
          <a:xfrm>
            <a:off x="4717469" y="1665139"/>
            <a:ext cx="34015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1</a:t>
            </a:r>
          </a:p>
        </p:txBody>
      </p:sp>
      <p:sp>
        <p:nvSpPr>
          <p:cNvPr id="62" name="Text Box 2775"/>
          <p:cNvSpPr txBox="1">
            <a:spLocks noChangeArrowheads="1"/>
          </p:cNvSpPr>
          <p:nvPr/>
        </p:nvSpPr>
        <p:spPr bwMode="auto">
          <a:xfrm>
            <a:off x="7240580" y="2944473"/>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5</a:t>
            </a:r>
          </a:p>
        </p:txBody>
      </p:sp>
      <p:sp>
        <p:nvSpPr>
          <p:cNvPr id="63" name="Text Box 2776"/>
          <p:cNvSpPr txBox="1">
            <a:spLocks noChangeArrowheads="1"/>
          </p:cNvSpPr>
          <p:nvPr/>
        </p:nvSpPr>
        <p:spPr bwMode="auto">
          <a:xfrm>
            <a:off x="6197760" y="3334714"/>
            <a:ext cx="3770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4</a:t>
            </a:r>
          </a:p>
        </p:txBody>
      </p:sp>
      <p:sp>
        <p:nvSpPr>
          <p:cNvPr id="64" name="Text Box 2777"/>
          <p:cNvSpPr txBox="1">
            <a:spLocks noChangeArrowheads="1"/>
          </p:cNvSpPr>
          <p:nvPr/>
        </p:nvSpPr>
        <p:spPr bwMode="auto">
          <a:xfrm>
            <a:off x="4568957" y="3213142"/>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3</a:t>
            </a:r>
          </a:p>
        </p:txBody>
      </p:sp>
      <p:sp>
        <p:nvSpPr>
          <p:cNvPr id="65" name="Text Box 2778"/>
          <p:cNvSpPr txBox="1">
            <a:spLocks noChangeArrowheads="1"/>
          </p:cNvSpPr>
          <p:nvPr/>
        </p:nvSpPr>
        <p:spPr bwMode="auto">
          <a:xfrm>
            <a:off x="3789489" y="2476313"/>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2</a:t>
            </a:r>
          </a:p>
        </p:txBody>
      </p:sp>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9" y="61252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252835" y="589437"/>
            <a:ext cx="46570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rgbClr val="FFC000"/>
                </a:solidFill>
                <a:latin typeface="微软雅黑 Light" panose="020B0502040204020203" pitchFamily="34" charset="-122"/>
                <a:ea typeface="微软雅黑 Light" panose="020B0502040204020203" pitchFamily="34" charset="-122"/>
              </a:rPr>
              <a:t>客户</a:t>
            </a:r>
            <a:r>
              <a:rPr lang="en-US" altLang="zh-CN" sz="2000" b="1" dirty="0">
                <a:solidFill>
                  <a:srgbClr val="FFC000"/>
                </a:solidFill>
                <a:latin typeface="微软雅黑 Light" panose="020B0502040204020203" pitchFamily="34" charset="-122"/>
                <a:ea typeface="微软雅黑 Light" panose="020B0502040204020203" pitchFamily="34" charset="-122"/>
              </a:rPr>
              <a:t>-</a:t>
            </a:r>
            <a:r>
              <a:rPr lang="zh-CN" altLang="en-US" sz="2000" b="1" dirty="0">
                <a:solidFill>
                  <a:srgbClr val="FFC000"/>
                </a:solidFill>
                <a:latin typeface="微软雅黑 Light" panose="020B0502040204020203" pitchFamily="34" charset="-122"/>
                <a:ea typeface="微软雅黑 Light" panose="020B0502040204020203" pitchFamily="34" charset="-122"/>
              </a:rPr>
              <a:t>服务器</a:t>
            </a:r>
            <a:r>
              <a:rPr lang="zh-CN" altLang="en-US" sz="2000" b="1" dirty="0">
                <a:solidFill>
                  <a:schemeClr val="bg1"/>
                </a:solidFill>
                <a:latin typeface="微软雅黑 Light" panose="020B0502040204020203" pitchFamily="34" charset="-122"/>
                <a:ea typeface="微软雅黑 Light" panose="020B0502040204020203" pitchFamily="34" charset="-122"/>
              </a:rPr>
              <a:t>方式下分发的最短时间分析</a:t>
            </a:r>
          </a:p>
        </p:txBody>
      </p:sp>
      <p:sp>
        <p:nvSpPr>
          <p:cNvPr id="4" name="Rectangle 68"/>
          <p:cNvSpPr>
            <a:spLocks noChangeArrowheads="1"/>
          </p:cNvSpPr>
          <p:nvPr/>
        </p:nvSpPr>
        <p:spPr bwMode="auto">
          <a:xfrm>
            <a:off x="556968" y="974860"/>
            <a:ext cx="8347335"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6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从服务器端考虑，</a:t>
            </a:r>
            <a:r>
              <a:rPr lang="zh-CN" altLang="en-US" sz="2000" b="1" dirty="0">
                <a:solidFill>
                  <a:srgbClr val="C00000"/>
                </a:solidFill>
                <a:latin typeface="微软雅黑 Light" panose="020B0502040204020203" pitchFamily="34" charset="-122"/>
                <a:ea typeface="微软雅黑 Light" panose="020B0502040204020203" pitchFamily="34" charset="-122"/>
              </a:rPr>
              <a:t>所有主机</a:t>
            </a:r>
            <a:r>
              <a:rPr lang="zh-CN" altLang="en-US" sz="2000" b="1" dirty="0">
                <a:latin typeface="微软雅黑 Light" panose="020B0502040204020203" pitchFamily="34" charset="-122"/>
                <a:ea typeface="微软雅黑 Light" panose="020B0502040204020203" pitchFamily="34" charset="-122"/>
              </a:rPr>
              <a:t>分发完毕的最短时间 </a:t>
            </a:r>
            <a:r>
              <a:rPr lang="en-US" altLang="zh-CN" sz="2000" b="1" i="1" dirty="0" err="1">
                <a:latin typeface="微软雅黑 Light" panose="020B0502040204020203" pitchFamily="34" charset="-122"/>
                <a:ea typeface="微软雅黑 Light" panose="020B0502040204020203" pitchFamily="34" charset="-122"/>
              </a:rPr>
              <a:t>T</a:t>
            </a:r>
            <a:r>
              <a:rPr lang="en-US" altLang="zh-CN" sz="2000" b="1" i="1" baseline="-25000" dirty="0" err="1">
                <a:latin typeface="微软雅黑 Light" panose="020B0502040204020203" pitchFamily="34" charset="-122"/>
                <a:ea typeface="微软雅黑 Light" panose="020B0502040204020203" pitchFamily="34" charset="-122"/>
              </a:rPr>
              <a:t>cs</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不可能小于 </a:t>
            </a:r>
            <a:r>
              <a:rPr lang="en-US" altLang="zh-CN" sz="2000" b="1" i="1" dirty="0">
                <a:latin typeface="微软雅黑 Light" panose="020B0502040204020203" pitchFamily="34" charset="-122"/>
                <a:ea typeface="微软雅黑 Light" panose="020B0502040204020203" pitchFamily="34" charset="-122"/>
              </a:rPr>
              <a:t>NF/u</a:t>
            </a:r>
            <a:r>
              <a:rPr lang="en-US" altLang="zh-CN" sz="2000" b="1" i="1" baseline="-25000" dirty="0">
                <a:latin typeface="微软雅黑 Light" panose="020B0502040204020203" pitchFamily="34" charset="-122"/>
                <a:ea typeface="微软雅黑 Light" panose="020B0502040204020203" pitchFamily="34" charset="-122"/>
              </a:rPr>
              <a:t>s </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6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下载速率</a:t>
            </a:r>
            <a:r>
              <a:rPr lang="zh-CN" altLang="en-US" sz="2000" b="1" dirty="0">
                <a:solidFill>
                  <a:srgbClr val="C00000"/>
                </a:solidFill>
                <a:latin typeface="微软雅黑 Light" panose="020B0502040204020203" pitchFamily="34" charset="-122"/>
                <a:ea typeface="微软雅黑 Light" panose="020B0502040204020203" pitchFamily="34" charset="-122"/>
              </a:rPr>
              <a:t>最慢</a:t>
            </a:r>
            <a:r>
              <a:rPr lang="zh-CN" altLang="en-US" sz="2000" b="1" dirty="0">
                <a:latin typeface="微软雅黑 Light" panose="020B0502040204020203" pitchFamily="34" charset="-122"/>
                <a:ea typeface="微软雅黑 Light" panose="020B0502040204020203" pitchFamily="34" charset="-122"/>
              </a:rPr>
              <a:t>的主机的下载速率为 </a:t>
            </a:r>
            <a:r>
              <a:rPr lang="en-US" altLang="zh-CN" sz="2000" b="1" i="1" dirty="0" err="1">
                <a:latin typeface="微软雅黑 Light" panose="020B0502040204020203" pitchFamily="34" charset="-122"/>
                <a:ea typeface="微软雅黑 Light" panose="020B0502040204020203" pitchFamily="34" charset="-122"/>
              </a:rPr>
              <a:t>d</a:t>
            </a:r>
            <a:r>
              <a:rPr lang="en-US" altLang="zh-CN" sz="2000" b="1" baseline="-25000" dirty="0" err="1">
                <a:latin typeface="微软雅黑 Light" panose="020B0502040204020203" pitchFamily="34" charset="-122"/>
                <a:ea typeface="微软雅黑 Light" panose="020B0502040204020203" pitchFamily="34" charset="-122"/>
              </a:rPr>
              <a:t>min</a:t>
            </a:r>
            <a:r>
              <a:rPr lang="zh-CN" altLang="en-US" sz="2000" b="1" dirty="0">
                <a:latin typeface="微软雅黑 Light" panose="020B0502040204020203" pitchFamily="34" charset="-122"/>
                <a:ea typeface="微软雅黑 Light" panose="020B0502040204020203" pitchFamily="34" charset="-122"/>
              </a:rPr>
              <a:t>，则 </a:t>
            </a:r>
            <a:r>
              <a:rPr lang="en-US" altLang="zh-CN" sz="2000" b="1" i="1" dirty="0" err="1">
                <a:latin typeface="微软雅黑 Light" panose="020B0502040204020203" pitchFamily="34" charset="-122"/>
                <a:ea typeface="微软雅黑 Light" panose="020B0502040204020203" pitchFamily="34" charset="-122"/>
              </a:rPr>
              <a:t>T</a:t>
            </a:r>
            <a:r>
              <a:rPr lang="en-US" altLang="zh-CN" sz="2000" b="1" i="1" baseline="-25000" dirty="0" err="1">
                <a:latin typeface="微软雅黑 Light" panose="020B0502040204020203" pitchFamily="34" charset="-122"/>
                <a:ea typeface="微软雅黑 Light" panose="020B0502040204020203" pitchFamily="34" charset="-122"/>
              </a:rPr>
              <a:t>cs</a:t>
            </a:r>
            <a:r>
              <a:rPr lang="en-US" altLang="zh-CN" sz="2000" b="1" i="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不可能小于 </a:t>
            </a:r>
            <a:r>
              <a:rPr lang="en-US" altLang="zh-CN" sz="2000" b="1" i="1" dirty="0">
                <a:latin typeface="微软雅黑 Light" panose="020B0502040204020203" pitchFamily="34" charset="-122"/>
                <a:ea typeface="微软雅黑 Light" panose="020B0502040204020203" pitchFamily="34" charset="-122"/>
              </a:rPr>
              <a:t>F/</a:t>
            </a:r>
            <a:r>
              <a:rPr lang="en-US" altLang="zh-CN" sz="2000" b="1" i="1" dirty="0" err="1">
                <a:latin typeface="微软雅黑 Light" panose="020B0502040204020203" pitchFamily="34" charset="-122"/>
                <a:ea typeface="微软雅黑 Light" panose="020B0502040204020203" pitchFamily="34" charset="-122"/>
              </a:rPr>
              <a:t>d</a:t>
            </a:r>
            <a:r>
              <a:rPr lang="en-US" altLang="zh-CN" sz="2000" b="1" baseline="-25000" dirty="0" err="1">
                <a:latin typeface="微软雅黑 Light" panose="020B0502040204020203" pitchFamily="34" charset="-122"/>
                <a:ea typeface="微软雅黑 Light" panose="020B0502040204020203" pitchFamily="34" charset="-122"/>
              </a:rPr>
              <a:t>min</a:t>
            </a:r>
            <a:r>
              <a:rPr lang="en-US" altLang="zh-CN" sz="2000" b="1" i="1" baseline="-25000"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6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由此可得出</a:t>
            </a:r>
            <a:r>
              <a:rPr lang="zh-CN" altLang="en-US" sz="2000" b="1" dirty="0">
                <a:solidFill>
                  <a:srgbClr val="C00000"/>
                </a:solidFill>
                <a:latin typeface="微软雅黑 Light" panose="020B0502040204020203" pitchFamily="34" charset="-122"/>
                <a:ea typeface="微软雅黑 Light" panose="020B0502040204020203" pitchFamily="34" charset="-122"/>
              </a:rPr>
              <a:t>所有主机</a:t>
            </a:r>
            <a:r>
              <a:rPr lang="zh-CN" altLang="en-US" sz="2000" b="1" dirty="0">
                <a:latin typeface="微软雅黑 Light" panose="020B0502040204020203" pitchFamily="34" charset="-122"/>
                <a:ea typeface="微软雅黑 Light" panose="020B0502040204020203" pitchFamily="34" charset="-122"/>
              </a:rPr>
              <a:t>都下载完文件 </a:t>
            </a:r>
            <a:r>
              <a:rPr lang="en-US" altLang="zh-CN" sz="2000" b="1" dirty="0">
                <a:latin typeface="微软雅黑 Light" panose="020B0502040204020203" pitchFamily="34" charset="-122"/>
                <a:ea typeface="微软雅黑 Light" panose="020B0502040204020203" pitchFamily="34" charset="-122"/>
              </a:rPr>
              <a:t>F </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C00000"/>
                </a:solidFill>
                <a:latin typeface="微软雅黑 Light" panose="020B0502040204020203" pitchFamily="34" charset="-122"/>
                <a:ea typeface="微软雅黑 Light" panose="020B0502040204020203" pitchFamily="34" charset="-122"/>
              </a:rPr>
              <a:t>最少时间</a:t>
            </a:r>
            <a:r>
              <a:rPr lang="zh-CN" altLang="en-US" sz="2000" b="1" dirty="0">
                <a:latin typeface="微软雅黑 Light" panose="020B0502040204020203" pitchFamily="34" charset="-122"/>
                <a:ea typeface="微软雅黑 Light" panose="020B0502040204020203" pitchFamily="34" charset="-122"/>
              </a:rPr>
              <a:t>是：</a:t>
            </a:r>
          </a:p>
          <a:p>
            <a:pPr algn="ctr" eaLnBrk="0" hangingPunct="0">
              <a:lnSpc>
                <a:spcPts val="3600"/>
              </a:lnSpc>
              <a:buClr>
                <a:srgbClr val="0070C0"/>
              </a:buClr>
            </a:pPr>
            <a:r>
              <a:rPr lang="en-US" altLang="zh-CN" sz="2000" b="1" i="1" dirty="0" err="1">
                <a:solidFill>
                  <a:srgbClr val="0000FF"/>
                </a:solidFill>
                <a:latin typeface="微软雅黑 Light" panose="020B0502040204020203" pitchFamily="34" charset="-122"/>
                <a:ea typeface="微软雅黑 Light" panose="020B0502040204020203" pitchFamily="34" charset="-122"/>
              </a:rPr>
              <a:t>T</a:t>
            </a:r>
            <a:r>
              <a:rPr lang="en-US" altLang="zh-CN" sz="2000" b="1" baseline="-25000" dirty="0" err="1">
                <a:solidFill>
                  <a:srgbClr val="0000FF"/>
                </a:solidFill>
                <a:latin typeface="微软雅黑 Light" panose="020B0502040204020203" pitchFamily="34" charset="-122"/>
                <a:ea typeface="微软雅黑 Light" panose="020B0502040204020203" pitchFamily="34" charset="-122"/>
              </a:rPr>
              <a:t>cs</a:t>
            </a:r>
            <a:r>
              <a:rPr lang="en-US" altLang="zh-CN" sz="2000" b="1" dirty="0">
                <a:solidFill>
                  <a:srgbClr val="0000FF"/>
                </a:solidFill>
                <a:latin typeface="微软雅黑 Light" panose="020B0502040204020203" pitchFamily="34" charset="-122"/>
                <a:ea typeface="微软雅黑 Light" panose="020B0502040204020203" pitchFamily="34" charset="-122"/>
              </a:rPr>
              <a:t>=max</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i="1" dirty="0">
                <a:solidFill>
                  <a:srgbClr val="0000FF"/>
                </a:solidFill>
                <a:latin typeface="微软雅黑 Light" panose="020B0502040204020203" pitchFamily="34" charset="-122"/>
                <a:ea typeface="微软雅黑 Light" panose="020B0502040204020203" pitchFamily="34" charset="-122"/>
              </a:rPr>
              <a:t>NF/u</a:t>
            </a:r>
            <a:r>
              <a:rPr lang="en-US" altLang="zh-CN" sz="2000" b="1" i="1" baseline="-25000" dirty="0">
                <a:solidFill>
                  <a:srgbClr val="0000FF"/>
                </a:solidFill>
                <a:latin typeface="微软雅黑 Light" panose="020B0502040204020203" pitchFamily="34" charset="-122"/>
                <a:ea typeface="微软雅黑 Light" panose="020B0502040204020203" pitchFamily="34" charset="-122"/>
              </a:rPr>
              <a:t>s</a:t>
            </a:r>
            <a:r>
              <a:rPr lang="zh-CN" altLang="en-US" sz="2000" b="1" i="1" dirty="0">
                <a:solidFill>
                  <a:srgbClr val="0000FF"/>
                </a:solidFill>
                <a:latin typeface="微软雅黑 Light" panose="020B0502040204020203" pitchFamily="34" charset="-122"/>
                <a:ea typeface="微软雅黑 Light" panose="020B0502040204020203" pitchFamily="34" charset="-122"/>
              </a:rPr>
              <a:t>，</a:t>
            </a:r>
            <a:r>
              <a:rPr lang="en-US" altLang="zh-CN" sz="2000" b="1" i="1" dirty="0">
                <a:solidFill>
                  <a:srgbClr val="0000FF"/>
                </a:solidFill>
                <a:latin typeface="微软雅黑 Light" panose="020B0502040204020203" pitchFamily="34" charset="-122"/>
                <a:ea typeface="微软雅黑 Light" panose="020B0502040204020203" pitchFamily="34" charset="-122"/>
              </a:rPr>
              <a:t>F/</a:t>
            </a:r>
            <a:r>
              <a:rPr lang="en-US" altLang="zh-CN" sz="2000" b="1" i="1" dirty="0" err="1">
                <a:solidFill>
                  <a:srgbClr val="0000FF"/>
                </a:solidFill>
                <a:latin typeface="微软雅黑 Light" panose="020B0502040204020203" pitchFamily="34" charset="-122"/>
                <a:ea typeface="微软雅黑 Light" panose="020B0502040204020203" pitchFamily="34" charset="-122"/>
              </a:rPr>
              <a:t>d</a:t>
            </a:r>
            <a:r>
              <a:rPr lang="en-US" altLang="zh-CN" sz="2000" b="1" baseline="-25000" dirty="0" err="1">
                <a:solidFill>
                  <a:srgbClr val="0000FF"/>
                </a:solidFill>
                <a:latin typeface="微软雅黑 Light" panose="020B0502040204020203" pitchFamily="34" charset="-122"/>
                <a:ea typeface="微软雅黑 Light" panose="020B0502040204020203" pitchFamily="34" charset="-122"/>
              </a:rPr>
              <a:t>min</a:t>
            </a:r>
            <a:r>
              <a:rPr lang="en-US" altLang="zh-CN" sz="2000" b="1" i="1" baseline="-25000" dirty="0">
                <a:solidFill>
                  <a:srgbClr val="0000FF"/>
                </a:solidFill>
                <a:latin typeface="微软雅黑 Light" panose="020B0502040204020203" pitchFamily="34" charset="-122"/>
                <a:ea typeface="微软雅黑 Light" panose="020B0502040204020203" pitchFamily="34" charset="-122"/>
              </a:rPr>
              <a:t> </a:t>
            </a:r>
            <a:r>
              <a:rPr lang="zh-CN" altLang="en-US" sz="2000" b="1" dirty="0">
                <a:solidFill>
                  <a:srgbClr val="0000FF"/>
                </a:solidFill>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84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64005" y="577630"/>
            <a:ext cx="38347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方式下分发的最短时间分析</a:t>
            </a:r>
          </a:p>
        </p:txBody>
      </p:sp>
      <p:sp>
        <p:nvSpPr>
          <p:cNvPr id="4" name="Rectangle 68"/>
          <p:cNvSpPr>
            <a:spLocks noChangeArrowheads="1"/>
          </p:cNvSpPr>
          <p:nvPr/>
        </p:nvSpPr>
        <p:spPr bwMode="auto">
          <a:xfrm>
            <a:off x="556962" y="971931"/>
            <a:ext cx="8048777" cy="26699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6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初始</a:t>
            </a:r>
            <a:r>
              <a:rPr lang="zh-CN" altLang="en-US" sz="2000" b="1" dirty="0">
                <a:latin typeface="微软雅黑 Light" panose="020B0502040204020203" pitchFamily="34" charset="-122"/>
                <a:ea typeface="微软雅黑 Light" panose="020B0502040204020203" pitchFamily="34" charset="-122"/>
              </a:rPr>
              <a:t>服务器文件分发的最少时间不可能小于 </a:t>
            </a:r>
            <a:r>
              <a:rPr lang="en-US" altLang="zh-CN" sz="2000" b="1" i="1" dirty="0">
                <a:latin typeface="微软雅黑 Light" panose="020B0502040204020203" pitchFamily="34" charset="-122"/>
                <a:ea typeface="微软雅黑 Light" panose="020B0502040204020203" pitchFamily="34" charset="-122"/>
              </a:rPr>
              <a:t>F/u</a:t>
            </a:r>
            <a:r>
              <a:rPr lang="en-US" altLang="zh-CN" sz="2000" b="1" i="1" baseline="-25000" dirty="0">
                <a:latin typeface="微软雅黑 Light" panose="020B0502040204020203" pitchFamily="34" charset="-122"/>
                <a:ea typeface="微软雅黑 Light" panose="020B0502040204020203" pitchFamily="34" charset="-122"/>
              </a:rPr>
              <a:t>s </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下载</a:t>
            </a:r>
            <a:r>
              <a:rPr lang="zh-CN" altLang="en-US" sz="2000" b="1" dirty="0">
                <a:latin typeface="微软雅黑 Light" panose="020B0502040204020203" pitchFamily="34" charset="-122"/>
                <a:ea typeface="微软雅黑 Light" panose="020B0502040204020203" pitchFamily="34" charset="-122"/>
              </a:rPr>
              <a:t>文件分发的最少时间不可能小于 </a:t>
            </a:r>
            <a:r>
              <a:rPr lang="en-US" altLang="zh-CN" sz="2000" b="1" i="1" dirty="0">
                <a:latin typeface="微软雅黑 Light" panose="020B0502040204020203" pitchFamily="34" charset="-122"/>
                <a:ea typeface="微软雅黑 Light" panose="020B0502040204020203" pitchFamily="34" charset="-122"/>
              </a:rPr>
              <a:t>F/</a:t>
            </a:r>
            <a:r>
              <a:rPr lang="en-US" altLang="zh-CN" sz="2000" b="1" i="1" dirty="0" err="1">
                <a:latin typeface="微软雅黑 Light" panose="020B0502040204020203" pitchFamily="34" charset="-122"/>
                <a:ea typeface="微软雅黑 Light" panose="020B0502040204020203" pitchFamily="34" charset="-122"/>
              </a:rPr>
              <a:t>d</a:t>
            </a:r>
            <a:r>
              <a:rPr lang="en-US" altLang="zh-CN" sz="2000" b="1" baseline="-25000" dirty="0" err="1">
                <a:latin typeface="微软雅黑 Light" panose="020B0502040204020203" pitchFamily="34" charset="-122"/>
                <a:ea typeface="微软雅黑 Light" panose="020B0502040204020203" pitchFamily="34" charset="-122"/>
              </a:rPr>
              <a:t>min</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上载</a:t>
            </a:r>
            <a:r>
              <a:rPr lang="zh-CN" altLang="en-US" sz="2000" b="1" dirty="0">
                <a:latin typeface="微软雅黑 Light" panose="020B0502040204020203" pitchFamily="34" charset="-122"/>
                <a:ea typeface="微软雅黑 Light" panose="020B0502040204020203" pitchFamily="34" charset="-122"/>
              </a:rPr>
              <a:t>文件分发的最少时间不可能小于 </a:t>
            </a:r>
            <a:r>
              <a:rPr lang="en-US" altLang="zh-CN" sz="2000" b="1" i="1" dirty="0">
                <a:latin typeface="微软雅黑 Light" panose="020B0502040204020203" pitchFamily="34" charset="-122"/>
                <a:ea typeface="微软雅黑 Light" panose="020B0502040204020203" pitchFamily="34" charset="-122"/>
              </a:rPr>
              <a:t>NF/</a:t>
            </a:r>
            <a:r>
              <a:rPr lang="en-US" altLang="zh-CN" sz="2000" b="1" i="1" dirty="0" err="1">
                <a:latin typeface="微软雅黑 Light" panose="020B0502040204020203" pitchFamily="34" charset="-122"/>
                <a:ea typeface="微软雅黑 Light" panose="020B0502040204020203" pitchFamily="34" charset="-122"/>
              </a:rPr>
              <a:t>u</a:t>
            </a:r>
            <a:r>
              <a:rPr lang="en-US" altLang="zh-CN" sz="2000" b="1" baseline="-25000" dirty="0" err="1">
                <a:latin typeface="微软雅黑 Light" panose="020B0502040204020203" pitchFamily="34" charset="-122"/>
                <a:ea typeface="微软雅黑 Light" panose="020B0502040204020203" pitchFamily="34" charset="-122"/>
              </a:rPr>
              <a:t>T</a:t>
            </a:r>
            <a:r>
              <a:rPr lang="en-US" altLang="zh-CN" sz="2000" b="1" baseline="-25000"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，其中是 </a:t>
            </a:r>
            <a:r>
              <a:rPr lang="en-US" altLang="zh-CN" sz="2000" b="1" i="1" dirty="0" err="1">
                <a:latin typeface="微软雅黑 Light" panose="020B0502040204020203" pitchFamily="34" charset="-122"/>
                <a:ea typeface="微软雅黑 Light" panose="020B0502040204020203" pitchFamily="34" charset="-122"/>
              </a:rPr>
              <a:t>u</a:t>
            </a:r>
            <a:r>
              <a:rPr lang="en-US" altLang="zh-CN" sz="2000" b="1" baseline="-25000" dirty="0" err="1">
                <a:latin typeface="微软雅黑 Light" panose="020B0502040204020203" pitchFamily="34" charset="-122"/>
                <a:ea typeface="微软雅黑 Light" panose="020B0502040204020203" pitchFamily="34" charset="-122"/>
              </a:rPr>
              <a:t>T</a:t>
            </a:r>
            <a:r>
              <a:rPr lang="en-US" altLang="zh-CN" sz="2000" b="1" baseline="-25000"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是上传速率之和。</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所有</a:t>
            </a:r>
            <a:r>
              <a:rPr lang="zh-CN" altLang="en-US" sz="2000" b="1" dirty="0">
                <a:latin typeface="微软雅黑 Light" panose="020B0502040204020203" pitchFamily="34" charset="-122"/>
                <a:ea typeface="微软雅黑 Light" panose="020B0502040204020203" pitchFamily="34" charset="-122"/>
              </a:rPr>
              <a:t>主机都下载完文件 </a:t>
            </a:r>
            <a:r>
              <a:rPr lang="en-US" altLang="zh-CN" sz="2000" b="1" i="1" dirty="0">
                <a:latin typeface="微软雅黑 Light" panose="020B0502040204020203" pitchFamily="34" charset="-122"/>
                <a:ea typeface="微软雅黑 Light" panose="020B0502040204020203" pitchFamily="34" charset="-122"/>
              </a:rPr>
              <a:t>F</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C00000"/>
                </a:solidFill>
                <a:latin typeface="微软雅黑 Light" panose="020B0502040204020203" pitchFamily="34" charset="-122"/>
                <a:ea typeface="微软雅黑 Light" panose="020B0502040204020203" pitchFamily="34" charset="-122"/>
              </a:rPr>
              <a:t>最少时间的下限</a:t>
            </a:r>
            <a:r>
              <a:rPr lang="zh-CN" altLang="en-US" sz="2000" b="1" dirty="0">
                <a:latin typeface="微软雅黑 Light" panose="020B0502040204020203" pitchFamily="34" charset="-122"/>
                <a:ea typeface="微软雅黑 Light" panose="020B0502040204020203" pitchFamily="34" charset="-122"/>
              </a:rPr>
              <a:t>是：</a:t>
            </a:r>
          </a:p>
          <a:p>
            <a:pPr algn="ctr" eaLnBrk="0" hangingPunct="0">
              <a:lnSpc>
                <a:spcPts val="3300"/>
              </a:lnSpc>
              <a:buClr>
                <a:srgbClr val="0070C0"/>
              </a:buClr>
            </a:pPr>
            <a:r>
              <a:rPr lang="en-US" altLang="zh-CN" sz="2000" b="1" i="1" dirty="0">
                <a:solidFill>
                  <a:srgbClr val="0000FF"/>
                </a:solidFill>
                <a:latin typeface="微软雅黑 Light" panose="020B0502040204020203" pitchFamily="34" charset="-122"/>
                <a:ea typeface="微软雅黑 Light" panose="020B0502040204020203" pitchFamily="34" charset="-122"/>
              </a:rPr>
              <a:t>T</a:t>
            </a:r>
            <a:r>
              <a:rPr lang="en-US" altLang="zh-CN" sz="2000" b="1" baseline="-25000" dirty="0">
                <a:solidFill>
                  <a:srgbClr val="0000FF"/>
                </a:solidFill>
                <a:latin typeface="微软雅黑 Light" panose="020B0502040204020203" pitchFamily="34" charset="-122"/>
                <a:ea typeface="微软雅黑 Light" panose="020B0502040204020203" pitchFamily="34" charset="-122"/>
              </a:rPr>
              <a:t>p2p</a:t>
            </a:r>
            <a:r>
              <a:rPr lang="en-US" altLang="zh-CN" sz="2000" b="1" dirty="0">
                <a:solidFill>
                  <a:srgbClr val="0000FF"/>
                </a:solidFill>
                <a:latin typeface="微软雅黑 Light" panose="020B0502040204020203" pitchFamily="34" charset="-122"/>
                <a:ea typeface="微软雅黑 Light" panose="020B0502040204020203" pitchFamily="34" charset="-122"/>
              </a:rPr>
              <a:t> &gt;= max</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i="1" dirty="0">
                <a:solidFill>
                  <a:srgbClr val="0000FF"/>
                </a:solidFill>
                <a:latin typeface="微软雅黑 Light" panose="020B0502040204020203" pitchFamily="34" charset="-122"/>
                <a:ea typeface="微软雅黑 Light" panose="020B0502040204020203" pitchFamily="34" charset="-122"/>
              </a:rPr>
              <a:t>F/u</a:t>
            </a:r>
            <a:r>
              <a:rPr lang="en-US" altLang="zh-CN" sz="2000" b="1" i="1" baseline="-25000" dirty="0">
                <a:solidFill>
                  <a:srgbClr val="0000FF"/>
                </a:solidFill>
                <a:latin typeface="微软雅黑 Light" panose="020B0502040204020203" pitchFamily="34" charset="-122"/>
                <a:ea typeface="微软雅黑 Light" panose="020B0502040204020203" pitchFamily="34" charset="-122"/>
              </a:rPr>
              <a:t>s</a:t>
            </a:r>
            <a:r>
              <a:rPr lang="en-US" altLang="zh-CN" sz="2000" b="1" i="1" dirty="0">
                <a:solidFill>
                  <a:srgbClr val="0000FF"/>
                </a:solidFill>
                <a:latin typeface="微软雅黑 Light" panose="020B0502040204020203" pitchFamily="34" charset="-122"/>
                <a:ea typeface="微软雅黑 Light" panose="020B0502040204020203" pitchFamily="34" charset="-122"/>
              </a:rPr>
              <a:t> </a:t>
            </a:r>
            <a:r>
              <a:rPr lang="zh-CN" altLang="en-US" sz="2000" b="1" i="1" dirty="0">
                <a:solidFill>
                  <a:srgbClr val="0000FF"/>
                </a:solidFill>
                <a:latin typeface="微软雅黑 Light" panose="020B0502040204020203" pitchFamily="34" charset="-122"/>
                <a:ea typeface="微软雅黑 Light" panose="020B0502040204020203" pitchFamily="34" charset="-122"/>
              </a:rPr>
              <a:t>， </a:t>
            </a:r>
            <a:r>
              <a:rPr lang="en-US" altLang="zh-CN" sz="2000" b="1" i="1" dirty="0">
                <a:solidFill>
                  <a:srgbClr val="0000FF"/>
                </a:solidFill>
                <a:latin typeface="微软雅黑 Light" panose="020B0502040204020203" pitchFamily="34" charset="-122"/>
                <a:ea typeface="微软雅黑 Light" panose="020B0502040204020203" pitchFamily="34" charset="-122"/>
              </a:rPr>
              <a:t>F/</a:t>
            </a:r>
            <a:r>
              <a:rPr lang="en-US" altLang="zh-CN" sz="2000" b="1" i="1" dirty="0" err="1">
                <a:solidFill>
                  <a:srgbClr val="0000FF"/>
                </a:solidFill>
                <a:latin typeface="微软雅黑 Light" panose="020B0502040204020203" pitchFamily="34" charset="-122"/>
                <a:ea typeface="微软雅黑 Light" panose="020B0502040204020203" pitchFamily="34" charset="-122"/>
              </a:rPr>
              <a:t>d</a:t>
            </a:r>
            <a:r>
              <a:rPr lang="en-US" altLang="zh-CN" sz="2000" b="1" baseline="-25000" dirty="0" err="1">
                <a:solidFill>
                  <a:srgbClr val="0000FF"/>
                </a:solidFill>
                <a:latin typeface="微软雅黑 Light" panose="020B0502040204020203" pitchFamily="34" charset="-122"/>
                <a:ea typeface="微软雅黑 Light" panose="020B0502040204020203" pitchFamily="34" charset="-122"/>
              </a:rPr>
              <a:t>min</a:t>
            </a:r>
            <a:r>
              <a:rPr lang="zh-CN" altLang="en-US" sz="2000" b="1" i="1" dirty="0">
                <a:solidFill>
                  <a:srgbClr val="0000FF"/>
                </a:solidFill>
                <a:latin typeface="微软雅黑 Light" panose="020B0502040204020203" pitchFamily="34" charset="-122"/>
                <a:ea typeface="微软雅黑 Light" panose="020B0502040204020203" pitchFamily="34" charset="-122"/>
              </a:rPr>
              <a:t>， </a:t>
            </a:r>
            <a:r>
              <a:rPr lang="en-US" altLang="zh-CN" sz="2000" b="1" i="1" dirty="0">
                <a:solidFill>
                  <a:srgbClr val="0000FF"/>
                </a:solidFill>
                <a:latin typeface="微软雅黑 Light" panose="020B0502040204020203" pitchFamily="34" charset="-122"/>
                <a:ea typeface="微软雅黑 Light" panose="020B0502040204020203" pitchFamily="34" charset="-122"/>
              </a:rPr>
              <a:t>NF/</a:t>
            </a:r>
            <a:r>
              <a:rPr lang="en-US" altLang="zh-CN" sz="2000" b="1" i="1" dirty="0" err="1">
                <a:solidFill>
                  <a:srgbClr val="0000FF"/>
                </a:solidFill>
                <a:latin typeface="微软雅黑 Light" panose="020B0502040204020203" pitchFamily="34" charset="-122"/>
                <a:ea typeface="微软雅黑 Light" panose="020B0502040204020203" pitchFamily="34" charset="-122"/>
              </a:rPr>
              <a:t>u</a:t>
            </a:r>
            <a:r>
              <a:rPr lang="en-US" altLang="zh-CN" sz="2000" b="1" baseline="-25000" dirty="0" err="1">
                <a:solidFill>
                  <a:srgbClr val="0000FF"/>
                </a:solidFill>
                <a:latin typeface="微软雅黑 Light" panose="020B0502040204020203" pitchFamily="34" charset="-122"/>
                <a:ea typeface="微软雅黑 Light" panose="020B0502040204020203" pitchFamily="34" charset="-122"/>
              </a:rPr>
              <a:t>T</a:t>
            </a:r>
            <a:r>
              <a:rPr lang="en-US" altLang="zh-CN" sz="2000" b="1" i="1" baseline="-25000" dirty="0">
                <a:solidFill>
                  <a:srgbClr val="0000FF"/>
                </a:solidFill>
                <a:latin typeface="微软雅黑 Light" panose="020B0502040204020203" pitchFamily="34" charset="-122"/>
                <a:ea typeface="微软雅黑 Light" panose="020B0502040204020203" pitchFamily="34" charset="-122"/>
              </a:rPr>
              <a:t> </a:t>
            </a:r>
            <a:r>
              <a:rPr lang="en-US" altLang="zh-CN" sz="2000" b="1" i="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solidFill>
                  <a:srgbClr val="0000FF"/>
                </a:solidFill>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85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3" y="579643"/>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时间比较</a:t>
            </a:r>
          </a:p>
        </p:txBody>
      </p:sp>
      <p:sp>
        <p:nvSpPr>
          <p:cNvPr id="4" name="Rectangle 68"/>
          <p:cNvSpPr>
            <a:spLocks noChangeArrowheads="1"/>
          </p:cNvSpPr>
          <p:nvPr/>
        </p:nvSpPr>
        <p:spPr bwMode="auto">
          <a:xfrm>
            <a:off x="556962" y="975552"/>
            <a:ext cx="804877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设所有的对等方的上传速率都是 </a:t>
            </a:r>
            <a:r>
              <a:rPr lang="en-US" altLang="zh-CN" sz="2000" b="1" i="1" dirty="0">
                <a:latin typeface="微软雅黑 Light" panose="020B0502040204020203" pitchFamily="34" charset="-122"/>
                <a:ea typeface="微软雅黑 Light" panose="020B0502040204020203" pitchFamily="34" charset="-122"/>
              </a:rPr>
              <a:t>u</a:t>
            </a:r>
            <a:r>
              <a:rPr lang="zh-CN" altLang="en-US" sz="2000" b="1" dirty="0">
                <a:latin typeface="微软雅黑 Light" panose="020B0502040204020203" pitchFamily="34" charset="-122"/>
                <a:ea typeface="微软雅黑 Light" panose="020B0502040204020203" pitchFamily="34" charset="-122"/>
              </a:rPr>
              <a:t>，并且 </a:t>
            </a:r>
            <a:r>
              <a:rPr lang="en-US" altLang="zh-CN" sz="2000" b="1" i="1" dirty="0">
                <a:latin typeface="微软雅黑 Light" panose="020B0502040204020203" pitchFamily="34" charset="-122"/>
                <a:ea typeface="微软雅黑 Light" panose="020B0502040204020203" pitchFamily="34" charset="-122"/>
              </a:rPr>
              <a:t>F</a:t>
            </a:r>
            <a:r>
              <a:rPr lang="en-US" altLang="zh-CN" sz="2000" b="1" dirty="0">
                <a:latin typeface="微软雅黑 Light" panose="020B0502040204020203" pitchFamily="34" charset="-122"/>
                <a:ea typeface="微软雅黑 Light" panose="020B0502040204020203" pitchFamily="34" charset="-122"/>
              </a:rPr>
              <a:t>/</a:t>
            </a:r>
            <a:r>
              <a:rPr lang="en-US" altLang="zh-CN" sz="2000" b="1" i="1" dirty="0">
                <a:latin typeface="微软雅黑 Light" panose="020B0502040204020203" pitchFamily="34" charset="-122"/>
                <a:ea typeface="微软雅黑 Light" panose="020B0502040204020203" pitchFamily="34" charset="-122"/>
              </a:rPr>
              <a:t>u</a:t>
            </a:r>
            <a:r>
              <a:rPr lang="en-US" altLang="zh-CN" sz="2000" b="1" dirty="0">
                <a:latin typeface="微软雅黑 Light" panose="020B0502040204020203" pitchFamily="34" charset="-122"/>
                <a:ea typeface="微软雅黑 Light" panose="020B0502040204020203" pitchFamily="34" charset="-122"/>
              </a:rPr>
              <a:t> = 1 </a:t>
            </a:r>
            <a:r>
              <a:rPr lang="zh-CN" altLang="en-US" sz="2000" b="1" dirty="0">
                <a:latin typeface="微软雅黑 Light" panose="020B0502040204020203" pitchFamily="34" charset="-122"/>
                <a:ea typeface="微软雅黑 Light" panose="020B0502040204020203" pitchFamily="34" charset="-122"/>
              </a:rPr>
              <a:t>小时。</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设服务器的上传速率 </a:t>
            </a:r>
            <a:r>
              <a:rPr lang="en-US" altLang="zh-CN" sz="2000" b="1" i="1" dirty="0">
                <a:latin typeface="微软雅黑 Light" panose="020B0502040204020203" pitchFamily="34" charset="-122"/>
                <a:ea typeface="微软雅黑 Light" panose="020B0502040204020203" pitchFamily="34" charset="-122"/>
              </a:rPr>
              <a:t>u</a:t>
            </a:r>
            <a:r>
              <a:rPr lang="en-US" altLang="zh-CN" sz="2000" b="1" baseline="-25000" dirty="0">
                <a:latin typeface="微软雅黑 Light" panose="020B0502040204020203" pitchFamily="34" charset="-122"/>
                <a:ea typeface="微软雅黑 Light" panose="020B0502040204020203" pitchFamily="34" charset="-122"/>
              </a:rPr>
              <a:t>s</a:t>
            </a:r>
            <a:r>
              <a:rPr lang="en-US" altLang="zh-CN" sz="2000" b="1" dirty="0">
                <a:latin typeface="微软雅黑 Light" panose="020B0502040204020203" pitchFamily="34" charset="-122"/>
                <a:ea typeface="微软雅黑 Light" panose="020B0502040204020203" pitchFamily="34" charset="-122"/>
              </a:rPr>
              <a:t> = 10</a:t>
            </a:r>
            <a:r>
              <a:rPr lang="en-US" altLang="zh-CN" sz="2000" b="1" i="1" dirty="0">
                <a:latin typeface="微软雅黑 Light" panose="020B0502040204020203" pitchFamily="34" charset="-122"/>
                <a:ea typeface="微软雅黑 Light" panose="020B0502040204020203" pitchFamily="34" charset="-122"/>
              </a:rPr>
              <a:t>u</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 </a:t>
            </a:r>
            <a:r>
              <a:rPr lang="en-US" altLang="zh-CN" sz="2000" b="1" i="1" dirty="0">
                <a:latin typeface="微软雅黑 Light" panose="020B0502040204020203" pitchFamily="34" charset="-122"/>
                <a:ea typeface="微软雅黑 Light" panose="020B0502040204020203" pitchFamily="34" charset="-122"/>
              </a:rPr>
              <a:t>N</a:t>
            </a:r>
            <a:r>
              <a:rPr lang="en-US" altLang="zh-CN" sz="2000" b="1" dirty="0">
                <a:latin typeface="微软雅黑 Light" panose="020B0502040204020203" pitchFamily="34" charset="-122"/>
                <a:ea typeface="微软雅黑 Light" panose="020B0502040204020203" pitchFamily="34" charset="-122"/>
              </a:rPr>
              <a:t> = 30 </a:t>
            </a:r>
            <a:r>
              <a:rPr lang="zh-CN" altLang="en-US" sz="2000" b="1" dirty="0">
                <a:latin typeface="微软雅黑 Light" panose="020B0502040204020203" pitchFamily="34" charset="-122"/>
                <a:ea typeface="微软雅黑 Light" panose="020B0502040204020203" pitchFamily="34" charset="-122"/>
              </a:rPr>
              <a:t>时，</a:t>
            </a:r>
            <a:endParaRPr lang="en-US" altLang="zh-CN" sz="2000" b="1" dirty="0">
              <a:latin typeface="微软雅黑 Light" panose="020B0502040204020203" pitchFamily="34" charset="-122"/>
              <a:ea typeface="微软雅黑 Light" panose="020B0502040204020203" pitchFamily="34" charset="-122"/>
            </a:endParaRPr>
          </a:p>
          <a:p>
            <a:pPr marL="800100" lvl="1" indent="-342900" eaLnBrk="0" hangingPunct="0">
              <a:lnSpc>
                <a:spcPts val="3300"/>
              </a:lnSpc>
              <a:buClr>
                <a:srgbClr val="9900CC"/>
              </a:buClr>
              <a:buFont typeface="+mj-lt"/>
              <a:buAutoNum type="arabicPeriod"/>
            </a:pPr>
            <a:r>
              <a:rPr lang="en-US" altLang="zh-CN" b="1" dirty="0">
                <a:solidFill>
                  <a:srgbClr val="C00000"/>
                </a:solidFill>
                <a:latin typeface="微软雅黑 Light" panose="020B0502040204020203" pitchFamily="34" charset="-122"/>
                <a:ea typeface="微软雅黑 Light" panose="020B0502040204020203" pitchFamily="34" charset="-122"/>
              </a:rPr>
              <a:t>P2P </a:t>
            </a:r>
            <a:r>
              <a:rPr lang="zh-CN" altLang="en-US" b="1" dirty="0">
                <a:solidFill>
                  <a:srgbClr val="C00000"/>
                </a:solidFill>
                <a:latin typeface="微软雅黑 Light" panose="020B0502040204020203" pitchFamily="34" charset="-122"/>
                <a:ea typeface="微软雅黑 Light" panose="020B0502040204020203" pitchFamily="34" charset="-122"/>
              </a:rPr>
              <a:t>方式：</a:t>
            </a:r>
            <a:r>
              <a:rPr lang="zh-CN" altLang="en-US" b="1" dirty="0">
                <a:latin typeface="微软雅黑 Light" panose="020B0502040204020203" pitchFamily="34" charset="-122"/>
                <a:ea typeface="微软雅黑 Light" panose="020B0502040204020203" pitchFamily="34" charset="-122"/>
              </a:rPr>
              <a:t>最少时间的下限是 </a:t>
            </a:r>
            <a:r>
              <a:rPr lang="en-US" altLang="zh-CN" b="1" dirty="0">
                <a:latin typeface="微软雅黑 Light" panose="020B0502040204020203" pitchFamily="34" charset="-122"/>
                <a:ea typeface="微软雅黑 Light" panose="020B0502040204020203" pitchFamily="34" charset="-122"/>
              </a:rPr>
              <a:t>0.75 </a:t>
            </a:r>
            <a:r>
              <a:rPr lang="zh-CN" altLang="en-US" b="1" dirty="0">
                <a:latin typeface="微软雅黑 Light" panose="020B0502040204020203" pitchFamily="34" charset="-122"/>
                <a:ea typeface="微软雅黑 Light" panose="020B0502040204020203" pitchFamily="34" charset="-122"/>
              </a:rPr>
              <a:t>小时 </a:t>
            </a:r>
            <a:r>
              <a:rPr lang="en-US" altLang="zh-CN" b="1" dirty="0">
                <a:latin typeface="微软雅黑 Light" panose="020B0502040204020203" pitchFamily="34" charset="-122"/>
                <a:ea typeface="微软雅黑 Light" panose="020B0502040204020203" pitchFamily="34" charset="-122"/>
              </a:rPr>
              <a:t>&lt; 1 </a:t>
            </a:r>
            <a:r>
              <a:rPr lang="zh-CN" altLang="en-US" b="1" dirty="0">
                <a:latin typeface="微软雅黑 Light" panose="020B0502040204020203" pitchFamily="34" charset="-122"/>
                <a:ea typeface="微软雅黑 Light" panose="020B0502040204020203" pitchFamily="34" charset="-122"/>
              </a:rPr>
              <a:t>小时（不管 </a:t>
            </a:r>
            <a:r>
              <a:rPr lang="en-US" altLang="zh-CN" b="1" i="1" dirty="0">
                <a:latin typeface="微软雅黑 Light" panose="020B0502040204020203" pitchFamily="34" charset="-122"/>
                <a:ea typeface="微软雅黑 Light" panose="020B0502040204020203" pitchFamily="34" charset="-122"/>
              </a:rPr>
              <a:t>N</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多大）。</a:t>
            </a:r>
            <a:endParaRPr lang="en-US" altLang="zh-CN" b="1" dirty="0">
              <a:latin typeface="微软雅黑 Light" panose="020B0502040204020203" pitchFamily="34" charset="-122"/>
              <a:ea typeface="微软雅黑 Light" panose="020B0502040204020203" pitchFamily="34" charset="-122"/>
            </a:endParaRPr>
          </a:p>
          <a:p>
            <a:pPr marL="800100" lvl="1" indent="-342900" eaLnBrk="0" hangingPunct="0">
              <a:lnSpc>
                <a:spcPts val="3300"/>
              </a:lnSpc>
              <a:buClr>
                <a:srgbClr val="9900CC"/>
              </a:buClr>
              <a:buFont typeface="+mj-lt"/>
              <a:buAutoNum type="arabicPeriod"/>
            </a:pPr>
            <a:r>
              <a:rPr lang="zh-CN" altLang="en-US" b="1" dirty="0">
                <a:solidFill>
                  <a:srgbClr val="C00000"/>
                </a:solidFill>
                <a:latin typeface="微软雅黑 Light" panose="020B0502040204020203" pitchFamily="34" charset="-122"/>
                <a:ea typeface="微软雅黑 Light" panose="020B0502040204020203" pitchFamily="34" charset="-122"/>
              </a:rPr>
              <a:t>客户服务器方式：</a:t>
            </a:r>
            <a:r>
              <a:rPr lang="zh-CN" altLang="en-US" b="1" dirty="0">
                <a:latin typeface="微软雅黑 Light" panose="020B0502040204020203" pitchFamily="34" charset="-122"/>
                <a:ea typeface="微软雅黑 Light" panose="020B0502040204020203" pitchFamily="34" charset="-122"/>
              </a:rPr>
              <a:t>最少时间是 </a:t>
            </a:r>
            <a:r>
              <a:rPr lang="en-US" altLang="zh-CN" b="1" dirty="0">
                <a:latin typeface="微软雅黑 Light" panose="020B0502040204020203" pitchFamily="34" charset="-122"/>
                <a:ea typeface="微软雅黑 Light" panose="020B0502040204020203" pitchFamily="34" charset="-122"/>
              </a:rPr>
              <a:t>3 </a:t>
            </a:r>
            <a:r>
              <a:rPr lang="zh-CN" altLang="en-US" b="1" dirty="0">
                <a:latin typeface="微软雅黑 Light" panose="020B0502040204020203" pitchFamily="34" charset="-122"/>
                <a:ea typeface="微软雅黑 Light" panose="020B0502040204020203" pitchFamily="34" charset="-122"/>
              </a:rPr>
              <a:t>小时。</a:t>
            </a:r>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15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243481" y="578028"/>
            <a:ext cx="465704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6.9.4  </a:t>
            </a:r>
            <a:r>
              <a:rPr lang="zh-CN" altLang="en-US" sz="2400" b="1" dirty="0">
                <a:solidFill>
                  <a:schemeClr val="bg1"/>
                </a:solidFill>
                <a:latin typeface="微软雅黑 Light" panose="020B0502040204020203" pitchFamily="34" charset="-122"/>
                <a:ea typeface="微软雅黑 Light" panose="020B0502040204020203" pitchFamily="34" charset="-122"/>
              </a:rPr>
              <a:t>在 </a:t>
            </a:r>
            <a:r>
              <a:rPr lang="en-US" altLang="zh-CN" sz="2400" b="1" dirty="0">
                <a:solidFill>
                  <a:schemeClr val="bg1"/>
                </a:solidFill>
                <a:latin typeface="微软雅黑 Light" panose="020B0502040204020203" pitchFamily="34" charset="-122"/>
                <a:ea typeface="微软雅黑 Light" panose="020B0502040204020203" pitchFamily="34" charset="-122"/>
              </a:rPr>
              <a:t>P2P </a:t>
            </a:r>
            <a:r>
              <a:rPr lang="zh-CN" altLang="en-US" sz="2400" b="1" dirty="0">
                <a:solidFill>
                  <a:schemeClr val="bg1"/>
                </a:solidFill>
                <a:latin typeface="微软雅黑 Light" panose="020B0502040204020203" pitchFamily="34" charset="-122"/>
                <a:ea typeface="微软雅黑 Light" panose="020B0502040204020203" pitchFamily="34" charset="-122"/>
              </a:rPr>
              <a:t>对等方中搜索对象</a:t>
            </a:r>
          </a:p>
        </p:txBody>
      </p:sp>
      <p:sp>
        <p:nvSpPr>
          <p:cNvPr id="4" name="Rectangle 68"/>
          <p:cNvSpPr>
            <a:spLocks noChangeArrowheads="1"/>
          </p:cNvSpPr>
          <p:nvPr/>
        </p:nvSpPr>
        <p:spPr bwMode="auto">
          <a:xfrm>
            <a:off x="556963" y="1005373"/>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在一个集中式目录服务器中构建查找数据库，简单，但性能上有</a:t>
            </a:r>
            <a:r>
              <a:rPr lang="zh-CN" altLang="en-US" sz="2000" b="1" dirty="0">
                <a:solidFill>
                  <a:srgbClr val="C00000"/>
                </a:solidFill>
                <a:latin typeface="微软雅黑 Light" panose="020B0502040204020203" pitchFamily="34" charset="-122"/>
                <a:ea typeface="微软雅黑 Light" panose="020B0502040204020203" pitchFamily="34" charset="-122"/>
              </a:rPr>
              <a:t>瓶颈。</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是一种采用全分布方法定位内容的 </a:t>
            </a:r>
            <a:r>
              <a:rPr lang="en-US" altLang="zh-CN" sz="2000" b="1" dirty="0">
                <a:latin typeface="微软雅黑 Light" panose="020B0502040204020203" pitchFamily="34" charset="-122"/>
                <a:ea typeface="微软雅黑 Light" panose="020B0502040204020203" pitchFamily="34" charset="-122"/>
              </a:rPr>
              <a:t>P2P </a:t>
            </a:r>
            <a:r>
              <a:rPr lang="zh-CN" altLang="en-US" sz="2000" b="1" dirty="0">
                <a:latin typeface="微软雅黑 Light" panose="020B0502040204020203" pitchFamily="34" charset="-122"/>
                <a:ea typeface="微软雅黑 Light" panose="020B0502040204020203" pitchFamily="34" charset="-122"/>
              </a:rPr>
              <a:t>文件共享应用程序，它解决了集中式目录服务器所造成的瓶颈问题。但 </a:t>
            </a: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是在非结构化的覆盖网络中采用查询洪泛的方法进行查找，因此查找的</a:t>
            </a:r>
            <a:r>
              <a:rPr lang="zh-CN" altLang="en-US" sz="2000" b="1" dirty="0">
                <a:solidFill>
                  <a:srgbClr val="C00000"/>
                </a:solidFill>
                <a:latin typeface="微软雅黑 Light" panose="020B0502040204020203" pitchFamily="34" charset="-122"/>
                <a:ea typeface="微软雅黑 Light" panose="020B0502040204020203" pitchFamily="34" charset="-122"/>
              </a:rPr>
              <a:t>效率较低。</a:t>
            </a:r>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752"/>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243481" y="573747"/>
            <a:ext cx="465704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6.9.4  </a:t>
            </a:r>
            <a:r>
              <a:rPr lang="zh-CN" altLang="en-US" sz="2400" b="1" dirty="0">
                <a:solidFill>
                  <a:schemeClr val="bg1"/>
                </a:solidFill>
                <a:latin typeface="微软雅黑 Light" panose="020B0502040204020203" pitchFamily="34" charset="-122"/>
                <a:ea typeface="微软雅黑 Light" panose="020B0502040204020203" pitchFamily="34" charset="-122"/>
              </a:rPr>
              <a:t>在 </a:t>
            </a:r>
            <a:r>
              <a:rPr lang="en-US" altLang="zh-CN" sz="2400" b="1" dirty="0">
                <a:solidFill>
                  <a:schemeClr val="bg1"/>
                </a:solidFill>
                <a:latin typeface="微软雅黑 Light" panose="020B0502040204020203" pitchFamily="34" charset="-122"/>
                <a:ea typeface="微软雅黑 Light" panose="020B0502040204020203" pitchFamily="34" charset="-122"/>
              </a:rPr>
              <a:t>P2P </a:t>
            </a:r>
            <a:r>
              <a:rPr lang="zh-CN" altLang="en-US" sz="2400" b="1" dirty="0">
                <a:solidFill>
                  <a:schemeClr val="bg1"/>
                </a:solidFill>
                <a:latin typeface="微软雅黑 Light" panose="020B0502040204020203" pitchFamily="34" charset="-122"/>
                <a:ea typeface="微软雅黑 Light" panose="020B0502040204020203" pitchFamily="34" charset="-122"/>
              </a:rPr>
              <a:t>对等方中搜索对象</a:t>
            </a:r>
          </a:p>
        </p:txBody>
      </p:sp>
      <p:sp>
        <p:nvSpPr>
          <p:cNvPr id="4" name="Rectangle 68"/>
          <p:cNvSpPr>
            <a:spLocks noChangeArrowheads="1"/>
          </p:cNvSpPr>
          <p:nvPr/>
        </p:nvSpPr>
        <p:spPr bwMode="auto">
          <a:xfrm>
            <a:off x="556963" y="1009970"/>
            <a:ext cx="8048776" cy="17338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现在广泛使用的索引和查找技术叫做</a:t>
            </a:r>
            <a:r>
              <a:rPr lang="zh-CN" altLang="en-US" sz="2000" b="1" dirty="0">
                <a:solidFill>
                  <a:srgbClr val="C00000"/>
                </a:solidFill>
                <a:latin typeface="微软雅黑 Light" panose="020B0502040204020203" pitchFamily="34" charset="-122"/>
                <a:ea typeface="微软雅黑 Light" panose="020B0502040204020203" pitchFamily="34" charset="-122"/>
              </a:rPr>
              <a:t>分布式散列表 </a:t>
            </a:r>
            <a:r>
              <a:rPr lang="en-US" altLang="zh-CN" sz="2000" b="1" dirty="0">
                <a:latin typeface="微软雅黑 Light" panose="020B0502040204020203" pitchFamily="34" charset="-122"/>
                <a:ea typeface="微软雅黑 Light" panose="020B0502040204020203" pitchFamily="34" charset="-122"/>
              </a:rPr>
              <a:t>DHT (Distributed Hash Table)</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DHT </a:t>
            </a:r>
            <a:r>
              <a:rPr lang="zh-CN" altLang="en-US" sz="2000" b="1" dirty="0">
                <a:latin typeface="微软雅黑 Light" panose="020B0502040204020203" pitchFamily="34" charset="-122"/>
                <a:ea typeface="微软雅黑 Light" panose="020B0502040204020203" pitchFamily="34" charset="-122"/>
              </a:rPr>
              <a:t>也可译为</a:t>
            </a:r>
            <a:r>
              <a:rPr lang="zh-CN" altLang="en-US" sz="2000" b="1" dirty="0">
                <a:solidFill>
                  <a:srgbClr val="C00000"/>
                </a:solidFill>
                <a:latin typeface="微软雅黑 Light" panose="020B0502040204020203" pitchFamily="34" charset="-122"/>
                <a:ea typeface="微软雅黑 Light" panose="020B0502040204020203" pitchFamily="34" charset="-122"/>
              </a:rPr>
              <a:t>分布式哈希表，</a:t>
            </a:r>
            <a:r>
              <a:rPr lang="zh-CN" altLang="en-US" sz="2000" b="1" dirty="0">
                <a:latin typeface="微软雅黑 Light" panose="020B0502040204020203" pitchFamily="34" charset="-122"/>
                <a:ea typeface="微软雅黑 Light" panose="020B0502040204020203" pitchFamily="34" charset="-122"/>
              </a:rPr>
              <a:t>由大量对等方共同维护。</a:t>
            </a:r>
          </a:p>
          <a:p>
            <a:pPr marL="285750" indent="-28575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广泛使用的 </a:t>
            </a:r>
            <a:r>
              <a:rPr lang="en-US" altLang="zh-CN" sz="2000" b="1" dirty="0">
                <a:solidFill>
                  <a:srgbClr val="C00000"/>
                </a:solidFill>
                <a:latin typeface="微软雅黑 Light" panose="020B0502040204020203" pitchFamily="34" charset="-122"/>
                <a:ea typeface="微软雅黑 Light" panose="020B0502040204020203" pitchFamily="34" charset="-122"/>
              </a:rPr>
              <a:t>Chord </a:t>
            </a:r>
            <a:r>
              <a:rPr lang="zh-CN" altLang="en-US" sz="2000" b="1" dirty="0">
                <a:solidFill>
                  <a:srgbClr val="C00000"/>
                </a:solidFill>
                <a:latin typeface="微软雅黑 Light" panose="020B0502040204020203" pitchFamily="34" charset="-122"/>
                <a:ea typeface="微软雅黑 Light" panose="020B0502040204020203" pitchFamily="34" charset="-122"/>
              </a:rPr>
              <a:t>算法</a:t>
            </a:r>
            <a:r>
              <a:rPr lang="zh-CN" altLang="en-US" sz="2000" b="1" dirty="0">
                <a:latin typeface="微软雅黑 Light" panose="020B0502040204020203" pitchFamily="34" charset="-122"/>
                <a:ea typeface="微软雅黑 Light" panose="020B0502040204020203" pitchFamily="34" charset="-122"/>
              </a:rPr>
              <a:t>是美国麻省理工大学于 </a:t>
            </a:r>
            <a:r>
              <a:rPr lang="en-US" altLang="zh-CN" sz="2000" b="1" dirty="0">
                <a:latin typeface="微软雅黑 Light" panose="020B0502040204020203" pitchFamily="34" charset="-122"/>
                <a:ea typeface="微软雅黑 Light" panose="020B0502040204020203" pitchFamily="34" charset="-122"/>
              </a:rPr>
              <a:t>2001 </a:t>
            </a:r>
            <a:r>
              <a:rPr lang="zh-CN" altLang="en-US" sz="2000" b="1" dirty="0">
                <a:latin typeface="微软雅黑 Light" panose="020B0502040204020203" pitchFamily="34" charset="-122"/>
                <a:ea typeface="微软雅黑 Light" panose="020B0502040204020203" pitchFamily="34" charset="-122"/>
              </a:rPr>
              <a:t>年提出的。</a:t>
            </a:r>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55373"/>
            <a:ext cx="7823557"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分布式散列表 </a:t>
            </a:r>
            <a:r>
              <a:rPr lang="en-US" altLang="zh-CN" sz="2000" b="1" dirty="0">
                <a:latin typeface="微软雅黑 Light" panose="020B0502040204020203" pitchFamily="34" charset="-122"/>
                <a:ea typeface="微软雅黑 Light" panose="020B0502040204020203" pitchFamily="34" charset="-122"/>
              </a:rPr>
              <a:t>DHT </a:t>
            </a:r>
            <a:r>
              <a:rPr lang="zh-CN" altLang="en-US" sz="2000" b="1" dirty="0">
                <a:latin typeface="微软雅黑 Light" panose="020B0502040204020203" pitchFamily="34" charset="-122"/>
                <a:ea typeface="微软雅黑 Light" panose="020B0502040204020203" pitchFamily="34" charset="-122"/>
              </a:rPr>
              <a:t>利用散列函数，把资源名 </a:t>
            </a:r>
            <a:r>
              <a:rPr lang="en-US" altLang="zh-CN" sz="2000" b="1" dirty="0">
                <a:latin typeface="微软雅黑 Light" panose="020B0502040204020203" pitchFamily="34" charset="-122"/>
                <a:ea typeface="微软雅黑 Light" panose="020B0502040204020203" pitchFamily="34" charset="-122"/>
              </a:rPr>
              <a:t>K </a:t>
            </a:r>
            <a:r>
              <a:rPr lang="zh-CN" altLang="en-US" sz="2000" b="1" dirty="0">
                <a:latin typeface="微软雅黑 Light" panose="020B0502040204020203" pitchFamily="34" charset="-122"/>
                <a:ea typeface="微软雅黑 Light" panose="020B0502040204020203" pitchFamily="34" charset="-122"/>
              </a:rPr>
              <a:t>及其存放的结点 </a:t>
            </a:r>
            <a:r>
              <a:rPr lang="en-US" altLang="zh-CN" sz="2000" b="1" dirty="0">
                <a:latin typeface="微软雅黑 Light" panose="020B0502040204020203" pitchFamily="34" charset="-122"/>
                <a:ea typeface="微软雅黑 Light" panose="020B0502040204020203" pitchFamily="34" charset="-122"/>
              </a:rPr>
              <a:t>IP </a:t>
            </a:r>
            <a:r>
              <a:rPr lang="zh-CN" altLang="en-US" sz="2000" b="1" dirty="0">
                <a:latin typeface="微软雅黑 Light" panose="020B0502040204020203" pitchFamily="34" charset="-122"/>
                <a:ea typeface="微软雅黑 Light" panose="020B0502040204020203" pitchFamily="34" charset="-122"/>
              </a:rPr>
              <a:t>地址 </a:t>
            </a:r>
            <a:r>
              <a:rPr lang="en-US" altLang="zh-CN" sz="2000" b="1" dirty="0">
                <a:latin typeface="微软雅黑 Light" panose="020B0502040204020203" pitchFamily="34" charset="-122"/>
                <a:ea typeface="微软雅黑 Light" panose="020B0502040204020203" pitchFamily="34" charset="-122"/>
              </a:rPr>
              <a:t>N </a:t>
            </a:r>
            <a:r>
              <a:rPr lang="zh-CN" altLang="en-US" sz="2000" b="1" dirty="0">
                <a:latin typeface="微软雅黑 Light" panose="020B0502040204020203" pitchFamily="34" charset="-122"/>
                <a:ea typeface="微软雅黑 Light" panose="020B0502040204020203" pitchFamily="34" charset="-122"/>
              </a:rPr>
              <a:t>都分别</a:t>
            </a:r>
            <a:r>
              <a:rPr lang="zh-CN" altLang="en-US" sz="2000" b="1" dirty="0">
                <a:solidFill>
                  <a:srgbClr val="C00000"/>
                </a:solidFill>
                <a:latin typeface="微软雅黑 Light" panose="020B0502040204020203" pitchFamily="34" charset="-122"/>
                <a:ea typeface="微软雅黑 Light" panose="020B0502040204020203" pitchFamily="34" charset="-122"/>
              </a:rPr>
              <a:t>映射</a:t>
            </a:r>
            <a:r>
              <a:rPr lang="zh-CN" altLang="en-US" sz="2000" b="1" dirty="0">
                <a:latin typeface="微软雅黑 Light" panose="020B0502040204020203" pitchFamily="34" charset="-122"/>
                <a:ea typeface="微软雅黑 Light" panose="020B0502040204020203" pitchFamily="34" charset="-122"/>
              </a:rPr>
              <a:t>为</a:t>
            </a:r>
            <a:r>
              <a:rPr lang="zh-CN" altLang="en-US" sz="2000" b="1" dirty="0">
                <a:solidFill>
                  <a:srgbClr val="0000FF"/>
                </a:solidFill>
                <a:latin typeface="微软雅黑 Light" panose="020B0502040204020203" pitchFamily="34" charset="-122"/>
                <a:ea typeface="微软雅黑 Light" panose="020B0502040204020203" pitchFamily="34" charset="-122"/>
              </a:rPr>
              <a:t>资源名标识符 </a:t>
            </a:r>
            <a:r>
              <a:rPr lang="en-US" altLang="zh-CN" sz="2000" b="1" dirty="0">
                <a:solidFill>
                  <a:srgbClr val="0000FF"/>
                </a:solidFill>
                <a:latin typeface="微软雅黑 Light" panose="020B0502040204020203" pitchFamily="34" charset="-122"/>
                <a:ea typeface="微软雅黑 Light" panose="020B0502040204020203" pitchFamily="34" charset="-122"/>
              </a:rPr>
              <a:t>KID </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0000FF"/>
                </a:solidFill>
                <a:latin typeface="微软雅黑 Light" panose="020B0502040204020203" pitchFamily="34" charset="-122"/>
                <a:ea typeface="微软雅黑 Light" panose="020B0502040204020203" pitchFamily="34" charset="-122"/>
              </a:rPr>
              <a:t>结点标识符 </a:t>
            </a:r>
            <a:r>
              <a:rPr lang="en-US" altLang="zh-CN" sz="2000" b="1" dirty="0">
                <a:solidFill>
                  <a:srgbClr val="0000FF"/>
                </a:solidFill>
                <a:latin typeface="微软雅黑 Light" panose="020B0502040204020203" pitchFamily="34" charset="-122"/>
                <a:ea typeface="微软雅黑 Light" panose="020B0502040204020203" pitchFamily="34" charset="-122"/>
              </a:rPr>
              <a:t>NID</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Chord </a:t>
            </a:r>
            <a:r>
              <a:rPr lang="zh-CN" altLang="en-US" sz="2000" b="1" dirty="0">
                <a:latin typeface="微软雅黑 Light" panose="020B0502040204020203" pitchFamily="34" charset="-122"/>
                <a:ea typeface="微软雅黑 Light" panose="020B0502040204020203" pitchFamily="34" charset="-122"/>
              </a:rPr>
              <a:t>把结点按标识符数值</a:t>
            </a:r>
            <a:r>
              <a:rPr lang="zh-CN" altLang="en-US" sz="2000" b="1" dirty="0">
                <a:solidFill>
                  <a:srgbClr val="C00000"/>
                </a:solidFill>
                <a:latin typeface="微软雅黑 Light" panose="020B0502040204020203" pitchFamily="34" charset="-122"/>
                <a:ea typeface="微软雅黑 Light" panose="020B0502040204020203" pitchFamily="34" charset="-122"/>
              </a:rPr>
              <a:t>从小到大</a:t>
            </a:r>
            <a:r>
              <a:rPr lang="zh-CN" altLang="en-US" sz="2000" b="1" dirty="0">
                <a:latin typeface="微软雅黑 Light" panose="020B0502040204020203" pitchFamily="34" charset="-122"/>
                <a:ea typeface="微软雅黑 Light" panose="020B0502040204020203" pitchFamily="34" charset="-122"/>
              </a:rPr>
              <a:t>沿顺时针排列成一个</a:t>
            </a:r>
            <a:r>
              <a:rPr lang="zh-CN" altLang="en-US" sz="2000" b="1" dirty="0">
                <a:solidFill>
                  <a:srgbClr val="C00000"/>
                </a:solidFill>
                <a:latin typeface="微软雅黑 Light" panose="020B0502040204020203" pitchFamily="34" charset="-122"/>
                <a:ea typeface="微软雅黑 Light" panose="020B0502040204020203" pitchFamily="34" charset="-122"/>
              </a:rPr>
              <a:t>环形覆盖网络。</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每个资源由 </a:t>
            </a:r>
            <a:r>
              <a:rPr lang="en-US" altLang="zh-CN" sz="2000" b="1" dirty="0">
                <a:latin typeface="微软雅黑 Light" panose="020B0502040204020203" pitchFamily="34" charset="-122"/>
                <a:ea typeface="微软雅黑 Light" panose="020B0502040204020203" pitchFamily="34" charset="-122"/>
              </a:rPr>
              <a:t>Chord </a:t>
            </a:r>
            <a:r>
              <a:rPr lang="zh-CN" altLang="en-US" sz="2000" b="1" dirty="0">
                <a:latin typeface="微软雅黑 Light" panose="020B0502040204020203" pitchFamily="34" charset="-122"/>
                <a:ea typeface="微软雅黑 Light" panose="020B0502040204020203" pitchFamily="34" charset="-122"/>
              </a:rPr>
              <a:t>环上与其标识符值</a:t>
            </a:r>
            <a:r>
              <a:rPr lang="zh-CN" altLang="en-US" sz="2000" b="1" dirty="0">
                <a:solidFill>
                  <a:srgbClr val="C00000"/>
                </a:solidFill>
                <a:latin typeface="微软雅黑 Light" panose="020B0502040204020203" pitchFamily="34" charset="-122"/>
                <a:ea typeface="微软雅黑 Light" panose="020B0502040204020203" pitchFamily="34" charset="-122"/>
              </a:rPr>
              <a:t>最接近</a:t>
            </a:r>
            <a:r>
              <a:rPr lang="zh-CN" altLang="en-US" sz="2000" b="1" dirty="0">
                <a:latin typeface="微软雅黑 Light" panose="020B0502040204020203" pitchFamily="34" charset="-122"/>
                <a:ea typeface="微软雅黑 Light" panose="020B0502040204020203" pitchFamily="34" charset="-122"/>
              </a:rPr>
              <a:t>的下一个结点提供服务。</a:t>
            </a:r>
          </a:p>
        </p:txBody>
      </p:sp>
      <p:sp>
        <p:nvSpPr>
          <p:cNvPr id="5" name="AutoShape 5"/>
          <p:cNvSpPr>
            <a:spLocks noChangeArrowheads="1"/>
          </p:cNvSpPr>
          <p:nvPr/>
        </p:nvSpPr>
        <p:spPr bwMode="auto">
          <a:xfrm>
            <a:off x="556963" y="60853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209378" y="575320"/>
            <a:ext cx="274395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基于 </a:t>
            </a:r>
            <a:r>
              <a:rPr lang="en-US" altLang="zh-CN" sz="2000" b="1" dirty="0">
                <a:solidFill>
                  <a:schemeClr val="bg1"/>
                </a:solidFill>
                <a:latin typeface="微软雅黑 Light" panose="020B0502040204020203" pitchFamily="34" charset="-122"/>
                <a:ea typeface="微软雅黑 Light" panose="020B0502040204020203" pitchFamily="34" charset="-122"/>
              </a:rPr>
              <a:t>DHT </a:t>
            </a:r>
            <a:r>
              <a:rPr lang="zh-CN" altLang="en-US" sz="2000" b="1" dirty="0">
                <a:solidFill>
                  <a:schemeClr val="bg1"/>
                </a:solidFill>
                <a:latin typeface="微软雅黑 Light" panose="020B0502040204020203" pitchFamily="34" charset="-122"/>
                <a:ea typeface="微软雅黑 Light" panose="020B0502040204020203" pitchFamily="34" charset="-122"/>
              </a:rPr>
              <a:t>的 </a:t>
            </a:r>
            <a:r>
              <a:rPr lang="en-US" altLang="zh-CN" sz="2000" b="1" dirty="0">
                <a:solidFill>
                  <a:schemeClr val="bg1"/>
                </a:solidFill>
                <a:latin typeface="微软雅黑 Light" panose="020B0502040204020203" pitchFamily="34" charset="-122"/>
                <a:ea typeface="微软雅黑 Light" panose="020B0502040204020203" pitchFamily="34" charset="-122"/>
              </a:rPr>
              <a:t>Chord </a:t>
            </a:r>
            <a:r>
              <a:rPr lang="zh-CN" altLang="en-US" sz="2000" b="1" dirty="0">
                <a:solidFill>
                  <a:schemeClr val="bg1"/>
                </a:solidFill>
                <a:latin typeface="微软雅黑 Light" panose="020B0502040204020203" pitchFamily="34" charset="-122"/>
                <a:ea typeface="微软雅黑 Light" panose="020B0502040204020203" pitchFamily="34" charset="-122"/>
              </a:rPr>
              <a:t>环</a:t>
            </a:r>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53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09378" y="575320"/>
            <a:ext cx="274395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基于 </a:t>
            </a:r>
            <a:r>
              <a:rPr lang="en-US" altLang="zh-CN" sz="2000" b="1" dirty="0">
                <a:solidFill>
                  <a:schemeClr val="bg1"/>
                </a:solidFill>
                <a:latin typeface="微软雅黑 Light" panose="020B0502040204020203" pitchFamily="34" charset="-122"/>
                <a:ea typeface="微软雅黑 Light" panose="020B0502040204020203" pitchFamily="34" charset="-122"/>
              </a:rPr>
              <a:t>DHT </a:t>
            </a:r>
            <a:r>
              <a:rPr lang="zh-CN" altLang="en-US" sz="2000" b="1" dirty="0">
                <a:solidFill>
                  <a:schemeClr val="bg1"/>
                </a:solidFill>
                <a:latin typeface="微软雅黑 Light" panose="020B0502040204020203" pitchFamily="34" charset="-122"/>
                <a:ea typeface="微软雅黑 Light" panose="020B0502040204020203" pitchFamily="34" charset="-122"/>
              </a:rPr>
              <a:t>的 </a:t>
            </a:r>
            <a:r>
              <a:rPr lang="en-US" altLang="zh-CN" sz="2000" b="1" dirty="0">
                <a:solidFill>
                  <a:schemeClr val="bg1"/>
                </a:solidFill>
                <a:latin typeface="微软雅黑 Light" panose="020B0502040204020203" pitchFamily="34" charset="-122"/>
                <a:ea typeface="微软雅黑 Light" panose="020B0502040204020203" pitchFamily="34" charset="-122"/>
              </a:rPr>
              <a:t>Chord </a:t>
            </a:r>
            <a:r>
              <a:rPr lang="zh-CN" altLang="en-US" sz="2000" b="1" dirty="0">
                <a:solidFill>
                  <a:schemeClr val="bg1"/>
                </a:solidFill>
                <a:latin typeface="微软雅黑 Light" panose="020B0502040204020203" pitchFamily="34" charset="-122"/>
                <a:ea typeface="微软雅黑 Light" panose="020B0502040204020203" pitchFamily="34" charset="-122"/>
              </a:rPr>
              <a:t>环</a:t>
            </a:r>
          </a:p>
        </p:txBody>
      </p:sp>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853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37582" y="575320"/>
            <a:ext cx="3687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通过指针表</a:t>
            </a:r>
            <a:r>
              <a:rPr lang="zh-CN" altLang="en-US" sz="2000" b="1" dirty="0">
                <a:solidFill>
                  <a:srgbClr val="FFC000"/>
                </a:solidFill>
                <a:latin typeface="微软雅黑 Light" panose="020B0502040204020203" pitchFamily="34" charset="-122"/>
                <a:ea typeface="微软雅黑 Light" panose="020B0502040204020203" pitchFamily="34" charset="-122"/>
              </a:rPr>
              <a:t>加速</a:t>
            </a:r>
            <a:r>
              <a:rPr lang="zh-CN" altLang="en-US" sz="2000" b="1" dirty="0">
                <a:solidFill>
                  <a:schemeClr val="bg1"/>
                </a:solidFill>
                <a:latin typeface="微软雅黑 Light" panose="020B0502040204020203" pitchFamily="34" charset="-122"/>
                <a:ea typeface="微软雅黑 Light" panose="020B0502040204020203" pitchFamily="34" charset="-122"/>
              </a:rPr>
              <a:t> </a:t>
            </a:r>
            <a:r>
              <a:rPr lang="en-US" altLang="zh-CN" sz="2000" b="1" dirty="0">
                <a:solidFill>
                  <a:schemeClr val="bg1"/>
                </a:solidFill>
                <a:latin typeface="微软雅黑 Light" panose="020B0502040204020203" pitchFamily="34" charset="-122"/>
                <a:ea typeface="微软雅黑 Light" panose="020B0502040204020203" pitchFamily="34" charset="-122"/>
              </a:rPr>
              <a:t>Chord </a:t>
            </a:r>
            <a:r>
              <a:rPr lang="zh-CN" altLang="en-US" sz="2000" b="1" dirty="0">
                <a:solidFill>
                  <a:schemeClr val="bg1"/>
                </a:solidFill>
                <a:latin typeface="微软雅黑 Light" panose="020B0502040204020203" pitchFamily="34" charset="-122"/>
                <a:ea typeface="微软雅黑 Light" panose="020B0502040204020203" pitchFamily="34" charset="-122"/>
              </a:rPr>
              <a:t>表查找</a:t>
            </a:r>
          </a:p>
        </p:txBody>
      </p:sp>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7913</TotalTime>
  <Words>20223</Words>
  <Application>Microsoft Office PowerPoint</Application>
  <PresentationFormat>全屏显示(16:9)</PresentationFormat>
  <Paragraphs>4853</Paragraphs>
  <Slides>280</Slides>
  <Notes>31</Notes>
  <HiddenSlides>0</HiddenSlides>
  <MMClips>0</MMClips>
  <ScaleCrop>false</ScaleCrop>
  <HeadingPairs>
    <vt:vector size="8" baseType="variant">
      <vt:variant>
        <vt:lpstr>已用的字体</vt:lpstr>
      </vt:variant>
      <vt:variant>
        <vt:i4>4</vt:i4>
      </vt:variant>
      <vt:variant>
        <vt:lpstr>主题</vt:lpstr>
      </vt:variant>
      <vt:variant>
        <vt:i4>1</vt:i4>
      </vt:variant>
      <vt:variant>
        <vt:lpstr>嵌入 OLE 服务器</vt:lpstr>
      </vt:variant>
      <vt:variant>
        <vt:i4>3</vt:i4>
      </vt:variant>
      <vt:variant>
        <vt:lpstr>幻灯片标题</vt:lpstr>
      </vt:variant>
      <vt:variant>
        <vt:i4>280</vt:i4>
      </vt:variant>
    </vt:vector>
  </HeadingPairs>
  <TitlesOfParts>
    <vt:vector size="288" baseType="lpstr">
      <vt:lpstr>Wingdings</vt:lpstr>
      <vt:lpstr>微软雅黑 Light</vt:lpstr>
      <vt:lpstr>Arial</vt:lpstr>
      <vt:lpstr>Montserrat</vt:lpstr>
      <vt:lpstr>network</vt:lpstr>
      <vt:lpstr>VISIO</vt:lpstr>
      <vt:lpstr>Visio</vt:lpstr>
      <vt:lpstr>Microsoft ClipArt Gallery</vt:lpstr>
      <vt:lpstr>PowerPoint 演示文稿</vt:lpstr>
      <vt:lpstr>计算机网络体系结构</vt:lpstr>
      <vt:lpstr>PowerPoint 演示文稿</vt:lpstr>
      <vt:lpstr>PowerPoint 演示文稿</vt:lpstr>
      <vt:lpstr>应用层协议</vt:lpstr>
      <vt:lpstr>应用层协议</vt:lpstr>
      <vt:lpstr>PowerPoint 演示文稿</vt:lpstr>
      <vt:lpstr>PowerPoint 演示文稿</vt:lpstr>
      <vt:lpstr>PowerPoint 演示文稿</vt:lpstr>
      <vt:lpstr>PowerPoint 演示文稿</vt:lpstr>
      <vt:lpstr>域名解析过程要点</vt:lpstr>
      <vt:lpstr>PowerPoint 演示文稿</vt:lpstr>
      <vt:lpstr>PowerPoint 演示文稿</vt:lpstr>
      <vt:lpstr>PowerPoint 演示文稿</vt:lpstr>
      <vt:lpstr>PowerPoint 演示文稿</vt:lpstr>
      <vt:lpstr>互联网的域名空间结构</vt:lpstr>
      <vt:lpstr>PowerPoint 演示文稿</vt:lpstr>
      <vt:lpstr>PowerPoint 演示文稿</vt:lpstr>
      <vt:lpstr>PowerPoint 演示文稿</vt:lpstr>
      <vt:lpstr>PowerPoint 演示文稿</vt:lpstr>
      <vt:lpstr>域名服务器类型</vt:lpstr>
      <vt:lpstr>1. 根域名服务器</vt:lpstr>
      <vt:lpstr>根域名服务器共有 13 套装置</vt:lpstr>
      <vt:lpstr>根域名服务器共有 13 套装置</vt:lpstr>
      <vt:lpstr>2. 顶级域名服务器</vt:lpstr>
      <vt:lpstr>3. 权限域名服务器</vt:lpstr>
      <vt:lpstr>4. 本地域名服务器</vt:lpstr>
      <vt:lpstr>提高域名服务器的可靠性</vt:lpstr>
      <vt:lpstr>域名解析过程</vt:lpstr>
      <vt:lpstr>递归查询</vt:lpstr>
      <vt:lpstr>迭代查询</vt:lpstr>
      <vt:lpstr>8个报文</vt:lpstr>
      <vt:lpstr>高速缓存</vt:lpstr>
      <vt:lpstr>PowerPoint 演示文稿</vt:lpstr>
      <vt:lpstr>6.2.1  FTP 概述</vt:lpstr>
      <vt:lpstr>文件共享协议</vt:lpstr>
      <vt:lpstr>6.2.2  FTP 的基本工作原理</vt:lpstr>
      <vt:lpstr>PowerPoint 演示文稿</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TFTP 的主要特点</vt:lpstr>
      <vt:lpstr>TFTP 的工作很像停止等待协议</vt:lpstr>
      <vt:lpstr>TFTP 的工作过程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 万维网的工作方式</vt:lpstr>
      <vt:lpstr>万维网必须解决的问题</vt:lpstr>
      <vt:lpstr>6.4.2  统一资源定位符 URL</vt:lpstr>
      <vt:lpstr>1. URL 格式</vt:lpstr>
      <vt:lpstr>2. 使用 HTTPS 的 URL</vt:lpstr>
      <vt:lpstr>PowerPoint 演示文稿</vt:lpstr>
      <vt:lpstr>PowerPoint 演示文稿</vt:lpstr>
      <vt:lpstr>1.  HTTP 的操作过程</vt:lpstr>
      <vt:lpstr>1.  HTTP 的操作过程</vt:lpstr>
      <vt:lpstr>用户浏览页面的两种方法</vt:lpstr>
      <vt:lpstr>HTTP 的主要特点</vt:lpstr>
      <vt:lpstr>请求一个万维网文档所需的时间</vt:lpstr>
      <vt:lpstr>协议 HTTP/1.0</vt:lpstr>
      <vt:lpstr>协议 HTTP/1.1</vt:lpstr>
      <vt:lpstr>协议 HTTP/1.1</vt:lpstr>
      <vt:lpstr>协议 HTTP/1.1</vt:lpstr>
      <vt:lpstr>协议 HTTP/2</vt:lpstr>
      <vt:lpstr>2. 代理服务器</vt:lpstr>
      <vt:lpstr>2. 代理服务器</vt:lpstr>
      <vt:lpstr>2. 代理服务器</vt:lpstr>
      <vt:lpstr>2. 代理服务器</vt:lpstr>
      <vt:lpstr>2. 代理服务器</vt:lpstr>
      <vt:lpstr>2. 代理服务器</vt:lpstr>
      <vt:lpstr>2. 代理服务器</vt:lpstr>
      <vt:lpstr>3. HTTP 的报文结构</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6.4.4  万维网的文档</vt:lpstr>
      <vt:lpstr>1. 超文本标记语言 HTML</vt:lpstr>
      <vt:lpstr>1. 超文本标记语言 HTML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XML</vt:lpstr>
      <vt:lpstr>XHTML</vt:lpstr>
      <vt:lpstr>CSS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  全文检索搜索和分类目录搜索</vt:lpstr>
      <vt:lpstr>PowerPoint 演示文稿</vt:lpstr>
      <vt:lpstr>一些著名的搜索引擎</vt:lpstr>
      <vt:lpstr>PowerPoint 演示文稿</vt:lpstr>
      <vt:lpstr>PowerPoint 演示文稿</vt:lpstr>
      <vt:lpstr>PowerPoint 演示文稿</vt:lpstr>
      <vt:lpstr>6.4.6  博客和微博</vt:lpstr>
      <vt:lpstr>6.4.7  社交网站</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cn plaman</cp:lastModifiedBy>
  <cp:revision>821</cp:revision>
  <dcterms:created xsi:type="dcterms:W3CDTF">2018-07-18T08:51:30Z</dcterms:created>
  <dcterms:modified xsi:type="dcterms:W3CDTF">2025-11-26T14:19:19Z</dcterms:modified>
</cp:coreProperties>
</file>