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1"/>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674" r:id="rId166"/>
    <p:sldId id="437" r:id="rId167"/>
    <p:sldId id="438" r:id="rId168"/>
    <p:sldId id="563" r:id="rId169"/>
    <p:sldId id="439" r:id="rId170"/>
    <p:sldId id="440" r:id="rId171"/>
    <p:sldId id="441" r:id="rId172"/>
    <p:sldId id="442" r:id="rId173"/>
    <p:sldId id="443" r:id="rId174"/>
    <p:sldId id="444" r:id="rId175"/>
    <p:sldId id="445" r:id="rId176"/>
    <p:sldId id="446" r:id="rId177"/>
    <p:sldId id="447" r:id="rId178"/>
    <p:sldId id="448" r:id="rId179"/>
    <p:sldId id="449" r:id="rId180"/>
    <p:sldId id="669" r:id="rId181"/>
    <p:sldId id="672" r:id="rId182"/>
    <p:sldId id="673" r:id="rId183"/>
    <p:sldId id="670" r:id="rId184"/>
    <p:sldId id="671" r:id="rId185"/>
    <p:sldId id="450" r:id="rId186"/>
    <p:sldId id="451" r:id="rId187"/>
    <p:sldId id="452" r:id="rId188"/>
    <p:sldId id="453" r:id="rId189"/>
    <p:sldId id="454" r:id="rId190"/>
    <p:sldId id="455" r:id="rId191"/>
    <p:sldId id="456" r:id="rId192"/>
    <p:sldId id="457" r:id="rId193"/>
    <p:sldId id="458" r:id="rId194"/>
    <p:sldId id="459" r:id="rId195"/>
    <p:sldId id="460" r:id="rId196"/>
    <p:sldId id="461" r:id="rId197"/>
    <p:sldId id="462" r:id="rId198"/>
    <p:sldId id="463" r:id="rId199"/>
    <p:sldId id="464" r:id="rId200"/>
    <p:sldId id="466" r:id="rId201"/>
    <p:sldId id="467" r:id="rId202"/>
    <p:sldId id="468" r:id="rId203"/>
    <p:sldId id="469" r:id="rId204"/>
    <p:sldId id="470" r:id="rId205"/>
    <p:sldId id="471" r:id="rId206"/>
    <p:sldId id="472" r:id="rId207"/>
    <p:sldId id="473" r:id="rId208"/>
    <p:sldId id="474" r:id="rId209"/>
    <p:sldId id="475" r:id="rId210"/>
    <p:sldId id="476" r:id="rId211"/>
    <p:sldId id="477" r:id="rId212"/>
    <p:sldId id="478" r:id="rId213"/>
    <p:sldId id="479" r:id="rId214"/>
    <p:sldId id="480" r:id="rId215"/>
    <p:sldId id="481" r:id="rId216"/>
    <p:sldId id="482" r:id="rId217"/>
    <p:sldId id="483" r:id="rId218"/>
    <p:sldId id="484" r:id="rId219"/>
    <p:sldId id="485" r:id="rId220"/>
    <p:sldId id="486" r:id="rId221"/>
    <p:sldId id="487" r:id="rId222"/>
    <p:sldId id="488" r:id="rId223"/>
    <p:sldId id="489" r:id="rId224"/>
    <p:sldId id="490" r:id="rId225"/>
    <p:sldId id="491" r:id="rId226"/>
    <p:sldId id="492" r:id="rId227"/>
    <p:sldId id="493" r:id="rId228"/>
    <p:sldId id="494" r:id="rId229"/>
    <p:sldId id="495" r:id="rId230"/>
    <p:sldId id="496" r:id="rId231"/>
    <p:sldId id="497" r:id="rId232"/>
    <p:sldId id="498" r:id="rId233"/>
    <p:sldId id="499" r:id="rId234"/>
    <p:sldId id="500" r:id="rId235"/>
    <p:sldId id="501" r:id="rId236"/>
    <p:sldId id="502" r:id="rId237"/>
    <p:sldId id="503" r:id="rId238"/>
    <p:sldId id="504" r:id="rId239"/>
    <p:sldId id="506" r:id="rId240"/>
    <p:sldId id="507" r:id="rId241"/>
    <p:sldId id="508" r:id="rId242"/>
    <p:sldId id="509" r:id="rId243"/>
    <p:sldId id="510" r:id="rId244"/>
    <p:sldId id="511" r:id="rId245"/>
    <p:sldId id="512" r:id="rId246"/>
    <p:sldId id="513" r:id="rId247"/>
    <p:sldId id="515" r:id="rId248"/>
    <p:sldId id="634" r:id="rId249"/>
    <p:sldId id="635" r:id="rId250"/>
    <p:sldId id="636" r:id="rId251"/>
    <p:sldId id="519" r:id="rId252"/>
    <p:sldId id="641" r:id="rId253"/>
    <p:sldId id="637" r:id="rId254"/>
    <p:sldId id="638" r:id="rId255"/>
    <p:sldId id="523" r:id="rId256"/>
    <p:sldId id="648" r:id="rId257"/>
    <p:sldId id="649" r:id="rId258"/>
    <p:sldId id="526" r:id="rId259"/>
    <p:sldId id="527" r:id="rId260"/>
    <p:sldId id="650" r:id="rId261"/>
    <p:sldId id="532" r:id="rId262"/>
    <p:sldId id="651" r:id="rId263"/>
    <p:sldId id="533" r:id="rId264"/>
    <p:sldId id="639" r:id="rId265"/>
    <p:sldId id="534" r:id="rId266"/>
    <p:sldId id="535" r:id="rId267"/>
    <p:sldId id="538" r:id="rId268"/>
    <p:sldId id="571" r:id="rId269"/>
    <p:sldId id="654" r:id="rId270"/>
    <p:sldId id="540" r:id="rId271"/>
    <p:sldId id="541" r:id="rId272"/>
    <p:sldId id="653" r:id="rId273"/>
    <p:sldId id="652" r:id="rId274"/>
    <p:sldId id="655" r:id="rId275"/>
    <p:sldId id="542" r:id="rId276"/>
    <p:sldId id="543" r:id="rId277"/>
    <p:sldId id="544" r:id="rId278"/>
    <p:sldId id="640" r:id="rId279"/>
    <p:sldId id="546" r:id="rId280"/>
  </p:sldIdLst>
  <p:sldSz cx="9144000" cy="5143500" type="screen16x9"/>
  <p:notesSz cx="6858000" cy="9144000"/>
  <p:embeddedFontLst>
    <p:embeddedFont>
      <p:font typeface="Montserrat" panose="00000500000000000000" pitchFamily="2" charset="0"/>
      <p:regular r:id="rId282"/>
    </p:embeddedFont>
    <p:embeddedFont>
      <p:font typeface="微软雅黑" panose="020B0503020204020204" pitchFamily="34" charset="-122"/>
      <p:regular r:id="rId283"/>
      <p:bold r:id="rId284"/>
    </p:embeddedFont>
    <p:embeddedFont>
      <p:font typeface="微软雅黑 Light" panose="020B0502040204020203" pitchFamily="34" charset="-122"/>
      <p:regular r:id="rId28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A19F"/>
    <a:srgbClr val="4BACC6"/>
    <a:srgbClr val="F79646"/>
    <a:srgbClr val="D7E4BD"/>
    <a:srgbClr val="FF00FF"/>
    <a:srgbClr val="5780CA"/>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varScale="1">
        <p:scale>
          <a:sx n="139" d="100"/>
          <a:sy n="139" d="100"/>
        </p:scale>
        <p:origin x="126" y="288"/>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3.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font" Target="fonts/font4.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heme" Target="theme/theme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tableStyles" Target="tableStyle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2026/8/7</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201</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254</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260</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265</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271</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273</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279</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cxnSp>
        <p:nvCxnSpPr>
          <p:cNvPr id="6" name="直接箭头连接符 5">
            <a:extLst>
              <a:ext uri="{FF2B5EF4-FFF2-40B4-BE49-F238E27FC236}">
                <a16:creationId xmlns:a16="http://schemas.microsoft.com/office/drawing/2014/main" id="{33B88462-62FF-5B83-A014-51E492FF6873}"/>
              </a:ext>
            </a:extLst>
          </p:cNvPr>
          <p:cNvCxnSpPr>
            <a:stCxn id="14" idx="3"/>
            <a:endCxn id="16" idx="1"/>
          </p:cNvCxnSpPr>
          <p:nvPr/>
        </p:nvCxnSpPr>
        <p:spPr>
          <a:xfrm>
            <a:off x="2494634" y="4424837"/>
            <a:ext cx="4154732"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913A986-441F-965D-C084-A73FC8210A11}"/>
              </a:ext>
            </a:extLst>
          </p:cNvPr>
          <p:cNvCxnSpPr>
            <a:stCxn id="13" idx="2"/>
            <a:endCxn id="14" idx="0"/>
          </p:cNvCxnSpPr>
          <p:nvPr/>
        </p:nvCxnSpPr>
        <p:spPr>
          <a:xfrm>
            <a:off x="1986546" y="3504767"/>
            <a:ext cx="0" cy="72010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9D33DBC-A003-8FDA-CF9C-E3C50AF60F8B}"/>
              </a:ext>
            </a:extLst>
          </p:cNvPr>
          <p:cNvCxnSpPr>
            <a:stCxn id="26" idx="2"/>
            <a:endCxn id="13" idx="0"/>
          </p:cNvCxnSpPr>
          <p:nvPr/>
        </p:nvCxnSpPr>
        <p:spPr>
          <a:xfrm flipH="1">
            <a:off x="1986546" y="2597461"/>
            <a:ext cx="1" cy="50736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4A0B8215-6076-4544-8981-FC96C76BBE35}"/>
              </a:ext>
            </a:extLst>
          </p:cNvPr>
          <p:cNvCxnSpPr>
            <a:stCxn id="27" idx="2"/>
            <a:endCxn id="15" idx="0"/>
          </p:cNvCxnSpPr>
          <p:nvPr/>
        </p:nvCxnSpPr>
        <p:spPr>
          <a:xfrm>
            <a:off x="7157454" y="2597461"/>
            <a:ext cx="1" cy="50736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42151658-EF36-5F18-2774-D4D639558DAD}"/>
              </a:ext>
            </a:extLst>
          </p:cNvPr>
          <p:cNvCxnSpPr>
            <a:stCxn id="15" idx="2"/>
            <a:endCxn id="16" idx="0"/>
          </p:cNvCxnSpPr>
          <p:nvPr/>
        </p:nvCxnSpPr>
        <p:spPr>
          <a:xfrm>
            <a:off x="7157455" y="3504767"/>
            <a:ext cx="0" cy="720101"/>
          </a:xfrm>
          <a:prstGeom prst="line">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24AE0-9FC3-9FA7-17B6-BCF28386EDFD}"/>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81C7498A-40FF-8F4C-07E5-051674AAF49F}"/>
              </a:ext>
            </a:extLst>
          </p:cNvPr>
          <p:cNvSpPr/>
          <p:nvPr/>
        </p:nvSpPr>
        <p:spPr>
          <a:xfrm>
            <a:off x="1880432" y="2382949"/>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DHCP</a:t>
            </a:r>
            <a:endParaRPr lang="zh-CN" altLang="en-US" sz="1200" dirty="0">
              <a:latin typeface="Montserrat" panose="00000500000000000000" pitchFamily="2" charset="0"/>
              <a:ea typeface="微软雅黑 Light" panose="020B0502040204020203" pitchFamily="34" charset="-122"/>
            </a:endParaRPr>
          </a:p>
        </p:txBody>
      </p:sp>
      <p:sp>
        <p:nvSpPr>
          <p:cNvPr id="24" name="矩形: 圆角 23">
            <a:extLst>
              <a:ext uri="{FF2B5EF4-FFF2-40B4-BE49-F238E27FC236}">
                <a16:creationId xmlns:a16="http://schemas.microsoft.com/office/drawing/2014/main" id="{8DDFDE0D-47FE-1E88-FDF9-EF48D58CC9C9}"/>
              </a:ext>
            </a:extLst>
          </p:cNvPr>
          <p:cNvSpPr/>
          <p:nvPr/>
        </p:nvSpPr>
        <p:spPr>
          <a:xfrm>
            <a:off x="3002664" y="1289331"/>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UDP</a:t>
            </a:r>
            <a:endParaRPr lang="zh-CN" altLang="en-US" sz="1200" dirty="0">
              <a:latin typeface="Montserrat" panose="00000500000000000000" pitchFamily="2" charset="0"/>
              <a:ea typeface="微软雅黑 Light" panose="020B0502040204020203" pitchFamily="34" charset="-122"/>
            </a:endParaRPr>
          </a:p>
        </p:txBody>
      </p:sp>
      <p:sp>
        <p:nvSpPr>
          <p:cNvPr id="25" name="矩形: 圆角 24">
            <a:extLst>
              <a:ext uri="{FF2B5EF4-FFF2-40B4-BE49-F238E27FC236}">
                <a16:creationId xmlns:a16="http://schemas.microsoft.com/office/drawing/2014/main" id="{FEEC9FB4-2574-9AAB-BEF3-B33977A5BDA8}"/>
              </a:ext>
            </a:extLst>
          </p:cNvPr>
          <p:cNvSpPr/>
          <p:nvPr/>
        </p:nvSpPr>
        <p:spPr>
          <a:xfrm>
            <a:off x="3002664" y="1966210"/>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Role</a:t>
            </a:r>
            <a:endParaRPr lang="zh-CN" altLang="en-US" sz="1200" dirty="0">
              <a:latin typeface="Montserrat" panose="00000500000000000000" pitchFamily="2" charset="0"/>
              <a:ea typeface="微软雅黑 Light" panose="020B0502040204020203" pitchFamily="34" charset="-122"/>
            </a:endParaRPr>
          </a:p>
        </p:txBody>
      </p:sp>
      <p:sp>
        <p:nvSpPr>
          <p:cNvPr id="27" name="矩形: 圆角 26">
            <a:extLst>
              <a:ext uri="{FF2B5EF4-FFF2-40B4-BE49-F238E27FC236}">
                <a16:creationId xmlns:a16="http://schemas.microsoft.com/office/drawing/2014/main" id="{085E840C-97DB-D448-149F-FC8E809682F4}"/>
              </a:ext>
            </a:extLst>
          </p:cNvPr>
          <p:cNvSpPr/>
          <p:nvPr/>
        </p:nvSpPr>
        <p:spPr>
          <a:xfrm>
            <a:off x="3002664" y="2857107"/>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Packet</a:t>
            </a:r>
            <a:endParaRPr lang="zh-CN" altLang="en-US" sz="1200" dirty="0">
              <a:latin typeface="Montserrat" panose="00000500000000000000" pitchFamily="2" charset="0"/>
              <a:ea typeface="微软雅黑 Light" panose="020B0502040204020203" pitchFamily="34" charset="-122"/>
            </a:endParaRPr>
          </a:p>
        </p:txBody>
      </p:sp>
      <p:sp>
        <p:nvSpPr>
          <p:cNvPr id="32" name="矩形: 圆角 31">
            <a:extLst>
              <a:ext uri="{FF2B5EF4-FFF2-40B4-BE49-F238E27FC236}">
                <a16:creationId xmlns:a16="http://schemas.microsoft.com/office/drawing/2014/main" id="{232D8848-BD0E-BF67-7885-C1117DF92399}"/>
              </a:ext>
            </a:extLst>
          </p:cNvPr>
          <p:cNvSpPr/>
          <p:nvPr/>
        </p:nvSpPr>
        <p:spPr>
          <a:xfrm>
            <a:off x="4310985" y="2535723"/>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Discover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94CE5291-3655-9F01-140F-50BC9193F8D9}"/>
              </a:ext>
            </a:extLst>
          </p:cNvPr>
          <p:cNvSpPr/>
          <p:nvPr/>
        </p:nvSpPr>
        <p:spPr>
          <a:xfrm>
            <a:off x="4310985" y="317849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ACK</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DBF3BC0C-D1BD-D4A4-0B1D-7C5D93BF1EBB}"/>
              </a:ext>
            </a:extLst>
          </p:cNvPr>
          <p:cNvCxnSpPr>
            <a:cxnSpLocks/>
            <a:stCxn id="23" idx="3"/>
            <a:endCxn id="24" idx="1"/>
          </p:cNvCxnSpPr>
          <p:nvPr/>
        </p:nvCxnSpPr>
        <p:spPr>
          <a:xfrm flipV="1">
            <a:off x="2744432" y="1415331"/>
            <a:ext cx="258232" cy="1111618"/>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B1EFB3AC-BC84-4C1A-2281-7553D713E8E1}"/>
              </a:ext>
            </a:extLst>
          </p:cNvPr>
          <p:cNvCxnSpPr>
            <a:stCxn id="23" idx="3"/>
            <a:endCxn id="27" idx="1"/>
          </p:cNvCxnSpPr>
          <p:nvPr/>
        </p:nvCxnSpPr>
        <p:spPr>
          <a:xfrm>
            <a:off x="2744432" y="2526949"/>
            <a:ext cx="258232" cy="474158"/>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0E43D024-04AC-D99A-F435-AE728FB730AC}"/>
              </a:ext>
            </a:extLst>
          </p:cNvPr>
          <p:cNvCxnSpPr>
            <a:stCxn id="25" idx="1"/>
            <a:endCxn id="23" idx="3"/>
          </p:cNvCxnSpPr>
          <p:nvPr/>
        </p:nvCxnSpPr>
        <p:spPr>
          <a:xfrm rot="10800000" flipV="1">
            <a:off x="2744432" y="2110209"/>
            <a:ext cx="258232" cy="416739"/>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109CACA8-3C87-A246-F643-CD247E31FF83}"/>
              </a:ext>
            </a:extLst>
          </p:cNvPr>
          <p:cNvCxnSpPr>
            <a:cxnSpLocks/>
            <a:stCxn id="24" idx="3"/>
            <a:endCxn id="51" idx="1"/>
          </p:cNvCxnSpPr>
          <p:nvPr/>
        </p:nvCxnSpPr>
        <p:spPr>
          <a:xfrm flipV="1">
            <a:off x="4154664" y="127889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F3B4846D-D180-0DB6-B14E-A32118D190A2}"/>
              </a:ext>
            </a:extLst>
          </p:cNvPr>
          <p:cNvCxnSpPr>
            <a:cxnSpLocks/>
            <a:stCxn id="53" idx="1"/>
            <a:endCxn id="24" idx="3"/>
          </p:cNvCxnSpPr>
          <p:nvPr/>
        </p:nvCxnSpPr>
        <p:spPr>
          <a:xfrm rot="10800000">
            <a:off x="4154664" y="141533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C8F85491-4968-377A-0111-5B40A0A39946}"/>
              </a:ext>
            </a:extLst>
          </p:cNvPr>
          <p:cNvCxnSpPr>
            <a:cxnSpLocks/>
            <a:stCxn id="27" idx="3"/>
            <a:endCxn id="32" idx="1"/>
          </p:cNvCxnSpPr>
          <p:nvPr/>
        </p:nvCxnSpPr>
        <p:spPr>
          <a:xfrm flipV="1">
            <a:off x="4154664" y="2679723"/>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B49AC69F-9300-3E0B-0B71-EE4BB39102A0}"/>
              </a:ext>
            </a:extLst>
          </p:cNvPr>
          <p:cNvCxnSpPr>
            <a:cxnSpLocks/>
            <a:stCxn id="33" idx="1"/>
            <a:endCxn id="27" idx="3"/>
          </p:cNvCxnSpPr>
          <p:nvPr/>
        </p:nvCxnSpPr>
        <p:spPr>
          <a:xfrm rot="10800000">
            <a:off x="4154665" y="3001107"/>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7E0604CC-6118-D388-584A-01BF660833DC}"/>
              </a:ext>
            </a:extLst>
          </p:cNvPr>
          <p:cNvSpPr txBox="1"/>
          <p:nvPr/>
        </p:nvSpPr>
        <p:spPr>
          <a:xfrm>
            <a:off x="4310985" y="1748862"/>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Client</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5AD8DC0D-DDB8-3F5F-25C4-9689E3B43A3B}"/>
              </a:ext>
            </a:extLst>
          </p:cNvPr>
          <p:cNvSpPr txBox="1"/>
          <p:nvPr/>
        </p:nvSpPr>
        <p:spPr>
          <a:xfrm>
            <a:off x="4310986" y="114039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67/Server</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A5E95E2E-C012-C565-7FC9-E2CE5AF8D020}"/>
              </a:ext>
            </a:extLst>
          </p:cNvPr>
          <p:cNvSpPr txBox="1"/>
          <p:nvPr/>
        </p:nvSpPr>
        <p:spPr>
          <a:xfrm>
            <a:off x="4310986" y="141327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68/Client</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B0BBC318-76D2-69AC-316E-45BDD3B05A80}"/>
              </a:ext>
            </a:extLst>
          </p:cNvPr>
          <p:cNvSpPr txBox="1"/>
          <p:nvPr/>
        </p:nvSpPr>
        <p:spPr>
          <a:xfrm>
            <a:off x="4310985" y="2181907"/>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Server</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3531EDAE-CEBC-0ACD-2E05-55BEF04D04AE}"/>
              </a:ext>
            </a:extLst>
          </p:cNvPr>
          <p:cNvCxnSpPr>
            <a:cxnSpLocks/>
            <a:stCxn id="3" idx="1"/>
            <a:endCxn id="25" idx="3"/>
          </p:cNvCxnSpPr>
          <p:nvPr/>
        </p:nvCxnSpPr>
        <p:spPr>
          <a:xfrm rot="10800000">
            <a:off x="4154665" y="2110211"/>
            <a:ext cx="156321" cy="21019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2C5990E6-177A-AB0C-9A1A-AAE41B001FCD}"/>
              </a:ext>
            </a:extLst>
          </p:cNvPr>
          <p:cNvCxnSpPr>
            <a:cxnSpLocks/>
            <a:stCxn id="44" idx="1"/>
            <a:endCxn id="25" idx="3"/>
          </p:cNvCxnSpPr>
          <p:nvPr/>
        </p:nvCxnSpPr>
        <p:spPr>
          <a:xfrm rot="10800000" flipV="1">
            <a:off x="4154665" y="1887362"/>
            <a:ext cx="156321" cy="22284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D4F6CE0A-1971-3C70-3BB2-A245524E6AF6}"/>
              </a:ext>
            </a:extLst>
          </p:cNvPr>
          <p:cNvSpPr txBox="1"/>
          <p:nvPr/>
        </p:nvSpPr>
        <p:spPr>
          <a:xfrm>
            <a:off x="4310985" y="1971711"/>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Agent</a:t>
            </a:r>
            <a:endParaRPr lang="zh-CN" altLang="en-US" dirty="0">
              <a:ea typeface="微软雅黑 Light" panose="020B0502040204020203" pitchFamily="34" charset="-122"/>
            </a:endParaRPr>
          </a:p>
        </p:txBody>
      </p:sp>
      <p:sp>
        <p:nvSpPr>
          <p:cNvPr id="12" name="矩形: 圆角 11">
            <a:extLst>
              <a:ext uri="{FF2B5EF4-FFF2-40B4-BE49-F238E27FC236}">
                <a16:creationId xmlns:a16="http://schemas.microsoft.com/office/drawing/2014/main" id="{66EF521E-D629-D087-7381-55B8537CAD96}"/>
              </a:ext>
            </a:extLst>
          </p:cNvPr>
          <p:cNvSpPr/>
          <p:nvPr/>
        </p:nvSpPr>
        <p:spPr>
          <a:xfrm>
            <a:off x="4310985" y="274997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Offer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271382EA-29E7-734D-6DDA-A16E98E1E4D0}"/>
              </a:ext>
            </a:extLst>
          </p:cNvPr>
          <p:cNvSpPr/>
          <p:nvPr/>
        </p:nvSpPr>
        <p:spPr>
          <a:xfrm>
            <a:off x="4310985" y="2964235"/>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Request</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4815593A-5D80-4E83-38BC-CC71F9F65019}"/>
              </a:ext>
            </a:extLst>
          </p:cNvPr>
          <p:cNvSpPr/>
          <p:nvPr/>
        </p:nvSpPr>
        <p:spPr>
          <a:xfrm>
            <a:off x="3002664" y="3616255"/>
            <a:ext cx="1152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Timer</a:t>
            </a:r>
            <a:endParaRPr lang="zh-CN" altLang="en-US" sz="1200" dirty="0">
              <a:latin typeface="Montserrat" panose="00000500000000000000" pitchFamily="2" charset="0"/>
              <a:ea typeface="微软雅黑 Light" panose="020B0502040204020203" pitchFamily="34" charset="-122"/>
            </a:endParaRPr>
          </a:p>
        </p:txBody>
      </p:sp>
      <p:cxnSp>
        <p:nvCxnSpPr>
          <p:cNvPr id="15" name="连接符: 曲线 14">
            <a:extLst>
              <a:ext uri="{FF2B5EF4-FFF2-40B4-BE49-F238E27FC236}">
                <a16:creationId xmlns:a16="http://schemas.microsoft.com/office/drawing/2014/main" id="{9AB62444-1624-2068-ECE8-2B5D9A539BEE}"/>
              </a:ext>
            </a:extLst>
          </p:cNvPr>
          <p:cNvCxnSpPr>
            <a:cxnSpLocks/>
            <a:stCxn id="14" idx="3"/>
            <a:endCxn id="17" idx="1"/>
          </p:cNvCxnSpPr>
          <p:nvPr/>
        </p:nvCxnSpPr>
        <p:spPr>
          <a:xfrm flipV="1">
            <a:off x="4154664" y="360581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16" name="连接符: 曲线 15">
            <a:extLst>
              <a:ext uri="{FF2B5EF4-FFF2-40B4-BE49-F238E27FC236}">
                <a16:creationId xmlns:a16="http://schemas.microsoft.com/office/drawing/2014/main" id="{195E5F41-A02E-8B59-F821-84CC37FF083E}"/>
              </a:ext>
            </a:extLst>
          </p:cNvPr>
          <p:cNvCxnSpPr>
            <a:cxnSpLocks/>
            <a:stCxn id="18" idx="1"/>
            <a:endCxn id="14" idx="3"/>
          </p:cNvCxnSpPr>
          <p:nvPr/>
        </p:nvCxnSpPr>
        <p:spPr>
          <a:xfrm rot="10800000">
            <a:off x="4154664" y="374225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9D1ECBC3-980C-B351-5DAF-9CC52CB33741}"/>
              </a:ext>
            </a:extLst>
          </p:cNvPr>
          <p:cNvSpPr txBox="1"/>
          <p:nvPr/>
        </p:nvSpPr>
        <p:spPr>
          <a:xfrm>
            <a:off x="4310986" y="346731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T1/50%</a:t>
            </a:r>
            <a:endParaRPr lang="zh-CN" altLang="en-US" dirty="0">
              <a:ea typeface="微软雅黑 Light" panose="020B0502040204020203" pitchFamily="34" charset="-122"/>
            </a:endParaRPr>
          </a:p>
        </p:txBody>
      </p:sp>
      <p:sp>
        <p:nvSpPr>
          <p:cNvPr id="18" name="文本框 17">
            <a:extLst>
              <a:ext uri="{FF2B5EF4-FFF2-40B4-BE49-F238E27FC236}">
                <a16:creationId xmlns:a16="http://schemas.microsoft.com/office/drawing/2014/main" id="{76071964-BBC7-2FBE-9C4A-C810B55E4487}"/>
              </a:ext>
            </a:extLst>
          </p:cNvPr>
          <p:cNvSpPr txBox="1"/>
          <p:nvPr/>
        </p:nvSpPr>
        <p:spPr>
          <a:xfrm>
            <a:off x="4310986" y="374019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T2/87.5%</a:t>
            </a:r>
            <a:endParaRPr lang="zh-CN" altLang="en-US" dirty="0">
              <a:ea typeface="微软雅黑 Light" panose="020B0502040204020203" pitchFamily="34" charset="-122"/>
            </a:endParaRPr>
          </a:p>
        </p:txBody>
      </p:sp>
      <p:cxnSp>
        <p:nvCxnSpPr>
          <p:cNvPr id="19" name="连接符: 曲线 18">
            <a:extLst>
              <a:ext uri="{FF2B5EF4-FFF2-40B4-BE49-F238E27FC236}">
                <a16:creationId xmlns:a16="http://schemas.microsoft.com/office/drawing/2014/main" id="{A587F6DA-D79D-D152-7838-44E9773335E2}"/>
              </a:ext>
            </a:extLst>
          </p:cNvPr>
          <p:cNvCxnSpPr>
            <a:cxnSpLocks/>
            <a:stCxn id="23" idx="3"/>
            <a:endCxn id="14" idx="1"/>
          </p:cNvCxnSpPr>
          <p:nvPr/>
        </p:nvCxnSpPr>
        <p:spPr>
          <a:xfrm>
            <a:off x="2744432" y="2526949"/>
            <a:ext cx="258232" cy="1215306"/>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0880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392054"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529911" y="2697858"/>
            <a:ext cx="14830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402472"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558766" y="3689870"/>
            <a:ext cx="142539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 /</a:t>
            </a:r>
            <a:r>
              <a:rPr lang="zh-CN" altLang="en-US" dirty="0"/>
              <a:t>广播</a:t>
            </a:r>
            <a:endParaRPr lang="en-US" altLang="zh-CN" dirty="0"/>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53277"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791136" y="2697858"/>
              <a:ext cx="14830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63696"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22019" y="3689870"/>
              <a:ext cx="182133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广播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52476" y="2201852"/>
              <a:ext cx="176041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789532" y="2697858"/>
              <a:ext cx="148630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62895" y="3193864"/>
              <a:ext cx="173957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21216" y="3689870"/>
              <a:ext cx="18229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690949"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685338"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单播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22206" y="3689870"/>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690947"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685337"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22205" y="3689870"/>
              <a:ext cx="162095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049813"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230953" y="2697858"/>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049814"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070656" y="2697858"/>
            <a:ext cx="24016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 /</a:t>
            </a:r>
            <a:r>
              <a:rPr lang="zh-CN" altLang="en-US" dirty="0"/>
              <a:t>单播</a:t>
            </a:r>
            <a:endParaRPr lang="en-US" altLang="zh-CN" dirty="0"/>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001725" y="3193864"/>
            <a:ext cx="25394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230953" y="3689870"/>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818D4D0-4E76-2E12-A42D-F4B05E9FDBB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概念</a:t>
            </a:r>
          </a:p>
        </p:txBody>
      </p:sp>
      <p:sp>
        <p:nvSpPr>
          <p:cNvPr id="6" name="内容占位符 5">
            <a:extLst>
              <a:ext uri="{FF2B5EF4-FFF2-40B4-BE49-F238E27FC236}">
                <a16:creationId xmlns:a16="http://schemas.microsoft.com/office/drawing/2014/main" id="{335C1FCC-077A-0CE7-BAB2-EADBDE80DC93}"/>
              </a:ext>
            </a:extLst>
          </p:cNvPr>
          <p:cNvSpPr>
            <a:spLocks noGrp="1"/>
          </p:cNvSpPr>
          <p:nvPr>
            <p:ph sz="quarter" idx="11"/>
          </p:nvPr>
        </p:nvSpPr>
        <p:spPr>
          <a:xfrm>
            <a:off x="486000" y="687518"/>
            <a:ext cx="8172000" cy="4079035"/>
          </a:xfrm>
        </p:spPr>
        <p:txBody>
          <a:bodyPr/>
          <a:lstStyle/>
          <a:p>
            <a:r>
              <a:rPr lang="zh-CN" altLang="en-US" dirty="0"/>
              <a:t>网络管理包括对硬件、软件和人力的使用、综合与协调，以便对网络资源进行监视、测试、配置、分析、评价和控制，这样就能以合理的价格满足网络的一些需求，如实时运行性能，服务质量等</a:t>
            </a:r>
            <a:endParaRPr lang="en-US" altLang="zh-CN" dirty="0"/>
          </a:p>
          <a:p>
            <a:r>
              <a:rPr lang="zh-CN" altLang="en-US" dirty="0"/>
              <a:t>网络管理常简称为网管</a:t>
            </a:r>
          </a:p>
          <a:p>
            <a:endParaRPr lang="zh-CN" altLang="en-US" dirty="0"/>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040315-AD66-2EDB-E612-E9ACD3EC065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功能</a:t>
            </a:r>
          </a:p>
        </p:txBody>
      </p:sp>
      <p:sp>
        <p:nvSpPr>
          <p:cNvPr id="6" name="内容占位符 5">
            <a:extLst>
              <a:ext uri="{FF2B5EF4-FFF2-40B4-BE49-F238E27FC236}">
                <a16:creationId xmlns:a16="http://schemas.microsoft.com/office/drawing/2014/main" id="{592A1FC3-ED4C-B95C-0A5F-B3013D7F9361}"/>
              </a:ext>
            </a:extLst>
          </p:cNvPr>
          <p:cNvSpPr>
            <a:spLocks noGrp="1"/>
          </p:cNvSpPr>
          <p:nvPr>
            <p:ph sz="quarter" idx="11"/>
          </p:nvPr>
        </p:nvSpPr>
        <p:spPr>
          <a:xfrm>
            <a:off x="486000" y="687518"/>
            <a:ext cx="8172000" cy="4079035"/>
          </a:xfrm>
        </p:spPr>
        <p:txBody>
          <a:bodyPr/>
          <a:lstStyle/>
          <a:p>
            <a:r>
              <a:rPr lang="zh-CN" altLang="en-US" dirty="0"/>
              <a:t>故障管理：</a:t>
            </a:r>
            <a:endParaRPr lang="en-US" altLang="zh-CN" dirty="0"/>
          </a:p>
          <a:p>
            <a:pPr lvl="1"/>
            <a:r>
              <a:rPr lang="zh-CN" altLang="en-US" dirty="0"/>
              <a:t>故障检测、隔离和纠正</a:t>
            </a:r>
            <a:endParaRPr lang="en-US" altLang="zh-CN" dirty="0"/>
          </a:p>
          <a:p>
            <a:r>
              <a:rPr lang="zh-CN" altLang="en-US" dirty="0"/>
              <a:t>配置管理：</a:t>
            </a:r>
            <a:endParaRPr lang="en-US" altLang="zh-CN" dirty="0"/>
          </a:p>
          <a:p>
            <a:pPr lvl="1"/>
            <a:r>
              <a:rPr lang="zh-CN" altLang="en-US" dirty="0"/>
              <a:t>初始化网络、并配置网络</a:t>
            </a:r>
            <a:endParaRPr lang="en-US" altLang="zh-CN" dirty="0"/>
          </a:p>
          <a:p>
            <a:r>
              <a:rPr lang="zh-CN" altLang="en-US" dirty="0"/>
              <a:t>计费管理：</a:t>
            </a:r>
            <a:endParaRPr lang="en-US" altLang="zh-CN" dirty="0"/>
          </a:p>
          <a:p>
            <a:pPr lvl="1"/>
            <a:r>
              <a:rPr lang="zh-CN" altLang="en-US" dirty="0"/>
              <a:t>记录网络资源的使用</a:t>
            </a:r>
            <a:endParaRPr lang="en-US" altLang="zh-CN" dirty="0"/>
          </a:p>
          <a:p>
            <a:r>
              <a:rPr lang="zh-CN" altLang="en-US" dirty="0"/>
              <a:t>性能管理：</a:t>
            </a:r>
            <a:endParaRPr lang="en-US" altLang="zh-CN" dirty="0"/>
          </a:p>
          <a:p>
            <a:pPr lvl="1"/>
            <a:r>
              <a:rPr lang="zh-CN" altLang="en-US" dirty="0"/>
              <a:t>估价系统资源的运行状况及通信效率等</a:t>
            </a:r>
            <a:endParaRPr lang="en-US" altLang="zh-CN" dirty="0"/>
          </a:p>
          <a:p>
            <a:r>
              <a:rPr lang="zh-CN" altLang="en-US" dirty="0"/>
              <a:t>网络安全管理：</a:t>
            </a:r>
            <a:endParaRPr lang="en-US" altLang="zh-CN" dirty="0"/>
          </a:p>
          <a:p>
            <a:pPr lvl="1"/>
            <a:r>
              <a:rPr lang="zh-CN" altLang="en-US" dirty="0"/>
              <a:t>对授权机制、访问控制、加密和加密关键字的管理</a:t>
            </a:r>
          </a:p>
          <a:p>
            <a:endParaRPr lang="zh-CN" altLang="en-US" dirty="0"/>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内容占位符 191">
            <a:extLst>
              <a:ext uri="{FF2B5EF4-FFF2-40B4-BE49-F238E27FC236}">
                <a16:creationId xmlns:a16="http://schemas.microsoft.com/office/drawing/2014/main" id="{51AE7522-B598-19C7-6E17-EAC1FB2E2297}"/>
              </a:ext>
            </a:extLst>
          </p:cNvPr>
          <p:cNvSpPr>
            <a:spLocks noGrp="1"/>
          </p:cNvSpPr>
          <p:nvPr>
            <p:ph sz="quarter" idx="11"/>
          </p:nvPr>
        </p:nvSpPr>
        <p:spPr/>
        <p:txBody>
          <a:bodyPr/>
          <a:lstStyle/>
          <a:p>
            <a:endParaRPr lang="zh-CN" altLang="en-US"/>
          </a:p>
        </p:txBody>
      </p:sp>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4B50BF6-1AEE-DB3A-DA96-08850279344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a:t>
            </a: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637EE2-F78C-33BD-D03C-1FCD1D7F83A8}"/>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a:t>
            </a:r>
            <a:r>
              <a:rPr lang="zh-CN" altLang="en-US" dirty="0"/>
              <a:t> 主要构件</a:t>
            </a:r>
          </a:p>
        </p:txBody>
      </p:sp>
      <p:sp>
        <p:nvSpPr>
          <p:cNvPr id="6" name="内容占位符 5">
            <a:extLst>
              <a:ext uri="{FF2B5EF4-FFF2-40B4-BE49-F238E27FC236}">
                <a16:creationId xmlns:a16="http://schemas.microsoft.com/office/drawing/2014/main" id="{D95B2B3E-AD5F-4BB3-EE26-242D812891AB}"/>
              </a:ext>
            </a:extLst>
          </p:cNvPr>
          <p:cNvSpPr>
            <a:spLocks noGrp="1"/>
          </p:cNvSpPr>
          <p:nvPr>
            <p:ph sz="quarter" idx="11"/>
          </p:nvPr>
        </p:nvSpPr>
        <p:spPr>
          <a:xfrm>
            <a:off x="486000" y="687518"/>
            <a:ext cx="8172000" cy="4079035"/>
          </a:xfrm>
        </p:spPr>
        <p:txBody>
          <a:bodyPr/>
          <a:lstStyle/>
          <a:p>
            <a:r>
              <a:rPr lang="zh-CN" altLang="en-US" dirty="0"/>
              <a:t>管理站也常称为网络运行中心 </a:t>
            </a:r>
            <a:r>
              <a:rPr lang="en-US" altLang="zh-CN" dirty="0"/>
              <a:t>NOC (Network Operations Center)</a:t>
            </a:r>
            <a:r>
              <a:rPr lang="zh-CN" altLang="en-US" dirty="0"/>
              <a:t>，是网络管理系统的核心</a:t>
            </a:r>
          </a:p>
          <a:p>
            <a:r>
              <a:rPr lang="zh-CN" altLang="en-US" dirty="0"/>
              <a:t>管理程序是管理站中的关键构件，在运行时就成为管理进程</a:t>
            </a:r>
          </a:p>
          <a:p>
            <a:r>
              <a:rPr lang="zh-CN" altLang="en-US" dirty="0"/>
              <a:t>管理站（硬件）或管理程序（软件）都可称为管理者 </a:t>
            </a:r>
            <a:r>
              <a:rPr lang="en-US" altLang="zh-CN" dirty="0"/>
              <a:t>Manager</a:t>
            </a:r>
          </a:p>
          <a:p>
            <a:pPr lvl="1"/>
            <a:r>
              <a:rPr lang="en-US" altLang="zh-CN" dirty="0"/>
              <a:t>Manager </a:t>
            </a:r>
            <a:r>
              <a:rPr lang="zh-CN" altLang="en-US" dirty="0"/>
              <a:t>不是指人，而是指机器或软件</a:t>
            </a:r>
          </a:p>
          <a:p>
            <a:r>
              <a:rPr lang="zh-CN" altLang="en-US" dirty="0"/>
              <a:t>网络管理员 </a:t>
            </a:r>
            <a:r>
              <a:rPr lang="en-US" altLang="zh-CN" dirty="0"/>
              <a:t>Administrator </a:t>
            </a:r>
            <a:r>
              <a:rPr lang="zh-CN" altLang="en-US" dirty="0"/>
              <a:t>指的是负责网络管理的人员</a:t>
            </a:r>
            <a:endParaRPr lang="en-US" altLang="zh-CN" dirty="0"/>
          </a:p>
          <a:p>
            <a:r>
              <a:rPr lang="zh-CN" altLang="en-US" dirty="0"/>
              <a:t>大型网络往往实行多级管理，因而有多个管理者，而一个管理者一般只管理本地网络的设备</a:t>
            </a:r>
          </a:p>
          <a:p>
            <a:endParaRPr lang="zh-CN" altLang="en-US" dirty="0"/>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C96EAA05-A580-DDA3-54F0-C13B61457DD4}"/>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被管对象 </a:t>
            </a:r>
            <a:r>
              <a:rPr lang="en-US" altLang="zh-CN" dirty="0"/>
              <a:t>(Managed Object)</a:t>
            </a:r>
            <a:endParaRPr lang="zh-CN" altLang="en-US" dirty="0"/>
          </a:p>
        </p:txBody>
      </p:sp>
      <p:sp>
        <p:nvSpPr>
          <p:cNvPr id="6" name="内容占位符 5">
            <a:extLst>
              <a:ext uri="{FF2B5EF4-FFF2-40B4-BE49-F238E27FC236}">
                <a16:creationId xmlns:a16="http://schemas.microsoft.com/office/drawing/2014/main" id="{8EF1F2A0-56FF-A3D0-19F2-A6A047035B47}"/>
              </a:ext>
            </a:extLst>
          </p:cNvPr>
          <p:cNvSpPr>
            <a:spLocks noGrp="1"/>
          </p:cNvSpPr>
          <p:nvPr>
            <p:ph sz="quarter" idx="11"/>
          </p:nvPr>
        </p:nvSpPr>
        <p:spPr>
          <a:xfrm>
            <a:off x="486000" y="687518"/>
            <a:ext cx="8172000" cy="4079035"/>
          </a:xfrm>
        </p:spPr>
        <p:txBody>
          <a:bodyPr/>
          <a:lstStyle/>
          <a:p>
            <a:r>
              <a:rPr lang="zh-CN" altLang="en-US" dirty="0"/>
              <a:t>网络的每一个被管设备（包括设备中的软件）中可能有多个被管对象</a:t>
            </a:r>
          </a:p>
          <a:p>
            <a:r>
              <a:rPr lang="zh-CN" altLang="en-US" dirty="0"/>
              <a:t>被管设备有时可称为网络元素或网元</a:t>
            </a:r>
          </a:p>
          <a:p>
            <a:r>
              <a:rPr lang="zh-CN" altLang="en-US" dirty="0"/>
              <a:t>在被管设备中也会有一些不能被管的对象</a:t>
            </a:r>
          </a:p>
          <a:p>
            <a:endParaRPr lang="zh-CN" altLang="en-US" dirty="0"/>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A9D2534-EBC6-46C0-0F9D-FC695AD3F092}"/>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代理 </a:t>
            </a:r>
            <a:r>
              <a:rPr lang="en-US" altLang="zh-CN" dirty="0"/>
              <a:t>(Agent)</a:t>
            </a:r>
            <a:endParaRPr lang="zh-CN" altLang="en-US" dirty="0"/>
          </a:p>
        </p:txBody>
      </p:sp>
      <p:sp>
        <p:nvSpPr>
          <p:cNvPr id="6" name="内容占位符 5">
            <a:extLst>
              <a:ext uri="{FF2B5EF4-FFF2-40B4-BE49-F238E27FC236}">
                <a16:creationId xmlns:a16="http://schemas.microsoft.com/office/drawing/2014/main" id="{D281313A-FF18-9D75-6838-3568AFB31D11}"/>
              </a:ext>
            </a:extLst>
          </p:cNvPr>
          <p:cNvSpPr>
            <a:spLocks noGrp="1"/>
          </p:cNvSpPr>
          <p:nvPr>
            <p:ph sz="quarter" idx="11"/>
          </p:nvPr>
        </p:nvSpPr>
        <p:spPr>
          <a:xfrm>
            <a:off x="486000" y="687518"/>
            <a:ext cx="8172000" cy="4079035"/>
          </a:xfrm>
        </p:spPr>
        <p:txBody>
          <a:bodyPr/>
          <a:lstStyle/>
          <a:p>
            <a:r>
              <a:rPr lang="zh-CN" altLang="en-US" dirty="0"/>
              <a:t>在每一个被管设备中都要运行一个程序，以便和管理站中的管理程序进行通信</a:t>
            </a:r>
            <a:endParaRPr lang="en-US" altLang="zh-CN" dirty="0"/>
          </a:p>
          <a:p>
            <a:r>
              <a:rPr lang="zh-CN" altLang="en-US" dirty="0"/>
              <a:t>这些运行着的程序叫做网络管理代理程序，或简称为代理</a:t>
            </a:r>
          </a:p>
          <a:p>
            <a:r>
              <a:rPr lang="zh-CN" altLang="en-US" dirty="0"/>
              <a:t>代理程序在管理程序的命令和控制下在被管设备上采取本地的行动</a:t>
            </a:r>
          </a:p>
          <a:p>
            <a:endParaRPr lang="zh-CN" altLang="en-US" dirty="0"/>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9F1E0C-BF49-7752-DC78-B9AE8B1EAD5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网络管理协议</a:t>
            </a:r>
          </a:p>
        </p:txBody>
      </p:sp>
      <p:sp>
        <p:nvSpPr>
          <p:cNvPr id="6" name="内容占位符 5">
            <a:extLst>
              <a:ext uri="{FF2B5EF4-FFF2-40B4-BE49-F238E27FC236}">
                <a16:creationId xmlns:a16="http://schemas.microsoft.com/office/drawing/2014/main" id="{41363C2B-357C-DBF2-7669-48BF89A191BC}"/>
              </a:ext>
            </a:extLst>
          </p:cNvPr>
          <p:cNvSpPr>
            <a:spLocks noGrp="1"/>
          </p:cNvSpPr>
          <p:nvPr>
            <p:ph sz="quarter" idx="11"/>
          </p:nvPr>
        </p:nvSpPr>
        <p:spPr>
          <a:xfrm>
            <a:off x="486000" y="687518"/>
            <a:ext cx="8172000" cy="4079035"/>
          </a:xfrm>
        </p:spPr>
        <p:txBody>
          <a:bodyPr/>
          <a:lstStyle/>
          <a:p>
            <a:r>
              <a:rPr lang="zh-CN" altLang="en-US" dirty="0"/>
              <a:t>网络管理协议简称为网管协议</a:t>
            </a:r>
          </a:p>
          <a:p>
            <a:r>
              <a:rPr lang="zh-CN" altLang="en-US" dirty="0"/>
              <a:t>网络管理协议是管理程序和代理程序之间进行通信的规则</a:t>
            </a:r>
          </a:p>
          <a:p>
            <a:r>
              <a:rPr lang="zh-CN" altLang="en-US" dirty="0"/>
              <a:t>网络管理员利用网络管理协议，通过管理站对网络中的被管设备进行管理</a:t>
            </a:r>
            <a:endParaRPr lang="en-US" altLang="zh-CN" dirty="0"/>
          </a:p>
          <a:p>
            <a:r>
              <a:rPr lang="zh-CN" altLang="en-US" dirty="0"/>
              <a:t>注意：网管协议本身不管理网络</a:t>
            </a:r>
          </a:p>
          <a:p>
            <a:endParaRPr lang="zh-CN" altLang="en-US" dirty="0"/>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DFE4340-D7EA-3732-EDF0-C5BCAC81FD33}"/>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A4C91915-E374-693C-E226-A646CB5899FF}"/>
              </a:ext>
            </a:extLst>
          </p:cNvPr>
          <p:cNvSpPr>
            <a:spLocks noGrp="1"/>
          </p:cNvSpPr>
          <p:nvPr>
            <p:ph sz="quarter" idx="11"/>
          </p:nvPr>
        </p:nvSpPr>
        <p:spPr>
          <a:xfrm>
            <a:off x="486000" y="687518"/>
            <a:ext cx="8172000" cy="4079035"/>
          </a:xfrm>
        </p:spPr>
        <p:txBody>
          <a:bodyPr/>
          <a:lstStyle/>
          <a:p>
            <a:r>
              <a:rPr lang="zh-CN" altLang="en-US" dirty="0"/>
              <a:t>简单网络管理协议 </a:t>
            </a:r>
            <a:r>
              <a:rPr lang="en-US" altLang="zh-CN" dirty="0"/>
              <a:t>SNMP (Simple Network Management Protocol) </a:t>
            </a:r>
            <a:r>
              <a:rPr lang="zh-CN" altLang="en-US" dirty="0"/>
              <a:t>中的管理程序和代理程序按客户</a:t>
            </a:r>
            <a:r>
              <a:rPr lang="en-US" altLang="zh-CN" dirty="0"/>
              <a:t>/</a:t>
            </a:r>
            <a:r>
              <a:rPr lang="zh-CN" altLang="en-US" dirty="0"/>
              <a:t>服务器方式</a:t>
            </a:r>
          </a:p>
          <a:p>
            <a:r>
              <a:rPr lang="zh-CN" altLang="en-US" dirty="0"/>
              <a:t>管理程序运行 </a:t>
            </a:r>
            <a:r>
              <a:rPr lang="en-US" altLang="zh-CN" dirty="0"/>
              <a:t>SNMP </a:t>
            </a:r>
            <a:r>
              <a:rPr lang="zh-CN" altLang="en-US" dirty="0"/>
              <a:t>客户程序，向某个代理程序发出请求 </a:t>
            </a:r>
            <a:r>
              <a:rPr lang="en-US" altLang="zh-CN" dirty="0"/>
              <a:t>(</a:t>
            </a:r>
            <a:r>
              <a:rPr lang="zh-CN" altLang="en-US" dirty="0"/>
              <a:t>或命令</a:t>
            </a:r>
            <a:r>
              <a:rPr lang="en-US" altLang="zh-CN" dirty="0"/>
              <a:t>)</a:t>
            </a:r>
          </a:p>
          <a:p>
            <a:r>
              <a:rPr lang="zh-CN" altLang="en-US" dirty="0"/>
              <a:t>代理程序运行 </a:t>
            </a:r>
            <a:r>
              <a:rPr lang="en-US" altLang="zh-CN" dirty="0"/>
              <a:t>SNMP </a:t>
            </a:r>
            <a:r>
              <a:rPr lang="zh-CN" altLang="en-US" dirty="0"/>
              <a:t>服务器程序，返回响应 </a:t>
            </a:r>
            <a:r>
              <a:rPr lang="en-US" altLang="zh-CN" dirty="0"/>
              <a:t>(</a:t>
            </a:r>
            <a:r>
              <a:rPr lang="zh-CN" altLang="en-US" dirty="0"/>
              <a:t>或执行某个动作</a:t>
            </a:r>
            <a:r>
              <a:rPr lang="en-US" altLang="zh-CN" dirty="0"/>
              <a:t>)</a:t>
            </a:r>
            <a:endParaRPr lang="zh-CN" altLang="en-US" dirty="0"/>
          </a:p>
          <a:p>
            <a:r>
              <a:rPr lang="zh-CN" altLang="en-US" dirty="0"/>
              <a:t>在网管系统中，往往是一个（或少数几个）客户程序与很多的服务器程序进行交互</a:t>
            </a:r>
          </a:p>
          <a:p>
            <a:endParaRPr lang="zh-CN" altLang="en-US" dirty="0"/>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3064422-FFCB-6545-7243-52780FCBC2F3}"/>
              </a:ext>
            </a:extLst>
          </p:cNvPr>
          <p:cNvSpPr>
            <a:spLocks noGrp="1"/>
          </p:cNvSpPr>
          <p:nvPr>
            <p:ph type="title"/>
          </p:nvPr>
        </p:nvSpPr>
        <p:spPr>
          <a:xfrm>
            <a:off x="485999" y="174482"/>
            <a:ext cx="8171999" cy="338554"/>
          </a:xfrm>
        </p:spPr>
        <p:txBody>
          <a:bodyPr/>
          <a:lstStyle/>
          <a:p>
            <a:r>
              <a:rPr lang="zh-CN" altLang="en-US" dirty="0"/>
              <a:t>网络管理的基本原理</a:t>
            </a:r>
          </a:p>
        </p:txBody>
      </p:sp>
      <p:sp>
        <p:nvSpPr>
          <p:cNvPr id="8" name="内容占位符 7">
            <a:extLst>
              <a:ext uri="{FF2B5EF4-FFF2-40B4-BE49-F238E27FC236}">
                <a16:creationId xmlns:a16="http://schemas.microsoft.com/office/drawing/2014/main" id="{768F3737-5084-F18E-7C55-CE8618F5BBE5}"/>
              </a:ext>
            </a:extLst>
          </p:cNvPr>
          <p:cNvSpPr>
            <a:spLocks noGrp="1"/>
          </p:cNvSpPr>
          <p:nvPr>
            <p:ph sz="quarter" idx="11"/>
          </p:nvPr>
        </p:nvSpPr>
        <p:spPr>
          <a:xfrm>
            <a:off x="486000" y="687518"/>
            <a:ext cx="8172000" cy="4079035"/>
          </a:xfrm>
        </p:spPr>
        <p:txBody>
          <a:bodyPr/>
          <a:lstStyle/>
          <a:p>
            <a:r>
              <a:rPr lang="zh-CN" altLang="en-US" dirty="0"/>
              <a:t>若要管理某个对象，就必然会给该对象添加一些软件或硬件</a:t>
            </a:r>
            <a:endParaRPr lang="en-US" altLang="zh-CN" dirty="0"/>
          </a:p>
          <a:p>
            <a:r>
              <a:rPr lang="zh-CN" altLang="en-US" dirty="0"/>
              <a:t>但这种“添加”必须对原有对象的影响尽量小些</a:t>
            </a:r>
          </a:p>
          <a:p>
            <a:endParaRPr lang="zh-CN" altLang="en-US" dirty="0"/>
          </a:p>
        </p:txBody>
      </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AFC758-6542-04BB-D512-8132065EC585}"/>
              </a:ext>
            </a:extLst>
          </p:cNvPr>
          <p:cNvSpPr>
            <a:spLocks noGrp="1"/>
          </p:cNvSpPr>
          <p:nvPr>
            <p:ph type="title"/>
          </p:nvPr>
        </p:nvSpPr>
        <p:spPr>
          <a:xfrm>
            <a:off x="485999" y="174482"/>
            <a:ext cx="8171999" cy="338554"/>
          </a:xfrm>
        </p:spPr>
        <p:txBody>
          <a:bodyPr/>
          <a:lstStyle/>
          <a:p>
            <a:r>
              <a:rPr lang="en-US" altLang="zh-CN" dirty="0"/>
              <a:t>SNMP </a:t>
            </a:r>
            <a:r>
              <a:rPr lang="zh-CN" altLang="en-US" dirty="0"/>
              <a:t>的基本功能</a:t>
            </a:r>
          </a:p>
        </p:txBody>
      </p:sp>
      <p:sp>
        <p:nvSpPr>
          <p:cNvPr id="6" name="内容占位符 5">
            <a:extLst>
              <a:ext uri="{FF2B5EF4-FFF2-40B4-BE49-F238E27FC236}">
                <a16:creationId xmlns:a16="http://schemas.microsoft.com/office/drawing/2014/main" id="{D5873EA6-F161-51B9-5999-21C7232F68E5}"/>
              </a:ext>
            </a:extLst>
          </p:cNvPr>
          <p:cNvSpPr>
            <a:spLocks noGrp="1"/>
          </p:cNvSpPr>
          <p:nvPr>
            <p:ph sz="quarter" idx="11"/>
          </p:nvPr>
        </p:nvSpPr>
        <p:spPr>
          <a:xfrm>
            <a:off x="486000" y="687518"/>
            <a:ext cx="8172000" cy="4079035"/>
          </a:xfrm>
        </p:spPr>
        <p:txBody>
          <a:bodyPr/>
          <a:lstStyle/>
          <a:p>
            <a:r>
              <a:rPr lang="zh-CN" altLang="en-US" dirty="0"/>
              <a:t>最重要的指导思想：</a:t>
            </a:r>
            <a:endParaRPr lang="en-US" altLang="zh-CN" dirty="0"/>
          </a:p>
          <a:p>
            <a:pPr lvl="1"/>
            <a:r>
              <a:rPr lang="zh-CN" altLang="en-US" dirty="0"/>
              <a:t>尽可能简单</a:t>
            </a:r>
          </a:p>
          <a:p>
            <a:r>
              <a:rPr lang="zh-CN" altLang="en-US" dirty="0"/>
              <a:t>基本功能：</a:t>
            </a:r>
            <a:endParaRPr lang="en-US" altLang="zh-CN" dirty="0"/>
          </a:p>
          <a:p>
            <a:pPr lvl="1"/>
            <a:r>
              <a:rPr lang="zh-CN" altLang="en-US" dirty="0"/>
              <a:t>监视网络性能</a:t>
            </a:r>
            <a:endParaRPr lang="en-US" altLang="zh-CN" dirty="0"/>
          </a:p>
          <a:p>
            <a:pPr lvl="1"/>
            <a:r>
              <a:rPr lang="zh-CN" altLang="en-US" dirty="0"/>
              <a:t>检测分析网络差错</a:t>
            </a:r>
            <a:endParaRPr lang="en-US" altLang="zh-CN" dirty="0"/>
          </a:p>
          <a:p>
            <a:pPr lvl="1"/>
            <a:r>
              <a:rPr lang="zh-CN" altLang="en-US" dirty="0"/>
              <a:t>配置网络设备等</a:t>
            </a:r>
          </a:p>
          <a:p>
            <a:endParaRPr lang="zh-CN" altLang="en-US" dirty="0"/>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
        <p:nvSpPr>
          <p:cNvPr id="5" name="标题 4">
            <a:extLst>
              <a:ext uri="{FF2B5EF4-FFF2-40B4-BE49-F238E27FC236}">
                <a16:creationId xmlns:a16="http://schemas.microsoft.com/office/drawing/2014/main" id="{6CB75707-B629-32FC-B11C-775627A4FEDE}"/>
              </a:ext>
            </a:extLst>
          </p:cNvPr>
          <p:cNvSpPr>
            <a:spLocks noGrp="1"/>
          </p:cNvSpPr>
          <p:nvPr>
            <p:ph type="title"/>
          </p:nvPr>
        </p:nvSpPr>
        <p:spPr>
          <a:xfrm>
            <a:off x="485999" y="174482"/>
            <a:ext cx="8171999" cy="338554"/>
          </a:xfrm>
        </p:spPr>
        <p:txBody>
          <a:bodyPr/>
          <a:lstStyle/>
          <a:p>
            <a:r>
              <a:rPr lang="en-US" altLang="zh-CN" dirty="0"/>
              <a:t>SNMP </a:t>
            </a:r>
            <a:r>
              <a:rPr lang="zh-CN" altLang="en-US" dirty="0"/>
              <a:t>的管理站和委托代理</a:t>
            </a:r>
          </a:p>
        </p:txBody>
      </p:sp>
      <p:sp>
        <p:nvSpPr>
          <p:cNvPr id="7" name="内容占位符 6">
            <a:extLst>
              <a:ext uri="{FF2B5EF4-FFF2-40B4-BE49-F238E27FC236}">
                <a16:creationId xmlns:a16="http://schemas.microsoft.com/office/drawing/2014/main" id="{D8F43F40-4194-FE71-ABC5-E27B07009400}"/>
              </a:ext>
            </a:extLst>
          </p:cNvPr>
          <p:cNvSpPr>
            <a:spLocks noGrp="1"/>
          </p:cNvSpPr>
          <p:nvPr>
            <p:ph sz="quarter" idx="11"/>
          </p:nvPr>
        </p:nvSpPr>
        <p:spPr>
          <a:xfrm>
            <a:off x="486000" y="687518"/>
            <a:ext cx="8172000" cy="4079035"/>
          </a:xfrm>
        </p:spPr>
        <p:txBody>
          <a:bodyPr/>
          <a:lstStyle/>
          <a:p>
            <a:r>
              <a:rPr lang="zh-CN" altLang="en-US" dirty="0"/>
              <a:t>整个系统必须有一个管理站</a:t>
            </a:r>
          </a:p>
          <a:p>
            <a:r>
              <a:rPr lang="zh-CN" altLang="en-US" dirty="0"/>
              <a:t>若网络元素使用的不是 </a:t>
            </a:r>
            <a:r>
              <a:rPr lang="en-US" altLang="zh-CN" dirty="0"/>
              <a:t>SNMP </a:t>
            </a:r>
            <a:r>
              <a:rPr lang="zh-CN" altLang="en-US" dirty="0"/>
              <a:t>而是另一种网络管理协议，</a:t>
            </a:r>
            <a:r>
              <a:rPr lang="en-US" altLang="zh-CN" dirty="0"/>
              <a:t>SNMP </a:t>
            </a:r>
            <a:r>
              <a:rPr lang="zh-CN" altLang="en-US" dirty="0"/>
              <a:t>协议就无法控制该网络元素。这时可使用委托代理 </a:t>
            </a:r>
            <a:r>
              <a:rPr lang="en-US" altLang="zh-CN" dirty="0"/>
              <a:t>(proxy agent)</a:t>
            </a:r>
          </a:p>
          <a:p>
            <a:r>
              <a:rPr lang="zh-CN" altLang="en-US" dirty="0"/>
              <a:t>委托代理能提供协议转换和过滤操作等功能，对被管对象进行管理</a:t>
            </a:r>
          </a:p>
          <a:p>
            <a:endParaRPr lang="zh-CN" altLang="en-US" dirty="0"/>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BDB8FFC-D6A3-F1E3-C8FF-47080356F839}"/>
              </a:ext>
            </a:extLst>
          </p:cNvPr>
          <p:cNvSpPr>
            <a:spLocks noGrp="1"/>
          </p:cNvSpPr>
          <p:nvPr>
            <p:ph type="title"/>
          </p:nvPr>
        </p:nvSpPr>
        <p:spPr>
          <a:xfrm>
            <a:off x="485999" y="174482"/>
            <a:ext cx="8171999" cy="338554"/>
          </a:xfrm>
        </p:spPr>
        <p:txBody>
          <a:bodyPr/>
          <a:lstStyle/>
          <a:p>
            <a:r>
              <a:rPr lang="en-US" altLang="zh-CN" dirty="0"/>
              <a:t>SNMP </a:t>
            </a:r>
            <a:r>
              <a:rPr lang="zh-CN" altLang="en-US" dirty="0"/>
              <a:t>网络管理组成</a:t>
            </a:r>
          </a:p>
        </p:txBody>
      </p:sp>
      <p:sp>
        <p:nvSpPr>
          <p:cNvPr id="6" name="内容占位符 5">
            <a:extLst>
              <a:ext uri="{FF2B5EF4-FFF2-40B4-BE49-F238E27FC236}">
                <a16:creationId xmlns:a16="http://schemas.microsoft.com/office/drawing/2014/main" id="{B6E85F77-FA69-672D-8264-1A5AF56632D0}"/>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的网络管理由三个部分组成：</a:t>
            </a:r>
          </a:p>
          <a:p>
            <a:pPr lvl="1"/>
            <a:r>
              <a:rPr lang="en-US" altLang="zh-CN" dirty="0"/>
              <a:t>SNMP </a:t>
            </a:r>
            <a:r>
              <a:rPr lang="zh-CN" altLang="en-US" dirty="0"/>
              <a:t>本身</a:t>
            </a:r>
          </a:p>
          <a:p>
            <a:pPr lvl="1"/>
            <a:r>
              <a:rPr lang="zh-CN" altLang="en-US" dirty="0"/>
              <a:t>管理信息结构 </a:t>
            </a:r>
            <a:r>
              <a:rPr lang="en-US" altLang="zh-CN" dirty="0"/>
              <a:t>SMI - Structure of Management Information</a:t>
            </a:r>
          </a:p>
          <a:p>
            <a:pPr lvl="1"/>
            <a:r>
              <a:rPr lang="zh-CN" altLang="en-US" dirty="0"/>
              <a:t>管理信息库 </a:t>
            </a:r>
            <a:r>
              <a:rPr lang="en-US" altLang="zh-CN" dirty="0"/>
              <a:t>MIB - Management Information Base</a:t>
            </a:r>
            <a:endParaRPr lang="zh-CN" altLang="en-US" dirty="0"/>
          </a:p>
          <a:p>
            <a:endParaRPr lang="zh-CN" altLang="en-US" dirty="0"/>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B2838-D970-275E-3DCD-E9443D71A52C}"/>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73CD4F04-5A76-E968-2847-C66403F32214}"/>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定义了管理站和代理之间所交换的分组格式</a:t>
            </a:r>
            <a:endParaRPr lang="en-US" altLang="zh-CN" dirty="0"/>
          </a:p>
          <a:p>
            <a:r>
              <a:rPr lang="zh-CN" altLang="en-US" dirty="0"/>
              <a:t>所交换的分组包含各代理中的对象（变量）名及其状态（值）</a:t>
            </a:r>
          </a:p>
          <a:p>
            <a:r>
              <a:rPr lang="en-US" altLang="zh-CN" dirty="0"/>
              <a:t>SNMP </a:t>
            </a:r>
            <a:r>
              <a:rPr lang="zh-CN" altLang="en-US" dirty="0"/>
              <a:t>负责读取和改变这些数值</a:t>
            </a:r>
          </a:p>
          <a:p>
            <a:endParaRPr lang="zh-CN" altLang="en-US" dirty="0"/>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B53DE43-6616-9802-B3FF-88BACDD98650}"/>
              </a:ext>
            </a:extLst>
          </p:cNvPr>
          <p:cNvSpPr>
            <a:spLocks noGrp="1"/>
          </p:cNvSpPr>
          <p:nvPr>
            <p:ph type="title"/>
          </p:nvPr>
        </p:nvSpPr>
        <p:spPr>
          <a:xfrm>
            <a:off x="485999" y="174482"/>
            <a:ext cx="8171999" cy="338554"/>
          </a:xfrm>
        </p:spPr>
        <p:txBody>
          <a:bodyPr/>
          <a:lstStyle/>
          <a:p>
            <a:r>
              <a:rPr lang="zh-CN" altLang="en-US" dirty="0"/>
              <a:t>管理信息结构 </a:t>
            </a:r>
            <a:r>
              <a:rPr lang="en-US" altLang="zh-CN" dirty="0"/>
              <a:t>SMI</a:t>
            </a:r>
            <a:endParaRPr lang="zh-CN" altLang="en-US" dirty="0"/>
          </a:p>
        </p:txBody>
      </p:sp>
      <p:sp>
        <p:nvSpPr>
          <p:cNvPr id="6" name="内容占位符 5">
            <a:extLst>
              <a:ext uri="{FF2B5EF4-FFF2-40B4-BE49-F238E27FC236}">
                <a16:creationId xmlns:a16="http://schemas.microsoft.com/office/drawing/2014/main" id="{5D7385D2-D6C2-F3A0-E5FB-97D31B9D2C12}"/>
              </a:ext>
            </a:extLst>
          </p:cNvPr>
          <p:cNvSpPr>
            <a:spLocks noGrp="1"/>
          </p:cNvSpPr>
          <p:nvPr>
            <p:ph sz="quarter" idx="11"/>
          </p:nvPr>
        </p:nvSpPr>
        <p:spPr>
          <a:xfrm>
            <a:off x="486000" y="687518"/>
            <a:ext cx="8172000" cy="4079035"/>
          </a:xfrm>
        </p:spPr>
        <p:txBody>
          <a:bodyPr/>
          <a:lstStyle/>
          <a:p>
            <a:r>
              <a:rPr lang="en-US" altLang="zh-CN" dirty="0"/>
              <a:t>SMI </a:t>
            </a:r>
            <a:r>
              <a:rPr lang="zh-CN" altLang="en-US" dirty="0"/>
              <a:t>定义了命名对象和定义对象类型（包括范围和长度）的通用规则，以及把对象和对象的值进行编码的规则，以确保网络管理数据的语法和语义的无二义性</a:t>
            </a:r>
            <a:endParaRPr lang="en-US" altLang="zh-CN" dirty="0"/>
          </a:p>
          <a:p>
            <a:r>
              <a:rPr lang="zh-CN" altLang="en-US" dirty="0"/>
              <a:t>但从 </a:t>
            </a:r>
            <a:r>
              <a:rPr lang="en-US" altLang="zh-CN" dirty="0"/>
              <a:t>SMI </a:t>
            </a:r>
            <a:r>
              <a:rPr lang="zh-CN" altLang="en-US" dirty="0"/>
              <a:t>的名称并不能看出它的功能</a:t>
            </a:r>
          </a:p>
          <a:p>
            <a:r>
              <a:rPr lang="en-US" altLang="zh-CN" dirty="0"/>
              <a:t>SMI </a:t>
            </a:r>
            <a:r>
              <a:rPr lang="zh-CN" altLang="en-US" dirty="0"/>
              <a:t>并不定义一个实体应管理的对象数目，也不定义被管对象名以及对象名及其值之间的关联</a:t>
            </a:r>
          </a:p>
          <a:p>
            <a:endParaRPr lang="zh-CN" altLang="en-US" dirty="0"/>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
        <p:nvSpPr>
          <p:cNvPr id="5" name="标题 4">
            <a:extLst>
              <a:ext uri="{FF2B5EF4-FFF2-40B4-BE49-F238E27FC236}">
                <a16:creationId xmlns:a16="http://schemas.microsoft.com/office/drawing/2014/main" id="{5E12EB6A-5208-39AD-CE05-27356B1FD8F7}"/>
              </a:ext>
            </a:extLst>
          </p:cNvPr>
          <p:cNvSpPr>
            <a:spLocks noGrp="1"/>
          </p:cNvSpPr>
          <p:nvPr>
            <p:ph type="title"/>
          </p:nvPr>
        </p:nvSpPr>
        <p:spPr>
          <a:xfrm>
            <a:off x="485999" y="174482"/>
            <a:ext cx="8171999" cy="338554"/>
          </a:xfrm>
        </p:spPr>
        <p:txBody>
          <a:bodyPr/>
          <a:lstStyle/>
          <a:p>
            <a:r>
              <a:rPr lang="zh-CN" altLang="en-US" dirty="0"/>
              <a:t>管理信息库 </a:t>
            </a:r>
            <a:r>
              <a:rPr lang="en-US" altLang="zh-CN" dirty="0"/>
              <a:t>MIB</a:t>
            </a:r>
            <a:endParaRPr lang="zh-CN" altLang="en-US" dirty="0"/>
          </a:p>
        </p:txBody>
      </p:sp>
      <p:sp>
        <p:nvSpPr>
          <p:cNvPr id="6" name="内容占位符 5">
            <a:extLst>
              <a:ext uri="{FF2B5EF4-FFF2-40B4-BE49-F238E27FC236}">
                <a16:creationId xmlns:a16="http://schemas.microsoft.com/office/drawing/2014/main" id="{E38F0FEE-935F-5A8A-2A76-EDAC1788C360}"/>
              </a:ext>
            </a:extLst>
          </p:cNvPr>
          <p:cNvSpPr>
            <a:spLocks noGrp="1"/>
          </p:cNvSpPr>
          <p:nvPr>
            <p:ph sz="quarter" idx="11"/>
          </p:nvPr>
        </p:nvSpPr>
        <p:spPr>
          <a:xfrm>
            <a:off x="486000" y="687518"/>
            <a:ext cx="8172000" cy="4079035"/>
          </a:xfrm>
        </p:spPr>
        <p:txBody>
          <a:bodyPr/>
          <a:lstStyle/>
          <a:p>
            <a:r>
              <a:rPr lang="en-US" altLang="zh-CN" dirty="0"/>
              <a:t>MIB </a:t>
            </a:r>
            <a:r>
              <a:rPr lang="zh-CN" altLang="en-US" dirty="0"/>
              <a:t>在被管理的实体中创建了命名对象，并规定了其类型</a:t>
            </a:r>
            <a:endParaRPr lang="en-US" altLang="zh-CN" dirty="0"/>
          </a:p>
          <a:p>
            <a:r>
              <a:rPr lang="zh-CN" altLang="en-US" dirty="0"/>
              <a:t>管理程序使用 </a:t>
            </a:r>
            <a:r>
              <a:rPr lang="en-US" altLang="zh-CN" dirty="0"/>
              <a:t>MIB </a:t>
            </a:r>
            <a:r>
              <a:rPr lang="zh-CN" altLang="en-US" dirty="0"/>
              <a:t>中的信息，对网络进行管理</a:t>
            </a:r>
          </a:p>
        </p:txBody>
      </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solidFill>
          <a:headEnd type="triangle"/>
          <a:tailEnd type="triangle"/>
        </a:ln>
      </a:spPr>
      <a:bodyPr/>
      <a:lstStyle/>
      <a:style>
        <a:lnRef idx="1">
          <a:schemeClr val="accent1"/>
        </a:lnRef>
        <a:fillRef idx="0">
          <a:schemeClr val="accent1"/>
        </a:fillRef>
        <a:effectRef idx="0">
          <a:schemeClr val="accent1"/>
        </a:effectRef>
        <a:fontRef idx="minor">
          <a:schemeClr val="tx1"/>
        </a:fontRef>
      </a:style>
    </a:lnDef>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11124</TotalTime>
  <Words>31257</Words>
  <Application>Microsoft Office PowerPoint</Application>
  <PresentationFormat>全屏显示(16:9)</PresentationFormat>
  <Paragraphs>4899</Paragraphs>
  <Slides>279</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279</vt:i4>
      </vt:variant>
    </vt:vector>
  </HeadingPairs>
  <TitlesOfParts>
    <vt:vector size="289" baseType="lpstr">
      <vt:lpstr>Times New Roman</vt:lpstr>
      <vt:lpstr>Montserrat</vt:lpstr>
      <vt:lpstr>微软雅黑 Light</vt:lpstr>
      <vt:lpstr>Wingdings</vt:lpstr>
      <vt:lpstr>Arial</vt:lpstr>
      <vt:lpstr>微软雅黑</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6.7.1  网络管理 - 概念</vt:lpstr>
      <vt:lpstr>6.7.1 网络管理 - 功能</vt:lpstr>
      <vt:lpstr>6.7.1 网络管理 - 一般模型</vt:lpstr>
      <vt:lpstr>6.7.1 网络管理 - 一般模型 - 主要构件</vt:lpstr>
      <vt:lpstr>6.7.1 网络管理 - 一般模型 - 被管对象 (Managed Object)</vt:lpstr>
      <vt:lpstr>6.7.1 网络管理 - 一般模型 - 代理 (Agent)</vt:lpstr>
      <vt:lpstr>6.7.1 网络管理 - 一般模型 - 网络管理协议</vt:lpstr>
      <vt:lpstr>简单网络管理协议 SNMP</vt:lpstr>
      <vt:lpstr>网络管理的基本原理</vt:lpstr>
      <vt:lpstr>SNMP 的基本功能</vt:lpstr>
      <vt:lpstr>SNMP 的管理站和委托代理</vt:lpstr>
      <vt:lpstr>SNMP 网络管理组成</vt:lpstr>
      <vt:lpstr>简单网络管理协议 SNMP</vt:lpstr>
      <vt:lpstr>管理信息结构 SMI</vt:lpstr>
      <vt:lpstr>管理信息库 MIB</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928</cp:revision>
  <dcterms:created xsi:type="dcterms:W3CDTF">2018-07-18T08:51:30Z</dcterms:created>
  <dcterms:modified xsi:type="dcterms:W3CDTF">2026-08-07T02:30:38Z</dcterms:modified>
</cp:coreProperties>
</file>