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6" r:id="rId1"/>
  </p:sldMasterIdLst>
  <p:notesMasterIdLst>
    <p:notesMasterId r:id="rId274"/>
  </p:notesMasterIdLst>
  <p:sldIdLst>
    <p:sldId id="257" r:id="rId2"/>
    <p:sldId id="256" r:id="rId3"/>
    <p:sldId id="646" r:id="rId4"/>
    <p:sldId id="572" r:id="rId5"/>
    <p:sldId id="258" r:id="rId6"/>
    <p:sldId id="573" r:id="rId7"/>
    <p:sldId id="259" r:id="rId8"/>
    <p:sldId id="642" r:id="rId9"/>
    <p:sldId id="644" r:id="rId10"/>
    <p:sldId id="260" r:id="rId11"/>
    <p:sldId id="577" r:id="rId12"/>
    <p:sldId id="575" r:id="rId13"/>
    <p:sldId id="261" r:id="rId14"/>
    <p:sldId id="582" r:id="rId15"/>
    <p:sldId id="584" r:id="rId16"/>
    <p:sldId id="267" r:id="rId17"/>
    <p:sldId id="585" r:id="rId18"/>
    <p:sldId id="268" r:id="rId19"/>
    <p:sldId id="269" r:id="rId20"/>
    <p:sldId id="270" r:id="rId21"/>
    <p:sldId id="271" r:id="rId22"/>
    <p:sldId id="272" r:id="rId23"/>
    <p:sldId id="588" r:id="rId24"/>
    <p:sldId id="274" r:id="rId25"/>
    <p:sldId id="590" r:id="rId26"/>
    <p:sldId id="276" r:id="rId27"/>
    <p:sldId id="277" r:id="rId28"/>
    <p:sldId id="278" r:id="rId29"/>
    <p:sldId id="279" r:id="rId30"/>
    <p:sldId id="591" r:id="rId31"/>
    <p:sldId id="280" r:id="rId32"/>
    <p:sldId id="647" r:id="rId33"/>
    <p:sldId id="282" r:id="rId34"/>
    <p:sldId id="283" r:id="rId35"/>
    <p:sldId id="665" r:id="rId36"/>
    <p:sldId id="284" r:id="rId37"/>
    <p:sldId id="285" r:id="rId38"/>
    <p:sldId id="286" r:id="rId39"/>
    <p:sldId id="645" r:id="rId40"/>
    <p:sldId id="287" r:id="rId41"/>
    <p:sldId id="288" r:id="rId42"/>
    <p:sldId id="290" r:id="rId43"/>
    <p:sldId id="592" r:id="rId44"/>
    <p:sldId id="293" r:id="rId45"/>
    <p:sldId id="294" r:id="rId46"/>
    <p:sldId id="295" r:id="rId47"/>
    <p:sldId id="296" r:id="rId48"/>
    <p:sldId id="297" r:id="rId49"/>
    <p:sldId id="663" r:id="rId50"/>
    <p:sldId id="298" r:id="rId51"/>
    <p:sldId id="299" r:id="rId52"/>
    <p:sldId id="300" r:id="rId53"/>
    <p:sldId id="548" r:id="rId54"/>
    <p:sldId id="302" r:id="rId55"/>
    <p:sldId id="303" r:id="rId56"/>
    <p:sldId id="304" r:id="rId57"/>
    <p:sldId id="549" r:id="rId58"/>
    <p:sldId id="306" r:id="rId59"/>
    <p:sldId id="307" r:id="rId60"/>
    <p:sldId id="311" r:id="rId61"/>
    <p:sldId id="593" r:id="rId62"/>
    <p:sldId id="317" r:id="rId63"/>
    <p:sldId id="643" r:id="rId64"/>
    <p:sldId id="322" r:id="rId65"/>
    <p:sldId id="599" r:id="rId66"/>
    <p:sldId id="598" r:id="rId67"/>
    <p:sldId id="326" r:id="rId68"/>
    <p:sldId id="327" r:id="rId69"/>
    <p:sldId id="328" r:id="rId70"/>
    <p:sldId id="329" r:id="rId71"/>
    <p:sldId id="600" r:id="rId72"/>
    <p:sldId id="601" r:id="rId73"/>
    <p:sldId id="603" r:id="rId74"/>
    <p:sldId id="602" r:id="rId75"/>
    <p:sldId id="331" r:id="rId76"/>
    <p:sldId id="332" r:id="rId77"/>
    <p:sldId id="333" r:id="rId78"/>
    <p:sldId id="334" r:id="rId79"/>
    <p:sldId id="335" r:id="rId80"/>
    <p:sldId id="605" r:id="rId81"/>
    <p:sldId id="607" r:id="rId82"/>
    <p:sldId id="338" r:id="rId83"/>
    <p:sldId id="339" r:id="rId84"/>
    <p:sldId id="340" r:id="rId85"/>
    <p:sldId id="341" r:id="rId86"/>
    <p:sldId id="608" r:id="rId87"/>
    <p:sldId id="609" r:id="rId88"/>
    <p:sldId id="610" r:id="rId89"/>
    <p:sldId id="611" r:id="rId90"/>
    <p:sldId id="345" r:id="rId91"/>
    <p:sldId id="346" r:id="rId92"/>
    <p:sldId id="347" r:id="rId93"/>
    <p:sldId id="613" r:id="rId94"/>
    <p:sldId id="612" r:id="rId95"/>
    <p:sldId id="615" r:id="rId96"/>
    <p:sldId id="624" r:id="rId97"/>
    <p:sldId id="360" r:id="rId98"/>
    <p:sldId id="361" r:id="rId99"/>
    <p:sldId id="362" r:id="rId100"/>
    <p:sldId id="664" r:id="rId101"/>
    <p:sldId id="363" r:id="rId102"/>
    <p:sldId id="364" r:id="rId103"/>
    <p:sldId id="365" r:id="rId104"/>
    <p:sldId id="366" r:id="rId105"/>
    <p:sldId id="367" r:id="rId106"/>
    <p:sldId id="368" r:id="rId107"/>
    <p:sldId id="369" r:id="rId108"/>
    <p:sldId id="370" r:id="rId109"/>
    <p:sldId id="375" r:id="rId110"/>
    <p:sldId id="625" r:id="rId111"/>
    <p:sldId id="626" r:id="rId112"/>
    <p:sldId id="377" r:id="rId113"/>
    <p:sldId id="627" r:id="rId114"/>
    <p:sldId id="378" r:id="rId115"/>
    <p:sldId id="628" r:id="rId116"/>
    <p:sldId id="379" r:id="rId117"/>
    <p:sldId id="383" r:id="rId118"/>
    <p:sldId id="386" r:id="rId119"/>
    <p:sldId id="387" r:id="rId120"/>
    <p:sldId id="666" r:id="rId121"/>
    <p:sldId id="389" r:id="rId122"/>
    <p:sldId id="395" r:id="rId123"/>
    <p:sldId id="396" r:id="rId124"/>
    <p:sldId id="397" r:id="rId125"/>
    <p:sldId id="398" r:id="rId126"/>
    <p:sldId id="399" r:id="rId127"/>
    <p:sldId id="400" r:id="rId128"/>
    <p:sldId id="401" r:id="rId129"/>
    <p:sldId id="402" r:id="rId130"/>
    <p:sldId id="403" r:id="rId131"/>
    <p:sldId id="404" r:id="rId132"/>
    <p:sldId id="405" r:id="rId133"/>
    <p:sldId id="406" r:id="rId134"/>
    <p:sldId id="631" r:id="rId135"/>
    <p:sldId id="408" r:id="rId136"/>
    <p:sldId id="409" r:id="rId137"/>
    <p:sldId id="410" r:id="rId138"/>
    <p:sldId id="411" r:id="rId139"/>
    <p:sldId id="412" r:id="rId140"/>
    <p:sldId id="414" r:id="rId141"/>
    <p:sldId id="415" r:id="rId142"/>
    <p:sldId id="417" r:id="rId143"/>
    <p:sldId id="418" r:id="rId144"/>
    <p:sldId id="419" r:id="rId145"/>
    <p:sldId id="422" r:id="rId146"/>
    <p:sldId id="420" r:id="rId147"/>
    <p:sldId id="424" r:id="rId148"/>
    <p:sldId id="427" r:id="rId149"/>
    <p:sldId id="428" r:id="rId150"/>
    <p:sldId id="656" r:id="rId151"/>
    <p:sldId id="657" r:id="rId152"/>
    <p:sldId id="429" r:id="rId153"/>
    <p:sldId id="659" r:id="rId154"/>
    <p:sldId id="430" r:id="rId155"/>
    <p:sldId id="431" r:id="rId156"/>
    <p:sldId id="660" r:id="rId157"/>
    <p:sldId id="432" r:id="rId158"/>
    <p:sldId id="633" r:id="rId159"/>
    <p:sldId id="661" r:id="rId160"/>
    <p:sldId id="434" r:id="rId161"/>
    <p:sldId id="435" r:id="rId162"/>
    <p:sldId id="658" r:id="rId163"/>
    <p:sldId id="662" r:id="rId164"/>
    <p:sldId id="437" r:id="rId165"/>
    <p:sldId id="438" r:id="rId166"/>
    <p:sldId id="563" r:id="rId167"/>
    <p:sldId id="439" r:id="rId168"/>
    <p:sldId id="440" r:id="rId169"/>
    <p:sldId id="441" r:id="rId170"/>
    <p:sldId id="442" r:id="rId171"/>
    <p:sldId id="443" r:id="rId172"/>
    <p:sldId id="444" r:id="rId173"/>
    <p:sldId id="445" r:id="rId174"/>
    <p:sldId id="446" r:id="rId175"/>
    <p:sldId id="447" r:id="rId176"/>
    <p:sldId id="448" r:id="rId177"/>
    <p:sldId id="449" r:id="rId178"/>
    <p:sldId id="450" r:id="rId179"/>
    <p:sldId id="451" r:id="rId180"/>
    <p:sldId id="452" r:id="rId181"/>
    <p:sldId id="453" r:id="rId182"/>
    <p:sldId id="454" r:id="rId183"/>
    <p:sldId id="455" r:id="rId184"/>
    <p:sldId id="456" r:id="rId185"/>
    <p:sldId id="457" r:id="rId186"/>
    <p:sldId id="458" r:id="rId187"/>
    <p:sldId id="459" r:id="rId188"/>
    <p:sldId id="460" r:id="rId189"/>
    <p:sldId id="461" r:id="rId190"/>
    <p:sldId id="462" r:id="rId191"/>
    <p:sldId id="463" r:id="rId192"/>
    <p:sldId id="464" r:id="rId193"/>
    <p:sldId id="466" r:id="rId194"/>
    <p:sldId id="467" r:id="rId195"/>
    <p:sldId id="468" r:id="rId196"/>
    <p:sldId id="469" r:id="rId197"/>
    <p:sldId id="470" r:id="rId198"/>
    <p:sldId id="471" r:id="rId199"/>
    <p:sldId id="472" r:id="rId200"/>
    <p:sldId id="473" r:id="rId201"/>
    <p:sldId id="474" r:id="rId202"/>
    <p:sldId id="475" r:id="rId203"/>
    <p:sldId id="476" r:id="rId204"/>
    <p:sldId id="477" r:id="rId205"/>
    <p:sldId id="478" r:id="rId206"/>
    <p:sldId id="479" r:id="rId207"/>
    <p:sldId id="480" r:id="rId208"/>
    <p:sldId id="481" r:id="rId209"/>
    <p:sldId id="482" r:id="rId210"/>
    <p:sldId id="483" r:id="rId211"/>
    <p:sldId id="484" r:id="rId212"/>
    <p:sldId id="485" r:id="rId213"/>
    <p:sldId id="486" r:id="rId214"/>
    <p:sldId id="487" r:id="rId215"/>
    <p:sldId id="488" r:id="rId216"/>
    <p:sldId id="489" r:id="rId217"/>
    <p:sldId id="490" r:id="rId218"/>
    <p:sldId id="491" r:id="rId219"/>
    <p:sldId id="492" r:id="rId220"/>
    <p:sldId id="493" r:id="rId221"/>
    <p:sldId id="494" r:id="rId222"/>
    <p:sldId id="495" r:id="rId223"/>
    <p:sldId id="496" r:id="rId224"/>
    <p:sldId id="497" r:id="rId225"/>
    <p:sldId id="498" r:id="rId226"/>
    <p:sldId id="499" r:id="rId227"/>
    <p:sldId id="500" r:id="rId228"/>
    <p:sldId id="501" r:id="rId229"/>
    <p:sldId id="502" r:id="rId230"/>
    <p:sldId id="503" r:id="rId231"/>
    <p:sldId id="504" r:id="rId232"/>
    <p:sldId id="506" r:id="rId233"/>
    <p:sldId id="507" r:id="rId234"/>
    <p:sldId id="508" r:id="rId235"/>
    <p:sldId id="509" r:id="rId236"/>
    <p:sldId id="510" r:id="rId237"/>
    <p:sldId id="511" r:id="rId238"/>
    <p:sldId id="512" r:id="rId239"/>
    <p:sldId id="513" r:id="rId240"/>
    <p:sldId id="515" r:id="rId241"/>
    <p:sldId id="634" r:id="rId242"/>
    <p:sldId id="635" r:id="rId243"/>
    <p:sldId id="636" r:id="rId244"/>
    <p:sldId id="519" r:id="rId245"/>
    <p:sldId id="641" r:id="rId246"/>
    <p:sldId id="637" r:id="rId247"/>
    <p:sldId id="638" r:id="rId248"/>
    <p:sldId id="523" r:id="rId249"/>
    <p:sldId id="648" r:id="rId250"/>
    <p:sldId id="649" r:id="rId251"/>
    <p:sldId id="526" r:id="rId252"/>
    <p:sldId id="527" r:id="rId253"/>
    <p:sldId id="650" r:id="rId254"/>
    <p:sldId id="532" r:id="rId255"/>
    <p:sldId id="651" r:id="rId256"/>
    <p:sldId id="533" r:id="rId257"/>
    <p:sldId id="639" r:id="rId258"/>
    <p:sldId id="534" r:id="rId259"/>
    <p:sldId id="535" r:id="rId260"/>
    <p:sldId id="538" r:id="rId261"/>
    <p:sldId id="571" r:id="rId262"/>
    <p:sldId id="654" r:id="rId263"/>
    <p:sldId id="540" r:id="rId264"/>
    <p:sldId id="541" r:id="rId265"/>
    <p:sldId id="653" r:id="rId266"/>
    <p:sldId id="652" r:id="rId267"/>
    <p:sldId id="655" r:id="rId268"/>
    <p:sldId id="542" r:id="rId269"/>
    <p:sldId id="543" r:id="rId270"/>
    <p:sldId id="544" r:id="rId271"/>
    <p:sldId id="640" r:id="rId272"/>
    <p:sldId id="546" r:id="rId273"/>
  </p:sldIdLst>
  <p:sldSz cx="9144000" cy="5143500" type="screen16x9"/>
  <p:notesSz cx="6858000" cy="9144000"/>
  <p:embeddedFontLst>
    <p:embeddedFont>
      <p:font typeface="Montserrat" panose="00000500000000000000" pitchFamily="2" charset="0"/>
      <p:regular r:id="rId275"/>
    </p:embeddedFont>
    <p:embeddedFont>
      <p:font typeface="微软雅黑" panose="020B0503020204020204" pitchFamily="34" charset="-122"/>
      <p:regular r:id="rId276"/>
      <p:bold r:id="rId277"/>
    </p:embeddedFont>
    <p:embeddedFont>
      <p:font typeface="微软雅黑 Light" panose="020B0502040204020203" pitchFamily="34" charset="-122"/>
      <p:regular r:id="rId278"/>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BACC6"/>
    <a:srgbClr val="F79646"/>
    <a:srgbClr val="D7E4BD"/>
    <a:srgbClr val="FF00FF"/>
    <a:srgbClr val="5780CA"/>
    <a:srgbClr val="DDA19F"/>
    <a:srgbClr val="FFFFFF"/>
    <a:srgbClr val="F7AA5F"/>
    <a:srgbClr val="FDEEDF"/>
    <a:srgbClr val="1AC3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35758FB7-9AC5-4552-8A53-C91805E547FA}" styleName="主题样式 1 - 强调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8FD4443E-F989-4FC4-A0C8-D5A2AF1F390B}" styleName="深色样式 1 - 强调 5">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5"/>
          </a:solidFill>
        </a:fill>
      </a:tcStyle>
    </a:wholeTbl>
    <a:band1H>
      <a:tcStyle>
        <a:tcBdr/>
        <a:fill>
          <a:solidFill>
            <a:schemeClr val="accent5">
              <a:shade val="60000"/>
            </a:schemeClr>
          </a:solidFill>
        </a:fill>
      </a:tcStyle>
    </a:band1H>
    <a:band1V>
      <a:tcStyle>
        <a:tcBdr/>
        <a:fill>
          <a:solidFill>
            <a:schemeClr val="accent5">
              <a:shade val="60000"/>
            </a:schemeClr>
          </a:solidFill>
        </a:fill>
      </a:tcStyle>
    </a:band1V>
    <a:lastCol>
      <a:tcTxStyle b="on"/>
      <a:tcStyle>
        <a:tcBdr>
          <a:left>
            <a:ln w="25400" cmpd="sng">
              <a:solidFill>
                <a:schemeClr val="lt1"/>
              </a:solidFill>
            </a:ln>
          </a:left>
        </a:tcBdr>
        <a:fill>
          <a:solidFill>
            <a:schemeClr val="accent5">
              <a:shade val="60000"/>
            </a:schemeClr>
          </a:solidFill>
        </a:fill>
      </a:tcStyle>
    </a:lastCol>
    <a:firstCol>
      <a:tcTxStyle b="on"/>
      <a:tcStyle>
        <a:tcBdr>
          <a:right>
            <a:ln w="25400" cmpd="sng">
              <a:solidFill>
                <a:schemeClr val="lt1"/>
              </a:solidFill>
            </a:ln>
          </a:right>
        </a:tcBdr>
        <a:fill>
          <a:solidFill>
            <a:schemeClr val="accent5">
              <a:shade val="60000"/>
            </a:schemeClr>
          </a:solidFill>
        </a:fill>
      </a:tcStyle>
    </a:firstCol>
    <a:lastRow>
      <a:tcTxStyle b="on"/>
      <a:tcStyle>
        <a:tcBdr>
          <a:top>
            <a:ln w="25400" cmpd="sng">
              <a:solidFill>
                <a:schemeClr val="lt1"/>
              </a:solidFill>
            </a:ln>
          </a:top>
        </a:tcBdr>
        <a:fill>
          <a:solidFill>
            <a:schemeClr val="accent5">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AF606853-7671-496A-8E4F-DF71F8EC918B}" styleName="深色样式 1 - 强调 6">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accent6"/>
          </a:solidFill>
        </a:fill>
      </a:tcStyle>
    </a:wholeTbl>
    <a:band1H>
      <a:tcStyle>
        <a:tcBdr/>
        <a:fill>
          <a:solidFill>
            <a:schemeClr val="accent6">
              <a:shade val="60000"/>
            </a:schemeClr>
          </a:solidFill>
        </a:fill>
      </a:tcStyle>
    </a:band1H>
    <a:band1V>
      <a:tcStyle>
        <a:tcBdr/>
        <a:fill>
          <a:solidFill>
            <a:schemeClr val="accent6">
              <a:shade val="60000"/>
            </a:schemeClr>
          </a:solidFill>
        </a:fill>
      </a:tcStyle>
    </a:band1V>
    <a:lastCol>
      <a:tcTxStyle b="on"/>
      <a:tcStyle>
        <a:tcBdr>
          <a:left>
            <a:ln w="25400" cmpd="sng">
              <a:solidFill>
                <a:schemeClr val="lt1"/>
              </a:solidFill>
            </a:ln>
          </a:left>
        </a:tcBdr>
        <a:fill>
          <a:solidFill>
            <a:schemeClr val="accent6">
              <a:shade val="60000"/>
            </a:schemeClr>
          </a:solidFill>
        </a:fill>
      </a:tcStyle>
    </a:lastCol>
    <a:firstCol>
      <a:tcTxStyle b="on"/>
      <a:tcStyle>
        <a:tcBdr>
          <a:right>
            <a:ln w="25400" cmpd="sng">
              <a:solidFill>
                <a:schemeClr val="lt1"/>
              </a:solidFill>
            </a:ln>
          </a:right>
        </a:tcBdr>
        <a:fill>
          <a:solidFill>
            <a:schemeClr val="accent6">
              <a:shade val="60000"/>
            </a:schemeClr>
          </a:solidFill>
        </a:fill>
      </a:tcStyle>
    </a:firstCol>
    <a:lastRow>
      <a:tcTxStyle b="on"/>
      <a:tcStyle>
        <a:tcBdr>
          <a:top>
            <a:ln w="25400" cmpd="sng">
              <a:solidFill>
                <a:schemeClr val="lt1"/>
              </a:solidFill>
            </a:ln>
          </a:top>
        </a:tcBdr>
        <a:fill>
          <a:solidFill>
            <a:schemeClr val="accent6">
              <a:shade val="4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D113A9D2-9D6B-4929-AA2D-F23B5EE8CBE7}" styleName="主题样式 2 - 强调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E269D01E-BC32-4049-B463-5C60D7B0CCD2}" styleName="主题样式 2 - 强调 4">
    <a:tblBg>
      <a:fillRef idx="3">
        <a:schemeClr val="accent4"/>
      </a:fillRef>
      <a:effectRef idx="3">
        <a:schemeClr val="accent4"/>
      </a:effectRef>
    </a:tblBg>
    <a:wholeTbl>
      <a:tcTxStyle>
        <a:fontRef idx="minor">
          <a:scrgbClr r="0" g="0" b="0"/>
        </a:fontRef>
        <a:schemeClr val="lt1"/>
      </a:tcTxStyle>
      <a:tcStyle>
        <a:tcBdr>
          <a:left>
            <a:lnRef idx="1">
              <a:schemeClr val="accent4">
                <a:tint val="50000"/>
              </a:schemeClr>
            </a:lnRef>
          </a:left>
          <a:right>
            <a:lnRef idx="1">
              <a:schemeClr val="accent4">
                <a:tint val="50000"/>
              </a:schemeClr>
            </a:lnRef>
          </a:right>
          <a:top>
            <a:lnRef idx="1">
              <a:schemeClr val="accent4">
                <a:tint val="50000"/>
              </a:schemeClr>
            </a:lnRef>
          </a:top>
          <a:bottom>
            <a:lnRef idx="1">
              <a:schemeClr val="accent4">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BDBED569-4797-4DF1-A0F4-6AAB3CD982D8}" styleName="浅色样式 3 - 强调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中度样式 1 - 强调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10A1B5D5-9B99-4C35-A422-299274C87663}" styleName="中度样式 1 - 强调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912C8C85-51F0-491E-9774-3900AFEF0FD7}" styleName="浅色样式 2 - 强调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E8B1032C-EA38-4F05-BA0D-38AFFFC7BED3}" styleName="浅色样式 3 - 强调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786" autoAdjust="0"/>
    <p:restoredTop sz="87796" autoAdjust="0"/>
  </p:normalViewPr>
  <p:slideViewPr>
    <p:cSldViewPr snapToGrid="0">
      <p:cViewPr varScale="1">
        <p:scale>
          <a:sx n="149" d="100"/>
          <a:sy n="149" d="100"/>
        </p:scale>
        <p:origin x="348" y="120"/>
      </p:cViewPr>
      <p:guideLst>
        <p:guide orient="horz" pos="1620"/>
        <p:guide pos="2880"/>
      </p:guideLst>
    </p:cSldViewPr>
  </p:slideViewPr>
  <p:notesTextViewPr>
    <p:cViewPr>
      <p:scale>
        <a:sx n="1" d="1"/>
        <a:sy n="1" d="1"/>
      </p:scale>
      <p:origin x="0" y="0"/>
    </p:cViewPr>
  </p:notesTextViewPr>
  <p:notesViewPr>
    <p:cSldViewPr snapToGrid="0">
      <p:cViewPr varScale="1">
        <p:scale>
          <a:sx n="86" d="100"/>
          <a:sy n="86" d="100"/>
        </p:scale>
        <p:origin x="2772" y="90"/>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63" Type="http://schemas.openxmlformats.org/officeDocument/2006/relationships/slide" Target="slides/slide62.xml"/><Relationship Id="rId159" Type="http://schemas.openxmlformats.org/officeDocument/2006/relationships/slide" Target="slides/slide158.xml"/><Relationship Id="rId170" Type="http://schemas.openxmlformats.org/officeDocument/2006/relationships/slide" Target="slides/slide169.xml"/><Relationship Id="rId226" Type="http://schemas.openxmlformats.org/officeDocument/2006/relationships/slide" Target="slides/slide225.xml"/><Relationship Id="rId268" Type="http://schemas.openxmlformats.org/officeDocument/2006/relationships/slide" Target="slides/slide267.xml"/><Relationship Id="rId32" Type="http://schemas.openxmlformats.org/officeDocument/2006/relationships/slide" Target="slides/slide31.xml"/><Relationship Id="rId74" Type="http://schemas.openxmlformats.org/officeDocument/2006/relationships/slide" Target="slides/slide73.xml"/><Relationship Id="rId128" Type="http://schemas.openxmlformats.org/officeDocument/2006/relationships/slide" Target="slides/slide127.xml"/><Relationship Id="rId5" Type="http://schemas.openxmlformats.org/officeDocument/2006/relationships/slide" Target="slides/slide4.xml"/><Relationship Id="rId181" Type="http://schemas.openxmlformats.org/officeDocument/2006/relationships/slide" Target="slides/slide180.xml"/><Relationship Id="rId237" Type="http://schemas.openxmlformats.org/officeDocument/2006/relationships/slide" Target="slides/slide236.xml"/><Relationship Id="rId279" Type="http://schemas.openxmlformats.org/officeDocument/2006/relationships/presProps" Target="presProp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269" Type="http://schemas.openxmlformats.org/officeDocument/2006/relationships/slide" Target="slides/slide268.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280" Type="http://schemas.openxmlformats.org/officeDocument/2006/relationships/viewProps" Target="viewProps.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59" Type="http://schemas.openxmlformats.org/officeDocument/2006/relationships/slide" Target="slides/slide258.xml"/><Relationship Id="rId23" Type="http://schemas.openxmlformats.org/officeDocument/2006/relationships/slide" Target="slides/slide22.xml"/><Relationship Id="rId119" Type="http://schemas.openxmlformats.org/officeDocument/2006/relationships/slide" Target="slides/slide118.xml"/><Relationship Id="rId270" Type="http://schemas.openxmlformats.org/officeDocument/2006/relationships/slide" Target="slides/slide269.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260" Type="http://schemas.openxmlformats.org/officeDocument/2006/relationships/slide" Target="slides/slide259.xml"/><Relationship Id="rId281" Type="http://schemas.openxmlformats.org/officeDocument/2006/relationships/theme" Target="theme/theme1.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71" Type="http://schemas.openxmlformats.org/officeDocument/2006/relationships/slide" Target="slides/slide270.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261" Type="http://schemas.openxmlformats.org/officeDocument/2006/relationships/slide" Target="slides/slide260.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282" Type="http://schemas.openxmlformats.org/officeDocument/2006/relationships/tableStyles" Target="tableStyles.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72" Type="http://schemas.openxmlformats.org/officeDocument/2006/relationships/slide" Target="slides/slide271.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262" Type="http://schemas.openxmlformats.org/officeDocument/2006/relationships/slide" Target="slides/slide261.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slide" Target="slides/slide251.xml"/><Relationship Id="rId273" Type="http://schemas.openxmlformats.org/officeDocument/2006/relationships/slide" Target="slides/slide272.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263" Type="http://schemas.openxmlformats.org/officeDocument/2006/relationships/slide" Target="slides/slide262.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slide" Target="slides/slide252.xml"/><Relationship Id="rId274" Type="http://schemas.openxmlformats.org/officeDocument/2006/relationships/notesMaster" Target="notesMasters/notesMaster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264" Type="http://schemas.openxmlformats.org/officeDocument/2006/relationships/slide" Target="slides/slide263.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slide" Target="slides/slide253.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275" Type="http://schemas.openxmlformats.org/officeDocument/2006/relationships/font" Target="fonts/font1.fntdata"/><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265" Type="http://schemas.openxmlformats.org/officeDocument/2006/relationships/slide" Target="slides/slide264.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slide" Target="slides/slide254.xml"/><Relationship Id="rId276" Type="http://schemas.openxmlformats.org/officeDocument/2006/relationships/font" Target="fonts/font2.fntdata"/><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266" Type="http://schemas.openxmlformats.org/officeDocument/2006/relationships/slide" Target="slides/slide265.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slide" Target="slides/slide255.xml"/><Relationship Id="rId277" Type="http://schemas.openxmlformats.org/officeDocument/2006/relationships/font" Target="fonts/font3.fntdata"/><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267" Type="http://schemas.openxmlformats.org/officeDocument/2006/relationships/slide" Target="slides/slide26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slide" Target="slides/slide256.xml"/><Relationship Id="rId278" Type="http://schemas.openxmlformats.org/officeDocument/2006/relationships/font" Target="fonts/font4.fntdata"/><Relationship Id="rId42" Type="http://schemas.openxmlformats.org/officeDocument/2006/relationships/slide" Target="slides/slide41.xml"/><Relationship Id="rId84" Type="http://schemas.openxmlformats.org/officeDocument/2006/relationships/slide" Target="slides/slide83.xml"/><Relationship Id="rId138" Type="http://schemas.openxmlformats.org/officeDocument/2006/relationships/slide" Target="slides/slide137.xml"/><Relationship Id="rId191" Type="http://schemas.openxmlformats.org/officeDocument/2006/relationships/slide" Target="slides/slide190.xml"/><Relationship Id="rId205" Type="http://schemas.openxmlformats.org/officeDocument/2006/relationships/slide" Target="slides/slide204.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53" Type="http://schemas.openxmlformats.org/officeDocument/2006/relationships/slide" Target="slides/slide52.xml"/><Relationship Id="rId149" Type="http://schemas.openxmlformats.org/officeDocument/2006/relationships/slide" Target="slides/slide148.xml"/><Relationship Id="rId95" Type="http://schemas.openxmlformats.org/officeDocument/2006/relationships/slide" Target="slides/slide94.xml"/><Relationship Id="rId160" Type="http://schemas.openxmlformats.org/officeDocument/2006/relationships/slide" Target="slides/slide159.xml"/><Relationship Id="rId216" Type="http://schemas.openxmlformats.org/officeDocument/2006/relationships/slide" Target="slides/slide215.xml"/><Relationship Id="rId258" Type="http://schemas.openxmlformats.org/officeDocument/2006/relationships/slide" Target="slides/slide257.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3">
  <dgm:title val=""/>
  <dgm:desc val=""/>
  <dgm:catLst>
    <dgm:cat type="colorful" pri="10300"/>
  </dgm:catLst>
  <dgm:styleLbl name="node0">
    <dgm:fillClrLst meth="repeat">
      <a:schemeClr val="accent2"/>
    </dgm:fillClrLst>
    <dgm:linClrLst meth="repeat">
      <a:schemeClr val="lt1"/>
    </dgm:linClrLst>
    <dgm:effectClrLst/>
    <dgm:txLinClrLst/>
    <dgm:txFillClrLst/>
    <dgm:txEffectClrLst/>
  </dgm:styleLbl>
  <dgm:styleLbl name="node1">
    <dgm:fillClrLst>
      <a:schemeClr val="accent3"/>
      <a:schemeClr val="accent4"/>
    </dgm:fillClrLst>
    <dgm:linClrLst meth="repeat">
      <a:schemeClr val="lt1"/>
    </dgm:linClrLst>
    <dgm:effectClrLst/>
    <dgm:txLinClrLst/>
    <dgm:txFillClrLst/>
    <dgm:txEffectClrLst/>
  </dgm:styleLbl>
  <dgm:styleLbl name="alignNode1">
    <dgm:fillClrLst>
      <a:schemeClr val="accent3"/>
      <a:schemeClr val="accent4"/>
    </dgm:fillClrLst>
    <dgm:linClrLst>
      <a:schemeClr val="accent3"/>
      <a:schemeClr val="accent4"/>
    </dgm:linClrLst>
    <dgm:effectClrLst/>
    <dgm:txLinClrLst/>
    <dgm:txFillClrLst/>
    <dgm:txEffectClrLst/>
  </dgm:styleLbl>
  <dgm:styleLbl name="lnNode1">
    <dgm:fillClrLst>
      <a:schemeClr val="accent3"/>
      <a:schemeClr val="accent4"/>
    </dgm:fillClrLst>
    <dgm:linClrLst meth="repeat">
      <a:schemeClr val="lt1"/>
    </dgm:linClrLst>
    <dgm:effectClrLst/>
    <dgm:txLinClrLst/>
    <dgm:txFillClrLst/>
    <dgm:txEffectClrLst/>
  </dgm:styleLbl>
  <dgm:styleLbl name="vennNode1">
    <dgm:fillClrLst>
      <a:schemeClr val="accent3">
        <a:alpha val="50000"/>
      </a:schemeClr>
      <a:schemeClr val="accent4">
        <a:alpha val="50000"/>
      </a:schemeClr>
    </dgm:fillClrLst>
    <dgm:linClrLst meth="repeat">
      <a:schemeClr val="lt1"/>
    </dgm:linClrLst>
    <dgm:effectClrLst/>
    <dgm:txLinClrLst/>
    <dgm:txFillClrLst/>
    <dgm:txEffectClrLst/>
  </dgm:styleLbl>
  <dgm:styleLbl name="node2">
    <dgm:fillClrLst>
      <a:schemeClr val="accent4"/>
    </dgm:fillClrLst>
    <dgm:linClrLst meth="repeat">
      <a:schemeClr val="lt1"/>
    </dgm:linClrLst>
    <dgm:effectClrLst/>
    <dgm:txLinClrLst/>
    <dgm:txFillClrLst/>
    <dgm:txEffectClrLst/>
  </dgm:styleLbl>
  <dgm:styleLbl name="node3">
    <dgm:fillClrLst>
      <a:schemeClr val="accent5"/>
    </dgm:fillClrLst>
    <dgm:linClrLst meth="repeat">
      <a:schemeClr val="lt1"/>
    </dgm:linClrLst>
    <dgm:effectClrLst/>
    <dgm:txLinClrLst/>
    <dgm:txFillClrLst/>
    <dgm:txEffectClrLst/>
  </dgm:styleLbl>
  <dgm:styleLbl name="node4">
    <dgm:fillClrLst>
      <a:schemeClr val="accent6"/>
    </dgm:fillClrLst>
    <dgm:linClrLst meth="repeat">
      <a:schemeClr val="lt1"/>
    </dgm:linClrLst>
    <dgm:effectClrLst/>
    <dgm:txLinClrLst/>
    <dgm:txFillClrLst/>
    <dgm:txEffectClrLst/>
  </dgm:styleLbl>
  <dgm:styleLbl name="fgImgPlace1">
    <dgm:fillClrLst>
      <a:schemeClr val="accent3">
        <a:tint val="50000"/>
      </a:schemeClr>
      <a:schemeClr val="accent4">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3">
        <a:tint val="50000"/>
      </a:schemeClr>
      <a:schemeClr val="accent4">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3"/>
      <a:schemeClr val="accent4"/>
    </dgm:fillClrLst>
    <dgm:linClrLst meth="repeat">
      <a:schemeClr val="lt1"/>
    </dgm:linClrLst>
    <dgm:effectClrLst/>
    <dgm:txLinClrLst/>
    <dgm:txFillClrLst/>
    <dgm:txEffectClrLst/>
  </dgm:styleLbl>
  <dgm:styleLbl name="fgSibTrans2D1">
    <dgm:fillClrLst>
      <a:schemeClr val="accent3"/>
      <a:schemeClr val="accent4"/>
    </dgm:fillClrLst>
    <dgm:linClrLst meth="repeat">
      <a:schemeClr val="lt1"/>
    </dgm:linClrLst>
    <dgm:effectClrLst/>
    <dgm:txLinClrLst/>
    <dgm:txFillClrLst meth="repeat">
      <a:schemeClr val="lt1"/>
    </dgm:txFillClrLst>
    <dgm:txEffectClrLst/>
  </dgm:styleLbl>
  <dgm:styleLbl name="bgSibTrans2D1">
    <dgm:fillClrLst>
      <a:schemeClr val="accent3"/>
      <a:schemeClr val="accent4"/>
    </dgm:fillClrLst>
    <dgm:linClrLst meth="repeat">
      <a:schemeClr val="lt1"/>
    </dgm:linClrLst>
    <dgm:effectClrLst/>
    <dgm:txLinClrLst/>
    <dgm:txFillClrLst meth="repeat">
      <a:schemeClr val="lt1"/>
    </dgm:txFillClrLst>
    <dgm:txEffectClrLst/>
  </dgm:styleLbl>
  <dgm:styleLbl name="sibTrans1D1">
    <dgm:fillClrLst/>
    <dgm:linClrLst>
      <a:schemeClr val="accent3"/>
      <a:schemeClr val="accent4"/>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a:shade val="80000"/>
      </a:schemeClr>
    </dgm:linClrLst>
    <dgm:effectClrLst/>
    <dgm:txLinClrLst/>
    <dgm:txFillClrLst/>
    <dgm:txEffectClrLst/>
  </dgm:styleLbl>
  <dgm:styleLbl name="asst1">
    <dgm:fillClrLst meth="repeat">
      <a:schemeClr val="accent4"/>
    </dgm:fillClrLst>
    <dgm:linClrLst meth="repeat">
      <a:schemeClr val="lt1">
        <a:shade val="80000"/>
      </a:schemeClr>
    </dgm:linClrLst>
    <dgm:effectClrLst/>
    <dgm:txLinClrLst/>
    <dgm:txFillClrLst/>
    <dgm:txEffectClrLst/>
  </dgm:styleLbl>
  <dgm:styleLbl name="asst2">
    <dgm:fillClrLst>
      <a:schemeClr val="accent5"/>
    </dgm:fillClrLst>
    <dgm:linClrLst meth="repeat">
      <a:schemeClr val="lt1"/>
    </dgm:linClrLst>
    <dgm:effectClrLst/>
    <dgm:txLinClrLst/>
    <dgm:txFillClrLst/>
    <dgm:txEffectClrLst/>
  </dgm:styleLbl>
  <dgm:styleLbl name="asst3">
    <dgm:fillClrLst>
      <a:schemeClr val="accent6"/>
    </dgm:fillClrLst>
    <dgm:linClrLst meth="repeat">
      <a:schemeClr val="lt1"/>
    </dgm:linClrLst>
    <dgm:effectClrLst/>
    <dgm:txLinClrLst/>
    <dgm:txFillClrLst/>
    <dgm:txEffectClrLst/>
  </dgm:styleLbl>
  <dgm:styleLbl name="asst4">
    <dgm:fillClrLst>
      <a:schemeClr val="accent1"/>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3"/>
    </dgm:fillClrLst>
    <dgm:linClrLst meth="repeat">
      <a:schemeClr val="accent3"/>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4"/>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5"/>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6"/>
    </dgm:linClrLst>
    <dgm:effectClrLst/>
    <dgm:txLinClrLst/>
    <dgm:txFillClrLst meth="repeat">
      <a:schemeClr val="tx1"/>
    </dgm:txFillClrLst>
    <dgm:txEffectClrLst/>
  </dgm:styleLbl>
  <dgm:styleLbl name="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conF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align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3"/>
      <a:schemeClr val="accent4"/>
    </dgm:linClrLst>
    <dgm:effectClrLst/>
    <dgm:txLinClrLst/>
    <dgm:txFillClrLst meth="repeat">
      <a:schemeClr val="dk1"/>
    </dgm:txFillClrLst>
    <dgm:txEffectClrLst/>
  </dgm:styleLbl>
  <dgm:styleLbl name="solidFgAcc1">
    <dgm:fillClrLst meth="repeat">
      <a:schemeClr val="lt1"/>
    </dgm:fillClrLst>
    <dgm:linClrLst>
      <a:schemeClr val="accent3"/>
      <a:schemeClr val="accent4"/>
    </dgm:linClrLst>
    <dgm:effectClrLst/>
    <dgm:txLinClrLst/>
    <dgm:txFillClrLst meth="repeat">
      <a:schemeClr val="dk1"/>
    </dgm:txFillClrLst>
    <dgm:txEffectClrLst/>
  </dgm:styleLbl>
  <dgm:styleLbl name="solidAlignAcc1">
    <dgm:fillClrLst meth="repeat">
      <a:schemeClr val="lt1"/>
    </dgm:fillClrLst>
    <dgm:linClrLst>
      <a:schemeClr val="accent3"/>
      <a:schemeClr val="accent4"/>
    </dgm:linClrLst>
    <dgm:effectClrLst/>
    <dgm:txLinClrLst/>
    <dgm:txFillClrLst meth="repeat">
      <a:schemeClr val="dk1"/>
    </dgm:txFillClrLst>
    <dgm:txEffectClrLst/>
  </dgm:styleLbl>
  <dgm:styleLbl name="solidBgAcc1">
    <dgm:fillClrLst meth="repeat">
      <a:schemeClr val="lt1"/>
    </dgm:fillClrLst>
    <dgm:linClrLst>
      <a:schemeClr val="accent3"/>
      <a:schemeClr val="accent4"/>
    </dgm:linClrLst>
    <dgm:effectClrLst/>
    <dgm:txLinClrLst/>
    <dgm:txFillClrLst meth="repeat">
      <a:schemeClr val="dk1"/>
    </dgm:txFillClrLst>
    <dgm:txEffectClrLst/>
  </dgm:styleLbl>
  <dgm:styleLbl name="f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align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bgAccFollowNode1">
    <dgm:fillClrLst>
      <a:schemeClr val="accent3">
        <a:tint val="40000"/>
        <a:alpha val="90000"/>
      </a:schemeClr>
      <a:schemeClr val="accent4">
        <a:tint val="40000"/>
        <a:alpha val="90000"/>
      </a:schemeClr>
    </dgm:fillClrLst>
    <dgm:linClrLst>
      <a:schemeClr val="accent3">
        <a:tint val="40000"/>
        <a:alpha val="90000"/>
      </a:schemeClr>
      <a:schemeClr val="accent4">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2"/>
    </dgm:linClrLst>
    <dgm:effectClrLst/>
    <dgm:txLinClrLst/>
    <dgm:txFillClrLst meth="repeat">
      <a:schemeClr val="dk1"/>
    </dgm:txFillClrLst>
    <dgm:txEffectClrLst/>
  </dgm:styleLbl>
  <dgm:styleLbl name="fgAcc2">
    <dgm:fillClrLst meth="repeat">
      <a:schemeClr val="lt1">
        <a:alpha val="90000"/>
      </a:schemeClr>
    </dgm:fillClrLst>
    <dgm:linClrLst>
      <a:schemeClr val="accent4"/>
    </dgm:linClrLst>
    <dgm:effectClrLst/>
    <dgm:txLinClrLst/>
    <dgm:txFillClrLst meth="repeat">
      <a:schemeClr val="dk1"/>
    </dgm:txFillClrLst>
    <dgm:txEffectClrLst/>
  </dgm:styleLbl>
  <dgm:styleLbl name="fgAcc3">
    <dgm:fillClrLst meth="repeat">
      <a:schemeClr val="lt1">
        <a:alpha val="90000"/>
      </a:schemeClr>
    </dgm:fillClrLst>
    <dgm:linClrLst>
      <a:schemeClr val="accent5"/>
    </dgm:linClrLst>
    <dgm:effectClrLst/>
    <dgm:txLinClrLst/>
    <dgm:txFillClrLst meth="repeat">
      <a:schemeClr val="dk1"/>
    </dgm:txFillClrLst>
    <dgm:txEffectClrLst/>
  </dgm:styleLbl>
  <dgm:styleLbl name="fgAcc4">
    <dgm:fillClrLst meth="repeat">
      <a:schemeClr val="lt1">
        <a:alpha val="90000"/>
      </a:schemeClr>
    </dgm:fillClrLst>
    <dgm:linClrLst>
      <a:schemeClr val="accent6"/>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3">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2" csCatId="colorful" phldr="1"/>
      <dgm:spPr/>
      <dgm:t>
        <a:bodyPr/>
        <a:lstStyle/>
        <a:p>
          <a:endParaRPr lang="zh-CN" altLang="en-US"/>
        </a:p>
      </dgm:t>
    </dgm:pt>
    <dgm:pt modelId="{078891F9-34FA-4EF4-89D8-5A412AD764F4}">
      <dgm:prSet phldrT="[文本]" custT="1"/>
      <dgm:spPr/>
      <dgm:t>
        <a:bodyPr/>
        <a:lstStyle/>
        <a:p>
          <a:pPr>
            <a:spcAft>
              <a:spcPts val="0"/>
            </a:spcAft>
          </a:pPr>
          <a:r>
            <a:rPr lang="zh-CN" sz="1400" b="0" dirty="0">
              <a:latin typeface="Montserrat" panose="00000500000000000000" pitchFamily="2" charset="0"/>
              <a:ea typeface="微软雅黑 Light" panose="020B0502040204020203" pitchFamily="34" charset="-122"/>
            </a:rPr>
            <a:t>万维网</a:t>
          </a:r>
          <a:endParaRPr lang="en-US" altLang="zh-CN" sz="1400" b="0" dirty="0">
            <a:latin typeface="Montserrat" panose="00000500000000000000" pitchFamily="2" charset="0"/>
            <a:ea typeface="微软雅黑 Light" panose="020B0502040204020203" pitchFamily="34" charset="-122"/>
          </a:endParaRP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SMTP</a:t>
          </a:r>
          <a:r>
            <a:rPr lang="zh-CN" altLang="en-US" sz="1400" b="0" dirty="0">
              <a:latin typeface="Montserrat" panose="00000500000000000000" pitchFamily="2" charset="0"/>
              <a:ea typeface="微软雅黑 Light" panose="020B0502040204020203" pitchFamily="34" charset="-122"/>
            </a:rPr>
            <a:t>，</a:t>
          </a:r>
          <a:r>
            <a:rPr lang="en-US" altLang="zh-CN" sz="1400" b="0" dirty="0">
              <a:latin typeface="Montserrat" panose="00000500000000000000" pitchFamily="2" charset="0"/>
              <a:ea typeface="微软雅黑 Light" panose="020B0502040204020203" pitchFamily="34" charset="-122"/>
            </a:rPr>
            <a:t>POP3</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en-US" sz="1400" b="0" dirty="0">
              <a:latin typeface="Montserrat" panose="00000500000000000000" pitchFamily="2" charset="0"/>
              <a:ea typeface="微软雅黑 Light" panose="020B0502040204020203" pitchFamily="34" charset="-122"/>
            </a:rPr>
            <a:t>HTTP</a:t>
          </a:r>
          <a:endParaRPr lang="en-US" altLang="zh-CN" sz="1400" b="0" dirty="0">
            <a:latin typeface="Montserrat" panose="00000500000000000000" pitchFamily="2" charset="0"/>
            <a:ea typeface="微软雅黑 Light" panose="020B0502040204020203" pitchFamily="34" charset="-122"/>
          </a:endParaRP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电子邮件</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文件传输</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en-US" altLang="zh-CN" sz="1400" b="0" dirty="0">
              <a:latin typeface="Montserrat" panose="00000500000000000000" pitchFamily="2" charset="0"/>
              <a:ea typeface="微软雅黑 Light" panose="020B0502040204020203" pitchFamily="34" charset="-122"/>
            </a:rPr>
            <a:t>FTP</a:t>
          </a:r>
          <a:endParaRPr lang="zh-CN" altLang="en-US" sz="1400" b="0" dirty="0">
            <a:latin typeface="Montserrat" panose="00000500000000000000" pitchFamily="2" charset="0"/>
            <a:ea typeface="微软雅黑 Light" panose="020B0502040204020203" pitchFamily="34" charset="-122"/>
          </a:endParaRP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不同于网络应用</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2832C718-DAF0-4C4D-A446-27C1389A0F92}" type="doc">
      <dgm:prSet loTypeId="urn:microsoft.com/office/officeart/2005/8/layout/hierarchy4" loCatId="list" qsTypeId="urn:microsoft.com/office/officeart/2005/8/quickstyle/simple3" qsCatId="simple" csTypeId="urn:microsoft.com/office/officeart/2005/8/colors/colorful3" csCatId="colorful" phldr="1"/>
      <dgm:spPr/>
      <dgm:t>
        <a:bodyPr/>
        <a:lstStyle/>
        <a:p>
          <a:endParaRPr lang="zh-CN" altLang="en-US"/>
        </a:p>
      </dgm:t>
    </dgm:pt>
    <dgm:pt modelId="{078891F9-34FA-4EF4-89D8-5A412AD764F4}">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客户 </a:t>
          </a:r>
          <a:r>
            <a:rPr lang="en-US" altLang="zh-CN" sz="1400" b="0" dirty="0">
              <a:latin typeface="Montserrat" panose="00000500000000000000" pitchFamily="2" charset="0"/>
              <a:ea typeface="微软雅黑 Light" panose="020B0502040204020203" pitchFamily="34" charset="-122"/>
            </a:rPr>
            <a:t>Client</a:t>
          </a:r>
        </a:p>
      </dgm:t>
    </dgm:pt>
    <dgm:pt modelId="{4B643090-A914-42B9-B238-056D4FF63DC6}" type="par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E766D9F-0EF6-4186-882A-CE5D9C859966}" type="sibTrans" cxnId="{4D4A52C9-E9C4-4696-91DC-BD7EA7EBBD56}">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FA7BE1A0-586E-4E75-A7A2-8E8D9C81DB65}">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服务提供方</a:t>
          </a:r>
          <a:endParaRPr lang="zh-CN" altLang="en-US" sz="1400" b="0" dirty="0">
            <a:latin typeface="Montserrat" panose="00000500000000000000" pitchFamily="2" charset="0"/>
            <a:ea typeface="微软雅黑 Light" panose="020B0502040204020203" pitchFamily="34" charset="-122"/>
          </a:endParaRPr>
        </a:p>
      </dgm:t>
    </dgm:pt>
    <dgm:pt modelId="{D877AC74-80D2-46D3-88D7-2B19FF468A57}" type="par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6F9E388-D379-4831-A10F-3BB4C241D915}" type="sibTrans" cxnId="{8A3EA2AA-42A8-4AEA-B0B4-11120F121170}">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354A271C-6390-4DF4-9AC0-ADE68E742430}">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服务器 </a:t>
          </a:r>
          <a:r>
            <a:rPr lang="en-US" altLang="zh-CN" sz="1400" b="0" dirty="0">
              <a:latin typeface="Montserrat" panose="00000500000000000000" pitchFamily="2" charset="0"/>
              <a:ea typeface="微软雅黑 Light" panose="020B0502040204020203" pitchFamily="34" charset="-122"/>
            </a:rPr>
            <a:t>Server</a:t>
          </a:r>
        </a:p>
      </dgm:t>
    </dgm:pt>
    <dgm:pt modelId="{0E2096BF-A648-4344-82E4-9E96ECC476E6}" type="par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9FD693A-956F-40F6-AB1E-763E1B809B76}" type="sibTrans" cxnId="{28922770-A65C-4E3E-A3DA-16CCB81274A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453551A-5977-423D-B5EC-B8426DA6E162}">
      <dgm:prSet phldrT="[文本]" custT="1"/>
      <dgm:spPr/>
      <dgm:t>
        <a:bodyPr/>
        <a:lstStyle/>
        <a:p>
          <a:pPr>
            <a:spcAft>
              <a:spcPts val="0"/>
            </a:spcAft>
          </a:pPr>
          <a:r>
            <a:rPr lang="zh-CN" altLang="zh-CN" sz="1400" b="0" dirty="0">
              <a:latin typeface="Montserrat" panose="00000500000000000000" pitchFamily="2" charset="0"/>
              <a:ea typeface="微软雅黑 Light" panose="020B0502040204020203" pitchFamily="34" charset="-122"/>
            </a:rPr>
            <a:t>服务请求方</a:t>
          </a:r>
          <a:endParaRPr lang="en-US" altLang="zh-CN" sz="1400" b="0" dirty="0">
            <a:latin typeface="Montserrat" panose="00000500000000000000" pitchFamily="2" charset="0"/>
            <a:ea typeface="微软雅黑 Light" panose="020B0502040204020203" pitchFamily="34" charset="-122"/>
          </a:endParaRPr>
        </a:p>
      </dgm:t>
    </dgm:pt>
    <dgm:pt modelId="{647AE668-B33C-4713-93F9-613FF5C0205D}" type="par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411E134-4EF0-49CA-87DE-3BB911E496CF}" type="sibTrans" cxnId="{F99D0580-FAE8-4372-9FCA-57C11D86F9D1}">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AC447A3-3923-4C66-9E6E-9E85452007A2}">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endParaRPr lang="en-US" altLang="zh-CN" sz="1400" b="0" dirty="0">
            <a:latin typeface="Montserrat" panose="00000500000000000000" pitchFamily="2" charset="0"/>
            <a:ea typeface="微软雅黑 Light" panose="020B0502040204020203" pitchFamily="34" charset="-122"/>
          </a:endParaRPr>
        </a:p>
      </dgm:t>
    </dgm:pt>
    <dgm:pt modelId="{940A24D1-38C6-45BF-BBD5-710C5CD3DF15}" type="par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F74ABCB-B1AD-4B2F-B725-25FDF1FB8267}" type="sibTrans" cxnId="{EC5B7AE1-7D79-43BD-8A23-277F057D5D83}">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194B30E0-BBF3-4013-AA95-F36A73A99BE9}">
      <dgm:prSet phldrT="[文本]" custT="1"/>
      <dgm:spPr/>
      <dgm:t>
        <a:bodyPr/>
        <a:lstStyle/>
        <a:p>
          <a:pPr>
            <a:spcAft>
              <a:spcPts val="0"/>
            </a:spcAft>
          </a:pPr>
          <a:r>
            <a:rPr lang="zh-CN" altLang="en-US" sz="1400" b="0" dirty="0">
              <a:latin typeface="Montserrat" panose="00000500000000000000" pitchFamily="2" charset="0"/>
              <a:ea typeface="微软雅黑 Light" panose="020B0502040204020203" pitchFamily="34" charset="-122"/>
            </a:rPr>
            <a:t>应用进程</a:t>
          </a:r>
        </a:p>
      </dgm:t>
    </dgm:pt>
    <dgm:pt modelId="{F1920C41-8FA1-43C2-947F-37DE49CDBC93}" type="par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7339F0ED-B46A-44B7-8FEC-EC74442AAED0}" type="sibTrans" cxnId="{13DAA706-1759-414C-A9E1-D7C4BBDA2A67}">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5A02E71B-2C78-495B-B0C5-EECEC8CAF54C}">
      <dgm:prSet phldrT="[文本]" custT="1"/>
      <dgm:spPr/>
      <dgm:t>
        <a:bodyPr/>
        <a:lstStyle/>
        <a:p>
          <a:r>
            <a:rPr lang="zh-CN" altLang="en-US" sz="1600" b="0" dirty="0">
              <a:latin typeface="Montserrat" panose="00000500000000000000" pitchFamily="2" charset="0"/>
              <a:ea typeface="微软雅黑 Light" panose="020B0502040204020203" pitchFamily="34" charset="-122"/>
            </a:rPr>
            <a:t>许多都基于客户</a:t>
          </a:r>
          <a:r>
            <a:rPr lang="en-US" altLang="zh-CN" sz="1600" b="0" dirty="0">
              <a:latin typeface="Montserrat" panose="00000500000000000000" pitchFamily="2" charset="0"/>
              <a:ea typeface="微软雅黑 Light" panose="020B0502040204020203" pitchFamily="34" charset="-122"/>
            </a:rPr>
            <a:t>/</a:t>
          </a:r>
          <a:r>
            <a:rPr lang="zh-CN" altLang="en-US" sz="1600" b="0" dirty="0">
              <a:latin typeface="Montserrat" panose="00000500000000000000" pitchFamily="2" charset="0"/>
              <a:ea typeface="微软雅黑 Light" panose="020B0502040204020203" pitchFamily="34" charset="-122"/>
            </a:rPr>
            <a:t>服务器 </a:t>
          </a:r>
          <a:r>
            <a:rPr lang="en-US" altLang="zh-CN" sz="1600" b="0" dirty="0">
              <a:latin typeface="Montserrat" panose="00000500000000000000" pitchFamily="2" charset="0"/>
              <a:ea typeface="微软雅黑 Light" panose="020B0502040204020203" pitchFamily="34" charset="-122"/>
            </a:rPr>
            <a:t>C/S </a:t>
          </a:r>
          <a:r>
            <a:rPr lang="zh-CN" altLang="en-US" sz="1600" b="0" dirty="0">
              <a:latin typeface="Montserrat" panose="00000500000000000000" pitchFamily="2" charset="0"/>
              <a:ea typeface="微软雅黑 Light" panose="020B0502040204020203" pitchFamily="34" charset="-122"/>
            </a:rPr>
            <a:t>方式</a:t>
          </a:r>
        </a:p>
      </dgm:t>
    </dgm:pt>
    <dgm:pt modelId="{28DD6B13-3ADE-4F3E-8AB8-43B85AB567B6}" type="par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B750CA-5D66-4BE3-A57A-7E529C9C9314}" type="sibTrans" cxnId="{EBA0DB19-E670-45E1-97DE-A8F3744E3D69}">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5B734C7-BD06-4002-8C05-19CC466CF4FE}" type="pres">
      <dgm:prSet presAssocID="{2832C718-DAF0-4C4D-A446-27C1389A0F92}" presName="Name0" presStyleCnt="0">
        <dgm:presLayoutVars>
          <dgm:chPref val="1"/>
          <dgm:dir/>
          <dgm:animOne val="branch"/>
          <dgm:animLvl val="lvl"/>
          <dgm:resizeHandles/>
        </dgm:presLayoutVars>
      </dgm:prSet>
      <dgm:spPr/>
    </dgm:pt>
    <dgm:pt modelId="{DE938D13-ED6F-4563-8879-D6F4FAD5423D}" type="pres">
      <dgm:prSet presAssocID="{5A02E71B-2C78-495B-B0C5-EECEC8CAF54C}" presName="vertOne" presStyleCnt="0"/>
      <dgm:spPr/>
    </dgm:pt>
    <dgm:pt modelId="{7908BCB8-DE9B-4BF1-8D07-3A3FD24C7968}" type="pres">
      <dgm:prSet presAssocID="{5A02E71B-2C78-495B-B0C5-EECEC8CAF54C}" presName="txOne" presStyleLbl="node0" presStyleIdx="0" presStyleCnt="1" custScaleY="148588">
        <dgm:presLayoutVars>
          <dgm:chPref val="3"/>
        </dgm:presLayoutVars>
      </dgm:prSet>
      <dgm:spPr/>
    </dgm:pt>
    <dgm:pt modelId="{77C2260A-88CB-404E-8002-B464BA4290E6}" type="pres">
      <dgm:prSet presAssocID="{5A02E71B-2C78-495B-B0C5-EECEC8CAF54C}" presName="parTransOne" presStyleCnt="0"/>
      <dgm:spPr/>
    </dgm:pt>
    <dgm:pt modelId="{9C479166-312B-48A4-93F0-D456429370FF}" type="pres">
      <dgm:prSet presAssocID="{5A02E71B-2C78-495B-B0C5-EECEC8CAF54C}" presName="horzOne" presStyleCnt="0"/>
      <dgm:spPr/>
    </dgm:pt>
    <dgm:pt modelId="{F2AFACB0-1F05-45BA-97F0-0BBE2336FA96}" type="pres">
      <dgm:prSet presAssocID="{078891F9-34FA-4EF4-89D8-5A412AD764F4}" presName="vertTwo" presStyleCnt="0"/>
      <dgm:spPr/>
    </dgm:pt>
    <dgm:pt modelId="{F381CC4E-322C-45E6-B7E7-4ED70FA8CF2E}" type="pres">
      <dgm:prSet presAssocID="{078891F9-34FA-4EF4-89D8-5A412AD764F4}" presName="txTwo" presStyleLbl="node2" presStyleIdx="0" presStyleCnt="2">
        <dgm:presLayoutVars>
          <dgm:chPref val="3"/>
        </dgm:presLayoutVars>
      </dgm:prSet>
      <dgm:spPr/>
    </dgm:pt>
    <dgm:pt modelId="{B3E991A3-B236-4009-AEA5-6315F665B524}" type="pres">
      <dgm:prSet presAssocID="{078891F9-34FA-4EF4-89D8-5A412AD764F4}" presName="parTransTwo" presStyleCnt="0"/>
      <dgm:spPr/>
    </dgm:pt>
    <dgm:pt modelId="{B811FD53-087C-4B2F-8C51-3DB5E68B2452}" type="pres">
      <dgm:prSet presAssocID="{078891F9-34FA-4EF4-89D8-5A412AD764F4}" presName="horzTwo" presStyleCnt="0"/>
      <dgm:spPr/>
    </dgm:pt>
    <dgm:pt modelId="{F137DE85-E402-4C6C-ACA5-A1FB6D3400DE}" type="pres">
      <dgm:prSet presAssocID="{0453551A-5977-423D-B5EC-B8426DA6E162}" presName="vertThree" presStyleCnt="0"/>
      <dgm:spPr/>
    </dgm:pt>
    <dgm:pt modelId="{49899EA7-F8C0-4BB7-A6AD-5F40B1731420}" type="pres">
      <dgm:prSet presAssocID="{0453551A-5977-423D-B5EC-B8426DA6E162}" presName="txThree" presStyleLbl="node3" presStyleIdx="0" presStyleCnt="2">
        <dgm:presLayoutVars>
          <dgm:chPref val="3"/>
        </dgm:presLayoutVars>
      </dgm:prSet>
      <dgm:spPr/>
    </dgm:pt>
    <dgm:pt modelId="{527615C5-1330-4FA6-969A-D08DBDC89918}" type="pres">
      <dgm:prSet presAssocID="{0453551A-5977-423D-B5EC-B8426DA6E162}" presName="parTransThree" presStyleCnt="0"/>
      <dgm:spPr/>
    </dgm:pt>
    <dgm:pt modelId="{3C812A00-E9E7-473C-888C-D9088EEFCFD0}" type="pres">
      <dgm:prSet presAssocID="{0453551A-5977-423D-B5EC-B8426DA6E162}" presName="horzThree" presStyleCnt="0"/>
      <dgm:spPr/>
    </dgm:pt>
    <dgm:pt modelId="{2D3A1175-7EF3-4CE1-B64F-50931D3385A7}" type="pres">
      <dgm:prSet presAssocID="{4AC447A3-3923-4C66-9E6E-9E85452007A2}" presName="vertFour" presStyleCnt="0">
        <dgm:presLayoutVars>
          <dgm:chPref val="3"/>
        </dgm:presLayoutVars>
      </dgm:prSet>
      <dgm:spPr/>
    </dgm:pt>
    <dgm:pt modelId="{D772C529-9144-4F64-AC62-C41998E87A93}" type="pres">
      <dgm:prSet presAssocID="{4AC447A3-3923-4C66-9E6E-9E85452007A2}" presName="txFour" presStyleLbl="node4" presStyleIdx="0" presStyleCnt="2">
        <dgm:presLayoutVars>
          <dgm:chPref val="3"/>
        </dgm:presLayoutVars>
      </dgm:prSet>
      <dgm:spPr/>
    </dgm:pt>
    <dgm:pt modelId="{4688D703-232E-45EE-8323-BB294B9A4457}" type="pres">
      <dgm:prSet presAssocID="{4AC447A3-3923-4C66-9E6E-9E85452007A2}" presName="horzFour" presStyleCnt="0"/>
      <dgm:spPr/>
    </dgm:pt>
    <dgm:pt modelId="{70F65FB5-B308-4B2A-8221-05077A40B6F6}" type="pres">
      <dgm:prSet presAssocID="{FE766D9F-0EF6-4186-882A-CE5D9C859966}" presName="sibSpaceTwo" presStyleCnt="0"/>
      <dgm:spPr/>
    </dgm:pt>
    <dgm:pt modelId="{34C62D5E-69F7-4F2D-BDFF-C2DD14D12CE3}" type="pres">
      <dgm:prSet presAssocID="{354A271C-6390-4DF4-9AC0-ADE68E742430}" presName="vertTwo" presStyleCnt="0"/>
      <dgm:spPr/>
    </dgm:pt>
    <dgm:pt modelId="{1F36E606-4D05-483A-959D-7AFAA3F99964}" type="pres">
      <dgm:prSet presAssocID="{354A271C-6390-4DF4-9AC0-ADE68E742430}" presName="txTwo" presStyleLbl="node2" presStyleIdx="1" presStyleCnt="2">
        <dgm:presLayoutVars>
          <dgm:chPref val="3"/>
        </dgm:presLayoutVars>
      </dgm:prSet>
      <dgm:spPr/>
    </dgm:pt>
    <dgm:pt modelId="{5DC20216-E672-4C6A-BDA8-1E3B833D9157}" type="pres">
      <dgm:prSet presAssocID="{354A271C-6390-4DF4-9AC0-ADE68E742430}" presName="parTransTwo" presStyleCnt="0"/>
      <dgm:spPr/>
    </dgm:pt>
    <dgm:pt modelId="{9E7D5553-D08B-48C9-B301-9F127E3C9F9F}" type="pres">
      <dgm:prSet presAssocID="{354A271C-6390-4DF4-9AC0-ADE68E742430}" presName="horzTwo" presStyleCnt="0"/>
      <dgm:spPr/>
    </dgm:pt>
    <dgm:pt modelId="{5CF68A6D-5F73-424F-908D-5BC7BE54C39B}" type="pres">
      <dgm:prSet presAssocID="{FA7BE1A0-586E-4E75-A7A2-8E8D9C81DB65}" presName="vertThree" presStyleCnt="0"/>
      <dgm:spPr/>
    </dgm:pt>
    <dgm:pt modelId="{07CD9CA8-8213-4B82-96DE-5A2E23AB39DC}" type="pres">
      <dgm:prSet presAssocID="{FA7BE1A0-586E-4E75-A7A2-8E8D9C81DB65}" presName="txThree" presStyleLbl="node3" presStyleIdx="1" presStyleCnt="2">
        <dgm:presLayoutVars>
          <dgm:chPref val="3"/>
        </dgm:presLayoutVars>
      </dgm:prSet>
      <dgm:spPr/>
    </dgm:pt>
    <dgm:pt modelId="{B67490C8-45DF-4199-AD0D-13934A09531B}" type="pres">
      <dgm:prSet presAssocID="{FA7BE1A0-586E-4E75-A7A2-8E8D9C81DB65}" presName="parTransThree" presStyleCnt="0"/>
      <dgm:spPr/>
    </dgm:pt>
    <dgm:pt modelId="{ADBFBFED-38EF-4D0F-8DAC-C066A33AD792}" type="pres">
      <dgm:prSet presAssocID="{FA7BE1A0-586E-4E75-A7A2-8E8D9C81DB65}" presName="horzThree" presStyleCnt="0"/>
      <dgm:spPr/>
    </dgm:pt>
    <dgm:pt modelId="{EE17AF5B-8D4D-48E1-85E0-8D239D91431B}" type="pres">
      <dgm:prSet presAssocID="{194B30E0-BBF3-4013-AA95-F36A73A99BE9}" presName="vertFour" presStyleCnt="0">
        <dgm:presLayoutVars>
          <dgm:chPref val="3"/>
        </dgm:presLayoutVars>
      </dgm:prSet>
      <dgm:spPr/>
    </dgm:pt>
    <dgm:pt modelId="{629FD194-4F20-42AB-A0D3-D63455B286FC}" type="pres">
      <dgm:prSet presAssocID="{194B30E0-BBF3-4013-AA95-F36A73A99BE9}" presName="txFour" presStyleLbl="node4" presStyleIdx="1" presStyleCnt="2">
        <dgm:presLayoutVars>
          <dgm:chPref val="3"/>
        </dgm:presLayoutVars>
      </dgm:prSet>
      <dgm:spPr/>
    </dgm:pt>
    <dgm:pt modelId="{8D72D0DE-AA86-44B5-BAD3-4A56104B0618}" type="pres">
      <dgm:prSet presAssocID="{194B30E0-BBF3-4013-AA95-F36A73A99BE9}" presName="horzFour" presStyleCnt="0"/>
      <dgm:spPr/>
    </dgm:pt>
  </dgm:ptLst>
  <dgm:cxnLst>
    <dgm:cxn modelId="{13DAA706-1759-414C-A9E1-D7C4BBDA2A67}" srcId="{FA7BE1A0-586E-4E75-A7A2-8E8D9C81DB65}" destId="{194B30E0-BBF3-4013-AA95-F36A73A99BE9}" srcOrd="0" destOrd="0" parTransId="{F1920C41-8FA1-43C2-947F-37DE49CDBC93}" sibTransId="{7339F0ED-B46A-44B7-8FEC-EC74442AAED0}"/>
    <dgm:cxn modelId="{A7553C0C-489D-471C-AAB6-F8FE0699A02E}" type="presOf" srcId="{078891F9-34FA-4EF4-89D8-5A412AD764F4}" destId="{F381CC4E-322C-45E6-B7E7-4ED70FA8CF2E}" srcOrd="0" destOrd="0" presId="urn:microsoft.com/office/officeart/2005/8/layout/hierarchy4"/>
    <dgm:cxn modelId="{DFB0CF12-3CDA-449C-8B95-F600015C40A7}" type="presOf" srcId="{354A271C-6390-4DF4-9AC0-ADE68E742430}" destId="{1F36E606-4D05-483A-959D-7AFAA3F99964}" srcOrd="0" destOrd="0" presId="urn:microsoft.com/office/officeart/2005/8/layout/hierarchy4"/>
    <dgm:cxn modelId="{EBA0DB19-E670-45E1-97DE-A8F3744E3D69}" srcId="{2832C718-DAF0-4C4D-A446-27C1389A0F92}" destId="{5A02E71B-2C78-495B-B0C5-EECEC8CAF54C}" srcOrd="0" destOrd="0" parTransId="{28DD6B13-3ADE-4F3E-8AB8-43B85AB567B6}" sibTransId="{D9B750CA-5D66-4BE3-A57A-7E529C9C9314}"/>
    <dgm:cxn modelId="{8B8FD01C-7374-4520-A993-CABF85F0D4E0}" type="presOf" srcId="{0453551A-5977-423D-B5EC-B8426DA6E162}" destId="{49899EA7-F8C0-4BB7-A6AD-5F40B1731420}" srcOrd="0" destOrd="0" presId="urn:microsoft.com/office/officeart/2005/8/layout/hierarchy4"/>
    <dgm:cxn modelId="{28922770-A65C-4E3E-A3DA-16CCB81274A3}" srcId="{5A02E71B-2C78-495B-B0C5-EECEC8CAF54C}" destId="{354A271C-6390-4DF4-9AC0-ADE68E742430}" srcOrd="1" destOrd="0" parTransId="{0E2096BF-A648-4344-82E4-9E96ECC476E6}" sibTransId="{99FD693A-956F-40F6-AB1E-763E1B809B76}"/>
    <dgm:cxn modelId="{61668259-2802-4CF5-97DB-A927910C09B7}" type="presOf" srcId="{FA7BE1A0-586E-4E75-A7A2-8E8D9C81DB65}" destId="{07CD9CA8-8213-4B82-96DE-5A2E23AB39DC}" srcOrd="0" destOrd="0" presId="urn:microsoft.com/office/officeart/2005/8/layout/hierarchy4"/>
    <dgm:cxn modelId="{8B5B757C-9AA4-494F-8111-E33687EF58A9}" type="presOf" srcId="{2832C718-DAF0-4C4D-A446-27C1389A0F92}" destId="{E5B734C7-BD06-4002-8C05-19CC466CF4FE}" srcOrd="0" destOrd="0" presId="urn:microsoft.com/office/officeart/2005/8/layout/hierarchy4"/>
    <dgm:cxn modelId="{F99D0580-FAE8-4372-9FCA-57C11D86F9D1}" srcId="{078891F9-34FA-4EF4-89D8-5A412AD764F4}" destId="{0453551A-5977-423D-B5EC-B8426DA6E162}" srcOrd="0" destOrd="0" parTransId="{647AE668-B33C-4713-93F9-613FF5C0205D}" sibTransId="{6411E134-4EF0-49CA-87DE-3BB911E496CF}"/>
    <dgm:cxn modelId="{5BA3F38E-E1B0-4D0C-BD88-A468FB0818F2}" type="presOf" srcId="{4AC447A3-3923-4C66-9E6E-9E85452007A2}" destId="{D772C529-9144-4F64-AC62-C41998E87A93}" srcOrd="0" destOrd="0" presId="urn:microsoft.com/office/officeart/2005/8/layout/hierarchy4"/>
    <dgm:cxn modelId="{8A3EA2AA-42A8-4AEA-B0B4-11120F121170}" srcId="{354A271C-6390-4DF4-9AC0-ADE68E742430}" destId="{FA7BE1A0-586E-4E75-A7A2-8E8D9C81DB65}" srcOrd="0" destOrd="0" parTransId="{D877AC74-80D2-46D3-88D7-2B19FF468A57}" sibTransId="{16F9E388-D379-4831-A10F-3BB4C241D915}"/>
    <dgm:cxn modelId="{EB0C08B8-3AB8-4F5F-8218-34C18BD26F98}" type="presOf" srcId="{5A02E71B-2C78-495B-B0C5-EECEC8CAF54C}" destId="{7908BCB8-DE9B-4BF1-8D07-3A3FD24C7968}" srcOrd="0" destOrd="0" presId="urn:microsoft.com/office/officeart/2005/8/layout/hierarchy4"/>
    <dgm:cxn modelId="{4D4A52C9-E9C4-4696-91DC-BD7EA7EBBD56}" srcId="{5A02E71B-2C78-495B-B0C5-EECEC8CAF54C}" destId="{078891F9-34FA-4EF4-89D8-5A412AD764F4}" srcOrd="0" destOrd="0" parTransId="{4B643090-A914-42B9-B238-056D4FF63DC6}" sibTransId="{FE766D9F-0EF6-4186-882A-CE5D9C859966}"/>
    <dgm:cxn modelId="{EC5B7AE1-7D79-43BD-8A23-277F057D5D83}" srcId="{0453551A-5977-423D-B5EC-B8426DA6E162}" destId="{4AC447A3-3923-4C66-9E6E-9E85452007A2}" srcOrd="0" destOrd="0" parTransId="{940A24D1-38C6-45BF-BBD5-710C5CD3DF15}" sibTransId="{1F74ABCB-B1AD-4B2F-B725-25FDF1FB8267}"/>
    <dgm:cxn modelId="{D672B4F9-C6C3-4E07-A613-A7B5F1B874B7}" type="presOf" srcId="{194B30E0-BBF3-4013-AA95-F36A73A99BE9}" destId="{629FD194-4F20-42AB-A0D3-D63455B286FC}" srcOrd="0" destOrd="0" presId="urn:microsoft.com/office/officeart/2005/8/layout/hierarchy4"/>
    <dgm:cxn modelId="{47ADB5B0-C6BF-4598-BE07-E9379D703FFA}" type="presParOf" srcId="{E5B734C7-BD06-4002-8C05-19CC466CF4FE}" destId="{DE938D13-ED6F-4563-8879-D6F4FAD5423D}" srcOrd="0" destOrd="0" presId="urn:microsoft.com/office/officeart/2005/8/layout/hierarchy4"/>
    <dgm:cxn modelId="{B53DACEF-1917-4724-84A4-BACD8190C70C}" type="presParOf" srcId="{DE938D13-ED6F-4563-8879-D6F4FAD5423D}" destId="{7908BCB8-DE9B-4BF1-8D07-3A3FD24C7968}" srcOrd="0" destOrd="0" presId="urn:microsoft.com/office/officeart/2005/8/layout/hierarchy4"/>
    <dgm:cxn modelId="{0DA3B6B8-21EA-4B45-86DD-060643776A85}" type="presParOf" srcId="{DE938D13-ED6F-4563-8879-D6F4FAD5423D}" destId="{77C2260A-88CB-404E-8002-B464BA4290E6}" srcOrd="1" destOrd="0" presId="urn:microsoft.com/office/officeart/2005/8/layout/hierarchy4"/>
    <dgm:cxn modelId="{31627BAD-3866-4368-8A4F-482D970E87CE}" type="presParOf" srcId="{DE938D13-ED6F-4563-8879-D6F4FAD5423D}" destId="{9C479166-312B-48A4-93F0-D456429370FF}" srcOrd="2" destOrd="0" presId="urn:microsoft.com/office/officeart/2005/8/layout/hierarchy4"/>
    <dgm:cxn modelId="{927F0DA0-5BC4-4264-998B-D2632266E7D4}" type="presParOf" srcId="{9C479166-312B-48A4-93F0-D456429370FF}" destId="{F2AFACB0-1F05-45BA-97F0-0BBE2336FA96}" srcOrd="0" destOrd="0" presId="urn:microsoft.com/office/officeart/2005/8/layout/hierarchy4"/>
    <dgm:cxn modelId="{25884923-721C-47D8-8280-790B16121736}" type="presParOf" srcId="{F2AFACB0-1F05-45BA-97F0-0BBE2336FA96}" destId="{F381CC4E-322C-45E6-B7E7-4ED70FA8CF2E}" srcOrd="0" destOrd="0" presId="urn:microsoft.com/office/officeart/2005/8/layout/hierarchy4"/>
    <dgm:cxn modelId="{D0319AE3-6F4E-4430-8347-A1250425D150}" type="presParOf" srcId="{F2AFACB0-1F05-45BA-97F0-0BBE2336FA96}" destId="{B3E991A3-B236-4009-AEA5-6315F665B524}" srcOrd="1" destOrd="0" presId="urn:microsoft.com/office/officeart/2005/8/layout/hierarchy4"/>
    <dgm:cxn modelId="{61AE9488-507A-4808-AC12-85138AF32370}" type="presParOf" srcId="{F2AFACB0-1F05-45BA-97F0-0BBE2336FA96}" destId="{B811FD53-087C-4B2F-8C51-3DB5E68B2452}" srcOrd="2" destOrd="0" presId="urn:microsoft.com/office/officeart/2005/8/layout/hierarchy4"/>
    <dgm:cxn modelId="{2CA9AE27-20E4-47A2-BABB-E81CD8585EEF}" type="presParOf" srcId="{B811FD53-087C-4B2F-8C51-3DB5E68B2452}" destId="{F137DE85-E402-4C6C-ACA5-A1FB6D3400DE}" srcOrd="0" destOrd="0" presId="urn:microsoft.com/office/officeart/2005/8/layout/hierarchy4"/>
    <dgm:cxn modelId="{199BCECB-2E3D-48AB-89B5-F17E9C8E88B0}" type="presParOf" srcId="{F137DE85-E402-4C6C-ACA5-A1FB6D3400DE}" destId="{49899EA7-F8C0-4BB7-A6AD-5F40B1731420}" srcOrd="0" destOrd="0" presId="urn:microsoft.com/office/officeart/2005/8/layout/hierarchy4"/>
    <dgm:cxn modelId="{62DBA9DB-AB7D-404F-B415-32C9109538B3}" type="presParOf" srcId="{F137DE85-E402-4C6C-ACA5-A1FB6D3400DE}" destId="{527615C5-1330-4FA6-969A-D08DBDC89918}" srcOrd="1" destOrd="0" presId="urn:microsoft.com/office/officeart/2005/8/layout/hierarchy4"/>
    <dgm:cxn modelId="{B2EB76A5-3700-42E2-9242-2CB67FD2CDD6}" type="presParOf" srcId="{F137DE85-E402-4C6C-ACA5-A1FB6D3400DE}" destId="{3C812A00-E9E7-473C-888C-D9088EEFCFD0}" srcOrd="2" destOrd="0" presId="urn:microsoft.com/office/officeart/2005/8/layout/hierarchy4"/>
    <dgm:cxn modelId="{3BAB383F-3D9D-4AA5-AEDF-4C4F4AC5F29C}" type="presParOf" srcId="{3C812A00-E9E7-473C-888C-D9088EEFCFD0}" destId="{2D3A1175-7EF3-4CE1-B64F-50931D3385A7}" srcOrd="0" destOrd="0" presId="urn:microsoft.com/office/officeart/2005/8/layout/hierarchy4"/>
    <dgm:cxn modelId="{DBD904BB-E1DB-4B1A-A924-D232B1B17AAA}" type="presParOf" srcId="{2D3A1175-7EF3-4CE1-B64F-50931D3385A7}" destId="{D772C529-9144-4F64-AC62-C41998E87A93}" srcOrd="0" destOrd="0" presId="urn:microsoft.com/office/officeart/2005/8/layout/hierarchy4"/>
    <dgm:cxn modelId="{11A7B253-9FCC-4261-9A1A-255F7CA43E94}" type="presParOf" srcId="{2D3A1175-7EF3-4CE1-B64F-50931D3385A7}" destId="{4688D703-232E-45EE-8323-BB294B9A4457}" srcOrd="1" destOrd="0" presId="urn:microsoft.com/office/officeart/2005/8/layout/hierarchy4"/>
    <dgm:cxn modelId="{AB57B8CA-6132-468E-ABD4-1C90A3212A93}" type="presParOf" srcId="{9C479166-312B-48A4-93F0-D456429370FF}" destId="{70F65FB5-B308-4B2A-8221-05077A40B6F6}" srcOrd="1" destOrd="0" presId="urn:microsoft.com/office/officeart/2005/8/layout/hierarchy4"/>
    <dgm:cxn modelId="{84AA138E-118F-4DC7-9FEA-91DEF2C7B609}" type="presParOf" srcId="{9C479166-312B-48A4-93F0-D456429370FF}" destId="{34C62D5E-69F7-4F2D-BDFF-C2DD14D12CE3}" srcOrd="2" destOrd="0" presId="urn:microsoft.com/office/officeart/2005/8/layout/hierarchy4"/>
    <dgm:cxn modelId="{2B4781D4-A58A-4B19-BFA1-112E2C5D58A0}" type="presParOf" srcId="{34C62D5E-69F7-4F2D-BDFF-C2DD14D12CE3}" destId="{1F36E606-4D05-483A-959D-7AFAA3F99964}" srcOrd="0" destOrd="0" presId="urn:microsoft.com/office/officeart/2005/8/layout/hierarchy4"/>
    <dgm:cxn modelId="{27BF8734-FC17-465C-9BC2-F035DE7DD952}" type="presParOf" srcId="{34C62D5E-69F7-4F2D-BDFF-C2DD14D12CE3}" destId="{5DC20216-E672-4C6A-BDA8-1E3B833D9157}" srcOrd="1" destOrd="0" presId="urn:microsoft.com/office/officeart/2005/8/layout/hierarchy4"/>
    <dgm:cxn modelId="{599C3FB5-920E-4359-A2B3-760250EEA7DB}" type="presParOf" srcId="{34C62D5E-69F7-4F2D-BDFF-C2DD14D12CE3}" destId="{9E7D5553-D08B-48C9-B301-9F127E3C9F9F}" srcOrd="2" destOrd="0" presId="urn:microsoft.com/office/officeart/2005/8/layout/hierarchy4"/>
    <dgm:cxn modelId="{3A4DAA37-F9E6-4575-B538-1072A4FD94CE}" type="presParOf" srcId="{9E7D5553-D08B-48C9-B301-9F127E3C9F9F}" destId="{5CF68A6D-5F73-424F-908D-5BC7BE54C39B}" srcOrd="0" destOrd="0" presId="urn:microsoft.com/office/officeart/2005/8/layout/hierarchy4"/>
    <dgm:cxn modelId="{F016FE93-BA20-4402-B819-C0F6527E1174}" type="presParOf" srcId="{5CF68A6D-5F73-424F-908D-5BC7BE54C39B}" destId="{07CD9CA8-8213-4B82-96DE-5A2E23AB39DC}" srcOrd="0" destOrd="0" presId="urn:microsoft.com/office/officeart/2005/8/layout/hierarchy4"/>
    <dgm:cxn modelId="{0ADA855B-CA19-449F-A6BC-1EEE879E8147}" type="presParOf" srcId="{5CF68A6D-5F73-424F-908D-5BC7BE54C39B}" destId="{B67490C8-45DF-4199-AD0D-13934A09531B}" srcOrd="1" destOrd="0" presId="urn:microsoft.com/office/officeart/2005/8/layout/hierarchy4"/>
    <dgm:cxn modelId="{4326E8CC-2D4F-43C5-A789-DAB54215102F}" type="presParOf" srcId="{5CF68A6D-5F73-424F-908D-5BC7BE54C39B}" destId="{ADBFBFED-38EF-4D0F-8DAC-C066A33AD792}" srcOrd="2" destOrd="0" presId="urn:microsoft.com/office/officeart/2005/8/layout/hierarchy4"/>
    <dgm:cxn modelId="{6D5622E7-7295-44C4-8C37-9220C45A6583}" type="presParOf" srcId="{ADBFBFED-38EF-4D0F-8DAC-C066A33AD792}" destId="{EE17AF5B-8D4D-48E1-85E0-8D239D91431B}" srcOrd="0" destOrd="0" presId="urn:microsoft.com/office/officeart/2005/8/layout/hierarchy4"/>
    <dgm:cxn modelId="{39AFD52F-B1BF-4803-89CC-38EAD01B354C}" type="presParOf" srcId="{EE17AF5B-8D4D-48E1-85E0-8D239D91431B}" destId="{629FD194-4F20-42AB-A0D3-D63455B286FC}" srcOrd="0" destOrd="0" presId="urn:microsoft.com/office/officeart/2005/8/layout/hierarchy4"/>
    <dgm:cxn modelId="{2B0E892A-16EB-4FC6-BF3A-FD9F232F9AE0}" type="presParOf" srcId="{EE17AF5B-8D4D-48E1-85E0-8D239D91431B}" destId="{8D72D0DE-AA86-44B5-BAD3-4A56104B0618}" srcOrd="1" destOrd="0" presId="urn:microsoft.com/office/officeart/2005/8/layout/hierarchy4"/>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61C9BC5-B29F-48D4-9051-8080622C2265}" type="doc">
      <dgm:prSet loTypeId="urn:microsoft.com/office/officeart/2005/8/layout/hList1" loCatId="list" qsTypeId="urn:microsoft.com/office/officeart/2005/8/quickstyle/simple1" qsCatId="simple" csTypeId="urn:microsoft.com/office/officeart/2005/8/colors/colorful4" csCatId="colorful" phldr="1"/>
      <dgm:spPr/>
      <dgm:t>
        <a:bodyPr/>
        <a:lstStyle/>
        <a:p>
          <a:endParaRPr lang="zh-CN" altLang="en-US"/>
        </a:p>
      </dgm:t>
    </dgm:pt>
    <dgm:pt modelId="{1F6D49FA-F901-4B50-ADEC-FB4488F0ECDE}">
      <dgm:prSet phldrT="[文本]" custT="1"/>
      <dgm:spPr/>
      <dgm:t>
        <a:bodyPr/>
        <a:lstStyle/>
        <a:p>
          <a:r>
            <a:rPr lang="zh-CN" altLang="en-US" sz="1800" b="0" dirty="0">
              <a:latin typeface="Montserrat" panose="00000500000000000000" pitchFamily="2" charset="0"/>
              <a:ea typeface="微软雅黑 Light" panose="020B0502040204020203" pitchFamily="34" charset="-122"/>
            </a:rPr>
            <a:t>递归查询</a:t>
          </a:r>
        </a:p>
      </dgm:t>
    </dgm:pt>
    <dgm:pt modelId="{3BCE62CD-17F6-4BDE-88CF-B2E57C113250}" type="par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C712D40E-2867-4325-981C-5EED6888713A}" type="sibTrans" cxnId="{B8FBCF65-8CE6-4959-A94A-4AFCB263801D}">
      <dgm:prSet/>
      <dgm:spPr/>
      <dgm:t>
        <a:bodyPr/>
        <a:lstStyle/>
        <a:p>
          <a:endParaRPr lang="zh-CN" altLang="en-US" sz="1600" b="0">
            <a:latin typeface="Montserrat" panose="00000500000000000000" pitchFamily="2" charset="0"/>
            <a:ea typeface="微软雅黑" panose="020B0503020204020204" pitchFamily="34" charset="-122"/>
          </a:endParaRPr>
        </a:p>
      </dgm:t>
    </dgm:pt>
    <dgm:pt modelId="{A7353B7C-3B7F-483A-9D5D-EF2CA979FE0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通常，主机向本地域名服务器查询时使用</a:t>
          </a:r>
        </a:p>
      </dgm:t>
    </dgm:pt>
    <dgm:pt modelId="{BCE185A7-04EA-450F-8DE8-10725E84408C}" type="par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949DC585-CA63-48CC-A0DD-6DDF763B9D5E}" type="sibTrans" cxnId="{D31F8A4A-4BE7-48FE-B7E3-22A5225B721F}">
      <dgm:prSet/>
      <dgm:spPr/>
      <dgm:t>
        <a:bodyPr/>
        <a:lstStyle/>
        <a:p>
          <a:endParaRPr lang="zh-CN" altLang="en-US" sz="1600" b="0">
            <a:latin typeface="Montserrat" panose="00000500000000000000" pitchFamily="2" charset="0"/>
            <a:ea typeface="微软雅黑" panose="020B0503020204020204" pitchFamily="34" charset="-122"/>
          </a:endParaRPr>
        </a:p>
      </dgm:t>
    </dgm:pt>
    <dgm:pt modelId="{B3C1C06F-F101-4097-8E76-7221602C9DCD}">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若不知道，就以 </a:t>
          </a:r>
          <a:r>
            <a:rPr lang="en-US" altLang="en-US" sz="1600" b="0" dirty="0">
              <a:latin typeface="Montserrat" panose="00000500000000000000" pitchFamily="2" charset="0"/>
              <a:ea typeface="微软雅黑 Light" panose="020B0502040204020203" pitchFamily="34" charset="-122"/>
            </a:rPr>
            <a:t>DNS </a:t>
          </a:r>
          <a:r>
            <a:rPr lang="zh-CN" altLang="en-US" sz="1600" b="0" dirty="0">
              <a:latin typeface="Montserrat" panose="00000500000000000000" pitchFamily="2" charset="0"/>
              <a:ea typeface="微软雅黑 Light" panose="020B0502040204020203" pitchFamily="34" charset="-122"/>
            </a:rPr>
            <a:t>客户的身份，向其他根域名服务器继续发出查询请求报文</a:t>
          </a:r>
        </a:p>
      </dgm:t>
    </dgm:pt>
    <dgm:pt modelId="{394E42C2-1DBF-4E2F-9E18-2CBF2BCF68B0}" type="par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512E8C54-A45B-4F19-A2E1-DFAF120AE3AC}" type="sibTrans" cxnId="{EE3D05E0-647B-4AE0-9969-EF9A6CEF939E}">
      <dgm:prSet/>
      <dgm:spPr/>
      <dgm:t>
        <a:bodyPr/>
        <a:lstStyle/>
        <a:p>
          <a:endParaRPr lang="zh-CN" altLang="en-US" sz="1600" b="0">
            <a:latin typeface="Montserrat" panose="00000500000000000000" pitchFamily="2" charset="0"/>
            <a:ea typeface="微软雅黑" panose="020B0503020204020204" pitchFamily="34" charset="-122"/>
          </a:endParaRPr>
        </a:p>
      </dgm:t>
    </dgm:pt>
    <dgm:pt modelId="{B4C27B1A-540E-4AE1-A0FA-2373F8C7C00D}">
      <dgm:prSet phldrT="[文本]" custT="1"/>
      <dgm:spPr/>
      <dgm:t>
        <a:bodyPr/>
        <a:lstStyle/>
        <a:p>
          <a:r>
            <a:rPr lang="zh-CN" altLang="en-US" sz="1800" b="0" dirty="0">
              <a:latin typeface="Montserrat" panose="00000500000000000000" pitchFamily="2" charset="0"/>
              <a:ea typeface="微软雅黑 Light" panose="020B0502040204020203" pitchFamily="34" charset="-122"/>
            </a:rPr>
            <a:t>迭代查询</a:t>
          </a:r>
        </a:p>
      </dgm:t>
    </dgm:pt>
    <dgm:pt modelId="{2AF68E5C-339F-43E9-9BD8-1A6F133890E6}" type="par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D0BBCA65-D6FF-4282-863E-E4E8ADE1401C}" type="sibTrans" cxnId="{E3527060-511E-407B-94F7-F1B7A8110B43}">
      <dgm:prSet/>
      <dgm:spPr/>
      <dgm:t>
        <a:bodyPr/>
        <a:lstStyle/>
        <a:p>
          <a:endParaRPr lang="zh-CN" altLang="en-US" sz="1600" b="0">
            <a:latin typeface="Montserrat" panose="00000500000000000000" pitchFamily="2" charset="0"/>
            <a:ea typeface="微软雅黑" panose="020B0503020204020204" pitchFamily="34" charset="-122"/>
          </a:endParaRPr>
        </a:p>
      </dgm:t>
    </dgm:pt>
    <dgm:pt modelId="{E4ED0C5A-041D-4179-B2D9-667F95556395}">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本地域名服务器向根域名服务器查询时使用</a:t>
          </a:r>
        </a:p>
      </dgm:t>
    </dgm:pt>
    <dgm:pt modelId="{9EA42626-615E-4243-9D5E-9458C4479806}" type="par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242AF108-920E-4047-82C5-21EF27E335D8}" type="sibTrans" cxnId="{AC98711B-30F1-4F9A-90F2-E5CCA3B9A35E}">
      <dgm:prSet/>
      <dgm:spPr/>
      <dgm:t>
        <a:bodyPr/>
        <a:lstStyle/>
        <a:p>
          <a:endParaRPr lang="zh-CN" altLang="en-US" sz="1600" b="0">
            <a:latin typeface="Montserrat" panose="00000500000000000000" pitchFamily="2" charset="0"/>
            <a:ea typeface="微软雅黑" panose="020B0503020204020204" pitchFamily="34" charset="-122"/>
          </a:endParaRPr>
        </a:p>
      </dgm:t>
    </dgm:pt>
    <dgm:pt modelId="{C99DE165-A6A2-4E3C-8084-9A776539F414}">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要么给出所要查询的 </a:t>
          </a:r>
          <a:r>
            <a:rPr lang="en-US" altLang="en-US"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地址，要么告诉下一个要查询的域名服务器的 </a:t>
          </a:r>
          <a:r>
            <a:rPr lang="en-US" altLang="zh-CN" sz="1600" b="0" dirty="0">
              <a:latin typeface="Montserrat" panose="00000500000000000000" pitchFamily="2" charset="0"/>
              <a:ea typeface="微软雅黑 Light" panose="020B0502040204020203" pitchFamily="34" charset="-122"/>
            </a:rPr>
            <a:t>IP </a:t>
          </a:r>
          <a:r>
            <a:rPr lang="zh-CN" altLang="en-US" sz="1600" b="0" dirty="0">
              <a:latin typeface="Montserrat" panose="00000500000000000000" pitchFamily="2" charset="0"/>
              <a:ea typeface="微软雅黑 Light" panose="020B0502040204020203" pitchFamily="34" charset="-122"/>
            </a:rPr>
            <a:t>地址</a:t>
          </a:r>
        </a:p>
      </dgm:t>
    </dgm:pt>
    <dgm:pt modelId="{15A961B9-3A0A-4FA7-8F0F-40C05929148C}" type="parTrans" cxnId="{8797336C-4331-4DC2-AE25-347037722617}">
      <dgm:prSet/>
      <dgm:spPr/>
      <dgm:t>
        <a:bodyPr/>
        <a:lstStyle/>
        <a:p>
          <a:endParaRPr lang="zh-CN" altLang="en-US" sz="1600" b="0">
            <a:latin typeface="Montserrat" panose="00000500000000000000" pitchFamily="2" charset="0"/>
          </a:endParaRPr>
        </a:p>
      </dgm:t>
    </dgm:pt>
    <dgm:pt modelId="{39426DE8-50A8-4767-823C-76D6C28D84CD}" type="sibTrans" cxnId="{8797336C-4331-4DC2-AE25-347037722617}">
      <dgm:prSet/>
      <dgm:spPr/>
      <dgm:t>
        <a:bodyPr/>
        <a:lstStyle/>
        <a:p>
          <a:endParaRPr lang="zh-CN" altLang="en-US" sz="1600" b="0">
            <a:latin typeface="Montserrat" panose="00000500000000000000" pitchFamily="2" charset="0"/>
          </a:endParaRPr>
        </a:p>
      </dgm:t>
    </dgm:pt>
    <dgm:pt modelId="{888A2276-89F3-4140-9592-FE63CBE9FC6F}">
      <dgm:prSet phldrT="[文本]" custT="1"/>
      <dgm:spPr>
        <a:noFill/>
      </dgm:spPr>
      <dgm:t>
        <a:bodyPr/>
        <a:lstStyle/>
        <a:p>
          <a:pPr algn="just"/>
          <a:r>
            <a:rPr lang="zh-CN" altLang="en-US" sz="1600" b="0" dirty="0">
              <a:latin typeface="Montserrat" panose="00000500000000000000" pitchFamily="2" charset="0"/>
              <a:ea typeface="微软雅黑 Light" panose="020B0502040204020203" pitchFamily="34" charset="-122"/>
            </a:rPr>
            <a:t>本地域名服务器继续后续查询</a:t>
          </a:r>
        </a:p>
      </dgm:t>
    </dgm:pt>
    <dgm:pt modelId="{818B4799-89CB-4238-BB9D-472D60B40326}" type="parTrans" cxnId="{748B2594-474D-425B-8D6A-157BB949C56E}">
      <dgm:prSet/>
      <dgm:spPr/>
      <dgm:t>
        <a:bodyPr/>
        <a:lstStyle/>
        <a:p>
          <a:endParaRPr lang="zh-CN" altLang="en-US" b="0">
            <a:latin typeface="Montserrat" panose="00000500000000000000" pitchFamily="2" charset="0"/>
          </a:endParaRPr>
        </a:p>
      </dgm:t>
    </dgm:pt>
    <dgm:pt modelId="{91715877-E58D-486D-8BF0-DC8A4048A0A2}" type="sibTrans" cxnId="{748B2594-474D-425B-8D6A-157BB949C56E}">
      <dgm:prSet/>
      <dgm:spPr/>
      <dgm:t>
        <a:bodyPr/>
        <a:lstStyle/>
        <a:p>
          <a:endParaRPr lang="zh-CN" altLang="en-US" b="0">
            <a:latin typeface="Montserrat" panose="00000500000000000000" pitchFamily="2" charset="0"/>
          </a:endParaRPr>
        </a:p>
      </dgm:t>
    </dgm:pt>
    <dgm:pt modelId="{855C61C3-9681-46A9-85A5-1E65B56A782C}" type="pres">
      <dgm:prSet presAssocID="{361C9BC5-B29F-48D4-9051-8080622C2265}" presName="Name0" presStyleCnt="0">
        <dgm:presLayoutVars>
          <dgm:dir/>
          <dgm:animLvl val="lvl"/>
          <dgm:resizeHandles val="exact"/>
        </dgm:presLayoutVars>
      </dgm:prSet>
      <dgm:spPr/>
    </dgm:pt>
    <dgm:pt modelId="{C9C28BD1-EF4F-4CA1-9BA9-72A7B8BFFCFD}" type="pres">
      <dgm:prSet presAssocID="{1F6D49FA-F901-4B50-ADEC-FB4488F0ECDE}" presName="composite" presStyleCnt="0"/>
      <dgm:spPr/>
    </dgm:pt>
    <dgm:pt modelId="{CD69D0B0-1884-46A2-8F10-145B05B89842}" type="pres">
      <dgm:prSet presAssocID="{1F6D49FA-F901-4B50-ADEC-FB4488F0ECDE}" presName="parTx" presStyleLbl="alignNode1" presStyleIdx="0" presStyleCnt="2">
        <dgm:presLayoutVars>
          <dgm:chMax val="0"/>
          <dgm:chPref val="0"/>
          <dgm:bulletEnabled val="1"/>
        </dgm:presLayoutVars>
      </dgm:prSet>
      <dgm:spPr/>
    </dgm:pt>
    <dgm:pt modelId="{03A5736B-9407-4E51-943F-C4127641647B}" type="pres">
      <dgm:prSet presAssocID="{1F6D49FA-F901-4B50-ADEC-FB4488F0ECDE}" presName="desTx" presStyleLbl="alignAccFollowNode1" presStyleIdx="0" presStyleCnt="2">
        <dgm:presLayoutVars>
          <dgm:bulletEnabled val="1"/>
        </dgm:presLayoutVars>
      </dgm:prSet>
      <dgm:spPr/>
    </dgm:pt>
    <dgm:pt modelId="{E002B729-091C-462E-96C9-907AFB120A8D}" type="pres">
      <dgm:prSet presAssocID="{C712D40E-2867-4325-981C-5EED6888713A}" presName="space" presStyleCnt="0"/>
      <dgm:spPr/>
    </dgm:pt>
    <dgm:pt modelId="{7C58811D-8D19-40CE-89EC-CCE20868CD33}" type="pres">
      <dgm:prSet presAssocID="{B4C27B1A-540E-4AE1-A0FA-2373F8C7C00D}" presName="composite" presStyleCnt="0"/>
      <dgm:spPr/>
    </dgm:pt>
    <dgm:pt modelId="{B2079A84-D30A-43B1-81D6-28B09A3A7626}" type="pres">
      <dgm:prSet presAssocID="{B4C27B1A-540E-4AE1-A0FA-2373F8C7C00D}" presName="parTx" presStyleLbl="alignNode1" presStyleIdx="1" presStyleCnt="2">
        <dgm:presLayoutVars>
          <dgm:chMax val="0"/>
          <dgm:chPref val="0"/>
          <dgm:bulletEnabled val="1"/>
        </dgm:presLayoutVars>
      </dgm:prSet>
      <dgm:spPr/>
    </dgm:pt>
    <dgm:pt modelId="{802EC7D4-495D-4461-A980-1E7E46187315}" type="pres">
      <dgm:prSet presAssocID="{B4C27B1A-540E-4AE1-A0FA-2373F8C7C00D}" presName="desTx" presStyleLbl="alignAccFollowNode1" presStyleIdx="1" presStyleCnt="2">
        <dgm:presLayoutVars>
          <dgm:bulletEnabled val="1"/>
        </dgm:presLayoutVars>
      </dgm:prSet>
      <dgm:spPr/>
    </dgm:pt>
  </dgm:ptLst>
  <dgm:cxnLst>
    <dgm:cxn modelId="{AC98711B-30F1-4F9A-90F2-E5CCA3B9A35E}" srcId="{B4C27B1A-540E-4AE1-A0FA-2373F8C7C00D}" destId="{E4ED0C5A-041D-4179-B2D9-667F95556395}" srcOrd="0" destOrd="0" parTransId="{9EA42626-615E-4243-9D5E-9458C4479806}" sibTransId="{242AF108-920E-4047-82C5-21EF27E335D8}"/>
    <dgm:cxn modelId="{E3527060-511E-407B-94F7-F1B7A8110B43}" srcId="{361C9BC5-B29F-48D4-9051-8080622C2265}" destId="{B4C27B1A-540E-4AE1-A0FA-2373F8C7C00D}" srcOrd="1" destOrd="0" parTransId="{2AF68E5C-339F-43E9-9BD8-1A6F133890E6}" sibTransId="{D0BBCA65-D6FF-4282-863E-E4E8ADE1401C}"/>
    <dgm:cxn modelId="{B8FBCF65-8CE6-4959-A94A-4AFCB263801D}" srcId="{361C9BC5-B29F-48D4-9051-8080622C2265}" destId="{1F6D49FA-F901-4B50-ADEC-FB4488F0ECDE}" srcOrd="0" destOrd="0" parTransId="{3BCE62CD-17F6-4BDE-88CF-B2E57C113250}" sibTransId="{C712D40E-2867-4325-981C-5EED6888713A}"/>
    <dgm:cxn modelId="{0E812949-F4E6-4FAE-A911-F22FFCB65A29}" type="presOf" srcId="{A7353B7C-3B7F-483A-9D5D-EF2CA979FE0F}" destId="{03A5736B-9407-4E51-943F-C4127641647B}" srcOrd="0" destOrd="0" presId="urn:microsoft.com/office/officeart/2005/8/layout/hList1"/>
    <dgm:cxn modelId="{D31F8A4A-4BE7-48FE-B7E3-22A5225B721F}" srcId="{1F6D49FA-F901-4B50-ADEC-FB4488F0ECDE}" destId="{A7353B7C-3B7F-483A-9D5D-EF2CA979FE0F}" srcOrd="0" destOrd="0" parTransId="{BCE185A7-04EA-450F-8DE8-10725E84408C}" sibTransId="{949DC585-CA63-48CC-A0DD-6DDF763B9D5E}"/>
    <dgm:cxn modelId="{8797336C-4331-4DC2-AE25-347037722617}" srcId="{B4C27B1A-540E-4AE1-A0FA-2373F8C7C00D}" destId="{C99DE165-A6A2-4E3C-8084-9A776539F414}" srcOrd="1" destOrd="0" parTransId="{15A961B9-3A0A-4FA7-8F0F-40C05929148C}" sibTransId="{39426DE8-50A8-4767-823C-76D6C28D84CD}"/>
    <dgm:cxn modelId="{FB5B8E72-0B22-4D45-99E3-6EC7140F0AB3}" type="presOf" srcId="{361C9BC5-B29F-48D4-9051-8080622C2265}" destId="{855C61C3-9681-46A9-85A5-1E65B56A782C}" srcOrd="0" destOrd="0" presId="urn:microsoft.com/office/officeart/2005/8/layout/hList1"/>
    <dgm:cxn modelId="{90A5E980-4063-4E8B-B918-C4BAF3B1F2BA}" type="presOf" srcId="{B3C1C06F-F101-4097-8E76-7221602C9DCD}" destId="{03A5736B-9407-4E51-943F-C4127641647B}" srcOrd="0" destOrd="1" presId="urn:microsoft.com/office/officeart/2005/8/layout/hList1"/>
    <dgm:cxn modelId="{7588A984-A004-4D3A-B9AD-8EBCD3E5E060}" type="presOf" srcId="{1F6D49FA-F901-4B50-ADEC-FB4488F0ECDE}" destId="{CD69D0B0-1884-46A2-8F10-145B05B89842}" srcOrd="0" destOrd="0" presId="urn:microsoft.com/office/officeart/2005/8/layout/hList1"/>
    <dgm:cxn modelId="{748B2594-474D-425B-8D6A-157BB949C56E}" srcId="{B4C27B1A-540E-4AE1-A0FA-2373F8C7C00D}" destId="{888A2276-89F3-4140-9592-FE63CBE9FC6F}" srcOrd="2" destOrd="0" parTransId="{818B4799-89CB-4238-BB9D-472D60B40326}" sibTransId="{91715877-E58D-486D-8BF0-DC8A4048A0A2}"/>
    <dgm:cxn modelId="{BE63DE9B-CDE6-4C28-B84D-A080B2864CB1}" type="presOf" srcId="{B4C27B1A-540E-4AE1-A0FA-2373F8C7C00D}" destId="{B2079A84-D30A-43B1-81D6-28B09A3A7626}" srcOrd="0" destOrd="0" presId="urn:microsoft.com/office/officeart/2005/8/layout/hList1"/>
    <dgm:cxn modelId="{C8999BBC-2F22-4036-BE2F-27BE3D94CD58}" type="presOf" srcId="{C99DE165-A6A2-4E3C-8084-9A776539F414}" destId="{802EC7D4-495D-4461-A980-1E7E46187315}" srcOrd="0" destOrd="1" presId="urn:microsoft.com/office/officeart/2005/8/layout/hList1"/>
    <dgm:cxn modelId="{9018C1BE-37B3-488E-A8BA-C8A16612C9FC}" type="presOf" srcId="{888A2276-89F3-4140-9592-FE63CBE9FC6F}" destId="{802EC7D4-495D-4461-A980-1E7E46187315}" srcOrd="0" destOrd="2" presId="urn:microsoft.com/office/officeart/2005/8/layout/hList1"/>
    <dgm:cxn modelId="{EE3D05E0-647B-4AE0-9969-EF9A6CEF939E}" srcId="{1F6D49FA-F901-4B50-ADEC-FB4488F0ECDE}" destId="{B3C1C06F-F101-4097-8E76-7221602C9DCD}" srcOrd="1" destOrd="0" parTransId="{394E42C2-1DBF-4E2F-9E18-2CBF2BCF68B0}" sibTransId="{512E8C54-A45B-4F19-A2E1-DFAF120AE3AC}"/>
    <dgm:cxn modelId="{5D0AE4FB-E321-463C-B9B1-FD65C5AF83CD}" type="presOf" srcId="{E4ED0C5A-041D-4179-B2D9-667F95556395}" destId="{802EC7D4-495D-4461-A980-1E7E46187315}" srcOrd="0" destOrd="0" presId="urn:microsoft.com/office/officeart/2005/8/layout/hList1"/>
    <dgm:cxn modelId="{88BF604C-1904-459E-B3C1-82432CC3C6AA}" type="presParOf" srcId="{855C61C3-9681-46A9-85A5-1E65B56A782C}" destId="{C9C28BD1-EF4F-4CA1-9BA9-72A7B8BFFCFD}" srcOrd="0" destOrd="0" presId="urn:microsoft.com/office/officeart/2005/8/layout/hList1"/>
    <dgm:cxn modelId="{8D44B271-6CFA-498C-9A7C-9B0866F8B7E8}" type="presParOf" srcId="{C9C28BD1-EF4F-4CA1-9BA9-72A7B8BFFCFD}" destId="{CD69D0B0-1884-46A2-8F10-145B05B89842}" srcOrd="0" destOrd="0" presId="urn:microsoft.com/office/officeart/2005/8/layout/hList1"/>
    <dgm:cxn modelId="{E6030247-9935-40B7-97A0-29A74D32B9B3}" type="presParOf" srcId="{C9C28BD1-EF4F-4CA1-9BA9-72A7B8BFFCFD}" destId="{03A5736B-9407-4E51-943F-C4127641647B}" srcOrd="1" destOrd="0" presId="urn:microsoft.com/office/officeart/2005/8/layout/hList1"/>
    <dgm:cxn modelId="{7A0C3FFE-0952-48F8-A6F9-DFCD5564103D}" type="presParOf" srcId="{855C61C3-9681-46A9-85A5-1E65B56A782C}" destId="{E002B729-091C-462E-96C9-907AFB120A8D}" srcOrd="1" destOrd="0" presId="urn:microsoft.com/office/officeart/2005/8/layout/hList1"/>
    <dgm:cxn modelId="{607FB96D-1A3C-4ABF-B086-75C824EE5DFA}" type="presParOf" srcId="{855C61C3-9681-46A9-85A5-1E65B56A782C}" destId="{7C58811D-8D19-40CE-89EC-CCE20868CD33}" srcOrd="2" destOrd="0" presId="urn:microsoft.com/office/officeart/2005/8/layout/hList1"/>
    <dgm:cxn modelId="{CD61260C-10A3-495F-B435-EF004E25E192}" type="presParOf" srcId="{7C58811D-8D19-40CE-89EC-CCE20868CD33}" destId="{B2079A84-D30A-43B1-81D6-28B09A3A7626}" srcOrd="0" destOrd="0" presId="urn:microsoft.com/office/officeart/2005/8/layout/hList1"/>
    <dgm:cxn modelId="{D65B1510-D8CD-42E0-B790-D98AD9EADCD5}" type="presParOf" srcId="{7C58811D-8D19-40CE-89EC-CCE20868CD33}" destId="{802EC7D4-495D-4461-A980-1E7E46187315}"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D4ABD43-DDCE-4440-B189-B8BC99419A8C}"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zh-CN" altLang="en-US"/>
        </a:p>
      </dgm:t>
    </dgm:pt>
    <dgm:pt modelId="{6B1D83A1-F256-427B-A1DC-7ADE79857098}">
      <dgm:prSet custT="1"/>
      <dgm:spPr>
        <a:solidFill>
          <a:srgbClr val="0070C0"/>
        </a:solidFill>
      </dgm:spPr>
      <dgm:t>
        <a:bodyPr/>
        <a:lstStyle/>
        <a:p>
          <a:pPr rtl="0"/>
          <a:r>
            <a:rPr lang="en-US" altLang="zh-CN" sz="14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方法（操作）</a:t>
          </a:r>
          <a:r>
            <a:rPr lang="en-US" sz="1600" b="1" dirty="0">
              <a:solidFill>
                <a:schemeClr val="bg1"/>
              </a:solidFill>
              <a:latin typeface="微软雅黑 Light" panose="020B0502040204020203" pitchFamily="34" charset="-122"/>
              <a:ea typeface="微软雅黑 Light" panose="020B0502040204020203" pitchFamily="34" charset="-122"/>
            </a:rPr>
            <a:t>				</a:t>
          </a:r>
          <a:r>
            <a:rPr lang="zh-CN" sz="1600" b="1" dirty="0">
              <a:solidFill>
                <a:schemeClr val="bg1"/>
              </a:solidFill>
              <a:latin typeface="微软雅黑 Light" panose="020B0502040204020203" pitchFamily="34" charset="-122"/>
              <a:ea typeface="微软雅黑 Light" panose="020B0502040204020203" pitchFamily="34" charset="-122"/>
            </a:rPr>
            <a:t>意义</a:t>
          </a:r>
          <a:endParaRPr lang="zh-CN" sz="1600" dirty="0">
            <a:solidFill>
              <a:schemeClr val="bg1"/>
            </a:solidFill>
            <a:latin typeface="微软雅黑 Light" panose="020B0502040204020203" pitchFamily="34" charset="-122"/>
            <a:ea typeface="微软雅黑 Light" panose="020B0502040204020203" pitchFamily="34" charset="-122"/>
          </a:endParaRPr>
        </a:p>
      </dgm:t>
    </dgm:pt>
    <dgm:pt modelId="{27CE23E2-20D6-4DA6-8FDE-164A9143B325}" type="parTrans" cxnId="{F05DA65B-F8ED-4E81-94E7-A2A3A92D746E}">
      <dgm:prSet/>
      <dgm:spPr/>
      <dgm:t>
        <a:bodyPr/>
        <a:lstStyle/>
        <a:p>
          <a:endParaRPr lang="zh-CN" altLang="en-US" sz="2000"/>
        </a:p>
      </dgm:t>
    </dgm:pt>
    <dgm:pt modelId="{04EB3969-0881-486F-B9ED-3D997F33DE3D}" type="sibTrans" cxnId="{F05DA65B-F8ED-4E81-94E7-A2A3A92D746E}">
      <dgm:prSet/>
      <dgm:spPr/>
      <dgm:t>
        <a:bodyPr/>
        <a:lstStyle/>
        <a:p>
          <a:endParaRPr lang="zh-CN" altLang="en-US" sz="2000"/>
        </a:p>
      </dgm:t>
    </dgm:pt>
    <dgm:pt modelId="{14A0F9A2-BA5E-473C-A26A-07D95F39FF2B}">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OPTION		  </a:t>
          </a:r>
          <a:r>
            <a:rPr lang="zh-CN" sz="1400" b="1"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F428299F-92F4-4EC3-8F69-F35A1F2197D3}" type="parTrans" cxnId="{1F5B8AB9-56BA-4B3C-93A2-CD67F067C1A5}">
      <dgm:prSet/>
      <dgm:spPr/>
      <dgm:t>
        <a:bodyPr/>
        <a:lstStyle/>
        <a:p>
          <a:endParaRPr lang="zh-CN" altLang="en-US" sz="2000"/>
        </a:p>
      </dgm:t>
    </dgm:pt>
    <dgm:pt modelId="{09F3E21C-1E3E-4245-BD23-D7EF14018618}" type="sibTrans" cxnId="{1F5B8AB9-56BA-4B3C-93A2-CD67F067C1A5}">
      <dgm:prSet/>
      <dgm:spPr/>
      <dgm:t>
        <a:bodyPr/>
        <a:lstStyle/>
        <a:p>
          <a:endParaRPr lang="zh-CN" altLang="en-US" sz="2000"/>
        </a:p>
      </dgm:t>
    </dgm:pt>
    <dgm:pt modelId="{D32D8361-DF8C-48A0-8647-ACE46C5DA45A}">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GET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47CA20CA-28BF-4089-8B81-7E9E84CA28B5}" type="parTrans" cxnId="{C3922EF1-C25D-4D0E-A360-802694E5B206}">
      <dgm:prSet/>
      <dgm:spPr/>
      <dgm:t>
        <a:bodyPr/>
        <a:lstStyle/>
        <a:p>
          <a:endParaRPr lang="zh-CN" altLang="en-US" sz="2000"/>
        </a:p>
      </dgm:t>
    </dgm:pt>
    <dgm:pt modelId="{9BD60071-19A1-4A88-A60A-8FB6F147096F}" type="sibTrans" cxnId="{C3922EF1-C25D-4D0E-A360-802694E5B206}">
      <dgm:prSet/>
      <dgm:spPr/>
      <dgm:t>
        <a:bodyPr/>
        <a:lstStyle/>
        <a:p>
          <a:endParaRPr lang="zh-CN" altLang="en-US" sz="2000"/>
        </a:p>
      </dgm:t>
    </dgm:pt>
    <dgm:pt modelId="{5F2F9BD6-F24E-4255-85FC-E2350396D805}">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HEAD              	  </a:t>
          </a:r>
          <a:r>
            <a:rPr lang="zh-CN" sz="1400" b="1" dirty="0">
              <a:solidFill>
                <a:schemeClr val="tx1"/>
              </a:solidFill>
              <a:latin typeface="微软雅黑 Light" panose="020B0502040204020203" pitchFamily="34" charset="-122"/>
              <a:ea typeface="微软雅黑 Light" panose="020B0502040204020203" pitchFamily="34" charset="-122"/>
            </a:rPr>
            <a:t>请求读取由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01AAAC48-EC48-440E-A5E2-88572E88C756}" type="parTrans" cxnId="{22E6D2E9-025D-4FE7-ADBC-975B6274EA23}">
      <dgm:prSet/>
      <dgm:spPr/>
      <dgm:t>
        <a:bodyPr/>
        <a:lstStyle/>
        <a:p>
          <a:endParaRPr lang="zh-CN" altLang="en-US" sz="2000"/>
        </a:p>
      </dgm:t>
    </dgm:pt>
    <dgm:pt modelId="{1287D65E-3DAA-4426-89B8-BA3E376A4119}" type="sibTrans" cxnId="{22E6D2E9-025D-4FE7-ADBC-975B6274EA23}">
      <dgm:prSet/>
      <dgm:spPr/>
      <dgm:t>
        <a:bodyPr/>
        <a:lstStyle/>
        <a:p>
          <a:endParaRPr lang="zh-CN" altLang="en-US" sz="2000"/>
        </a:p>
      </dgm:t>
    </dgm:pt>
    <dgm:pt modelId="{B3D81C7E-05E3-49CF-989C-070CE891B722}">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POST     	    	  </a:t>
          </a:r>
          <a:r>
            <a:rPr lang="zh-CN" sz="1400" b="1"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B5132612-45C6-41E7-B856-574DE76148DF}" type="parTrans" cxnId="{6FB93842-5A12-41B3-86BF-64E06F25EF4F}">
      <dgm:prSet/>
      <dgm:spPr/>
      <dgm:t>
        <a:bodyPr/>
        <a:lstStyle/>
        <a:p>
          <a:endParaRPr lang="zh-CN" altLang="en-US" sz="2000"/>
        </a:p>
      </dgm:t>
    </dgm:pt>
    <dgm:pt modelId="{967E2E43-1BFB-45FB-ABC6-E9B961CBA7DF}" type="sibTrans" cxnId="{6FB93842-5A12-41B3-86BF-64E06F25EF4F}">
      <dgm:prSet/>
      <dgm:spPr/>
      <dgm:t>
        <a:bodyPr/>
        <a:lstStyle/>
        <a:p>
          <a:endParaRPr lang="zh-CN" altLang="en-US" sz="2000"/>
        </a:p>
      </dgm:t>
    </dgm:pt>
    <dgm:pt modelId="{258A2F10-98A6-45AC-9A9C-BB262FDEF029}">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PUT			  </a:t>
          </a:r>
          <a:r>
            <a:rPr lang="zh-CN" sz="1400" b="1" dirty="0">
              <a:solidFill>
                <a:schemeClr val="tx1"/>
              </a:solidFill>
              <a:latin typeface="微软雅黑 Light" panose="020B0502040204020203" pitchFamily="34" charset="-122"/>
              <a:ea typeface="微软雅黑 Light" panose="020B0502040204020203" pitchFamily="34" charset="-122"/>
            </a:rPr>
            <a:t>在指明的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下存储一个文档</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2D2868A-62C4-410B-B3D8-7DF502EAB38D}" type="parTrans" cxnId="{0E53C646-4BC7-40A4-8EBC-CB6A10ECCF93}">
      <dgm:prSet/>
      <dgm:spPr/>
      <dgm:t>
        <a:bodyPr/>
        <a:lstStyle/>
        <a:p>
          <a:endParaRPr lang="zh-CN" altLang="en-US" sz="2000"/>
        </a:p>
      </dgm:t>
    </dgm:pt>
    <dgm:pt modelId="{196481A8-5918-4487-AE93-E8C148F56D79}" type="sibTrans" cxnId="{0E53C646-4BC7-40A4-8EBC-CB6A10ECCF93}">
      <dgm:prSet/>
      <dgm:spPr/>
      <dgm:t>
        <a:bodyPr/>
        <a:lstStyle/>
        <a:p>
          <a:endParaRPr lang="zh-CN" altLang="en-US" sz="2000"/>
        </a:p>
      </dgm:t>
    </dgm:pt>
    <dgm:pt modelId="{63AFF0E2-A007-4F85-97C5-0E10709F7E5C}">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DELETE		  </a:t>
          </a:r>
          <a:r>
            <a:rPr lang="zh-CN" sz="1400" b="1" dirty="0">
              <a:solidFill>
                <a:schemeClr val="tx1"/>
              </a:solidFill>
              <a:latin typeface="微软雅黑 Light" panose="020B0502040204020203" pitchFamily="34" charset="-122"/>
              <a:ea typeface="微软雅黑 Light" panose="020B0502040204020203" pitchFamily="34" charset="-122"/>
            </a:rPr>
            <a:t>删除指明的 </a:t>
          </a:r>
          <a:r>
            <a:rPr lang="en-US" sz="1400" b="1" dirty="0">
              <a:solidFill>
                <a:schemeClr val="tx1"/>
              </a:solidFill>
              <a:latin typeface="微软雅黑 Light" panose="020B0502040204020203" pitchFamily="34" charset="-122"/>
              <a:ea typeface="微软雅黑 Light" panose="020B0502040204020203" pitchFamily="34" charset="-122"/>
            </a:rPr>
            <a:t>URL</a:t>
          </a:r>
          <a:r>
            <a:rPr lang="zh-CN" sz="1400" b="1" dirty="0">
              <a:solidFill>
                <a:schemeClr val="tx1"/>
              </a:solidFill>
              <a:latin typeface="微软雅黑 Light" panose="020B0502040204020203" pitchFamily="34" charset="-122"/>
              <a:ea typeface="微软雅黑 Light" panose="020B0502040204020203" pitchFamily="34" charset="-122"/>
            </a:rPr>
            <a:t>所标志的资源</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D6DDE952-B0DE-47D8-B71F-7EF423B3547D}" type="parTrans" cxnId="{53A1F586-4C70-408A-97C9-D8C804FE3C81}">
      <dgm:prSet/>
      <dgm:spPr/>
      <dgm:t>
        <a:bodyPr/>
        <a:lstStyle/>
        <a:p>
          <a:endParaRPr lang="zh-CN" altLang="en-US" sz="2000"/>
        </a:p>
      </dgm:t>
    </dgm:pt>
    <dgm:pt modelId="{4399A9B5-36A9-4B6F-8820-694DF2DF950C}" type="sibTrans" cxnId="{53A1F586-4C70-408A-97C9-D8C804FE3C81}">
      <dgm:prSet/>
      <dgm:spPr/>
      <dgm:t>
        <a:bodyPr/>
        <a:lstStyle/>
        <a:p>
          <a:endParaRPr lang="zh-CN" altLang="en-US" sz="2000"/>
        </a:p>
      </dgm:t>
    </dgm:pt>
    <dgm:pt modelId="{07B4F805-20D4-4BC2-A365-667098FF337D}">
      <dgm:prSet custT="1"/>
      <dgm:spPr>
        <a:solidFill>
          <a:srgbClr val="99FFCC"/>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TRACE			  </a:t>
          </a:r>
          <a:r>
            <a:rPr lang="zh-CN" sz="1400" b="1"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E1C34BCD-65C7-4C0E-9A76-8FC4FE780A8E}" type="parTrans" cxnId="{3CAC8A55-DD07-40E8-8A00-4729478CF17D}">
      <dgm:prSet/>
      <dgm:spPr/>
      <dgm:t>
        <a:bodyPr/>
        <a:lstStyle/>
        <a:p>
          <a:endParaRPr lang="zh-CN" altLang="en-US" sz="2000"/>
        </a:p>
      </dgm:t>
    </dgm:pt>
    <dgm:pt modelId="{5CF980BE-E654-4424-8AA0-131C7CAB0A00}" type="sibTrans" cxnId="{3CAC8A55-DD07-40E8-8A00-4729478CF17D}">
      <dgm:prSet/>
      <dgm:spPr/>
      <dgm:t>
        <a:bodyPr/>
        <a:lstStyle/>
        <a:p>
          <a:endParaRPr lang="zh-CN" altLang="en-US" sz="2000"/>
        </a:p>
      </dgm:t>
    </dgm:pt>
    <dgm:pt modelId="{C616A960-C11D-48B4-BA4F-337251C61470}">
      <dgm:prSet custT="1"/>
      <dgm:spPr>
        <a:solidFill>
          <a:schemeClr val="accent1">
            <a:lumMod val="40000"/>
            <a:lumOff val="60000"/>
          </a:schemeClr>
        </a:solidFill>
      </dgm:spPr>
      <dgm:t>
        <a:bodyPr/>
        <a:lstStyle/>
        <a:p>
          <a:pPr rtl="0"/>
          <a:r>
            <a:rPr lang="en-US" sz="1400" b="1" dirty="0">
              <a:solidFill>
                <a:schemeClr val="tx1"/>
              </a:solidFill>
              <a:latin typeface="微软雅黑 Light" panose="020B0502040204020203" pitchFamily="34" charset="-122"/>
              <a:ea typeface="微软雅黑 Light" panose="020B0502040204020203" pitchFamily="34" charset="-122"/>
            </a:rPr>
            <a:t>	CONNECT		  </a:t>
          </a:r>
          <a:r>
            <a:rPr lang="zh-CN" sz="1400" b="1" dirty="0">
              <a:solidFill>
                <a:schemeClr val="tx1"/>
              </a:solidFill>
              <a:latin typeface="微软雅黑 Light" panose="020B0502040204020203" pitchFamily="34" charset="-122"/>
              <a:ea typeface="微软雅黑 Light" panose="020B0502040204020203" pitchFamily="34" charset="-122"/>
            </a:rPr>
            <a:t>用于代理服务器</a:t>
          </a:r>
          <a:endParaRPr lang="zh-CN" sz="1400" dirty="0">
            <a:solidFill>
              <a:schemeClr val="tx1"/>
            </a:solidFill>
            <a:latin typeface="微软雅黑 Light" panose="020B0502040204020203" pitchFamily="34" charset="-122"/>
            <a:ea typeface="微软雅黑 Light" panose="020B0502040204020203" pitchFamily="34" charset="-122"/>
          </a:endParaRPr>
        </a:p>
      </dgm:t>
    </dgm:pt>
    <dgm:pt modelId="{5B569C4F-E263-4D62-874B-1A2E3B1B9E32}" type="parTrans" cxnId="{721A12FC-6CA4-4E93-AE77-B928A1B14CE1}">
      <dgm:prSet/>
      <dgm:spPr/>
      <dgm:t>
        <a:bodyPr/>
        <a:lstStyle/>
        <a:p>
          <a:endParaRPr lang="zh-CN" altLang="en-US" sz="2000"/>
        </a:p>
      </dgm:t>
    </dgm:pt>
    <dgm:pt modelId="{ECA1C154-7A47-4D18-B8BB-6870073C2A59}" type="sibTrans" cxnId="{721A12FC-6CA4-4E93-AE77-B928A1B14CE1}">
      <dgm:prSet/>
      <dgm:spPr/>
      <dgm:t>
        <a:bodyPr/>
        <a:lstStyle/>
        <a:p>
          <a:endParaRPr lang="zh-CN" altLang="en-US" sz="2000"/>
        </a:p>
      </dgm:t>
    </dgm:pt>
    <dgm:pt modelId="{F4952754-BFC9-4911-B4D0-7A50D557351A}" type="pres">
      <dgm:prSet presAssocID="{ED4ABD43-DDCE-4440-B189-B8BC99419A8C}" presName="linear" presStyleCnt="0">
        <dgm:presLayoutVars>
          <dgm:animLvl val="lvl"/>
          <dgm:resizeHandles val="exact"/>
        </dgm:presLayoutVars>
      </dgm:prSet>
      <dgm:spPr/>
    </dgm:pt>
    <dgm:pt modelId="{5F526FD6-3C16-45F7-931B-D3253D84A49B}" type="pres">
      <dgm:prSet presAssocID="{6B1D83A1-F256-427B-A1DC-7ADE79857098}" presName="parentText" presStyleLbl="node1" presStyleIdx="0" presStyleCnt="9">
        <dgm:presLayoutVars>
          <dgm:chMax val="0"/>
          <dgm:bulletEnabled val="1"/>
        </dgm:presLayoutVars>
      </dgm:prSet>
      <dgm:spPr/>
    </dgm:pt>
    <dgm:pt modelId="{70B8B93F-D17B-4288-8E8A-4E14EC79485F}" type="pres">
      <dgm:prSet presAssocID="{04EB3969-0881-486F-B9ED-3D997F33DE3D}" presName="spacer" presStyleCnt="0"/>
      <dgm:spPr/>
    </dgm:pt>
    <dgm:pt modelId="{50B73F1F-44EA-4F89-8398-75FE0BB22E10}" type="pres">
      <dgm:prSet presAssocID="{14A0F9A2-BA5E-473C-A26A-07D95F39FF2B}" presName="parentText" presStyleLbl="node1" presStyleIdx="1" presStyleCnt="9">
        <dgm:presLayoutVars>
          <dgm:chMax val="0"/>
          <dgm:bulletEnabled val="1"/>
        </dgm:presLayoutVars>
      </dgm:prSet>
      <dgm:spPr/>
    </dgm:pt>
    <dgm:pt modelId="{D34EC1E6-6907-428C-9D5F-AF01907B324C}" type="pres">
      <dgm:prSet presAssocID="{09F3E21C-1E3E-4245-BD23-D7EF14018618}" presName="spacer" presStyleCnt="0"/>
      <dgm:spPr/>
    </dgm:pt>
    <dgm:pt modelId="{FD5606E7-7379-4F33-830F-006516F4DFDB}" type="pres">
      <dgm:prSet presAssocID="{D32D8361-DF8C-48A0-8647-ACE46C5DA45A}" presName="parentText" presStyleLbl="node1" presStyleIdx="2" presStyleCnt="9">
        <dgm:presLayoutVars>
          <dgm:chMax val="0"/>
          <dgm:bulletEnabled val="1"/>
        </dgm:presLayoutVars>
      </dgm:prSet>
      <dgm:spPr/>
    </dgm:pt>
    <dgm:pt modelId="{A3A91749-FBEB-4655-AFB4-033C7D74953C}" type="pres">
      <dgm:prSet presAssocID="{9BD60071-19A1-4A88-A60A-8FB6F147096F}" presName="spacer" presStyleCnt="0"/>
      <dgm:spPr/>
    </dgm:pt>
    <dgm:pt modelId="{E1C3FBBC-EA1F-4BAD-A2D7-05E9F414FDC7}" type="pres">
      <dgm:prSet presAssocID="{5F2F9BD6-F24E-4255-85FC-E2350396D805}" presName="parentText" presStyleLbl="node1" presStyleIdx="3" presStyleCnt="9">
        <dgm:presLayoutVars>
          <dgm:chMax val="0"/>
          <dgm:bulletEnabled val="1"/>
        </dgm:presLayoutVars>
      </dgm:prSet>
      <dgm:spPr/>
    </dgm:pt>
    <dgm:pt modelId="{337E9823-B5CB-43BA-8F01-2BD744123BF2}" type="pres">
      <dgm:prSet presAssocID="{1287D65E-3DAA-4426-89B8-BA3E376A4119}" presName="spacer" presStyleCnt="0"/>
      <dgm:spPr/>
    </dgm:pt>
    <dgm:pt modelId="{0EB52B51-C389-4A36-BC05-864D852DF5FC}" type="pres">
      <dgm:prSet presAssocID="{B3D81C7E-05E3-49CF-989C-070CE891B722}" presName="parentText" presStyleLbl="node1" presStyleIdx="4" presStyleCnt="9">
        <dgm:presLayoutVars>
          <dgm:chMax val="0"/>
          <dgm:bulletEnabled val="1"/>
        </dgm:presLayoutVars>
      </dgm:prSet>
      <dgm:spPr/>
    </dgm:pt>
    <dgm:pt modelId="{2D368CEE-5AD2-460D-8088-9CA2F6997FA2}" type="pres">
      <dgm:prSet presAssocID="{967E2E43-1BFB-45FB-ABC6-E9B961CBA7DF}" presName="spacer" presStyleCnt="0"/>
      <dgm:spPr/>
    </dgm:pt>
    <dgm:pt modelId="{4E4C0534-037E-45A5-BADC-B7406AF7B1C3}" type="pres">
      <dgm:prSet presAssocID="{258A2F10-98A6-45AC-9A9C-BB262FDEF029}" presName="parentText" presStyleLbl="node1" presStyleIdx="5" presStyleCnt="9">
        <dgm:presLayoutVars>
          <dgm:chMax val="0"/>
          <dgm:bulletEnabled val="1"/>
        </dgm:presLayoutVars>
      </dgm:prSet>
      <dgm:spPr/>
    </dgm:pt>
    <dgm:pt modelId="{C039C7DD-0E08-48C1-A6EC-72D7F9D82548}" type="pres">
      <dgm:prSet presAssocID="{196481A8-5918-4487-AE93-E8C148F56D79}" presName="spacer" presStyleCnt="0"/>
      <dgm:spPr/>
    </dgm:pt>
    <dgm:pt modelId="{EC4E5CDF-5396-4684-B963-9679F944855F}" type="pres">
      <dgm:prSet presAssocID="{63AFF0E2-A007-4F85-97C5-0E10709F7E5C}" presName="parentText" presStyleLbl="node1" presStyleIdx="6" presStyleCnt="9">
        <dgm:presLayoutVars>
          <dgm:chMax val="0"/>
          <dgm:bulletEnabled val="1"/>
        </dgm:presLayoutVars>
      </dgm:prSet>
      <dgm:spPr/>
    </dgm:pt>
    <dgm:pt modelId="{E4EC7552-37A5-4003-B7CF-035B11AA3598}" type="pres">
      <dgm:prSet presAssocID="{4399A9B5-36A9-4B6F-8820-694DF2DF950C}" presName="spacer" presStyleCnt="0"/>
      <dgm:spPr/>
    </dgm:pt>
    <dgm:pt modelId="{21855FA6-2BB4-499A-A8A9-433441C6C9C7}" type="pres">
      <dgm:prSet presAssocID="{07B4F805-20D4-4BC2-A365-667098FF337D}" presName="parentText" presStyleLbl="node1" presStyleIdx="7" presStyleCnt="9">
        <dgm:presLayoutVars>
          <dgm:chMax val="0"/>
          <dgm:bulletEnabled val="1"/>
        </dgm:presLayoutVars>
      </dgm:prSet>
      <dgm:spPr/>
    </dgm:pt>
    <dgm:pt modelId="{66723406-0C3F-437D-80D6-FA1C8062C148}" type="pres">
      <dgm:prSet presAssocID="{5CF980BE-E654-4424-8AA0-131C7CAB0A00}" presName="spacer" presStyleCnt="0"/>
      <dgm:spPr/>
    </dgm:pt>
    <dgm:pt modelId="{08F040B1-2CBD-4876-96AA-45AF94F7D94E}" type="pres">
      <dgm:prSet presAssocID="{C616A960-C11D-48B4-BA4F-337251C61470}" presName="parentText" presStyleLbl="node1" presStyleIdx="8" presStyleCnt="9">
        <dgm:presLayoutVars>
          <dgm:chMax val="0"/>
          <dgm:bulletEnabled val="1"/>
        </dgm:presLayoutVars>
      </dgm:prSet>
      <dgm:spPr/>
    </dgm:pt>
  </dgm:ptLst>
  <dgm:cxnLst>
    <dgm:cxn modelId="{0540C91C-EAF7-4EFA-B74E-527657268102}" type="presOf" srcId="{6B1D83A1-F256-427B-A1DC-7ADE79857098}" destId="{5F526FD6-3C16-45F7-931B-D3253D84A49B}" srcOrd="0" destOrd="0" presId="urn:microsoft.com/office/officeart/2005/8/layout/vList2"/>
    <dgm:cxn modelId="{F05DA65B-F8ED-4E81-94E7-A2A3A92D746E}" srcId="{ED4ABD43-DDCE-4440-B189-B8BC99419A8C}" destId="{6B1D83A1-F256-427B-A1DC-7ADE79857098}" srcOrd="0" destOrd="0" parTransId="{27CE23E2-20D6-4DA6-8FDE-164A9143B325}" sibTransId="{04EB3969-0881-486F-B9ED-3D997F33DE3D}"/>
    <dgm:cxn modelId="{6FB93842-5A12-41B3-86BF-64E06F25EF4F}" srcId="{ED4ABD43-DDCE-4440-B189-B8BC99419A8C}" destId="{B3D81C7E-05E3-49CF-989C-070CE891B722}" srcOrd="4" destOrd="0" parTransId="{B5132612-45C6-41E7-B856-574DE76148DF}" sibTransId="{967E2E43-1BFB-45FB-ABC6-E9B961CBA7DF}"/>
    <dgm:cxn modelId="{8FF67364-7DEB-49FE-8192-3E7830B06CAF}" type="presOf" srcId="{258A2F10-98A6-45AC-9A9C-BB262FDEF029}" destId="{4E4C0534-037E-45A5-BADC-B7406AF7B1C3}" srcOrd="0" destOrd="0" presId="urn:microsoft.com/office/officeart/2005/8/layout/vList2"/>
    <dgm:cxn modelId="{0E53C646-4BC7-40A4-8EBC-CB6A10ECCF93}" srcId="{ED4ABD43-DDCE-4440-B189-B8BC99419A8C}" destId="{258A2F10-98A6-45AC-9A9C-BB262FDEF029}" srcOrd="5" destOrd="0" parTransId="{D2D2868A-62C4-410B-B3D8-7DF502EAB38D}" sibTransId="{196481A8-5918-4487-AE93-E8C148F56D79}"/>
    <dgm:cxn modelId="{BA001C70-062E-4DD3-A57D-6BD7E453C49C}" type="presOf" srcId="{07B4F805-20D4-4BC2-A365-667098FF337D}" destId="{21855FA6-2BB4-499A-A8A9-433441C6C9C7}" srcOrd="0" destOrd="0" presId="urn:microsoft.com/office/officeart/2005/8/layout/vList2"/>
    <dgm:cxn modelId="{1AA63E50-9899-4EB9-9DC6-E5CFEBE9AA52}" type="presOf" srcId="{C616A960-C11D-48B4-BA4F-337251C61470}" destId="{08F040B1-2CBD-4876-96AA-45AF94F7D94E}" srcOrd="0" destOrd="0" presId="urn:microsoft.com/office/officeart/2005/8/layout/vList2"/>
    <dgm:cxn modelId="{3CAC8A55-DD07-40E8-8A00-4729478CF17D}" srcId="{ED4ABD43-DDCE-4440-B189-B8BC99419A8C}" destId="{07B4F805-20D4-4BC2-A365-667098FF337D}" srcOrd="7" destOrd="0" parTransId="{E1C34BCD-65C7-4C0E-9A76-8FC4FE780A8E}" sibTransId="{5CF980BE-E654-4424-8AA0-131C7CAB0A00}"/>
    <dgm:cxn modelId="{0E29C981-1B57-48D5-876F-395BA29D6BA7}" type="presOf" srcId="{B3D81C7E-05E3-49CF-989C-070CE891B722}" destId="{0EB52B51-C389-4A36-BC05-864D852DF5FC}" srcOrd="0" destOrd="0" presId="urn:microsoft.com/office/officeart/2005/8/layout/vList2"/>
    <dgm:cxn modelId="{53A1F586-4C70-408A-97C9-D8C804FE3C81}" srcId="{ED4ABD43-DDCE-4440-B189-B8BC99419A8C}" destId="{63AFF0E2-A007-4F85-97C5-0E10709F7E5C}" srcOrd="6" destOrd="0" parTransId="{D6DDE952-B0DE-47D8-B71F-7EF423B3547D}" sibTransId="{4399A9B5-36A9-4B6F-8820-694DF2DF950C}"/>
    <dgm:cxn modelId="{8346098B-6D4A-4876-BD6E-94E423230B8C}" type="presOf" srcId="{63AFF0E2-A007-4F85-97C5-0E10709F7E5C}" destId="{EC4E5CDF-5396-4684-B963-9679F944855F}" srcOrd="0" destOrd="0" presId="urn:microsoft.com/office/officeart/2005/8/layout/vList2"/>
    <dgm:cxn modelId="{1F5B8AB9-56BA-4B3C-93A2-CD67F067C1A5}" srcId="{ED4ABD43-DDCE-4440-B189-B8BC99419A8C}" destId="{14A0F9A2-BA5E-473C-A26A-07D95F39FF2B}" srcOrd="1" destOrd="0" parTransId="{F428299F-92F4-4EC3-8F69-F35A1F2197D3}" sibTransId="{09F3E21C-1E3E-4245-BD23-D7EF14018618}"/>
    <dgm:cxn modelId="{A610C3C6-FD98-4CF8-8058-5E1E28A4F7E8}" type="presOf" srcId="{ED4ABD43-DDCE-4440-B189-B8BC99419A8C}" destId="{F4952754-BFC9-4911-B4D0-7A50D557351A}" srcOrd="0" destOrd="0" presId="urn:microsoft.com/office/officeart/2005/8/layout/vList2"/>
    <dgm:cxn modelId="{3DE9CDCC-39B1-4776-A172-C290216078E3}" type="presOf" srcId="{5F2F9BD6-F24E-4255-85FC-E2350396D805}" destId="{E1C3FBBC-EA1F-4BAD-A2D7-05E9F414FDC7}" srcOrd="0" destOrd="0" presId="urn:microsoft.com/office/officeart/2005/8/layout/vList2"/>
    <dgm:cxn modelId="{CF44E6D7-8243-4343-9257-F0185984D0A4}" type="presOf" srcId="{14A0F9A2-BA5E-473C-A26A-07D95F39FF2B}" destId="{50B73F1F-44EA-4F89-8398-75FE0BB22E10}" srcOrd="0" destOrd="0" presId="urn:microsoft.com/office/officeart/2005/8/layout/vList2"/>
    <dgm:cxn modelId="{22E6D2E9-025D-4FE7-ADBC-975B6274EA23}" srcId="{ED4ABD43-DDCE-4440-B189-B8BC99419A8C}" destId="{5F2F9BD6-F24E-4255-85FC-E2350396D805}" srcOrd="3" destOrd="0" parTransId="{01AAAC48-EC48-440E-A5E2-88572E88C756}" sibTransId="{1287D65E-3DAA-4426-89B8-BA3E376A4119}"/>
    <dgm:cxn modelId="{D69FD6EE-E9E5-43FF-86CA-09AFA75CB2C2}" type="presOf" srcId="{D32D8361-DF8C-48A0-8647-ACE46C5DA45A}" destId="{FD5606E7-7379-4F33-830F-006516F4DFDB}" srcOrd="0" destOrd="0" presId="urn:microsoft.com/office/officeart/2005/8/layout/vList2"/>
    <dgm:cxn modelId="{C3922EF1-C25D-4D0E-A360-802694E5B206}" srcId="{ED4ABD43-DDCE-4440-B189-B8BC99419A8C}" destId="{D32D8361-DF8C-48A0-8647-ACE46C5DA45A}" srcOrd="2" destOrd="0" parTransId="{47CA20CA-28BF-4089-8B81-7E9E84CA28B5}" sibTransId="{9BD60071-19A1-4A88-A60A-8FB6F147096F}"/>
    <dgm:cxn modelId="{721A12FC-6CA4-4E93-AE77-B928A1B14CE1}" srcId="{ED4ABD43-DDCE-4440-B189-B8BC99419A8C}" destId="{C616A960-C11D-48B4-BA4F-337251C61470}" srcOrd="8" destOrd="0" parTransId="{5B569C4F-E263-4D62-874B-1A2E3B1B9E32}" sibTransId="{ECA1C154-7A47-4D18-B8BB-6870073C2A59}"/>
    <dgm:cxn modelId="{8B043B42-CEA0-49E2-9182-57E5EE364CA8}" type="presParOf" srcId="{F4952754-BFC9-4911-B4D0-7A50D557351A}" destId="{5F526FD6-3C16-45F7-931B-D3253D84A49B}" srcOrd="0" destOrd="0" presId="urn:microsoft.com/office/officeart/2005/8/layout/vList2"/>
    <dgm:cxn modelId="{E323F154-53F9-418D-A3F5-5E1AE7022CBD}" type="presParOf" srcId="{F4952754-BFC9-4911-B4D0-7A50D557351A}" destId="{70B8B93F-D17B-4288-8E8A-4E14EC79485F}" srcOrd="1" destOrd="0" presId="urn:microsoft.com/office/officeart/2005/8/layout/vList2"/>
    <dgm:cxn modelId="{5F65A232-A817-4763-B0A7-CC42A8ACC53E}" type="presParOf" srcId="{F4952754-BFC9-4911-B4D0-7A50D557351A}" destId="{50B73F1F-44EA-4F89-8398-75FE0BB22E10}" srcOrd="2" destOrd="0" presId="urn:microsoft.com/office/officeart/2005/8/layout/vList2"/>
    <dgm:cxn modelId="{8BE3ED8B-3534-4A6B-B916-5ED1F6C5D12C}" type="presParOf" srcId="{F4952754-BFC9-4911-B4D0-7A50D557351A}" destId="{D34EC1E6-6907-428C-9D5F-AF01907B324C}" srcOrd="3" destOrd="0" presId="urn:microsoft.com/office/officeart/2005/8/layout/vList2"/>
    <dgm:cxn modelId="{88AF628F-6B21-43E3-8510-139C0A68CDDB}" type="presParOf" srcId="{F4952754-BFC9-4911-B4D0-7A50D557351A}" destId="{FD5606E7-7379-4F33-830F-006516F4DFDB}" srcOrd="4" destOrd="0" presId="urn:microsoft.com/office/officeart/2005/8/layout/vList2"/>
    <dgm:cxn modelId="{E81F9F7F-3008-4FFD-A34C-B24836CE2789}" type="presParOf" srcId="{F4952754-BFC9-4911-B4D0-7A50D557351A}" destId="{A3A91749-FBEB-4655-AFB4-033C7D74953C}" srcOrd="5" destOrd="0" presId="urn:microsoft.com/office/officeart/2005/8/layout/vList2"/>
    <dgm:cxn modelId="{BF26FA07-DB15-4003-9CD7-79A48440DF7F}" type="presParOf" srcId="{F4952754-BFC9-4911-B4D0-7A50D557351A}" destId="{E1C3FBBC-EA1F-4BAD-A2D7-05E9F414FDC7}" srcOrd="6" destOrd="0" presId="urn:microsoft.com/office/officeart/2005/8/layout/vList2"/>
    <dgm:cxn modelId="{AACCE79E-EBA4-4FA5-BA95-EC663504198B}" type="presParOf" srcId="{F4952754-BFC9-4911-B4D0-7A50D557351A}" destId="{337E9823-B5CB-43BA-8F01-2BD744123BF2}" srcOrd="7" destOrd="0" presId="urn:microsoft.com/office/officeart/2005/8/layout/vList2"/>
    <dgm:cxn modelId="{BF7FE5B6-8D0C-4465-817E-22AFA0D783BE}" type="presParOf" srcId="{F4952754-BFC9-4911-B4D0-7A50D557351A}" destId="{0EB52B51-C389-4A36-BC05-864D852DF5FC}" srcOrd="8" destOrd="0" presId="urn:microsoft.com/office/officeart/2005/8/layout/vList2"/>
    <dgm:cxn modelId="{1732B9D0-DF1E-4D2F-B6A5-8A2A406CF108}" type="presParOf" srcId="{F4952754-BFC9-4911-B4D0-7A50D557351A}" destId="{2D368CEE-5AD2-460D-8088-9CA2F6997FA2}" srcOrd="9" destOrd="0" presId="urn:microsoft.com/office/officeart/2005/8/layout/vList2"/>
    <dgm:cxn modelId="{A1CFA4E7-48B9-4DF3-AB07-876A25DFF48E}" type="presParOf" srcId="{F4952754-BFC9-4911-B4D0-7A50D557351A}" destId="{4E4C0534-037E-45A5-BADC-B7406AF7B1C3}" srcOrd="10" destOrd="0" presId="urn:microsoft.com/office/officeart/2005/8/layout/vList2"/>
    <dgm:cxn modelId="{8C621798-C527-41B7-8DE5-808CFCC784AE}" type="presParOf" srcId="{F4952754-BFC9-4911-B4D0-7A50D557351A}" destId="{C039C7DD-0E08-48C1-A6EC-72D7F9D82548}" srcOrd="11" destOrd="0" presId="urn:microsoft.com/office/officeart/2005/8/layout/vList2"/>
    <dgm:cxn modelId="{743FB023-60A0-4E8B-9CEB-11616042108F}" type="presParOf" srcId="{F4952754-BFC9-4911-B4D0-7A50D557351A}" destId="{EC4E5CDF-5396-4684-B963-9679F944855F}" srcOrd="12" destOrd="0" presId="urn:microsoft.com/office/officeart/2005/8/layout/vList2"/>
    <dgm:cxn modelId="{B00F3713-C00F-423A-A166-9EAAC35C07CE}" type="presParOf" srcId="{F4952754-BFC9-4911-B4D0-7A50D557351A}" destId="{E4EC7552-37A5-4003-B7CF-035B11AA3598}" srcOrd="13" destOrd="0" presId="urn:microsoft.com/office/officeart/2005/8/layout/vList2"/>
    <dgm:cxn modelId="{EBB0F5D1-9D26-4409-8C19-2CA476CCC5AA}" type="presParOf" srcId="{F4952754-BFC9-4911-B4D0-7A50D557351A}" destId="{21855FA6-2BB4-499A-A8A9-433441C6C9C7}" srcOrd="14" destOrd="0" presId="urn:microsoft.com/office/officeart/2005/8/layout/vList2"/>
    <dgm:cxn modelId="{889C6B30-6315-4929-B518-6E19398F2A1F}" type="presParOf" srcId="{F4952754-BFC9-4911-B4D0-7A50D557351A}" destId="{66723406-0C3F-437D-80D6-FA1C8062C148}" srcOrd="15" destOrd="0" presId="urn:microsoft.com/office/officeart/2005/8/layout/vList2"/>
    <dgm:cxn modelId="{A203E2E4-4A48-48D9-B283-388C7A09B2A3}" type="presParOf" srcId="{F4952754-BFC9-4911-B4D0-7A50D557351A}" destId="{08F040B1-2CBD-4876-96AA-45AF94F7D94E}" srcOrd="16"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1" csCatId="colorful" phldr="1"/>
      <dgm:spPr/>
      <dgm:t>
        <a:bodyPr/>
        <a:lstStyle/>
        <a:p>
          <a:endParaRPr lang="zh-CN" altLang="en-US"/>
        </a:p>
      </dgm:t>
    </dgm:pt>
    <dgm:pt modelId="{4A67B12B-F27E-4426-AA87-6EFCC170D45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全文检索搜索引擎</a:t>
          </a:r>
        </a:p>
      </dgm:t>
    </dgm:pt>
    <dgm:pt modelId="{5BEE43B6-8E9E-4602-B465-7FED085A3832}" type="par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一种纯技术型的检索工具</a:t>
          </a:r>
        </a:p>
      </dgm:t>
    </dgm:pt>
    <dgm:pt modelId="{A57610D4-26F8-4604-B151-839C46B7150C}" type="par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9F607C1B-80D0-4E37-9532-5DEF8092D95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dgm:t>
    </dgm:pt>
    <dgm:pt modelId="{129CC8E6-B479-4A11-9A5C-F331665CEF58}" type="par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E389A9B5-441E-42CC-BEA3-51AA982AD6CE}" type="sibTrans" cxnId="{D5DEB2F0-BE16-44F9-82A1-3A74268E7224}">
      <dgm:prSet/>
      <dgm:spPr/>
      <dgm:t>
        <a:bodyPr/>
        <a:lstStyle/>
        <a:p>
          <a:endParaRPr lang="zh-CN" altLang="en-US" sz="1400" b="1">
            <a:latin typeface="微软雅黑" panose="020B0503020204020204" pitchFamily="34" charset="-122"/>
            <a:ea typeface="微软雅黑" panose="020B0503020204020204" pitchFamily="34" charset="-122"/>
          </a:endParaRPr>
        </a:p>
      </dgm:t>
    </dgm:pt>
    <dgm:pt modelId="{61C60E65-B106-4C3D-AAF8-FC1FD0A02A4B}">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dirty="0">
              <a:latin typeface="Montserrat" panose="00000500000000000000" pitchFamily="2" charset="0"/>
              <a:ea typeface="微软雅黑 Light" panose="020B0502040204020203" pitchFamily="34" charset="-122"/>
            </a:rPr>
            <a:t>Spider </a:t>
          </a:r>
          <a:r>
            <a:rPr lang="zh-CN" altLang="en-US" sz="1400" b="0" dirty="0">
              <a:latin typeface="Montserrat" panose="00000500000000000000" pitchFamily="2" charset="0"/>
              <a:ea typeface="微软雅黑 Light" panose="020B0502040204020203" pitchFamily="34" charset="-122"/>
            </a:rPr>
            <a:t>程序）到互联网上的各网站收集信息</a:t>
          </a:r>
        </a:p>
      </dgm:t>
    </dgm:pt>
    <dgm:pt modelId="{C254F781-548E-478F-BAF2-126F5E2F3D7A}" type="parTrans" cxnId="{6514846C-E978-4C49-8BB5-1C4EF2E4803B}">
      <dgm:prSet/>
      <dgm:spPr/>
      <dgm:t>
        <a:bodyPr/>
        <a:lstStyle/>
        <a:p>
          <a:endParaRPr lang="zh-CN" altLang="en-US" sz="1400"/>
        </a:p>
      </dgm:t>
    </dgm:pt>
    <dgm:pt modelId="{8AD171DB-28FE-4ACB-B0C1-15945DC4A62A}" type="sibTrans" cxnId="{6514846C-E978-4C49-8BB5-1C4EF2E4803B}">
      <dgm:prSet/>
      <dgm:spPr/>
      <dgm:t>
        <a:bodyPr/>
        <a:lstStyle/>
        <a:p>
          <a:endParaRPr lang="zh-CN" altLang="en-US" sz="1400"/>
        </a:p>
      </dgm:t>
    </dgm:pt>
    <dgm:pt modelId="{328CB23F-D8F3-4B6A-B4B9-F64BFB9CA47F}">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用户在查询时只要输入关键词，从已经建立的索引数据库里查询（非实时）</a:t>
          </a:r>
        </a:p>
      </dgm:t>
    </dgm:pt>
    <dgm:pt modelId="{77010FA5-DC68-4DEB-93B3-B53DAC9E6ABC}" type="parTrans" cxnId="{021637B2-6265-427F-8249-22D6800BF362}">
      <dgm:prSet/>
      <dgm:spPr/>
      <dgm:t>
        <a:bodyPr/>
        <a:lstStyle/>
        <a:p>
          <a:endParaRPr lang="zh-CN" altLang="en-US" sz="1400"/>
        </a:p>
      </dgm:t>
    </dgm:pt>
    <dgm:pt modelId="{118F7781-722A-4376-B3E0-5E4C4F274A72}" type="sibTrans" cxnId="{021637B2-6265-427F-8249-22D6800BF362}">
      <dgm:prSet/>
      <dgm:spPr/>
      <dgm:t>
        <a:bodyPr/>
        <a:lstStyle/>
        <a:p>
          <a:endParaRPr lang="zh-CN" altLang="en-US" sz="1400"/>
        </a:p>
      </dgm:t>
    </dgm:pt>
    <dgm:pt modelId="{050C4E28-BA13-4764-8595-89E113C63E70}">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需要定期更新维护数据库</a:t>
          </a:r>
        </a:p>
      </dgm:t>
    </dgm:pt>
    <dgm:pt modelId="{9464634E-D6F1-4FE9-B86E-6F1B48EA7169}" type="parTrans" cxnId="{4554409D-A1B1-4700-B815-DC22BB410C36}">
      <dgm:prSet/>
      <dgm:spPr/>
      <dgm:t>
        <a:bodyPr/>
        <a:lstStyle/>
        <a:p>
          <a:endParaRPr lang="zh-CN" altLang="en-US"/>
        </a:p>
      </dgm:t>
    </dgm:pt>
    <dgm:pt modelId="{9AB1F0C5-8DF9-4CAC-BABA-22C83EBF2A4D}" type="sibTrans" cxnId="{4554409D-A1B1-4700-B815-DC22BB410C36}">
      <dgm:prSet/>
      <dgm:spPr/>
      <dgm:t>
        <a:bodyPr/>
        <a:lstStyle/>
        <a:p>
          <a:endParaRPr lang="zh-CN" altLang="en-US"/>
        </a:p>
      </dgm:t>
    </dgm:pt>
    <dgm:pt modelId="{5449751D-EB9D-4373-893A-D2F5888DB8FC}">
      <dgm:prSet phldrT="[文本]" custT="1"/>
      <dgm:spPr/>
      <dgm:t>
        <a:bodyPr/>
        <a:lstStyle/>
        <a:p>
          <a:r>
            <a:rPr lang="zh-CN" altLang="en-US" sz="1400" b="1" dirty="0">
              <a:latin typeface="微软雅黑 Light" panose="020B0502040204020203" pitchFamily="34" charset="-122"/>
              <a:ea typeface="微软雅黑 Light" panose="020B0502040204020203" pitchFamily="34" charset="-122"/>
            </a:rPr>
            <a:t>分类目录搜索引擎</a:t>
          </a:r>
        </a:p>
      </dgm:t>
    </dgm:pt>
    <dgm:pt modelId="{328CCA76-77A8-4316-A94F-1D0317492727}" type="parTrans" cxnId="{6D0F46F1-4AC4-4736-B900-19ECDC23E479}">
      <dgm:prSet/>
      <dgm:spPr/>
      <dgm:t>
        <a:bodyPr/>
        <a:lstStyle/>
        <a:p>
          <a:endParaRPr lang="zh-CN" altLang="en-US"/>
        </a:p>
      </dgm:t>
    </dgm:pt>
    <dgm:pt modelId="{F6B66E90-AD5B-457C-AAB4-88F3EC4A38ED}" type="sibTrans" cxnId="{6D0F46F1-4AC4-4736-B900-19ECDC23E479}">
      <dgm:prSet/>
      <dgm:spPr/>
      <dgm:t>
        <a:bodyPr/>
        <a:lstStyle/>
        <a:p>
          <a:endParaRPr lang="zh-CN" altLang="en-US"/>
        </a:p>
      </dgm:t>
    </dgm:pt>
    <dgm:pt modelId="{CE71DC2E-5525-4979-B6CC-33CC9C5CCDE8}">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分类目录搜索也叫做分类网站搜索。</a:t>
          </a:r>
        </a:p>
      </dgm:t>
    </dgm:pt>
    <dgm:pt modelId="{F8466C81-619C-4EDF-AD7B-C61C08441610}" type="parTrans" cxnId="{F5AAB865-104E-411B-9B3C-BEE8F1D0D046}">
      <dgm:prSet/>
      <dgm:spPr/>
      <dgm:t>
        <a:bodyPr/>
        <a:lstStyle/>
        <a:p>
          <a:endParaRPr lang="zh-CN" altLang="en-US"/>
        </a:p>
      </dgm:t>
    </dgm:pt>
    <dgm:pt modelId="{5B8DBDFD-DE8C-4AEF-97F4-5037A2D9F0E8}" type="sibTrans" cxnId="{F5AAB865-104E-411B-9B3C-BEE8F1D0D046}">
      <dgm:prSet/>
      <dgm:spPr/>
      <dgm:t>
        <a:bodyPr/>
        <a:lstStyle/>
        <a:p>
          <a:endParaRPr lang="zh-CN" altLang="en-US"/>
        </a:p>
      </dgm:t>
    </dgm:pt>
    <dgm:pt modelId="{03B7B585-4274-466B-9BFA-67A3A8D9458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查询时只需要按照分类，不需要使用关键词，查询的准确性较好</a:t>
          </a:r>
        </a:p>
      </dgm:t>
    </dgm:pt>
    <dgm:pt modelId="{A952DB3C-805E-4A71-8677-121621D53B56}" type="parTrans" cxnId="{AD1B10FF-C036-4E2D-81C6-4650BD7AE0A2}">
      <dgm:prSet/>
      <dgm:spPr/>
      <dgm:t>
        <a:bodyPr/>
        <a:lstStyle/>
        <a:p>
          <a:endParaRPr lang="zh-CN" altLang="en-US"/>
        </a:p>
      </dgm:t>
    </dgm:pt>
    <dgm:pt modelId="{760ED4A1-D3FB-4E3E-9FAF-B1345895BD7A}" type="sibTrans" cxnId="{AD1B10FF-C036-4E2D-81C6-4650BD7AE0A2}">
      <dgm:prSet/>
      <dgm:spPr/>
      <dgm:t>
        <a:bodyPr/>
        <a:lstStyle/>
        <a:p>
          <a:endParaRPr lang="zh-CN" altLang="en-US"/>
        </a:p>
      </dgm:t>
    </dgm:pt>
    <dgm:pt modelId="{6339AE21-B307-4792-AF9D-64765A81105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dirty="0">
              <a:latin typeface="Montserrat" panose="00000500000000000000" pitchFamily="2" charset="0"/>
              <a:ea typeface="微软雅黑 Light" panose="020B0502040204020203" pitchFamily="34" charset="-122"/>
            </a:rPr>
            <a:t>URL </a:t>
          </a:r>
          <a:r>
            <a:rPr lang="zh-CN" altLang="en-US" sz="1400" b="0" dirty="0">
              <a:latin typeface="Montserrat" panose="00000500000000000000" pitchFamily="2" charset="0"/>
              <a:ea typeface="微软雅黑 Light" panose="020B0502040204020203" pitchFamily="34" charset="-122"/>
            </a:rPr>
            <a:t>地址</a:t>
          </a:r>
        </a:p>
      </dgm:t>
    </dgm:pt>
    <dgm:pt modelId="{9567897E-214A-48CD-89B6-83D5184D2F2A}" type="parTrans" cxnId="{F5A8529D-26B9-45B9-A973-9E127E73CE38}">
      <dgm:prSet/>
      <dgm:spPr/>
      <dgm:t>
        <a:bodyPr/>
        <a:lstStyle/>
        <a:p>
          <a:endParaRPr lang="zh-CN" altLang="en-US"/>
        </a:p>
      </dgm:t>
    </dgm:pt>
    <dgm:pt modelId="{569B0100-1CBF-4344-9FD1-DFB338417209}" type="sibTrans" cxnId="{F5A8529D-26B9-45B9-A973-9E127E73CE38}">
      <dgm:prSet/>
      <dgm:spPr/>
      <dgm:t>
        <a:bodyPr/>
        <a:lstStyle/>
        <a:p>
          <a:endParaRPr lang="zh-CN" altLang="en-US"/>
        </a:p>
      </dgm:t>
    </dgm:pt>
    <dgm:pt modelId="{C0D8ADDD-B14C-4A4B-8F66-FA1E12F27746}">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按照一定的规则建立一个很大的在线索引数据库</a:t>
          </a:r>
        </a:p>
      </dgm:t>
    </dgm:pt>
    <dgm:pt modelId="{7673687D-617F-4DD5-A0DC-4CE6C4420FBA}" type="parTrans" cxnId="{1995B44A-319A-4391-8AC4-57E9F719C2EF}">
      <dgm:prSet/>
      <dgm:spPr/>
      <dgm:t>
        <a:bodyPr/>
        <a:lstStyle/>
        <a:p>
          <a:endParaRPr lang="zh-CN" altLang="en-US"/>
        </a:p>
      </dgm:t>
    </dgm:pt>
    <dgm:pt modelId="{B4C73580-2708-4C61-A24E-944871042CDA}" type="sibTrans" cxnId="{1995B44A-319A-4391-8AC4-57E9F719C2EF}">
      <dgm:prSet/>
      <dgm:spPr/>
      <dgm:t>
        <a:bodyPr/>
        <a:lstStyle/>
        <a:p>
          <a:endParaRPr lang="zh-CN" altLang="en-US"/>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EF3E2D13-5487-44EF-8C7D-630C24300665}" type="presOf" srcId="{6339AE21-B307-4792-AF9D-64765A81105C}" destId="{56308F05-9C6F-4168-94D1-139E66E21E29}" srcOrd="0" destOrd="3" presId="urn:microsoft.com/office/officeart/2005/8/layout/hList1"/>
    <dgm:cxn modelId="{7EF01D21-D98D-474C-8C7F-420E03D07E1A}" type="presOf" srcId="{050C4E28-BA13-4764-8595-89E113C63E70}" destId="{4E1C6945-3361-4332-9057-7162DBC9BE74}" srcOrd="0" destOrd="4"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F2EC2B2A-3CA3-4E1B-A7CD-A463B4F86B4B}" type="presOf" srcId="{03B7B585-4274-466B-9BFA-67A3A8D9458C}" destId="{56308F05-9C6F-4168-94D1-139E66E21E29}" srcOrd="0" destOrd="2" presId="urn:microsoft.com/office/officeart/2005/8/layout/hList1"/>
    <dgm:cxn modelId="{F5AAB865-104E-411B-9B3C-BEE8F1D0D046}" srcId="{5449751D-EB9D-4373-893A-D2F5888DB8FC}" destId="{CE71DC2E-5525-4979-B6CC-33CC9C5CCDE8}" srcOrd="1" destOrd="0" parTransId="{F8466C81-619C-4EDF-AD7B-C61C08441610}" sibTransId="{5B8DBDFD-DE8C-4AEF-97F4-5037A2D9F0E8}"/>
    <dgm:cxn modelId="{3A5BA247-2FD8-41F6-A0FA-D35ED6ABC45F}" srcId="{640FA84E-D24C-4A71-8726-ABEBB11DBFA7}" destId="{4A67B12B-F27E-4426-AA87-6EFCC170D45C}" srcOrd="0" destOrd="0" parTransId="{5BEE43B6-8E9E-4602-B465-7FED085A3832}" sibTransId="{D99E4612-C65B-423F-A46B-414E3F4A9548}"/>
    <dgm:cxn modelId="{1995B44A-319A-4391-8AC4-57E9F719C2EF}" srcId="{4A67B12B-F27E-4426-AA87-6EFCC170D45C}" destId="{C0D8ADDD-B14C-4A4B-8F66-FA1E12F27746}" srcOrd="2" destOrd="0" parTransId="{7673687D-617F-4DD5-A0DC-4CE6C4420FBA}" sibTransId="{B4C73580-2708-4C61-A24E-944871042CDA}"/>
    <dgm:cxn modelId="{6514846C-E978-4C49-8BB5-1C4EF2E4803B}" srcId="{4A67B12B-F27E-4426-AA87-6EFCC170D45C}" destId="{61C60E65-B106-4C3D-AAF8-FC1FD0A02A4B}" srcOrd="1" destOrd="0" parTransId="{C254F781-548E-478F-BAF2-126F5E2F3D7A}" sibTransId="{8AD171DB-28FE-4ACB-B0C1-15945DC4A62A}"/>
    <dgm:cxn modelId="{B96D9B56-5617-48F7-B19C-343E3F206AA8}" type="presOf" srcId="{5449751D-EB9D-4373-893A-D2F5888DB8FC}" destId="{68DA0B6D-3EBF-4324-92AB-1CC040E6E5B2}" srcOrd="0" destOrd="0" presId="urn:microsoft.com/office/officeart/2005/8/layout/hList1"/>
    <dgm:cxn modelId="{4F82438A-4352-41EB-A568-354AB46CCDED}" type="presOf" srcId="{61C60E65-B106-4C3D-AAF8-FC1FD0A02A4B}" destId="{4E1C6945-3361-4332-9057-7162DBC9BE74}" srcOrd="0" destOrd="1" presId="urn:microsoft.com/office/officeart/2005/8/layout/hList1"/>
    <dgm:cxn modelId="{55B80895-AEA4-4B34-A2C3-3A99CBE000CA}" type="presOf" srcId="{09A0DAAE-BBFE-4AB5-AD9D-1D5FFFFCD3E3}" destId="{4E1C6945-3361-4332-9057-7162DBC9BE74}" srcOrd="0" destOrd="0" presId="urn:microsoft.com/office/officeart/2005/8/layout/hList1"/>
    <dgm:cxn modelId="{04A54596-543B-4F6D-9EE7-19A93944811E}" type="presOf" srcId="{328CB23F-D8F3-4B6A-B4B9-F64BFB9CA47F}" destId="{4E1C6945-3361-4332-9057-7162DBC9BE74}" srcOrd="0" destOrd="3" presId="urn:microsoft.com/office/officeart/2005/8/layout/hList1"/>
    <dgm:cxn modelId="{4554409D-A1B1-4700-B815-DC22BB410C36}" srcId="{4A67B12B-F27E-4426-AA87-6EFCC170D45C}" destId="{050C4E28-BA13-4764-8595-89E113C63E70}" srcOrd="4" destOrd="0" parTransId="{9464634E-D6F1-4FE9-B86E-6F1B48EA7169}" sibTransId="{9AB1F0C5-8DF9-4CAC-BABA-22C83EBF2A4D}"/>
    <dgm:cxn modelId="{F5A8529D-26B9-45B9-A973-9E127E73CE38}" srcId="{5449751D-EB9D-4373-893A-D2F5888DB8FC}" destId="{6339AE21-B307-4792-AF9D-64765A81105C}" srcOrd="3" destOrd="0" parTransId="{9567897E-214A-48CD-89B6-83D5184D2F2A}" sibTransId="{569B0100-1CBF-4344-9FD1-DFB338417209}"/>
    <dgm:cxn modelId="{286FC2A6-8859-4845-86F0-9E9BE12E588A}" type="presOf" srcId="{9F607C1B-80D0-4E37-9532-5DEF8092D95F}" destId="{56308F05-9C6F-4168-94D1-139E66E21E29}" srcOrd="0" destOrd="0" presId="urn:microsoft.com/office/officeart/2005/8/layout/hList1"/>
    <dgm:cxn modelId="{66F6AFA8-7EFE-4A43-9A3D-72A92C3E3AC0}" type="presOf" srcId="{640FA84E-D24C-4A71-8726-ABEBB11DBFA7}" destId="{18114A28-018D-44D7-AF7A-D60D965430EC}" srcOrd="0" destOrd="0" presId="urn:microsoft.com/office/officeart/2005/8/layout/hList1"/>
    <dgm:cxn modelId="{021637B2-6265-427F-8249-22D6800BF362}" srcId="{4A67B12B-F27E-4426-AA87-6EFCC170D45C}" destId="{328CB23F-D8F3-4B6A-B4B9-F64BFB9CA47F}" srcOrd="3" destOrd="0" parTransId="{77010FA5-DC68-4DEB-93B3-B53DAC9E6ABC}" sibTransId="{118F7781-722A-4376-B3E0-5E4C4F274A72}"/>
    <dgm:cxn modelId="{6C8AC5BD-9059-4C85-B5FF-822C28A50264}" type="presOf" srcId="{CE71DC2E-5525-4979-B6CC-33CC9C5CCDE8}" destId="{56308F05-9C6F-4168-94D1-139E66E21E29}" srcOrd="0" destOrd="1" presId="urn:microsoft.com/office/officeart/2005/8/layout/hList1"/>
    <dgm:cxn modelId="{975272D0-8E49-407C-BF50-D9C808514A4D}" type="presOf" srcId="{C0D8ADDD-B14C-4A4B-8F66-FA1E12F27746}" destId="{4E1C6945-3361-4332-9057-7162DBC9BE74}" srcOrd="0" destOrd="2" presId="urn:microsoft.com/office/officeart/2005/8/layout/hList1"/>
    <dgm:cxn modelId="{D5DEB2F0-BE16-44F9-82A1-3A74268E7224}" srcId="{5449751D-EB9D-4373-893A-D2F5888DB8FC}" destId="{9F607C1B-80D0-4E37-9532-5DEF8092D95F}" srcOrd="0" destOrd="0" parTransId="{129CC8E6-B479-4A11-9A5C-F331665CEF58}" sibTransId="{E389A9B5-441E-42CC-BEA3-51AA982AD6CE}"/>
    <dgm:cxn modelId="{6D0F46F1-4AC4-4736-B900-19ECDC23E479}" srcId="{640FA84E-D24C-4A71-8726-ABEBB11DBFA7}" destId="{5449751D-EB9D-4373-893A-D2F5888DB8FC}" srcOrd="1" destOrd="0" parTransId="{328CCA76-77A8-4316-A94F-1D0317492727}" sibTransId="{F6B66E90-AD5B-457C-AAB4-88F3EC4A38ED}"/>
    <dgm:cxn modelId="{AD1B10FF-C036-4E2D-81C6-4650BD7AE0A2}" srcId="{5449751D-EB9D-4373-893A-D2F5888DB8FC}" destId="{03B7B585-4274-466B-9BFA-67A3A8D9458C}" srcOrd="2" destOrd="0" parTransId="{A952DB3C-805E-4A71-8677-121621D53B56}" sibTransId="{760ED4A1-D3FB-4E3E-9FAF-B1345895BD7A}"/>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40FA84E-D24C-4A71-8726-ABEBB11DBFA7}" type="doc">
      <dgm:prSet loTypeId="urn:microsoft.com/office/officeart/2005/8/layout/hList1" loCatId="list" qsTypeId="urn:microsoft.com/office/officeart/2005/8/quickstyle/simple1" qsCatId="simple" csTypeId="urn:microsoft.com/office/officeart/2005/8/colors/colorful1#2" csCatId="colorful" phldr="1"/>
      <dgm:spPr/>
      <dgm:t>
        <a:bodyPr/>
        <a:lstStyle/>
        <a:p>
          <a:endParaRPr lang="zh-CN" altLang="en-US"/>
        </a:p>
      </dgm:t>
    </dgm:pt>
    <dgm:pt modelId="{4A67B12B-F27E-4426-AA87-6EFCC170D45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1. </a:t>
          </a:r>
          <a:r>
            <a:rPr lang="zh-CN" altLang="en-US" sz="1800" b="1" dirty="0">
              <a:latin typeface="微软雅黑 Light" panose="020B0502040204020203" pitchFamily="34" charset="-122"/>
              <a:ea typeface="微软雅黑 Light" panose="020B0502040204020203" pitchFamily="34" charset="-122"/>
            </a:rPr>
            <a:t>博客</a:t>
          </a:r>
        </a:p>
      </dgm:t>
    </dgm:pt>
    <dgm:pt modelId="{5BEE43B6-8E9E-4602-B465-7FED085A3832}" type="par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99E4612-C65B-423F-A46B-414E3F4A9548}" type="sibTrans" cxnId="{3A5BA247-2FD8-41F6-A0FA-D35ED6ABC45F}">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09A0DAAE-BBFE-4AB5-AD9D-1D5FFFFCD3E3}">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万维网日志 </a:t>
          </a:r>
          <a:r>
            <a:rPr lang="en-US" altLang="en-US" sz="1400" b="0" dirty="0">
              <a:latin typeface="Montserrat" panose="00000500000000000000" pitchFamily="2" charset="0"/>
              <a:ea typeface="微软雅黑 Light" panose="020B0502040204020203" pitchFamily="34" charset="-122"/>
            </a:rPr>
            <a:t>(weblog) </a:t>
          </a:r>
          <a:r>
            <a:rPr lang="zh-CN" altLang="en-US" sz="1400" b="0" dirty="0">
              <a:latin typeface="Montserrat" panose="00000500000000000000" pitchFamily="2" charset="0"/>
              <a:ea typeface="微软雅黑 Light" panose="020B0502040204020203" pitchFamily="34" charset="-122"/>
            </a:rPr>
            <a:t>的简称</a:t>
          </a:r>
        </a:p>
      </dgm:t>
    </dgm:pt>
    <dgm:pt modelId="{A57610D4-26F8-4604-B151-839C46B7150C}" type="par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0900141-49FB-4448-A9A4-DDD3FD4ED3EE}" type="sibTrans" cxnId="{6A610126-55CF-4099-BACD-73F722678D52}">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449751D-EB9D-4373-893A-D2F5888DB8FC}">
      <dgm:prSet phldrT="[文本]" custT="1"/>
      <dgm:spPr/>
      <dgm:t>
        <a:bodyPr/>
        <a:lstStyle/>
        <a:p>
          <a:r>
            <a:rPr lang="en-US" altLang="en-US" sz="1800" b="1" dirty="0">
              <a:latin typeface="微软雅黑 Light" panose="020B0502040204020203" pitchFamily="34" charset="-122"/>
              <a:ea typeface="微软雅黑 Light" panose="020B0502040204020203" pitchFamily="34" charset="-122"/>
            </a:rPr>
            <a:t>2. </a:t>
          </a:r>
          <a:r>
            <a:rPr lang="zh-CN" altLang="en-US" sz="1800" b="1" dirty="0">
              <a:latin typeface="微软雅黑 Light" panose="020B0502040204020203" pitchFamily="34" charset="-122"/>
              <a:ea typeface="微软雅黑 Light" panose="020B0502040204020203" pitchFamily="34" charset="-122"/>
            </a:rPr>
            <a:t>微博</a:t>
          </a:r>
        </a:p>
      </dgm:t>
    </dgm:pt>
    <dgm:pt modelId="{328CCA76-77A8-4316-A94F-1D0317492727}" type="parTrans" cxnId="{6D0F46F1-4AC4-4736-B900-19ECDC23E479}">
      <dgm:prSet/>
      <dgm:spPr/>
      <dgm:t>
        <a:bodyPr/>
        <a:lstStyle/>
        <a:p>
          <a:endParaRPr lang="zh-CN" altLang="en-US" sz="1600"/>
        </a:p>
      </dgm:t>
    </dgm:pt>
    <dgm:pt modelId="{F6B66E90-AD5B-457C-AAB4-88F3EC4A38ED}" type="sibTrans" cxnId="{6D0F46F1-4AC4-4736-B900-19ECDC23E479}">
      <dgm:prSet/>
      <dgm:spPr/>
      <dgm:t>
        <a:bodyPr/>
        <a:lstStyle/>
        <a:p>
          <a:endParaRPr lang="zh-CN" altLang="en-US" sz="1600"/>
        </a:p>
      </dgm:t>
    </dgm:pt>
    <dgm:pt modelId="{64E223BE-32F1-486C-B4B4-A6AF93F9F36C}">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使网民不仅是互联网上内容的消费者，而且还是互联网上内容的生产者</a:t>
          </a:r>
        </a:p>
      </dgm:t>
    </dgm:pt>
    <dgm:pt modelId="{5349B983-CC63-40F5-9599-070B484B227A}" type="parTrans" cxnId="{BDE0994F-91FE-4665-86F0-4A11BDE9BB10}">
      <dgm:prSet/>
      <dgm:spPr/>
      <dgm:t>
        <a:bodyPr/>
        <a:lstStyle/>
        <a:p>
          <a:endParaRPr lang="zh-CN" altLang="en-US" sz="1600"/>
        </a:p>
      </dgm:t>
    </dgm:pt>
    <dgm:pt modelId="{72B9F3AD-116E-4F82-9B5B-F5F26528299A}" type="sibTrans" cxnId="{BDE0994F-91FE-4665-86F0-4A11BDE9BB10}">
      <dgm:prSet/>
      <dgm:spPr/>
      <dgm:t>
        <a:bodyPr/>
        <a:lstStyle/>
        <a:p>
          <a:endParaRPr lang="zh-CN" altLang="en-US" sz="1600"/>
        </a:p>
      </dgm:t>
    </dgm:pt>
    <dgm:pt modelId="{A63C9B60-172B-4DC9-9A5C-1AEAC4875897}">
      <dgm:prSet phldrT="[文本]"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微型博客 </a:t>
          </a:r>
          <a:r>
            <a:rPr lang="en-US" altLang="en-US" sz="1400" b="0" dirty="0">
              <a:latin typeface="Montserrat" panose="00000500000000000000" pitchFamily="2" charset="0"/>
              <a:ea typeface="微软雅黑 Light" panose="020B0502040204020203" pitchFamily="34" charset="-122"/>
            </a:rPr>
            <a:t>(microblog)</a:t>
          </a:r>
          <a:r>
            <a:rPr lang="zh-CN" altLang="en-US" sz="1400" b="0" dirty="0">
              <a:latin typeface="Montserrat" panose="00000500000000000000" pitchFamily="2" charset="0"/>
              <a:ea typeface="微软雅黑 Light" panose="020B0502040204020203" pitchFamily="34" charset="-122"/>
            </a:rPr>
            <a:t>，又称为微博客</a:t>
          </a:r>
        </a:p>
      </dgm:t>
    </dgm:pt>
    <dgm:pt modelId="{6EEAD8AA-246A-4E0F-B3B7-C0CC12FB0CB7}" type="parTrans" cxnId="{DF1AD42E-CB2D-42D1-B825-99E8FC2086F1}">
      <dgm:prSet/>
      <dgm:spPr/>
      <dgm:t>
        <a:bodyPr/>
        <a:lstStyle/>
        <a:p>
          <a:endParaRPr lang="zh-CN" altLang="en-US" sz="1600"/>
        </a:p>
      </dgm:t>
    </dgm:pt>
    <dgm:pt modelId="{7E736B33-8943-43C4-8301-E5C19CBA7CE8}" type="sibTrans" cxnId="{DF1AD42E-CB2D-42D1-B825-99E8FC2086F1}">
      <dgm:prSet/>
      <dgm:spPr/>
      <dgm:t>
        <a:bodyPr/>
        <a:lstStyle/>
        <a:p>
          <a:endParaRPr lang="zh-CN" altLang="en-US" sz="1600"/>
        </a:p>
      </dgm:t>
    </dgm:pt>
    <dgm:pt modelId="{C4C756D0-11A8-4F58-ADD6-109F69DB6D46}">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dgm:t>
    </dgm:pt>
    <dgm:pt modelId="{D683D10C-57AB-4C10-9769-DBF4097AA893}" type="parTrans" cxnId="{4638EDD7-45CD-4B25-8286-1B7EF72C1585}">
      <dgm:prSet/>
      <dgm:spPr/>
      <dgm:t>
        <a:bodyPr/>
        <a:lstStyle/>
        <a:p>
          <a:endParaRPr lang="zh-CN" altLang="en-US" sz="1600"/>
        </a:p>
      </dgm:t>
    </dgm:pt>
    <dgm:pt modelId="{86F29A84-6C15-4571-8FF5-B3A5C153DFAD}" type="sibTrans" cxnId="{4638EDD7-45CD-4B25-8286-1B7EF72C1585}">
      <dgm:prSet/>
      <dgm:spPr/>
      <dgm:t>
        <a:bodyPr/>
        <a:lstStyle/>
        <a:p>
          <a:endParaRPr lang="zh-CN" altLang="en-US" sz="1600"/>
        </a:p>
      </dgm:t>
    </dgm:pt>
    <dgm:pt modelId="{7CCBB12D-9E4D-487D-8378-589BB6565FF3}">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是一种互动及传播性极快的工具</a:t>
          </a:r>
        </a:p>
      </dgm:t>
    </dgm:pt>
    <dgm:pt modelId="{293005E5-8ACC-47EE-A886-CF5964C56A19}" type="parTrans" cxnId="{759464FF-C27D-425C-96F3-EEC7F1676B35}">
      <dgm:prSet/>
      <dgm:spPr/>
      <dgm:t>
        <a:bodyPr/>
        <a:lstStyle/>
        <a:p>
          <a:endParaRPr lang="zh-CN" altLang="en-US" sz="1600"/>
        </a:p>
      </dgm:t>
    </dgm:pt>
    <dgm:pt modelId="{E387F7B8-20A7-4DEA-856A-6B567157E9D8}" type="sibTrans" cxnId="{759464FF-C27D-425C-96F3-EEC7F1676B35}">
      <dgm:prSet/>
      <dgm:spPr/>
      <dgm:t>
        <a:bodyPr/>
        <a:lstStyle/>
        <a:p>
          <a:endParaRPr lang="zh-CN" altLang="en-US" sz="1600"/>
        </a:p>
      </dgm:t>
    </dgm:pt>
    <dgm:pt modelId="{FD7B538E-BA8B-4398-A456-7F49453E20B7}">
      <dgm:prSet custT="1"/>
      <dgm:spPr>
        <a:noFill/>
      </dgm:spPr>
      <dgm:t>
        <a:bodyPr/>
        <a:lstStyle/>
        <a:p>
          <a:pPr algn="just"/>
          <a:r>
            <a:rPr lang="zh-CN" altLang="en-US" sz="1400" b="0" dirty="0">
              <a:latin typeface="Montserrat" panose="00000500000000000000" pitchFamily="2" charset="0"/>
              <a:ea typeface="微软雅黑 Light" panose="020B0502040204020203" pitchFamily="34" charset="-122"/>
            </a:rPr>
            <a:t>开通的多种 </a:t>
          </a:r>
          <a:r>
            <a:rPr lang="en-US" altLang="en-US" sz="1400" b="0" dirty="0">
              <a:latin typeface="Montserrat" panose="00000500000000000000" pitchFamily="2" charset="0"/>
              <a:ea typeface="微软雅黑 Light" panose="020B0502040204020203" pitchFamily="34" charset="-122"/>
            </a:rPr>
            <a:t>API </a:t>
          </a:r>
          <a:r>
            <a:rPr lang="zh-CN" altLang="en-US" sz="1400" b="0" dirty="0">
              <a:latin typeface="Montserrat" panose="00000500000000000000" pitchFamily="2" charset="0"/>
              <a:ea typeface="微软雅黑 Light" panose="020B0502040204020203" pitchFamily="34" charset="-122"/>
            </a:rPr>
            <a:t>使用户可通过手机、网络等方式即时更新自己的信息</a:t>
          </a:r>
        </a:p>
      </dgm:t>
    </dgm:pt>
    <dgm:pt modelId="{9D640870-A10C-44BF-9CD5-3CDCBF003B8C}" type="parTrans" cxnId="{B753547C-2B29-4B1B-A72E-60EA9B6F6E91}">
      <dgm:prSet/>
      <dgm:spPr/>
      <dgm:t>
        <a:bodyPr/>
        <a:lstStyle/>
        <a:p>
          <a:endParaRPr lang="zh-CN" altLang="en-US" sz="1600"/>
        </a:p>
      </dgm:t>
    </dgm:pt>
    <dgm:pt modelId="{2E9E6DAA-946C-403F-87E2-162E0AACC27A}" type="sibTrans" cxnId="{B753547C-2B29-4B1B-A72E-60EA9B6F6E91}">
      <dgm:prSet/>
      <dgm:spPr/>
      <dgm:t>
        <a:bodyPr/>
        <a:lstStyle/>
        <a:p>
          <a:endParaRPr lang="zh-CN" altLang="en-US" sz="1600"/>
        </a:p>
      </dgm:t>
    </dgm:pt>
    <dgm:pt modelId="{18114A28-018D-44D7-AF7A-D60D965430EC}" type="pres">
      <dgm:prSet presAssocID="{640FA84E-D24C-4A71-8726-ABEBB11DBFA7}" presName="Name0" presStyleCnt="0">
        <dgm:presLayoutVars>
          <dgm:dir/>
          <dgm:animLvl val="lvl"/>
          <dgm:resizeHandles val="exact"/>
        </dgm:presLayoutVars>
      </dgm:prSet>
      <dgm:spPr/>
    </dgm:pt>
    <dgm:pt modelId="{655DEBF3-4B57-4FEF-858C-B45140B250AD}" type="pres">
      <dgm:prSet presAssocID="{4A67B12B-F27E-4426-AA87-6EFCC170D45C}" presName="composite" presStyleCnt="0"/>
      <dgm:spPr/>
    </dgm:pt>
    <dgm:pt modelId="{73F60847-C5CB-4E1F-92CA-969FDFBB52DB}" type="pres">
      <dgm:prSet presAssocID="{4A67B12B-F27E-4426-AA87-6EFCC170D45C}" presName="parTx" presStyleLbl="alignNode1" presStyleIdx="0" presStyleCnt="2">
        <dgm:presLayoutVars>
          <dgm:chMax val="0"/>
          <dgm:chPref val="0"/>
          <dgm:bulletEnabled val="1"/>
        </dgm:presLayoutVars>
      </dgm:prSet>
      <dgm:spPr/>
    </dgm:pt>
    <dgm:pt modelId="{4E1C6945-3361-4332-9057-7162DBC9BE74}" type="pres">
      <dgm:prSet presAssocID="{4A67B12B-F27E-4426-AA87-6EFCC170D45C}" presName="desTx" presStyleLbl="alignAccFollowNode1" presStyleIdx="0" presStyleCnt="2">
        <dgm:presLayoutVars>
          <dgm:bulletEnabled val="1"/>
        </dgm:presLayoutVars>
      </dgm:prSet>
      <dgm:spPr/>
    </dgm:pt>
    <dgm:pt modelId="{34F180CF-8913-440D-869F-709B62B80AEA}" type="pres">
      <dgm:prSet presAssocID="{D99E4612-C65B-423F-A46B-414E3F4A9548}" presName="space" presStyleCnt="0"/>
      <dgm:spPr/>
    </dgm:pt>
    <dgm:pt modelId="{AB71EA2A-E790-4838-8A47-6BD6BF1916C4}" type="pres">
      <dgm:prSet presAssocID="{5449751D-EB9D-4373-893A-D2F5888DB8FC}" presName="composite" presStyleCnt="0"/>
      <dgm:spPr/>
    </dgm:pt>
    <dgm:pt modelId="{68DA0B6D-3EBF-4324-92AB-1CC040E6E5B2}" type="pres">
      <dgm:prSet presAssocID="{5449751D-EB9D-4373-893A-D2F5888DB8FC}" presName="parTx" presStyleLbl="alignNode1" presStyleIdx="1" presStyleCnt="2">
        <dgm:presLayoutVars>
          <dgm:chMax val="0"/>
          <dgm:chPref val="0"/>
          <dgm:bulletEnabled val="1"/>
        </dgm:presLayoutVars>
      </dgm:prSet>
      <dgm:spPr/>
    </dgm:pt>
    <dgm:pt modelId="{56308F05-9C6F-4168-94D1-139E66E21E29}" type="pres">
      <dgm:prSet presAssocID="{5449751D-EB9D-4373-893A-D2F5888DB8FC}" presName="desTx" presStyleLbl="alignAccFollowNode1" presStyleIdx="1" presStyleCnt="2">
        <dgm:presLayoutVars>
          <dgm:bulletEnabled val="1"/>
        </dgm:presLayoutVars>
      </dgm:prSet>
      <dgm:spPr/>
    </dgm:pt>
  </dgm:ptLst>
  <dgm:cxnLst>
    <dgm:cxn modelId="{9EC04E04-7BBD-42A1-AFF5-CDFF6F65FF51}" type="presOf" srcId="{4A67B12B-F27E-4426-AA87-6EFCC170D45C}" destId="{73F60847-C5CB-4E1F-92CA-969FDFBB52DB}" srcOrd="0" destOrd="0" presId="urn:microsoft.com/office/officeart/2005/8/layout/hList1"/>
    <dgm:cxn modelId="{7D5A0A0D-4290-4EEE-BE5D-94B3943B33FB}" type="presOf" srcId="{64E223BE-32F1-486C-B4B4-A6AF93F9F36C}" destId="{4E1C6945-3361-4332-9057-7162DBC9BE74}" srcOrd="0" destOrd="1" presId="urn:microsoft.com/office/officeart/2005/8/layout/hList1"/>
    <dgm:cxn modelId="{6A610126-55CF-4099-BACD-73F722678D52}" srcId="{4A67B12B-F27E-4426-AA87-6EFCC170D45C}" destId="{09A0DAAE-BBFE-4AB5-AD9D-1D5FFFFCD3E3}" srcOrd="0" destOrd="0" parTransId="{A57610D4-26F8-4604-B151-839C46B7150C}" sibTransId="{40900141-49FB-4448-A9A4-DDD3FD4ED3EE}"/>
    <dgm:cxn modelId="{459C802C-FBE1-44FB-907E-8CB3451091E5}" type="presOf" srcId="{FD7B538E-BA8B-4398-A456-7F49453E20B7}" destId="{56308F05-9C6F-4168-94D1-139E66E21E29}" srcOrd="0" destOrd="2" presId="urn:microsoft.com/office/officeart/2005/8/layout/hList1"/>
    <dgm:cxn modelId="{DF1AD42E-CB2D-42D1-B825-99E8FC2086F1}" srcId="{5449751D-EB9D-4373-893A-D2F5888DB8FC}" destId="{A63C9B60-172B-4DC9-9A5C-1AEAC4875897}" srcOrd="0" destOrd="0" parTransId="{6EEAD8AA-246A-4E0F-B3B7-C0CC12FB0CB7}" sibTransId="{7E736B33-8943-43C4-8301-E5C19CBA7CE8}"/>
    <dgm:cxn modelId="{3A5BA247-2FD8-41F6-A0FA-D35ED6ABC45F}" srcId="{640FA84E-D24C-4A71-8726-ABEBB11DBFA7}" destId="{4A67B12B-F27E-4426-AA87-6EFCC170D45C}" srcOrd="0" destOrd="0" parTransId="{5BEE43B6-8E9E-4602-B465-7FED085A3832}" sibTransId="{D99E4612-C65B-423F-A46B-414E3F4A9548}"/>
    <dgm:cxn modelId="{8551894B-0E24-43B6-ADCF-1077DF74389C}" type="presOf" srcId="{A63C9B60-172B-4DC9-9A5C-1AEAC4875897}" destId="{56308F05-9C6F-4168-94D1-139E66E21E29}" srcOrd="0" destOrd="0" presId="urn:microsoft.com/office/officeart/2005/8/layout/hList1"/>
    <dgm:cxn modelId="{BDE0994F-91FE-4665-86F0-4A11BDE9BB10}" srcId="{4A67B12B-F27E-4426-AA87-6EFCC170D45C}" destId="{64E223BE-32F1-486C-B4B4-A6AF93F9F36C}" srcOrd="1" destOrd="0" parTransId="{5349B983-CC63-40F5-9599-070B484B227A}" sibTransId="{72B9F3AD-116E-4F82-9B5B-F5F26528299A}"/>
    <dgm:cxn modelId="{B96D9B56-5617-48F7-B19C-343E3F206AA8}" type="presOf" srcId="{5449751D-EB9D-4373-893A-D2F5888DB8FC}" destId="{68DA0B6D-3EBF-4324-92AB-1CC040E6E5B2}" srcOrd="0" destOrd="0" presId="urn:microsoft.com/office/officeart/2005/8/layout/hList1"/>
    <dgm:cxn modelId="{B753547C-2B29-4B1B-A72E-60EA9B6F6E91}" srcId="{5449751D-EB9D-4373-893A-D2F5888DB8FC}" destId="{FD7B538E-BA8B-4398-A456-7F49453E20B7}" srcOrd="2" destOrd="0" parTransId="{9D640870-A10C-44BF-9CD5-3CDCBF003B8C}" sibTransId="{2E9E6DAA-946C-403F-87E2-162E0AACC27A}"/>
    <dgm:cxn modelId="{424DF999-509C-4CBE-938B-E6AB41036969}" type="presOf" srcId="{09A0DAAE-BBFE-4AB5-AD9D-1D5FFFFCD3E3}" destId="{4E1C6945-3361-4332-9057-7162DBC9BE74}" srcOrd="0" destOrd="0" presId="urn:microsoft.com/office/officeart/2005/8/layout/hList1"/>
    <dgm:cxn modelId="{ACC7B2A1-17E2-4C23-B541-224E817BA20C}" type="presOf" srcId="{C4C756D0-11A8-4F58-ADD6-109F69DB6D46}" destId="{56308F05-9C6F-4168-94D1-139E66E21E29}" srcOrd="0" destOrd="1" presId="urn:microsoft.com/office/officeart/2005/8/layout/hList1"/>
    <dgm:cxn modelId="{66F6AFA8-7EFE-4A43-9A3D-72A92C3E3AC0}" type="presOf" srcId="{640FA84E-D24C-4A71-8726-ABEBB11DBFA7}" destId="{18114A28-018D-44D7-AF7A-D60D965430EC}" srcOrd="0" destOrd="0" presId="urn:microsoft.com/office/officeart/2005/8/layout/hList1"/>
    <dgm:cxn modelId="{4638EDD7-45CD-4B25-8286-1B7EF72C1585}" srcId="{5449751D-EB9D-4373-893A-D2F5888DB8FC}" destId="{C4C756D0-11A8-4F58-ADD6-109F69DB6D46}" srcOrd="1" destOrd="0" parTransId="{D683D10C-57AB-4C10-9769-DBF4097AA893}" sibTransId="{86F29A84-6C15-4571-8FF5-B3A5C153DFAD}"/>
    <dgm:cxn modelId="{F55C9EEB-F37C-4E56-889B-76432DD5F50F}" type="presOf" srcId="{7CCBB12D-9E4D-487D-8378-589BB6565FF3}" destId="{56308F05-9C6F-4168-94D1-139E66E21E29}" srcOrd="0" destOrd="3" presId="urn:microsoft.com/office/officeart/2005/8/layout/hList1"/>
    <dgm:cxn modelId="{6D0F46F1-4AC4-4736-B900-19ECDC23E479}" srcId="{640FA84E-D24C-4A71-8726-ABEBB11DBFA7}" destId="{5449751D-EB9D-4373-893A-D2F5888DB8FC}" srcOrd="1" destOrd="0" parTransId="{328CCA76-77A8-4316-A94F-1D0317492727}" sibTransId="{F6B66E90-AD5B-457C-AAB4-88F3EC4A38ED}"/>
    <dgm:cxn modelId="{759464FF-C27D-425C-96F3-EEC7F1676B35}" srcId="{5449751D-EB9D-4373-893A-D2F5888DB8FC}" destId="{7CCBB12D-9E4D-487D-8378-589BB6565FF3}" srcOrd="3" destOrd="0" parTransId="{293005E5-8ACC-47EE-A886-CF5964C56A19}" sibTransId="{E387F7B8-20A7-4DEA-856A-6B567157E9D8}"/>
    <dgm:cxn modelId="{E9FE9383-E800-431A-8C49-E98798F5C705}" type="presParOf" srcId="{18114A28-018D-44D7-AF7A-D60D965430EC}" destId="{655DEBF3-4B57-4FEF-858C-B45140B250AD}" srcOrd="0" destOrd="0" presId="urn:microsoft.com/office/officeart/2005/8/layout/hList1"/>
    <dgm:cxn modelId="{584BDA81-8B5F-4879-AFA7-79C94CDB8406}" type="presParOf" srcId="{655DEBF3-4B57-4FEF-858C-B45140B250AD}" destId="{73F60847-C5CB-4E1F-92CA-969FDFBB52DB}" srcOrd="0" destOrd="0" presId="urn:microsoft.com/office/officeart/2005/8/layout/hList1"/>
    <dgm:cxn modelId="{DC05DAA2-3500-4464-8B3C-A76B0510AC1F}" type="presParOf" srcId="{655DEBF3-4B57-4FEF-858C-B45140B250AD}" destId="{4E1C6945-3361-4332-9057-7162DBC9BE74}" srcOrd="1" destOrd="0" presId="urn:microsoft.com/office/officeart/2005/8/layout/hList1"/>
    <dgm:cxn modelId="{7E1EC5E9-90F5-4F62-9057-347ECA9D79F3}" type="presParOf" srcId="{18114A28-018D-44D7-AF7A-D60D965430EC}" destId="{34F180CF-8913-440D-869F-709B62B80AEA}" srcOrd="1" destOrd="0" presId="urn:microsoft.com/office/officeart/2005/8/layout/hList1"/>
    <dgm:cxn modelId="{36146050-84B8-42A0-BFAE-9BCEB0C1A1F9}" type="presParOf" srcId="{18114A28-018D-44D7-AF7A-D60D965430EC}" destId="{AB71EA2A-E790-4838-8A47-6BD6BF1916C4}" srcOrd="2" destOrd="0" presId="urn:microsoft.com/office/officeart/2005/8/layout/hList1"/>
    <dgm:cxn modelId="{6ABD188A-18F6-43A0-9380-80D95FA81564}" type="presParOf" srcId="{AB71EA2A-E790-4838-8A47-6BD6BF1916C4}" destId="{68DA0B6D-3EBF-4324-92AB-1CC040E6E5B2}" srcOrd="0" destOrd="0" presId="urn:microsoft.com/office/officeart/2005/8/layout/hList1"/>
    <dgm:cxn modelId="{23CA8CD7-F317-4CBF-8583-030B15C75F34}" type="presParOf" srcId="{AB71EA2A-E790-4838-8A47-6BD6BF1916C4}" destId="{56308F05-9C6F-4168-94D1-139E66E21E29}" srcOrd="1" destOrd="0" presId="urn:microsoft.com/office/officeart/2005/8/layout/hList1"/>
  </dgm:cxnLst>
  <dgm:bg>
    <a:noFill/>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1">
                <a:hueOff val="0"/>
                <a:satOff val="0"/>
                <a:lumOff val="0"/>
                <a:alphaOff val="0"/>
                <a:tint val="50000"/>
                <a:satMod val="300000"/>
              </a:schemeClr>
            </a:gs>
            <a:gs pos="35000">
              <a:schemeClr val="accent1">
                <a:hueOff val="0"/>
                <a:satOff val="0"/>
                <a:lumOff val="0"/>
                <a:alphaOff val="0"/>
                <a:tint val="37000"/>
                <a:satMod val="300000"/>
              </a:schemeClr>
            </a:gs>
            <a:gs pos="100000">
              <a:schemeClr val="accent1">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不同于网络应用</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sz="1400" b="0" kern="1200" dirty="0">
              <a:latin typeface="Montserrat" panose="00000500000000000000" pitchFamily="2" charset="0"/>
              <a:ea typeface="微软雅黑 Light" panose="020B0502040204020203" pitchFamily="34" charset="-122"/>
            </a:rPr>
            <a:t>万维网</a:t>
          </a:r>
          <a:endParaRPr lang="en-US" altLang="zh-CN" sz="1400" b="0" kern="1200" dirty="0">
            <a:latin typeface="Montserrat" panose="00000500000000000000" pitchFamily="2" charset="0"/>
            <a:ea typeface="微软雅黑 Light" panose="020B0502040204020203" pitchFamily="34" charset="-122"/>
          </a:endParaRP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电子邮件</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文件传输</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3">
                <a:hueOff val="0"/>
                <a:satOff val="0"/>
                <a:lumOff val="0"/>
                <a:alphaOff val="0"/>
                <a:tint val="50000"/>
                <a:satMod val="300000"/>
              </a:schemeClr>
            </a:gs>
            <a:gs pos="35000">
              <a:schemeClr val="accent3">
                <a:hueOff val="0"/>
                <a:satOff val="0"/>
                <a:lumOff val="0"/>
                <a:alphaOff val="0"/>
                <a:tint val="37000"/>
                <a:satMod val="300000"/>
              </a:schemeClr>
            </a:gs>
            <a:gs pos="100000">
              <a:schemeClr val="accent3">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sz="1400" b="0" kern="1200" dirty="0">
              <a:latin typeface="Montserrat" panose="00000500000000000000" pitchFamily="2" charset="0"/>
              <a:ea typeface="微软雅黑 Light" panose="020B0502040204020203" pitchFamily="34" charset="-122"/>
            </a:rPr>
            <a:t>HTTP</a:t>
          </a:r>
          <a:endParaRPr lang="en-US" altLang="zh-CN" sz="1400" b="0" kern="1200" dirty="0">
            <a:latin typeface="Montserrat" panose="00000500000000000000" pitchFamily="2" charset="0"/>
            <a:ea typeface="微软雅黑 Light" panose="020B0502040204020203" pitchFamily="34" charset="-122"/>
          </a:endParaRP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SMTP</a:t>
          </a:r>
          <a:r>
            <a:rPr lang="zh-CN" altLang="en-US" sz="1400" b="0" kern="1200" dirty="0">
              <a:latin typeface="Montserrat" panose="00000500000000000000" pitchFamily="2" charset="0"/>
              <a:ea typeface="微软雅黑 Light" panose="020B0502040204020203" pitchFamily="34" charset="-122"/>
            </a:rPr>
            <a:t>，</a:t>
          </a:r>
          <a:r>
            <a:rPr lang="en-US" altLang="zh-CN" sz="1400" b="0" kern="1200" dirty="0">
              <a:latin typeface="Montserrat" panose="00000500000000000000" pitchFamily="2" charset="0"/>
              <a:ea typeface="微软雅黑 Light" panose="020B0502040204020203" pitchFamily="34" charset="-122"/>
            </a:rPr>
            <a:t>POP3</a:t>
          </a:r>
          <a:endParaRPr lang="zh-CN" altLang="en-US" sz="1400" b="0" kern="1200" dirty="0">
            <a:latin typeface="Montserrat" panose="00000500000000000000" pitchFamily="2" charset="0"/>
            <a:ea typeface="微软雅黑 Light" panose="020B0502040204020203" pitchFamily="34" charset="-122"/>
          </a:endParaRP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en-US" altLang="zh-CN" sz="1400" b="0" kern="1200" dirty="0">
              <a:latin typeface="Montserrat" panose="00000500000000000000" pitchFamily="2" charset="0"/>
              <a:ea typeface="微软雅黑 Light" panose="020B0502040204020203" pitchFamily="34" charset="-122"/>
            </a:rPr>
            <a:t>FTP</a:t>
          </a:r>
          <a:endParaRPr lang="zh-CN" altLang="en-US" sz="1400" b="0" kern="1200" dirty="0">
            <a:latin typeface="Montserrat" panose="00000500000000000000" pitchFamily="2" charset="0"/>
            <a:ea typeface="微软雅黑 Light" panose="020B0502040204020203" pitchFamily="34" charset="-122"/>
          </a:endParaRPr>
        </a:p>
      </dsp:txBody>
      <dsp:txXfrm>
        <a:off x="1992007" y="1273099"/>
        <a:ext cx="1808551" cy="30570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908BCB8-DE9B-4BF1-8D07-3A3FD24C7968}">
      <dsp:nvSpPr>
        <dsp:cNvPr id="0" name=""/>
        <dsp:cNvSpPr/>
      </dsp:nvSpPr>
      <dsp:spPr>
        <a:xfrm>
          <a:off x="1406" y="785"/>
          <a:ext cx="3808663" cy="482503"/>
        </a:xfrm>
        <a:prstGeom prst="roundRect">
          <a:avLst>
            <a:gd name="adj" fmla="val 10000"/>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zh-CN" altLang="en-US" sz="1600" b="0" kern="1200" dirty="0">
              <a:latin typeface="Montserrat" panose="00000500000000000000" pitchFamily="2" charset="0"/>
              <a:ea typeface="微软雅黑 Light" panose="020B0502040204020203" pitchFamily="34" charset="-122"/>
            </a:rPr>
            <a:t>许多都基于客户</a:t>
          </a:r>
          <a:r>
            <a:rPr lang="en-US" altLang="zh-CN" sz="1600" b="0" kern="1200" dirty="0">
              <a:latin typeface="Montserrat" panose="00000500000000000000" pitchFamily="2" charset="0"/>
              <a:ea typeface="微软雅黑 Light" panose="020B0502040204020203" pitchFamily="34" charset="-122"/>
            </a:rPr>
            <a:t>/</a:t>
          </a:r>
          <a:r>
            <a:rPr lang="zh-CN" altLang="en-US" sz="1600" b="0" kern="1200" dirty="0">
              <a:latin typeface="Montserrat" panose="00000500000000000000" pitchFamily="2" charset="0"/>
              <a:ea typeface="微软雅黑 Light" panose="020B0502040204020203" pitchFamily="34" charset="-122"/>
            </a:rPr>
            <a:t>服务器 </a:t>
          </a:r>
          <a:r>
            <a:rPr lang="en-US" altLang="zh-CN" sz="1600" b="0" kern="1200" dirty="0">
              <a:latin typeface="Montserrat" panose="00000500000000000000" pitchFamily="2" charset="0"/>
              <a:ea typeface="微软雅黑 Light" panose="020B0502040204020203" pitchFamily="34" charset="-122"/>
            </a:rPr>
            <a:t>C/S </a:t>
          </a:r>
          <a:r>
            <a:rPr lang="zh-CN" altLang="en-US" sz="1600" b="0" kern="1200" dirty="0">
              <a:latin typeface="Montserrat" panose="00000500000000000000" pitchFamily="2" charset="0"/>
              <a:ea typeface="微软雅黑 Light" panose="020B0502040204020203" pitchFamily="34" charset="-122"/>
            </a:rPr>
            <a:t>方式</a:t>
          </a:r>
        </a:p>
      </dsp:txBody>
      <dsp:txXfrm>
        <a:off x="15538" y="14917"/>
        <a:ext cx="3780399" cy="454239"/>
      </dsp:txXfrm>
    </dsp:sp>
    <dsp:sp modelId="{F381CC4E-322C-45E6-B7E7-4ED70FA8CF2E}">
      <dsp:nvSpPr>
        <dsp:cNvPr id="0" name=""/>
        <dsp:cNvSpPr/>
      </dsp:nvSpPr>
      <dsp:spPr>
        <a:xfrm>
          <a:off x="140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客户 </a:t>
          </a:r>
          <a:r>
            <a:rPr lang="en-US" altLang="zh-CN" sz="1400" b="0" kern="1200" dirty="0">
              <a:latin typeface="Montserrat" panose="00000500000000000000" pitchFamily="2" charset="0"/>
              <a:ea typeface="微软雅黑 Light" panose="020B0502040204020203" pitchFamily="34" charset="-122"/>
            </a:rPr>
            <a:t>Client</a:t>
          </a:r>
        </a:p>
      </dsp:txBody>
      <dsp:txXfrm>
        <a:off x="10917" y="536416"/>
        <a:ext cx="1808551" cy="305703"/>
      </dsp:txXfrm>
    </dsp:sp>
    <dsp:sp modelId="{49899EA7-F8C0-4BB7-A6AD-5F40B1731420}">
      <dsp:nvSpPr>
        <dsp:cNvPr id="0" name=""/>
        <dsp:cNvSpPr/>
      </dsp:nvSpPr>
      <dsp:spPr>
        <a:xfrm>
          <a:off x="140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zh-CN" sz="1400" b="0" kern="1200" dirty="0">
              <a:latin typeface="Montserrat" panose="00000500000000000000" pitchFamily="2" charset="0"/>
              <a:ea typeface="微软雅黑 Light" panose="020B0502040204020203" pitchFamily="34" charset="-122"/>
            </a:rPr>
            <a:t>服务请求方</a:t>
          </a:r>
          <a:endParaRPr lang="en-US" altLang="zh-CN" sz="1400" b="0" kern="1200" dirty="0">
            <a:latin typeface="Montserrat" panose="00000500000000000000" pitchFamily="2" charset="0"/>
            <a:ea typeface="微软雅黑 Light" panose="020B0502040204020203" pitchFamily="34" charset="-122"/>
          </a:endParaRPr>
        </a:p>
      </dsp:txBody>
      <dsp:txXfrm>
        <a:off x="10917" y="904757"/>
        <a:ext cx="1808551" cy="305703"/>
      </dsp:txXfrm>
    </dsp:sp>
    <dsp:sp modelId="{D772C529-9144-4F64-AC62-C41998E87A93}">
      <dsp:nvSpPr>
        <dsp:cNvPr id="0" name=""/>
        <dsp:cNvSpPr/>
      </dsp:nvSpPr>
      <dsp:spPr>
        <a:xfrm>
          <a:off x="140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endParaRPr lang="en-US" altLang="zh-CN" sz="1400" b="0" kern="1200" dirty="0">
            <a:latin typeface="Montserrat" panose="00000500000000000000" pitchFamily="2" charset="0"/>
            <a:ea typeface="微软雅黑 Light" panose="020B0502040204020203" pitchFamily="34" charset="-122"/>
          </a:endParaRPr>
        </a:p>
      </dsp:txBody>
      <dsp:txXfrm>
        <a:off x="10917" y="1273099"/>
        <a:ext cx="1808551" cy="305703"/>
      </dsp:txXfrm>
    </dsp:sp>
    <dsp:sp modelId="{1F36E606-4D05-483A-959D-7AFAA3F99964}">
      <dsp:nvSpPr>
        <dsp:cNvPr id="0" name=""/>
        <dsp:cNvSpPr/>
      </dsp:nvSpPr>
      <dsp:spPr>
        <a:xfrm>
          <a:off x="1982496" y="526905"/>
          <a:ext cx="1827573" cy="324725"/>
        </a:xfrm>
        <a:prstGeom prst="roundRect">
          <a:avLst>
            <a:gd name="adj" fmla="val 10000"/>
          </a:avLst>
        </a:prstGeom>
        <a:gradFill rotWithShape="0">
          <a:gsLst>
            <a:gs pos="0">
              <a:schemeClr val="accent4">
                <a:hueOff val="0"/>
                <a:satOff val="0"/>
                <a:lumOff val="0"/>
                <a:alphaOff val="0"/>
                <a:tint val="50000"/>
                <a:satMod val="300000"/>
              </a:schemeClr>
            </a:gs>
            <a:gs pos="35000">
              <a:schemeClr val="accent4">
                <a:hueOff val="0"/>
                <a:satOff val="0"/>
                <a:lumOff val="0"/>
                <a:alphaOff val="0"/>
                <a:tint val="37000"/>
                <a:satMod val="300000"/>
              </a:schemeClr>
            </a:gs>
            <a:gs pos="100000">
              <a:schemeClr val="accent4">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服务器 </a:t>
          </a:r>
          <a:r>
            <a:rPr lang="en-US" altLang="zh-CN" sz="1400" b="0" kern="1200" dirty="0">
              <a:latin typeface="Montserrat" panose="00000500000000000000" pitchFamily="2" charset="0"/>
              <a:ea typeface="微软雅黑 Light" panose="020B0502040204020203" pitchFamily="34" charset="-122"/>
            </a:rPr>
            <a:t>Server</a:t>
          </a:r>
        </a:p>
      </dsp:txBody>
      <dsp:txXfrm>
        <a:off x="1992007" y="536416"/>
        <a:ext cx="1808551" cy="305703"/>
      </dsp:txXfrm>
    </dsp:sp>
    <dsp:sp modelId="{07CD9CA8-8213-4B82-96DE-5A2E23AB39DC}">
      <dsp:nvSpPr>
        <dsp:cNvPr id="0" name=""/>
        <dsp:cNvSpPr/>
      </dsp:nvSpPr>
      <dsp:spPr>
        <a:xfrm>
          <a:off x="1982496" y="895246"/>
          <a:ext cx="1827573" cy="324725"/>
        </a:xfrm>
        <a:prstGeom prst="roundRect">
          <a:avLst>
            <a:gd name="adj" fmla="val 10000"/>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服务提供方</a:t>
          </a:r>
        </a:p>
      </dsp:txBody>
      <dsp:txXfrm>
        <a:off x="1992007" y="904757"/>
        <a:ext cx="1808551" cy="305703"/>
      </dsp:txXfrm>
    </dsp:sp>
    <dsp:sp modelId="{629FD194-4F20-42AB-A0D3-D63455B286FC}">
      <dsp:nvSpPr>
        <dsp:cNvPr id="0" name=""/>
        <dsp:cNvSpPr/>
      </dsp:nvSpPr>
      <dsp:spPr>
        <a:xfrm>
          <a:off x="1982496" y="1263588"/>
          <a:ext cx="1827573" cy="324725"/>
        </a:xfrm>
        <a:prstGeom prst="roundRect">
          <a:avLst>
            <a:gd name="adj" fmla="val 10000"/>
          </a:avLst>
        </a:prstGeom>
        <a:gradFill rotWithShape="0">
          <a:gsLst>
            <a:gs pos="0">
              <a:schemeClr val="accent6">
                <a:hueOff val="0"/>
                <a:satOff val="0"/>
                <a:lumOff val="0"/>
                <a:alphaOff val="0"/>
                <a:tint val="50000"/>
                <a:satMod val="300000"/>
              </a:schemeClr>
            </a:gs>
            <a:gs pos="35000">
              <a:schemeClr val="accent6">
                <a:hueOff val="0"/>
                <a:satOff val="0"/>
                <a:lumOff val="0"/>
                <a:alphaOff val="0"/>
                <a:tint val="37000"/>
                <a:satMod val="300000"/>
              </a:schemeClr>
            </a:gs>
            <a:gs pos="100000">
              <a:schemeClr val="accent6">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ts val="0"/>
            </a:spcAft>
            <a:buNone/>
          </a:pPr>
          <a:r>
            <a:rPr lang="zh-CN" altLang="en-US" sz="1400" b="0" kern="1200" dirty="0">
              <a:latin typeface="Montserrat" panose="00000500000000000000" pitchFamily="2" charset="0"/>
              <a:ea typeface="微软雅黑 Light" panose="020B0502040204020203" pitchFamily="34" charset="-122"/>
            </a:rPr>
            <a:t>应用进程</a:t>
          </a:r>
        </a:p>
      </dsp:txBody>
      <dsp:txXfrm>
        <a:off x="1992007" y="1273099"/>
        <a:ext cx="1808551" cy="30570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D69D0B0-1884-46A2-8F10-145B05B89842}">
      <dsp:nvSpPr>
        <dsp:cNvPr id="0" name=""/>
        <dsp:cNvSpPr/>
      </dsp:nvSpPr>
      <dsp:spPr>
        <a:xfrm>
          <a:off x="39" y="13657"/>
          <a:ext cx="3818864" cy="691200"/>
        </a:xfrm>
        <a:prstGeom prst="rect">
          <a:avLst/>
        </a:prstGeom>
        <a:solidFill>
          <a:schemeClr val="accent4">
            <a:hueOff val="0"/>
            <a:satOff val="0"/>
            <a:lumOff val="0"/>
            <a:alphaOff val="0"/>
          </a:schemeClr>
        </a:solidFill>
        <a:ln w="25400" cap="flat" cmpd="sng" algn="ctr">
          <a:solidFill>
            <a:schemeClr val="accent4">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递归查询</a:t>
          </a:r>
        </a:p>
      </dsp:txBody>
      <dsp:txXfrm>
        <a:off x="39" y="13657"/>
        <a:ext cx="3818864" cy="691200"/>
      </dsp:txXfrm>
    </dsp:sp>
    <dsp:sp modelId="{03A5736B-9407-4E51-943F-C4127641647B}">
      <dsp:nvSpPr>
        <dsp:cNvPr id="0" name=""/>
        <dsp:cNvSpPr/>
      </dsp:nvSpPr>
      <dsp:spPr>
        <a:xfrm>
          <a:off x="39" y="704857"/>
          <a:ext cx="3818864" cy="2151393"/>
        </a:xfrm>
        <a:prstGeom prst="rect">
          <a:avLst/>
        </a:prstGeom>
        <a:noFill/>
        <a:ln w="25400" cap="flat" cmpd="sng" algn="ctr">
          <a:solidFill>
            <a:schemeClr val="accent4">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通常，主机向本地域名服务器查询时使用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若不知道，就以 </a:t>
          </a:r>
          <a:r>
            <a:rPr lang="en-US" altLang="en-US" sz="1600" b="0" kern="1200" dirty="0">
              <a:latin typeface="Montserrat" panose="00000500000000000000" pitchFamily="2" charset="0"/>
              <a:ea typeface="微软雅黑 Light" panose="020B0502040204020203" pitchFamily="34" charset="-122"/>
            </a:rPr>
            <a:t>DNS </a:t>
          </a:r>
          <a:r>
            <a:rPr lang="zh-CN" altLang="en-US" sz="1600" b="0" kern="1200" dirty="0">
              <a:latin typeface="Montserrat" panose="00000500000000000000" pitchFamily="2" charset="0"/>
              <a:ea typeface="微软雅黑 Light" panose="020B0502040204020203" pitchFamily="34" charset="-122"/>
            </a:rPr>
            <a:t>客户的身份，向其他根域名服务器继续发出查询请求报文</a:t>
          </a:r>
        </a:p>
      </dsp:txBody>
      <dsp:txXfrm>
        <a:off x="39" y="704857"/>
        <a:ext cx="3818864" cy="2151393"/>
      </dsp:txXfrm>
    </dsp:sp>
    <dsp:sp modelId="{B2079A84-D30A-43B1-81D6-28B09A3A7626}">
      <dsp:nvSpPr>
        <dsp:cNvPr id="0" name=""/>
        <dsp:cNvSpPr/>
      </dsp:nvSpPr>
      <dsp:spPr>
        <a:xfrm>
          <a:off x="4353545" y="13657"/>
          <a:ext cx="3818864" cy="691200"/>
        </a:xfrm>
        <a:prstGeom prst="rect">
          <a:avLst/>
        </a:prstGeom>
        <a:solidFill>
          <a:schemeClr val="accent4">
            <a:hueOff val="-4464770"/>
            <a:satOff val="26899"/>
            <a:lumOff val="2156"/>
            <a:alphaOff val="0"/>
          </a:schemeClr>
        </a:solidFill>
        <a:ln w="25400" cap="flat" cmpd="sng" algn="ctr">
          <a:solidFill>
            <a:schemeClr val="accent4">
              <a:hueOff val="-4464770"/>
              <a:satOff val="26899"/>
              <a:lumOff val="2156"/>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zh-CN" altLang="en-US" sz="1800" b="0" kern="1200" dirty="0">
              <a:latin typeface="Montserrat" panose="00000500000000000000" pitchFamily="2" charset="0"/>
              <a:ea typeface="微软雅黑 Light" panose="020B0502040204020203" pitchFamily="34" charset="-122"/>
            </a:rPr>
            <a:t>迭代查询</a:t>
          </a:r>
        </a:p>
      </dsp:txBody>
      <dsp:txXfrm>
        <a:off x="4353545" y="13657"/>
        <a:ext cx="3818864" cy="691200"/>
      </dsp:txXfrm>
    </dsp:sp>
    <dsp:sp modelId="{802EC7D4-495D-4461-A980-1E7E46187315}">
      <dsp:nvSpPr>
        <dsp:cNvPr id="0" name=""/>
        <dsp:cNvSpPr/>
      </dsp:nvSpPr>
      <dsp:spPr>
        <a:xfrm>
          <a:off x="4353545" y="704857"/>
          <a:ext cx="3818864" cy="2151393"/>
        </a:xfrm>
        <a:prstGeom prst="rect">
          <a:avLst/>
        </a:prstGeom>
        <a:noFill/>
        <a:ln w="25400" cap="flat" cmpd="sng" algn="ctr">
          <a:solidFill>
            <a:schemeClr val="accent4">
              <a:tint val="40000"/>
              <a:alpha val="90000"/>
              <a:hueOff val="-3945710"/>
              <a:satOff val="22157"/>
              <a:lumOff val="1408"/>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本地域名服务器向根域名服务器查询时使用</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要么给出所要查询的 </a:t>
          </a:r>
          <a:r>
            <a:rPr lang="en-US" altLang="en-US"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地址，要么告诉下一个要查询的域名服务器的 </a:t>
          </a:r>
          <a:r>
            <a:rPr lang="en-US" altLang="zh-CN" sz="1600" b="0" kern="1200" dirty="0">
              <a:latin typeface="Montserrat" panose="00000500000000000000" pitchFamily="2" charset="0"/>
              <a:ea typeface="微软雅黑 Light" panose="020B0502040204020203" pitchFamily="34" charset="-122"/>
            </a:rPr>
            <a:t>IP </a:t>
          </a:r>
          <a:r>
            <a:rPr lang="zh-CN" altLang="en-US" sz="1600" b="0" kern="1200" dirty="0">
              <a:latin typeface="Montserrat" panose="00000500000000000000" pitchFamily="2" charset="0"/>
              <a:ea typeface="微软雅黑 Light" panose="020B0502040204020203" pitchFamily="34" charset="-122"/>
            </a:rPr>
            <a:t>地址</a:t>
          </a:r>
        </a:p>
        <a:p>
          <a:pPr marL="171450" lvl="1" indent="-171450" algn="just" defTabSz="711200">
            <a:lnSpc>
              <a:spcPct val="90000"/>
            </a:lnSpc>
            <a:spcBef>
              <a:spcPct val="0"/>
            </a:spcBef>
            <a:spcAft>
              <a:spcPct val="15000"/>
            </a:spcAft>
            <a:buChar char="•"/>
          </a:pPr>
          <a:r>
            <a:rPr lang="zh-CN" altLang="en-US" sz="1600" b="0" kern="1200" dirty="0">
              <a:latin typeface="Montserrat" panose="00000500000000000000" pitchFamily="2" charset="0"/>
              <a:ea typeface="微软雅黑 Light" panose="020B0502040204020203" pitchFamily="34" charset="-122"/>
            </a:rPr>
            <a:t>本地域名服务器继续后续查询</a:t>
          </a:r>
        </a:p>
      </dsp:txBody>
      <dsp:txXfrm>
        <a:off x="4353545" y="704857"/>
        <a:ext cx="3818864" cy="215139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F526FD6-3C16-45F7-931B-D3253D84A49B}">
      <dsp:nvSpPr>
        <dsp:cNvPr id="0" name=""/>
        <dsp:cNvSpPr/>
      </dsp:nvSpPr>
      <dsp:spPr>
        <a:xfrm>
          <a:off x="0" y="672"/>
          <a:ext cx="8048776" cy="350542"/>
        </a:xfrm>
        <a:prstGeom prst="roundRect">
          <a:avLst/>
        </a:prstGeom>
        <a:solidFill>
          <a:srgbClr val="0070C0"/>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altLang="zh-CN" sz="14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方法（操作）</a:t>
          </a:r>
          <a:r>
            <a:rPr lang="en-US" sz="1600" b="1" kern="1200" dirty="0">
              <a:solidFill>
                <a:schemeClr val="bg1"/>
              </a:solidFill>
              <a:latin typeface="微软雅黑 Light" panose="020B0502040204020203" pitchFamily="34" charset="-122"/>
              <a:ea typeface="微软雅黑 Light" panose="020B0502040204020203" pitchFamily="34" charset="-122"/>
            </a:rPr>
            <a:t>				</a:t>
          </a:r>
          <a:r>
            <a:rPr lang="zh-CN" sz="1600" b="1" kern="1200" dirty="0">
              <a:solidFill>
                <a:schemeClr val="bg1"/>
              </a:solidFill>
              <a:latin typeface="微软雅黑 Light" panose="020B0502040204020203" pitchFamily="34" charset="-122"/>
              <a:ea typeface="微软雅黑 Light" panose="020B0502040204020203" pitchFamily="34" charset="-122"/>
            </a:rPr>
            <a:t>意义</a:t>
          </a:r>
          <a:endParaRPr lang="zh-CN" sz="1600" kern="1200" dirty="0">
            <a:solidFill>
              <a:schemeClr val="bg1"/>
            </a:solidFill>
            <a:latin typeface="微软雅黑 Light" panose="020B0502040204020203" pitchFamily="34" charset="-122"/>
            <a:ea typeface="微软雅黑 Light" panose="020B0502040204020203" pitchFamily="34" charset="-122"/>
          </a:endParaRPr>
        </a:p>
      </dsp:txBody>
      <dsp:txXfrm>
        <a:off x="17112" y="17784"/>
        <a:ext cx="8014552" cy="316318"/>
      </dsp:txXfrm>
    </dsp:sp>
    <dsp:sp modelId="{50B73F1F-44EA-4F89-8398-75FE0BB22E10}">
      <dsp:nvSpPr>
        <dsp:cNvPr id="0" name=""/>
        <dsp:cNvSpPr/>
      </dsp:nvSpPr>
      <dsp:spPr>
        <a:xfrm>
          <a:off x="0" y="362001"/>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OPTION		  </a:t>
          </a:r>
          <a:r>
            <a:rPr lang="zh-CN" sz="1400" b="1" kern="1200" dirty="0">
              <a:solidFill>
                <a:schemeClr val="tx1"/>
              </a:solidFill>
              <a:latin typeface="微软雅黑 Light" panose="020B0502040204020203" pitchFamily="34" charset="-122"/>
              <a:ea typeface="微软雅黑 Light" panose="020B0502040204020203" pitchFamily="34" charset="-122"/>
            </a:rPr>
            <a:t>请求一些选项的信息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379113"/>
        <a:ext cx="8014552" cy="316318"/>
      </dsp:txXfrm>
    </dsp:sp>
    <dsp:sp modelId="{FD5606E7-7379-4F33-830F-006516F4DFDB}">
      <dsp:nvSpPr>
        <dsp:cNvPr id="0" name=""/>
        <dsp:cNvSpPr/>
      </dsp:nvSpPr>
      <dsp:spPr>
        <a:xfrm>
          <a:off x="0" y="723330"/>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GET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740442"/>
        <a:ext cx="8014552" cy="316318"/>
      </dsp:txXfrm>
    </dsp:sp>
    <dsp:sp modelId="{E1C3FBBC-EA1F-4BAD-A2D7-05E9F414FDC7}">
      <dsp:nvSpPr>
        <dsp:cNvPr id="0" name=""/>
        <dsp:cNvSpPr/>
      </dsp:nvSpPr>
      <dsp:spPr>
        <a:xfrm>
          <a:off x="0" y="1084659"/>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HEAD              	  </a:t>
          </a:r>
          <a:r>
            <a:rPr lang="zh-CN" sz="1400" b="1" kern="1200" dirty="0">
              <a:solidFill>
                <a:schemeClr val="tx1"/>
              </a:solidFill>
              <a:latin typeface="微软雅黑 Light" panose="020B0502040204020203" pitchFamily="34" charset="-122"/>
              <a:ea typeface="微软雅黑 Light" panose="020B0502040204020203" pitchFamily="34" charset="-122"/>
            </a:rPr>
            <a:t>请求读取由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所标志的信息的首部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101771"/>
        <a:ext cx="8014552" cy="316318"/>
      </dsp:txXfrm>
    </dsp:sp>
    <dsp:sp modelId="{0EB52B51-C389-4A36-BC05-864D852DF5FC}">
      <dsp:nvSpPr>
        <dsp:cNvPr id="0" name=""/>
        <dsp:cNvSpPr/>
      </dsp:nvSpPr>
      <dsp:spPr>
        <a:xfrm>
          <a:off x="0" y="1445988"/>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POST     	    	  </a:t>
          </a:r>
          <a:r>
            <a:rPr lang="zh-CN" sz="1400" b="1" kern="1200" dirty="0">
              <a:solidFill>
                <a:schemeClr val="tx1"/>
              </a:solidFill>
              <a:latin typeface="微软雅黑 Light" panose="020B0502040204020203" pitchFamily="34" charset="-122"/>
              <a:ea typeface="微软雅黑 Light" panose="020B0502040204020203" pitchFamily="34" charset="-122"/>
            </a:rPr>
            <a:t>给服务器添加信息（例如，注释）</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463100"/>
        <a:ext cx="8014552" cy="316318"/>
      </dsp:txXfrm>
    </dsp:sp>
    <dsp:sp modelId="{4E4C0534-037E-45A5-BADC-B7406AF7B1C3}">
      <dsp:nvSpPr>
        <dsp:cNvPr id="0" name=""/>
        <dsp:cNvSpPr/>
      </dsp:nvSpPr>
      <dsp:spPr>
        <a:xfrm>
          <a:off x="0" y="1807316"/>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PUT			  </a:t>
          </a:r>
          <a:r>
            <a:rPr lang="zh-CN" sz="1400" b="1" kern="1200" dirty="0">
              <a:solidFill>
                <a:schemeClr val="tx1"/>
              </a:solidFill>
              <a:latin typeface="微软雅黑 Light" panose="020B0502040204020203" pitchFamily="34" charset="-122"/>
              <a:ea typeface="微软雅黑 Light" panose="020B0502040204020203" pitchFamily="34" charset="-122"/>
            </a:rPr>
            <a:t>在指明的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下存储一个文档</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1824428"/>
        <a:ext cx="8014552" cy="316318"/>
      </dsp:txXfrm>
    </dsp:sp>
    <dsp:sp modelId="{EC4E5CDF-5396-4684-B963-9679F944855F}">
      <dsp:nvSpPr>
        <dsp:cNvPr id="0" name=""/>
        <dsp:cNvSpPr/>
      </dsp:nvSpPr>
      <dsp:spPr>
        <a:xfrm>
          <a:off x="0" y="2168645"/>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DELETE		  </a:t>
          </a:r>
          <a:r>
            <a:rPr lang="zh-CN" sz="1400" b="1" kern="1200" dirty="0">
              <a:solidFill>
                <a:schemeClr val="tx1"/>
              </a:solidFill>
              <a:latin typeface="微软雅黑 Light" panose="020B0502040204020203" pitchFamily="34" charset="-122"/>
              <a:ea typeface="微软雅黑 Light" panose="020B0502040204020203" pitchFamily="34" charset="-122"/>
            </a:rPr>
            <a:t>删除指明的 </a:t>
          </a:r>
          <a:r>
            <a:rPr lang="en-US" sz="1400" b="1" kern="1200" dirty="0">
              <a:solidFill>
                <a:schemeClr val="tx1"/>
              </a:solidFill>
              <a:latin typeface="微软雅黑 Light" panose="020B0502040204020203" pitchFamily="34" charset="-122"/>
              <a:ea typeface="微软雅黑 Light" panose="020B0502040204020203" pitchFamily="34" charset="-122"/>
            </a:rPr>
            <a:t>URL</a:t>
          </a:r>
          <a:r>
            <a:rPr lang="zh-CN" sz="1400" b="1" kern="1200" dirty="0">
              <a:solidFill>
                <a:schemeClr val="tx1"/>
              </a:solidFill>
              <a:latin typeface="微软雅黑 Light" panose="020B0502040204020203" pitchFamily="34" charset="-122"/>
              <a:ea typeface="微软雅黑 Light" panose="020B0502040204020203" pitchFamily="34" charset="-122"/>
            </a:rPr>
            <a:t>所标志的资源</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185757"/>
        <a:ext cx="8014552" cy="316318"/>
      </dsp:txXfrm>
    </dsp:sp>
    <dsp:sp modelId="{21855FA6-2BB4-499A-A8A9-433441C6C9C7}">
      <dsp:nvSpPr>
        <dsp:cNvPr id="0" name=""/>
        <dsp:cNvSpPr/>
      </dsp:nvSpPr>
      <dsp:spPr>
        <a:xfrm>
          <a:off x="0" y="2529974"/>
          <a:ext cx="8048776" cy="350542"/>
        </a:xfrm>
        <a:prstGeom prst="roundRect">
          <a:avLst/>
        </a:prstGeom>
        <a:solidFill>
          <a:srgbClr val="99FFCC"/>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TRACE			  </a:t>
          </a:r>
          <a:r>
            <a:rPr lang="zh-CN" sz="1400" b="1" kern="1200" dirty="0">
              <a:solidFill>
                <a:schemeClr val="tx1"/>
              </a:solidFill>
              <a:latin typeface="微软雅黑 Light" panose="020B0502040204020203" pitchFamily="34" charset="-122"/>
              <a:ea typeface="微软雅黑 Light" panose="020B0502040204020203" pitchFamily="34" charset="-122"/>
            </a:rPr>
            <a:t>用来进行环回测试的请求报文</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547086"/>
        <a:ext cx="8014552" cy="316318"/>
      </dsp:txXfrm>
    </dsp:sp>
    <dsp:sp modelId="{08F040B1-2CBD-4876-96AA-45AF94F7D94E}">
      <dsp:nvSpPr>
        <dsp:cNvPr id="0" name=""/>
        <dsp:cNvSpPr/>
      </dsp:nvSpPr>
      <dsp:spPr>
        <a:xfrm>
          <a:off x="0" y="2891303"/>
          <a:ext cx="8048776" cy="350542"/>
        </a:xfrm>
        <a:prstGeom prst="roundRect">
          <a:avLst/>
        </a:prstGeom>
        <a:solidFill>
          <a:schemeClr val="accent1">
            <a:lumMod val="40000"/>
            <a:lumOff val="6000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53340" bIns="53340" numCol="1" spcCol="1270" anchor="ctr" anchorCtr="0">
          <a:noAutofit/>
        </a:bodyPr>
        <a:lstStyle/>
        <a:p>
          <a:pPr marL="0" lvl="0" indent="0" algn="l" defTabSz="622300" rtl="0">
            <a:lnSpc>
              <a:spcPct val="90000"/>
            </a:lnSpc>
            <a:spcBef>
              <a:spcPct val="0"/>
            </a:spcBef>
            <a:spcAft>
              <a:spcPct val="35000"/>
            </a:spcAft>
            <a:buNone/>
          </a:pPr>
          <a:r>
            <a:rPr lang="en-US" sz="1400" b="1" kern="1200" dirty="0">
              <a:solidFill>
                <a:schemeClr val="tx1"/>
              </a:solidFill>
              <a:latin typeface="微软雅黑 Light" panose="020B0502040204020203" pitchFamily="34" charset="-122"/>
              <a:ea typeface="微软雅黑 Light" panose="020B0502040204020203" pitchFamily="34" charset="-122"/>
            </a:rPr>
            <a:t>	CONNECT		  </a:t>
          </a:r>
          <a:r>
            <a:rPr lang="zh-CN" sz="1400" b="1" kern="1200" dirty="0">
              <a:solidFill>
                <a:schemeClr val="tx1"/>
              </a:solidFill>
              <a:latin typeface="微软雅黑 Light" panose="020B0502040204020203" pitchFamily="34" charset="-122"/>
              <a:ea typeface="微软雅黑 Light" panose="020B0502040204020203" pitchFamily="34" charset="-122"/>
            </a:rPr>
            <a:t>用于代理服务器</a:t>
          </a:r>
          <a:endParaRPr lang="zh-CN" sz="1400" kern="1200" dirty="0">
            <a:solidFill>
              <a:schemeClr val="tx1"/>
            </a:solidFill>
            <a:latin typeface="微软雅黑 Light" panose="020B0502040204020203" pitchFamily="34" charset="-122"/>
            <a:ea typeface="微软雅黑 Light" panose="020B0502040204020203" pitchFamily="34" charset="-122"/>
          </a:endParaRPr>
        </a:p>
      </dsp:txBody>
      <dsp:txXfrm>
        <a:off x="17112" y="2908415"/>
        <a:ext cx="8014552" cy="316318"/>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2105"/>
          <a:ext cx="3818864" cy="8064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全文检索搜索引擎</a:t>
          </a:r>
        </a:p>
      </dsp:txBody>
      <dsp:txXfrm>
        <a:off x="39" y="2105"/>
        <a:ext cx="3818864" cy="806400"/>
      </dsp:txXfrm>
    </dsp:sp>
    <dsp:sp modelId="{4E1C6945-3361-4332-9057-7162DBC9BE74}">
      <dsp:nvSpPr>
        <dsp:cNvPr id="0" name=""/>
        <dsp:cNvSpPr/>
      </dsp:nvSpPr>
      <dsp:spPr>
        <a:xfrm>
          <a:off x="39" y="808505"/>
          <a:ext cx="3818864" cy="2766959"/>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一种纯技术型的检索工具</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通过搜索软件（例如一种叫做“蜘蛛”或“网络机器人”的 </a:t>
          </a:r>
          <a:r>
            <a:rPr lang="en-US" altLang="en-US" sz="1400" b="0" kern="1200" dirty="0">
              <a:latin typeface="Montserrat" panose="00000500000000000000" pitchFamily="2" charset="0"/>
              <a:ea typeface="微软雅黑 Light" panose="020B0502040204020203" pitchFamily="34" charset="-122"/>
            </a:rPr>
            <a:t>Spider </a:t>
          </a:r>
          <a:r>
            <a:rPr lang="zh-CN" altLang="en-US" sz="1400" b="0" kern="1200" dirty="0">
              <a:latin typeface="Montserrat" panose="00000500000000000000" pitchFamily="2" charset="0"/>
              <a:ea typeface="微软雅黑 Light" panose="020B0502040204020203" pitchFamily="34" charset="-122"/>
            </a:rPr>
            <a:t>程序）到互联网上的各网站收集信息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按照一定的规则建立一个很大的在线索引数据库</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用户在查询时只要输入关键词，从已经建立的索引数据库里查询（非实时）</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需要定期更新维护数据库</a:t>
          </a:r>
        </a:p>
      </dsp:txBody>
      <dsp:txXfrm>
        <a:off x="39" y="808505"/>
        <a:ext cx="3818864" cy="2766959"/>
      </dsp:txXfrm>
    </dsp:sp>
    <dsp:sp modelId="{68DA0B6D-3EBF-4324-92AB-1CC040E6E5B2}">
      <dsp:nvSpPr>
        <dsp:cNvPr id="0" name=""/>
        <dsp:cNvSpPr/>
      </dsp:nvSpPr>
      <dsp:spPr>
        <a:xfrm>
          <a:off x="4353545" y="2105"/>
          <a:ext cx="3818864" cy="8064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9568" tIns="56896" rIns="99568" bIns="56896" numCol="1" spcCol="1270" anchor="ctr" anchorCtr="0">
          <a:noAutofit/>
        </a:bodyPr>
        <a:lstStyle/>
        <a:p>
          <a:pPr marL="0" lvl="0" indent="0" algn="ctr" defTabSz="622300">
            <a:lnSpc>
              <a:spcPct val="90000"/>
            </a:lnSpc>
            <a:spcBef>
              <a:spcPct val="0"/>
            </a:spcBef>
            <a:spcAft>
              <a:spcPct val="35000"/>
            </a:spcAft>
            <a:buNone/>
          </a:pPr>
          <a:r>
            <a:rPr lang="zh-CN" altLang="en-US" sz="1400" b="1" kern="1200" dirty="0">
              <a:latin typeface="微软雅黑 Light" panose="020B0502040204020203" pitchFamily="34" charset="-122"/>
              <a:ea typeface="微软雅黑 Light" panose="020B0502040204020203" pitchFamily="34" charset="-122"/>
            </a:rPr>
            <a:t>分类目录搜索引擎</a:t>
          </a:r>
        </a:p>
      </dsp:txBody>
      <dsp:txXfrm>
        <a:off x="4353545" y="2105"/>
        <a:ext cx="3818864" cy="806400"/>
      </dsp:txXfrm>
    </dsp:sp>
    <dsp:sp modelId="{56308F05-9C6F-4168-94D1-139E66E21E29}">
      <dsp:nvSpPr>
        <dsp:cNvPr id="0" name=""/>
        <dsp:cNvSpPr/>
      </dsp:nvSpPr>
      <dsp:spPr>
        <a:xfrm>
          <a:off x="4353545" y="808505"/>
          <a:ext cx="3818864" cy="2766959"/>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不采集网站的任何信息，而是利用各网站向搜索引擎提交的网站信息时填写的关键词和网站描述等信息，经过人工审核编辑后，输入到分类目录的数据库中，供网上用户查询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分类目录搜索也叫做分类网站搜索。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查询时只需要按照分类，不需要使用关键词，查询的准确性较好</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查询的结果不是具体的页面，而是被收录网站主页的 </a:t>
          </a:r>
          <a:r>
            <a:rPr lang="en-US" altLang="en-US" sz="1400" b="0" kern="1200" dirty="0">
              <a:latin typeface="Montserrat" panose="00000500000000000000" pitchFamily="2" charset="0"/>
              <a:ea typeface="微软雅黑 Light" panose="020B0502040204020203" pitchFamily="34" charset="-122"/>
            </a:rPr>
            <a:t>URL </a:t>
          </a:r>
          <a:r>
            <a:rPr lang="zh-CN" altLang="en-US" sz="1400" b="0" kern="1200" dirty="0">
              <a:latin typeface="Montserrat" panose="00000500000000000000" pitchFamily="2" charset="0"/>
              <a:ea typeface="微软雅黑 Light" panose="020B0502040204020203" pitchFamily="34" charset="-122"/>
            </a:rPr>
            <a:t>地址</a:t>
          </a:r>
        </a:p>
      </dsp:txBody>
      <dsp:txXfrm>
        <a:off x="4353545" y="808505"/>
        <a:ext cx="3818864" cy="2766959"/>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3F60847-C5CB-4E1F-92CA-969FDFBB52DB}">
      <dsp:nvSpPr>
        <dsp:cNvPr id="0" name=""/>
        <dsp:cNvSpPr/>
      </dsp:nvSpPr>
      <dsp:spPr>
        <a:xfrm>
          <a:off x="39" y="4992"/>
          <a:ext cx="3818654" cy="892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1. </a:t>
          </a:r>
          <a:r>
            <a:rPr lang="zh-CN" altLang="en-US" sz="1800" b="1" kern="1200" dirty="0">
              <a:latin typeface="微软雅黑 Light" panose="020B0502040204020203" pitchFamily="34" charset="-122"/>
              <a:ea typeface="微软雅黑 Light" panose="020B0502040204020203" pitchFamily="34" charset="-122"/>
            </a:rPr>
            <a:t>博客</a:t>
          </a:r>
        </a:p>
      </dsp:txBody>
      <dsp:txXfrm>
        <a:off x="39" y="4992"/>
        <a:ext cx="3818654" cy="892800"/>
      </dsp:txXfrm>
    </dsp:sp>
    <dsp:sp modelId="{4E1C6945-3361-4332-9057-7162DBC9BE74}">
      <dsp:nvSpPr>
        <dsp:cNvPr id="0" name=""/>
        <dsp:cNvSpPr/>
      </dsp:nvSpPr>
      <dsp:spPr>
        <a:xfrm>
          <a:off x="39" y="897792"/>
          <a:ext cx="3818654" cy="221247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万维网日志 </a:t>
          </a:r>
          <a:r>
            <a:rPr lang="en-US" altLang="en-US" sz="1400" b="0" kern="1200" dirty="0">
              <a:latin typeface="Montserrat" panose="00000500000000000000" pitchFamily="2" charset="0"/>
              <a:ea typeface="微软雅黑 Light" panose="020B0502040204020203" pitchFamily="34" charset="-122"/>
            </a:rPr>
            <a:t>(weblog) </a:t>
          </a:r>
          <a:r>
            <a:rPr lang="zh-CN" altLang="en-US" sz="1400" b="0" kern="1200" dirty="0">
              <a:latin typeface="Montserrat" panose="00000500000000000000" pitchFamily="2" charset="0"/>
              <a:ea typeface="微软雅黑 Light" panose="020B0502040204020203" pitchFamily="34" charset="-122"/>
            </a:rPr>
            <a:t>的简称</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使网民不仅是互联网上内容的消费者，而且还是互联网上内容的生产者</a:t>
          </a:r>
        </a:p>
      </dsp:txBody>
      <dsp:txXfrm>
        <a:off x="39" y="897792"/>
        <a:ext cx="3818654" cy="2212470"/>
      </dsp:txXfrm>
    </dsp:sp>
    <dsp:sp modelId="{68DA0B6D-3EBF-4324-92AB-1CC040E6E5B2}">
      <dsp:nvSpPr>
        <dsp:cNvPr id="0" name=""/>
        <dsp:cNvSpPr/>
      </dsp:nvSpPr>
      <dsp:spPr>
        <a:xfrm>
          <a:off x="4353305" y="4992"/>
          <a:ext cx="3818654" cy="892800"/>
        </a:xfrm>
        <a:prstGeom prst="rect">
          <a:avLst/>
        </a:prstGeom>
        <a:solidFill>
          <a:schemeClr val="accent3">
            <a:hueOff val="0"/>
            <a:satOff val="0"/>
            <a:lumOff val="0"/>
            <a:alphaOff val="0"/>
          </a:schemeClr>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en-US" sz="1800" b="1" kern="1200" dirty="0">
              <a:latin typeface="微软雅黑 Light" panose="020B0502040204020203" pitchFamily="34" charset="-122"/>
              <a:ea typeface="微软雅黑 Light" panose="020B0502040204020203" pitchFamily="34" charset="-122"/>
            </a:rPr>
            <a:t>2. </a:t>
          </a:r>
          <a:r>
            <a:rPr lang="zh-CN" altLang="en-US" sz="1800" b="1" kern="1200" dirty="0">
              <a:latin typeface="微软雅黑 Light" panose="020B0502040204020203" pitchFamily="34" charset="-122"/>
              <a:ea typeface="微软雅黑 Light" panose="020B0502040204020203" pitchFamily="34" charset="-122"/>
            </a:rPr>
            <a:t>微博</a:t>
          </a:r>
        </a:p>
      </dsp:txBody>
      <dsp:txXfrm>
        <a:off x="4353305" y="4992"/>
        <a:ext cx="3818654" cy="892800"/>
      </dsp:txXfrm>
    </dsp:sp>
    <dsp:sp modelId="{56308F05-9C6F-4168-94D1-139E66E21E29}">
      <dsp:nvSpPr>
        <dsp:cNvPr id="0" name=""/>
        <dsp:cNvSpPr/>
      </dsp:nvSpPr>
      <dsp:spPr>
        <a:xfrm>
          <a:off x="4353305" y="897792"/>
          <a:ext cx="3818654" cy="2212470"/>
        </a:xfrm>
        <a:prstGeom prst="rect">
          <a:avLst/>
        </a:prstGeom>
        <a:no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74676" tIns="74676" rIns="99568" bIns="112014" numCol="1" spcCol="1270" anchor="t" anchorCtr="0">
          <a:noAutofit/>
        </a:bodyPr>
        <a:lstStyle/>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微型博客 </a:t>
          </a:r>
          <a:r>
            <a:rPr lang="en-US" altLang="en-US" sz="1400" b="0" kern="1200" dirty="0">
              <a:latin typeface="Montserrat" panose="00000500000000000000" pitchFamily="2" charset="0"/>
              <a:ea typeface="微软雅黑 Light" panose="020B0502040204020203" pitchFamily="34" charset="-122"/>
            </a:rPr>
            <a:t>(microblog)</a:t>
          </a:r>
          <a:r>
            <a:rPr lang="zh-CN" altLang="en-US" sz="1400" b="0" kern="1200" dirty="0">
              <a:latin typeface="Montserrat" panose="00000500000000000000" pitchFamily="2" charset="0"/>
              <a:ea typeface="微软雅黑 Light" panose="020B0502040204020203" pitchFamily="34" charset="-122"/>
            </a:rPr>
            <a:t>，又称为微博客</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只记录片段、碎语，三言两语，现场记录，发发感慨，晒晒心情，永远只针对一个问题进行回答</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开通的多种 </a:t>
          </a:r>
          <a:r>
            <a:rPr lang="en-US" altLang="en-US" sz="1400" b="0" kern="1200" dirty="0">
              <a:latin typeface="Montserrat" panose="00000500000000000000" pitchFamily="2" charset="0"/>
              <a:ea typeface="微软雅黑 Light" panose="020B0502040204020203" pitchFamily="34" charset="-122"/>
            </a:rPr>
            <a:t>API </a:t>
          </a:r>
          <a:r>
            <a:rPr lang="zh-CN" altLang="en-US" sz="1400" b="0" kern="1200" dirty="0">
              <a:latin typeface="Montserrat" panose="00000500000000000000" pitchFamily="2" charset="0"/>
              <a:ea typeface="微软雅黑 Light" panose="020B0502040204020203" pitchFamily="34" charset="-122"/>
            </a:rPr>
            <a:t>使用户可通过手机、网络等方式即时更新自己的信息</a:t>
          </a:r>
        </a:p>
        <a:p>
          <a:pPr marL="114300" lvl="1" indent="-114300" algn="just" defTabSz="622300">
            <a:lnSpc>
              <a:spcPct val="90000"/>
            </a:lnSpc>
            <a:spcBef>
              <a:spcPct val="0"/>
            </a:spcBef>
            <a:spcAft>
              <a:spcPct val="15000"/>
            </a:spcAft>
            <a:buChar char="•"/>
          </a:pPr>
          <a:r>
            <a:rPr lang="zh-CN" altLang="en-US" sz="1400" b="0" kern="1200" dirty="0">
              <a:latin typeface="Montserrat" panose="00000500000000000000" pitchFamily="2" charset="0"/>
              <a:ea typeface="微软雅黑 Light" panose="020B0502040204020203" pitchFamily="34" charset="-122"/>
            </a:rPr>
            <a:t>是一种互动及传播性极快的工具</a:t>
          </a:r>
        </a:p>
      </dsp:txBody>
      <dsp:txXfrm>
        <a:off x="4353305" y="897792"/>
        <a:ext cx="3818654" cy="221247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hierarchy4">
  <dgm:title val=""/>
  <dgm:desc val=""/>
  <dgm:catLst>
    <dgm:cat type="hierarchy" pri="4000"/>
    <dgm:cat type="list" pri="24000"/>
    <dgm:cat type="relationship" pri="10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Name0">
    <dgm:varLst>
      <dgm:chPref val="1"/>
      <dgm:dir/>
      <dgm:animOne val="branch"/>
      <dgm:animLvl val="lvl"/>
      <dgm:resizeHandles/>
    </dgm:varLst>
    <dgm:choose name="Name1">
      <dgm:if name="Name2" func="var" arg="dir" op="equ" val="norm">
        <dgm:alg type="lin">
          <dgm:param type="linDir" val="fromL"/>
          <dgm:param type="nodeVertAlign" val="t"/>
        </dgm:alg>
      </dgm:if>
      <dgm:else name="Name3">
        <dgm:alg type="lin">
          <dgm:param type="linDir" val="fromR"/>
          <dgm:param type="nodeVertAlign" val="t"/>
        </dgm:alg>
      </dgm:else>
    </dgm:choose>
    <dgm:shape xmlns:r="http://schemas.openxmlformats.org/officeDocument/2006/relationships" r:blip="">
      <dgm:adjLst/>
    </dgm:shape>
    <dgm:presOf/>
    <dgm:constrLst>
      <dgm:constr type="w" for="ch" forName="vertOne" refType="w"/>
      <dgm:constr type="w" for="des" forName="horzOne" refType="w"/>
      <dgm:constr type="w" for="des" forName="txOne" refType="w"/>
      <dgm:constr type="w" for="des" forName="vertTwo" refType="w"/>
      <dgm:constr type="w" for="des" forName="horzTwo" refType="w"/>
      <dgm:constr type="w" for="des" forName="txTwo" refType="w"/>
      <dgm:constr type="w" for="des" forName="vertThree" refType="w"/>
      <dgm:constr type="w" for="des" forName="horzThree" refType="w"/>
      <dgm:constr type="w" for="des" forName="txThree" refType="w"/>
      <dgm:constr type="w" for="des" forName="vertFour" refType="w"/>
      <dgm:constr type="w" for="des" forName="horzFour" refType="w"/>
      <dgm:constr type="w" for="des" forName="txFour" refType="w"/>
      <dgm:constr type="h" for="des" ptType="node" op="equ"/>
      <dgm:constr type="h" for="des" forName="txOne" refType="h"/>
      <dgm:constr type="userH" for="des" ptType="node" refType="h" refFor="des" refForName="txOne"/>
      <dgm:constr type="primFontSz" for="des" forName="txOne" val="65"/>
      <dgm:constr type="primFontSz" for="des" forName="txTwo" val="65"/>
      <dgm:constr type="primFontSz" for="des" forName="txTwo" refType="primFontSz" refFor="des" refForName="txOne" op="lte"/>
      <dgm:constr type="primFontSz" for="des" forName="txThree" val="65"/>
      <dgm:constr type="primFontSz" for="des" forName="txThree" refType="primFontSz" refFor="des" refForName="txOne" op="lte"/>
      <dgm:constr type="primFontSz" for="des" forName="txThree" refType="primFontSz" refFor="des" refForName="txTwo" op="lte"/>
      <dgm:constr type="primFontSz" for="des" forName="txFour" val="65"/>
      <dgm:constr type="primFontSz" for="des" forName="txFour" refType="primFontSz" refFor="des" refForName="txOne" op="lte"/>
      <dgm:constr type="primFontSz" for="des" forName="txFour" refType="primFontSz" refFor="des" refForName="txTwo" op="lte"/>
      <dgm:constr type="primFontSz" for="des" forName="txFour" refType="primFontSz" refFor="des" refForName="txThree" op="lte"/>
      <dgm:constr type="w" for="des" forName="sibSpaceOne" refType="w" fact="0.168"/>
      <dgm:constr type="w" for="des" forName="sibSpaceTwo" refType="w" refFor="des" refForName="sibSpaceOne" op="equ" fact="0.5"/>
      <dgm:constr type="w" for="des" forName="sibSpaceThree" refType="w" refFor="des" refForName="sibSpaceTwo" op="equ" fact="0.5"/>
      <dgm:constr type="w" for="des" forName="sibSpaceFour" refType="w" refFor="des" refForName="sibSpaceThree" op="equ" fact="0.5"/>
      <dgm:constr type="h" for="des" forName="parTransOne" refType="w" fact="0.056"/>
      <dgm:constr type="h" for="des" forName="parTransTwo" refType="h" refFor="des" refForName="parTransOne" op="equ"/>
      <dgm:constr type="h" for="des" forName="parTransThree" refType="h" refFor="des" refForName="parTransTwo" op="equ"/>
      <dgm:constr type="h" for="des" forName="parTransFour" refType="h" refFor="des" refForName="parTransThree" op="equ"/>
    </dgm:constrLst>
    <dgm:ruleLst/>
    <dgm:forEach name="Name4" axis="ch" ptType="node">
      <dgm:layoutNode name="vertOne">
        <dgm:alg type="lin">
          <dgm:param type="linDir" val="fromT"/>
        </dgm:alg>
        <dgm:shape xmlns:r="http://schemas.openxmlformats.org/officeDocument/2006/relationships" r:blip="">
          <dgm:adjLst/>
        </dgm:shape>
        <dgm:presOf/>
        <dgm:constrLst>
          <dgm:constr type="w" for="ch" forName="txOne" refType="w" refFor="ch" refForName="horzOne" op="gte"/>
        </dgm:constrLst>
        <dgm:ruleLst/>
        <dgm:layoutNode name="txOne" styleLbl="node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5">
          <dgm:if name="Name6" axis="des" ptType="node" func="cnt" op="gt" val="0">
            <dgm:layoutNode name="parTransOne">
              <dgm:alg type="sp"/>
              <dgm:shape xmlns:r="http://schemas.openxmlformats.org/officeDocument/2006/relationships" r:blip="">
                <dgm:adjLst/>
              </dgm:shape>
              <dgm:presOf/>
              <dgm:constrLst/>
              <dgm:ruleLst/>
            </dgm:layoutNode>
          </dgm:if>
          <dgm:else name="Name7"/>
        </dgm:choose>
        <dgm:layoutNode name="horzOne">
          <dgm:choose name="Name8">
            <dgm:if name="Name9" func="var" arg="dir" op="equ" val="norm">
              <dgm:alg type="lin">
                <dgm:param type="linDir" val="fromL"/>
                <dgm:param type="nodeVertAlign" val="t"/>
              </dgm:alg>
            </dgm:if>
            <dgm:else name="Name1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1" axis="ch" ptType="node">
            <dgm:layoutNode name="vertTwo">
              <dgm:alg type="lin">
                <dgm:param type="linDir" val="fromT"/>
              </dgm:alg>
              <dgm:shape xmlns:r="http://schemas.openxmlformats.org/officeDocument/2006/relationships" r:blip="">
                <dgm:adjLst/>
              </dgm:shape>
              <dgm:presOf/>
              <dgm:constrLst>
                <dgm:constr type="w" for="ch" forName="txTwo" refType="w" refFor="ch" refForName="horzTwo" op="gte"/>
              </dgm:constrLst>
              <dgm:ruleLst/>
              <dgm:layoutNode name="txTwo">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2">
                <dgm:if name="Name13" axis="des" ptType="node" func="cnt" op="gt" val="0">
                  <dgm:layoutNode name="parTransTwo">
                    <dgm:alg type="sp"/>
                    <dgm:shape xmlns:r="http://schemas.openxmlformats.org/officeDocument/2006/relationships" r:blip="">
                      <dgm:adjLst/>
                    </dgm:shape>
                    <dgm:presOf/>
                    <dgm:constrLst/>
                    <dgm:ruleLst/>
                  </dgm:layoutNode>
                </dgm:if>
                <dgm:else name="Name14"/>
              </dgm:choose>
              <dgm:layoutNode name="horzTwo">
                <dgm:choose name="Name15">
                  <dgm:if name="Name16" func="var" arg="dir" op="equ" val="norm">
                    <dgm:alg type="lin">
                      <dgm:param type="linDir" val="fromL"/>
                      <dgm:param type="nodeVertAlign" val="t"/>
                    </dgm:alg>
                  </dgm:if>
                  <dgm:else name="Name17">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18" axis="ch" ptType="node">
                  <dgm:layoutNode name="vertThree">
                    <dgm:alg type="lin">
                      <dgm:param type="linDir" val="fromT"/>
                    </dgm:alg>
                    <dgm:shape xmlns:r="http://schemas.openxmlformats.org/officeDocument/2006/relationships" r:blip="">
                      <dgm:adjLst/>
                    </dgm:shape>
                    <dgm:presOf/>
                    <dgm:constrLst>
                      <dgm:constr type="w" for="ch" forName="txThree" refType="w" refFor="ch" refForName="horzThree" op="gte"/>
                    </dgm:constrLst>
                    <dgm:ruleLst/>
                    <dgm:layoutNode name="txThree">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19">
                      <dgm:if name="Name20" axis="des" ptType="node" func="cnt" op="gt" val="0">
                        <dgm:layoutNode name="parTransThree">
                          <dgm:alg type="sp"/>
                          <dgm:shape xmlns:r="http://schemas.openxmlformats.org/officeDocument/2006/relationships" r:blip="">
                            <dgm:adjLst/>
                          </dgm:shape>
                          <dgm:presOf/>
                          <dgm:constrLst/>
                          <dgm:ruleLst/>
                        </dgm:layoutNode>
                      </dgm:if>
                      <dgm:else name="Name21"/>
                    </dgm:choose>
                    <dgm:layoutNode name="horzThree">
                      <dgm:choose name="Name22">
                        <dgm:if name="Name23" func="var" arg="dir" op="equ" val="norm">
                          <dgm:alg type="lin">
                            <dgm:param type="linDir" val="fromL"/>
                            <dgm:param type="nodeVertAlign" val="t"/>
                          </dgm:alg>
                        </dgm:if>
                        <dgm:else name="Name24">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repeat" axis="ch" ptType="node">
                        <dgm:layoutNode name="vertFour">
                          <dgm:varLst>
                            <dgm:chPref val="3"/>
                          </dgm:varLst>
                          <dgm:alg type="lin">
                            <dgm:param type="linDir" val="fromT"/>
                          </dgm:alg>
                          <dgm:shape xmlns:r="http://schemas.openxmlformats.org/officeDocument/2006/relationships" r:blip="">
                            <dgm:adjLst/>
                          </dgm:shape>
                          <dgm:presOf/>
                          <dgm:constrLst>
                            <dgm:constr type="w" for="ch" forName="txFour" refType="w" refFor="ch" refForName="horzFour" op="gte"/>
                          </dgm:constrLst>
                          <dgm:ruleLst/>
                          <dgm:layoutNode name="txFour">
                            <dgm:varLst>
                              <dgm:chPref val="3"/>
                            </dgm:varLst>
                            <dgm:alg type="tx"/>
                            <dgm:shape xmlns:r="http://schemas.openxmlformats.org/officeDocument/2006/relationships" type="roundRect" r:blip="">
                              <dgm:adjLst>
                                <dgm:adj idx="1" val="0.1"/>
                              </dgm:adjLst>
                            </dgm:shape>
                            <dgm:presOf axis="self"/>
                            <dgm:constrLst>
                              <dgm:constr type="userH"/>
                              <dgm:constr type="h" refType="userH"/>
                              <dgm:constr type="tMarg" refType="primFontSz" fact="0.3"/>
                              <dgm:constr type="bMarg" refType="primFontSz" fact="0.3"/>
                              <dgm:constr type="lMarg" refType="primFontSz" fact="0.3"/>
                              <dgm:constr type="rMarg" refType="primFontSz" fact="0.3"/>
                            </dgm:constrLst>
                            <dgm:ruleLst>
                              <dgm:rule type="primFontSz" val="5" fact="NaN" max="NaN"/>
                            </dgm:ruleLst>
                          </dgm:layoutNode>
                          <dgm:choose name="Name25">
                            <dgm:if name="Name26" axis="des" ptType="node" func="cnt" op="gt" val="0">
                              <dgm:layoutNode name="parTransFour">
                                <dgm:alg type="sp"/>
                                <dgm:shape xmlns:r="http://schemas.openxmlformats.org/officeDocument/2006/relationships" r:blip="">
                                  <dgm:adjLst/>
                                </dgm:shape>
                                <dgm:presOf/>
                                <dgm:constrLst/>
                                <dgm:ruleLst/>
                              </dgm:layoutNode>
                            </dgm:if>
                            <dgm:else name="Name27"/>
                          </dgm:choose>
                          <dgm:layoutNode name="horzFour">
                            <dgm:choose name="Name28">
                              <dgm:if name="Name29" func="var" arg="dir" op="equ" val="norm">
                                <dgm:alg type="lin">
                                  <dgm:param type="linDir" val="fromL"/>
                                  <dgm:param type="nodeVertAlign" val="t"/>
                                </dgm:alg>
                              </dgm:if>
                              <dgm:else name="Name30">
                                <dgm:alg type="lin">
                                  <dgm:param type="linDir" val="fromR"/>
                                  <dgm:param type="nodeVertAlign" val="t"/>
                                </dgm:alg>
                              </dgm:else>
                            </dgm:choose>
                            <dgm:shape xmlns:r="http://schemas.openxmlformats.org/officeDocument/2006/relationships" r:blip="">
                              <dgm:adjLst/>
                            </dgm:shape>
                            <dgm:presOf/>
                            <dgm:constrLst/>
                            <dgm:ruleLst>
                              <dgm:rule type="w" val="INF" fact="NaN" max="NaN"/>
                            </dgm:ruleLst>
                            <dgm:forEach name="Name31" ref="repeat"/>
                          </dgm:layoutNode>
                        </dgm:layoutNode>
                        <dgm:choose name="Name32">
                          <dgm:if name="Name33" axis="self" ptType="node" func="revPos" op="gte" val="2">
                            <dgm:forEach name="Name34" axis="followSib" ptType="sibTrans" cnt="1">
                              <dgm:layoutNode name="sibSpaceFour">
                                <dgm:alg type="sp"/>
                                <dgm:shape xmlns:r="http://schemas.openxmlformats.org/officeDocument/2006/relationships" r:blip="">
                                  <dgm:adjLst/>
                                </dgm:shape>
                                <dgm:presOf/>
                                <dgm:constrLst/>
                                <dgm:ruleLst/>
                              </dgm:layoutNode>
                            </dgm:forEach>
                          </dgm:if>
                          <dgm:else name="Name35"/>
                        </dgm:choose>
                      </dgm:forEach>
                    </dgm:layoutNode>
                  </dgm:layoutNode>
                  <dgm:choose name="Name36">
                    <dgm:if name="Name37" axis="self" ptType="node" func="revPos" op="gte" val="2">
                      <dgm:forEach name="Name38" axis="followSib" ptType="sibTrans" cnt="1">
                        <dgm:layoutNode name="sibSpaceThree">
                          <dgm:alg type="sp"/>
                          <dgm:shape xmlns:r="http://schemas.openxmlformats.org/officeDocument/2006/relationships" r:blip="">
                            <dgm:adjLst/>
                          </dgm:shape>
                          <dgm:presOf/>
                          <dgm:constrLst/>
                          <dgm:ruleLst/>
                        </dgm:layoutNode>
                      </dgm:forEach>
                    </dgm:if>
                    <dgm:else name="Name39"/>
                  </dgm:choose>
                </dgm:forEach>
              </dgm:layoutNode>
            </dgm:layoutNode>
            <dgm:choose name="Name40">
              <dgm:if name="Name41" axis="self" ptType="node" func="revPos" op="gte" val="2">
                <dgm:forEach name="Name42" axis="followSib" ptType="sibTrans" cnt="1">
                  <dgm:layoutNode name="sibSpaceTwo">
                    <dgm:alg type="sp"/>
                    <dgm:shape xmlns:r="http://schemas.openxmlformats.org/officeDocument/2006/relationships" r:blip="">
                      <dgm:adjLst/>
                    </dgm:shape>
                    <dgm:presOf/>
                    <dgm:constrLst/>
                    <dgm:ruleLst/>
                  </dgm:layoutNode>
                </dgm:forEach>
              </dgm:if>
              <dgm:else name="Name43"/>
            </dgm:choose>
          </dgm:forEach>
        </dgm:layoutNode>
      </dgm:layoutNode>
      <dgm:choose name="Name44">
        <dgm:if name="Name45" axis="self" ptType="node" func="revPos" op="gte" val="2">
          <dgm:forEach name="Name46" axis="followSib" ptType="sibTrans" cnt="1">
            <dgm:layoutNode name="sibSpaceOne">
              <dgm:alg type="sp"/>
              <dgm:shape xmlns:r="http://schemas.openxmlformats.org/officeDocument/2006/relationships" r:blip="">
                <dgm:adjLst/>
              </dgm:shape>
              <dgm:presOf/>
              <dgm:constrLst/>
              <dgm:ruleLst/>
            </dgm:layoutNode>
          </dgm:forEach>
        </dgm:if>
        <dgm:else name="Name47"/>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Montserrat" panose="00000500000000000000" pitchFamily="2" charset="0"/>
                <a:ea typeface="微软雅黑 Light" panose="020B0502040204020203" pitchFamily="34" charset="-122"/>
              </a:defRPr>
            </a:lvl1pPr>
          </a:lstStyle>
          <a:p>
            <a:fld id="{E3F7A0F7-AD19-4993-8574-730EC50C92A6}" type="datetimeFigureOut">
              <a:rPr lang="zh-CN" altLang="en-US" smtClean="0"/>
              <a:pPr/>
              <a:t>2025/12/5</a:t>
            </a:fld>
            <a:endParaRPr lang="zh-CN" altLang="en-US" dirty="0"/>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dirty="0"/>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Montserrat" panose="00000500000000000000" pitchFamily="2" charset="0"/>
                <a:ea typeface="微软雅黑 Light" panose="020B0502040204020203" pitchFamily="34" charset="-122"/>
              </a:defRPr>
            </a:lvl1pPr>
          </a:lstStyle>
          <a:p>
            <a:endParaRPr lang="zh-CN" altLang="en-US" dirty="0"/>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Montserrat" panose="00000500000000000000" pitchFamily="2" charset="0"/>
                <a:ea typeface="微软雅黑 Light" panose="020B0502040204020203" pitchFamily="34" charset="-122"/>
              </a:defRPr>
            </a:lvl1pPr>
          </a:lstStyle>
          <a:p>
            <a:fld id="{0B14BD24-89E3-4C51-B736-BCCE6C13A884}" type="slidenum">
              <a:rPr lang="zh-CN" altLang="en-US" smtClean="0"/>
              <a:pPr/>
              <a:t>‹#›</a:t>
            </a:fld>
            <a:endParaRPr lang="zh-CN" altLang="en-US" dirty="0"/>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ontserrat" panose="00000500000000000000" pitchFamily="2" charset="0"/>
        <a:ea typeface="微软雅黑 Light" panose="020B0502040204020203" pitchFamily="34" charset="-122"/>
        <a:cs typeface="+mn-cs"/>
      </a:defRPr>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5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19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25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2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25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25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264.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26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27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27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a:t>
            </a:fld>
            <a:endParaRPr lang="zh-CN" altLang="en-US" dirty="0"/>
          </a:p>
        </p:txBody>
      </p:sp>
    </p:spTree>
    <p:extLst>
      <p:ext uri="{BB962C8B-B14F-4D97-AF65-F5344CB8AC3E}">
        <p14:creationId xmlns:p14="http://schemas.microsoft.com/office/powerpoint/2010/main" val="31542063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11</a:t>
            </a:fld>
            <a:endParaRPr lang="zh-CN" altLang="en-US"/>
          </a:p>
        </p:txBody>
      </p:sp>
    </p:spTree>
    <p:extLst>
      <p:ext uri="{BB962C8B-B14F-4D97-AF65-F5344CB8AC3E}">
        <p14:creationId xmlns:p14="http://schemas.microsoft.com/office/powerpoint/2010/main" val="16947883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0283817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23</a:t>
            </a:fld>
            <a:endParaRPr lang="zh-CN" altLang="en-US"/>
          </a:p>
        </p:txBody>
      </p:sp>
    </p:spTree>
    <p:extLst>
      <p:ext uri="{BB962C8B-B14F-4D97-AF65-F5344CB8AC3E}">
        <p14:creationId xmlns:p14="http://schemas.microsoft.com/office/powerpoint/2010/main" val="363534752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29</a:t>
            </a:fld>
            <a:endParaRPr lang="zh-CN" altLang="en-US"/>
          </a:p>
        </p:txBody>
      </p:sp>
    </p:spTree>
    <p:extLst>
      <p:ext uri="{BB962C8B-B14F-4D97-AF65-F5344CB8AC3E}">
        <p14:creationId xmlns:p14="http://schemas.microsoft.com/office/powerpoint/2010/main" val="4064304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42</a:t>
            </a:fld>
            <a:endParaRPr lang="zh-CN" altLang="en-US"/>
          </a:p>
        </p:txBody>
      </p:sp>
    </p:spTree>
    <p:extLst>
      <p:ext uri="{BB962C8B-B14F-4D97-AF65-F5344CB8AC3E}">
        <p14:creationId xmlns:p14="http://schemas.microsoft.com/office/powerpoint/2010/main" val="36711897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43</a:t>
            </a:fld>
            <a:endParaRPr lang="zh-CN" altLang="en-US"/>
          </a:p>
        </p:txBody>
      </p:sp>
    </p:spTree>
    <p:extLst>
      <p:ext uri="{BB962C8B-B14F-4D97-AF65-F5344CB8AC3E}">
        <p14:creationId xmlns:p14="http://schemas.microsoft.com/office/powerpoint/2010/main" val="38676447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76</a:t>
            </a:fld>
            <a:endParaRPr lang="zh-CN" altLang="en-US"/>
          </a:p>
        </p:txBody>
      </p:sp>
    </p:spTree>
    <p:extLst>
      <p:ext uri="{BB962C8B-B14F-4D97-AF65-F5344CB8AC3E}">
        <p14:creationId xmlns:p14="http://schemas.microsoft.com/office/powerpoint/2010/main" val="24156310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46078783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96</a:t>
            </a:fld>
            <a:endParaRPr lang="zh-CN" altLang="en-US"/>
          </a:p>
        </p:txBody>
      </p:sp>
    </p:spTree>
    <p:extLst>
      <p:ext uri="{BB962C8B-B14F-4D97-AF65-F5344CB8AC3E}">
        <p14:creationId xmlns:p14="http://schemas.microsoft.com/office/powerpoint/2010/main" val="27588173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137540969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122</a:t>
            </a:fld>
            <a:endParaRPr lang="zh-CN" altLang="en-US"/>
          </a:p>
        </p:txBody>
      </p:sp>
    </p:spTree>
    <p:extLst>
      <p:ext uri="{BB962C8B-B14F-4D97-AF65-F5344CB8AC3E}">
        <p14:creationId xmlns:p14="http://schemas.microsoft.com/office/powerpoint/2010/main" val="146090854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123</a:t>
            </a:fld>
            <a:endParaRPr lang="zh-CN" altLang="en-US"/>
          </a:p>
        </p:txBody>
      </p:sp>
    </p:spTree>
    <p:extLst>
      <p:ext uri="{BB962C8B-B14F-4D97-AF65-F5344CB8AC3E}">
        <p14:creationId xmlns:p14="http://schemas.microsoft.com/office/powerpoint/2010/main" val="17196238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124</a:t>
            </a:fld>
            <a:endParaRPr lang="zh-CN" altLang="en-US"/>
          </a:p>
        </p:txBody>
      </p:sp>
    </p:spTree>
    <p:extLst>
      <p:ext uri="{BB962C8B-B14F-4D97-AF65-F5344CB8AC3E}">
        <p14:creationId xmlns:p14="http://schemas.microsoft.com/office/powerpoint/2010/main" val="20324781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125</a:t>
            </a:fld>
            <a:endParaRPr lang="zh-CN" altLang="en-US"/>
          </a:p>
        </p:txBody>
      </p:sp>
    </p:spTree>
    <p:extLst>
      <p:ext uri="{BB962C8B-B14F-4D97-AF65-F5344CB8AC3E}">
        <p14:creationId xmlns:p14="http://schemas.microsoft.com/office/powerpoint/2010/main" val="216687154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126</a:t>
            </a:fld>
            <a:endParaRPr lang="zh-CN" altLang="en-US"/>
          </a:p>
        </p:txBody>
      </p:sp>
    </p:spTree>
    <p:extLst>
      <p:ext uri="{BB962C8B-B14F-4D97-AF65-F5344CB8AC3E}">
        <p14:creationId xmlns:p14="http://schemas.microsoft.com/office/powerpoint/2010/main" val="312849367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RFC 5322 </a:t>
            </a:r>
            <a:r>
              <a:rPr lang="zh-CN" altLang="en-US" dirty="0"/>
              <a:t>只规定了邮件内容中的首部 </a:t>
            </a:r>
            <a:r>
              <a:rPr lang="en-US" altLang="zh-CN" dirty="0"/>
              <a:t>(header) </a:t>
            </a:r>
            <a:r>
              <a:rPr lang="zh-CN" altLang="en-US" dirty="0"/>
              <a:t>格式</a:t>
            </a:r>
          </a:p>
          <a:p>
            <a:r>
              <a:rPr lang="zh-CN" altLang="en-US" dirty="0"/>
              <a:t>邮件的主体 </a:t>
            </a:r>
            <a:r>
              <a:rPr lang="en-US" altLang="zh-CN" dirty="0"/>
              <a:t>(body) </a:t>
            </a:r>
            <a:r>
              <a:rPr lang="zh-CN" altLang="en-US" dirty="0"/>
              <a:t>部分则让用户自由撰写</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135</a:t>
            </a:fld>
            <a:endParaRPr lang="zh-CN" altLang="en-US" dirty="0"/>
          </a:p>
        </p:txBody>
      </p:sp>
    </p:spTree>
    <p:extLst>
      <p:ext uri="{BB962C8B-B14F-4D97-AF65-F5344CB8AC3E}">
        <p14:creationId xmlns:p14="http://schemas.microsoft.com/office/powerpoint/2010/main" val="11056962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发信人的用户代理向源邮件服务器发送邮件，以及源邮件服务器向目的邮件服务器发送邮件，都是使用 </a:t>
            </a:r>
            <a:r>
              <a:rPr lang="en-US" altLang="zh-CN" dirty="0"/>
              <a:t>SMTP </a:t>
            </a:r>
            <a:r>
              <a:rPr lang="zh-CN" altLang="en-US" dirty="0"/>
              <a:t>协议。</a:t>
            </a:r>
          </a:p>
          <a:p>
            <a:r>
              <a:rPr lang="zh-CN" altLang="en-US" dirty="0"/>
              <a:t>而 </a:t>
            </a:r>
            <a:r>
              <a:rPr lang="en-US" altLang="zh-CN" dirty="0"/>
              <a:t>POP </a:t>
            </a:r>
            <a:r>
              <a:rPr lang="zh-CN" altLang="en-US" dirty="0"/>
              <a:t>协议或 </a:t>
            </a:r>
            <a:r>
              <a:rPr lang="en-US" altLang="zh-CN" dirty="0"/>
              <a:t>IMAP </a:t>
            </a:r>
            <a:r>
              <a:rPr lang="zh-CN" altLang="en-US" dirty="0"/>
              <a:t>协议则是用户从目的邮件服务器上读取邮件所使用的协议。 </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139</a:t>
            </a:fld>
            <a:endParaRPr lang="zh-CN" altLang="en-US"/>
          </a:p>
        </p:txBody>
      </p:sp>
    </p:spTree>
    <p:extLst>
      <p:ext uri="{BB962C8B-B14F-4D97-AF65-F5344CB8AC3E}">
        <p14:creationId xmlns:p14="http://schemas.microsoft.com/office/powerpoint/2010/main" val="295563812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嵌套边界 </a:t>
            </a:r>
            <a:endParaRPr lang="en-US" altLang="zh-CN" dirty="0"/>
          </a:p>
          <a:p>
            <a:r>
              <a:rPr lang="en-US" altLang="zh-CN" dirty="0"/>
              <a:t>343</a:t>
            </a:r>
          </a:p>
          <a:p>
            <a:r>
              <a:rPr lang="en-US" altLang="zh-CN" dirty="0"/>
              <a:t>44D</a:t>
            </a:r>
          </a:p>
          <a:p>
            <a:r>
              <a:rPr lang="en-US" altLang="zh-CN" dirty="0"/>
              <a:t>44D--</a:t>
            </a:r>
          </a:p>
          <a:p>
            <a:r>
              <a:rPr lang="en-US" altLang="zh-CN" dirty="0"/>
              <a:t>343--</a:t>
            </a:r>
          </a:p>
          <a:p>
            <a:r>
              <a:rPr lang="zh-CN" altLang="en-US" dirty="0"/>
              <a:t>安全策略	邮件客户端不想让外部程序自动渲染未知类型，防止 </a:t>
            </a:r>
            <a:r>
              <a:rPr lang="en-US" altLang="zh-CN" dirty="0"/>
              <a:t>XSS </a:t>
            </a:r>
            <a:r>
              <a:rPr lang="zh-CN" altLang="en-US" dirty="0"/>
              <a:t>或恶意代码执行</a:t>
            </a:r>
          </a:p>
          <a:p>
            <a:r>
              <a:rPr lang="zh-CN" altLang="en-US" dirty="0"/>
              <a:t>类型检测失败	客户端未读取文件头（</a:t>
            </a:r>
            <a:r>
              <a:rPr lang="en-US" altLang="zh-CN" dirty="0"/>
              <a:t>magic number</a:t>
            </a:r>
            <a:r>
              <a:rPr lang="zh-CN" altLang="en-US" dirty="0"/>
              <a:t>），只看了扩展名，但认为不可靠</a:t>
            </a:r>
          </a:p>
          <a:p>
            <a:r>
              <a:rPr lang="zh-CN" altLang="en-US" dirty="0"/>
              <a:t>统一处理机制	某些邮箱（如 </a:t>
            </a:r>
            <a:r>
              <a:rPr lang="en-US" altLang="zh-CN" dirty="0"/>
              <a:t>QQ </a:t>
            </a:r>
            <a:r>
              <a:rPr lang="zh-CN" altLang="en-US" dirty="0"/>
              <a:t>邮箱）对所有附件默认设为 </a:t>
            </a:r>
            <a:r>
              <a:rPr lang="en-US" altLang="zh-CN" dirty="0"/>
              <a:t>octet-stream</a:t>
            </a:r>
            <a:r>
              <a:rPr lang="zh-CN" altLang="en-US" dirty="0"/>
              <a:t>，简化逻辑</a:t>
            </a:r>
          </a:p>
          <a:p>
            <a:r>
              <a:rPr lang="zh-CN" altLang="en-US" dirty="0"/>
              <a:t>历史兼容性	早期邮件系统不支持复杂 </a:t>
            </a:r>
            <a:r>
              <a:rPr lang="en-US" altLang="zh-CN" dirty="0"/>
              <a:t>MIME </a:t>
            </a:r>
            <a:r>
              <a:rPr lang="zh-CN" altLang="en-US" dirty="0"/>
              <a:t>类型，所以用通用类型</a:t>
            </a:r>
            <a:endParaRPr lang="en-US" altLang="zh-CN" dirty="0"/>
          </a:p>
          <a:p>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PGN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a:solidFill>
                  <a:schemeClr val="tx1"/>
                </a:solidFill>
                <a:effectLst/>
                <a:latin typeface="Montserrat" panose="00000500000000000000" pitchFamily="2" charset="0"/>
                <a:ea typeface="微软雅黑 Light" panose="020B0502040204020203" pitchFamily="34" charset="-122"/>
                <a:cs typeface="+mn-cs"/>
              </a:rPr>
              <a:t>iVBORw0KGgoAAAANSUhEUg...</a:t>
            </a: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151</a:t>
            </a:fld>
            <a:endParaRPr lang="zh-CN" altLang="en-US" dirty="0"/>
          </a:p>
        </p:txBody>
      </p:sp>
    </p:spTree>
    <p:extLst>
      <p:ext uri="{BB962C8B-B14F-4D97-AF65-F5344CB8AC3E}">
        <p14:creationId xmlns:p14="http://schemas.microsoft.com/office/powerpoint/2010/main" val="185425617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155</a:t>
            </a:fld>
            <a:endParaRPr lang="zh-CN" altLang="en-US" dirty="0"/>
          </a:p>
        </p:txBody>
      </p:sp>
    </p:spTree>
    <p:extLst>
      <p:ext uri="{BB962C8B-B14F-4D97-AF65-F5344CB8AC3E}">
        <p14:creationId xmlns:p14="http://schemas.microsoft.com/office/powerpoint/2010/main" val="11520059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157</a:t>
            </a:fld>
            <a:endParaRPr lang="zh-CN" altLang="en-US" dirty="0"/>
          </a:p>
        </p:txBody>
      </p:sp>
    </p:spTree>
    <p:extLst>
      <p:ext uri="{BB962C8B-B14F-4D97-AF65-F5344CB8AC3E}">
        <p14:creationId xmlns:p14="http://schemas.microsoft.com/office/powerpoint/2010/main" val="345847875"/>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194</a:t>
            </a:fld>
            <a:endParaRPr lang="zh-CN" altLang="en-US"/>
          </a:p>
        </p:txBody>
      </p:sp>
    </p:spTree>
    <p:extLst>
      <p:ext uri="{BB962C8B-B14F-4D97-AF65-F5344CB8AC3E}">
        <p14:creationId xmlns:p14="http://schemas.microsoft.com/office/powerpoint/2010/main" val="125051074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altLang="zh-CN"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240</a:t>
            </a:fld>
            <a:endParaRPr lang="zh-CN" altLang="en-US"/>
          </a:p>
        </p:txBody>
      </p:sp>
    </p:spTree>
    <p:extLst>
      <p:ext uri="{BB962C8B-B14F-4D97-AF65-F5344CB8AC3E}">
        <p14:creationId xmlns:p14="http://schemas.microsoft.com/office/powerpoint/2010/main" val="74260838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241</a:t>
            </a:fld>
            <a:endParaRPr lang="zh-CN" altLang="en-US"/>
          </a:p>
        </p:txBody>
      </p:sp>
    </p:spTree>
    <p:extLst>
      <p:ext uri="{BB962C8B-B14F-4D97-AF65-F5344CB8AC3E}">
        <p14:creationId xmlns:p14="http://schemas.microsoft.com/office/powerpoint/2010/main" val="179358934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242</a:t>
            </a:fld>
            <a:endParaRPr lang="zh-CN" altLang="en-US"/>
          </a:p>
        </p:txBody>
      </p:sp>
    </p:spTree>
    <p:extLst>
      <p:ext uri="{BB962C8B-B14F-4D97-AF65-F5344CB8AC3E}">
        <p14:creationId xmlns:p14="http://schemas.microsoft.com/office/powerpoint/2010/main" val="395845275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UDP</a:t>
            </a:r>
            <a:r>
              <a:rPr lang="zh-CN" altLang="en-US" dirty="0"/>
              <a:t>服务器由于只提供无连接服务，因此不使用</a:t>
            </a:r>
            <a:r>
              <a:rPr lang="en-US" altLang="zh-CN" dirty="0"/>
              <a:t>listen</a:t>
            </a:r>
            <a:r>
              <a:rPr lang="zh-CN" altLang="en-US" dirty="0"/>
              <a:t>和</a:t>
            </a:r>
            <a:r>
              <a:rPr lang="en-US" altLang="zh-CN" dirty="0"/>
              <a:t>accept</a:t>
            </a:r>
            <a:r>
              <a:rPr lang="zh-CN" altLang="en-US" dirty="0"/>
              <a:t>系统调用。</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243</a:t>
            </a:fld>
            <a:endParaRPr lang="zh-CN" altLang="en-US"/>
          </a:p>
        </p:txBody>
      </p:sp>
    </p:spTree>
    <p:extLst>
      <p:ext uri="{BB962C8B-B14F-4D97-AF65-F5344CB8AC3E}">
        <p14:creationId xmlns:p14="http://schemas.microsoft.com/office/powerpoint/2010/main" val="6171034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在</a:t>
            </a:r>
            <a:r>
              <a:rPr lang="en-US" altLang="zh-CN" dirty="0"/>
              <a:t>connect</a:t>
            </a:r>
            <a:r>
              <a:rPr lang="zh-CN" altLang="en-US" dirty="0"/>
              <a:t>系统调用中，客户必须指明远地端点（即远地服务器的</a:t>
            </a:r>
            <a:r>
              <a:rPr lang="en-US" altLang="zh-CN" dirty="0"/>
              <a:t>IP</a:t>
            </a:r>
            <a:r>
              <a:rPr lang="zh-CN" altLang="en-US" dirty="0"/>
              <a:t>地址和端口号）。</a:t>
            </a:r>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245</a:t>
            </a:fld>
            <a:endParaRPr lang="zh-CN" altLang="en-US"/>
          </a:p>
        </p:txBody>
      </p:sp>
    </p:spTree>
    <p:extLst>
      <p:ext uri="{BB962C8B-B14F-4D97-AF65-F5344CB8AC3E}">
        <p14:creationId xmlns:p14="http://schemas.microsoft.com/office/powerpoint/2010/main" val="266604003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调用用</a:t>
            </a:r>
            <a:r>
              <a:rPr lang="en-US" altLang="zh-CN" dirty="0"/>
              <a:t>send</a:t>
            </a:r>
            <a:r>
              <a:rPr lang="zh-CN" altLang="en-US" dirty="0"/>
              <a:t>需要三个变量：数据要发往的套接字的描述符、要发送的数据的地址以及数据的长度。</a:t>
            </a:r>
            <a:endParaRPr lang="en-US" altLang="zh-CN" dirty="0"/>
          </a:p>
          <a:p>
            <a:r>
              <a:rPr lang="zh-CN" altLang="en-US" dirty="0"/>
              <a:t>通常</a:t>
            </a:r>
            <a:r>
              <a:rPr lang="en-US" altLang="zh-CN" dirty="0"/>
              <a:t>send</a:t>
            </a:r>
            <a:r>
              <a:rPr lang="zh-CN" altLang="en-US" dirty="0"/>
              <a:t>调用把数据复制到操作系统内核的缓存中。若系统的缓存已满，</a:t>
            </a:r>
            <a:r>
              <a:rPr lang="en-US" altLang="zh-CN" dirty="0"/>
              <a:t>send</a:t>
            </a:r>
            <a:r>
              <a:rPr lang="zh-CN" altLang="en-US" dirty="0"/>
              <a:t>就暂时阻塞，直到缓存有空间存放新的数据。</a:t>
            </a:r>
          </a:p>
          <a:p>
            <a:endParaRPr lang="en-US" altLang="zh-CN" dirty="0"/>
          </a:p>
          <a:p>
            <a:r>
              <a:rPr lang="zh-CN" altLang="en-US" dirty="0"/>
              <a:t>调用</a:t>
            </a:r>
            <a:r>
              <a:rPr lang="en-US" altLang="zh-CN" dirty="0" err="1"/>
              <a:t>recv</a:t>
            </a:r>
            <a:r>
              <a:rPr lang="zh-CN" altLang="en-US" dirty="0"/>
              <a:t>也需要三个变量：要使用的套接字的描述符、缓存的地址以及缓存空间的长度。</a:t>
            </a:r>
          </a:p>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246</a:t>
            </a:fld>
            <a:endParaRPr lang="zh-CN" altLang="en-US"/>
          </a:p>
        </p:txBody>
      </p:sp>
    </p:spTree>
    <p:extLst>
      <p:ext uri="{BB962C8B-B14F-4D97-AF65-F5344CB8AC3E}">
        <p14:creationId xmlns:p14="http://schemas.microsoft.com/office/powerpoint/2010/main" val="262773458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247</a:t>
            </a:fld>
            <a:endParaRPr lang="zh-CN" altLang="en-US"/>
          </a:p>
        </p:txBody>
      </p:sp>
    </p:spTree>
    <p:extLst>
      <p:ext uri="{BB962C8B-B14F-4D97-AF65-F5344CB8AC3E}">
        <p14:creationId xmlns:p14="http://schemas.microsoft.com/office/powerpoint/2010/main" val="2956329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latin typeface="Montserrat" panose="00000500000000000000" pitchFamily="2" charset="0"/>
                <a:ea typeface="微软雅黑 Light" panose="020B0502040204020203" pitchFamily="34" charset="-122"/>
              </a:rPr>
              <a:t>1. </a:t>
            </a:r>
            <a:r>
              <a:rPr lang="zh-CN" altLang="en-US" sz="1200" dirty="0">
                <a:latin typeface="Montserrat" panose="00000500000000000000" pitchFamily="2" charset="0"/>
                <a:ea typeface="微软雅黑 Light" panose="020B0502040204020203" pitchFamily="34" charset="-122"/>
              </a:rPr>
              <a:t>用户 </a:t>
            </a:r>
            <a:r>
              <a:rPr lang="en-US" altLang="zh-CN" sz="1200" dirty="0">
                <a:latin typeface="Montserrat" panose="00000500000000000000" pitchFamily="2" charset="0"/>
                <a:ea typeface="微软雅黑 Light" panose="020B0502040204020203" pitchFamily="34" charset="-122"/>
              </a:rPr>
              <a:t>X </a:t>
            </a:r>
            <a:r>
              <a:rPr lang="zh-CN" altLang="en-US" sz="1200" dirty="0">
                <a:latin typeface="Montserrat" panose="00000500000000000000" pitchFamily="2" charset="0"/>
                <a:ea typeface="微软雅黑 Light" panose="020B0502040204020203" pitchFamily="34" charset="-122"/>
              </a:rPr>
              <a:t>向 </a:t>
            </a:r>
            <a:r>
              <a:rPr lang="en-US" altLang="zh-CN" sz="1200" dirty="0">
                <a:latin typeface="Montserrat" panose="00000500000000000000" pitchFamily="2" charset="0"/>
                <a:ea typeface="微软雅黑 Light" panose="020B0502040204020203" pitchFamily="34" charset="-122"/>
              </a:rPr>
              <a:t>Napster </a:t>
            </a:r>
            <a:r>
              <a:rPr lang="zh-CN" altLang="en-US" sz="1200" dirty="0">
                <a:latin typeface="Montserrat" panose="00000500000000000000" pitchFamily="2" charset="0"/>
                <a:ea typeface="微软雅黑 Light" panose="020B0502040204020203" pitchFamily="34" charset="-122"/>
              </a:rPr>
              <a:t>目录服务器查询（采用客户</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服务器方式）：谁有音乐文件 </a:t>
            </a:r>
            <a:r>
              <a:rPr lang="en-US" altLang="zh-CN" sz="1200" dirty="0">
                <a:latin typeface="Montserrat" panose="00000500000000000000" pitchFamily="2" charset="0"/>
                <a:ea typeface="微软雅黑 Light" panose="020B0502040204020203" pitchFamily="34" charset="-122"/>
              </a:rPr>
              <a:t>MP3#</a:t>
            </a:r>
            <a:endParaRPr lang="zh-CN" altLang="en-US" sz="1200" dirty="0">
              <a:latin typeface="Montserrat" panose="00000500000000000000" pitchFamily="2" charset="0"/>
              <a:ea typeface="微软雅黑 Light" panose="020B0502040204020203" pitchFamily="34"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2. Napster </a:t>
            </a:r>
            <a:r>
              <a:rPr lang="zh-CN" altLang="en-US" sz="1200" dirty="0"/>
              <a:t>目录服务器回答 </a:t>
            </a:r>
            <a:r>
              <a:rPr lang="en-US" altLang="zh-CN" sz="1200" dirty="0"/>
              <a:t>X</a:t>
            </a:r>
            <a:r>
              <a:rPr lang="zh-CN" altLang="en-US" sz="1200" dirty="0"/>
              <a:t>：有三个地点有文件 </a:t>
            </a:r>
            <a:r>
              <a:rPr lang="en-US" altLang="zh-CN" sz="1200" dirty="0"/>
              <a:t>MP3#</a:t>
            </a:r>
            <a:r>
              <a:rPr lang="zh-CN" altLang="en-US" sz="1200" dirty="0"/>
              <a:t>，即 </a:t>
            </a:r>
            <a:r>
              <a:rPr lang="en-US" altLang="zh-CN" sz="1200" dirty="0"/>
              <a:t>A, B </a:t>
            </a:r>
            <a:r>
              <a:rPr lang="zh-CN" altLang="en-US" sz="1200" dirty="0"/>
              <a:t>和 </a:t>
            </a:r>
            <a:r>
              <a:rPr lang="en-US" altLang="zh-CN" sz="1200" dirty="0"/>
              <a:t>C</a:t>
            </a:r>
            <a:r>
              <a:rPr lang="zh-CN" altLang="en-US" sz="1200" dirty="0"/>
              <a:t>，给出了这三个地点的 </a:t>
            </a:r>
            <a:r>
              <a:rPr lang="en-US" altLang="zh-CN" sz="1200" dirty="0"/>
              <a:t>IP </a:t>
            </a:r>
            <a:r>
              <a:rPr lang="zh-CN" altLang="en-US" sz="1200" dirty="0"/>
              <a:t>地址；用户 </a:t>
            </a:r>
            <a:r>
              <a:rPr lang="en-US" altLang="zh-CN" sz="1200" dirty="0"/>
              <a:t>X </a:t>
            </a:r>
            <a:r>
              <a:rPr lang="zh-CN" altLang="en-US" sz="1200" dirty="0"/>
              <a:t>得知文件 </a:t>
            </a:r>
            <a:r>
              <a:rPr lang="en-US" altLang="zh-CN" sz="1200" dirty="0"/>
              <a:t>MP3# </a:t>
            </a:r>
            <a:r>
              <a:rPr lang="zh-CN" altLang="en-US" sz="1200" dirty="0"/>
              <a:t>的三个下载地点</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3.</a:t>
            </a:r>
            <a:r>
              <a:rPr lang="zh-CN" altLang="en-US" sz="1200" dirty="0"/>
              <a:t> 用户 </a:t>
            </a:r>
            <a:r>
              <a:rPr lang="en-US" altLang="zh-CN" sz="1200" dirty="0"/>
              <a:t>X </a:t>
            </a:r>
            <a:r>
              <a:rPr lang="zh-CN" altLang="en-US" sz="1200" dirty="0"/>
              <a:t>可以随机地选择三个地点中的任一个。假定 </a:t>
            </a:r>
            <a:r>
              <a:rPr lang="en-US" altLang="zh-CN" sz="1200" dirty="0"/>
              <a:t>X </a:t>
            </a:r>
            <a:r>
              <a:rPr lang="zh-CN" altLang="en-US" sz="1200" dirty="0"/>
              <a:t>向 </a:t>
            </a:r>
            <a:r>
              <a:rPr lang="en-US" altLang="zh-CN" sz="1200" dirty="0"/>
              <a:t>A </a:t>
            </a:r>
            <a:r>
              <a:rPr lang="zh-CN" altLang="en-US" sz="1200" dirty="0"/>
              <a:t>发送下载文件 </a:t>
            </a:r>
            <a:r>
              <a:rPr lang="en-US" altLang="zh-CN" sz="1200" dirty="0"/>
              <a:t>MP3# </a:t>
            </a:r>
            <a:r>
              <a:rPr lang="zh-CN" altLang="en-US" sz="1200" dirty="0"/>
              <a:t>的请求报文。双方都使用 </a:t>
            </a:r>
            <a:r>
              <a:rPr lang="en-US" altLang="zh-CN" sz="1200" dirty="0"/>
              <a:t>P2P </a:t>
            </a:r>
            <a:r>
              <a:rPr lang="zh-CN" altLang="en-US" sz="1200" dirty="0"/>
              <a:t>方式通信</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dirty="0"/>
              <a:t>4. </a:t>
            </a:r>
            <a:r>
              <a:rPr lang="zh-CN" altLang="en-US" sz="1200" dirty="0"/>
              <a:t>对等方 </a:t>
            </a:r>
            <a:r>
              <a:rPr lang="en-US" altLang="zh-CN" sz="1200" dirty="0"/>
              <a:t>A</a:t>
            </a:r>
            <a:r>
              <a:rPr lang="zh-CN" altLang="en-US" sz="1200" dirty="0"/>
              <a:t>（现在作为服务器）把文件 </a:t>
            </a:r>
            <a:r>
              <a:rPr lang="en-US" altLang="zh-CN" sz="1200" dirty="0"/>
              <a:t>MP3# </a:t>
            </a:r>
            <a:r>
              <a:rPr lang="zh-CN" altLang="en-US" sz="1200" dirty="0"/>
              <a:t>发送给 </a:t>
            </a:r>
            <a:r>
              <a:rPr lang="en-US" altLang="zh-CN" sz="1200" dirty="0"/>
              <a:t>X</a:t>
            </a:r>
            <a:endParaRPr lang="zh-CN" altLang="en-US" sz="1200"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252</a:t>
            </a:fld>
            <a:endParaRPr lang="zh-CN" altLang="en-US" dirty="0"/>
          </a:p>
        </p:txBody>
      </p:sp>
    </p:spTree>
    <p:extLst>
      <p:ext uri="{BB962C8B-B14F-4D97-AF65-F5344CB8AC3E}">
        <p14:creationId xmlns:p14="http://schemas.microsoft.com/office/powerpoint/2010/main" val="339645791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lvl="1"/>
            <a:r>
              <a:rPr lang="zh-CN" altLang="en-US" dirty="0"/>
              <a:t>一旦目录服务器宕机、遭受攻击或被关闭，整个系统将无法进行文件定位，导致服务完全瘫痪</a:t>
            </a:r>
            <a:endParaRPr lang="en-US" altLang="zh-CN" dirty="0"/>
          </a:p>
          <a:p>
            <a:pPr lvl="1"/>
            <a:r>
              <a:rPr lang="zh-CN" altLang="en-US" dirty="0"/>
              <a:t>高度依赖中心节点，违背了真正 </a:t>
            </a:r>
            <a:r>
              <a:rPr lang="en-US" altLang="zh-CN" dirty="0"/>
              <a:t>P2P </a:t>
            </a:r>
            <a:r>
              <a:rPr lang="zh-CN" altLang="en-US" dirty="0"/>
              <a:t>网络去中心化、高容错的设计初衷</a:t>
            </a:r>
            <a:endParaRPr lang="en-US" altLang="zh-CN" dirty="0"/>
          </a:p>
          <a:p>
            <a:endParaRPr lang="en-US" altLang="zh-CN" dirty="0"/>
          </a:p>
          <a:p>
            <a:pPr lvl="1"/>
            <a:r>
              <a:rPr lang="zh-CN" altLang="en-US" dirty="0"/>
              <a:t>目录服务器负载过高</a:t>
            </a:r>
            <a:endParaRPr lang="en-US" altLang="zh-CN" dirty="0"/>
          </a:p>
          <a:p>
            <a:pPr lvl="1"/>
            <a:r>
              <a:rPr lang="zh-CN" altLang="en-US" dirty="0"/>
              <a:t>扩展性差：集中式架构难以水平扩展。即使增加服务器数量，仍需复杂的负载均衡和数据同步机制</a:t>
            </a:r>
            <a:endParaRPr lang="en-US" altLang="zh-CN" dirty="0"/>
          </a:p>
          <a:p>
            <a:pPr lvl="1"/>
            <a:endParaRPr lang="en-US" altLang="zh-CN" dirty="0"/>
          </a:p>
          <a:p>
            <a:pPr lvl="1"/>
            <a:r>
              <a:rPr lang="zh-CN" altLang="en-US" dirty="0"/>
              <a:t>大规模传播盗版内容：用户上传和下载的 </a:t>
            </a:r>
            <a:r>
              <a:rPr lang="en-US" altLang="zh-CN" dirty="0"/>
              <a:t>MP3 </a:t>
            </a:r>
            <a:r>
              <a:rPr lang="zh-CN" altLang="en-US" dirty="0"/>
              <a:t>多为未经版权授权的商业音乐，</a:t>
            </a:r>
            <a:r>
              <a:rPr lang="en-US" altLang="zh-CN" dirty="0"/>
              <a:t>Napster </a:t>
            </a:r>
            <a:r>
              <a:rPr lang="zh-CN" altLang="en-US" dirty="0"/>
              <a:t>虽不直接存储音乐文件，但其平台设计实质性促成了侵权行为</a:t>
            </a:r>
          </a:p>
          <a:p>
            <a:pPr lvl="1"/>
            <a:r>
              <a:rPr lang="zh-CN" altLang="en-US" dirty="0"/>
              <a:t>法律责任明确：在 </a:t>
            </a:r>
            <a:r>
              <a:rPr lang="en-US" altLang="zh-CN" dirty="0"/>
              <a:t>2001 </a:t>
            </a:r>
            <a:r>
              <a:rPr lang="zh-CN" altLang="en-US" dirty="0"/>
              <a:t>年 </a:t>
            </a:r>
            <a:r>
              <a:rPr lang="en-US" altLang="zh-CN" dirty="0"/>
              <a:t>A&amp;M Records v. Napster </a:t>
            </a:r>
            <a:r>
              <a:rPr lang="zh-CN" altLang="en-US" dirty="0"/>
              <a:t>案中，美国法院裁定 </a:t>
            </a:r>
            <a:r>
              <a:rPr lang="en-US" altLang="zh-CN" dirty="0"/>
              <a:t>Napster </a:t>
            </a:r>
            <a:r>
              <a:rPr lang="zh-CN" altLang="en-US" dirty="0"/>
              <a:t>对用户侵权行为构成“辅助侵权”（</a:t>
            </a:r>
            <a:r>
              <a:rPr lang="en-US" altLang="zh-CN" dirty="0"/>
              <a:t>contributory infringement</a:t>
            </a:r>
            <a:r>
              <a:rPr lang="zh-CN" altLang="en-US" dirty="0"/>
              <a:t>）和“代位侵权”（</a:t>
            </a:r>
            <a:r>
              <a:rPr lang="en-US" altLang="zh-CN" dirty="0"/>
              <a:t>vicarious infringement</a:t>
            </a:r>
            <a:r>
              <a:rPr lang="zh-CN" altLang="en-US" dirty="0"/>
              <a:t>），因其有能力监督并从中获利却未采取措施阻止侵权</a:t>
            </a:r>
          </a:p>
          <a:p>
            <a:pPr lvl="1"/>
            <a:r>
              <a:rPr lang="zh-CN" altLang="en-US" dirty="0"/>
              <a:t>商业模式不可持续：缺乏与唱片公司、艺术家的合作机制，导致法律诉讼不断，最终被迫关停核心服务</a:t>
            </a:r>
          </a:p>
          <a:p>
            <a:pPr lvl="1"/>
            <a:endParaRPr lang="zh-CN" altLang="en-US" dirty="0"/>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253</a:t>
            </a:fld>
            <a:endParaRPr lang="zh-CN" altLang="en-US" dirty="0"/>
          </a:p>
        </p:txBody>
      </p:sp>
    </p:spTree>
    <p:extLst>
      <p:ext uri="{BB962C8B-B14F-4D97-AF65-F5344CB8AC3E}">
        <p14:creationId xmlns:p14="http://schemas.microsoft.com/office/powerpoint/2010/main" val="8471061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257</a:t>
            </a:fld>
            <a:endParaRPr lang="zh-CN" altLang="en-US"/>
          </a:p>
        </p:txBody>
      </p:sp>
    </p:spTree>
    <p:extLst>
      <p:ext uri="{BB962C8B-B14F-4D97-AF65-F5344CB8AC3E}">
        <p14:creationId xmlns:p14="http://schemas.microsoft.com/office/powerpoint/2010/main" val="3756863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258</a:t>
            </a:fld>
            <a:endParaRPr lang="zh-CN" altLang="en-US"/>
          </a:p>
        </p:txBody>
      </p:sp>
    </p:spTree>
    <p:extLst>
      <p:ext uri="{BB962C8B-B14F-4D97-AF65-F5344CB8AC3E}">
        <p14:creationId xmlns:p14="http://schemas.microsoft.com/office/powerpoint/2010/main" val="42469671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just">
              <a:lnSpc>
                <a:spcPct val="150000"/>
              </a:lnSpc>
            </a:pPr>
            <a:r>
              <a:rPr lang="en-US" altLang="zh-CN" sz="1200" dirty="0">
                <a:latin typeface="Montserrat" panose="00000500000000000000" pitchFamily="2" charset="0"/>
                <a:ea typeface="微软雅黑 Light" panose="020B0502040204020203" pitchFamily="34" charset="-122"/>
              </a:rPr>
              <a:t>c/s</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max(30*0.1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3</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pPr algn="just">
              <a:lnSpc>
                <a:spcPct val="150000"/>
              </a:lnSpc>
            </a:pPr>
            <a:r>
              <a:rPr lang="en-US" altLang="zh-CN" sz="1200" dirty="0">
                <a:latin typeface="Montserrat" panose="00000500000000000000" pitchFamily="2" charset="0"/>
                <a:ea typeface="微软雅黑 Light" panose="020B0502040204020203" pitchFamily="34" charset="-122"/>
              </a:rPr>
              <a:t>p2p</a:t>
            </a:r>
          </a:p>
          <a:p>
            <a:pPr algn="just">
              <a:lnSpc>
                <a:spcPct val="150000"/>
              </a:lnSpc>
            </a:pPr>
            <a:r>
              <a:rPr lang="zh-CN" altLang="en-US" sz="1200" dirty="0">
                <a:latin typeface="Montserrat" panose="00000500000000000000" pitchFamily="2" charset="0"/>
                <a:ea typeface="微软雅黑 Light" panose="020B0502040204020203" pitchFamily="34" charset="-122"/>
              </a:rPr>
              <a:t>设所有的对等方的上传速率都是 </a:t>
            </a:r>
            <a:r>
              <a:rPr lang="en-US" altLang="zh-CN" sz="1200" dirty="0">
                <a:latin typeface="Montserrat" panose="00000500000000000000" pitchFamily="2" charset="0"/>
                <a:ea typeface="微软雅黑 Light" panose="020B0502040204020203" pitchFamily="34" charset="-122"/>
              </a:rPr>
              <a:t>u</a:t>
            </a:r>
            <a:r>
              <a:rPr lang="zh-CN" altLang="en-US" sz="1200" dirty="0">
                <a:latin typeface="Montserrat" panose="00000500000000000000" pitchFamily="2" charset="0"/>
                <a:ea typeface="微软雅黑 Light" panose="020B0502040204020203" pitchFamily="34" charset="-122"/>
              </a:rPr>
              <a:t>，并且 </a:t>
            </a:r>
            <a:r>
              <a:rPr lang="en-US" altLang="zh-CN" sz="1200" dirty="0">
                <a:latin typeface="Montserrat" panose="00000500000000000000" pitchFamily="2" charset="0"/>
                <a:ea typeface="微软雅黑 Light" panose="020B0502040204020203" pitchFamily="34" charset="-122"/>
              </a:rPr>
              <a:t>F/u = 1 </a:t>
            </a:r>
            <a:r>
              <a:rPr lang="zh-CN" altLang="en-US" sz="1200" dirty="0">
                <a:latin typeface="Montserrat" panose="00000500000000000000" pitchFamily="2" charset="0"/>
                <a:ea typeface="微软雅黑 Light" panose="020B0502040204020203" pitchFamily="34" charset="-122"/>
              </a:rPr>
              <a:t>小时</a:t>
            </a:r>
          </a:p>
          <a:p>
            <a:pPr algn="just">
              <a:lnSpc>
                <a:spcPct val="150000"/>
              </a:lnSpc>
            </a:pPr>
            <a:r>
              <a:rPr lang="zh-CN" altLang="en-US" sz="1200" dirty="0">
                <a:latin typeface="Montserrat" panose="00000500000000000000" pitchFamily="2" charset="0"/>
                <a:ea typeface="微软雅黑 Light" panose="020B0502040204020203" pitchFamily="34" charset="-122"/>
              </a:rPr>
              <a:t>设服务器的上传速率 </a:t>
            </a:r>
            <a:r>
              <a:rPr lang="en-US" altLang="zh-CN" sz="1200"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10u</a:t>
            </a:r>
          </a:p>
          <a:p>
            <a:pPr algn="just">
              <a:lnSpc>
                <a:spcPct val="150000"/>
              </a:lnSpc>
            </a:pPr>
            <a:r>
              <a:rPr lang="zh-CN" altLang="en-US" sz="1200" dirty="0">
                <a:latin typeface="Montserrat" panose="00000500000000000000" pitchFamily="2" charset="0"/>
                <a:ea typeface="微软雅黑 Light" panose="020B0502040204020203" pitchFamily="34" charset="-122"/>
              </a:rPr>
              <a:t>当 </a:t>
            </a:r>
            <a:r>
              <a:rPr lang="en-US" altLang="zh-CN" sz="1200" dirty="0">
                <a:latin typeface="Montserrat" panose="00000500000000000000" pitchFamily="2" charset="0"/>
                <a:ea typeface="微软雅黑 Light" panose="020B0502040204020203" pitchFamily="34" charset="-122"/>
              </a:rPr>
              <a:t>N = 30</a:t>
            </a:r>
          </a:p>
          <a:p>
            <a:pPr algn="just">
              <a:lnSpc>
                <a:spcPct val="150000"/>
              </a:lnSpc>
            </a:pPr>
            <a:r>
              <a:rPr lang="en-US" altLang="zh-CN" sz="1200" dirty="0">
                <a:latin typeface="Montserrat" panose="00000500000000000000" pitchFamily="2" charset="0"/>
                <a:ea typeface="微软雅黑 Light" panose="020B0502040204020203" pitchFamily="34" charset="-122"/>
              </a:rPr>
              <a:t>N*F/</a:t>
            </a:r>
            <a:r>
              <a:rPr lang="en-US" altLang="zh-CN" sz="1200" dirty="0" err="1">
                <a:latin typeface="Montserrat" panose="00000500000000000000" pitchFamily="2" charset="0"/>
                <a:ea typeface="微软雅黑 Light" panose="020B0502040204020203" pitchFamily="34" charset="-122"/>
              </a:rPr>
              <a:t>u</a:t>
            </a:r>
            <a:r>
              <a:rPr lang="en-US" altLang="zh-CN" sz="1200" baseline="-25000" dirty="0" err="1">
                <a:latin typeface="Montserrat" panose="00000500000000000000" pitchFamily="2" charset="0"/>
                <a:ea typeface="微软雅黑 Light" panose="020B0502040204020203" pitchFamily="34" charset="-122"/>
              </a:rPr>
              <a:t>T</a:t>
            </a:r>
            <a:r>
              <a:rPr lang="en-US" altLang="zh-CN" sz="1200" dirty="0">
                <a:latin typeface="Montserrat" panose="00000500000000000000" pitchFamily="2" charset="0"/>
                <a:ea typeface="微软雅黑 Light" panose="020B0502040204020203" pitchFamily="34" charset="-122"/>
              </a:rPr>
              <a:t> = 30F/ 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+ 30*u = 30F/40u = 3/4 </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a:t>
            </a:r>
          </a:p>
          <a:p>
            <a:pPr algn="just">
              <a:lnSpc>
                <a:spcPct val="150000"/>
              </a:lnSpc>
            </a:pPr>
            <a:r>
              <a:rPr lang="en-US" altLang="zh-CN" sz="1200" dirty="0">
                <a:latin typeface="Montserrat" panose="00000500000000000000" pitchFamily="2" charset="0"/>
                <a:ea typeface="微软雅黑 Light" panose="020B0502040204020203" pitchFamily="34" charset="-122"/>
              </a:rPr>
              <a:t>T</a:t>
            </a:r>
            <a:r>
              <a:rPr lang="en-US" altLang="zh-CN" sz="1200" baseline="-25000" dirty="0">
                <a:latin typeface="Montserrat" panose="00000500000000000000" pitchFamily="2" charset="0"/>
                <a:ea typeface="微软雅黑 Light" panose="020B0502040204020203" pitchFamily="34" charset="-122"/>
              </a:rPr>
              <a:t>p2p</a:t>
            </a:r>
            <a:r>
              <a:rPr lang="en-US" altLang="zh-CN" sz="1200" dirty="0">
                <a:latin typeface="Montserrat" panose="00000500000000000000" pitchFamily="2" charset="0"/>
                <a:ea typeface="微软雅黑 Light" panose="020B0502040204020203" pitchFamily="34" charset="-122"/>
              </a:rPr>
              <a:t> ≥ max(0.1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1</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0.75</a:t>
            </a:r>
            <a:r>
              <a:rPr lang="zh-CN" altLang="en-US" sz="1200" dirty="0">
                <a:latin typeface="Montserrat" panose="00000500000000000000" pitchFamily="2" charset="0"/>
                <a:ea typeface="微软雅黑 Light" panose="020B0502040204020203" pitchFamily="34" charset="-122"/>
              </a:rPr>
              <a:t>小时</a:t>
            </a:r>
            <a:r>
              <a:rPr lang="en-US" altLang="zh-CN" sz="1200" dirty="0">
                <a:latin typeface="Montserrat" panose="00000500000000000000" pitchFamily="2" charset="0"/>
                <a:ea typeface="微软雅黑 Light" panose="020B0502040204020203" pitchFamily="34" charset="-122"/>
              </a:rPr>
              <a:t>) = 1</a:t>
            </a:r>
            <a:r>
              <a:rPr lang="zh-CN" altLang="en-US" sz="1200" dirty="0">
                <a:latin typeface="Montserrat" panose="00000500000000000000" pitchFamily="2" charset="0"/>
                <a:ea typeface="微软雅黑 Light" panose="020B0502040204020203" pitchFamily="34" charset="-122"/>
              </a:rPr>
              <a:t>小时</a:t>
            </a:r>
            <a:endParaRPr lang="en-US" altLang="zh-CN" sz="1200" dirty="0">
              <a:latin typeface="Montserrat" panose="00000500000000000000" pitchFamily="2" charset="0"/>
              <a:ea typeface="微软雅黑 Light" panose="020B0502040204020203" pitchFamily="34" charset="-122"/>
            </a:endParaRP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r>
              <a:rPr lang="zh-CN" altLang="en-US" dirty="0"/>
              <a:t>所有 </a:t>
            </a:r>
            <a:r>
              <a:rPr lang="en-US" altLang="zh-CN" dirty="0"/>
              <a:t>peer </a:t>
            </a:r>
            <a:r>
              <a:rPr lang="zh-CN" altLang="en-US" dirty="0"/>
              <a:t>可参与上传，系统总上传能力为：</a:t>
            </a:r>
            <a:endParaRPr lang="en-US" altLang="zh-CN" dirty="0"/>
          </a:p>
          <a:p>
            <a:r>
              <a:rPr lang="en-US" altLang="zh-CN" dirty="0"/>
              <a:t>us​+Nu=10u+30u=40u</a:t>
            </a:r>
          </a:p>
          <a:p>
            <a:r>
              <a:rPr lang="zh-CN" altLang="en-US" dirty="0"/>
              <a:t>要分发总量 </a:t>
            </a:r>
            <a:r>
              <a:rPr lang="en-US" altLang="zh-CN" dirty="0"/>
              <a:t>NF=30F</a:t>
            </a:r>
            <a:r>
              <a:rPr lang="zh-CN" altLang="en-US" dirty="0"/>
              <a:t>，理论最短时间：</a:t>
            </a:r>
            <a:endParaRPr lang="en-US" altLang="zh-CN" dirty="0"/>
          </a:p>
          <a:p>
            <a:r>
              <a:rPr lang="en-US" altLang="zh-CN" dirty="0"/>
              <a:t>T=NF/(us​+Nu)=30F/40u=0.75 </a:t>
            </a:r>
            <a:r>
              <a:rPr lang="zh-CN" altLang="en-US" dirty="0"/>
              <a:t>小时</a:t>
            </a:r>
          </a:p>
          <a:p>
            <a:pPr algn="just">
              <a:lnSpc>
                <a:spcPct val="150000"/>
              </a:lnSpc>
            </a:pPr>
            <a:endParaRPr lang="en-US" altLang="zh-CN" sz="1200" dirty="0">
              <a:latin typeface="Montserrat" panose="00000500000000000000" pitchFamily="2" charset="0"/>
              <a:ea typeface="微软雅黑 Light" panose="020B0502040204020203" pitchFamily="34" charset="-122"/>
            </a:endParaRPr>
          </a:p>
          <a:p>
            <a:endParaRPr lang="zh-CN" altLang="en-US" dirty="0"/>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264</a:t>
            </a:fld>
            <a:endParaRPr lang="zh-CN" altLang="en-US" dirty="0"/>
          </a:p>
        </p:txBody>
      </p:sp>
    </p:spTree>
    <p:extLst>
      <p:ext uri="{BB962C8B-B14F-4D97-AF65-F5344CB8AC3E}">
        <p14:creationId xmlns:p14="http://schemas.microsoft.com/office/powerpoint/2010/main" val="85428556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P2P</a:t>
            </a:r>
            <a:r>
              <a:rPr lang="zh-CN" altLang="en-US" dirty="0"/>
              <a:t>分发时间几乎与用户数 </a:t>
            </a:r>
            <a:r>
              <a:rPr lang="en-US" altLang="zh-CN" dirty="0"/>
              <a:t>N </a:t>
            </a:r>
            <a:r>
              <a:rPr lang="zh-CN" altLang="en-US" dirty="0"/>
              <a:t>无</a:t>
            </a:r>
          </a:p>
        </p:txBody>
      </p:sp>
      <p:sp>
        <p:nvSpPr>
          <p:cNvPr id="4" name="灯片编号占位符 3"/>
          <p:cNvSpPr>
            <a:spLocks noGrp="1"/>
          </p:cNvSpPr>
          <p:nvPr>
            <p:ph type="sldNum" sz="quarter" idx="5"/>
          </p:nvPr>
        </p:nvSpPr>
        <p:spPr/>
        <p:txBody>
          <a:bodyPr/>
          <a:lstStyle/>
          <a:p>
            <a:fld id="{0B14BD24-89E3-4C51-B736-BCCE6C13A884}" type="slidenum">
              <a:rPr lang="zh-CN" altLang="en-US" smtClean="0"/>
              <a:pPr/>
              <a:t>266</a:t>
            </a:fld>
            <a:endParaRPr lang="zh-CN" altLang="en-US" dirty="0"/>
          </a:p>
        </p:txBody>
      </p:sp>
    </p:spTree>
    <p:extLst>
      <p:ext uri="{BB962C8B-B14F-4D97-AF65-F5344CB8AC3E}">
        <p14:creationId xmlns:p14="http://schemas.microsoft.com/office/powerpoint/2010/main" val="162579829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271</a:t>
            </a:fld>
            <a:endParaRPr lang="zh-CN" altLang="en-US"/>
          </a:p>
        </p:txBody>
      </p:sp>
    </p:spTree>
    <p:extLst>
      <p:ext uri="{BB962C8B-B14F-4D97-AF65-F5344CB8AC3E}">
        <p14:creationId xmlns:p14="http://schemas.microsoft.com/office/powerpoint/2010/main" val="10104763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272</a:t>
            </a:fld>
            <a:endParaRPr lang="zh-CN" altLang="en-US"/>
          </a:p>
        </p:txBody>
      </p:sp>
    </p:spTree>
    <p:extLst>
      <p:ext uri="{BB962C8B-B14F-4D97-AF65-F5344CB8AC3E}">
        <p14:creationId xmlns:p14="http://schemas.microsoft.com/office/powerpoint/2010/main" val="11220490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lvl1pPr>
              <a:defRPr sz="1200">
                <a:latin typeface="Montserrat" panose="00000500000000000000" pitchFamily="2" charset="0"/>
                <a:ea typeface="微软雅黑 Light" panose="020B0502040204020203" pitchFamily="34" charset="-122"/>
              </a:defRPr>
            </a:lvl1pPr>
          </a:lstStyle>
          <a:p>
            <a:r>
              <a:rPr lang="zh-CN" altLang="en-US" dirty="0"/>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Light" panose="020B0502040204020203"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4846313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2880000" y="144000"/>
            <a:ext cx="3384000" cy="338554"/>
          </a:xfrm>
          <a:prstGeom prst="rect">
            <a:avLst/>
          </a:prstGeom>
          <a:noFill/>
        </p:spPr>
        <p:txBody>
          <a:bodyPr wrap="square" anchor="ctr">
            <a:spAutoFit/>
          </a:bodyPr>
          <a:lstStyle>
            <a:lvl1pPr>
              <a:defRPr lang="zh-CN" altLang="en-US" sz="1600" b="0" baseline="0">
                <a:solidFill>
                  <a:sysClr val="windowText" lastClr="000000"/>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Tree>
    <p:extLst>
      <p:ext uri="{BB962C8B-B14F-4D97-AF65-F5344CB8AC3E}">
        <p14:creationId xmlns:p14="http://schemas.microsoft.com/office/powerpoint/2010/main" val="29279333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内容">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3D20F7AF-D416-6753-77AA-BC4100F21462}"/>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1999"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687518"/>
            <a:ext cx="8172000"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vl3pPr marL="540000" indent="-180000" algn="l" latinLnBrk="0">
              <a:spcBef>
                <a:spcPts val="0"/>
              </a:spcBef>
              <a:spcAft>
                <a:spcPts val="600"/>
              </a:spcAft>
              <a:buFont typeface="微软雅黑 Light" panose="020B0502040204020203" pitchFamily="34" charset="-122"/>
              <a:buChar char="‐"/>
              <a:defRPr sz="1200">
                <a:latin typeface="微软雅黑 Light" panose="020B0502040204020203" pitchFamily="34" charset="-122"/>
                <a:ea typeface="微软雅黑 Light" panose="020B0502040204020203" pitchFamily="34" charset="-122"/>
              </a:defRPr>
            </a:lvl3pPr>
          </a:lstStyle>
          <a:p>
            <a:pPr lvl="0"/>
            <a:r>
              <a:rPr lang="zh-CN" altLang="en-US" dirty="0"/>
              <a:t>单击此处编辑母版文本样式</a:t>
            </a:r>
          </a:p>
          <a:p>
            <a:pPr lvl="1"/>
            <a:r>
              <a:rPr lang="zh-CN" altLang="en-US" dirty="0"/>
              <a:t>二级</a:t>
            </a:r>
            <a:endParaRPr lang="en-US" altLang="zh-CN" dirty="0"/>
          </a:p>
          <a:p>
            <a:pPr lvl="2"/>
            <a:r>
              <a:rPr lang="zh-CN" altLang="en-US" dirty="0"/>
              <a:t>三级</a:t>
            </a:r>
          </a:p>
        </p:txBody>
      </p:sp>
    </p:spTree>
    <p:extLst>
      <p:ext uri="{BB962C8B-B14F-4D97-AF65-F5344CB8AC3E}">
        <p14:creationId xmlns:p14="http://schemas.microsoft.com/office/powerpoint/2010/main" val="11498460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7B742978-528E-782D-827F-83F837E9A22F}"/>
              </a:ext>
            </a:extLst>
          </p:cNvPr>
          <p:cNvPicPr>
            <a:picLocks noChangeAspect="1"/>
          </p:cNvPicPr>
          <p:nvPr userDrawn="1"/>
        </p:nvPicPr>
        <p:blipFill>
          <a:blip r:embed="rId2"/>
          <a:srcRect l="12200" t="45581" r="23" b="41053"/>
          <a:stretch>
            <a:fillRect/>
          </a:stretch>
        </p:blipFill>
        <p:spPr>
          <a:xfrm>
            <a:off x="0" y="0"/>
            <a:ext cx="9144000" cy="687519"/>
          </a:xfrm>
          <a:prstGeom prst="rect">
            <a:avLst/>
          </a:prstGeom>
        </p:spPr>
      </p:pic>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5999" y="174482"/>
            <a:ext cx="8172000" cy="338554"/>
          </a:xfrm>
          <a:prstGeom prst="rect">
            <a:avLst/>
          </a:prstGeom>
          <a:noFill/>
        </p:spPr>
        <p:txBody>
          <a:bodyPr wrap="square" anchor="ctr">
            <a:spAutoFit/>
          </a:bodyPr>
          <a:lstStyle>
            <a:lvl1pPr algn="l">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dirty="0"/>
              <a:t>单击此处编辑母版标题样式</a:t>
            </a:r>
          </a:p>
        </p:txBody>
      </p:sp>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687518"/>
            <a:ext cx="4086001" cy="4079035"/>
          </a:xfrm>
          <a:prstGeom prst="rect">
            <a:avLst/>
          </a:prstGeom>
        </p:spPr>
        <p:txBody>
          <a:bodyPr lIns="0" tIns="36000" rIns="0" bIns="36000">
            <a:noAutofit/>
          </a:bodyPr>
          <a:lstStyle>
            <a:lvl1pPr marL="180000" indent="-180000" algn="l" latinLnBrk="0">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Light" panose="020B0502040204020203" pitchFamily="34" charset="-122"/>
              </a:defRPr>
            </a:lvl1pPr>
            <a:lvl2pPr marL="360000" indent="-180000" algn="l" latinLnBrk="0">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Light" panose="020B0502040204020203" pitchFamily="34" charset="-122"/>
              </a:defRPr>
            </a:lvl2pPr>
          </a:lstStyle>
          <a:p>
            <a:pPr lvl="0"/>
            <a:r>
              <a:rPr lang="zh-CN" altLang="en-US" dirty="0"/>
              <a:t>单击此处编辑母版文本样式</a:t>
            </a:r>
          </a:p>
          <a:p>
            <a:pPr lvl="1"/>
            <a:r>
              <a:rPr lang="zh-CN" altLang="en-US" dirty="0"/>
              <a:t>二级</a:t>
            </a:r>
          </a:p>
        </p:txBody>
      </p:sp>
    </p:spTree>
    <p:extLst>
      <p:ext uri="{BB962C8B-B14F-4D97-AF65-F5344CB8AC3E}">
        <p14:creationId xmlns:p14="http://schemas.microsoft.com/office/powerpoint/2010/main" val="15649987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spTree>
      <p:nvGrpSpPr>
        <p:cNvPr id="1" name=""/>
        <p:cNvGrpSpPr/>
        <p:nvPr/>
      </p:nvGrpSpPr>
      <p:grpSpPr>
        <a:xfrm>
          <a:off x="0" y="0"/>
          <a:ext cx="0" cy="0"/>
          <a:chOff x="0" y="0"/>
          <a:chExt cx="0" cy="0"/>
        </a:xfrm>
      </p:grpSpPr>
      <p:sp>
        <p:nvSpPr>
          <p:cNvPr id="2" name="矩形 1">
            <a:extLst>
              <a:ext uri="{FF2B5EF4-FFF2-40B4-BE49-F238E27FC236}">
                <a16:creationId xmlns:a16="http://schemas.microsoft.com/office/drawing/2014/main" id="{7815FF5A-3BBE-0104-02EB-932669D7C010}"/>
              </a:ext>
            </a:extLst>
          </p:cNvPr>
          <p:cNvSpPr/>
          <p:nvPr userDrawn="1"/>
        </p:nvSpPr>
        <p:spPr>
          <a:xfrm>
            <a:off x="0" y="0"/>
            <a:ext cx="9144000" cy="360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Tree>
    <p:extLst>
      <p:ext uri="{BB962C8B-B14F-4D97-AF65-F5344CB8AC3E}">
        <p14:creationId xmlns:p14="http://schemas.microsoft.com/office/powerpoint/2010/main" val="41739011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hap">
    <p:spTree>
      <p:nvGrpSpPr>
        <p:cNvPr id="1" name=""/>
        <p:cNvGrpSpPr/>
        <p:nvPr/>
      </p:nvGrpSpPr>
      <p:grpSpPr>
        <a:xfrm>
          <a:off x="0" y="0"/>
          <a:ext cx="0" cy="0"/>
          <a:chOff x="0" y="0"/>
          <a:chExt cx="0" cy="0"/>
        </a:xfrm>
      </p:grpSpPr>
      <p:pic>
        <p:nvPicPr>
          <p:cNvPr id="11" name="Image 0" descr="preencoded.png">
            <a:extLst>
              <a:ext uri="{FF2B5EF4-FFF2-40B4-BE49-F238E27FC236}">
                <a16:creationId xmlns:a16="http://schemas.microsoft.com/office/drawing/2014/main" id="{C5BC5886-090A-595C-5BC0-CE709328EB70}"/>
              </a:ext>
            </a:extLst>
          </p:cNvPr>
          <p:cNvPicPr>
            <a:picLocks noChangeAspect="1"/>
          </p:cNvPicPr>
          <p:nvPr userDrawn="1"/>
        </p:nvPicPr>
        <p:blipFill>
          <a:blip r:embed="rId2"/>
          <a:srcRect l="12199" r="57112"/>
          <a:stretch>
            <a:fillRect/>
          </a:stretch>
        </p:blipFill>
        <p:spPr>
          <a:xfrm>
            <a:off x="0" y="0"/>
            <a:ext cx="3196962" cy="5143500"/>
          </a:xfrm>
          <a:prstGeom prst="rect">
            <a:avLst/>
          </a:prstGeom>
        </p:spPr>
      </p:pic>
      <p:sp>
        <p:nvSpPr>
          <p:cNvPr id="8" name="Rectangle 29"/>
          <p:cNvSpPr>
            <a:spLocks noChangeArrowheads="1"/>
          </p:cNvSpPr>
          <p:nvPr userDrawn="1"/>
        </p:nvSpPr>
        <p:spPr bwMode="auto">
          <a:xfrm>
            <a:off x="307030" y="3834256"/>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zh-CN" altLang="en-US" sz="2000" dirty="0">
                <a:solidFill>
                  <a:schemeClr val="bg1"/>
                </a:solidFill>
                <a:latin typeface="微软雅黑" panose="020B0503020204020204" pitchFamily="34" charset="-122"/>
                <a:ea typeface="微软雅黑" panose="020B0503020204020204" pitchFamily="34" charset="-122"/>
              </a:rPr>
              <a:t>内容</a:t>
            </a:r>
            <a:endParaRPr lang="zh-CN" altLang="fr-FR" sz="2000" dirty="0">
              <a:solidFill>
                <a:schemeClr val="bg1"/>
              </a:solidFill>
              <a:latin typeface="微软雅黑" panose="020B0503020204020204" pitchFamily="34" charset="-122"/>
              <a:ea typeface="微软雅黑" panose="020B0503020204020204" pitchFamily="34" charset="-122"/>
            </a:endParaRPr>
          </a:p>
        </p:txBody>
      </p:sp>
      <p:sp>
        <p:nvSpPr>
          <p:cNvPr id="12" name="矩形 11">
            <a:extLst>
              <a:ext uri="{FF2B5EF4-FFF2-40B4-BE49-F238E27FC236}">
                <a16:creationId xmlns:a16="http://schemas.microsoft.com/office/drawing/2014/main" id="{EDD98491-C368-538E-0C02-B0F3BCB7B3F7}"/>
              </a:ext>
            </a:extLst>
          </p:cNvPr>
          <p:cNvSpPr/>
          <p:nvPr userDrawn="1"/>
        </p:nvSpPr>
        <p:spPr>
          <a:xfrm>
            <a:off x="396405" y="4194740"/>
            <a:ext cx="1476000" cy="36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Rectangle 29">
            <a:extLst>
              <a:ext uri="{FF2B5EF4-FFF2-40B4-BE49-F238E27FC236}">
                <a16:creationId xmlns:a16="http://schemas.microsoft.com/office/drawing/2014/main" id="{B226C647-0C77-68BF-CEFD-E102BDCEA971}"/>
              </a:ext>
            </a:extLst>
          </p:cNvPr>
          <p:cNvSpPr>
            <a:spLocks noChangeArrowheads="1"/>
          </p:cNvSpPr>
          <p:nvPr userDrawn="1"/>
        </p:nvSpPr>
        <p:spPr bwMode="auto">
          <a:xfrm>
            <a:off x="313905" y="4213365"/>
            <a:ext cx="2506071" cy="3385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1600" dirty="0">
                <a:solidFill>
                  <a:schemeClr val="bg1"/>
                </a:solidFill>
                <a:latin typeface="Montserrat" panose="00000500000000000000" pitchFamily="2" charset="0"/>
                <a:ea typeface="微软雅黑 Light" panose="020B0502040204020203" pitchFamily="34" charset="-122"/>
              </a:rPr>
              <a:t>Contents</a:t>
            </a:r>
            <a:endParaRPr lang="zh-CN" altLang="fr-FR" sz="1600" dirty="0">
              <a:solidFill>
                <a:schemeClr val="bg1"/>
              </a:solidFill>
              <a:latin typeface="Montserrat" panose="00000500000000000000" pitchFamily="2" charset="0"/>
              <a:ea typeface="微软雅黑 Light" panose="020B0502040204020203" pitchFamily="34" charset="-122"/>
            </a:endParaRPr>
          </a:p>
        </p:txBody>
      </p:sp>
      <p:pic>
        <p:nvPicPr>
          <p:cNvPr id="4" name="图片 3">
            <a:extLst>
              <a:ext uri="{FF2B5EF4-FFF2-40B4-BE49-F238E27FC236}">
                <a16:creationId xmlns:a16="http://schemas.microsoft.com/office/drawing/2014/main" id="{26E74E3B-155B-C2C3-F39C-100548AF13E2}"/>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5" name="矩形 4">
            <a:extLst>
              <a:ext uri="{FF2B5EF4-FFF2-40B4-BE49-F238E27FC236}">
                <a16:creationId xmlns:a16="http://schemas.microsoft.com/office/drawing/2014/main" id="{74B6EF89-0863-A6BD-AD6A-BB912BE50BA1}"/>
              </a:ext>
            </a:extLst>
          </p:cNvPr>
          <p:cNvSpPr/>
          <p:nvPr userDrawn="1"/>
        </p:nvSpPr>
        <p:spPr>
          <a:xfrm>
            <a:off x="5232018" y="0"/>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矩形 5">
            <a:extLst>
              <a:ext uri="{FF2B5EF4-FFF2-40B4-BE49-F238E27FC236}">
                <a16:creationId xmlns:a16="http://schemas.microsoft.com/office/drawing/2014/main" id="{E39F10B5-13AC-23B4-F427-DBBDD5D47039}"/>
              </a:ext>
            </a:extLst>
          </p:cNvPr>
          <p:cNvSpPr/>
          <p:nvPr userDrawn="1"/>
        </p:nvSpPr>
        <p:spPr>
          <a:xfrm>
            <a:off x="3245087" y="4648486"/>
            <a:ext cx="3911982" cy="4950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0615040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userDrawn="1"/>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 name="椭圆 13">
            <a:extLst>
              <a:ext uri="{FF2B5EF4-FFF2-40B4-BE49-F238E27FC236}">
                <a16:creationId xmlns:a16="http://schemas.microsoft.com/office/drawing/2014/main" id="{F884E4FE-7D40-8603-B9FB-7DEC525D2415}"/>
              </a:ext>
            </a:extLst>
          </p:cNvPr>
          <p:cNvSpPr>
            <a:spLocks noChangeArrowheads="1"/>
          </p:cNvSpPr>
          <p:nvPr userDrawn="1"/>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dirty="0">
              <a:latin typeface="Montserrat" panose="00000500000000000000" pitchFamily="2" charset="0"/>
              <a:ea typeface="微软雅黑 Light" panose="020B0502040204020203" pitchFamily="34" charset="-122"/>
            </a:endParaRPr>
          </a:p>
        </p:txBody>
      </p:sp>
      <p:grpSp>
        <p:nvGrpSpPr>
          <p:cNvPr id="2" name="组合 1">
            <a:extLst>
              <a:ext uri="{FF2B5EF4-FFF2-40B4-BE49-F238E27FC236}">
                <a16:creationId xmlns:a16="http://schemas.microsoft.com/office/drawing/2014/main" id="{0ADD7815-697F-0F45-DCE5-265C14E71C66}"/>
              </a:ext>
            </a:extLst>
          </p:cNvPr>
          <p:cNvGrpSpPr/>
          <p:nvPr userDrawn="1"/>
        </p:nvGrpSpPr>
        <p:grpSpPr>
          <a:xfrm>
            <a:off x="3674361" y="4725444"/>
            <a:ext cx="2499558" cy="360000"/>
            <a:chOff x="3674361" y="149234"/>
            <a:chExt cx="2499558" cy="360000"/>
          </a:xfrm>
        </p:grpSpPr>
        <p:sp>
          <p:nvSpPr>
            <p:cNvPr id="4" name="Rectangle 4">
              <a:extLst>
                <a:ext uri="{FF2B5EF4-FFF2-40B4-BE49-F238E27FC236}">
                  <a16:creationId xmlns:a16="http://schemas.microsoft.com/office/drawing/2014/main" id="{C6B78A3B-669B-7CAD-92B8-AC6AF6483F84}"/>
                </a:ext>
              </a:extLst>
            </p:cNvPr>
            <p:cNvSpPr>
              <a:spLocks noChangeArrowheads="1"/>
            </p:cNvSpPr>
            <p:nvPr/>
          </p:nvSpPr>
          <p:spPr bwMode="auto">
            <a:xfrm>
              <a:off x="4751173" y="198429"/>
              <a:ext cx="142274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eaLnBrk="0" hangingPunct="0"/>
              <a:r>
                <a:rPr lang="en-US" altLang="zh-CN" sz="1100" b="0" dirty="0">
                  <a:solidFill>
                    <a:srgbClr val="7F131F"/>
                  </a:solidFill>
                  <a:latin typeface="微软雅黑 Light" panose="020B0502040204020203" pitchFamily="34" charset="-122"/>
                  <a:ea typeface="微软雅黑 Light" panose="020B0502040204020203" pitchFamily="34" charset="-122"/>
                </a:rPr>
                <a:t>glplaman.github.io</a:t>
              </a:r>
              <a:endParaRPr lang="fr-FR" sz="1100" b="0" dirty="0">
                <a:solidFill>
                  <a:srgbClr val="7F131F"/>
                </a:solidFill>
                <a:latin typeface="微软雅黑 Light" panose="020B0502040204020203" pitchFamily="34" charset="-122"/>
                <a:ea typeface="微软雅黑 Light" panose="020B0502040204020203"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userDrawn="1"/>
          </p:nvSpPr>
          <p:spPr bwMode="auto">
            <a:xfrm>
              <a:off x="3674361" y="198429"/>
              <a:ext cx="718466"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Light" panose="020B0502040204020203" pitchFamily="34" charset="-122"/>
                  <a:ea typeface="微软雅黑 Light" panose="020B0502040204020203" pitchFamily="34" charset="-122"/>
                </a:rPr>
                <a:t>Network</a:t>
              </a:r>
              <a:endParaRPr lang="fr-FR" altLang="zh-CN" sz="1100" b="0" dirty="0">
                <a:solidFill>
                  <a:srgbClr val="7F131F"/>
                </a:solidFill>
                <a:latin typeface="微软雅黑 Light" panose="020B0502040204020203" pitchFamily="34" charset="-122"/>
                <a:ea typeface="微软雅黑 Light" panose="020B0502040204020203" pitchFamily="34" charset="-122"/>
              </a:endParaRPr>
            </a:p>
          </p:txBody>
        </p:sp>
        <p:pic>
          <p:nvPicPr>
            <p:cNvPr id="14" name="图片 13">
              <a:extLst>
                <a:ext uri="{FF2B5EF4-FFF2-40B4-BE49-F238E27FC236}">
                  <a16:creationId xmlns:a16="http://schemas.microsoft.com/office/drawing/2014/main" id="{C9653E1B-9CC1-514F-4DB4-6B80766317D3}"/>
                </a:ext>
              </a:extLst>
            </p:cNvPr>
            <p:cNvPicPr>
              <a:picLocks noChangeAspect="1"/>
            </p:cNvPicPr>
            <p:nvPr userDrawn="1"/>
          </p:nvPicPr>
          <p:blipFill>
            <a:blip r:embed="rId8"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grpSp>
    </p:spTree>
    <p:extLst>
      <p:ext uri="{BB962C8B-B14F-4D97-AF65-F5344CB8AC3E}">
        <p14:creationId xmlns:p14="http://schemas.microsoft.com/office/powerpoint/2010/main" val="3263403115"/>
      </p:ext>
    </p:extLst>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5.xml"/><Relationship Id="rId6" Type="http://schemas.openxmlformats.org/officeDocument/2006/relationships/image" Target="../media/image3.png"/><Relationship Id="rId5" Type="http://schemas.microsoft.com/office/2007/relationships/hdphoto" Target="../media/hdphoto1.wdp"/><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8" Type="http://schemas.openxmlformats.org/officeDocument/2006/relationships/diagramLayout" Target="../diagrams/layout2.xml"/><Relationship Id="rId3" Type="http://schemas.openxmlformats.org/officeDocument/2006/relationships/diagramLayout" Target="../diagrams/layout1.xml"/><Relationship Id="rId7" Type="http://schemas.openxmlformats.org/officeDocument/2006/relationships/diagramData" Target="../diagrams/data2.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11" Type="http://schemas.microsoft.com/office/2007/relationships/diagramDrawing" Target="../diagrams/drawing2.xml"/><Relationship Id="rId5" Type="http://schemas.openxmlformats.org/officeDocument/2006/relationships/diagramColors" Target="../diagrams/colors1.xml"/><Relationship Id="rId10" Type="http://schemas.openxmlformats.org/officeDocument/2006/relationships/diagramColors" Target="../diagrams/colors2.xml"/><Relationship Id="rId4" Type="http://schemas.openxmlformats.org/officeDocument/2006/relationships/diagramQuickStyle" Target="../diagrams/quickStyle1.xml"/><Relationship Id="rId9" Type="http://schemas.openxmlformats.org/officeDocument/2006/relationships/diagramQuickStyle" Target="../diagrams/quickStyl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0.wmf"/></Relationships>
</file>

<file path=ppt/slides/_rels/slide43.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wmf"/></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1.wmf"/><Relationship Id="rId2" Type="http://schemas.openxmlformats.org/officeDocument/2006/relationships/oleObject" Target="../embeddings/oleObject3.bin"/><Relationship Id="rId1" Type="http://schemas.openxmlformats.org/officeDocument/2006/relationships/slideLayout" Target="../slideLayouts/slideLayout3.xml"/><Relationship Id="rId5" Type="http://schemas.openxmlformats.org/officeDocument/2006/relationships/image" Target="../media/image6.png"/><Relationship Id="rId4" Type="http://schemas.openxmlformats.org/officeDocument/2006/relationships/image" Target="../media/image5.png"/></Relationships>
</file>

<file path=ppt/slides/_rels/slide6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11.wmf"/><Relationship Id="rId4" Type="http://schemas.openxmlformats.org/officeDocument/2006/relationships/oleObject" Target="../embeddings/oleObject4.bin"/></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3.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notesSlide" Target="../notesSlides/notesSlide9.xml"/><Relationship Id="rId1" Type="http://schemas.openxmlformats.org/officeDocument/2006/relationships/slideLayout" Target="../slideLayouts/slideLayout3.xml"/><Relationship Id="rId6" Type="http://schemas.openxmlformats.org/officeDocument/2006/relationships/image" Target="../media/image6.png"/><Relationship Id="rId5" Type="http://schemas.openxmlformats.org/officeDocument/2006/relationships/image" Target="../media/image9.png"/><Relationship Id="rId4" Type="http://schemas.openxmlformats.org/officeDocument/2006/relationships/image" Target="../media/image11.wmf"/></Relationships>
</file>

<file path=ppt/slides/_rels/slide77.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8.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9.png"/><Relationship Id="rId4" Type="http://schemas.openxmlformats.org/officeDocument/2006/relationships/image" Target="../media/image11.wmf"/></Relationships>
</file>

<file path=ppt/slides/_rels/slide7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8.bin"/></Relationships>
</file>

<file path=ppt/slides/_rels/slide8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9.bin"/></Relationships>
</file>

<file path=ppt/slides/_rels/slide8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 Id="rId5" Type="http://schemas.openxmlformats.org/officeDocument/2006/relationships/image" Target="../media/image11.wmf"/><Relationship Id="rId4" Type="http://schemas.openxmlformats.org/officeDocument/2006/relationships/oleObject" Target="../embeddings/oleObject10.bin"/></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5.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5.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11.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image" Target="../media/image15.jpeg"/><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8" Type="http://schemas.openxmlformats.org/officeDocument/2006/relationships/hyperlink" Target="http://www.sohu.com/" TargetMode="External"/><Relationship Id="rId3" Type="http://schemas.openxmlformats.org/officeDocument/2006/relationships/hyperlink" Target="http://www.baidu.com/" TargetMode="External"/><Relationship Id="rId7" Type="http://schemas.openxmlformats.org/officeDocument/2006/relationships/hyperlink" Target="http://www.sina.com/" TargetMode="External"/><Relationship Id="rId2" Type="http://schemas.openxmlformats.org/officeDocument/2006/relationships/hyperlink" Target="http://www.cn.bing.com/" TargetMode="External"/><Relationship Id="rId1" Type="http://schemas.openxmlformats.org/officeDocument/2006/relationships/slideLayout" Target="../slideLayouts/slideLayout3.xml"/><Relationship Id="rId6" Type="http://schemas.openxmlformats.org/officeDocument/2006/relationships/hyperlink" Target="http://www.cn.yahoo.com/" TargetMode="External"/><Relationship Id="rId5" Type="http://schemas.openxmlformats.org/officeDocument/2006/relationships/hyperlink" Target="http://www.yahoo.com/" TargetMode="External"/><Relationship Id="rId4" Type="http://schemas.openxmlformats.org/officeDocument/2006/relationships/hyperlink" Target="http://www.google.com/" TargetMode="External"/><Relationship Id="rId9" Type="http://schemas.openxmlformats.org/officeDocument/2006/relationships/hyperlink" Target="http://www.163.com/" TargetMode="Externa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3.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1.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22.xml.rels><?xml version="1.0" encoding="UTF-8" standalone="yes"?>
<Relationships xmlns="http://schemas.openxmlformats.org/package/2006/relationships"><Relationship Id="rId8" Type="http://schemas.openxmlformats.org/officeDocument/2006/relationships/oleObject" Target="../embeddings/oleObject15.bin"/><Relationship Id="rId3" Type="http://schemas.openxmlformats.org/officeDocument/2006/relationships/oleObject" Target="../embeddings/oleObject13.bin"/><Relationship Id="rId7" Type="http://schemas.openxmlformats.org/officeDocument/2006/relationships/image" Target="../media/image17.emf"/><Relationship Id="rId2" Type="http://schemas.openxmlformats.org/officeDocument/2006/relationships/notesSlide" Target="../notesSlides/notesSlide13.xml"/><Relationship Id="rId1" Type="http://schemas.openxmlformats.org/officeDocument/2006/relationships/slideLayout" Target="../slideLayouts/slideLayout3.xml"/><Relationship Id="rId6" Type="http://schemas.openxmlformats.org/officeDocument/2006/relationships/oleObject" Target="../embeddings/oleObject14.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3.xml.rels><?xml version="1.0" encoding="UTF-8" standalone="yes"?>
<Relationships xmlns="http://schemas.openxmlformats.org/package/2006/relationships"><Relationship Id="rId8" Type="http://schemas.openxmlformats.org/officeDocument/2006/relationships/oleObject" Target="../embeddings/oleObject18.bin"/><Relationship Id="rId3" Type="http://schemas.openxmlformats.org/officeDocument/2006/relationships/oleObject" Target="../embeddings/oleObject16.bin"/><Relationship Id="rId7" Type="http://schemas.openxmlformats.org/officeDocument/2006/relationships/image" Target="../media/image17.emf"/><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oleObject" Target="../embeddings/oleObject17.bin"/><Relationship Id="rId5" Type="http://schemas.openxmlformats.org/officeDocument/2006/relationships/image" Target="../media/image11.wmf"/><Relationship Id="rId4" Type="http://schemas.openxmlformats.org/officeDocument/2006/relationships/image" Target="../media/image10.wmf"/><Relationship Id="rId9" Type="http://schemas.openxmlformats.org/officeDocument/2006/relationships/image" Target="../media/image18.emf"/></Relationships>
</file>

<file path=ppt/slides/_rels/slide124.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19.bin"/><Relationship Id="rId7" Type="http://schemas.openxmlformats.org/officeDocument/2006/relationships/oleObject" Target="../embeddings/oleObject21.bin"/><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0.bin"/><Relationship Id="rId4" Type="http://schemas.openxmlformats.org/officeDocument/2006/relationships/image" Target="../media/image11.wmf"/></Relationships>
</file>

<file path=ppt/slides/_rels/slide125.xml.rels><?xml version="1.0" encoding="UTF-8" standalone="yes"?>
<Relationships xmlns="http://schemas.openxmlformats.org/package/2006/relationships"><Relationship Id="rId8" Type="http://schemas.openxmlformats.org/officeDocument/2006/relationships/oleObject" Target="../embeddings/oleObject25.bin"/><Relationship Id="rId3" Type="http://schemas.openxmlformats.org/officeDocument/2006/relationships/oleObject" Target="../embeddings/oleObject22.bin"/><Relationship Id="rId7" Type="http://schemas.openxmlformats.org/officeDocument/2006/relationships/image" Target="../media/image17.emf"/><Relationship Id="rId2" Type="http://schemas.openxmlformats.org/officeDocument/2006/relationships/notesSlide" Target="../notesSlides/notesSlide16.xml"/><Relationship Id="rId1" Type="http://schemas.openxmlformats.org/officeDocument/2006/relationships/slideLayout" Target="../slideLayouts/slideLayout3.xml"/><Relationship Id="rId6" Type="http://schemas.openxmlformats.org/officeDocument/2006/relationships/oleObject" Target="../embeddings/oleObject24.bin"/><Relationship Id="rId5" Type="http://schemas.openxmlformats.org/officeDocument/2006/relationships/oleObject" Target="../embeddings/oleObject23.bin"/><Relationship Id="rId4" Type="http://schemas.openxmlformats.org/officeDocument/2006/relationships/image" Target="../media/image11.wmf"/><Relationship Id="rId9" Type="http://schemas.openxmlformats.org/officeDocument/2006/relationships/image" Target="../media/image18.emf"/></Relationships>
</file>

<file path=ppt/slides/_rels/slide126.xml.rels><?xml version="1.0" encoding="UTF-8" standalone="yes"?>
<Relationships xmlns="http://schemas.openxmlformats.org/package/2006/relationships"><Relationship Id="rId8" Type="http://schemas.openxmlformats.org/officeDocument/2006/relationships/image" Target="../media/image18.emf"/><Relationship Id="rId3" Type="http://schemas.openxmlformats.org/officeDocument/2006/relationships/oleObject" Target="../embeddings/oleObject26.bin"/><Relationship Id="rId7" Type="http://schemas.openxmlformats.org/officeDocument/2006/relationships/oleObject" Target="../embeddings/oleObject28.bin"/><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17.emf"/><Relationship Id="rId5" Type="http://schemas.openxmlformats.org/officeDocument/2006/relationships/oleObject" Target="../embeddings/oleObject27.bin"/><Relationship Id="rId4" Type="http://schemas.openxmlformats.org/officeDocument/2006/relationships/image" Target="../media/image11.wmf"/></Relationships>
</file>

<file path=ppt/slides/_rels/slide127.xml.rels><?xml version="1.0" encoding="UTF-8" standalone="yes"?>
<Relationships xmlns="http://schemas.openxmlformats.org/package/2006/relationships"><Relationship Id="rId3" Type="http://schemas.openxmlformats.org/officeDocument/2006/relationships/image" Target="../media/image11.wmf"/><Relationship Id="rId7" Type="http://schemas.openxmlformats.org/officeDocument/2006/relationships/image" Target="../media/image18.emf"/><Relationship Id="rId2" Type="http://schemas.openxmlformats.org/officeDocument/2006/relationships/oleObject" Target="../embeddings/oleObject29.bin"/><Relationship Id="rId1" Type="http://schemas.openxmlformats.org/officeDocument/2006/relationships/slideLayout" Target="../slideLayouts/slideLayout3.xml"/><Relationship Id="rId6" Type="http://schemas.openxmlformats.org/officeDocument/2006/relationships/oleObject" Target="../embeddings/oleObject31.bin"/><Relationship Id="rId5" Type="http://schemas.openxmlformats.org/officeDocument/2006/relationships/image" Target="../media/image17.emf"/><Relationship Id="rId4" Type="http://schemas.openxmlformats.org/officeDocument/2006/relationships/oleObject" Target="../embeddings/oleObject30.bin"/></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9.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18.emf"/><Relationship Id="rId5" Type="http://schemas.openxmlformats.org/officeDocument/2006/relationships/oleObject" Target="../embeddings/oleObject12.bin"/><Relationship Id="rId4" Type="http://schemas.openxmlformats.org/officeDocument/2006/relationships/image" Target="../media/image17.emf"/></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3.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oleObject" Target="../embeddings/oleObject11.bin"/><Relationship Id="rId1" Type="http://schemas.openxmlformats.org/officeDocument/2006/relationships/slideLayout" Target="../slideLayouts/slideLayout3.xml"/><Relationship Id="rId5" Type="http://schemas.openxmlformats.org/officeDocument/2006/relationships/image" Target="../media/image18.emf"/><Relationship Id="rId4" Type="http://schemas.openxmlformats.org/officeDocument/2006/relationships/oleObject" Target="../embeddings/oleObject12.bin"/></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2" Type="http://schemas.openxmlformats.org/officeDocument/2006/relationships/hyperlink" Target="https://www.base64decode.org/" TargetMode="External"/><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3.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6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7.xml.rels><?xml version="1.0" encoding="UTF-8" standalone="yes"?>
<Relationships xmlns="http://schemas.openxmlformats.org/package/2006/relationships"><Relationship Id="rId3" Type="http://schemas.openxmlformats.org/officeDocument/2006/relationships/image" Target="../media/image23.wmf"/><Relationship Id="rId2" Type="http://schemas.openxmlformats.org/officeDocument/2006/relationships/image" Target="../media/image6.png"/><Relationship Id="rId1" Type="http://schemas.openxmlformats.org/officeDocument/2006/relationships/slideLayout" Target="../slideLayouts/slideLayout5.xml"/><Relationship Id="rId4" Type="http://schemas.openxmlformats.org/officeDocument/2006/relationships/image" Target="../media/image9.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5.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32.bin"/><Relationship Id="rId1" Type="http://schemas.openxmlformats.org/officeDocument/2006/relationships/slideLayout" Target="../slideLayouts/slideLayout5.xml"/><Relationship Id="rId5" Type="http://schemas.openxmlformats.org/officeDocument/2006/relationships/image" Target="../media/image9.png"/><Relationship Id="rId4" Type="http://schemas.openxmlformats.org/officeDocument/2006/relationships/image" Target="../media/image6.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5.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3.xml"/></Relationships>
</file>

<file path=ppt/slides/_rels/slide25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1.xml"/><Relationship Id="rId1" Type="http://schemas.openxmlformats.org/officeDocument/2006/relationships/slideLayout" Target="../slideLayouts/slideLayout3.xml"/><Relationship Id="rId4" Type="http://schemas.openxmlformats.org/officeDocument/2006/relationships/image" Target="../media/image25.png"/></Relationships>
</file>

<file path=ppt/slides/_rels/slide25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3.xml"/></Relationships>
</file>

<file path=ppt/slides/_rels/slide25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6.png"/><Relationship Id="rId1" Type="http://schemas.openxmlformats.org/officeDocument/2006/relationships/slideLayout" Target="../slideLayouts/slideLayout3.xml"/></Relationships>
</file>

<file path=ppt/slides/_rels/slide257.xml.rels><?xml version="1.0" encoding="UTF-8" standalone="yes"?>
<Relationships xmlns="http://schemas.openxmlformats.org/package/2006/relationships"><Relationship Id="rId8" Type="http://schemas.openxmlformats.org/officeDocument/2006/relationships/oleObject" Target="../embeddings/oleObject36.bin"/><Relationship Id="rId3" Type="http://schemas.openxmlformats.org/officeDocument/2006/relationships/oleObject" Target="../embeddings/oleObject33.bin"/><Relationship Id="rId7" Type="http://schemas.openxmlformats.org/officeDocument/2006/relationships/oleObject" Target="../embeddings/oleObject35.bin"/><Relationship Id="rId2" Type="http://schemas.openxmlformats.org/officeDocument/2006/relationships/notesSlide" Target="../notesSlides/notesSlide33.xml"/><Relationship Id="rId1" Type="http://schemas.openxmlformats.org/officeDocument/2006/relationships/slideLayout" Target="../slideLayouts/slideLayout3.xml"/><Relationship Id="rId6" Type="http://schemas.openxmlformats.org/officeDocument/2006/relationships/image" Target="../media/image11.wmf"/><Relationship Id="rId5" Type="http://schemas.openxmlformats.org/officeDocument/2006/relationships/oleObject" Target="../embeddings/oleObject34.bin"/><Relationship Id="rId4" Type="http://schemas.openxmlformats.org/officeDocument/2006/relationships/image" Target="../media/image28.wmf"/></Relationships>
</file>

<file path=ppt/slides/_rels/slide25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6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3.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4.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26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3.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27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a:extLst>
              <a:ext uri="{FF2B5EF4-FFF2-40B4-BE49-F238E27FC236}">
                <a16:creationId xmlns:a16="http://schemas.microsoft.com/office/drawing/2014/main" id="{B3E627C1-4460-D634-DE39-462B2A930A4B}"/>
              </a:ext>
            </a:extLst>
          </p:cNvPr>
          <p:cNvPicPr>
            <a:picLocks noChangeAspect="1"/>
          </p:cNvPicPr>
          <p:nvPr/>
        </p:nvPicPr>
        <p:blipFill>
          <a:blip r:embed="rId3"/>
          <a:srcRect l="12200" r="23"/>
          <a:stretch>
            <a:fillRect/>
          </a:stretch>
        </p:blipFill>
        <p:spPr>
          <a:xfrm>
            <a:off x="0" y="0"/>
            <a:ext cx="9144000" cy="5143500"/>
          </a:xfrm>
          <a:prstGeom prst="rect">
            <a:avLst/>
          </a:prstGeom>
        </p:spPr>
      </p:pic>
      <p:sp>
        <p:nvSpPr>
          <p:cNvPr id="7" name="矩形 6"/>
          <p:cNvSpPr/>
          <p:nvPr/>
        </p:nvSpPr>
        <p:spPr>
          <a:xfrm>
            <a:off x="4772483" y="1363816"/>
            <a:ext cx="2717412" cy="938719"/>
          </a:xfrm>
          <a:prstGeom prst="rect">
            <a:avLst/>
          </a:prstGeom>
        </p:spPr>
        <p:txBody>
          <a:bodyPr wrap="none">
            <a:spAutoFit/>
          </a:bodyPr>
          <a:lstStyle/>
          <a:p>
            <a:pPr algn="ctr" eaLnBrk="0" hangingPunct="0"/>
            <a:r>
              <a:rPr lang="zh-CN" altLang="en-US" sz="5500" dirty="0">
                <a:solidFill>
                  <a:schemeClr val="bg1"/>
                </a:solidFill>
                <a:latin typeface="微软雅黑" panose="020B0503020204020204" pitchFamily="34" charset="-122"/>
                <a:ea typeface="微软雅黑" panose="020B0503020204020204" pitchFamily="34" charset="-122"/>
              </a:rPr>
              <a:t>应 用 层</a:t>
            </a:r>
            <a:endParaRPr lang="fr-FR" altLang="zh-CN" sz="5500" dirty="0">
              <a:solidFill>
                <a:schemeClr val="bg1"/>
              </a:solidFill>
              <a:latin typeface="微软雅黑" panose="020B0503020204020204" pitchFamily="34" charset="-122"/>
              <a:ea typeface="微软雅黑" panose="020B0503020204020204" pitchFamily="34" charset="-122"/>
            </a:endParaRPr>
          </a:p>
        </p:txBody>
      </p:sp>
      <p:sp>
        <p:nvSpPr>
          <p:cNvPr id="8" name="矩形 7"/>
          <p:cNvSpPr/>
          <p:nvPr/>
        </p:nvSpPr>
        <p:spPr>
          <a:xfrm>
            <a:off x="4772483" y="881198"/>
            <a:ext cx="1338828" cy="523220"/>
          </a:xfrm>
          <a:prstGeom prst="rect">
            <a:avLst/>
          </a:prstGeom>
        </p:spPr>
        <p:txBody>
          <a:bodyPr wrap="none">
            <a:spAutoFit/>
          </a:bodyPr>
          <a:lstStyle/>
          <a:p>
            <a:pPr algn="ctr" eaLnBrk="0" hangingPunct="0"/>
            <a:r>
              <a:rPr lang="fr-FR" altLang="zh-CN" sz="2800" dirty="0">
                <a:solidFill>
                  <a:schemeClr val="bg1"/>
                </a:solidFill>
                <a:latin typeface="Montserrat" panose="00000500000000000000" pitchFamily="2" charset="0"/>
                <a:ea typeface="微软雅黑 Light" panose="020B0502040204020203" pitchFamily="34" charset="-122"/>
              </a:rPr>
              <a:t>第 6 章</a:t>
            </a:r>
          </a:p>
        </p:txBody>
      </p:sp>
      <p:sp>
        <p:nvSpPr>
          <p:cNvPr id="11" name="Rectangle 4"/>
          <p:cNvSpPr>
            <a:spLocks noChangeArrowheads="1"/>
          </p:cNvSpPr>
          <p:nvPr/>
        </p:nvSpPr>
        <p:spPr bwMode="auto">
          <a:xfrm>
            <a:off x="0" y="3016721"/>
            <a:ext cx="2631044" cy="134857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张树彬</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zh-CN" altLang="en-US" sz="1400" dirty="0">
                <a:solidFill>
                  <a:schemeClr val="bg1"/>
                </a:solidFill>
                <a:latin typeface="Montserrat" panose="00000500000000000000" pitchFamily="2" charset="0"/>
                <a:ea typeface="微软雅黑" panose="020B0503020204020204" pitchFamily="34" charset="-122"/>
              </a:rPr>
              <a:t>广州 </a:t>
            </a:r>
            <a:r>
              <a:rPr lang="en-US" altLang="zh-CN" sz="1400" dirty="0">
                <a:solidFill>
                  <a:schemeClr val="bg1"/>
                </a:solidFill>
                <a:latin typeface="Montserrat" panose="00000500000000000000" pitchFamily="2" charset="0"/>
                <a:ea typeface="微软雅黑" panose="020B0503020204020204" pitchFamily="34" charset="-122"/>
              </a:rPr>
              <a:t>· </a:t>
            </a:r>
            <a:r>
              <a:rPr lang="zh-CN" altLang="en-US" sz="1400" dirty="0">
                <a:solidFill>
                  <a:schemeClr val="bg1"/>
                </a:solidFill>
                <a:latin typeface="Montserrat" panose="00000500000000000000" pitchFamily="2" charset="0"/>
                <a:ea typeface="微软雅黑" panose="020B0503020204020204" pitchFamily="34" charset="-122"/>
              </a:rPr>
              <a:t>中国</a:t>
            </a:r>
            <a:endParaRPr lang="en-US" altLang="zh-CN" sz="1400" dirty="0">
              <a:solidFill>
                <a:schemeClr val="bg1"/>
              </a:solidFill>
              <a:latin typeface="Montserrat" panose="00000500000000000000" pitchFamily="2" charset="0"/>
              <a:ea typeface="微软雅黑" panose="020B0503020204020204" pitchFamily="34" charset="-122"/>
            </a:endParaRP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2025-10-10</a:t>
            </a:r>
          </a:p>
          <a:p>
            <a:pPr algn="r" eaLnBrk="0" hangingPunct="0">
              <a:lnSpc>
                <a:spcPct val="150000"/>
              </a:lnSpc>
            </a:pPr>
            <a:r>
              <a:rPr lang="en-US" altLang="zh-CN" sz="1400" dirty="0">
                <a:solidFill>
                  <a:schemeClr val="bg1"/>
                </a:solidFill>
                <a:latin typeface="Montserrat" panose="00000500000000000000" pitchFamily="2" charset="0"/>
                <a:ea typeface="微软雅黑" panose="020B0503020204020204" pitchFamily="34" charset="-122"/>
              </a:rPr>
              <a:t>glplaman.github.io</a:t>
            </a:r>
            <a:endParaRPr lang="fr-FR" sz="1400" dirty="0">
              <a:solidFill>
                <a:schemeClr val="bg1"/>
              </a:solidFill>
              <a:latin typeface="Montserrat" panose="00000500000000000000" pitchFamily="2" charset="0"/>
              <a:ea typeface="微软雅黑" panose="020B0503020204020204" pitchFamily="34" charset="-122"/>
            </a:endParaRPr>
          </a:p>
        </p:txBody>
      </p:sp>
      <p:sp>
        <p:nvSpPr>
          <p:cNvPr id="12" name="Rectangle 6"/>
          <p:cNvSpPr>
            <a:spLocks noChangeArrowheads="1"/>
          </p:cNvSpPr>
          <p:nvPr/>
        </p:nvSpPr>
        <p:spPr bwMode="auto">
          <a:xfrm>
            <a:off x="118641" y="2681759"/>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dirty="0">
                <a:solidFill>
                  <a:schemeClr val="bg1"/>
                </a:solidFill>
                <a:latin typeface="Montserrat" panose="00000500000000000000" pitchFamily="2" charset="0"/>
                <a:ea typeface="微软雅黑" panose="020B0503020204020204" pitchFamily="34" charset="-122"/>
              </a:rPr>
              <a:t>计算机网络 - 第 8 版</a:t>
            </a:r>
          </a:p>
        </p:txBody>
      </p:sp>
      <p:cxnSp>
        <p:nvCxnSpPr>
          <p:cNvPr id="13" name="直接连接符 12"/>
          <p:cNvCxnSpPr/>
          <p:nvPr/>
        </p:nvCxnSpPr>
        <p:spPr>
          <a:xfrm>
            <a:off x="0" y="3016721"/>
            <a:ext cx="2749685" cy="3175"/>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4" cstate="print">
            <a:extLst>
              <a:ext uri="{BEBA8EAE-BF5A-486C-A8C5-ECC9F3942E4B}">
                <a14:imgProps xmlns:a14="http://schemas.microsoft.com/office/drawing/2010/main">
                  <a14:imgLayer r:embed="rId5">
                    <a14:imgEffect>
                      <a14:artisticPencilSketch/>
                    </a14:imgEffect>
                  </a14:imgLayer>
                </a14:imgProps>
              </a:ext>
              <a:ext uri="{28A0092B-C50C-407E-A947-70E740481C1C}">
                <a14:useLocalDpi xmlns:a14="http://schemas.microsoft.com/office/drawing/2010/main" val="0"/>
              </a:ext>
            </a:extLst>
          </a:blip>
          <a:srcRect/>
          <a:stretch>
            <a:fillRect/>
          </a:stretch>
        </p:blipFill>
        <p:spPr bwMode="auto">
          <a:xfrm>
            <a:off x="666405" y="231632"/>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图片 4">
            <a:extLst>
              <a:ext uri="{FF2B5EF4-FFF2-40B4-BE49-F238E27FC236}">
                <a16:creationId xmlns:a16="http://schemas.microsoft.com/office/drawing/2014/main" id="{CA32DF29-5693-F599-F096-B66CB52D3AA0}"/>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126405" y="104507"/>
            <a:ext cx="540000" cy="540000"/>
          </a:xfrm>
          <a:prstGeom prst="rect">
            <a:avLst/>
          </a:prstGeom>
        </p:spPr>
      </p:pic>
      <p:sp>
        <p:nvSpPr>
          <p:cNvPr id="6" name="矩形 5">
            <a:extLst>
              <a:ext uri="{FF2B5EF4-FFF2-40B4-BE49-F238E27FC236}">
                <a16:creationId xmlns:a16="http://schemas.microsoft.com/office/drawing/2014/main" id="{551DB1CE-13F0-032E-9F7B-7C5FBF249954}"/>
              </a:ext>
            </a:extLst>
          </p:cNvPr>
          <p:cNvSpPr/>
          <p:nvPr/>
        </p:nvSpPr>
        <p:spPr>
          <a:xfrm>
            <a:off x="5945694" y="990842"/>
            <a:ext cx="2127505" cy="369332"/>
          </a:xfrm>
          <a:prstGeom prst="rect">
            <a:avLst/>
          </a:prstGeom>
        </p:spPr>
        <p:txBody>
          <a:bodyPr wrap="none">
            <a:spAutoFit/>
          </a:bodyPr>
          <a:lstStyle/>
          <a:p>
            <a:pPr eaLnBrk="0" hangingPunct="0"/>
            <a:r>
              <a:rPr lang="fr-FR" altLang="zh-CN" dirty="0">
                <a:solidFill>
                  <a:schemeClr val="bg1"/>
                </a:solidFill>
                <a:latin typeface="Montserrat" panose="00000500000000000000" pitchFamily="2" charset="0"/>
                <a:ea typeface="微软雅黑 Light" panose="020B0502040204020203" pitchFamily="34" charset="-122"/>
              </a:rPr>
              <a:t>Application layer</a:t>
            </a:r>
          </a:p>
        </p:txBody>
      </p:sp>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8">
            <a:extLst>
              <a:ext uri="{FF2B5EF4-FFF2-40B4-BE49-F238E27FC236}">
                <a16:creationId xmlns:a16="http://schemas.microsoft.com/office/drawing/2014/main" id="{BA19E582-4EAA-7E29-750D-3184A328FDE1}"/>
              </a:ext>
            </a:extLst>
          </p:cNvPr>
          <p:cNvSpPr>
            <a:spLocks noChangeArrowheads="1"/>
          </p:cNvSpPr>
          <p:nvPr/>
        </p:nvSpPr>
        <p:spPr bwMode="auto">
          <a:xfrm>
            <a:off x="3563766" y="1354881"/>
            <a:ext cx="4197661" cy="33746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文件传送协议 </a:t>
            </a:r>
            <a:r>
              <a:rPr lang="en-US" altLang="zh-CN" sz="1600" dirty="0">
                <a:latin typeface="Montserrat" panose="00000500000000000000" pitchFamily="2" charset="0"/>
                <a:ea typeface="微软雅黑 Light" panose="020B0502040204020203" pitchFamily="34" charset="-122"/>
              </a:rPr>
              <a:t>FTP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 </a:t>
            </a:r>
            <a:r>
              <a:rPr lang="en-US" altLang="zh-CN" sz="1600" dirty="0">
                <a:latin typeface="Montserrat" panose="00000500000000000000" pitchFamily="2" charset="0"/>
                <a:ea typeface="微软雅黑 Light" panose="020B0502040204020203" pitchFamily="34" charset="-122"/>
              </a:rPr>
              <a:t>WWW</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动态主机配置协议 </a:t>
            </a:r>
            <a:r>
              <a:rPr lang="en-US" altLang="zh-CN" sz="1600" dirty="0">
                <a:latin typeface="Montserrat" panose="00000500000000000000" pitchFamily="2" charset="0"/>
                <a:ea typeface="微软雅黑 Light" panose="020B0502040204020203" pitchFamily="34" charset="-122"/>
              </a:rPr>
              <a:t>DHCP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简单网络管理协议 </a:t>
            </a:r>
            <a:r>
              <a:rPr lang="en-US" altLang="zh-CN" sz="1600" dirty="0">
                <a:latin typeface="Montserrat" panose="00000500000000000000" pitchFamily="2" charset="0"/>
                <a:ea typeface="微软雅黑 Light" panose="020B0502040204020203" pitchFamily="34" charset="-122"/>
              </a:rPr>
              <a:t>SNMP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6.8 </a:t>
            </a:r>
            <a:r>
              <a:rPr lang="zh-CN" altLang="en-US" sz="1600" dirty="0">
                <a:latin typeface="Montserrat" panose="00000500000000000000" pitchFamily="2" charset="0"/>
                <a:ea typeface="微软雅黑 Light" panose="020B0502040204020203" pitchFamily="34" charset="-122"/>
              </a:rPr>
              <a:t>应用进程跨越网络的通信</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6.9</a:t>
            </a:r>
            <a:r>
              <a:rPr lang="en-US" altLang="zh-CN" sz="1600" dirty="0">
                <a:latin typeface="Montserrat" panose="00000500000000000000" pitchFamily="2" charset="0"/>
                <a:ea typeface="微软雅黑 Light" panose="020B0502040204020203" pitchFamily="34" charset="-122"/>
              </a:rPr>
              <a:t> P2P </a:t>
            </a:r>
            <a:r>
              <a:rPr lang="zh-CN" altLang="en-US" sz="1600" dirty="0">
                <a:latin typeface="Montserrat" panose="00000500000000000000" pitchFamily="2" charset="0"/>
                <a:ea typeface="微软雅黑 Light" panose="020B0502040204020203" pitchFamily="34" charset="-122"/>
              </a:rPr>
              <a:t>应用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EE94B6BE-95C4-D087-337F-96DBB0809687}"/>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Chap6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应用层 </a:t>
            </a:r>
            <a:r>
              <a:rPr lang="en-US" altLang="zh-CN" sz="2000" dirty="0">
                <a:latin typeface="Montserrat" panose="00000500000000000000" pitchFamily="2" charset="0"/>
                <a:ea typeface="微软雅黑 Light" panose="020B0502040204020203" pitchFamily="34" charset="-122"/>
              </a:rPr>
              <a:t>Application layer</a:t>
            </a:r>
            <a:endParaRPr lang="zh-CN" altLang="fr-FR"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643569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矩形: 圆角 6">
            <a:extLst>
              <a:ext uri="{FF2B5EF4-FFF2-40B4-BE49-F238E27FC236}">
                <a16:creationId xmlns:a16="http://schemas.microsoft.com/office/drawing/2014/main" id="{629400F3-DE53-B43D-CB6A-2946D23F5694}"/>
              </a:ext>
            </a:extLst>
          </p:cNvPr>
          <p:cNvSpPr/>
          <p:nvPr/>
        </p:nvSpPr>
        <p:spPr>
          <a:xfrm>
            <a:off x="2519493" y="3561883"/>
            <a:ext cx="900000" cy="288000"/>
          </a:xfrm>
          <a:prstGeom prst="roundRect">
            <a:avLst/>
          </a:prstGeom>
          <a:solidFill>
            <a:schemeClr val="tx2">
              <a:lumMod val="60000"/>
              <a:lumOff val="4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P2P</a:t>
            </a:r>
            <a:endParaRPr lang="zh-CN" altLang="en-US" sz="1200" dirty="0">
              <a:latin typeface="Montserrat" panose="00000500000000000000" pitchFamily="2" charset="0"/>
            </a:endParaRPr>
          </a:p>
        </p:txBody>
      </p:sp>
      <p:sp>
        <p:nvSpPr>
          <p:cNvPr id="8" name="矩形: 圆角 7">
            <a:extLst>
              <a:ext uri="{FF2B5EF4-FFF2-40B4-BE49-F238E27FC236}">
                <a16:creationId xmlns:a16="http://schemas.microsoft.com/office/drawing/2014/main" id="{AA86A75B-8DFB-F371-3E52-09CE6AD8E86D}"/>
              </a:ext>
            </a:extLst>
          </p:cNvPr>
          <p:cNvSpPr/>
          <p:nvPr/>
        </p:nvSpPr>
        <p:spPr>
          <a:xfrm>
            <a:off x="2519493" y="1134793"/>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DNS</a:t>
            </a:r>
            <a:endParaRPr lang="zh-CN" altLang="en-US" sz="1200" dirty="0">
              <a:latin typeface="Montserrat" panose="00000500000000000000" pitchFamily="2" charset="0"/>
            </a:endParaRPr>
          </a:p>
        </p:txBody>
      </p:sp>
      <p:cxnSp>
        <p:nvCxnSpPr>
          <p:cNvPr id="9" name="连接符: 曲线 8">
            <a:extLst>
              <a:ext uri="{FF2B5EF4-FFF2-40B4-BE49-F238E27FC236}">
                <a16:creationId xmlns:a16="http://schemas.microsoft.com/office/drawing/2014/main" id="{60B1734A-3601-47A5-EA6C-5455500C472B}"/>
              </a:ext>
            </a:extLst>
          </p:cNvPr>
          <p:cNvCxnSpPr>
            <a:cxnSpLocks/>
            <a:stCxn id="20" idx="3"/>
            <a:endCxn id="8" idx="1"/>
          </p:cNvCxnSpPr>
          <p:nvPr/>
        </p:nvCxnSpPr>
        <p:spPr>
          <a:xfrm flipV="1">
            <a:off x="2150843" y="1278793"/>
            <a:ext cx="368650" cy="1213545"/>
          </a:xfrm>
          <a:prstGeom prst="curvedConnector3">
            <a:avLst>
              <a:gd name="adj1" fmla="val 50000"/>
            </a:avLst>
          </a:prstGeom>
          <a:ln>
            <a:solidFill>
              <a:srgbClr val="20BF6B"/>
            </a:solidFill>
          </a:ln>
        </p:spPr>
        <p:style>
          <a:lnRef idx="1">
            <a:schemeClr val="accent1"/>
          </a:lnRef>
          <a:fillRef idx="0">
            <a:schemeClr val="accent1"/>
          </a:fillRef>
          <a:effectRef idx="0">
            <a:schemeClr val="accent1"/>
          </a:effectRef>
          <a:fontRef idx="minor">
            <a:schemeClr val="tx1"/>
          </a:fontRef>
        </p:style>
      </p:cxnSp>
      <p:cxnSp>
        <p:nvCxnSpPr>
          <p:cNvPr id="10" name="连接符: 曲线 9">
            <a:extLst>
              <a:ext uri="{FF2B5EF4-FFF2-40B4-BE49-F238E27FC236}">
                <a16:creationId xmlns:a16="http://schemas.microsoft.com/office/drawing/2014/main" id="{6C0016EE-AAAB-765F-3CDF-AB4005732D52}"/>
              </a:ext>
            </a:extLst>
          </p:cNvPr>
          <p:cNvCxnSpPr>
            <a:cxnSpLocks/>
            <a:stCxn id="20" idx="3"/>
            <a:endCxn id="7" idx="1"/>
          </p:cNvCxnSpPr>
          <p:nvPr/>
        </p:nvCxnSpPr>
        <p:spPr>
          <a:xfrm>
            <a:off x="2150843" y="2492338"/>
            <a:ext cx="368650" cy="1213545"/>
          </a:xfrm>
          <a:prstGeom prst="curvedConnector3">
            <a:avLst>
              <a:gd name="adj1" fmla="val 50000"/>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20" name="矩形: 圆角 19">
            <a:extLst>
              <a:ext uri="{FF2B5EF4-FFF2-40B4-BE49-F238E27FC236}">
                <a16:creationId xmlns:a16="http://schemas.microsoft.com/office/drawing/2014/main" id="{D6544857-C00B-910E-3125-ED8D6CCE5CB9}"/>
              </a:ext>
            </a:extLst>
          </p:cNvPr>
          <p:cNvSpPr/>
          <p:nvPr/>
        </p:nvSpPr>
        <p:spPr>
          <a:xfrm>
            <a:off x="530843" y="2348338"/>
            <a:ext cx="1620000" cy="288000"/>
          </a:xfrm>
          <a:prstGeom prst="roundRect">
            <a:avLst/>
          </a:prstGeom>
          <a:solidFill>
            <a:schemeClr val="tx1"/>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panose="020B0503020204020204" pitchFamily="34" charset="-122"/>
              </a:rPr>
              <a:t>Application Layer</a:t>
            </a:r>
            <a:endParaRPr lang="zh-CN" altLang="en-US" sz="1200" dirty="0">
              <a:latin typeface="Montserrat" panose="00000500000000000000" pitchFamily="2" charset="0"/>
              <a:ea typeface="微软雅黑" panose="020B0503020204020204" pitchFamily="34" charset="-122"/>
            </a:endParaRPr>
          </a:p>
        </p:txBody>
      </p:sp>
      <p:sp>
        <p:nvSpPr>
          <p:cNvPr id="27" name="矩形: 圆角 26">
            <a:extLst>
              <a:ext uri="{FF2B5EF4-FFF2-40B4-BE49-F238E27FC236}">
                <a16:creationId xmlns:a16="http://schemas.microsoft.com/office/drawing/2014/main" id="{DA7203CA-45D2-1372-A0DD-623479E1E401}"/>
              </a:ext>
            </a:extLst>
          </p:cNvPr>
          <p:cNvSpPr/>
          <p:nvPr/>
        </p:nvSpPr>
        <p:spPr>
          <a:xfrm>
            <a:off x="2519493" y="1481520"/>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8" name="矩形: 圆角 27">
            <a:extLst>
              <a:ext uri="{FF2B5EF4-FFF2-40B4-BE49-F238E27FC236}">
                <a16:creationId xmlns:a16="http://schemas.microsoft.com/office/drawing/2014/main" id="{A8C33F42-C193-7D8C-7947-B5A3A1DE2639}"/>
              </a:ext>
            </a:extLst>
          </p:cNvPr>
          <p:cNvSpPr/>
          <p:nvPr/>
        </p:nvSpPr>
        <p:spPr>
          <a:xfrm>
            <a:off x="2519493" y="1828247"/>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Telnet</a:t>
            </a:r>
            <a:endParaRPr lang="zh-CN" altLang="en-US" sz="1200" dirty="0">
              <a:latin typeface="Montserrat" panose="00000500000000000000" pitchFamily="2" charset="0"/>
            </a:endParaRPr>
          </a:p>
        </p:txBody>
      </p:sp>
      <p:sp>
        <p:nvSpPr>
          <p:cNvPr id="29" name="矩形: 圆角 28">
            <a:extLst>
              <a:ext uri="{FF2B5EF4-FFF2-40B4-BE49-F238E27FC236}">
                <a16:creationId xmlns:a16="http://schemas.microsoft.com/office/drawing/2014/main" id="{DDC1F7D2-085D-C267-FE9C-E0D2771BA47C}"/>
              </a:ext>
            </a:extLst>
          </p:cNvPr>
          <p:cNvSpPr/>
          <p:nvPr/>
        </p:nvSpPr>
        <p:spPr>
          <a:xfrm>
            <a:off x="2519493" y="2174974"/>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WWW</a:t>
            </a:r>
            <a:endParaRPr lang="zh-CN" altLang="en-US" sz="1200" dirty="0">
              <a:latin typeface="Montserrat" panose="00000500000000000000" pitchFamily="2" charset="0"/>
            </a:endParaRPr>
          </a:p>
        </p:txBody>
      </p:sp>
      <p:sp>
        <p:nvSpPr>
          <p:cNvPr id="30" name="矩形: 圆角 29">
            <a:extLst>
              <a:ext uri="{FF2B5EF4-FFF2-40B4-BE49-F238E27FC236}">
                <a16:creationId xmlns:a16="http://schemas.microsoft.com/office/drawing/2014/main" id="{B8577513-8D06-0DE1-747E-7246703AE5B3}"/>
              </a:ext>
            </a:extLst>
          </p:cNvPr>
          <p:cNvSpPr/>
          <p:nvPr/>
        </p:nvSpPr>
        <p:spPr>
          <a:xfrm>
            <a:off x="2519493" y="2521701"/>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SMTP</a:t>
            </a:r>
            <a:endParaRPr lang="zh-CN" altLang="en-US" sz="1200" dirty="0">
              <a:latin typeface="Montserrat" panose="00000500000000000000" pitchFamily="2" charset="0"/>
            </a:endParaRPr>
          </a:p>
        </p:txBody>
      </p:sp>
      <p:sp>
        <p:nvSpPr>
          <p:cNvPr id="31" name="矩形: 圆角 30">
            <a:extLst>
              <a:ext uri="{FF2B5EF4-FFF2-40B4-BE49-F238E27FC236}">
                <a16:creationId xmlns:a16="http://schemas.microsoft.com/office/drawing/2014/main" id="{B42D4875-D682-F495-E53A-CCBB1E4924C8}"/>
              </a:ext>
            </a:extLst>
          </p:cNvPr>
          <p:cNvSpPr/>
          <p:nvPr/>
        </p:nvSpPr>
        <p:spPr>
          <a:xfrm>
            <a:off x="2519493" y="2868428"/>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DHCP</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4465E33A-66A6-19EA-211A-455DF95BB7F1}"/>
              </a:ext>
            </a:extLst>
          </p:cNvPr>
          <p:cNvSpPr/>
          <p:nvPr/>
        </p:nvSpPr>
        <p:spPr>
          <a:xfrm>
            <a:off x="2519493" y="3215155"/>
            <a:ext cx="900000" cy="288000"/>
          </a:xfrm>
          <a:prstGeom prst="roundRect">
            <a:avLst/>
          </a:prstGeom>
          <a:solidFill>
            <a:srgbClr val="20BF6B"/>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SNMP</a:t>
            </a:r>
            <a:endParaRPr lang="zh-CN" altLang="en-US" sz="1200" dirty="0">
              <a:latin typeface="Montserrat" panose="00000500000000000000" pitchFamily="2" charset="0"/>
            </a:endParaRPr>
          </a:p>
        </p:txBody>
      </p:sp>
    </p:spTree>
    <p:extLst>
      <p:ext uri="{BB962C8B-B14F-4D97-AF65-F5344CB8AC3E}">
        <p14:creationId xmlns:p14="http://schemas.microsoft.com/office/powerpoint/2010/main" val="35555905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立方体 1">
            <a:extLst>
              <a:ext uri="{FF2B5EF4-FFF2-40B4-BE49-F238E27FC236}">
                <a16:creationId xmlns:a16="http://schemas.microsoft.com/office/drawing/2014/main" id="{435C3A33-26FE-E3E7-0872-187E42137F9F}"/>
              </a:ext>
            </a:extLst>
          </p:cNvPr>
          <p:cNvSpPr/>
          <p:nvPr/>
        </p:nvSpPr>
        <p:spPr>
          <a:xfrm>
            <a:off x="5983013"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 name="立方体 2">
            <a:extLst>
              <a:ext uri="{FF2B5EF4-FFF2-40B4-BE49-F238E27FC236}">
                <a16:creationId xmlns:a16="http://schemas.microsoft.com/office/drawing/2014/main" id="{5BBEED79-2FDF-A30A-3F5E-9997C4F4B485}"/>
              </a:ext>
            </a:extLst>
          </p:cNvPr>
          <p:cNvSpPr/>
          <p:nvPr/>
        </p:nvSpPr>
        <p:spPr>
          <a:xfrm>
            <a:off x="5983013"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 name="立方体 3">
            <a:extLst>
              <a:ext uri="{FF2B5EF4-FFF2-40B4-BE49-F238E27FC236}">
                <a16:creationId xmlns:a16="http://schemas.microsoft.com/office/drawing/2014/main" id="{3942FE45-4B66-D58E-0F63-E5C8764D8764}"/>
              </a:ext>
            </a:extLst>
          </p:cNvPr>
          <p:cNvSpPr/>
          <p:nvPr/>
        </p:nvSpPr>
        <p:spPr>
          <a:xfrm>
            <a:off x="5983013"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7" name="立方体 6">
            <a:extLst>
              <a:ext uri="{FF2B5EF4-FFF2-40B4-BE49-F238E27FC236}">
                <a16:creationId xmlns:a16="http://schemas.microsoft.com/office/drawing/2014/main" id="{AC16E806-4C54-1A71-BC62-CDF158228534}"/>
              </a:ext>
            </a:extLst>
          </p:cNvPr>
          <p:cNvSpPr/>
          <p:nvPr/>
        </p:nvSpPr>
        <p:spPr>
          <a:xfrm>
            <a:off x="5983013"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立方体 7">
            <a:extLst>
              <a:ext uri="{FF2B5EF4-FFF2-40B4-BE49-F238E27FC236}">
                <a16:creationId xmlns:a16="http://schemas.microsoft.com/office/drawing/2014/main" id="{FF170F7F-545A-BBE1-F38E-06E563AA7DD1}"/>
              </a:ext>
            </a:extLst>
          </p:cNvPr>
          <p:cNvSpPr/>
          <p:nvPr/>
        </p:nvSpPr>
        <p:spPr>
          <a:xfrm>
            <a:off x="5983013" y="1967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Text Box 13">
            <a:extLst>
              <a:ext uri="{FF2B5EF4-FFF2-40B4-BE49-F238E27FC236}">
                <a16:creationId xmlns:a16="http://schemas.microsoft.com/office/drawing/2014/main" id="{839C774B-3804-877D-D39F-0536C858BEC9}"/>
              </a:ext>
            </a:extLst>
          </p:cNvPr>
          <p:cNvSpPr txBox="1">
            <a:spLocks noChangeArrowheads="1"/>
          </p:cNvSpPr>
          <p:nvPr/>
        </p:nvSpPr>
        <p:spPr bwMode="auto">
          <a:xfrm>
            <a:off x="1227962" y="4323367"/>
            <a:ext cx="1863011"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solidFill>
                  <a:sysClr val="windowText" lastClr="000000"/>
                </a:solidFill>
                <a:latin typeface="Montserrat" panose="00000500000000000000" pitchFamily="2" charset="0"/>
                <a:ea typeface="微软雅黑 Light" panose="020B0502040204020203" pitchFamily="34" charset="-122"/>
              </a:rPr>
              <a:t>OSI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的七层协议体系结构</a:t>
            </a:r>
          </a:p>
        </p:txBody>
      </p:sp>
      <p:sp>
        <p:nvSpPr>
          <p:cNvPr id="10" name="Text Box 12">
            <a:extLst>
              <a:ext uri="{FF2B5EF4-FFF2-40B4-BE49-F238E27FC236}">
                <a16:creationId xmlns:a16="http://schemas.microsoft.com/office/drawing/2014/main" id="{35267EE4-94AC-20A1-16B2-C38D408C3727}"/>
              </a:ext>
            </a:extLst>
          </p:cNvPr>
          <p:cNvSpPr txBox="1">
            <a:spLocks noChangeArrowheads="1"/>
          </p:cNvSpPr>
          <p:nvPr/>
        </p:nvSpPr>
        <p:spPr bwMode="auto">
          <a:xfrm>
            <a:off x="3547488" y="4323367"/>
            <a:ext cx="212750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200" dirty="0">
                <a:latin typeface="Montserrat" panose="00000500000000000000" pitchFamily="2" charset="0"/>
                <a:ea typeface="微软雅黑 Light" panose="020B0502040204020203" pitchFamily="34" charset="-122"/>
              </a:rPr>
              <a:t>TCP/IP </a:t>
            </a:r>
            <a:r>
              <a:rPr kumimoji="1" lang="zh-CN" altLang="en-US" sz="1200" dirty="0">
                <a:latin typeface="Montserrat" panose="00000500000000000000" pitchFamily="2" charset="0"/>
                <a:ea typeface="微软雅黑 Light" panose="020B0502040204020203" pitchFamily="34" charset="-122"/>
              </a:rPr>
              <a:t>的四层协议体系结构</a:t>
            </a:r>
          </a:p>
        </p:txBody>
      </p:sp>
      <p:sp>
        <p:nvSpPr>
          <p:cNvPr id="11" name="Text Box 113">
            <a:extLst>
              <a:ext uri="{FF2B5EF4-FFF2-40B4-BE49-F238E27FC236}">
                <a16:creationId xmlns:a16="http://schemas.microsoft.com/office/drawing/2014/main" id="{71AC5A9E-A7D4-6E70-1C3A-C9EA49BE2432}"/>
              </a:ext>
            </a:extLst>
          </p:cNvPr>
          <p:cNvSpPr txBox="1">
            <a:spLocks noChangeArrowheads="1"/>
          </p:cNvSpPr>
          <p:nvPr/>
        </p:nvSpPr>
        <p:spPr bwMode="auto">
          <a:xfrm>
            <a:off x="6278183" y="4323367"/>
            <a:ext cx="1569660"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gn="ctr" eaLnBrk="1" fontAlgn="auto" hangingPunct="1">
              <a:spcBef>
                <a:spcPts val="0"/>
              </a:spcBef>
              <a:spcAft>
                <a:spcPts val="0"/>
              </a:spcAft>
              <a:defRPr/>
            </a:pPr>
            <a:r>
              <a:rPr lang="zh-CN" altLang="en-US" sz="1200" dirty="0">
                <a:latin typeface="Montserrat" panose="00000500000000000000" pitchFamily="2" charset="0"/>
                <a:ea typeface="微软雅黑 Light" panose="020B0502040204020203" pitchFamily="34" charset="-122"/>
              </a:rPr>
              <a:t>五层协议的体系结构</a:t>
            </a:r>
          </a:p>
        </p:txBody>
      </p:sp>
      <p:sp>
        <p:nvSpPr>
          <p:cNvPr id="12" name="立方体 11">
            <a:extLst>
              <a:ext uri="{FF2B5EF4-FFF2-40B4-BE49-F238E27FC236}">
                <a16:creationId xmlns:a16="http://schemas.microsoft.com/office/drawing/2014/main" id="{F9C55828-F5E0-0B53-4BBA-DBED06D45979}"/>
              </a:ext>
            </a:extLst>
          </p:cNvPr>
          <p:cNvSpPr/>
          <p:nvPr/>
        </p:nvSpPr>
        <p:spPr>
          <a:xfrm>
            <a:off x="1079467"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Physical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3" name="立方体 12">
            <a:extLst>
              <a:ext uri="{FF2B5EF4-FFF2-40B4-BE49-F238E27FC236}">
                <a16:creationId xmlns:a16="http://schemas.microsoft.com/office/drawing/2014/main" id="{D0F76DCC-754B-1D07-E625-F613FF231F9A}"/>
              </a:ext>
            </a:extLst>
          </p:cNvPr>
          <p:cNvSpPr/>
          <p:nvPr/>
        </p:nvSpPr>
        <p:spPr>
          <a:xfrm>
            <a:off x="1079467"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Data-link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4" name="立方体 13">
            <a:extLst>
              <a:ext uri="{FF2B5EF4-FFF2-40B4-BE49-F238E27FC236}">
                <a16:creationId xmlns:a16="http://schemas.microsoft.com/office/drawing/2014/main" id="{AD130686-D01A-03CA-9811-69900FA01F65}"/>
              </a:ext>
            </a:extLst>
          </p:cNvPr>
          <p:cNvSpPr/>
          <p:nvPr/>
        </p:nvSpPr>
        <p:spPr>
          <a:xfrm>
            <a:off x="1079467"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5" name="立方体 14">
            <a:extLst>
              <a:ext uri="{FF2B5EF4-FFF2-40B4-BE49-F238E27FC236}">
                <a16:creationId xmlns:a16="http://schemas.microsoft.com/office/drawing/2014/main" id="{31E9EFFF-39A9-5FF8-2C80-B125076CA022}"/>
              </a:ext>
            </a:extLst>
          </p:cNvPr>
          <p:cNvSpPr/>
          <p:nvPr/>
        </p:nvSpPr>
        <p:spPr>
          <a:xfrm>
            <a:off x="1079467" y="2399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6" name="立方体 15">
            <a:extLst>
              <a:ext uri="{FF2B5EF4-FFF2-40B4-BE49-F238E27FC236}">
                <a16:creationId xmlns:a16="http://schemas.microsoft.com/office/drawing/2014/main" id="{53B2E1FF-84A4-3B5D-EB3D-9F45AFF377A8}"/>
              </a:ext>
            </a:extLst>
          </p:cNvPr>
          <p:cNvSpPr/>
          <p:nvPr/>
        </p:nvSpPr>
        <p:spPr>
          <a:xfrm>
            <a:off x="1079467" y="1967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Session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7" name="立方体 16">
            <a:extLst>
              <a:ext uri="{FF2B5EF4-FFF2-40B4-BE49-F238E27FC236}">
                <a16:creationId xmlns:a16="http://schemas.microsoft.com/office/drawing/2014/main" id="{5AD7C9D4-5D75-34A4-FDB3-04F7C0D00772}"/>
              </a:ext>
            </a:extLst>
          </p:cNvPr>
          <p:cNvSpPr/>
          <p:nvPr/>
        </p:nvSpPr>
        <p:spPr>
          <a:xfrm>
            <a:off x="1079467" y="1536101"/>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Presentation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8" name="立方体 17">
            <a:extLst>
              <a:ext uri="{FF2B5EF4-FFF2-40B4-BE49-F238E27FC236}">
                <a16:creationId xmlns:a16="http://schemas.microsoft.com/office/drawing/2014/main" id="{B3CC4A8D-5DE9-B9C9-1761-BDF1741BBE2F}"/>
              </a:ext>
            </a:extLst>
          </p:cNvPr>
          <p:cNvSpPr/>
          <p:nvPr/>
        </p:nvSpPr>
        <p:spPr>
          <a:xfrm>
            <a:off x="1079467" y="1104101"/>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endParaRPr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立方体 18">
            <a:extLst>
              <a:ext uri="{FF2B5EF4-FFF2-40B4-BE49-F238E27FC236}">
                <a16:creationId xmlns:a16="http://schemas.microsoft.com/office/drawing/2014/main" id="{B6D68859-360D-D5F5-AC0B-CE64A496F5EB}"/>
              </a:ext>
            </a:extLst>
          </p:cNvPr>
          <p:cNvSpPr/>
          <p:nvPr/>
        </p:nvSpPr>
        <p:spPr>
          <a:xfrm>
            <a:off x="3531240" y="3695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Interface Layer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20" name="立方体 19">
            <a:extLst>
              <a:ext uri="{FF2B5EF4-FFF2-40B4-BE49-F238E27FC236}">
                <a16:creationId xmlns:a16="http://schemas.microsoft.com/office/drawing/2014/main" id="{0C2950DC-F4FD-1B66-DE09-62FCC12CA38B}"/>
              </a:ext>
            </a:extLst>
          </p:cNvPr>
          <p:cNvSpPr/>
          <p:nvPr/>
        </p:nvSpPr>
        <p:spPr>
          <a:xfrm>
            <a:off x="3531240" y="3263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Network layer</a:t>
            </a:r>
          </a:p>
        </p:txBody>
      </p:sp>
      <p:sp>
        <p:nvSpPr>
          <p:cNvPr id="21" name="立方体 20">
            <a:extLst>
              <a:ext uri="{FF2B5EF4-FFF2-40B4-BE49-F238E27FC236}">
                <a16:creationId xmlns:a16="http://schemas.microsoft.com/office/drawing/2014/main" id="{2726D570-622A-ED1F-A74E-030CE7E092BB}"/>
              </a:ext>
            </a:extLst>
          </p:cNvPr>
          <p:cNvSpPr/>
          <p:nvPr/>
        </p:nvSpPr>
        <p:spPr>
          <a:xfrm>
            <a:off x="3531240" y="2831090"/>
            <a:ext cx="2160000" cy="576000"/>
          </a:xfrm>
          <a:prstGeom prst="cube">
            <a:avLst/>
          </a:prstGeom>
          <a:solidFill>
            <a:schemeClr val="bg1">
              <a:lumMod val="9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Transport layer</a:t>
            </a:r>
          </a:p>
        </p:txBody>
      </p:sp>
      <p:sp>
        <p:nvSpPr>
          <p:cNvPr id="22" name="立方体 21">
            <a:extLst>
              <a:ext uri="{FF2B5EF4-FFF2-40B4-BE49-F238E27FC236}">
                <a16:creationId xmlns:a16="http://schemas.microsoft.com/office/drawing/2014/main" id="{C3585DD1-4685-5D0C-DED7-3B3F1EF5F3B5}"/>
              </a:ext>
            </a:extLst>
          </p:cNvPr>
          <p:cNvSpPr/>
          <p:nvPr/>
        </p:nvSpPr>
        <p:spPr>
          <a:xfrm>
            <a:off x="3531240" y="2399090"/>
            <a:ext cx="2160000" cy="576000"/>
          </a:xfrm>
          <a:prstGeom prst="cube">
            <a:avLst/>
          </a:prstGeom>
          <a:solidFill>
            <a:schemeClr val="accent6">
              <a:lumMod val="75000"/>
            </a:schemeClr>
          </a:solidFill>
          <a:ln w="6350">
            <a:solidFill>
              <a:schemeClr val="bg1"/>
            </a:solidFill>
            <a:miter lim="800000"/>
            <a:headEnd/>
            <a:tailEn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bg1"/>
                </a:solidFill>
                <a:latin typeface="Montserrat" panose="00000500000000000000" pitchFamily="2" charset="0"/>
                <a:ea typeface="微软雅黑 Light" panose="020B0502040204020203" pitchFamily="34" charset="-122"/>
              </a:rPr>
              <a:t>Application layer</a:t>
            </a:r>
          </a:p>
        </p:txBody>
      </p:sp>
      <p:sp>
        <p:nvSpPr>
          <p:cNvPr id="23" name="标题 22">
            <a:extLst>
              <a:ext uri="{FF2B5EF4-FFF2-40B4-BE49-F238E27FC236}">
                <a16:creationId xmlns:a16="http://schemas.microsoft.com/office/drawing/2014/main" id="{4D86DB01-FAC0-240E-94B6-A34E8A177EC5}"/>
              </a:ext>
            </a:extLst>
          </p:cNvPr>
          <p:cNvSpPr>
            <a:spLocks noGrp="1"/>
          </p:cNvSpPr>
          <p:nvPr>
            <p:ph type="title"/>
          </p:nvPr>
        </p:nvSpPr>
        <p:spPr>
          <a:xfrm>
            <a:off x="2880000" y="144000"/>
            <a:ext cx="3384000" cy="338554"/>
          </a:xfrm>
        </p:spPr>
        <p:txBody>
          <a:bodyPr/>
          <a:lstStyle/>
          <a:p>
            <a:r>
              <a:rPr lang="zh-CN" altLang="en-US" dirty="0"/>
              <a:t>计算机网络体系结构</a:t>
            </a:r>
          </a:p>
        </p:txBody>
      </p:sp>
    </p:spTree>
    <p:extLst>
      <p:ext uri="{BB962C8B-B14F-4D97-AF65-F5344CB8AC3E}">
        <p14:creationId xmlns:p14="http://schemas.microsoft.com/office/powerpoint/2010/main" val="22640046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9E70971-532E-31D0-8BF3-55D68B035738}"/>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
        <p:nvSpPr>
          <p:cNvPr id="3" name="内容占位符 2">
            <a:extLst>
              <a:ext uri="{FF2B5EF4-FFF2-40B4-BE49-F238E27FC236}">
                <a16:creationId xmlns:a16="http://schemas.microsoft.com/office/drawing/2014/main" id="{5A563086-2AAD-32C9-387B-6D2138E14699}"/>
              </a:ext>
            </a:extLst>
          </p:cNvPr>
          <p:cNvSpPr>
            <a:spLocks noGrp="1"/>
          </p:cNvSpPr>
          <p:nvPr>
            <p:ph sz="quarter" idx="11"/>
          </p:nvPr>
        </p:nvSpPr>
        <p:spPr>
          <a:xfrm>
            <a:off x="486000" y="687518"/>
            <a:ext cx="8172000" cy="4079035"/>
          </a:xfrm>
        </p:spPr>
        <p:txBody>
          <a:bodyPr/>
          <a:lstStyle/>
          <a:p>
            <a:r>
              <a:rPr lang="zh-CN" altLang="en-US" dirty="0"/>
              <a:t>精确定义不同主机中的多个应用进程之间的通信规则</a:t>
            </a:r>
            <a:endParaRPr lang="en-US" altLang="zh-CN" dirty="0"/>
          </a:p>
          <a:p>
            <a:r>
              <a:rPr lang="zh-CN" altLang="en-US" dirty="0"/>
              <a:t>包括：</a:t>
            </a:r>
            <a:endParaRPr lang="en-US" altLang="zh-CN" dirty="0"/>
          </a:p>
          <a:p>
            <a:pPr lvl="1"/>
            <a:r>
              <a:rPr lang="zh-CN" altLang="en-US" dirty="0"/>
              <a:t>应用进程交换的报文类型，如请求报文和响应报文</a:t>
            </a:r>
          </a:p>
          <a:p>
            <a:pPr lvl="1"/>
            <a:r>
              <a:rPr lang="zh-CN" altLang="en-US" dirty="0"/>
              <a:t>各种报文类型的语法，如报文中的各个字段及其详细描述</a:t>
            </a:r>
          </a:p>
          <a:p>
            <a:pPr lvl="1"/>
            <a:r>
              <a:rPr lang="zh-CN" altLang="en-US" dirty="0"/>
              <a:t>字段的语义，即包含在字段中的信息的含义</a:t>
            </a:r>
          </a:p>
          <a:p>
            <a:pPr lvl="1"/>
            <a:r>
              <a:rPr lang="zh-CN" altLang="en-US" dirty="0"/>
              <a:t>进程何时、如何发送报文，以及对报文进行响应的规则</a:t>
            </a:r>
          </a:p>
          <a:p>
            <a:endParaRPr lang="zh-CN" altLang="en-US" dirty="0"/>
          </a:p>
        </p:txBody>
      </p:sp>
    </p:spTree>
    <p:extLst>
      <p:ext uri="{BB962C8B-B14F-4D97-AF65-F5344CB8AC3E}">
        <p14:creationId xmlns:p14="http://schemas.microsoft.com/office/powerpoint/2010/main" val="14007001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F9066784-5CDA-FF05-0F0B-2236B25C9CC7}"/>
              </a:ext>
            </a:extLst>
          </p:cNvPr>
          <p:cNvSpPr>
            <a:spLocks noGrp="1"/>
          </p:cNvSpPr>
          <p:nvPr>
            <p:ph sz="quarter" idx="11"/>
          </p:nvPr>
        </p:nvSpPr>
        <p:spPr/>
        <p:txBody>
          <a:bodyPr/>
          <a:lstStyle/>
          <a:p>
            <a:endParaRPr lang="zh-CN" altLang="en-US"/>
          </a:p>
        </p:txBody>
      </p:sp>
      <p:graphicFrame>
        <p:nvGraphicFramePr>
          <p:cNvPr id="2" name="图示 1"/>
          <p:cNvGraphicFramePr/>
          <p:nvPr>
            <p:extLst>
              <p:ext uri="{D42A27DB-BD31-4B8C-83A1-F6EECF244321}">
                <p14:modId xmlns:p14="http://schemas.microsoft.com/office/powerpoint/2010/main" val="1537704943"/>
              </p:ext>
            </p:extLst>
          </p:nvPr>
        </p:nvGraphicFramePr>
        <p:xfrm>
          <a:off x="689500" y="1207367"/>
          <a:ext cx="3811477" cy="15891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6" name="图示 5"/>
          <p:cNvGraphicFramePr/>
          <p:nvPr>
            <p:extLst>
              <p:ext uri="{D42A27DB-BD31-4B8C-83A1-F6EECF244321}">
                <p14:modId xmlns:p14="http://schemas.microsoft.com/office/powerpoint/2010/main" val="3948227665"/>
              </p:ext>
            </p:extLst>
          </p:nvPr>
        </p:nvGraphicFramePr>
        <p:xfrm>
          <a:off x="4702207" y="1207367"/>
          <a:ext cx="3811477" cy="1589100"/>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3" name="标题 1">
            <a:extLst>
              <a:ext uri="{FF2B5EF4-FFF2-40B4-BE49-F238E27FC236}">
                <a16:creationId xmlns:a16="http://schemas.microsoft.com/office/drawing/2014/main" id="{E1674977-0B3C-56F4-49F2-E926D5A622D3}"/>
              </a:ext>
            </a:extLst>
          </p:cNvPr>
          <p:cNvSpPr txBox="1">
            <a:spLocks/>
          </p:cNvSpPr>
          <p:nvPr/>
        </p:nvSpPr>
        <p:spPr>
          <a:xfrm>
            <a:off x="485775" y="550863"/>
            <a:ext cx="8172450" cy="338137"/>
          </a:xfrm>
          <a:prstGeom prst="rect">
            <a:avLst/>
          </a:prstGeom>
        </p:spPr>
        <p:txBody>
          <a:bodyPr/>
          <a:lstStyle>
            <a:lvl1pPr algn="ctr" defTabSz="914400" rtl="0" eaLnBrk="1" latinLnBrk="0" hangingPunct="1">
              <a:spcBef>
                <a:spcPct val="0"/>
              </a:spcBef>
              <a:buNone/>
              <a:defRPr sz="4400" kern="1200">
                <a:solidFill>
                  <a:schemeClr val="tx1"/>
                </a:solidFill>
                <a:latin typeface="+mj-lt"/>
                <a:ea typeface="+mj-ea"/>
                <a:cs typeface="+mj-cs"/>
              </a:defRPr>
            </a:lvl1pPr>
          </a:lstStyle>
          <a:p>
            <a:endParaRPr lang="zh-CN" altLang="en-US" dirty="0"/>
          </a:p>
        </p:txBody>
      </p:sp>
      <p:sp>
        <p:nvSpPr>
          <p:cNvPr id="4" name="标题 3">
            <a:extLst>
              <a:ext uri="{FF2B5EF4-FFF2-40B4-BE49-F238E27FC236}">
                <a16:creationId xmlns:a16="http://schemas.microsoft.com/office/drawing/2014/main" id="{A680794D-067E-7FBF-81C2-22449E54014C}"/>
              </a:ext>
            </a:extLst>
          </p:cNvPr>
          <p:cNvSpPr>
            <a:spLocks noGrp="1"/>
          </p:cNvSpPr>
          <p:nvPr>
            <p:ph type="title"/>
          </p:nvPr>
        </p:nvSpPr>
        <p:spPr>
          <a:xfrm>
            <a:off x="485999" y="174482"/>
            <a:ext cx="8171999" cy="338554"/>
          </a:xfrm>
        </p:spPr>
        <p:txBody>
          <a:bodyPr/>
          <a:lstStyle/>
          <a:p>
            <a:r>
              <a:rPr lang="en-US" altLang="zh-CN" dirty="0"/>
              <a:t>6 </a:t>
            </a:r>
            <a:r>
              <a:rPr lang="zh-CN" altLang="en-US" dirty="0"/>
              <a:t>应用层协议</a:t>
            </a:r>
          </a:p>
        </p:txBody>
      </p:sp>
    </p:spTree>
    <p:extLst>
      <p:ext uri="{BB962C8B-B14F-4D97-AF65-F5344CB8AC3E}">
        <p14:creationId xmlns:p14="http://schemas.microsoft.com/office/powerpoint/2010/main" val="15284366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2">
                                            <p:graphicEl>
                                              <a:dgm id="{7908BCB8-DE9B-4BF1-8D07-3A3FD24C7968}"/>
                                            </p:graphicEl>
                                          </p:spTgt>
                                        </p:tgtEl>
                                        <p:attrNameLst>
                                          <p:attrName>style.visibility</p:attrName>
                                        </p:attrNameLst>
                                      </p:cBhvr>
                                      <p:to>
                                        <p:strVal val="visible"/>
                                      </p:to>
                                    </p:set>
                                    <p:animEffect transition="in" filter="wipe(up)">
                                      <p:cBhvr>
                                        <p:cTn id="7" dur="1000"/>
                                        <p:tgtEl>
                                          <p:spTgt spid="2">
                                            <p:graphicEl>
                                              <a:dgm id="{7908BCB8-DE9B-4BF1-8D07-3A3FD24C7968}"/>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2">
                                            <p:graphicEl>
                                              <a:dgm id="{F381CC4E-322C-45E6-B7E7-4ED70FA8CF2E}"/>
                                            </p:graphicEl>
                                          </p:spTgt>
                                        </p:tgtEl>
                                        <p:attrNameLst>
                                          <p:attrName>style.visibility</p:attrName>
                                        </p:attrNameLst>
                                      </p:cBhvr>
                                      <p:to>
                                        <p:strVal val="visible"/>
                                      </p:to>
                                    </p:set>
                                    <p:animEffect transition="in" filter="wipe(up)">
                                      <p:cBhvr>
                                        <p:cTn id="12" dur="1000"/>
                                        <p:tgtEl>
                                          <p:spTgt spid="2">
                                            <p:graphicEl>
                                              <a:dgm id="{F381CC4E-322C-45E6-B7E7-4ED70FA8CF2E}"/>
                                            </p:graphicEl>
                                          </p:spTgt>
                                        </p:tgtEl>
                                      </p:cBhvr>
                                    </p:animEffect>
                                  </p:childTnLst>
                                </p:cTn>
                              </p:par>
                            </p:childTnLst>
                          </p:cTn>
                        </p:par>
                        <p:par>
                          <p:cTn id="13" fill="hold">
                            <p:stCondLst>
                              <p:cond delay="1000"/>
                            </p:stCondLst>
                            <p:childTnLst>
                              <p:par>
                                <p:cTn id="14" presetID="22" presetClass="entr" presetSubtype="1" fill="hold" grpId="0" nodeType="afterEffect">
                                  <p:stCondLst>
                                    <p:cond delay="0"/>
                                  </p:stCondLst>
                                  <p:childTnLst>
                                    <p:set>
                                      <p:cBhvr>
                                        <p:cTn id="15" dur="1" fill="hold">
                                          <p:stCondLst>
                                            <p:cond delay="0"/>
                                          </p:stCondLst>
                                        </p:cTn>
                                        <p:tgtEl>
                                          <p:spTgt spid="2">
                                            <p:graphicEl>
                                              <a:dgm id="{1F36E606-4D05-483A-959D-7AFAA3F99964}"/>
                                            </p:graphicEl>
                                          </p:spTgt>
                                        </p:tgtEl>
                                        <p:attrNameLst>
                                          <p:attrName>style.visibility</p:attrName>
                                        </p:attrNameLst>
                                      </p:cBhvr>
                                      <p:to>
                                        <p:strVal val="visible"/>
                                      </p:to>
                                    </p:set>
                                    <p:animEffect transition="in" filter="wipe(up)">
                                      <p:cBhvr>
                                        <p:cTn id="16" dur="1000"/>
                                        <p:tgtEl>
                                          <p:spTgt spid="2">
                                            <p:graphicEl>
                                              <a:dgm id="{1F36E606-4D05-483A-959D-7AFAA3F99964}"/>
                                            </p:graphic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1" fill="hold" grpId="0" nodeType="clickEffect">
                                  <p:stCondLst>
                                    <p:cond delay="0"/>
                                  </p:stCondLst>
                                  <p:childTnLst>
                                    <p:set>
                                      <p:cBhvr>
                                        <p:cTn id="20" dur="1" fill="hold">
                                          <p:stCondLst>
                                            <p:cond delay="0"/>
                                          </p:stCondLst>
                                        </p:cTn>
                                        <p:tgtEl>
                                          <p:spTgt spid="2">
                                            <p:graphicEl>
                                              <a:dgm id="{49899EA7-F8C0-4BB7-A6AD-5F40B1731420}"/>
                                            </p:graphicEl>
                                          </p:spTgt>
                                        </p:tgtEl>
                                        <p:attrNameLst>
                                          <p:attrName>style.visibility</p:attrName>
                                        </p:attrNameLst>
                                      </p:cBhvr>
                                      <p:to>
                                        <p:strVal val="visible"/>
                                      </p:to>
                                    </p:set>
                                    <p:animEffect transition="in" filter="wipe(up)">
                                      <p:cBhvr>
                                        <p:cTn id="21" dur="1000"/>
                                        <p:tgtEl>
                                          <p:spTgt spid="2">
                                            <p:graphicEl>
                                              <a:dgm id="{49899EA7-F8C0-4BB7-A6AD-5F40B1731420}"/>
                                            </p:graphicEl>
                                          </p:spTgt>
                                        </p:tgtEl>
                                      </p:cBhvr>
                                    </p:animEffect>
                                  </p:childTnLst>
                                </p:cTn>
                              </p:par>
                            </p:childTnLst>
                          </p:cTn>
                        </p:par>
                        <p:par>
                          <p:cTn id="22" fill="hold">
                            <p:stCondLst>
                              <p:cond delay="1000"/>
                            </p:stCondLst>
                            <p:childTnLst>
                              <p:par>
                                <p:cTn id="23" presetID="22" presetClass="entr" presetSubtype="1" fill="hold" grpId="0" nodeType="afterEffect">
                                  <p:stCondLst>
                                    <p:cond delay="0"/>
                                  </p:stCondLst>
                                  <p:childTnLst>
                                    <p:set>
                                      <p:cBhvr>
                                        <p:cTn id="24" dur="1" fill="hold">
                                          <p:stCondLst>
                                            <p:cond delay="0"/>
                                          </p:stCondLst>
                                        </p:cTn>
                                        <p:tgtEl>
                                          <p:spTgt spid="2">
                                            <p:graphicEl>
                                              <a:dgm id="{07CD9CA8-8213-4B82-96DE-5A2E23AB39DC}"/>
                                            </p:graphicEl>
                                          </p:spTgt>
                                        </p:tgtEl>
                                        <p:attrNameLst>
                                          <p:attrName>style.visibility</p:attrName>
                                        </p:attrNameLst>
                                      </p:cBhvr>
                                      <p:to>
                                        <p:strVal val="visible"/>
                                      </p:to>
                                    </p:set>
                                    <p:animEffect transition="in" filter="wipe(up)">
                                      <p:cBhvr>
                                        <p:cTn id="25" dur="1000"/>
                                        <p:tgtEl>
                                          <p:spTgt spid="2">
                                            <p:graphicEl>
                                              <a:dgm id="{07CD9CA8-8213-4B82-96DE-5A2E23AB39DC}"/>
                                            </p:graphic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1" fill="hold" grpId="0" nodeType="clickEffect">
                                  <p:stCondLst>
                                    <p:cond delay="0"/>
                                  </p:stCondLst>
                                  <p:childTnLst>
                                    <p:set>
                                      <p:cBhvr>
                                        <p:cTn id="29" dur="1" fill="hold">
                                          <p:stCondLst>
                                            <p:cond delay="0"/>
                                          </p:stCondLst>
                                        </p:cTn>
                                        <p:tgtEl>
                                          <p:spTgt spid="2">
                                            <p:graphicEl>
                                              <a:dgm id="{D772C529-9144-4F64-AC62-C41998E87A93}"/>
                                            </p:graphicEl>
                                          </p:spTgt>
                                        </p:tgtEl>
                                        <p:attrNameLst>
                                          <p:attrName>style.visibility</p:attrName>
                                        </p:attrNameLst>
                                      </p:cBhvr>
                                      <p:to>
                                        <p:strVal val="visible"/>
                                      </p:to>
                                    </p:set>
                                    <p:animEffect transition="in" filter="wipe(up)">
                                      <p:cBhvr>
                                        <p:cTn id="30" dur="1000"/>
                                        <p:tgtEl>
                                          <p:spTgt spid="2">
                                            <p:graphicEl>
                                              <a:dgm id="{D772C529-9144-4F64-AC62-C41998E87A93}"/>
                                            </p:graphicEl>
                                          </p:spTgt>
                                        </p:tgtEl>
                                      </p:cBhvr>
                                    </p:animEffect>
                                  </p:childTnLst>
                                </p:cTn>
                              </p:par>
                            </p:childTnLst>
                          </p:cTn>
                        </p:par>
                        <p:par>
                          <p:cTn id="31" fill="hold">
                            <p:stCondLst>
                              <p:cond delay="1000"/>
                            </p:stCondLst>
                            <p:childTnLst>
                              <p:par>
                                <p:cTn id="32" presetID="22" presetClass="entr" presetSubtype="1" fill="hold" grpId="0" nodeType="afterEffect">
                                  <p:stCondLst>
                                    <p:cond delay="0"/>
                                  </p:stCondLst>
                                  <p:childTnLst>
                                    <p:set>
                                      <p:cBhvr>
                                        <p:cTn id="33" dur="1" fill="hold">
                                          <p:stCondLst>
                                            <p:cond delay="0"/>
                                          </p:stCondLst>
                                        </p:cTn>
                                        <p:tgtEl>
                                          <p:spTgt spid="2">
                                            <p:graphicEl>
                                              <a:dgm id="{629FD194-4F20-42AB-A0D3-D63455B286FC}"/>
                                            </p:graphicEl>
                                          </p:spTgt>
                                        </p:tgtEl>
                                        <p:attrNameLst>
                                          <p:attrName>style.visibility</p:attrName>
                                        </p:attrNameLst>
                                      </p:cBhvr>
                                      <p:to>
                                        <p:strVal val="visible"/>
                                      </p:to>
                                    </p:set>
                                    <p:animEffect transition="in" filter="wipe(up)">
                                      <p:cBhvr>
                                        <p:cTn id="34" dur="1000"/>
                                        <p:tgtEl>
                                          <p:spTgt spid="2">
                                            <p:graphicEl>
                                              <a:dgm id="{629FD194-4F20-42AB-A0D3-D63455B286FC}"/>
                                            </p:graphic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1" fill="hold" grpId="0" nodeType="clickEffect">
                                  <p:stCondLst>
                                    <p:cond delay="0"/>
                                  </p:stCondLst>
                                  <p:childTnLst>
                                    <p:set>
                                      <p:cBhvr>
                                        <p:cTn id="38" dur="1" fill="hold">
                                          <p:stCondLst>
                                            <p:cond delay="0"/>
                                          </p:stCondLst>
                                        </p:cTn>
                                        <p:tgtEl>
                                          <p:spTgt spid="6">
                                            <p:graphicEl>
                                              <a:dgm id="{7908BCB8-DE9B-4BF1-8D07-3A3FD24C7968}"/>
                                            </p:graphicEl>
                                          </p:spTgt>
                                        </p:tgtEl>
                                        <p:attrNameLst>
                                          <p:attrName>style.visibility</p:attrName>
                                        </p:attrNameLst>
                                      </p:cBhvr>
                                      <p:to>
                                        <p:strVal val="visible"/>
                                      </p:to>
                                    </p:set>
                                    <p:animEffect transition="in" filter="wipe(up)">
                                      <p:cBhvr>
                                        <p:cTn id="39" dur="1000"/>
                                        <p:tgtEl>
                                          <p:spTgt spid="6">
                                            <p:graphicEl>
                                              <a:dgm id="{7908BCB8-DE9B-4BF1-8D07-3A3FD24C7968}"/>
                                            </p:graphicEl>
                                          </p:spTgt>
                                        </p:tgtEl>
                                      </p:cBhvr>
                                    </p:animEffect>
                                  </p:childTnLst>
                                </p:cTn>
                              </p:par>
                            </p:childTnLst>
                          </p:cTn>
                        </p:par>
                        <p:par>
                          <p:cTn id="40" fill="hold">
                            <p:stCondLst>
                              <p:cond delay="1000"/>
                            </p:stCondLst>
                            <p:childTnLst>
                              <p:par>
                                <p:cTn id="41" presetID="22" presetClass="entr" presetSubtype="1" fill="hold" grpId="0" nodeType="afterEffect">
                                  <p:stCondLst>
                                    <p:cond delay="0"/>
                                  </p:stCondLst>
                                  <p:childTnLst>
                                    <p:set>
                                      <p:cBhvr>
                                        <p:cTn id="42" dur="1" fill="hold">
                                          <p:stCondLst>
                                            <p:cond delay="0"/>
                                          </p:stCondLst>
                                        </p:cTn>
                                        <p:tgtEl>
                                          <p:spTgt spid="6">
                                            <p:graphicEl>
                                              <a:dgm id="{F381CC4E-322C-45E6-B7E7-4ED70FA8CF2E}"/>
                                            </p:graphicEl>
                                          </p:spTgt>
                                        </p:tgtEl>
                                        <p:attrNameLst>
                                          <p:attrName>style.visibility</p:attrName>
                                        </p:attrNameLst>
                                      </p:cBhvr>
                                      <p:to>
                                        <p:strVal val="visible"/>
                                      </p:to>
                                    </p:set>
                                    <p:animEffect transition="in" filter="wipe(up)">
                                      <p:cBhvr>
                                        <p:cTn id="43" dur="1000"/>
                                        <p:tgtEl>
                                          <p:spTgt spid="6">
                                            <p:graphicEl>
                                              <a:dgm id="{F381CC4E-322C-45E6-B7E7-4ED70FA8CF2E}"/>
                                            </p:graphicEl>
                                          </p:spTgt>
                                        </p:tgtEl>
                                      </p:cBhvr>
                                    </p:animEffect>
                                  </p:childTnLst>
                                </p:cTn>
                              </p:par>
                            </p:childTnLst>
                          </p:cTn>
                        </p:par>
                        <p:par>
                          <p:cTn id="44" fill="hold">
                            <p:stCondLst>
                              <p:cond delay="2000"/>
                            </p:stCondLst>
                            <p:childTnLst>
                              <p:par>
                                <p:cTn id="45" presetID="22" presetClass="entr" presetSubtype="1" fill="hold" grpId="0" nodeType="afterEffect">
                                  <p:stCondLst>
                                    <p:cond delay="0"/>
                                  </p:stCondLst>
                                  <p:childTnLst>
                                    <p:set>
                                      <p:cBhvr>
                                        <p:cTn id="46" dur="1" fill="hold">
                                          <p:stCondLst>
                                            <p:cond delay="0"/>
                                          </p:stCondLst>
                                        </p:cTn>
                                        <p:tgtEl>
                                          <p:spTgt spid="6">
                                            <p:graphicEl>
                                              <a:dgm id="{1F36E606-4D05-483A-959D-7AFAA3F99964}"/>
                                            </p:graphicEl>
                                          </p:spTgt>
                                        </p:tgtEl>
                                        <p:attrNameLst>
                                          <p:attrName>style.visibility</p:attrName>
                                        </p:attrNameLst>
                                      </p:cBhvr>
                                      <p:to>
                                        <p:strVal val="visible"/>
                                      </p:to>
                                    </p:set>
                                    <p:animEffect transition="in" filter="wipe(up)">
                                      <p:cBhvr>
                                        <p:cTn id="47" dur="1000"/>
                                        <p:tgtEl>
                                          <p:spTgt spid="6">
                                            <p:graphicEl>
                                              <a:dgm id="{1F36E606-4D05-483A-959D-7AFAA3F99964}"/>
                                            </p:graphicEl>
                                          </p:spTgt>
                                        </p:tgtEl>
                                      </p:cBhvr>
                                    </p:animEffect>
                                  </p:childTnLst>
                                </p:cTn>
                              </p:par>
                            </p:childTnLst>
                          </p:cTn>
                        </p:par>
                        <p:par>
                          <p:cTn id="48" fill="hold">
                            <p:stCondLst>
                              <p:cond delay="3000"/>
                            </p:stCondLst>
                            <p:childTnLst>
                              <p:par>
                                <p:cTn id="49" presetID="22" presetClass="entr" presetSubtype="1" fill="hold" grpId="0" nodeType="afterEffect">
                                  <p:stCondLst>
                                    <p:cond delay="0"/>
                                  </p:stCondLst>
                                  <p:childTnLst>
                                    <p:set>
                                      <p:cBhvr>
                                        <p:cTn id="50" dur="1" fill="hold">
                                          <p:stCondLst>
                                            <p:cond delay="0"/>
                                          </p:stCondLst>
                                        </p:cTn>
                                        <p:tgtEl>
                                          <p:spTgt spid="6">
                                            <p:graphicEl>
                                              <a:dgm id="{49899EA7-F8C0-4BB7-A6AD-5F40B1731420}"/>
                                            </p:graphicEl>
                                          </p:spTgt>
                                        </p:tgtEl>
                                        <p:attrNameLst>
                                          <p:attrName>style.visibility</p:attrName>
                                        </p:attrNameLst>
                                      </p:cBhvr>
                                      <p:to>
                                        <p:strVal val="visible"/>
                                      </p:to>
                                    </p:set>
                                    <p:animEffect transition="in" filter="wipe(up)">
                                      <p:cBhvr>
                                        <p:cTn id="51" dur="1000"/>
                                        <p:tgtEl>
                                          <p:spTgt spid="6">
                                            <p:graphicEl>
                                              <a:dgm id="{49899EA7-F8C0-4BB7-A6AD-5F40B1731420}"/>
                                            </p:graphicEl>
                                          </p:spTgt>
                                        </p:tgtEl>
                                      </p:cBhvr>
                                    </p:animEffect>
                                  </p:childTnLst>
                                </p:cTn>
                              </p:par>
                            </p:childTnLst>
                          </p:cTn>
                        </p:par>
                        <p:par>
                          <p:cTn id="52" fill="hold">
                            <p:stCondLst>
                              <p:cond delay="4000"/>
                            </p:stCondLst>
                            <p:childTnLst>
                              <p:par>
                                <p:cTn id="53" presetID="22" presetClass="entr" presetSubtype="1" fill="hold" grpId="0" nodeType="afterEffect">
                                  <p:stCondLst>
                                    <p:cond delay="0"/>
                                  </p:stCondLst>
                                  <p:childTnLst>
                                    <p:set>
                                      <p:cBhvr>
                                        <p:cTn id="54" dur="1" fill="hold">
                                          <p:stCondLst>
                                            <p:cond delay="0"/>
                                          </p:stCondLst>
                                        </p:cTn>
                                        <p:tgtEl>
                                          <p:spTgt spid="6">
                                            <p:graphicEl>
                                              <a:dgm id="{07CD9CA8-8213-4B82-96DE-5A2E23AB39DC}"/>
                                            </p:graphicEl>
                                          </p:spTgt>
                                        </p:tgtEl>
                                        <p:attrNameLst>
                                          <p:attrName>style.visibility</p:attrName>
                                        </p:attrNameLst>
                                      </p:cBhvr>
                                      <p:to>
                                        <p:strVal val="visible"/>
                                      </p:to>
                                    </p:set>
                                    <p:animEffect transition="in" filter="wipe(up)">
                                      <p:cBhvr>
                                        <p:cTn id="55" dur="1000"/>
                                        <p:tgtEl>
                                          <p:spTgt spid="6">
                                            <p:graphicEl>
                                              <a:dgm id="{07CD9CA8-8213-4B82-96DE-5A2E23AB39DC}"/>
                                            </p:graphicEl>
                                          </p:spTgt>
                                        </p:tgtEl>
                                      </p:cBhvr>
                                    </p:animEffect>
                                  </p:childTnLst>
                                </p:cTn>
                              </p:par>
                            </p:childTnLst>
                          </p:cTn>
                        </p:par>
                        <p:par>
                          <p:cTn id="56" fill="hold">
                            <p:stCondLst>
                              <p:cond delay="5000"/>
                            </p:stCondLst>
                            <p:childTnLst>
                              <p:par>
                                <p:cTn id="57" presetID="22" presetClass="entr" presetSubtype="1" fill="hold" grpId="0" nodeType="afterEffect">
                                  <p:stCondLst>
                                    <p:cond delay="0"/>
                                  </p:stCondLst>
                                  <p:childTnLst>
                                    <p:set>
                                      <p:cBhvr>
                                        <p:cTn id="58" dur="1" fill="hold">
                                          <p:stCondLst>
                                            <p:cond delay="0"/>
                                          </p:stCondLst>
                                        </p:cTn>
                                        <p:tgtEl>
                                          <p:spTgt spid="6">
                                            <p:graphicEl>
                                              <a:dgm id="{D772C529-9144-4F64-AC62-C41998E87A93}"/>
                                            </p:graphicEl>
                                          </p:spTgt>
                                        </p:tgtEl>
                                        <p:attrNameLst>
                                          <p:attrName>style.visibility</p:attrName>
                                        </p:attrNameLst>
                                      </p:cBhvr>
                                      <p:to>
                                        <p:strVal val="visible"/>
                                      </p:to>
                                    </p:set>
                                    <p:animEffect transition="in" filter="wipe(up)">
                                      <p:cBhvr>
                                        <p:cTn id="59" dur="1000"/>
                                        <p:tgtEl>
                                          <p:spTgt spid="6">
                                            <p:graphicEl>
                                              <a:dgm id="{D772C529-9144-4F64-AC62-C41998E87A93}"/>
                                            </p:graphicEl>
                                          </p:spTgt>
                                        </p:tgtEl>
                                      </p:cBhvr>
                                    </p:animEffect>
                                  </p:childTnLst>
                                </p:cTn>
                              </p:par>
                            </p:childTnLst>
                          </p:cTn>
                        </p:par>
                        <p:par>
                          <p:cTn id="60" fill="hold">
                            <p:stCondLst>
                              <p:cond delay="6000"/>
                            </p:stCondLst>
                            <p:childTnLst>
                              <p:par>
                                <p:cTn id="61" presetID="22" presetClass="entr" presetSubtype="1" fill="hold" grpId="0" nodeType="afterEffect">
                                  <p:stCondLst>
                                    <p:cond delay="0"/>
                                  </p:stCondLst>
                                  <p:childTnLst>
                                    <p:set>
                                      <p:cBhvr>
                                        <p:cTn id="62" dur="1" fill="hold">
                                          <p:stCondLst>
                                            <p:cond delay="0"/>
                                          </p:stCondLst>
                                        </p:cTn>
                                        <p:tgtEl>
                                          <p:spTgt spid="6">
                                            <p:graphicEl>
                                              <a:dgm id="{629FD194-4F20-42AB-A0D3-D63455B286FC}"/>
                                            </p:graphicEl>
                                          </p:spTgt>
                                        </p:tgtEl>
                                        <p:attrNameLst>
                                          <p:attrName>style.visibility</p:attrName>
                                        </p:attrNameLst>
                                      </p:cBhvr>
                                      <p:to>
                                        <p:strVal val="visible"/>
                                      </p:to>
                                    </p:set>
                                    <p:animEffect transition="in" filter="wipe(up)">
                                      <p:cBhvr>
                                        <p:cTn id="63" dur="1000"/>
                                        <p:tgtEl>
                                          <p:spTgt spid="6">
                                            <p:graphicEl>
                                              <a:dgm id="{629FD194-4F20-42AB-A0D3-D63455B286F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2" grpId="0" uiExpand="1">
        <p:bldSub>
          <a:bldDgm bld="lvlOne"/>
        </p:bldSub>
      </p:bldGraphic>
      <p:bldGraphic spid="6" grpId="0" uiExpand="1">
        <p:bldSub>
          <a:bldDgm bld="lvlOne"/>
        </p:bldSub>
      </p:bldGraphic>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Line 16"/>
          <p:cNvSpPr>
            <a:spLocks noChangeShapeType="1"/>
          </p:cNvSpPr>
          <p:nvPr/>
        </p:nvSpPr>
        <p:spPr bwMode="auto">
          <a:xfrm>
            <a:off x="3637198" y="1311966"/>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6429693B-80FE-9424-A5DC-374B5FB5758B}"/>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域名系统 </a:t>
            </a:r>
            <a:r>
              <a:rPr lang="en-US" altLang="zh-CN" sz="1600" dirty="0">
                <a:latin typeface="Montserrat" panose="00000500000000000000" pitchFamily="2" charset="0"/>
                <a:ea typeface="微软雅黑 Light" panose="020B0502040204020203" pitchFamily="34" charset="-122"/>
              </a:rPr>
              <a:t>DNS</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互联网的域名结构</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6.1.3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域名服务器</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708B0E6C-DBE0-18BF-26B0-9FAB9DE835A6}"/>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6.1</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域名系统 </a:t>
            </a:r>
            <a:r>
              <a:rPr lang="en-US" altLang="zh-CN" sz="2000" dirty="0">
                <a:latin typeface="Montserrat" panose="00000500000000000000" pitchFamily="2" charset="0"/>
                <a:ea typeface="微软雅黑 Light" panose="020B0502040204020203" pitchFamily="34" charset="-122"/>
              </a:rPr>
              <a:t>DNS</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矩形: 圆角 22">
            <a:extLst>
              <a:ext uri="{FF2B5EF4-FFF2-40B4-BE49-F238E27FC236}">
                <a16:creationId xmlns:a16="http://schemas.microsoft.com/office/drawing/2014/main" id="{BB6F7C31-A0CA-B731-3829-C9E6821CD9EC}"/>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a:latin typeface="Montserrat" panose="00000500000000000000" pitchFamily="2" charset="0"/>
              </a:rPr>
              <a:t>DN</a:t>
            </a:r>
            <a:r>
              <a:rPr lang="en-US" altLang="zh-CN" sz="1200" dirty="0">
                <a:latin typeface="Montserrat" panose="00000500000000000000" pitchFamily="2" charset="0"/>
              </a:rPr>
              <a:t>S</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F22594FC-6499-4B62-3BEF-6AEDE290FC0E}"/>
              </a:ext>
            </a:extLst>
          </p:cNvPr>
          <p:cNvSpPr/>
          <p:nvPr/>
        </p:nvSpPr>
        <p:spPr>
          <a:xfrm>
            <a:off x="3034634" y="1476625"/>
            <a:ext cx="1080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Domain</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674F58F2-FF6F-F864-967B-F43392A36E52}"/>
              </a:ext>
            </a:extLst>
          </p:cNvPr>
          <p:cNvSpPr/>
          <p:nvPr/>
        </p:nvSpPr>
        <p:spPr>
          <a:xfrm>
            <a:off x="3034634" y="2725950"/>
            <a:ext cx="1080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Server</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96864AD8-386B-77A5-C5CE-BCD8D2A320E7}"/>
              </a:ext>
            </a:extLst>
          </p:cNvPr>
          <p:cNvSpPr/>
          <p:nvPr/>
        </p:nvSpPr>
        <p:spPr>
          <a:xfrm>
            <a:off x="3034634" y="3823230"/>
            <a:ext cx="1080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Resolve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0C13AF0C-04B1-D3C0-9901-A7DB97A52C93}"/>
              </a:ext>
            </a:extLst>
          </p:cNvPr>
          <p:cNvSpPr/>
          <p:nvPr/>
        </p:nvSpPr>
        <p:spPr>
          <a:xfrm>
            <a:off x="4310986" y="3636683"/>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Recursive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ECAEA79D-2126-F235-D246-768E09985DD0}"/>
              </a:ext>
            </a:extLst>
          </p:cNvPr>
          <p:cNvSpPr/>
          <p:nvPr/>
        </p:nvSpPr>
        <p:spPr>
          <a:xfrm>
            <a:off x="4310986" y="4009777"/>
            <a:ext cx="1080000" cy="288000"/>
          </a:xfrm>
          <a:prstGeom prst="roundRect">
            <a:avLst/>
          </a:prstGeom>
          <a:noFill/>
          <a:ln w="12700">
            <a:solidFill>
              <a:srgbClr val="1AC38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Iterative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09B6B008-BF76-0186-3E9A-DFC23AA69CE3}"/>
              </a:ext>
            </a:extLst>
          </p:cNvPr>
          <p:cNvCxnSpPr>
            <a:cxnSpLocks/>
            <a:stCxn id="23" idx="3"/>
            <a:endCxn id="24" idx="1"/>
          </p:cNvCxnSpPr>
          <p:nvPr/>
        </p:nvCxnSpPr>
        <p:spPr>
          <a:xfrm flipV="1">
            <a:off x="2744432" y="1602625"/>
            <a:ext cx="290202" cy="892355"/>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90A1583F-A011-836F-B6B3-8E3E56646A44}"/>
              </a:ext>
            </a:extLst>
          </p:cNvPr>
          <p:cNvCxnSpPr>
            <a:stCxn id="23" idx="3"/>
            <a:endCxn id="27" idx="1"/>
          </p:cNvCxnSpPr>
          <p:nvPr/>
        </p:nvCxnSpPr>
        <p:spPr>
          <a:xfrm>
            <a:off x="2744432" y="2494980"/>
            <a:ext cx="290202" cy="1472250"/>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B4B1BC1-2450-12F3-DA76-1B6D6912A66A}"/>
              </a:ext>
            </a:extLst>
          </p:cNvPr>
          <p:cNvCxnSpPr>
            <a:stCxn id="25" idx="1"/>
            <a:endCxn id="23" idx="3"/>
          </p:cNvCxnSpPr>
          <p:nvPr/>
        </p:nvCxnSpPr>
        <p:spPr>
          <a:xfrm rot="10800000">
            <a:off x="2744432" y="2494980"/>
            <a:ext cx="290202" cy="374970"/>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8C960020-56D6-666A-AD9D-E08F56DB48EC}"/>
              </a:ext>
            </a:extLst>
          </p:cNvPr>
          <p:cNvCxnSpPr>
            <a:cxnSpLocks/>
            <a:stCxn id="25" idx="3"/>
            <a:endCxn id="45" idx="1"/>
          </p:cNvCxnSpPr>
          <p:nvPr/>
        </p:nvCxnSpPr>
        <p:spPr>
          <a:xfrm flipV="1">
            <a:off x="4114634" y="2326811"/>
            <a:ext cx="196352" cy="543139"/>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6844B4FE-48FE-5847-B692-8B5B134BDB5F}"/>
              </a:ext>
            </a:extLst>
          </p:cNvPr>
          <p:cNvCxnSpPr>
            <a:cxnSpLocks/>
            <a:stCxn id="47" idx="1"/>
            <a:endCxn id="25" idx="3"/>
          </p:cNvCxnSpPr>
          <p:nvPr/>
        </p:nvCxnSpPr>
        <p:spPr>
          <a:xfrm rot="10800000">
            <a:off x="4114634" y="2869950"/>
            <a:ext cx="196352" cy="543140"/>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AFF3508-7F65-0105-F3CE-968CB579012C}"/>
              </a:ext>
            </a:extLst>
          </p:cNvPr>
          <p:cNvCxnSpPr>
            <a:cxnSpLocks/>
            <a:stCxn id="24" idx="3"/>
            <a:endCxn id="51" idx="1"/>
          </p:cNvCxnSpPr>
          <p:nvPr/>
        </p:nvCxnSpPr>
        <p:spPr>
          <a:xfrm flipV="1">
            <a:off x="4114634" y="1240532"/>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971F4A1A-CEE5-0088-40C1-A8435E8571A7}"/>
              </a:ext>
            </a:extLst>
          </p:cNvPr>
          <p:cNvCxnSpPr>
            <a:cxnSpLocks/>
            <a:stCxn id="53" idx="1"/>
            <a:endCxn id="24" idx="3"/>
          </p:cNvCxnSpPr>
          <p:nvPr/>
        </p:nvCxnSpPr>
        <p:spPr>
          <a:xfrm rot="10800000">
            <a:off x="4114634" y="1602626"/>
            <a:ext cx="196352" cy="362093"/>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14249E8E-7B86-FCE4-D9C0-320B930FD954}"/>
              </a:ext>
            </a:extLst>
          </p:cNvPr>
          <p:cNvCxnSpPr>
            <a:stCxn id="27" idx="3"/>
            <a:endCxn id="32" idx="1"/>
          </p:cNvCxnSpPr>
          <p:nvPr/>
        </p:nvCxnSpPr>
        <p:spPr>
          <a:xfrm flipV="1">
            <a:off x="4114634" y="3780683"/>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D22100C4-D51B-0AED-C425-7977A0A5B0DF}"/>
              </a:ext>
            </a:extLst>
          </p:cNvPr>
          <p:cNvCxnSpPr>
            <a:stCxn id="33" idx="1"/>
            <a:endCxn id="27" idx="3"/>
          </p:cNvCxnSpPr>
          <p:nvPr/>
        </p:nvCxnSpPr>
        <p:spPr>
          <a:xfrm rot="10800000">
            <a:off x="4114634" y="3967231"/>
            <a:ext cx="196352" cy="186547"/>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B3B49022-E8F1-E577-0C5F-74346120106B}"/>
              </a:ext>
            </a:extLst>
          </p:cNvPr>
          <p:cNvSpPr txBox="1"/>
          <p:nvPr/>
        </p:nvSpPr>
        <p:spPr>
          <a:xfrm>
            <a:off x="4310986" y="2550404"/>
            <a:ext cx="2319068"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Top-Level Domain Server</a:t>
            </a:r>
            <a:endParaRPr lang="zh-CN" altLang="en-US" dirty="0"/>
          </a:p>
        </p:txBody>
      </p:sp>
      <p:sp>
        <p:nvSpPr>
          <p:cNvPr id="45" name="文本框 44">
            <a:extLst>
              <a:ext uri="{FF2B5EF4-FFF2-40B4-BE49-F238E27FC236}">
                <a16:creationId xmlns:a16="http://schemas.microsoft.com/office/drawing/2014/main" id="{B1DDD2B1-DD37-D0DD-41A5-2432443B7177}"/>
              </a:ext>
            </a:extLst>
          </p:cNvPr>
          <p:cNvSpPr txBox="1"/>
          <p:nvPr/>
        </p:nvSpPr>
        <p:spPr>
          <a:xfrm>
            <a:off x="4310986" y="2188311"/>
            <a:ext cx="1982735"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 Server</a:t>
            </a:r>
            <a:endParaRPr lang="zh-CN" altLang="en-US" dirty="0"/>
          </a:p>
        </p:txBody>
      </p:sp>
      <p:sp>
        <p:nvSpPr>
          <p:cNvPr id="46" name="文本框 45">
            <a:extLst>
              <a:ext uri="{FF2B5EF4-FFF2-40B4-BE49-F238E27FC236}">
                <a16:creationId xmlns:a16="http://schemas.microsoft.com/office/drawing/2014/main" id="{C21AC5A5-69A4-067F-C1D6-08277B695CEB}"/>
              </a:ext>
            </a:extLst>
          </p:cNvPr>
          <p:cNvSpPr txBox="1"/>
          <p:nvPr/>
        </p:nvSpPr>
        <p:spPr>
          <a:xfrm>
            <a:off x="4310986" y="2912497"/>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Authoritative Name Server</a:t>
            </a:r>
            <a:endParaRPr lang="zh-CN" altLang="en-US" dirty="0"/>
          </a:p>
        </p:txBody>
      </p:sp>
      <p:sp>
        <p:nvSpPr>
          <p:cNvPr id="47" name="文本框 46">
            <a:extLst>
              <a:ext uri="{FF2B5EF4-FFF2-40B4-BE49-F238E27FC236}">
                <a16:creationId xmlns:a16="http://schemas.microsoft.com/office/drawing/2014/main" id="{3AAB91CE-BA87-1B1E-B2FA-4BB2BAF80E71}"/>
              </a:ext>
            </a:extLst>
          </p:cNvPr>
          <p:cNvSpPr txBox="1"/>
          <p:nvPr/>
        </p:nvSpPr>
        <p:spPr>
          <a:xfrm>
            <a:off x="4310986" y="3274590"/>
            <a:ext cx="2319071" cy="276999"/>
          </a:xfrm>
          <a:prstGeom prst="roundRect">
            <a:avLst/>
          </a:prstGeom>
          <a:noFill/>
          <a:ln w="12700">
            <a:solidFill>
              <a:srgbClr val="F7AA5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Local Name Server</a:t>
            </a:r>
            <a:endParaRPr lang="zh-CN" altLang="en-US" dirty="0"/>
          </a:p>
        </p:txBody>
      </p:sp>
      <p:sp>
        <p:nvSpPr>
          <p:cNvPr id="51" name="文本框 50">
            <a:extLst>
              <a:ext uri="{FF2B5EF4-FFF2-40B4-BE49-F238E27FC236}">
                <a16:creationId xmlns:a16="http://schemas.microsoft.com/office/drawing/2014/main" id="{17C2C2DF-4879-855A-8E41-E5BD178CE66F}"/>
              </a:ext>
            </a:extLst>
          </p:cNvPr>
          <p:cNvSpPr txBox="1"/>
          <p:nvPr/>
        </p:nvSpPr>
        <p:spPr>
          <a:xfrm>
            <a:off x="4310986" y="1102032"/>
            <a:ext cx="1982735"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Root Name</a:t>
            </a:r>
            <a:endParaRPr lang="zh-CN" altLang="en-US" dirty="0"/>
          </a:p>
        </p:txBody>
      </p:sp>
      <p:sp>
        <p:nvSpPr>
          <p:cNvPr id="52" name="文本框 51">
            <a:extLst>
              <a:ext uri="{FF2B5EF4-FFF2-40B4-BE49-F238E27FC236}">
                <a16:creationId xmlns:a16="http://schemas.microsoft.com/office/drawing/2014/main" id="{924D5CDF-40E1-A314-3AA0-E6C1EFD56FCC}"/>
              </a:ext>
            </a:extLst>
          </p:cNvPr>
          <p:cNvSpPr txBox="1"/>
          <p:nvPr/>
        </p:nvSpPr>
        <p:spPr>
          <a:xfrm>
            <a:off x="4310986" y="1464125"/>
            <a:ext cx="2076734"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TLD - Top-Level Domain</a:t>
            </a:r>
            <a:endParaRPr lang="zh-CN" altLang="en-US" dirty="0"/>
          </a:p>
        </p:txBody>
      </p:sp>
      <p:sp>
        <p:nvSpPr>
          <p:cNvPr id="53" name="文本框 52">
            <a:extLst>
              <a:ext uri="{FF2B5EF4-FFF2-40B4-BE49-F238E27FC236}">
                <a16:creationId xmlns:a16="http://schemas.microsoft.com/office/drawing/2014/main" id="{B22EB895-AAFF-BD06-4266-2FDC83ACB524}"/>
              </a:ext>
            </a:extLst>
          </p:cNvPr>
          <p:cNvSpPr txBox="1"/>
          <p:nvPr/>
        </p:nvSpPr>
        <p:spPr>
          <a:xfrm>
            <a:off x="4310986" y="1826218"/>
            <a:ext cx="2526542" cy="276999"/>
          </a:xfrm>
          <a:prstGeom prst="roundRect">
            <a:avLst/>
          </a:prstGeom>
          <a:noFill/>
          <a:ln w="12700">
            <a:solidFill>
              <a:srgbClr val="5780CA"/>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SLD - Second-Level Domain</a:t>
            </a:r>
            <a:endParaRPr lang="zh-CN" altLang="en-US" dirty="0"/>
          </a:p>
        </p:txBody>
      </p:sp>
      <p:sp>
        <p:nvSpPr>
          <p:cNvPr id="59" name="文本框 58">
            <a:extLst>
              <a:ext uri="{FF2B5EF4-FFF2-40B4-BE49-F238E27FC236}">
                <a16:creationId xmlns:a16="http://schemas.microsoft.com/office/drawing/2014/main" id="{DF7D2887-83A5-96EB-2F88-685910A1B69D}"/>
              </a:ext>
            </a:extLst>
          </p:cNvPr>
          <p:cNvSpPr txBox="1"/>
          <p:nvPr/>
        </p:nvSpPr>
        <p:spPr>
          <a:xfrm>
            <a:off x="6619734" y="1584822"/>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Generic TLD</a:t>
            </a:r>
            <a:endParaRPr lang="zh-CN" altLang="en-US" dirty="0"/>
          </a:p>
        </p:txBody>
      </p:sp>
      <p:sp>
        <p:nvSpPr>
          <p:cNvPr id="63" name="文本框 62">
            <a:extLst>
              <a:ext uri="{FF2B5EF4-FFF2-40B4-BE49-F238E27FC236}">
                <a16:creationId xmlns:a16="http://schemas.microsoft.com/office/drawing/2014/main" id="{11AB917F-98D1-9C4A-A1C2-1624255B33AC}"/>
              </a:ext>
            </a:extLst>
          </p:cNvPr>
          <p:cNvSpPr txBox="1"/>
          <p:nvPr/>
        </p:nvSpPr>
        <p:spPr>
          <a:xfrm>
            <a:off x="6619735" y="1343427"/>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Nation TLD</a:t>
            </a:r>
            <a:endParaRPr lang="zh-CN" altLang="en-US" dirty="0"/>
          </a:p>
        </p:txBody>
      </p:sp>
      <p:cxnSp>
        <p:nvCxnSpPr>
          <p:cNvPr id="67" name="连接符: 曲线 66">
            <a:extLst>
              <a:ext uri="{FF2B5EF4-FFF2-40B4-BE49-F238E27FC236}">
                <a16:creationId xmlns:a16="http://schemas.microsoft.com/office/drawing/2014/main" id="{B9DE2C3E-CE94-721C-5049-41CFBA9BA091}"/>
              </a:ext>
            </a:extLst>
          </p:cNvPr>
          <p:cNvCxnSpPr>
            <a:cxnSpLocks/>
            <a:stCxn id="52" idx="3"/>
            <a:endCxn id="63" idx="1"/>
          </p:cNvCxnSpPr>
          <p:nvPr/>
        </p:nvCxnSpPr>
        <p:spPr>
          <a:xfrm flipV="1">
            <a:off x="6387720" y="1481927"/>
            <a:ext cx="232015" cy="120698"/>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70" name="连接符: 曲线 69">
            <a:extLst>
              <a:ext uri="{FF2B5EF4-FFF2-40B4-BE49-F238E27FC236}">
                <a16:creationId xmlns:a16="http://schemas.microsoft.com/office/drawing/2014/main" id="{568A418C-3BB0-DF43-50BC-2A781C462C2D}"/>
              </a:ext>
            </a:extLst>
          </p:cNvPr>
          <p:cNvCxnSpPr>
            <a:cxnSpLocks/>
            <a:stCxn id="52" idx="3"/>
            <a:endCxn id="59" idx="1"/>
          </p:cNvCxnSpPr>
          <p:nvPr/>
        </p:nvCxnSpPr>
        <p:spPr>
          <a:xfrm>
            <a:off x="6387720" y="1602625"/>
            <a:ext cx="232014" cy="120697"/>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4" name="矩形: 圆角 73">
            <a:extLst>
              <a:ext uri="{FF2B5EF4-FFF2-40B4-BE49-F238E27FC236}">
                <a16:creationId xmlns:a16="http://schemas.microsoft.com/office/drawing/2014/main" id="{74010D7A-EB6E-C26D-1FC3-A92916973D6C}"/>
              </a:ext>
            </a:extLst>
          </p:cNvPr>
          <p:cNvSpPr/>
          <p:nvPr/>
        </p:nvSpPr>
        <p:spPr>
          <a:xfrm>
            <a:off x="3034634" y="780052"/>
            <a:ext cx="1080000" cy="252000"/>
          </a:xfrm>
          <a:prstGeom prst="roundRect">
            <a:avLst/>
          </a:prstGeom>
          <a:solidFill>
            <a:schemeClr val="accent2">
              <a:lumMod val="60000"/>
              <a:lumOff val="40000"/>
              <a:alpha val="89804"/>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UDP</a:t>
            </a:r>
            <a:endParaRPr lang="zh-CN" altLang="en-US" sz="1200" dirty="0">
              <a:latin typeface="Montserrat" panose="00000500000000000000" pitchFamily="2" charset="0"/>
            </a:endParaRPr>
          </a:p>
        </p:txBody>
      </p:sp>
      <p:sp>
        <p:nvSpPr>
          <p:cNvPr id="75" name="文本框 74">
            <a:extLst>
              <a:ext uri="{FF2B5EF4-FFF2-40B4-BE49-F238E27FC236}">
                <a16:creationId xmlns:a16="http://schemas.microsoft.com/office/drawing/2014/main" id="{71166C7F-1C95-30AB-56D5-24B11A121836}"/>
              </a:ext>
            </a:extLst>
          </p:cNvPr>
          <p:cNvSpPr txBox="1"/>
          <p:nvPr/>
        </p:nvSpPr>
        <p:spPr>
          <a:xfrm>
            <a:off x="4310986" y="764679"/>
            <a:ext cx="1666733"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Port 53</a:t>
            </a:r>
            <a:endParaRPr lang="zh-CN" altLang="en-US" dirty="0"/>
          </a:p>
        </p:txBody>
      </p:sp>
      <p:cxnSp>
        <p:nvCxnSpPr>
          <p:cNvPr id="76" name="连接符: 曲线 75">
            <a:extLst>
              <a:ext uri="{FF2B5EF4-FFF2-40B4-BE49-F238E27FC236}">
                <a16:creationId xmlns:a16="http://schemas.microsoft.com/office/drawing/2014/main" id="{F3413525-7963-C0B5-D118-BABA9BB51BBD}"/>
              </a:ext>
            </a:extLst>
          </p:cNvPr>
          <p:cNvCxnSpPr>
            <a:cxnSpLocks/>
            <a:stCxn id="23" idx="3"/>
            <a:endCxn id="74" idx="1"/>
          </p:cNvCxnSpPr>
          <p:nvPr/>
        </p:nvCxnSpPr>
        <p:spPr>
          <a:xfrm flipV="1">
            <a:off x="2744432" y="906052"/>
            <a:ext cx="290202" cy="1588928"/>
          </a:xfrm>
          <a:prstGeom prst="curvedConnector3">
            <a:avLst>
              <a:gd name="adj1" fmla="val 50000"/>
            </a:avLst>
          </a:prstGeom>
          <a:ln>
            <a:solidFill>
              <a:srgbClr val="DDA19F"/>
            </a:solidFill>
          </a:ln>
        </p:spPr>
        <p:style>
          <a:lnRef idx="1">
            <a:schemeClr val="accent1"/>
          </a:lnRef>
          <a:fillRef idx="0">
            <a:schemeClr val="accent1"/>
          </a:fillRef>
          <a:effectRef idx="0">
            <a:schemeClr val="accent1"/>
          </a:effectRef>
          <a:fontRef idx="minor">
            <a:schemeClr val="tx1"/>
          </a:fontRef>
        </p:style>
      </p:cxnSp>
      <p:cxnSp>
        <p:nvCxnSpPr>
          <p:cNvPr id="80" name="直接箭头连接符 79">
            <a:extLst>
              <a:ext uri="{FF2B5EF4-FFF2-40B4-BE49-F238E27FC236}">
                <a16:creationId xmlns:a16="http://schemas.microsoft.com/office/drawing/2014/main" id="{8DCF2A34-4A48-A916-021F-ECBA9AFF9D43}"/>
              </a:ext>
            </a:extLst>
          </p:cNvPr>
          <p:cNvCxnSpPr>
            <a:stCxn id="74" idx="3"/>
            <a:endCxn id="75" idx="1"/>
          </p:cNvCxnSpPr>
          <p:nvPr/>
        </p:nvCxnSpPr>
        <p:spPr>
          <a:xfrm flipV="1">
            <a:off x="4114634" y="903179"/>
            <a:ext cx="196352" cy="2873"/>
          </a:xfrm>
          <a:prstGeom prst="straightConnector1">
            <a:avLst/>
          </a:prstGeom>
          <a:ln>
            <a:solidFill>
              <a:srgbClr val="DDA19F"/>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8889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D91322FE-A99E-6978-9922-E9AAFB0C9E6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167804" y="1777775"/>
            <a:ext cx="476702" cy="667383"/>
          </a:xfrm>
          <a:prstGeom prst="rect">
            <a:avLst/>
          </a:prstGeom>
        </p:spPr>
      </p:pic>
      <p:sp>
        <p:nvSpPr>
          <p:cNvPr id="3" name="Text Box 9">
            <a:extLst>
              <a:ext uri="{FF2B5EF4-FFF2-40B4-BE49-F238E27FC236}">
                <a16:creationId xmlns:a16="http://schemas.microsoft.com/office/drawing/2014/main" id="{57C767B4-9E62-E260-4199-EB5CD37368E8}"/>
              </a:ext>
            </a:extLst>
          </p:cNvPr>
          <p:cNvSpPr txBox="1">
            <a:spLocks noChangeArrowheads="1"/>
          </p:cNvSpPr>
          <p:nvPr/>
        </p:nvSpPr>
        <p:spPr bwMode="auto">
          <a:xfrm flipH="1">
            <a:off x="5877805" y="2467113"/>
            <a:ext cx="10567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DNS Server</a:t>
            </a:r>
          </a:p>
        </p:txBody>
      </p:sp>
      <p:sp>
        <p:nvSpPr>
          <p:cNvPr id="4" name="Text Box 33">
            <a:extLst>
              <a:ext uri="{FF2B5EF4-FFF2-40B4-BE49-F238E27FC236}">
                <a16:creationId xmlns:a16="http://schemas.microsoft.com/office/drawing/2014/main" id="{9E89FB7B-A766-4950-D70E-BA21D84B8972}"/>
              </a:ext>
            </a:extLst>
          </p:cNvPr>
          <p:cNvSpPr txBox="1">
            <a:spLocks noChangeArrowheads="1"/>
          </p:cNvSpPr>
          <p:nvPr/>
        </p:nvSpPr>
        <p:spPr bwMode="auto">
          <a:xfrm flipH="1">
            <a:off x="4177324" y="2204339"/>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sp>
        <p:nvSpPr>
          <p:cNvPr id="5" name="Line 35">
            <a:extLst>
              <a:ext uri="{FF2B5EF4-FFF2-40B4-BE49-F238E27FC236}">
                <a16:creationId xmlns:a16="http://schemas.microsoft.com/office/drawing/2014/main" id="{2EB071B0-8F6C-F0D1-2A34-4981B117D2E2}"/>
              </a:ext>
            </a:extLst>
          </p:cNvPr>
          <p:cNvSpPr>
            <a:spLocks noChangeShapeType="1"/>
          </p:cNvSpPr>
          <p:nvPr/>
        </p:nvSpPr>
        <p:spPr bwMode="auto">
          <a:xfrm rot="16200000" flipH="1" flipV="1">
            <a:off x="4801853" y="944340"/>
            <a:ext cx="0" cy="2520000"/>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Text Box 11">
            <a:extLst>
              <a:ext uri="{FF2B5EF4-FFF2-40B4-BE49-F238E27FC236}">
                <a16:creationId xmlns:a16="http://schemas.microsoft.com/office/drawing/2014/main" id="{C253E76C-25FE-2C82-CA54-B9E7EB6F74D1}"/>
              </a:ext>
            </a:extLst>
          </p:cNvPr>
          <p:cNvSpPr txBox="1">
            <a:spLocks noChangeArrowheads="1"/>
          </p:cNvSpPr>
          <p:nvPr/>
        </p:nvSpPr>
        <p:spPr bwMode="auto">
          <a:xfrm flipH="1">
            <a:off x="2929415" y="250295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 name="Text Box 32">
            <a:extLst>
              <a:ext uri="{FF2B5EF4-FFF2-40B4-BE49-F238E27FC236}">
                <a16:creationId xmlns:a16="http://schemas.microsoft.com/office/drawing/2014/main" id="{5074953F-41E8-0FF6-DB37-73C0C2BAC81E}"/>
              </a:ext>
            </a:extLst>
          </p:cNvPr>
          <p:cNvSpPr txBox="1">
            <a:spLocks noChangeArrowheads="1"/>
          </p:cNvSpPr>
          <p:nvPr/>
        </p:nvSpPr>
        <p:spPr bwMode="auto">
          <a:xfrm flipH="1">
            <a:off x="3975344" y="1767046"/>
            <a:ext cx="16530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glplaman.github.io</a:t>
            </a:r>
          </a:p>
        </p:txBody>
      </p:sp>
      <p:sp>
        <p:nvSpPr>
          <p:cNvPr id="8" name="Line 34">
            <a:extLst>
              <a:ext uri="{FF2B5EF4-FFF2-40B4-BE49-F238E27FC236}">
                <a16:creationId xmlns:a16="http://schemas.microsoft.com/office/drawing/2014/main" id="{557B6283-349B-2E2E-B976-0FDBFDD6E9FD}"/>
              </a:ext>
            </a:extLst>
          </p:cNvPr>
          <p:cNvSpPr>
            <a:spLocks noChangeShapeType="1"/>
          </p:cNvSpPr>
          <p:nvPr/>
        </p:nvSpPr>
        <p:spPr bwMode="auto">
          <a:xfrm rot="16200000" flipH="1">
            <a:off x="4801853" y="845600"/>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9" name="Picture 197" descr="jisuanji">
            <a:extLst>
              <a:ext uri="{FF2B5EF4-FFF2-40B4-BE49-F238E27FC236}">
                <a16:creationId xmlns:a16="http://schemas.microsoft.com/office/drawing/2014/main" id="{E46B8731-B183-1C4C-C0CD-AF7B3194528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053851" y="1914942"/>
            <a:ext cx="393048" cy="393049"/>
          </a:xfrm>
          <a:prstGeom prst="rect">
            <a:avLst/>
          </a:prstGeom>
          <a:noFill/>
          <a:extLst>
            <a:ext uri="{909E8E84-426E-40DD-AFC4-6F175D3DCCD1}">
              <a14:hiddenFill xmlns:a14="http://schemas.microsoft.com/office/drawing/2010/main">
                <a:solidFill>
                  <a:srgbClr val="FFFFFF"/>
                </a:solidFill>
              </a14:hiddenFill>
            </a:ext>
          </a:extLst>
        </p:spPr>
      </p:pic>
      <p:pic>
        <p:nvPicPr>
          <p:cNvPr id="10" name="图片 9">
            <a:extLst>
              <a:ext uri="{FF2B5EF4-FFF2-40B4-BE49-F238E27FC236}">
                <a16:creationId xmlns:a16="http://schemas.microsoft.com/office/drawing/2014/main" id="{CFE56DE2-228C-9124-D7FC-13517C69A48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188033" y="3006885"/>
            <a:ext cx="476702" cy="667383"/>
          </a:xfrm>
          <a:prstGeom prst="rect">
            <a:avLst/>
          </a:prstGeom>
        </p:spPr>
      </p:pic>
      <p:sp>
        <p:nvSpPr>
          <p:cNvPr id="11" name="Text Box 9">
            <a:extLst>
              <a:ext uri="{FF2B5EF4-FFF2-40B4-BE49-F238E27FC236}">
                <a16:creationId xmlns:a16="http://schemas.microsoft.com/office/drawing/2014/main" id="{57C86B53-D7D7-DD94-B940-92B7C0FD91B9}"/>
              </a:ext>
            </a:extLst>
          </p:cNvPr>
          <p:cNvSpPr txBox="1">
            <a:spLocks noChangeArrowheads="1"/>
          </p:cNvSpPr>
          <p:nvPr/>
        </p:nvSpPr>
        <p:spPr bwMode="auto">
          <a:xfrm flipH="1">
            <a:off x="5076767" y="3696223"/>
            <a:ext cx="69922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WWW</a:t>
            </a:r>
          </a:p>
        </p:txBody>
      </p:sp>
      <p:grpSp>
        <p:nvGrpSpPr>
          <p:cNvPr id="14" name="组合 13">
            <a:extLst>
              <a:ext uri="{FF2B5EF4-FFF2-40B4-BE49-F238E27FC236}">
                <a16:creationId xmlns:a16="http://schemas.microsoft.com/office/drawing/2014/main" id="{B97F70E7-DE1D-8F88-FF2F-130F8D02354D}"/>
              </a:ext>
            </a:extLst>
          </p:cNvPr>
          <p:cNvGrpSpPr/>
          <p:nvPr/>
        </p:nvGrpSpPr>
        <p:grpSpPr>
          <a:xfrm rot="1441646">
            <a:off x="3376082" y="2732085"/>
            <a:ext cx="1803879" cy="90040"/>
            <a:chOff x="2808127" y="2791424"/>
            <a:chExt cx="2525430" cy="90040"/>
          </a:xfrm>
        </p:grpSpPr>
        <p:sp>
          <p:nvSpPr>
            <p:cNvPr id="12" name="Line 35">
              <a:extLst>
                <a:ext uri="{FF2B5EF4-FFF2-40B4-BE49-F238E27FC236}">
                  <a16:creationId xmlns:a16="http://schemas.microsoft.com/office/drawing/2014/main" id="{C4924BF3-FDBD-97A3-523B-A33D6E500913}"/>
                </a:ext>
              </a:extLst>
            </p:cNvPr>
            <p:cNvSpPr>
              <a:spLocks noChangeShapeType="1"/>
            </p:cNvSpPr>
            <p:nvPr/>
          </p:nvSpPr>
          <p:spPr bwMode="auto">
            <a:xfrm rot="16200000" flipH="1" flipV="1">
              <a:off x="4068127" y="1621464"/>
              <a:ext cx="0" cy="2519999"/>
            </a:xfrm>
            <a:prstGeom prst="line">
              <a:avLst/>
            </a:prstGeom>
            <a:noFill/>
            <a:ln w="1905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3" name="Line 34">
              <a:extLst>
                <a:ext uri="{FF2B5EF4-FFF2-40B4-BE49-F238E27FC236}">
                  <a16:creationId xmlns:a16="http://schemas.microsoft.com/office/drawing/2014/main" id="{564389D1-A7B9-DF69-2D42-86F8259335F3}"/>
                </a:ext>
              </a:extLst>
            </p:cNvPr>
            <p:cNvSpPr>
              <a:spLocks noChangeShapeType="1"/>
            </p:cNvSpPr>
            <p:nvPr/>
          </p:nvSpPr>
          <p:spPr bwMode="auto">
            <a:xfrm rot="16200000" flipH="1">
              <a:off x="4073557" y="1531424"/>
              <a:ext cx="0" cy="2520000"/>
            </a:xfrm>
            <a:prstGeom prst="line">
              <a:avLst/>
            </a:prstGeom>
            <a:noFill/>
            <a:ln w="1905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sp>
        <p:nvSpPr>
          <p:cNvPr id="15" name="Text Box 33">
            <a:extLst>
              <a:ext uri="{FF2B5EF4-FFF2-40B4-BE49-F238E27FC236}">
                <a16:creationId xmlns:a16="http://schemas.microsoft.com/office/drawing/2014/main" id="{BDD192C9-AD93-8F85-EE9C-9B3745AE0A4E}"/>
              </a:ext>
            </a:extLst>
          </p:cNvPr>
          <p:cNvSpPr txBox="1">
            <a:spLocks noChangeArrowheads="1"/>
          </p:cNvSpPr>
          <p:nvPr/>
        </p:nvSpPr>
        <p:spPr bwMode="auto">
          <a:xfrm rot="1549316" flipH="1">
            <a:off x="3782568" y="2508816"/>
            <a:ext cx="12490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sym typeface="Wingdings" pitchFamily="2" charset="2"/>
              </a:rPr>
              <a:t>185.199.108.153</a:t>
            </a:r>
          </a:p>
        </p:txBody>
      </p:sp>
      <p:pic>
        <p:nvPicPr>
          <p:cNvPr id="17" name="图片 16">
            <a:extLst>
              <a:ext uri="{FF2B5EF4-FFF2-40B4-BE49-F238E27FC236}">
                <a16:creationId xmlns:a16="http://schemas.microsoft.com/office/drawing/2014/main" id="{F7AF1167-4FD3-26A2-D52F-927754E25B4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975344" y="2887812"/>
            <a:ext cx="360000" cy="360000"/>
          </a:xfrm>
          <a:prstGeom prst="rect">
            <a:avLst/>
          </a:prstGeom>
        </p:spPr>
      </p:pic>
    </p:spTree>
    <p:extLst>
      <p:ext uri="{BB962C8B-B14F-4D97-AF65-F5344CB8AC3E}">
        <p14:creationId xmlns:p14="http://schemas.microsoft.com/office/powerpoint/2010/main" val="983955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0" name="组合 39"/>
          <p:cNvGrpSpPr/>
          <p:nvPr/>
        </p:nvGrpSpPr>
        <p:grpSpPr>
          <a:xfrm>
            <a:off x="976026" y="2665944"/>
            <a:ext cx="6820266" cy="1650084"/>
            <a:chOff x="976026" y="2665944"/>
            <a:chExt cx="6820266" cy="1650084"/>
          </a:xfrm>
        </p:grpSpPr>
        <p:sp>
          <p:nvSpPr>
            <p:cNvPr id="8" name="矩形 7"/>
            <p:cNvSpPr/>
            <p:nvPr/>
          </p:nvSpPr>
          <p:spPr>
            <a:xfrm>
              <a:off x="2389017" y="2665944"/>
              <a:ext cx="2611805" cy="276999"/>
            </a:xfrm>
            <a:prstGeom prst="rect">
              <a:avLst/>
            </a:prstGeom>
          </p:spPr>
          <p:txBody>
            <a:bodyPr wrap="none">
              <a:spAutoFit/>
            </a:bodyPr>
            <a:lstStyle/>
            <a:p>
              <a:pPr algn="ctr"/>
              <a:r>
                <a:rPr lang="zh-CN" altLang="en-US" sz="1200" b="1" dirty="0">
                  <a:latin typeface="微软雅黑 Light" panose="020B0502040204020203" pitchFamily="34" charset="-122"/>
                  <a:ea typeface="微软雅黑 Light" panose="020B0502040204020203" pitchFamily="34" charset="-122"/>
                </a:rPr>
                <a:t>查询 </a:t>
              </a:r>
              <a:r>
                <a:rPr lang="en-US" altLang="zh-CN" sz="1200" b="1" dirty="0">
                  <a:latin typeface="微软雅黑 Light" panose="020B0502040204020203" pitchFamily="34" charset="-122"/>
                  <a:ea typeface="微软雅黑 Light" panose="020B0502040204020203" pitchFamily="34" charset="-122"/>
                </a:rPr>
                <a:t>www.myschool.edu </a:t>
              </a:r>
              <a:r>
                <a:rPr lang="zh-CN" altLang="en-US" sz="1200" b="1" dirty="0">
                  <a:latin typeface="微软雅黑 Light" panose="020B0502040204020203" pitchFamily="34" charset="-122"/>
                  <a:ea typeface="微软雅黑 Light" panose="020B0502040204020203" pitchFamily="34" charset="-122"/>
                </a:rPr>
                <a:t>的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endParaRPr lang="zh-CN" altLang="en-US" sz="1200" dirty="0">
                <a:latin typeface="Montserrat" panose="00000500000000000000" pitchFamily="2" charset="0"/>
                <a:ea typeface="微软雅黑 Light" panose="020B0502040204020203" pitchFamily="34" charset="-122"/>
              </a:endParaRPr>
            </a:p>
          </p:txBody>
        </p:sp>
        <p:sp>
          <p:nvSpPr>
            <p:cNvPr id="16" name="矩形 15"/>
            <p:cNvSpPr/>
            <p:nvPr/>
          </p:nvSpPr>
          <p:spPr>
            <a:xfrm>
              <a:off x="5154350" y="4008251"/>
              <a:ext cx="1154483"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211.44.55.66</a:t>
              </a:r>
              <a:endParaRPr lang="zh-CN" altLang="en-US" sz="1400" dirty="0">
                <a:latin typeface="Montserrat" panose="00000500000000000000" pitchFamily="2" charset="0"/>
                <a:ea typeface="微软雅黑 Light" panose="020B0502040204020203" pitchFamily="34" charset="-122"/>
              </a:endParaRPr>
            </a:p>
          </p:txBody>
        </p:sp>
        <p:sp>
          <p:nvSpPr>
            <p:cNvPr id="10" name="云形 9"/>
            <p:cNvSpPr/>
            <p:nvPr/>
          </p:nvSpPr>
          <p:spPr>
            <a:xfrm>
              <a:off x="5318528" y="2683699"/>
              <a:ext cx="1787626" cy="1219649"/>
            </a:xfrm>
            <a:prstGeom prst="cloud">
              <a:avLst/>
            </a:prstGeom>
            <a:solidFill>
              <a:schemeClr val="bg1"/>
            </a:solidFill>
            <a:ln w="12700">
              <a:noFill/>
            </a:ln>
            <a:scene3d>
              <a:camera prst="orthographicFront"/>
              <a:lightRig rig="threePt" dir="t"/>
            </a:scene3d>
            <a:sp3d>
              <a:bevelT/>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pic>
          <p:nvPicPr>
            <p:cNvPr id="18" name="图片 17"/>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44615" y="3640097"/>
              <a:ext cx="297954" cy="417136"/>
            </a:xfrm>
            <a:prstGeom prst="rect">
              <a:avLst/>
            </a:prstGeom>
          </p:spPr>
        </p:pic>
        <p:sp>
          <p:nvSpPr>
            <p:cNvPr id="3" name="圆角矩形 2"/>
            <p:cNvSpPr/>
            <p:nvPr/>
          </p:nvSpPr>
          <p:spPr>
            <a:xfrm>
              <a:off x="5145486" y="2759941"/>
              <a:ext cx="773085" cy="406121"/>
            </a:xfrm>
            <a:prstGeom prst="roundRect">
              <a:avLst/>
            </a:prstGeom>
            <a:solidFill>
              <a:srgbClr val="00B0F0"/>
            </a:solidFill>
            <a:ln w="12700">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b="1" dirty="0">
                  <a:latin typeface="微软雅黑 Light" panose="020B0502040204020203" pitchFamily="34" charset="-122"/>
                  <a:ea typeface="微软雅黑 Light" panose="020B0502040204020203" pitchFamily="34" charset="-122"/>
                </a:rPr>
                <a:t>DNS</a:t>
              </a:r>
              <a:endParaRPr lang="zh-CN" altLang="en-US" sz="1600" b="1" dirty="0">
                <a:latin typeface="微软雅黑 Light" panose="020B0502040204020203" pitchFamily="34" charset="-122"/>
                <a:ea typeface="微软雅黑 Light" panose="020B0502040204020203" pitchFamily="34" charset="-122"/>
              </a:endParaRPr>
            </a:p>
          </p:txBody>
        </p:sp>
        <p:sp>
          <p:nvSpPr>
            <p:cNvPr id="23" name="矩形 22"/>
            <p:cNvSpPr/>
            <p:nvPr/>
          </p:nvSpPr>
          <p:spPr>
            <a:xfrm>
              <a:off x="2876860" y="2969044"/>
              <a:ext cx="1694695"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地址为 </a:t>
              </a:r>
              <a:r>
                <a:rPr lang="en-US" altLang="zh-CN" sz="1200" b="1" dirty="0">
                  <a:latin typeface="微软雅黑 Light" panose="020B0502040204020203" pitchFamily="34" charset="-122"/>
                  <a:ea typeface="微软雅黑 Light" panose="020B0502040204020203" pitchFamily="34" charset="-122"/>
                </a:rPr>
                <a:t>211.44.55.66</a:t>
              </a:r>
              <a:endParaRPr lang="zh-CN" altLang="en-US" sz="1200" dirty="0">
                <a:latin typeface="Montserrat" panose="00000500000000000000" pitchFamily="2" charset="0"/>
                <a:ea typeface="微软雅黑 Light" panose="020B0502040204020203" pitchFamily="34" charset="-122"/>
              </a:endParaRPr>
            </a:p>
          </p:txBody>
        </p:sp>
        <p:grpSp>
          <p:nvGrpSpPr>
            <p:cNvPr id="26" name="组合 25"/>
            <p:cNvGrpSpPr/>
            <p:nvPr/>
          </p:nvGrpSpPr>
          <p:grpSpPr>
            <a:xfrm>
              <a:off x="1696121" y="2698471"/>
              <a:ext cx="640530" cy="640531"/>
              <a:chOff x="1749336" y="2998394"/>
              <a:chExt cx="640530" cy="640531"/>
            </a:xfrm>
          </p:grpSpPr>
          <p:pic>
            <p:nvPicPr>
              <p:cNvPr id="19"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49336" y="2998394"/>
                <a:ext cx="640530" cy="640531"/>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p:cNvSpPr txBox="1"/>
              <p:nvPr/>
            </p:nvSpPr>
            <p:spPr>
              <a:xfrm>
                <a:off x="1763811" y="3117525"/>
                <a:ext cx="602363" cy="261610"/>
              </a:xfrm>
              <a:prstGeom prst="rect">
                <a:avLst/>
              </a:prstGeom>
              <a:noFill/>
            </p:spPr>
            <p:txBody>
              <a:bodyPr wrap="square" rtlCol="0">
                <a:spAutoFit/>
              </a:bodyPr>
              <a:lstStyle/>
              <a:p>
                <a:pPr algn="ctr"/>
                <a:r>
                  <a:rPr lang="zh-CN" altLang="en-US" sz="1100" b="1" dirty="0">
                    <a:solidFill>
                      <a:srgbClr val="FFFF00"/>
                    </a:solidFill>
                    <a:latin typeface="微软雅黑 Light" panose="020B0502040204020203" pitchFamily="34" charset="-122"/>
                    <a:ea typeface="微软雅黑 Light" panose="020B0502040204020203" pitchFamily="34" charset="-122"/>
                  </a:rPr>
                  <a:t>浏览器</a:t>
                </a:r>
              </a:p>
            </p:txBody>
          </p:sp>
        </p:grpSp>
        <p:sp>
          <p:nvSpPr>
            <p:cNvPr id="25" name="矩形 24"/>
            <p:cNvSpPr/>
            <p:nvPr/>
          </p:nvSpPr>
          <p:spPr>
            <a:xfrm>
              <a:off x="5869485" y="3154596"/>
              <a:ext cx="723275" cy="307777"/>
            </a:xfrm>
            <a:prstGeom prst="rect">
              <a:avLst/>
            </a:prstGeom>
          </p:spPr>
          <p:txBody>
            <a:bodyPr wrap="none">
              <a:spAutoFit/>
            </a:bodyPr>
            <a:lstStyle/>
            <a:p>
              <a:r>
                <a:rPr lang="zh-CN" altLang="en-US" sz="1400" b="1" dirty="0">
                  <a:solidFill>
                    <a:srgbClr val="000066"/>
                  </a:solidFill>
                  <a:latin typeface="微软雅黑 Light" panose="020B0502040204020203" pitchFamily="34" charset="-122"/>
                  <a:ea typeface="微软雅黑 Light" panose="020B0502040204020203" pitchFamily="34" charset="-122"/>
                </a:rPr>
                <a:t>互联网</a:t>
              </a:r>
            </a:p>
          </p:txBody>
        </p:sp>
        <p:cxnSp>
          <p:nvCxnSpPr>
            <p:cNvPr id="27" name="直接箭头连接符 26"/>
            <p:cNvCxnSpPr/>
            <p:nvPr/>
          </p:nvCxnSpPr>
          <p:spPr>
            <a:xfrm>
              <a:off x="2312959" y="3146458"/>
              <a:ext cx="3192435" cy="756890"/>
            </a:xfrm>
            <a:prstGeom prst="straightConnector1">
              <a:avLst/>
            </a:prstGeom>
            <a:ln w="19050">
              <a:solidFill>
                <a:schemeClr val="tx1"/>
              </a:solidFill>
              <a:prstDash val="sysDash"/>
              <a:tailEnd type="triangle"/>
            </a:ln>
          </p:spPr>
          <p:style>
            <a:lnRef idx="1">
              <a:schemeClr val="dk1"/>
            </a:lnRef>
            <a:fillRef idx="0">
              <a:schemeClr val="dk1"/>
            </a:fillRef>
            <a:effectRef idx="0">
              <a:schemeClr val="dk1"/>
            </a:effectRef>
            <a:fontRef idx="minor">
              <a:schemeClr val="tx1"/>
            </a:fontRef>
          </p:style>
        </p:cxnSp>
        <p:pic>
          <p:nvPicPr>
            <p:cNvPr id="33" name="图片 3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820787" y="3286709"/>
              <a:ext cx="297954" cy="417136"/>
            </a:xfrm>
            <a:prstGeom prst="rect">
              <a:avLst/>
            </a:prstGeom>
          </p:spPr>
        </p:pic>
        <p:sp>
          <p:nvSpPr>
            <p:cNvPr id="34" name="矩形 33"/>
            <p:cNvSpPr/>
            <p:nvPr/>
          </p:nvSpPr>
          <p:spPr>
            <a:xfrm>
              <a:off x="6648221" y="3648022"/>
              <a:ext cx="1148071" cy="307777"/>
            </a:xfrm>
            <a:prstGeom prst="rect">
              <a:avLst/>
            </a:prstGeom>
          </p:spPr>
          <p:txBody>
            <a:bodyPr wrap="none">
              <a:spAutoFit/>
            </a:bodyPr>
            <a:lstStyle/>
            <a:p>
              <a:pPr algn="ctr"/>
              <a:r>
                <a:rPr lang="en-US" altLang="zh-CN" sz="1400" b="1" dirty="0">
                  <a:latin typeface="微软雅黑 Light" panose="020B0502040204020203" pitchFamily="34" charset="-122"/>
                  <a:ea typeface="微软雅黑 Light" panose="020B0502040204020203" pitchFamily="34" charset="-122"/>
                </a:rPr>
                <a:t>200.11.22.33</a:t>
              </a:r>
              <a:endParaRPr lang="zh-CN" altLang="en-US" sz="1400" dirty="0">
                <a:latin typeface="Montserrat" panose="00000500000000000000" pitchFamily="2" charset="0"/>
                <a:ea typeface="微软雅黑 Light" panose="020B0502040204020203" pitchFamily="34" charset="-122"/>
              </a:endParaRPr>
            </a:p>
          </p:txBody>
        </p:sp>
        <p:sp>
          <p:nvSpPr>
            <p:cNvPr id="35" name="矩形 34"/>
            <p:cNvSpPr/>
            <p:nvPr/>
          </p:nvSpPr>
          <p:spPr>
            <a:xfrm>
              <a:off x="976026" y="3340059"/>
              <a:ext cx="1948162" cy="276999"/>
            </a:xfrm>
            <a:prstGeom prst="rect">
              <a:avLst/>
            </a:prstGeom>
          </p:spPr>
          <p:txBody>
            <a:bodyPr wrap="none">
              <a:spAutoFit/>
            </a:bodyPr>
            <a:lstStyle/>
            <a:p>
              <a:pPr algn="ctr"/>
              <a:r>
                <a:rPr lang="en-US" altLang="zh-CN" sz="1200" b="1" dirty="0">
                  <a:latin typeface="微软雅黑 Light" panose="020B0502040204020203" pitchFamily="34" charset="-122"/>
                  <a:ea typeface="微软雅黑 Light" panose="020B0502040204020203" pitchFamily="34" charset="-122"/>
                </a:rPr>
                <a:t>http://www.myschool.edu</a:t>
              </a:r>
              <a:endParaRPr lang="zh-CN" altLang="en-US" sz="1200" dirty="0">
                <a:latin typeface="Montserrat" panose="00000500000000000000" pitchFamily="2" charset="0"/>
                <a:ea typeface="微软雅黑 Light" panose="020B0502040204020203" pitchFamily="34" charset="-122"/>
              </a:endParaRPr>
            </a:p>
          </p:txBody>
        </p:sp>
        <p:grpSp>
          <p:nvGrpSpPr>
            <p:cNvPr id="38" name="组合 37"/>
            <p:cNvGrpSpPr/>
            <p:nvPr/>
          </p:nvGrpSpPr>
          <p:grpSpPr>
            <a:xfrm>
              <a:off x="2284350" y="2920745"/>
              <a:ext cx="2861961" cy="87320"/>
              <a:chOff x="2977656" y="2920745"/>
              <a:chExt cx="1954758" cy="87320"/>
            </a:xfrm>
          </p:grpSpPr>
          <p:cxnSp>
            <p:nvCxnSpPr>
              <p:cNvPr id="5" name="直接箭头连接符 4"/>
              <p:cNvCxnSpPr/>
              <p:nvPr/>
            </p:nvCxnSpPr>
            <p:spPr>
              <a:xfrm>
                <a:off x="2977656" y="2920745"/>
                <a:ext cx="1954758" cy="0"/>
              </a:xfrm>
              <a:prstGeom prst="straightConnector1">
                <a:avLst/>
              </a:prstGeom>
              <a:ln w="19050">
                <a:solidFill>
                  <a:srgbClr val="CC00CC"/>
                </a:solidFill>
                <a:tailEnd type="triangle"/>
              </a:ln>
            </p:spPr>
            <p:style>
              <a:lnRef idx="1">
                <a:schemeClr val="dk1"/>
              </a:lnRef>
              <a:fillRef idx="0">
                <a:schemeClr val="dk1"/>
              </a:fillRef>
              <a:effectRef idx="0">
                <a:schemeClr val="dk1"/>
              </a:effectRef>
              <a:fontRef idx="minor">
                <a:schemeClr val="tx1"/>
              </a:fontRef>
            </p:style>
          </p:cxnSp>
          <p:cxnSp>
            <p:nvCxnSpPr>
              <p:cNvPr id="9" name="直接箭头连接符 8"/>
              <p:cNvCxnSpPr/>
              <p:nvPr/>
            </p:nvCxnSpPr>
            <p:spPr>
              <a:xfrm>
                <a:off x="2977656" y="3008065"/>
                <a:ext cx="1954758" cy="0"/>
              </a:xfrm>
              <a:prstGeom prst="straightConnector1">
                <a:avLst/>
              </a:prstGeom>
              <a:ln w="19050">
                <a:solidFill>
                  <a:srgbClr val="000099"/>
                </a:solidFill>
                <a:headEnd type="triangle" w="med" len="med"/>
                <a:tailEnd type="none" w="med" len="med"/>
              </a:ln>
            </p:spPr>
            <p:style>
              <a:lnRef idx="1">
                <a:schemeClr val="dk1"/>
              </a:lnRef>
              <a:fillRef idx="0">
                <a:schemeClr val="dk1"/>
              </a:fillRef>
              <a:effectRef idx="0">
                <a:schemeClr val="dk1"/>
              </a:effectRef>
              <a:fontRef idx="minor">
                <a:schemeClr val="tx1"/>
              </a:fontRef>
            </p:style>
          </p:cxnSp>
        </p:grpSp>
      </p:grpSp>
      <p:sp>
        <p:nvSpPr>
          <p:cNvPr id="2" name="标题 1">
            <a:extLst>
              <a:ext uri="{FF2B5EF4-FFF2-40B4-BE49-F238E27FC236}">
                <a16:creationId xmlns:a16="http://schemas.microsoft.com/office/drawing/2014/main" id="{C6BF2EB8-6220-5B41-AD46-C0BED242ADC5}"/>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7" name="内容占位符 6">
            <a:extLst>
              <a:ext uri="{FF2B5EF4-FFF2-40B4-BE49-F238E27FC236}">
                <a16:creationId xmlns:a16="http://schemas.microsoft.com/office/drawing/2014/main" id="{7BBAEAC0-A391-90A0-ABF7-50AB9990BFBB}"/>
              </a:ext>
            </a:extLst>
          </p:cNvPr>
          <p:cNvSpPr>
            <a:spLocks noGrp="1"/>
          </p:cNvSpPr>
          <p:nvPr>
            <p:ph sz="quarter" idx="11"/>
          </p:nvPr>
        </p:nvSpPr>
        <p:spPr>
          <a:xfrm>
            <a:off x="486000" y="687518"/>
            <a:ext cx="8172000" cy="4079035"/>
          </a:xfrm>
        </p:spPr>
        <p:txBody>
          <a:bodyPr/>
          <a:lstStyle/>
          <a:p>
            <a:r>
              <a:rPr lang="zh-CN" altLang="en-US" dirty="0"/>
              <a:t>域名系统 </a:t>
            </a:r>
            <a:r>
              <a:rPr lang="en-US" altLang="zh-CN" dirty="0"/>
              <a:t>DNS</a:t>
            </a:r>
          </a:p>
          <a:p>
            <a:pPr lvl="1"/>
            <a:r>
              <a:rPr lang="en-US" altLang="zh-CN" dirty="0"/>
              <a:t>Domain Name System</a:t>
            </a:r>
          </a:p>
          <a:p>
            <a:pPr lvl="1"/>
            <a:r>
              <a:rPr lang="zh-CN" altLang="en-US" dirty="0"/>
              <a:t>互联网使用的命名系统</a:t>
            </a:r>
            <a:endParaRPr lang="en-US" altLang="zh-CN" dirty="0"/>
          </a:p>
          <a:p>
            <a:pPr lvl="1"/>
            <a:r>
              <a:rPr lang="zh-CN" altLang="en-US" dirty="0"/>
              <a:t>用来把人们使用的机器名字（域名）转换为 </a:t>
            </a:r>
            <a:r>
              <a:rPr lang="en-US" altLang="zh-CN" dirty="0"/>
              <a:t>IP </a:t>
            </a:r>
            <a:r>
              <a:rPr lang="zh-CN" altLang="en-US" dirty="0"/>
              <a:t>地址</a:t>
            </a:r>
            <a:endParaRPr lang="en-US" altLang="zh-CN" dirty="0"/>
          </a:p>
          <a:p>
            <a:pPr lvl="1"/>
            <a:r>
              <a:rPr lang="zh-CN" altLang="en-US" dirty="0"/>
              <a:t>为互联网的各种网络应用提供了核心服务</a:t>
            </a:r>
            <a:endParaRPr lang="en-US" altLang="zh-CN" dirty="0"/>
          </a:p>
          <a:p>
            <a:endParaRPr lang="zh-CN" altLang="en-US" dirty="0"/>
          </a:p>
        </p:txBody>
      </p:sp>
    </p:spTree>
    <p:extLst>
      <p:ext uri="{BB962C8B-B14F-4D97-AF65-F5344CB8AC3E}">
        <p14:creationId xmlns:p14="http://schemas.microsoft.com/office/powerpoint/2010/main" val="6689464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539C13CC-F4F0-7DC5-C345-9F73159EAAA6}"/>
              </a:ext>
            </a:extLst>
          </p:cNvPr>
          <p:cNvSpPr>
            <a:spLocks noGrp="1"/>
          </p:cNvSpPr>
          <p:nvPr>
            <p:ph type="title"/>
          </p:nvPr>
        </p:nvSpPr>
        <p:spPr>
          <a:xfrm>
            <a:off x="485999" y="174482"/>
            <a:ext cx="8171999" cy="338554"/>
          </a:xfrm>
        </p:spPr>
        <p:txBody>
          <a:bodyPr/>
          <a:lstStyle/>
          <a:p>
            <a:r>
              <a:rPr lang="en-US" altLang="zh-CN" dirty="0"/>
              <a:t>6.1.1  </a:t>
            </a:r>
            <a:r>
              <a:rPr lang="zh-CN" altLang="en-US" dirty="0"/>
              <a:t>域名系统</a:t>
            </a:r>
          </a:p>
        </p:txBody>
      </p:sp>
      <p:sp>
        <p:nvSpPr>
          <p:cNvPr id="4" name="内容占位符 3">
            <a:extLst>
              <a:ext uri="{FF2B5EF4-FFF2-40B4-BE49-F238E27FC236}">
                <a16:creationId xmlns:a16="http://schemas.microsoft.com/office/drawing/2014/main" id="{15FD84F0-4868-0B12-E9A7-181D4A300CEF}"/>
              </a:ext>
            </a:extLst>
          </p:cNvPr>
          <p:cNvSpPr>
            <a:spLocks noGrp="1"/>
          </p:cNvSpPr>
          <p:nvPr>
            <p:ph sz="quarter" idx="11"/>
          </p:nvPr>
        </p:nvSpPr>
        <p:spPr>
          <a:xfrm>
            <a:off x="486000" y="687518"/>
            <a:ext cx="8172000" cy="4079035"/>
          </a:xfrm>
        </p:spPr>
        <p:txBody>
          <a:bodyPr/>
          <a:lstStyle/>
          <a:p>
            <a:r>
              <a:rPr lang="zh-CN" altLang="en-US" dirty="0"/>
              <a:t>域名采用层次树状结构的命名方法</a:t>
            </a:r>
            <a:endParaRPr lang="en-US" altLang="zh-CN" dirty="0"/>
          </a:p>
          <a:p>
            <a:pPr lvl="1"/>
            <a:r>
              <a:rPr lang="en-US" altLang="zh-CN" dirty="0"/>
              <a:t>www.myschool.edu</a:t>
            </a:r>
          </a:p>
          <a:p>
            <a:r>
              <a:rPr lang="en-US" altLang="zh-CN" dirty="0"/>
              <a:t>DNS </a:t>
            </a:r>
            <a:r>
              <a:rPr lang="zh-CN" altLang="en-US" dirty="0"/>
              <a:t>是一个联机分布式数据库系统，采用客户服务器方式</a:t>
            </a:r>
            <a:endParaRPr lang="en-US" altLang="zh-CN" dirty="0"/>
          </a:p>
          <a:p>
            <a:r>
              <a:rPr lang="zh-CN" altLang="en-US" dirty="0"/>
              <a:t>域名到 </a:t>
            </a:r>
            <a:r>
              <a:rPr lang="en-US" altLang="zh-CN" dirty="0"/>
              <a:t>IP </a:t>
            </a:r>
            <a:r>
              <a:rPr lang="zh-CN" altLang="en-US" dirty="0"/>
              <a:t>地址的解析是由若干个域名服务器程序共同完成</a:t>
            </a:r>
            <a:endParaRPr lang="en-US" altLang="zh-CN" dirty="0"/>
          </a:p>
          <a:p>
            <a:r>
              <a:rPr lang="zh-CN" altLang="en-US" dirty="0"/>
              <a:t>域名服务器程序在专设的结点上运行，运行该程序的机器称为域名服务器</a:t>
            </a:r>
          </a:p>
        </p:txBody>
      </p:sp>
      <p:sp>
        <p:nvSpPr>
          <p:cNvPr id="5" name="Rectangle 122"/>
          <p:cNvSpPr>
            <a:spLocks noChangeArrowheads="1"/>
          </p:cNvSpPr>
          <p:nvPr/>
        </p:nvSpPr>
        <p:spPr bwMode="auto">
          <a:xfrm>
            <a:off x="4013904" y="2571750"/>
            <a:ext cx="409790" cy="324229"/>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dirty="0">
                <a:latin typeface="Montserrat" panose="00000500000000000000" pitchFamily="2" charset="0"/>
                <a:ea typeface="微软雅黑 Light" panose="020B0502040204020203" pitchFamily="34" charset="-122"/>
              </a:rPr>
              <a:t>根</a:t>
            </a:r>
          </a:p>
        </p:txBody>
      </p:sp>
      <p:sp>
        <p:nvSpPr>
          <p:cNvPr id="19" name="Text Box 105"/>
          <p:cNvSpPr txBox="1">
            <a:spLocks noChangeArrowheads="1"/>
          </p:cNvSpPr>
          <p:nvPr/>
        </p:nvSpPr>
        <p:spPr bwMode="auto">
          <a:xfrm>
            <a:off x="5036129" y="3707293"/>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25" name="Text Box 124"/>
          <p:cNvSpPr txBox="1">
            <a:spLocks noChangeArrowheads="1"/>
          </p:cNvSpPr>
          <p:nvPr/>
        </p:nvSpPr>
        <p:spPr bwMode="auto">
          <a:xfrm>
            <a:off x="4108423" y="3759542"/>
            <a:ext cx="105670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myschool</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28" name="Line 142"/>
          <p:cNvSpPr>
            <a:spLocks noChangeShapeType="1"/>
          </p:cNvSpPr>
          <p:nvPr/>
        </p:nvSpPr>
        <p:spPr bwMode="auto">
          <a:xfrm>
            <a:off x="4543958" y="3493010"/>
            <a:ext cx="81165" cy="3242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Line 143"/>
          <p:cNvSpPr>
            <a:spLocks noChangeShapeType="1"/>
          </p:cNvSpPr>
          <p:nvPr/>
        </p:nvSpPr>
        <p:spPr bwMode="auto">
          <a:xfrm>
            <a:off x="4543958" y="3505933"/>
            <a:ext cx="557632" cy="291127"/>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0" name="Line 144"/>
          <p:cNvSpPr>
            <a:spLocks noChangeShapeType="1"/>
          </p:cNvSpPr>
          <p:nvPr/>
        </p:nvSpPr>
        <p:spPr bwMode="auto">
          <a:xfrm flipV="1">
            <a:off x="4132895" y="3517678"/>
            <a:ext cx="411062" cy="2793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nvGrpSpPr>
          <p:cNvPr id="35" name="Group 162"/>
          <p:cNvGrpSpPr>
            <a:grpSpLocks/>
          </p:cNvGrpSpPr>
          <p:nvPr/>
        </p:nvGrpSpPr>
        <p:grpSpPr bwMode="auto">
          <a:xfrm>
            <a:off x="3805824" y="3494320"/>
            <a:ext cx="341067" cy="118649"/>
            <a:chOff x="2875" y="1143"/>
            <a:chExt cx="330" cy="132"/>
          </a:xfrm>
        </p:grpSpPr>
        <p:sp>
          <p:nvSpPr>
            <p:cNvPr id="56" name="Line 163"/>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7" name="Line 164"/>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8" name="Line 165"/>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59" name="Line 166"/>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38" name="Group 177"/>
          <p:cNvGrpSpPr>
            <a:grpSpLocks/>
          </p:cNvGrpSpPr>
          <p:nvPr/>
        </p:nvGrpSpPr>
        <p:grpSpPr bwMode="auto">
          <a:xfrm>
            <a:off x="4882480" y="3494320"/>
            <a:ext cx="341067" cy="118649"/>
            <a:chOff x="2875" y="1143"/>
            <a:chExt cx="330" cy="132"/>
          </a:xfrm>
        </p:grpSpPr>
        <p:sp>
          <p:nvSpPr>
            <p:cNvPr id="44" name="Line 178"/>
            <p:cNvSpPr>
              <a:spLocks noChangeShapeType="1"/>
            </p:cNvSpPr>
            <p:nvPr/>
          </p:nvSpPr>
          <p:spPr bwMode="auto">
            <a:xfrm>
              <a:off x="3061"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5" name="Line 179"/>
            <p:cNvSpPr>
              <a:spLocks noChangeShapeType="1"/>
            </p:cNvSpPr>
            <p:nvPr/>
          </p:nvSpPr>
          <p:spPr bwMode="auto">
            <a:xfrm>
              <a:off x="3050" y="1143"/>
              <a:ext cx="37" cy="12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6" name="Line 180"/>
            <p:cNvSpPr>
              <a:spLocks noChangeShapeType="1"/>
            </p:cNvSpPr>
            <p:nvPr/>
          </p:nvSpPr>
          <p:spPr bwMode="auto">
            <a:xfrm flipH="1">
              <a:off x="2875" y="1143"/>
              <a:ext cx="144" cy="13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47" name="Line 181"/>
            <p:cNvSpPr>
              <a:spLocks noChangeShapeType="1"/>
            </p:cNvSpPr>
            <p:nvPr/>
          </p:nvSpPr>
          <p:spPr bwMode="auto">
            <a:xfrm flipH="1">
              <a:off x="2980" y="1143"/>
              <a:ext cx="54" cy="126"/>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73" name="Text Box 150"/>
          <p:cNvSpPr txBox="1">
            <a:spLocks noChangeArrowheads="1"/>
          </p:cNvSpPr>
          <p:nvPr/>
        </p:nvSpPr>
        <p:spPr bwMode="auto">
          <a:xfrm>
            <a:off x="4507722" y="4126966"/>
            <a:ext cx="655949" cy="307777"/>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www</a:t>
            </a:r>
          </a:p>
        </p:txBody>
      </p:sp>
      <p:sp>
        <p:nvSpPr>
          <p:cNvPr id="74" name="Text Box 152"/>
          <p:cNvSpPr txBox="1">
            <a:spLocks noChangeArrowheads="1"/>
          </p:cNvSpPr>
          <p:nvPr/>
        </p:nvSpPr>
        <p:spPr bwMode="auto">
          <a:xfrm>
            <a:off x="3872519" y="370694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76" name="Line 154"/>
          <p:cNvSpPr>
            <a:spLocks noChangeShapeType="1"/>
          </p:cNvSpPr>
          <p:nvPr/>
        </p:nvSpPr>
        <p:spPr bwMode="auto">
          <a:xfrm>
            <a:off x="4708746" y="4027869"/>
            <a:ext cx="130465" cy="186024"/>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00" name="Text Box 107"/>
          <p:cNvSpPr txBox="1">
            <a:spLocks noChangeArrowheads="1"/>
          </p:cNvSpPr>
          <p:nvPr/>
        </p:nvSpPr>
        <p:spPr bwMode="auto">
          <a:xfrm>
            <a:off x="3761282" y="3238222"/>
            <a:ext cx="58862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com</a:t>
            </a:r>
          </a:p>
        </p:txBody>
      </p:sp>
      <p:sp>
        <p:nvSpPr>
          <p:cNvPr id="102" name="Text Box 109"/>
          <p:cNvSpPr txBox="1">
            <a:spLocks noChangeArrowheads="1"/>
          </p:cNvSpPr>
          <p:nvPr/>
        </p:nvSpPr>
        <p:spPr bwMode="auto">
          <a:xfrm>
            <a:off x="4293248" y="3238222"/>
            <a:ext cx="53572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err="1">
                <a:solidFill>
                  <a:schemeClr val="tx1"/>
                </a:solidFill>
                <a:latin typeface="Montserrat" panose="00000500000000000000" pitchFamily="2" charset="0"/>
                <a:ea typeface="微软雅黑 Light" panose="020B0502040204020203" pitchFamily="34" charset="-122"/>
              </a:rPr>
              <a:t>edu</a:t>
            </a:r>
            <a:endParaRPr kumimoji="1" lang="en-US" altLang="zh-CN" sz="1400" dirty="0">
              <a:solidFill>
                <a:schemeClr val="tx1"/>
              </a:solidFill>
              <a:latin typeface="Montserrat" panose="00000500000000000000" pitchFamily="2" charset="0"/>
              <a:ea typeface="微软雅黑 Light" panose="020B0502040204020203" pitchFamily="34" charset="-122"/>
            </a:endParaRPr>
          </a:p>
        </p:txBody>
      </p:sp>
      <p:sp>
        <p:nvSpPr>
          <p:cNvPr id="103" name="Text Box 110"/>
          <p:cNvSpPr txBox="1">
            <a:spLocks noChangeArrowheads="1"/>
          </p:cNvSpPr>
          <p:nvPr/>
        </p:nvSpPr>
        <p:spPr bwMode="auto">
          <a:xfrm>
            <a:off x="4839211" y="3238222"/>
            <a:ext cx="51809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gov</a:t>
            </a:r>
          </a:p>
        </p:txBody>
      </p:sp>
      <p:sp>
        <p:nvSpPr>
          <p:cNvPr id="110" name="Line 134"/>
          <p:cNvSpPr>
            <a:spLocks noChangeShapeType="1"/>
          </p:cNvSpPr>
          <p:nvPr/>
        </p:nvSpPr>
        <p:spPr bwMode="auto">
          <a:xfrm flipH="1">
            <a:off x="3667098" y="2863864"/>
            <a:ext cx="559882" cy="43614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1" name="Line 135"/>
          <p:cNvSpPr>
            <a:spLocks noChangeShapeType="1"/>
          </p:cNvSpPr>
          <p:nvPr/>
        </p:nvSpPr>
        <p:spPr bwMode="auto">
          <a:xfrm flipH="1">
            <a:off x="4024710" y="2872742"/>
            <a:ext cx="187090" cy="42727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2" name="Line 136"/>
          <p:cNvSpPr>
            <a:spLocks noChangeShapeType="1"/>
          </p:cNvSpPr>
          <p:nvPr/>
        </p:nvSpPr>
        <p:spPr bwMode="auto">
          <a:xfrm>
            <a:off x="4227071" y="2882275"/>
            <a:ext cx="316887" cy="428781"/>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3" name="Line 137"/>
          <p:cNvSpPr>
            <a:spLocks noChangeShapeType="1"/>
          </p:cNvSpPr>
          <p:nvPr/>
        </p:nvSpPr>
        <p:spPr bwMode="auto">
          <a:xfrm>
            <a:off x="4224526" y="2872877"/>
            <a:ext cx="866668" cy="4405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4" name="Line 138"/>
          <p:cNvSpPr>
            <a:spLocks noChangeShapeType="1"/>
          </p:cNvSpPr>
          <p:nvPr/>
        </p:nvSpPr>
        <p:spPr bwMode="auto">
          <a:xfrm>
            <a:off x="4241070" y="2864654"/>
            <a:ext cx="1259701" cy="43935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117" name="Text Box 141"/>
          <p:cNvSpPr txBox="1">
            <a:spLocks noChangeArrowheads="1"/>
          </p:cNvSpPr>
          <p:nvPr/>
        </p:nvSpPr>
        <p:spPr bwMode="auto">
          <a:xfrm>
            <a:off x="347548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
        <p:nvSpPr>
          <p:cNvPr id="118" name="Text Box 207"/>
          <p:cNvSpPr txBox="1">
            <a:spLocks noChangeArrowheads="1"/>
          </p:cNvSpPr>
          <p:nvPr/>
        </p:nvSpPr>
        <p:spPr bwMode="auto">
          <a:xfrm>
            <a:off x="5354005" y="3191232"/>
            <a:ext cx="30008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dirty="0">
                <a:solidFill>
                  <a:schemeClr val="tx1"/>
                </a:solidFill>
                <a:latin typeface="Montserrat" panose="00000500000000000000" pitchFamily="2" charset="0"/>
                <a:ea typeface="微软雅黑 Light" panose="020B0502040204020203" pitchFamily="34" charset="-122"/>
              </a:rPr>
              <a:t>…</a:t>
            </a:r>
          </a:p>
        </p:txBody>
      </p:sp>
    </p:spTree>
    <p:extLst>
      <p:ext uri="{BB962C8B-B14F-4D97-AF65-F5344CB8AC3E}">
        <p14:creationId xmlns:p14="http://schemas.microsoft.com/office/powerpoint/2010/main" val="4024044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矩形 32"/>
          <p:cNvSpPr/>
          <p:nvPr/>
        </p:nvSpPr>
        <p:spPr>
          <a:xfrm>
            <a:off x="5742727" y="368306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Server</a:t>
            </a:r>
            <a:endParaRPr lang="zh-CN" altLang="en-US" sz="1200" dirty="0">
              <a:latin typeface="Montserrat" panose="00000500000000000000" pitchFamily="2" charset="0"/>
              <a:ea typeface="微软雅黑 Light" panose="020B0502040204020203" pitchFamily="34" charset="-122"/>
            </a:endParaRPr>
          </a:p>
        </p:txBody>
      </p:sp>
      <p:cxnSp>
        <p:nvCxnSpPr>
          <p:cNvPr id="34" name="直接箭头连接符 33"/>
          <p:cNvCxnSpPr/>
          <p:nvPr/>
        </p:nvCxnSpPr>
        <p:spPr>
          <a:xfrm>
            <a:off x="3169328" y="2417626"/>
            <a:ext cx="953457" cy="0"/>
          </a:xfrm>
          <a:prstGeom prst="straightConnector1">
            <a:avLst/>
          </a:prstGeom>
          <a:ln w="38100">
            <a:solidFill>
              <a:srgbClr val="000099"/>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p:nvPr/>
        </p:nvCxnSpPr>
        <p:spPr>
          <a:xfrm>
            <a:off x="3170724" y="2259928"/>
            <a:ext cx="960116" cy="1"/>
          </a:xfrm>
          <a:prstGeom prst="straightConnector1">
            <a:avLst/>
          </a:prstGeom>
          <a:ln w="38100">
            <a:solidFill>
              <a:srgbClr val="CC00CC"/>
            </a:solidFill>
            <a:tailEnd type="triangle"/>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6544499" y="138950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36" name="直接箭头连接符 35"/>
          <p:cNvCxnSpPr/>
          <p:nvPr/>
        </p:nvCxnSpPr>
        <p:spPr>
          <a:xfrm flipV="1">
            <a:off x="4792931" y="1467848"/>
            <a:ext cx="1209158" cy="617697"/>
          </a:xfrm>
          <a:prstGeom prst="straightConnector1">
            <a:avLst/>
          </a:prstGeom>
          <a:ln w="381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p:cNvCxnSpPr/>
          <p:nvPr/>
        </p:nvCxnSpPr>
        <p:spPr>
          <a:xfrm flipV="1">
            <a:off x="4797661" y="1600666"/>
            <a:ext cx="1177012" cy="612650"/>
          </a:xfrm>
          <a:prstGeom prst="straightConnector1">
            <a:avLst/>
          </a:prstGeom>
          <a:ln w="38100">
            <a:solidFill>
              <a:srgbClr val="0070C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3" name="矩形 72"/>
          <p:cNvSpPr/>
          <p:nvPr/>
        </p:nvSpPr>
        <p:spPr>
          <a:xfrm>
            <a:off x="2793891" y="1596600"/>
            <a:ext cx="345961" cy="1440162"/>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ysClr val="windowText" lastClr="000000"/>
                </a:solidFill>
                <a:latin typeface="Montserrat" panose="00000500000000000000" pitchFamily="2" charset="0"/>
                <a:ea typeface="微软雅黑 Light" panose="020B0502040204020203" pitchFamily="34" charset="-122"/>
              </a:rPr>
              <a:t>解析程序</a:t>
            </a:r>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74" name="圆角右箭头 73"/>
          <p:cNvSpPr/>
          <p:nvPr/>
        </p:nvSpPr>
        <p:spPr>
          <a:xfrm>
            <a:off x="1869235" y="1746270"/>
            <a:ext cx="901666" cy="461528"/>
          </a:xfrm>
          <a:prstGeom prst="bentArrow">
            <a:avLst>
              <a:gd name="adj1" fmla="val 11913"/>
              <a:gd name="adj2" fmla="val 15020"/>
              <a:gd name="adj3" fmla="val 25000"/>
              <a:gd name="adj4" fmla="val 41706"/>
            </a:avLst>
          </a:prstGeom>
          <a:solidFill>
            <a:srgbClr val="0099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cxnSp>
        <p:nvCxnSpPr>
          <p:cNvPr id="75" name="直接箭头连接符 74"/>
          <p:cNvCxnSpPr/>
          <p:nvPr/>
        </p:nvCxnSpPr>
        <p:spPr>
          <a:xfrm>
            <a:off x="4792931" y="2321087"/>
            <a:ext cx="1204428" cy="1527"/>
          </a:xfrm>
          <a:prstGeom prst="straightConnector1">
            <a:avLst/>
          </a:prstGeom>
          <a:ln w="38100">
            <a:solidFill>
              <a:srgbClr val="800000"/>
            </a:solidFill>
            <a:tailEnd type="triangle"/>
          </a:ln>
        </p:spPr>
        <p:style>
          <a:lnRef idx="1">
            <a:schemeClr val="accent1"/>
          </a:lnRef>
          <a:fillRef idx="0">
            <a:schemeClr val="accent1"/>
          </a:fillRef>
          <a:effectRef idx="0">
            <a:schemeClr val="accent1"/>
          </a:effectRef>
          <a:fontRef idx="minor">
            <a:schemeClr val="tx1"/>
          </a:fontRef>
        </p:style>
      </p:cxnSp>
      <p:cxnSp>
        <p:nvCxnSpPr>
          <p:cNvPr id="76" name="直接箭头连接符 75"/>
          <p:cNvCxnSpPr/>
          <p:nvPr/>
        </p:nvCxnSpPr>
        <p:spPr>
          <a:xfrm>
            <a:off x="4792931" y="2426967"/>
            <a:ext cx="1141500" cy="0"/>
          </a:xfrm>
          <a:prstGeom prst="straightConnector1">
            <a:avLst/>
          </a:prstGeom>
          <a:ln w="38100">
            <a:solidFill>
              <a:srgbClr val="CC66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79" name="矩形 78"/>
          <p:cNvSpPr/>
          <p:nvPr/>
        </p:nvSpPr>
        <p:spPr>
          <a:xfrm>
            <a:off x="6539769" y="2161348"/>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cxnSp>
        <p:nvCxnSpPr>
          <p:cNvPr id="77" name="直接箭头连接符 76"/>
          <p:cNvCxnSpPr/>
          <p:nvPr/>
        </p:nvCxnSpPr>
        <p:spPr>
          <a:xfrm>
            <a:off x="4798091" y="2547446"/>
            <a:ext cx="1188023" cy="512659"/>
          </a:xfrm>
          <a:prstGeom prst="straightConnector1">
            <a:avLst/>
          </a:prstGeom>
          <a:ln w="38100">
            <a:solidFill>
              <a:srgbClr val="660066"/>
            </a:solidFill>
            <a:tailEnd type="triangle"/>
          </a:ln>
        </p:spPr>
        <p:style>
          <a:lnRef idx="1">
            <a:schemeClr val="accent1"/>
          </a:lnRef>
          <a:fillRef idx="0">
            <a:schemeClr val="accent1"/>
          </a:fillRef>
          <a:effectRef idx="0">
            <a:schemeClr val="accent1"/>
          </a:effectRef>
          <a:fontRef idx="minor">
            <a:schemeClr val="tx1"/>
          </a:fontRef>
        </p:style>
      </p:cxnSp>
      <p:cxnSp>
        <p:nvCxnSpPr>
          <p:cNvPr id="78" name="直接箭头连接符 77"/>
          <p:cNvCxnSpPr/>
          <p:nvPr/>
        </p:nvCxnSpPr>
        <p:spPr>
          <a:xfrm>
            <a:off x="4792931" y="2656744"/>
            <a:ext cx="1130255" cy="500667"/>
          </a:xfrm>
          <a:prstGeom prst="straightConnector1">
            <a:avLst/>
          </a:prstGeom>
          <a:ln w="38100">
            <a:solidFill>
              <a:srgbClr val="0099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80" name="矩形 79"/>
          <p:cNvSpPr/>
          <p:nvPr/>
        </p:nvSpPr>
        <p:spPr>
          <a:xfrm>
            <a:off x="6528524" y="2961690"/>
            <a:ext cx="526106" cy="276999"/>
          </a:xfrm>
          <a:prstGeom prst="rect">
            <a:avLst/>
          </a:prstGeom>
        </p:spPr>
        <p:txBody>
          <a:bodyPr wrap="none">
            <a:spAutoFit/>
          </a:bodyPr>
          <a:lstStyle/>
          <a:p>
            <a:pPr algn="just"/>
            <a:r>
              <a:rPr lang="en-US" altLang="zh-CN" sz="1200" dirty="0">
                <a:latin typeface="Montserrat" panose="00000500000000000000" pitchFamily="2" charset="0"/>
                <a:ea typeface="微软雅黑 Light" panose="020B0502040204020203" pitchFamily="34" charset="-122"/>
              </a:rPr>
              <a:t>DNS</a:t>
            </a:r>
            <a:endParaRPr lang="zh-CN" altLang="en-US" sz="1200" dirty="0">
              <a:latin typeface="Montserrat" panose="00000500000000000000" pitchFamily="2" charset="0"/>
              <a:ea typeface="微软雅黑 Light" panose="020B0502040204020203" pitchFamily="34" charset="-122"/>
            </a:endParaRPr>
          </a:p>
        </p:txBody>
      </p:sp>
      <p:sp>
        <p:nvSpPr>
          <p:cNvPr id="92" name="矩形 91"/>
          <p:cNvSpPr/>
          <p:nvPr/>
        </p:nvSpPr>
        <p:spPr>
          <a:xfrm>
            <a:off x="3926028" y="1792583"/>
            <a:ext cx="978153"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Local DNS</a:t>
            </a:r>
            <a:endParaRPr lang="zh-CN" altLang="en-US" sz="1200" dirty="0">
              <a:latin typeface="Montserrat" panose="00000500000000000000" pitchFamily="2" charset="0"/>
              <a:ea typeface="微软雅黑 Light" panose="020B0502040204020203" pitchFamily="34" charset="-122"/>
            </a:endParaRPr>
          </a:p>
        </p:txBody>
      </p:sp>
      <p:sp>
        <p:nvSpPr>
          <p:cNvPr id="93" name="圆角右箭头 92"/>
          <p:cNvSpPr/>
          <p:nvPr/>
        </p:nvSpPr>
        <p:spPr>
          <a:xfrm flipV="1">
            <a:off x="2054947" y="2902529"/>
            <a:ext cx="3213933" cy="928144"/>
          </a:xfrm>
          <a:prstGeom prst="bentArrow">
            <a:avLst>
              <a:gd name="adj1" fmla="val 5245"/>
              <a:gd name="adj2" fmla="val 6893"/>
              <a:gd name="adj3" fmla="val 14998"/>
              <a:gd name="adj4" fmla="val 41706"/>
            </a:avLst>
          </a:prstGeom>
          <a:solidFill>
            <a:srgbClr val="C00000"/>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4" name="圆角右箭头 93"/>
          <p:cNvSpPr/>
          <p:nvPr/>
        </p:nvSpPr>
        <p:spPr>
          <a:xfrm rot="5400000" flipH="1" flipV="1">
            <a:off x="3020293" y="1710968"/>
            <a:ext cx="1065272" cy="3396398"/>
          </a:xfrm>
          <a:prstGeom prst="bentArrow">
            <a:avLst>
              <a:gd name="adj1" fmla="val 5245"/>
              <a:gd name="adj2" fmla="val 6088"/>
              <a:gd name="adj3" fmla="val 12584"/>
              <a:gd name="adj4" fmla="val 41706"/>
            </a:avLst>
          </a:prstGeom>
          <a:solidFill>
            <a:srgbClr val="9933FF"/>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95" name="圆角右箭头 94"/>
          <p:cNvSpPr/>
          <p:nvPr/>
        </p:nvSpPr>
        <p:spPr>
          <a:xfrm rot="16200000" flipH="1">
            <a:off x="2228242" y="1689761"/>
            <a:ext cx="282418" cy="785149"/>
          </a:xfrm>
          <a:prstGeom prst="bentArrow">
            <a:avLst>
              <a:gd name="adj1" fmla="val 19310"/>
              <a:gd name="adj2" fmla="val 25803"/>
              <a:gd name="adj3" fmla="val 36096"/>
              <a:gd name="adj4" fmla="val 23212"/>
            </a:avLst>
          </a:prstGeom>
          <a:solidFill>
            <a:srgbClr val="0066CC"/>
          </a:solidFill>
          <a:ln w="952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solidFill>
                <a:schemeClr val="tx1"/>
              </a:solidFill>
              <a:latin typeface="Montserrat" panose="00000500000000000000" pitchFamily="2" charset="0"/>
              <a:ea typeface="微软雅黑 Light" panose="020B0502040204020203" pitchFamily="34" charset="-122"/>
            </a:endParaRPr>
          </a:p>
        </p:txBody>
      </p:sp>
      <p:sp>
        <p:nvSpPr>
          <p:cNvPr id="2" name="矩形 1"/>
          <p:cNvSpPr/>
          <p:nvPr/>
        </p:nvSpPr>
        <p:spPr>
          <a:xfrm>
            <a:off x="4659179" y="4117443"/>
            <a:ext cx="1653017" cy="276999"/>
          </a:xfrm>
          <a:prstGeom prst="rect">
            <a:avLst/>
          </a:prstGeom>
        </p:spPr>
        <p:txBody>
          <a:bodyPr wrap="none">
            <a:spAutoFit/>
          </a:bodyPr>
          <a:lstStyle/>
          <a:p>
            <a:r>
              <a:rPr lang="en-US" altLang="zh-CN" sz="1200" dirty="0">
                <a:latin typeface="Montserrat" panose="00000500000000000000" pitchFamily="2" charset="0"/>
                <a:ea typeface="微软雅黑 Light" panose="020B0502040204020203" pitchFamily="34" charset="-122"/>
              </a:rPr>
              <a:t>glplaman.github.io</a:t>
            </a:r>
            <a:endParaRPr lang="zh-CN" altLang="en-US" sz="1200" dirty="0">
              <a:latin typeface="Montserrat" panose="00000500000000000000" pitchFamily="2" charset="0"/>
              <a:ea typeface="微软雅黑 Light" panose="020B0502040204020203" pitchFamily="34" charset="-122"/>
            </a:endParaRPr>
          </a:p>
        </p:txBody>
      </p:sp>
      <p:sp>
        <p:nvSpPr>
          <p:cNvPr id="4" name="矩形 3"/>
          <p:cNvSpPr/>
          <p:nvPr/>
        </p:nvSpPr>
        <p:spPr>
          <a:xfrm>
            <a:off x="2584086" y="2989214"/>
            <a:ext cx="788998" cy="276999"/>
          </a:xfrm>
          <a:prstGeom prst="rect">
            <a:avLst/>
          </a:prstGeom>
        </p:spPr>
        <p:txBody>
          <a:bodyPr wrap="none">
            <a:spAutoFit/>
          </a:bodyPr>
          <a:lstStyle/>
          <a:p>
            <a:pPr algn="ctr"/>
            <a:r>
              <a:rPr lang="en-US" altLang="zh-CN" sz="1200" dirty="0">
                <a:latin typeface="Montserrat" panose="00000500000000000000" pitchFamily="2" charset="0"/>
                <a:ea typeface="微软雅黑 Light" panose="020B0502040204020203" pitchFamily="34" charset="-122"/>
              </a:rPr>
              <a:t>resolver</a:t>
            </a:r>
            <a:endParaRPr lang="zh-CN" altLang="en-US" sz="1200" dirty="0">
              <a:latin typeface="Montserrat" panose="00000500000000000000" pitchFamily="2" charset="0"/>
              <a:ea typeface="微软雅黑 Light" panose="020B0502040204020203" pitchFamily="34" charset="-122"/>
            </a:endParaRPr>
          </a:p>
        </p:txBody>
      </p:sp>
      <p:sp>
        <p:nvSpPr>
          <p:cNvPr id="3" name="矩形 2"/>
          <p:cNvSpPr/>
          <p:nvPr/>
        </p:nvSpPr>
        <p:spPr>
          <a:xfrm>
            <a:off x="291124" y="762820"/>
            <a:ext cx="2385275" cy="338554"/>
          </a:xfrm>
          <a:prstGeom prst="rect">
            <a:avLst/>
          </a:prstGeom>
          <a:solidFill>
            <a:srgbClr val="000099"/>
          </a:solidFill>
          <a:ln>
            <a:noFill/>
          </a:ln>
        </p:spPr>
        <p:txBody>
          <a:bodyPr wrap="square">
            <a:spAutoFit/>
          </a:bodyPr>
          <a:lstStyle/>
          <a:p>
            <a:pPr algn="ctr"/>
            <a:r>
              <a:rPr lang="en-US" altLang="zh-CN" sz="1600" b="1" dirty="0">
                <a:solidFill>
                  <a:schemeClr val="bg1"/>
                </a:solidFill>
                <a:latin typeface="Montserrat" panose="00000500000000000000" pitchFamily="2" charset="0"/>
                <a:ea typeface="微软雅黑 Light" panose="020B0502040204020203" pitchFamily="34" charset="-122"/>
              </a:rPr>
              <a:t>DNS </a:t>
            </a:r>
            <a:r>
              <a:rPr lang="zh-CN" altLang="en-US" sz="1600" b="1" dirty="0">
                <a:solidFill>
                  <a:schemeClr val="bg1"/>
                </a:solidFill>
                <a:latin typeface="Montserrat" panose="00000500000000000000" pitchFamily="2" charset="0"/>
                <a:ea typeface="微软雅黑 Light" panose="020B0502040204020203" pitchFamily="34" charset="-122"/>
              </a:rPr>
              <a:t>使用 </a:t>
            </a:r>
            <a:r>
              <a:rPr lang="en-US" altLang="zh-CN" sz="1600" b="1" dirty="0">
                <a:solidFill>
                  <a:schemeClr val="bg1"/>
                </a:solidFill>
                <a:latin typeface="Montserrat" panose="00000500000000000000" pitchFamily="2" charset="0"/>
                <a:ea typeface="微软雅黑 Light" panose="020B0502040204020203" pitchFamily="34" charset="-122"/>
              </a:rPr>
              <a:t>UDP </a:t>
            </a:r>
            <a:r>
              <a:rPr lang="zh-CN" altLang="en-US" sz="1600" b="1" dirty="0">
                <a:solidFill>
                  <a:schemeClr val="bg1"/>
                </a:solidFill>
                <a:latin typeface="Montserrat" panose="00000500000000000000" pitchFamily="2" charset="0"/>
                <a:ea typeface="微软雅黑 Light" panose="020B0502040204020203" pitchFamily="34" charset="-122"/>
              </a:rPr>
              <a:t>通信</a:t>
            </a:r>
          </a:p>
        </p:txBody>
      </p:sp>
      <p:pic>
        <p:nvPicPr>
          <p:cNvPr id="7" name="Picture 197" descr="jisuanji">
            <a:extLst>
              <a:ext uri="{FF2B5EF4-FFF2-40B4-BE49-F238E27FC236}">
                <a16:creationId xmlns:a16="http://schemas.microsoft.com/office/drawing/2014/main" id="{543F1A5C-BB1C-6E52-7147-97691F766BB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718547" y="2269989"/>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96" name="图片 95">
            <a:extLst>
              <a:ext uri="{FF2B5EF4-FFF2-40B4-BE49-F238E27FC236}">
                <a16:creationId xmlns:a16="http://schemas.microsoft.com/office/drawing/2014/main" id="{9FF7DC9F-D70E-8E06-0B46-86B01DD226A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91902" y="1226112"/>
            <a:ext cx="441076" cy="617506"/>
          </a:xfrm>
          <a:prstGeom prst="rect">
            <a:avLst/>
          </a:prstGeom>
        </p:spPr>
      </p:pic>
      <p:sp>
        <p:nvSpPr>
          <p:cNvPr id="97" name="标题 96">
            <a:extLst>
              <a:ext uri="{FF2B5EF4-FFF2-40B4-BE49-F238E27FC236}">
                <a16:creationId xmlns:a16="http://schemas.microsoft.com/office/drawing/2014/main" id="{8383837E-2E5D-4A21-D9BF-4066FFA2A7DD}"/>
              </a:ext>
            </a:extLst>
          </p:cNvPr>
          <p:cNvSpPr>
            <a:spLocks noGrp="1"/>
          </p:cNvSpPr>
          <p:nvPr>
            <p:ph type="title"/>
          </p:nvPr>
        </p:nvSpPr>
        <p:spPr>
          <a:xfrm>
            <a:off x="2880000" y="144000"/>
            <a:ext cx="3384000" cy="338554"/>
          </a:xfrm>
        </p:spPr>
        <p:txBody>
          <a:bodyPr/>
          <a:lstStyle/>
          <a:p>
            <a:r>
              <a:rPr lang="zh-CN" altLang="en-US" dirty="0"/>
              <a:t>域名解析过程要点</a:t>
            </a:r>
          </a:p>
        </p:txBody>
      </p:sp>
      <p:pic>
        <p:nvPicPr>
          <p:cNvPr id="100" name="图片 99">
            <a:extLst>
              <a:ext uri="{FF2B5EF4-FFF2-40B4-BE49-F238E27FC236}">
                <a16:creationId xmlns:a16="http://schemas.microsoft.com/office/drawing/2014/main" id="{E225E823-6079-4381-DB47-ADA36EE9A7B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012054"/>
            <a:ext cx="441076" cy="617506"/>
          </a:xfrm>
          <a:prstGeom prst="rect">
            <a:avLst/>
          </a:prstGeom>
        </p:spPr>
      </p:pic>
      <p:pic>
        <p:nvPicPr>
          <p:cNvPr id="101" name="图片 100">
            <a:extLst>
              <a:ext uri="{FF2B5EF4-FFF2-40B4-BE49-F238E27FC236}">
                <a16:creationId xmlns:a16="http://schemas.microsoft.com/office/drawing/2014/main" id="{F571CAC7-C2A7-DE11-7DA4-0E0E3B92FED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199226" y="2083452"/>
            <a:ext cx="441076" cy="617506"/>
          </a:xfrm>
          <a:prstGeom prst="rect">
            <a:avLst/>
          </a:prstGeom>
        </p:spPr>
      </p:pic>
      <p:pic>
        <p:nvPicPr>
          <p:cNvPr id="102" name="图片 101">
            <a:extLst>
              <a:ext uri="{FF2B5EF4-FFF2-40B4-BE49-F238E27FC236}">
                <a16:creationId xmlns:a16="http://schemas.microsoft.com/office/drawing/2014/main" id="{9F99CE0C-259C-9EFB-5B93-72C5BA44E25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341322" y="3507567"/>
            <a:ext cx="441076" cy="617506"/>
          </a:xfrm>
          <a:prstGeom prst="rect">
            <a:avLst/>
          </a:prstGeom>
        </p:spPr>
      </p:pic>
      <p:pic>
        <p:nvPicPr>
          <p:cNvPr id="103" name="图片 102">
            <a:extLst>
              <a:ext uri="{FF2B5EF4-FFF2-40B4-BE49-F238E27FC236}">
                <a16:creationId xmlns:a16="http://schemas.microsoft.com/office/drawing/2014/main" id="{BFE8EE38-7AF3-675E-58D6-A97CC01B4A8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87172" y="2810049"/>
            <a:ext cx="441076" cy="617506"/>
          </a:xfrm>
          <a:prstGeom prst="rect">
            <a:avLst/>
          </a:prstGeom>
        </p:spPr>
      </p:pic>
      <p:sp>
        <p:nvSpPr>
          <p:cNvPr id="104" name="矩形 103">
            <a:extLst>
              <a:ext uri="{FF2B5EF4-FFF2-40B4-BE49-F238E27FC236}">
                <a16:creationId xmlns:a16="http://schemas.microsoft.com/office/drawing/2014/main" id="{DAF07D71-1659-C875-4E4C-9E25BC1B30F5}"/>
              </a:ext>
            </a:extLst>
          </p:cNvPr>
          <p:cNvSpPr/>
          <p:nvPr/>
        </p:nvSpPr>
        <p:spPr>
          <a:xfrm>
            <a:off x="2644564" y="1324524"/>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Client</a:t>
            </a:r>
            <a:endParaRPr lang="zh-CN" altLang="en-US" sz="1200" dirty="0">
              <a:latin typeface="Montserrat" panose="00000500000000000000" pitchFamily="2" charset="0"/>
              <a:ea typeface="微软雅黑 Light" panose="020B0502040204020203" pitchFamily="34" charset="-122"/>
            </a:endParaRPr>
          </a:p>
        </p:txBody>
      </p:sp>
      <p:sp>
        <p:nvSpPr>
          <p:cNvPr id="105" name="矩形 104">
            <a:extLst>
              <a:ext uri="{FF2B5EF4-FFF2-40B4-BE49-F238E27FC236}">
                <a16:creationId xmlns:a16="http://schemas.microsoft.com/office/drawing/2014/main" id="{0B61717A-1367-F998-2052-747131956763}"/>
              </a:ext>
            </a:extLst>
          </p:cNvPr>
          <p:cNvSpPr/>
          <p:nvPr/>
        </p:nvSpPr>
        <p:spPr>
          <a:xfrm>
            <a:off x="1141706" y="2403665"/>
            <a:ext cx="815070" cy="276999"/>
          </a:xfrm>
          <a:prstGeom prst="rect">
            <a:avLst/>
          </a:prstGeom>
        </p:spPr>
        <p:txBody>
          <a:bodyPr wrap="square">
            <a:spAutoFit/>
          </a:bodyPr>
          <a:lstStyle/>
          <a:p>
            <a:pPr algn="just"/>
            <a:r>
              <a:rPr lang="en-US" altLang="zh-CN" sz="1200" dirty="0">
                <a:latin typeface="Montserrat" panose="00000500000000000000" pitchFamily="2" charset="0"/>
                <a:ea typeface="微软雅黑 Light" panose="020B0502040204020203" pitchFamily="34" charset="-122"/>
              </a:rPr>
              <a:t>App</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00189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4"/>
                                        </p:tgtEl>
                                        <p:attrNameLst>
                                          <p:attrName>style.visibility</p:attrName>
                                        </p:attrNameLst>
                                      </p:cBhvr>
                                      <p:to>
                                        <p:strVal val="visible"/>
                                      </p:to>
                                    </p:set>
                                    <p:animEffect transition="in" filter="wipe(left)">
                                      <p:cBhvr>
                                        <p:cTn id="7" dur="1000"/>
                                        <p:tgtEl>
                                          <p:spTgt spid="74"/>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35"/>
                                        </p:tgtEl>
                                        <p:attrNameLst>
                                          <p:attrName>style.visibility</p:attrName>
                                        </p:attrNameLst>
                                      </p:cBhvr>
                                      <p:to>
                                        <p:strVal val="visible"/>
                                      </p:to>
                                    </p:set>
                                    <p:animEffect transition="in" filter="wipe(left)">
                                      <p:cBhvr>
                                        <p:cTn id="11" dur="1000"/>
                                        <p:tgtEl>
                                          <p:spTgt spid="35"/>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2" fill="hold" nodeType="clickEffect">
                                  <p:stCondLst>
                                    <p:cond delay="0"/>
                                  </p:stCondLst>
                                  <p:childTnLst>
                                    <p:set>
                                      <p:cBhvr>
                                        <p:cTn id="15" dur="1" fill="hold">
                                          <p:stCondLst>
                                            <p:cond delay="0"/>
                                          </p:stCondLst>
                                        </p:cTn>
                                        <p:tgtEl>
                                          <p:spTgt spid="34"/>
                                        </p:tgtEl>
                                        <p:attrNameLst>
                                          <p:attrName>style.visibility</p:attrName>
                                        </p:attrNameLst>
                                      </p:cBhvr>
                                      <p:to>
                                        <p:strVal val="visible"/>
                                      </p:to>
                                    </p:set>
                                    <p:animEffect transition="in" filter="wipe(right)">
                                      <p:cBhvr>
                                        <p:cTn id="16" dur="1000"/>
                                        <p:tgtEl>
                                          <p:spTgt spid="34"/>
                                        </p:tgtEl>
                                      </p:cBhvr>
                                    </p:animEffect>
                                  </p:childTnLst>
                                </p:cTn>
                              </p:par>
                            </p:childTnLst>
                          </p:cTn>
                        </p:par>
                        <p:par>
                          <p:cTn id="17" fill="hold">
                            <p:stCondLst>
                              <p:cond delay="1000"/>
                            </p:stCondLst>
                            <p:childTnLst>
                              <p:par>
                                <p:cTn id="18" presetID="22" presetClass="entr" presetSubtype="2" fill="hold" grpId="0" nodeType="afterEffect">
                                  <p:stCondLst>
                                    <p:cond delay="0"/>
                                  </p:stCondLst>
                                  <p:childTnLst>
                                    <p:set>
                                      <p:cBhvr>
                                        <p:cTn id="19" dur="1" fill="hold">
                                          <p:stCondLst>
                                            <p:cond delay="0"/>
                                          </p:stCondLst>
                                        </p:cTn>
                                        <p:tgtEl>
                                          <p:spTgt spid="95"/>
                                        </p:tgtEl>
                                        <p:attrNameLst>
                                          <p:attrName>style.visibility</p:attrName>
                                        </p:attrNameLst>
                                      </p:cBhvr>
                                      <p:to>
                                        <p:strVal val="visible"/>
                                      </p:to>
                                    </p:set>
                                    <p:animEffect transition="in" filter="wipe(right)">
                                      <p:cBhvr>
                                        <p:cTn id="20" dur="1000"/>
                                        <p:tgtEl>
                                          <p:spTgt spid="9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93"/>
                                        </p:tgtEl>
                                        <p:attrNameLst>
                                          <p:attrName>style.visibility</p:attrName>
                                        </p:attrNameLst>
                                      </p:cBhvr>
                                      <p:to>
                                        <p:strVal val="visible"/>
                                      </p:to>
                                    </p:set>
                                    <p:animEffect transition="in" filter="wipe(left)">
                                      <p:cBhvr>
                                        <p:cTn id="25" dur="1000"/>
                                        <p:tgtEl>
                                          <p:spTgt spid="93"/>
                                        </p:tgtEl>
                                      </p:cBhvr>
                                    </p:animEffect>
                                  </p:childTnLst>
                                </p:cTn>
                              </p:par>
                            </p:childTnLst>
                          </p:cTn>
                        </p:par>
                        <p:par>
                          <p:cTn id="26" fill="hold">
                            <p:stCondLst>
                              <p:cond delay="1000"/>
                            </p:stCondLst>
                            <p:childTnLst>
                              <p:par>
                                <p:cTn id="27" presetID="22" presetClass="entr" presetSubtype="2" fill="hold" grpId="0" nodeType="afterEffect">
                                  <p:stCondLst>
                                    <p:cond delay="0"/>
                                  </p:stCondLst>
                                  <p:childTnLst>
                                    <p:set>
                                      <p:cBhvr>
                                        <p:cTn id="28" dur="1" fill="hold">
                                          <p:stCondLst>
                                            <p:cond delay="0"/>
                                          </p:stCondLst>
                                        </p:cTn>
                                        <p:tgtEl>
                                          <p:spTgt spid="94"/>
                                        </p:tgtEl>
                                        <p:attrNameLst>
                                          <p:attrName>style.visibility</p:attrName>
                                        </p:attrNameLst>
                                      </p:cBhvr>
                                      <p:to>
                                        <p:strVal val="visible"/>
                                      </p:to>
                                    </p:set>
                                    <p:animEffect transition="in" filter="wipe(right)">
                                      <p:cBhvr>
                                        <p:cTn id="29" dur="1000"/>
                                        <p:tgtEl>
                                          <p:spTgt spid="94"/>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36"/>
                                        </p:tgtEl>
                                        <p:attrNameLst>
                                          <p:attrName>style.visibility</p:attrName>
                                        </p:attrNameLst>
                                      </p:cBhvr>
                                      <p:to>
                                        <p:strVal val="visible"/>
                                      </p:to>
                                    </p:set>
                                    <p:animEffect transition="in" filter="wipe(left)">
                                      <p:cBhvr>
                                        <p:cTn id="34" dur="1000"/>
                                        <p:tgtEl>
                                          <p:spTgt spid="36"/>
                                        </p:tgtEl>
                                      </p:cBhvr>
                                    </p:animEffect>
                                  </p:childTnLst>
                                </p:cTn>
                              </p:par>
                            </p:childTnLst>
                          </p:cTn>
                        </p:par>
                        <p:par>
                          <p:cTn id="35" fill="hold">
                            <p:stCondLst>
                              <p:cond delay="1000"/>
                            </p:stCondLst>
                            <p:childTnLst>
                              <p:par>
                                <p:cTn id="36" presetID="22" presetClass="entr" presetSubtype="2" fill="hold" nodeType="after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wipe(right)">
                                      <p:cBhvr>
                                        <p:cTn id="38" dur="1000"/>
                                        <p:tgtEl>
                                          <p:spTgt spid="37"/>
                                        </p:tgtEl>
                                      </p:cBhvr>
                                    </p:animEffect>
                                  </p:childTnLst>
                                </p:cTn>
                              </p:par>
                            </p:childTnLst>
                          </p:cTn>
                        </p:par>
                        <p:par>
                          <p:cTn id="39" fill="hold">
                            <p:stCondLst>
                              <p:cond delay="2000"/>
                            </p:stCondLst>
                            <p:childTnLst>
                              <p:par>
                                <p:cTn id="40" presetID="22" presetClass="entr" presetSubtype="8" fill="hold" nodeType="afterEffect">
                                  <p:stCondLst>
                                    <p:cond delay="0"/>
                                  </p:stCondLst>
                                  <p:childTnLst>
                                    <p:set>
                                      <p:cBhvr>
                                        <p:cTn id="41" dur="1" fill="hold">
                                          <p:stCondLst>
                                            <p:cond delay="0"/>
                                          </p:stCondLst>
                                        </p:cTn>
                                        <p:tgtEl>
                                          <p:spTgt spid="75"/>
                                        </p:tgtEl>
                                        <p:attrNameLst>
                                          <p:attrName>style.visibility</p:attrName>
                                        </p:attrNameLst>
                                      </p:cBhvr>
                                      <p:to>
                                        <p:strVal val="visible"/>
                                      </p:to>
                                    </p:set>
                                    <p:animEffect transition="in" filter="wipe(left)">
                                      <p:cBhvr>
                                        <p:cTn id="42" dur="1000"/>
                                        <p:tgtEl>
                                          <p:spTgt spid="75"/>
                                        </p:tgtEl>
                                      </p:cBhvr>
                                    </p:animEffect>
                                  </p:childTnLst>
                                </p:cTn>
                              </p:par>
                            </p:childTnLst>
                          </p:cTn>
                        </p:par>
                        <p:par>
                          <p:cTn id="43" fill="hold">
                            <p:stCondLst>
                              <p:cond delay="3000"/>
                            </p:stCondLst>
                            <p:childTnLst>
                              <p:par>
                                <p:cTn id="44" presetID="22" presetClass="entr" presetSubtype="2" fill="hold" nodeType="afterEffect">
                                  <p:stCondLst>
                                    <p:cond delay="0"/>
                                  </p:stCondLst>
                                  <p:childTnLst>
                                    <p:set>
                                      <p:cBhvr>
                                        <p:cTn id="45" dur="1" fill="hold">
                                          <p:stCondLst>
                                            <p:cond delay="0"/>
                                          </p:stCondLst>
                                        </p:cTn>
                                        <p:tgtEl>
                                          <p:spTgt spid="76"/>
                                        </p:tgtEl>
                                        <p:attrNameLst>
                                          <p:attrName>style.visibility</p:attrName>
                                        </p:attrNameLst>
                                      </p:cBhvr>
                                      <p:to>
                                        <p:strVal val="visible"/>
                                      </p:to>
                                    </p:set>
                                    <p:animEffect transition="in" filter="wipe(right)">
                                      <p:cBhvr>
                                        <p:cTn id="46" dur="1000"/>
                                        <p:tgtEl>
                                          <p:spTgt spid="76"/>
                                        </p:tgtEl>
                                      </p:cBhvr>
                                    </p:animEffect>
                                  </p:childTnLst>
                                </p:cTn>
                              </p:par>
                            </p:childTnLst>
                          </p:cTn>
                        </p:par>
                        <p:par>
                          <p:cTn id="47" fill="hold">
                            <p:stCondLst>
                              <p:cond delay="4000"/>
                            </p:stCondLst>
                            <p:childTnLst>
                              <p:par>
                                <p:cTn id="48" presetID="22" presetClass="entr" presetSubtype="8" fill="hold" nodeType="afterEffect">
                                  <p:stCondLst>
                                    <p:cond delay="0"/>
                                  </p:stCondLst>
                                  <p:childTnLst>
                                    <p:set>
                                      <p:cBhvr>
                                        <p:cTn id="49" dur="1" fill="hold">
                                          <p:stCondLst>
                                            <p:cond delay="0"/>
                                          </p:stCondLst>
                                        </p:cTn>
                                        <p:tgtEl>
                                          <p:spTgt spid="77"/>
                                        </p:tgtEl>
                                        <p:attrNameLst>
                                          <p:attrName>style.visibility</p:attrName>
                                        </p:attrNameLst>
                                      </p:cBhvr>
                                      <p:to>
                                        <p:strVal val="visible"/>
                                      </p:to>
                                    </p:set>
                                    <p:animEffect transition="in" filter="wipe(left)">
                                      <p:cBhvr>
                                        <p:cTn id="50" dur="1000"/>
                                        <p:tgtEl>
                                          <p:spTgt spid="77"/>
                                        </p:tgtEl>
                                      </p:cBhvr>
                                    </p:animEffect>
                                  </p:childTnLst>
                                </p:cTn>
                              </p:par>
                            </p:childTnLst>
                          </p:cTn>
                        </p:par>
                        <p:par>
                          <p:cTn id="51" fill="hold">
                            <p:stCondLst>
                              <p:cond delay="5000"/>
                            </p:stCondLst>
                            <p:childTnLst>
                              <p:par>
                                <p:cTn id="52" presetID="22" presetClass="entr" presetSubtype="2" fill="hold" nodeType="afterEffect">
                                  <p:stCondLst>
                                    <p:cond delay="0"/>
                                  </p:stCondLst>
                                  <p:childTnLst>
                                    <p:set>
                                      <p:cBhvr>
                                        <p:cTn id="53" dur="1" fill="hold">
                                          <p:stCondLst>
                                            <p:cond delay="0"/>
                                          </p:stCondLst>
                                        </p:cTn>
                                        <p:tgtEl>
                                          <p:spTgt spid="78"/>
                                        </p:tgtEl>
                                        <p:attrNameLst>
                                          <p:attrName>style.visibility</p:attrName>
                                        </p:attrNameLst>
                                      </p:cBhvr>
                                      <p:to>
                                        <p:strVal val="visible"/>
                                      </p:to>
                                    </p:set>
                                    <p:animEffect transition="in" filter="wipe(right)">
                                      <p:cBhvr>
                                        <p:cTn id="54" dur="1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4" grpId="0" animBg="1"/>
      <p:bldP spid="93" grpId="0" animBg="1"/>
      <p:bldP spid="94" grpId="0" animBg="1"/>
      <p:bldP spid="9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29E787-089F-2913-3E07-64A060A02D64}"/>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3" name="内容占位符 2">
            <a:extLst>
              <a:ext uri="{FF2B5EF4-FFF2-40B4-BE49-F238E27FC236}">
                <a16:creationId xmlns:a16="http://schemas.microsoft.com/office/drawing/2014/main" id="{3C6BC4E0-5B57-1FF9-0812-F08D46D2EEBD}"/>
              </a:ext>
            </a:extLst>
          </p:cNvPr>
          <p:cNvSpPr>
            <a:spLocks noGrp="1"/>
          </p:cNvSpPr>
          <p:nvPr>
            <p:ph sz="quarter" idx="11"/>
          </p:nvPr>
        </p:nvSpPr>
        <p:spPr>
          <a:xfrm>
            <a:off x="486000" y="687518"/>
            <a:ext cx="8172000" cy="4079035"/>
          </a:xfrm>
        </p:spPr>
        <p:txBody>
          <a:bodyPr/>
          <a:lstStyle/>
          <a:p>
            <a:r>
              <a:rPr lang="zh-CN" altLang="en-US" dirty="0"/>
              <a:t>命名方法</a:t>
            </a:r>
            <a:endParaRPr lang="en-US" altLang="zh-CN" dirty="0"/>
          </a:p>
          <a:p>
            <a:pPr lvl="1"/>
            <a:r>
              <a:rPr lang="zh-CN" altLang="en-US" dirty="0"/>
              <a:t>层次树状结构方法</a:t>
            </a:r>
          </a:p>
          <a:p>
            <a:r>
              <a:rPr lang="zh-CN" altLang="en-US" dirty="0"/>
              <a:t>域名 </a:t>
            </a:r>
            <a:r>
              <a:rPr lang="en-US" altLang="zh-CN" dirty="0"/>
              <a:t>domain name</a:t>
            </a:r>
          </a:p>
          <a:p>
            <a:pPr lvl="1"/>
            <a:r>
              <a:rPr lang="zh-CN" altLang="en-US" dirty="0"/>
              <a:t>任何一个连接在互联网上的主机或路由器，都有一个唯一的层次结构的名字</a:t>
            </a:r>
            <a:endParaRPr lang="en-US" altLang="zh-CN" dirty="0"/>
          </a:p>
          <a:p>
            <a:r>
              <a:rPr lang="zh-CN" altLang="en-US" dirty="0"/>
              <a:t>域 </a:t>
            </a:r>
            <a:r>
              <a:rPr lang="en-US" altLang="zh-CN" dirty="0"/>
              <a:t>domain</a:t>
            </a:r>
          </a:p>
          <a:p>
            <a:pPr lvl="1"/>
            <a:r>
              <a:rPr lang="zh-CN" altLang="en-US" dirty="0"/>
              <a:t>名字空间中一个可被管理的划分</a:t>
            </a:r>
            <a:endParaRPr lang="en-US" altLang="zh-CN" dirty="0"/>
          </a:p>
          <a:p>
            <a:pPr lvl="1"/>
            <a:r>
              <a:rPr lang="zh-CN" altLang="en-US" dirty="0"/>
              <a:t>可以划分为子域</a:t>
            </a:r>
            <a:endParaRPr lang="en-US" altLang="zh-CN" dirty="0"/>
          </a:p>
          <a:p>
            <a:pPr lvl="1"/>
            <a:r>
              <a:rPr lang="zh-CN" altLang="en-US" dirty="0"/>
              <a:t>而子域还可继续划分为子域的子域</a:t>
            </a:r>
            <a:endParaRPr lang="en-US" altLang="zh-CN" dirty="0"/>
          </a:p>
          <a:p>
            <a:pPr lvl="1"/>
            <a:r>
              <a:rPr lang="zh-CN" altLang="en-US" dirty="0"/>
              <a:t>这样就形成了顶级域、二级域、三级域，等等</a:t>
            </a:r>
          </a:p>
          <a:p>
            <a:endParaRPr lang="zh-CN" altLang="en-US" dirty="0"/>
          </a:p>
        </p:txBody>
      </p:sp>
    </p:spTree>
    <p:extLst>
      <p:ext uri="{BB962C8B-B14F-4D97-AF65-F5344CB8AC3E}">
        <p14:creationId xmlns:p14="http://schemas.microsoft.com/office/powerpoint/2010/main" val="32354610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FF1437-4137-C584-3960-4B6E03727E27}"/>
              </a:ext>
            </a:extLst>
          </p:cNvPr>
          <p:cNvSpPr>
            <a:spLocks noGrp="1"/>
          </p:cNvSpPr>
          <p:nvPr>
            <p:ph type="title"/>
          </p:nvPr>
        </p:nvSpPr>
        <p:spPr>
          <a:xfrm>
            <a:off x="485999" y="174482"/>
            <a:ext cx="8171999" cy="338554"/>
          </a:xfrm>
        </p:spPr>
        <p:txBody>
          <a:bodyPr/>
          <a:lstStyle/>
          <a:p>
            <a:r>
              <a:rPr lang="en-US" altLang="zh-CN" dirty="0"/>
              <a:t>6.1.2   </a:t>
            </a:r>
            <a:r>
              <a:rPr lang="zh-CN" altLang="en-US" dirty="0"/>
              <a:t>互联网的域名结构</a:t>
            </a:r>
          </a:p>
        </p:txBody>
      </p:sp>
      <p:sp>
        <p:nvSpPr>
          <p:cNvPr id="26" name="内容占位符 25">
            <a:extLst>
              <a:ext uri="{FF2B5EF4-FFF2-40B4-BE49-F238E27FC236}">
                <a16:creationId xmlns:a16="http://schemas.microsoft.com/office/drawing/2014/main" id="{30574258-EEA2-A109-E08B-AB07E8FD26A0}"/>
              </a:ext>
            </a:extLst>
          </p:cNvPr>
          <p:cNvSpPr>
            <a:spLocks noGrp="1"/>
          </p:cNvSpPr>
          <p:nvPr>
            <p:ph sz="quarter" idx="11"/>
          </p:nvPr>
        </p:nvSpPr>
        <p:spPr>
          <a:xfrm>
            <a:off x="486000" y="687518"/>
            <a:ext cx="8172000" cy="4079035"/>
          </a:xfrm>
        </p:spPr>
        <p:txBody>
          <a:bodyPr/>
          <a:lstStyle/>
          <a:p>
            <a:r>
              <a:rPr lang="zh-CN" altLang="en-US" dirty="0"/>
              <a:t>域名结构</a:t>
            </a:r>
            <a:endParaRPr lang="en-US" altLang="zh-CN" dirty="0"/>
          </a:p>
          <a:p>
            <a:pPr lvl="1"/>
            <a:r>
              <a:rPr lang="zh-CN" altLang="en-US" dirty="0"/>
              <a:t>层次结构</a:t>
            </a:r>
            <a:endParaRPr lang="en-US" altLang="zh-CN" dirty="0"/>
          </a:p>
          <a:p>
            <a:pPr lvl="1"/>
            <a:r>
              <a:rPr lang="zh-CN" altLang="en-US" dirty="0"/>
              <a:t>由标号 </a:t>
            </a:r>
            <a:r>
              <a:rPr lang="en-US" altLang="zh-CN" dirty="0"/>
              <a:t>(label) </a:t>
            </a:r>
            <a:r>
              <a:rPr lang="zh-CN" altLang="en-US" dirty="0"/>
              <a:t>序列组成，各标号之间用点（</a:t>
            </a:r>
            <a:r>
              <a:rPr lang="en-US" altLang="zh-CN" dirty="0"/>
              <a:t>.</a:t>
            </a:r>
            <a:r>
              <a:rPr lang="zh-CN" altLang="en-US" dirty="0"/>
              <a:t>）隔开，各标号分别代表不同级别的域名</a:t>
            </a:r>
          </a:p>
          <a:p>
            <a:endParaRPr lang="zh-CN" altLang="en-US" dirty="0"/>
          </a:p>
        </p:txBody>
      </p:sp>
      <p:sp>
        <p:nvSpPr>
          <p:cNvPr id="17" name="矩形 16"/>
          <p:cNvSpPr/>
          <p:nvPr/>
        </p:nvSpPr>
        <p:spPr>
          <a:xfrm>
            <a:off x="2902003" y="2848210"/>
            <a:ext cx="2134148" cy="40011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 Box 7"/>
          <p:cNvSpPr txBox="1">
            <a:spLocks noChangeArrowheads="1"/>
          </p:cNvSpPr>
          <p:nvPr/>
        </p:nvSpPr>
        <p:spPr bwMode="auto">
          <a:xfrm>
            <a:off x="3021625" y="2848210"/>
            <a:ext cx="145745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C00000"/>
                </a:solidFill>
                <a:latin typeface="Montserrat" panose="00000500000000000000" pitchFamily="2" charset="0"/>
                <a:ea typeface="微软雅黑 Light" panose="020B0502040204020203" pitchFamily="34" charset="-122"/>
              </a:rPr>
              <a:t>mail.cctv.com </a:t>
            </a:r>
          </a:p>
        </p:txBody>
      </p:sp>
      <p:grpSp>
        <p:nvGrpSpPr>
          <p:cNvPr id="14" name="组合 13"/>
          <p:cNvGrpSpPr/>
          <p:nvPr/>
        </p:nvGrpSpPr>
        <p:grpSpPr>
          <a:xfrm>
            <a:off x="2242227" y="3156184"/>
            <a:ext cx="3500739" cy="883403"/>
            <a:chOff x="2014957" y="2987504"/>
            <a:chExt cx="3500739" cy="883403"/>
          </a:xfrm>
        </p:grpSpPr>
        <p:sp>
          <p:nvSpPr>
            <p:cNvPr id="7" name="Text Box 8"/>
            <p:cNvSpPr txBox="1">
              <a:spLocks noChangeArrowheads="1"/>
            </p:cNvSpPr>
            <p:nvPr/>
          </p:nvSpPr>
          <p:spPr bwMode="auto">
            <a:xfrm>
              <a:off x="2123250" y="3274842"/>
              <a:ext cx="259878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dirty="0">
                  <a:latin typeface="Montserrat" panose="00000500000000000000" pitchFamily="2" charset="0"/>
                  <a:ea typeface="微软雅黑 Light" panose="020B0502040204020203" pitchFamily="34" charset="-122"/>
                </a:rPr>
                <a:t>三级域名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二级域名 </a:t>
              </a:r>
              <a:r>
                <a:rPr lang="en-US" altLang="zh-CN" sz="1400" dirty="0">
                  <a:latin typeface="Montserrat" panose="00000500000000000000" pitchFamily="2" charset="0"/>
                  <a:ea typeface="微软雅黑 Light" panose="020B0502040204020203" pitchFamily="34" charset="-122"/>
                </a:rPr>
                <a:t>. </a:t>
              </a:r>
              <a:r>
                <a:rPr lang="zh-CN" altLang="en-US" sz="1400" dirty="0">
                  <a:latin typeface="Montserrat" panose="00000500000000000000" pitchFamily="2" charset="0"/>
                  <a:ea typeface="微软雅黑 Light" panose="020B0502040204020203" pitchFamily="34" charset="-122"/>
                </a:rPr>
                <a:t>顶级域名</a:t>
              </a:r>
            </a:p>
          </p:txBody>
        </p:sp>
        <p:sp>
          <p:nvSpPr>
            <p:cNvPr id="8" name="Line 9"/>
            <p:cNvSpPr>
              <a:spLocks noChangeShapeType="1"/>
            </p:cNvSpPr>
            <p:nvPr/>
          </p:nvSpPr>
          <p:spPr bwMode="auto">
            <a:xfrm flipV="1">
              <a:off x="3784308" y="2987504"/>
              <a:ext cx="0"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9" name="Line 10"/>
            <p:cNvSpPr>
              <a:spLocks noChangeShapeType="1"/>
            </p:cNvSpPr>
            <p:nvPr/>
          </p:nvSpPr>
          <p:spPr bwMode="auto">
            <a:xfrm flipV="1">
              <a:off x="2674733" y="3013694"/>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10" name="Line 11"/>
            <p:cNvSpPr>
              <a:spLocks noChangeShapeType="1"/>
            </p:cNvSpPr>
            <p:nvPr/>
          </p:nvSpPr>
          <p:spPr bwMode="auto">
            <a:xfrm flipH="1" flipV="1">
              <a:off x="4276776" y="3013698"/>
              <a:ext cx="504825" cy="287338"/>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Montserrat" panose="00000500000000000000" pitchFamily="2" charset="0"/>
                <a:ea typeface="微软雅黑 Light" panose="020B0502040204020203" pitchFamily="34" charset="-122"/>
              </a:endParaRPr>
            </a:p>
          </p:txBody>
        </p:sp>
        <p:sp>
          <p:nvSpPr>
            <p:cNvPr id="3" name="矩形 2"/>
            <p:cNvSpPr/>
            <p:nvPr/>
          </p:nvSpPr>
          <p:spPr>
            <a:xfrm>
              <a:off x="2014957" y="3563130"/>
              <a:ext cx="1261884" cy="307777"/>
            </a:xfrm>
            <a:prstGeom prst="rect">
              <a:avLst/>
            </a:prstGeom>
          </p:spPr>
          <p:txBody>
            <a:bodyPr wrap="none">
              <a:spAutoFit/>
            </a:bodyPr>
            <a:lstStyle/>
            <a:p>
              <a:r>
                <a:rPr lang="zh-CN" altLang="en-US" sz="1400" dirty="0">
                  <a:solidFill>
                    <a:srgbClr val="0000FF"/>
                  </a:solidFill>
                  <a:latin typeface="Montserrat" panose="00000500000000000000" pitchFamily="2" charset="0"/>
                  <a:ea typeface="微软雅黑 Light" panose="020B0502040204020203" pitchFamily="34" charset="-122"/>
                </a:rPr>
                <a:t>（级别最低）</a:t>
              </a:r>
            </a:p>
          </p:txBody>
        </p:sp>
        <p:sp>
          <p:nvSpPr>
            <p:cNvPr id="12" name="矩形 11"/>
            <p:cNvSpPr/>
            <p:nvPr/>
          </p:nvSpPr>
          <p:spPr>
            <a:xfrm>
              <a:off x="4253812" y="3563130"/>
              <a:ext cx="1261884" cy="307777"/>
            </a:xfrm>
            <a:prstGeom prst="rect">
              <a:avLst/>
            </a:prstGeom>
          </p:spPr>
          <p:txBody>
            <a:bodyPr wrap="none">
              <a:spAutoFit/>
            </a:bodyPr>
            <a:lstStyle/>
            <a:p>
              <a:r>
                <a:rPr lang="zh-CN" altLang="en-US" sz="1400" dirty="0">
                  <a:solidFill>
                    <a:srgbClr val="9900FF"/>
                  </a:solidFill>
                  <a:latin typeface="Montserrat" panose="00000500000000000000" pitchFamily="2" charset="0"/>
                  <a:ea typeface="微软雅黑 Light" panose="020B0502040204020203" pitchFamily="34" charset="-122"/>
                </a:rPr>
                <a:t>（级别最高）</a:t>
              </a:r>
            </a:p>
          </p:txBody>
        </p:sp>
      </p:grpSp>
      <p:grpSp>
        <p:nvGrpSpPr>
          <p:cNvPr id="18" name="组合 17"/>
          <p:cNvGrpSpPr/>
          <p:nvPr/>
        </p:nvGrpSpPr>
        <p:grpSpPr>
          <a:xfrm>
            <a:off x="1316609" y="2062198"/>
            <a:ext cx="2664777" cy="916986"/>
            <a:chOff x="3660125" y="2092751"/>
            <a:chExt cx="2664777" cy="1090208"/>
          </a:xfrm>
        </p:grpSpPr>
        <p:sp>
          <p:nvSpPr>
            <p:cNvPr id="4" name="矩形 3"/>
            <p:cNvSpPr/>
            <p:nvPr/>
          </p:nvSpPr>
          <p:spPr>
            <a:xfrm>
              <a:off x="3660125" y="2092751"/>
              <a:ext cx="2459328"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每一个标号不超过 </a:t>
              </a:r>
              <a:r>
                <a:rPr lang="en-US" altLang="zh-CN" sz="1400" dirty="0">
                  <a:latin typeface="Montserrat" panose="00000500000000000000" pitchFamily="2" charset="0"/>
                  <a:ea typeface="微软雅黑 Light" panose="020B0502040204020203" pitchFamily="34" charset="-122"/>
                </a:rPr>
                <a:t>63 </a:t>
              </a:r>
              <a:r>
                <a:rPr lang="zh-CN" altLang="en-US" sz="1400" dirty="0">
                  <a:latin typeface="Montserrat" panose="00000500000000000000" pitchFamily="2" charset="0"/>
                  <a:ea typeface="微软雅黑 Light" panose="020B0502040204020203" pitchFamily="34" charset="-122"/>
                </a:rPr>
                <a:t>个字符</a:t>
              </a:r>
            </a:p>
          </p:txBody>
        </p:sp>
        <p:sp>
          <p:nvSpPr>
            <p:cNvPr id="20" name="Line 11"/>
            <p:cNvSpPr>
              <a:spLocks noChangeShapeType="1"/>
            </p:cNvSpPr>
            <p:nvPr/>
          </p:nvSpPr>
          <p:spPr bwMode="auto">
            <a:xfrm>
              <a:off x="6104848" y="2502619"/>
              <a:ext cx="220054" cy="68034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19" name="组合 18"/>
          <p:cNvGrpSpPr/>
          <p:nvPr/>
        </p:nvGrpSpPr>
        <p:grpSpPr>
          <a:xfrm>
            <a:off x="1751022" y="2400264"/>
            <a:ext cx="1655805" cy="556780"/>
            <a:chOff x="4242919" y="2380321"/>
            <a:chExt cx="1655805" cy="661958"/>
          </a:xfrm>
        </p:grpSpPr>
        <p:sp>
          <p:nvSpPr>
            <p:cNvPr id="5" name="矩形 4"/>
            <p:cNvSpPr/>
            <p:nvPr/>
          </p:nvSpPr>
          <p:spPr>
            <a:xfrm>
              <a:off x="4242919" y="2380321"/>
              <a:ext cx="1620957" cy="36591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不区分大小写字母</a:t>
              </a:r>
            </a:p>
          </p:txBody>
        </p:sp>
        <p:sp>
          <p:nvSpPr>
            <p:cNvPr id="21" name="Line 11"/>
            <p:cNvSpPr>
              <a:spLocks noChangeShapeType="1"/>
            </p:cNvSpPr>
            <p:nvPr/>
          </p:nvSpPr>
          <p:spPr bwMode="auto">
            <a:xfrm>
              <a:off x="5797824" y="2718876"/>
              <a:ext cx="100900" cy="323403"/>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grpSp>
        <p:nvGrpSpPr>
          <p:cNvPr id="22" name="组合 21"/>
          <p:cNvGrpSpPr/>
          <p:nvPr/>
        </p:nvGrpSpPr>
        <p:grpSpPr>
          <a:xfrm>
            <a:off x="4912310" y="2212153"/>
            <a:ext cx="2730237" cy="630485"/>
            <a:chOff x="4928337" y="2765085"/>
            <a:chExt cx="2730237" cy="630485"/>
          </a:xfrm>
        </p:grpSpPr>
        <p:sp>
          <p:nvSpPr>
            <p:cNvPr id="11" name="矩形 10"/>
            <p:cNvSpPr/>
            <p:nvPr/>
          </p:nvSpPr>
          <p:spPr>
            <a:xfrm>
              <a:off x="4928339" y="2765085"/>
              <a:ext cx="2730235" cy="307777"/>
            </a:xfrm>
            <a:prstGeom prst="rect">
              <a:avLst/>
            </a:prstGeom>
          </p:spPr>
          <p:txBody>
            <a:bodyPr wrap="none">
              <a:spAutoFit/>
            </a:bodyPr>
            <a:lstStyle/>
            <a:p>
              <a:r>
                <a:rPr lang="zh-CN" altLang="en-US" sz="1400" dirty="0">
                  <a:latin typeface="Montserrat" panose="00000500000000000000" pitchFamily="2" charset="0"/>
                  <a:ea typeface="微软雅黑 Light" panose="020B0502040204020203" pitchFamily="34" charset="-122"/>
                </a:rPr>
                <a:t>完整域名总共不超过 </a:t>
              </a:r>
              <a:r>
                <a:rPr lang="en-US" altLang="zh-CN" sz="1400" dirty="0">
                  <a:latin typeface="Montserrat" panose="00000500000000000000" pitchFamily="2" charset="0"/>
                  <a:ea typeface="微软雅黑 Light" panose="020B0502040204020203" pitchFamily="34" charset="-122"/>
                </a:rPr>
                <a:t>255 </a:t>
              </a:r>
              <a:r>
                <a:rPr lang="zh-CN" altLang="en-US" sz="1400" dirty="0">
                  <a:latin typeface="Montserrat" panose="00000500000000000000" pitchFamily="2" charset="0"/>
                  <a:ea typeface="微软雅黑 Light" panose="020B0502040204020203" pitchFamily="34" charset="-122"/>
                </a:rPr>
                <a:t>个字符</a:t>
              </a:r>
            </a:p>
          </p:txBody>
        </p:sp>
        <p:sp>
          <p:nvSpPr>
            <p:cNvPr id="23" name="Line 11"/>
            <p:cNvSpPr>
              <a:spLocks noChangeShapeType="1"/>
            </p:cNvSpPr>
            <p:nvPr/>
          </p:nvSpPr>
          <p:spPr bwMode="auto">
            <a:xfrm flipH="1">
              <a:off x="4928337" y="3047553"/>
              <a:ext cx="197159" cy="348017"/>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grpSp>
      <p:sp>
        <p:nvSpPr>
          <p:cNvPr id="24" name="矩形 23"/>
          <p:cNvSpPr/>
          <p:nvPr/>
        </p:nvSpPr>
        <p:spPr>
          <a:xfrm>
            <a:off x="6136955" y="2716147"/>
            <a:ext cx="2050884" cy="1015663"/>
          </a:xfrm>
          <a:prstGeom prst="rect">
            <a:avLst/>
          </a:prstGeom>
          <a:solidFill>
            <a:schemeClr val="bg1"/>
          </a:solidFill>
        </p:spPr>
        <p:txBody>
          <a:bodyPr wrap="square">
            <a:spAutoFit/>
          </a:bodyPr>
          <a:lstStyle/>
          <a:p>
            <a:pPr>
              <a:lnSpc>
                <a:spcPts val="2400"/>
              </a:lnSpc>
            </a:pPr>
            <a:r>
              <a:rPr lang="zh-CN" altLang="en-US" sz="1400" dirty="0">
                <a:solidFill>
                  <a:srgbClr val="C00000"/>
                </a:solidFill>
                <a:latin typeface="Montserrat" panose="00000500000000000000" pitchFamily="2" charset="0"/>
                <a:ea typeface="微软雅黑 Light" panose="020B0502040204020203" pitchFamily="34" charset="-122"/>
              </a:rPr>
              <a:t>注意：</a:t>
            </a:r>
            <a:r>
              <a:rPr lang="zh-CN" altLang="en-US" sz="1400" dirty="0">
                <a:latin typeface="Montserrat" panose="00000500000000000000" pitchFamily="2" charset="0"/>
                <a:ea typeface="微软雅黑 Light" panose="020B0502040204020203" pitchFamily="34" charset="-122"/>
              </a:rPr>
              <a:t>域名只是个逻辑概念，并不代表计算机所在的物理地点。</a:t>
            </a:r>
          </a:p>
        </p:txBody>
      </p:sp>
    </p:spTree>
    <p:extLst>
      <p:ext uri="{BB962C8B-B14F-4D97-AF65-F5344CB8AC3E}">
        <p14:creationId xmlns:p14="http://schemas.microsoft.com/office/powerpoint/2010/main" val="10733735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animEffect transition="in" filter="wipe(down)">
                                      <p:cBhvr>
                                        <p:cTn id="7" dur="1000"/>
                                        <p:tgtEl>
                                          <p:spTgt spid="1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wipe(up)">
                                      <p:cBhvr>
                                        <p:cTn id="12" dur="1000"/>
                                        <p:tgtEl>
                                          <p:spTgt spid="18"/>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wipe(up)">
                                      <p:cBhvr>
                                        <p:cTn id="16" dur="1000"/>
                                        <p:tgtEl>
                                          <p:spTgt spid="19"/>
                                        </p:tgtEl>
                                      </p:cBhvr>
                                    </p:animEffec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par>
                          <p:cTn id="21" fill="hold">
                            <p:stCondLst>
                              <p:cond delay="0"/>
                            </p:stCondLst>
                            <p:childTnLst>
                              <p:par>
                                <p:cTn id="22" presetID="35" presetClass="emph" presetSubtype="0" repeatCount="3000" fill="hold" grpId="1" nodeType="afterEffect">
                                  <p:stCondLst>
                                    <p:cond delay="0"/>
                                  </p:stCondLst>
                                  <p:childTnLst>
                                    <p:anim calcmode="discrete" valueType="str">
                                      <p:cBhvr>
                                        <p:cTn id="23" dur="1000" fill="hold"/>
                                        <p:tgtEl>
                                          <p:spTgt spid="17"/>
                                        </p:tgtEl>
                                        <p:attrNameLst>
                                          <p:attrName>style.visibility</p:attrName>
                                        </p:attrNameLst>
                                      </p:cBhvr>
                                      <p:tavLst>
                                        <p:tav tm="0">
                                          <p:val>
                                            <p:strVal val="hidden"/>
                                          </p:val>
                                        </p:tav>
                                        <p:tav tm="50000">
                                          <p:val>
                                            <p:strVal val="visible"/>
                                          </p:val>
                                        </p:tav>
                                      </p:tavLst>
                                    </p:anim>
                                  </p:childTnLst>
                                </p:cTn>
                              </p:par>
                              <p:par>
                                <p:cTn id="24" presetID="22" presetClass="entr" presetSubtype="1" fill="hold" nodeType="withEffect">
                                  <p:stCondLst>
                                    <p:cond delay="0"/>
                                  </p:stCondLst>
                                  <p:childTnLst>
                                    <p:set>
                                      <p:cBhvr>
                                        <p:cTn id="25" dur="1" fill="hold">
                                          <p:stCondLst>
                                            <p:cond delay="0"/>
                                          </p:stCondLst>
                                        </p:cTn>
                                        <p:tgtEl>
                                          <p:spTgt spid="22"/>
                                        </p:tgtEl>
                                        <p:attrNameLst>
                                          <p:attrName>style.visibility</p:attrName>
                                        </p:attrNameLst>
                                      </p:cBhvr>
                                      <p:to>
                                        <p:strVal val="visible"/>
                                      </p:to>
                                    </p:set>
                                    <p:animEffect transition="in" filter="wipe(up)">
                                      <p:cBhvr>
                                        <p:cTn id="26" dur="1000"/>
                                        <p:tgtEl>
                                          <p:spTgt spid="2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P spid="17" grpId="1" animBg="1"/>
      <p:bldP spid="24"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597"/>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309096" y="577386"/>
            <a:ext cx="454451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全球顶级域名 </a:t>
            </a:r>
            <a:r>
              <a:rPr lang="en-US" altLang="zh-CN" sz="2000" b="1" dirty="0">
                <a:solidFill>
                  <a:schemeClr val="bg1"/>
                </a:solidFill>
                <a:latin typeface="微软雅黑 Light" panose="020B0502040204020203" pitchFamily="34" charset="-122"/>
                <a:ea typeface="微软雅黑 Light" panose="020B0502040204020203" pitchFamily="34" charset="-122"/>
              </a:rPr>
              <a:t>TLD (Top Level Domain)</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任意多边形 3"/>
          <p:cNvSpPr/>
          <p:nvPr/>
        </p:nvSpPr>
        <p:spPr>
          <a:xfrm>
            <a:off x="1064087"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国家顶级域名 </a:t>
            </a:r>
            <a:r>
              <a:rPr lang="en-US" altLang="en-US" sz="1400" kern="1200" dirty="0" err="1">
                <a:latin typeface="Montserrat" panose="00000500000000000000" pitchFamily="2" charset="0"/>
                <a:ea typeface="微软雅黑 Light" panose="020B0502040204020203" pitchFamily="34" charset="-122"/>
              </a:rPr>
              <a:t>nTLD</a:t>
            </a:r>
            <a:endParaRPr lang="zh-CN" altLang="en-US" sz="1400" kern="1200" dirty="0">
              <a:latin typeface="Montserrat" panose="00000500000000000000" pitchFamily="2" charset="0"/>
              <a:ea typeface="微软雅黑 Light" panose="020B0502040204020203" pitchFamily="34" charset="-122"/>
            </a:endParaRPr>
          </a:p>
        </p:txBody>
      </p:sp>
      <p:sp>
        <p:nvSpPr>
          <p:cNvPr id="5" name="任意多边形 4"/>
          <p:cNvSpPr/>
          <p:nvPr/>
        </p:nvSpPr>
        <p:spPr>
          <a:xfrm>
            <a:off x="1233644" y="1827430"/>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0"/>
              <a:satOff val="0"/>
              <a:lumOff val="0"/>
              <a:alphaOff val="0"/>
            </a:schemeClr>
          </a:fillRef>
          <a:effectRef idx="1">
            <a:schemeClr val="accent5">
              <a:hueOff val="0"/>
              <a:satOff val="0"/>
              <a:lumOff val="0"/>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采用 </a:t>
            </a:r>
            <a:r>
              <a:rPr lang="en-US" altLang="en-US" sz="1400" kern="1200" dirty="0">
                <a:latin typeface="Montserrat" panose="00000500000000000000" pitchFamily="2" charset="0"/>
                <a:ea typeface="微软雅黑 Light" panose="020B0502040204020203" pitchFamily="34" charset="-122"/>
              </a:rPr>
              <a:t>ISO 3166</a:t>
            </a:r>
            <a:r>
              <a:rPr lang="zh-CN" altLang="en-US" sz="1400" kern="1200" dirty="0">
                <a:latin typeface="Montserrat" panose="00000500000000000000" pitchFamily="2" charset="0"/>
                <a:ea typeface="微软雅黑 Light" panose="020B0502040204020203" pitchFamily="34" charset="-122"/>
              </a:rPr>
              <a:t>的规定</a:t>
            </a:r>
          </a:p>
        </p:txBody>
      </p:sp>
      <p:sp>
        <p:nvSpPr>
          <p:cNvPr id="8" name="任意多边形 7"/>
          <p:cNvSpPr/>
          <p:nvPr/>
        </p:nvSpPr>
        <p:spPr>
          <a:xfrm>
            <a:off x="1233644" y="2524347"/>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1241735"/>
              <a:satOff val="4976"/>
              <a:lumOff val="1078"/>
              <a:alphaOff val="0"/>
            </a:schemeClr>
          </a:fillRef>
          <a:effectRef idx="1">
            <a:schemeClr val="accent5">
              <a:hueOff val="-1241735"/>
              <a:satOff val="4976"/>
              <a:lumOff val="1078"/>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又常记为 </a:t>
            </a:r>
            <a:r>
              <a:rPr lang="en-US" altLang="en-US" sz="1400" kern="1200" dirty="0" err="1">
                <a:latin typeface="Montserrat" panose="00000500000000000000" pitchFamily="2" charset="0"/>
                <a:ea typeface="微软雅黑 Light" panose="020B0502040204020203" pitchFamily="34" charset="-122"/>
              </a:rPr>
              <a:t>ccTLD</a:t>
            </a:r>
            <a:endParaRPr lang="zh-CN" altLang="en-US" sz="1400" kern="1200" dirty="0">
              <a:latin typeface="Montserrat" panose="00000500000000000000" pitchFamily="2" charset="0"/>
              <a:ea typeface="微软雅黑 Light" panose="020B0502040204020203" pitchFamily="34" charset="-122"/>
            </a:endParaRPr>
          </a:p>
        </p:txBody>
      </p:sp>
      <p:sp>
        <p:nvSpPr>
          <p:cNvPr id="9" name="任意多边形 8"/>
          <p:cNvSpPr/>
          <p:nvPr/>
        </p:nvSpPr>
        <p:spPr>
          <a:xfrm>
            <a:off x="1233644" y="3221264"/>
            <a:ext cx="1356456" cy="603994"/>
          </a:xfrm>
          <a:custGeom>
            <a:avLst/>
            <a:gdLst>
              <a:gd name="connsiteX0" fmla="*/ 0 w 1356456"/>
              <a:gd name="connsiteY0" fmla="*/ 65430 h 654304"/>
              <a:gd name="connsiteX1" fmla="*/ 65430 w 1356456"/>
              <a:gd name="connsiteY1" fmla="*/ 0 h 654304"/>
              <a:gd name="connsiteX2" fmla="*/ 1291026 w 1356456"/>
              <a:gd name="connsiteY2" fmla="*/ 0 h 654304"/>
              <a:gd name="connsiteX3" fmla="*/ 1356456 w 1356456"/>
              <a:gd name="connsiteY3" fmla="*/ 65430 h 654304"/>
              <a:gd name="connsiteX4" fmla="*/ 1356456 w 1356456"/>
              <a:gd name="connsiteY4" fmla="*/ 588874 h 654304"/>
              <a:gd name="connsiteX5" fmla="*/ 1291026 w 1356456"/>
              <a:gd name="connsiteY5" fmla="*/ 654304 h 654304"/>
              <a:gd name="connsiteX6" fmla="*/ 65430 w 1356456"/>
              <a:gd name="connsiteY6" fmla="*/ 654304 h 654304"/>
              <a:gd name="connsiteX7" fmla="*/ 0 w 1356456"/>
              <a:gd name="connsiteY7" fmla="*/ 588874 h 654304"/>
              <a:gd name="connsiteX8" fmla="*/ 0 w 1356456"/>
              <a:gd name="connsiteY8" fmla="*/ 65430 h 65430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654304">
                <a:moveTo>
                  <a:pt x="0" y="65430"/>
                </a:moveTo>
                <a:cubicBezTo>
                  <a:pt x="0" y="29294"/>
                  <a:pt x="29294" y="0"/>
                  <a:pt x="65430" y="0"/>
                </a:cubicBezTo>
                <a:lnTo>
                  <a:pt x="1291026" y="0"/>
                </a:lnTo>
                <a:cubicBezTo>
                  <a:pt x="1327162" y="0"/>
                  <a:pt x="1356456" y="29294"/>
                  <a:pt x="1356456" y="65430"/>
                </a:cubicBezTo>
                <a:lnTo>
                  <a:pt x="1356456" y="588874"/>
                </a:lnTo>
                <a:cubicBezTo>
                  <a:pt x="1356456" y="625010"/>
                  <a:pt x="1327162" y="654304"/>
                  <a:pt x="1291026" y="654304"/>
                </a:cubicBezTo>
                <a:lnTo>
                  <a:pt x="65430" y="654304"/>
                </a:lnTo>
                <a:cubicBezTo>
                  <a:pt x="29294" y="654304"/>
                  <a:pt x="0" y="625010"/>
                  <a:pt x="0" y="588874"/>
                </a:cubicBezTo>
                <a:lnTo>
                  <a:pt x="0" y="65430"/>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2483469"/>
              <a:satOff val="9953"/>
              <a:lumOff val="2157"/>
              <a:alphaOff val="0"/>
            </a:schemeClr>
          </a:fillRef>
          <a:effectRef idx="1">
            <a:schemeClr val="accent5">
              <a:hueOff val="-2483469"/>
              <a:satOff val="9953"/>
              <a:lumOff val="2157"/>
              <a:alphaOff val="0"/>
            </a:schemeClr>
          </a:effectRef>
          <a:fontRef idx="minor">
            <a:schemeClr val="dk1"/>
          </a:fontRef>
        </p:style>
        <p:txBody>
          <a:bodyPr spcFirstLastPara="0" vert="horz" wrap="square" lIns="54724" tIns="45834" rIns="54724" bIns="45834" numCol="1" spcCol="1270" anchor="ctr" anchorCtr="0">
            <a:noAutofit/>
          </a:bodyPr>
          <a:lstStyle/>
          <a:p>
            <a:pPr lvl="0" algn="ctr" defTabSz="622300">
              <a:spcBef>
                <a:spcPct val="0"/>
              </a:spcBef>
              <a:spcAft>
                <a:spcPts val="0"/>
              </a:spcAft>
            </a:pPr>
            <a:r>
              <a:rPr lang="zh-CN" altLang="en-US" sz="1200" kern="1200" dirty="0">
                <a:latin typeface="Montserrat" panose="00000500000000000000" pitchFamily="2" charset="0"/>
                <a:ea typeface="微软雅黑 Light" panose="020B0502040204020203" pitchFamily="34" charset="-122"/>
              </a:rPr>
              <a:t>总数已达 </a:t>
            </a:r>
            <a:r>
              <a:rPr lang="en-US" altLang="en-US" sz="1200" kern="1200" dirty="0">
                <a:latin typeface="Montserrat" panose="00000500000000000000" pitchFamily="2" charset="0"/>
                <a:ea typeface="微软雅黑 Light" panose="020B0502040204020203" pitchFamily="34" charset="-122"/>
              </a:rPr>
              <a:t>316 </a:t>
            </a:r>
            <a:r>
              <a:rPr lang="zh-CN" altLang="en-US" sz="1200" kern="1200" dirty="0">
                <a:latin typeface="Montserrat" panose="00000500000000000000" pitchFamily="2" charset="0"/>
                <a:ea typeface="微软雅黑 Light" panose="020B0502040204020203" pitchFamily="34" charset="-122"/>
              </a:rPr>
              <a:t>个</a:t>
            </a:r>
          </a:p>
        </p:txBody>
      </p:sp>
      <p:sp>
        <p:nvSpPr>
          <p:cNvPr id="10" name="任意多边形 9"/>
          <p:cNvSpPr/>
          <p:nvPr/>
        </p:nvSpPr>
        <p:spPr>
          <a:xfrm>
            <a:off x="2886825"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通用顶级域名 </a:t>
            </a:r>
            <a:r>
              <a:rPr lang="en-US" altLang="en-US" sz="1400" kern="1200" dirty="0" err="1">
                <a:latin typeface="Montserrat" panose="00000500000000000000" pitchFamily="2" charset="0"/>
                <a:ea typeface="微软雅黑 Light" panose="020B0502040204020203" pitchFamily="34" charset="-122"/>
              </a:rPr>
              <a:t>gTLD</a:t>
            </a:r>
            <a:endParaRPr lang="zh-CN" altLang="en-US" sz="1400" kern="1200" dirty="0">
              <a:latin typeface="Montserrat" panose="00000500000000000000" pitchFamily="2" charset="0"/>
              <a:ea typeface="微软雅黑 Light" panose="020B0502040204020203" pitchFamily="34" charset="-122"/>
            </a:endParaRPr>
          </a:p>
        </p:txBody>
      </p:sp>
      <p:sp>
        <p:nvSpPr>
          <p:cNvPr id="11" name="任意多边形 10"/>
          <p:cNvSpPr/>
          <p:nvPr/>
        </p:nvSpPr>
        <p:spPr>
          <a:xfrm>
            <a:off x="3056382"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3725204"/>
              <a:satOff val="14929"/>
              <a:lumOff val="3235"/>
              <a:alphaOff val="0"/>
            </a:schemeClr>
          </a:fillRef>
          <a:effectRef idx="1">
            <a:schemeClr val="accent5">
              <a:hueOff val="-3725204"/>
              <a:satOff val="14929"/>
              <a:lumOff val="3235"/>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en-US" altLang="en-US" sz="1400" kern="1200" dirty="0">
                <a:latin typeface="Montserrat" panose="00000500000000000000" pitchFamily="2" charset="0"/>
                <a:ea typeface="微软雅黑 Light" panose="020B0502040204020203" pitchFamily="34" charset="-122"/>
              </a:rPr>
              <a:t>com</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net</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a:latin typeface="Montserrat" panose="00000500000000000000" pitchFamily="2" charset="0"/>
                <a:ea typeface="微软雅黑 Light" panose="020B0502040204020203" pitchFamily="34" charset="-122"/>
              </a:rPr>
              <a:t>org</a:t>
            </a:r>
            <a:r>
              <a:rPr lang="zh-CN" altLang="en-US" sz="1400" kern="1200" dirty="0">
                <a:latin typeface="Montserrat" panose="00000500000000000000" pitchFamily="2" charset="0"/>
                <a:ea typeface="微软雅黑 Light" panose="020B0502040204020203" pitchFamily="34" charset="-122"/>
              </a:rPr>
              <a:t>，</a:t>
            </a:r>
            <a:r>
              <a:rPr lang="en-US" altLang="en-US" sz="1400" kern="1200" dirty="0" err="1">
                <a:latin typeface="Montserrat" panose="00000500000000000000" pitchFamily="2" charset="0"/>
                <a:ea typeface="微软雅黑 Light" panose="020B0502040204020203" pitchFamily="34" charset="-122"/>
              </a:rPr>
              <a:t>edu</a:t>
            </a:r>
            <a:r>
              <a:rPr lang="zh-CN" altLang="en-US" sz="1400" kern="1200" dirty="0">
                <a:latin typeface="Montserrat" panose="00000500000000000000" pitchFamily="2" charset="0"/>
                <a:ea typeface="微软雅黑 Light" panose="020B0502040204020203" pitchFamily="34" charset="-122"/>
              </a:rPr>
              <a:t>，</a:t>
            </a:r>
            <a:r>
              <a:rPr lang="en-US" altLang="zh-CN" sz="1400" kern="1200" dirty="0" err="1">
                <a:latin typeface="Montserrat" panose="00000500000000000000" pitchFamily="2" charset="0"/>
                <a:ea typeface="微软雅黑 Light" panose="020B0502040204020203" pitchFamily="34" charset="-122"/>
              </a:rPr>
              <a:t>gov</a:t>
            </a:r>
            <a:r>
              <a:rPr lang="en-US" altLang="zh-CN" sz="1400" kern="1200" dirty="0">
                <a:latin typeface="Montserrat" panose="00000500000000000000" pitchFamily="2" charset="0"/>
                <a:ea typeface="微软雅黑 Light" panose="020B0502040204020203" pitchFamily="34" charset="-122"/>
              </a:rPr>
              <a:t> </a:t>
            </a:r>
            <a:r>
              <a:rPr lang="zh-CN" altLang="en-US" sz="1400" kern="1200" dirty="0">
                <a:latin typeface="Montserrat" panose="00000500000000000000" pitchFamily="2" charset="0"/>
                <a:ea typeface="微软雅黑 Light" panose="020B0502040204020203" pitchFamily="34" charset="-122"/>
              </a:rPr>
              <a:t>等</a:t>
            </a:r>
          </a:p>
        </p:txBody>
      </p:sp>
      <p:sp>
        <p:nvSpPr>
          <p:cNvPr id="12" name="任意多边形 11"/>
          <p:cNvSpPr/>
          <p:nvPr/>
        </p:nvSpPr>
        <p:spPr>
          <a:xfrm>
            <a:off x="3056382"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4966938"/>
              <a:satOff val="19906"/>
              <a:lumOff val="4314"/>
              <a:alphaOff val="0"/>
            </a:schemeClr>
          </a:fillRef>
          <a:effectRef idx="1">
            <a:schemeClr val="accent5">
              <a:hueOff val="-4966938"/>
              <a:satOff val="19906"/>
              <a:lumOff val="4314"/>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总数已达 </a:t>
            </a:r>
            <a:r>
              <a:rPr lang="en-US" altLang="en-US" sz="1400" kern="1200" dirty="0">
                <a:latin typeface="Montserrat" panose="00000500000000000000" pitchFamily="2" charset="0"/>
                <a:ea typeface="微软雅黑 Light" panose="020B0502040204020203" pitchFamily="34" charset="-122"/>
              </a:rPr>
              <a:t>20 </a:t>
            </a:r>
            <a:r>
              <a:rPr lang="zh-CN" altLang="en-US" sz="1400" kern="1200" dirty="0">
                <a:latin typeface="Montserrat" panose="00000500000000000000" pitchFamily="2" charset="0"/>
                <a:ea typeface="微软雅黑 Light" panose="020B0502040204020203" pitchFamily="34" charset="-122"/>
              </a:rPr>
              <a:t>个</a:t>
            </a:r>
          </a:p>
        </p:txBody>
      </p:sp>
      <p:sp>
        <p:nvSpPr>
          <p:cNvPr id="13" name="任意多边形 12"/>
          <p:cNvSpPr/>
          <p:nvPr/>
        </p:nvSpPr>
        <p:spPr>
          <a:xfrm>
            <a:off x="4709563"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t"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基础结构域名</a:t>
            </a:r>
            <a:r>
              <a:rPr lang="en-US" altLang="en-US" sz="1400" kern="1200" dirty="0">
                <a:latin typeface="Montserrat" panose="00000500000000000000" pitchFamily="2" charset="0"/>
                <a:ea typeface="微软雅黑 Light" panose="020B0502040204020203" pitchFamily="34" charset="-122"/>
              </a:rPr>
              <a:t>(infrastructure domain)</a:t>
            </a:r>
            <a:endParaRPr lang="zh-CN" altLang="en-US" sz="1400" kern="1200" dirty="0">
              <a:latin typeface="Montserrat" panose="00000500000000000000" pitchFamily="2" charset="0"/>
              <a:ea typeface="微软雅黑 Light" panose="020B0502040204020203" pitchFamily="34" charset="-122"/>
            </a:endParaRPr>
          </a:p>
        </p:txBody>
      </p:sp>
      <p:sp>
        <p:nvSpPr>
          <p:cNvPr id="14" name="任意多边形 13"/>
          <p:cNvSpPr/>
          <p:nvPr/>
        </p:nvSpPr>
        <p:spPr>
          <a:xfrm>
            <a:off x="4879120"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6208672"/>
              <a:satOff val="24882"/>
              <a:lumOff val="5392"/>
              <a:alphaOff val="0"/>
            </a:schemeClr>
          </a:fillRef>
          <a:effectRef idx="1">
            <a:schemeClr val="accent5">
              <a:hueOff val="-6208672"/>
              <a:satOff val="24882"/>
              <a:lumOff val="5392"/>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只有一个：</a:t>
            </a:r>
            <a:r>
              <a:rPr lang="en-US" altLang="en-US" sz="1400" kern="1200" dirty="0" err="1">
                <a:latin typeface="Montserrat" panose="00000500000000000000" pitchFamily="2" charset="0"/>
                <a:ea typeface="微软雅黑 Light" panose="020B0502040204020203" pitchFamily="34" charset="-122"/>
              </a:rPr>
              <a:t>arpa</a:t>
            </a:r>
            <a:endParaRPr lang="zh-CN" altLang="en-US" sz="1400" kern="1200" dirty="0">
              <a:latin typeface="Montserrat" panose="00000500000000000000" pitchFamily="2" charset="0"/>
              <a:ea typeface="微软雅黑 Light" panose="020B0502040204020203" pitchFamily="34" charset="-122"/>
            </a:endParaRPr>
          </a:p>
        </p:txBody>
      </p:sp>
      <p:sp>
        <p:nvSpPr>
          <p:cNvPr id="15" name="任意多边形 14"/>
          <p:cNvSpPr/>
          <p:nvPr/>
        </p:nvSpPr>
        <p:spPr>
          <a:xfrm>
            <a:off x="4879120"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7450407"/>
              <a:satOff val="29858"/>
              <a:lumOff val="6471"/>
              <a:alphaOff val="0"/>
            </a:schemeClr>
          </a:fillRef>
          <a:effectRef idx="1">
            <a:schemeClr val="accent5">
              <a:hueOff val="-7450407"/>
              <a:satOff val="29858"/>
              <a:lumOff val="6471"/>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用于反向域名解析，又称为反向域名</a:t>
            </a:r>
          </a:p>
        </p:txBody>
      </p:sp>
      <p:sp>
        <p:nvSpPr>
          <p:cNvPr id="16" name="任意多边形 15"/>
          <p:cNvSpPr/>
          <p:nvPr/>
        </p:nvSpPr>
        <p:spPr>
          <a:xfrm>
            <a:off x="6532301" y="1019586"/>
            <a:ext cx="1695570" cy="2984244"/>
          </a:xfrm>
          <a:custGeom>
            <a:avLst/>
            <a:gdLst>
              <a:gd name="connsiteX0" fmla="*/ 0 w 1695570"/>
              <a:gd name="connsiteY0" fmla="*/ 169557 h 3330474"/>
              <a:gd name="connsiteX1" fmla="*/ 169557 w 1695570"/>
              <a:gd name="connsiteY1" fmla="*/ 0 h 3330474"/>
              <a:gd name="connsiteX2" fmla="*/ 1526013 w 1695570"/>
              <a:gd name="connsiteY2" fmla="*/ 0 h 3330474"/>
              <a:gd name="connsiteX3" fmla="*/ 1695570 w 1695570"/>
              <a:gd name="connsiteY3" fmla="*/ 169557 h 3330474"/>
              <a:gd name="connsiteX4" fmla="*/ 1695570 w 1695570"/>
              <a:gd name="connsiteY4" fmla="*/ 3160917 h 3330474"/>
              <a:gd name="connsiteX5" fmla="*/ 1526013 w 1695570"/>
              <a:gd name="connsiteY5" fmla="*/ 3330474 h 3330474"/>
              <a:gd name="connsiteX6" fmla="*/ 169557 w 1695570"/>
              <a:gd name="connsiteY6" fmla="*/ 3330474 h 3330474"/>
              <a:gd name="connsiteX7" fmla="*/ 0 w 1695570"/>
              <a:gd name="connsiteY7" fmla="*/ 3160917 h 3330474"/>
              <a:gd name="connsiteX8" fmla="*/ 0 w 1695570"/>
              <a:gd name="connsiteY8" fmla="*/ 169557 h 33304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695570" h="3330474">
                <a:moveTo>
                  <a:pt x="0" y="169557"/>
                </a:moveTo>
                <a:cubicBezTo>
                  <a:pt x="0" y="75913"/>
                  <a:pt x="75913" y="0"/>
                  <a:pt x="169557" y="0"/>
                </a:cubicBezTo>
                <a:lnTo>
                  <a:pt x="1526013" y="0"/>
                </a:lnTo>
                <a:cubicBezTo>
                  <a:pt x="1619657" y="0"/>
                  <a:pt x="1695570" y="75913"/>
                  <a:pt x="1695570" y="169557"/>
                </a:cubicBezTo>
                <a:lnTo>
                  <a:pt x="1695570" y="3160917"/>
                </a:lnTo>
                <a:cubicBezTo>
                  <a:pt x="1695570" y="3254561"/>
                  <a:pt x="1619657" y="3330474"/>
                  <a:pt x="1526013" y="3330474"/>
                </a:cubicBezTo>
                <a:lnTo>
                  <a:pt x="169557" y="3330474"/>
                </a:lnTo>
                <a:cubicBezTo>
                  <a:pt x="75913" y="3330474"/>
                  <a:pt x="0" y="3254561"/>
                  <a:pt x="0" y="3160917"/>
                </a:cubicBezTo>
                <a:lnTo>
                  <a:pt x="0" y="169557"/>
                </a:lnTo>
                <a:close/>
              </a:path>
            </a:pathLst>
          </a:custGeom>
          <a:ln w="19050">
            <a:solidFill>
              <a:srgbClr val="000066"/>
            </a:solidFill>
            <a:prstDash val="sysDash"/>
          </a:ln>
        </p:spPr>
        <p:style>
          <a:lnRef idx="0">
            <a:schemeClr val="dk1">
              <a:hueOff val="0"/>
              <a:satOff val="0"/>
              <a:lumOff val="0"/>
              <a:alphaOff val="0"/>
            </a:schemeClr>
          </a:lnRef>
          <a:fillRef idx="1">
            <a:schemeClr val="accent5">
              <a:tint val="40000"/>
              <a:hueOff val="0"/>
              <a:satOff val="0"/>
              <a:lumOff val="0"/>
              <a:alphaOff val="0"/>
            </a:schemeClr>
          </a:fillRef>
          <a:effectRef idx="1">
            <a:schemeClr val="accent5">
              <a:tint val="40000"/>
              <a:hueOff val="0"/>
              <a:satOff val="0"/>
              <a:lumOff val="0"/>
              <a:alphaOff val="0"/>
            </a:schemeClr>
          </a:effectRef>
          <a:fontRef idx="minor">
            <a:schemeClr val="dk1">
              <a:hueOff val="0"/>
              <a:satOff val="0"/>
              <a:lumOff val="0"/>
              <a:alphaOff val="0"/>
            </a:schemeClr>
          </a:fontRef>
        </p:style>
        <p:txBody>
          <a:bodyPr spcFirstLastPara="0" vert="horz" wrap="square" lIns="53340" tIns="53340" rIns="53340" bIns="2384672" numCol="1" spcCol="1270" anchor="ctr" anchorCtr="0">
            <a:noAutofit/>
          </a:bodyPr>
          <a:lstStyle/>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新顶级域名</a:t>
            </a:r>
            <a:endParaRPr lang="en-US" altLang="zh-CN" sz="1400" kern="1200" dirty="0">
              <a:latin typeface="Montserrat" panose="00000500000000000000" pitchFamily="2" charset="0"/>
              <a:ea typeface="微软雅黑 Light" panose="020B0502040204020203" pitchFamily="34" charset="-122"/>
            </a:endParaRPr>
          </a:p>
          <a:p>
            <a:pPr lvl="0" algn="ctr" defTabSz="622300">
              <a:lnSpc>
                <a:spcPts val="1800"/>
              </a:lnSpc>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a:t>
            </a:r>
            <a:r>
              <a:rPr lang="en-US" altLang="en-US" sz="1400" kern="1200" dirty="0">
                <a:latin typeface="Montserrat" panose="00000500000000000000" pitchFamily="2" charset="0"/>
                <a:ea typeface="微软雅黑 Light" panose="020B0502040204020203" pitchFamily="34" charset="-122"/>
              </a:rPr>
              <a:t>New </a:t>
            </a:r>
            <a:r>
              <a:rPr lang="en-US" altLang="en-US" sz="1400" kern="1200" dirty="0" err="1">
                <a:latin typeface="Montserrat" panose="00000500000000000000" pitchFamily="2" charset="0"/>
                <a:ea typeface="微软雅黑 Light" panose="020B0502040204020203" pitchFamily="34" charset="-122"/>
              </a:rPr>
              <a:t>gTLD</a:t>
            </a:r>
            <a:r>
              <a:rPr lang="zh-CN" altLang="en-US" sz="1400" kern="1200" dirty="0">
                <a:latin typeface="Montserrat" panose="00000500000000000000" pitchFamily="2" charset="0"/>
                <a:ea typeface="微软雅黑 Light" panose="020B0502040204020203" pitchFamily="34" charset="-122"/>
              </a:rPr>
              <a:t>）</a:t>
            </a:r>
          </a:p>
        </p:txBody>
      </p:sp>
      <p:sp>
        <p:nvSpPr>
          <p:cNvPr id="17" name="任意多边形 16"/>
          <p:cNvSpPr/>
          <p:nvPr/>
        </p:nvSpPr>
        <p:spPr>
          <a:xfrm>
            <a:off x="6701858" y="1828068"/>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8692142"/>
              <a:satOff val="34835"/>
              <a:lumOff val="7549"/>
              <a:alphaOff val="0"/>
            </a:schemeClr>
          </a:fillRef>
          <a:effectRef idx="1">
            <a:schemeClr val="accent5">
              <a:hueOff val="-8692142"/>
              <a:satOff val="34835"/>
              <a:lumOff val="7549"/>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任何公司、机构都有权向</a:t>
            </a:r>
            <a:r>
              <a:rPr lang="en-US" altLang="en-US" sz="1400" kern="1200" dirty="0">
                <a:latin typeface="Montserrat" panose="00000500000000000000" pitchFamily="2" charset="0"/>
                <a:ea typeface="微软雅黑 Light" panose="020B0502040204020203" pitchFamily="34" charset="-122"/>
              </a:rPr>
              <a:t>ICANN </a:t>
            </a:r>
            <a:r>
              <a:rPr lang="zh-CN" altLang="en-US" sz="1400" kern="1200" dirty="0">
                <a:latin typeface="Montserrat" panose="00000500000000000000" pitchFamily="2" charset="0"/>
                <a:ea typeface="微软雅黑 Light" panose="020B0502040204020203" pitchFamily="34" charset="-122"/>
              </a:rPr>
              <a:t>申请新的顶级域</a:t>
            </a:r>
          </a:p>
        </p:txBody>
      </p:sp>
      <p:sp>
        <p:nvSpPr>
          <p:cNvPr id="18" name="任意多边形 17"/>
          <p:cNvSpPr/>
          <p:nvPr/>
        </p:nvSpPr>
        <p:spPr>
          <a:xfrm>
            <a:off x="6701858" y="2897650"/>
            <a:ext cx="1356456" cy="926970"/>
          </a:xfrm>
          <a:custGeom>
            <a:avLst/>
            <a:gdLst>
              <a:gd name="connsiteX0" fmla="*/ 0 w 1356456"/>
              <a:gd name="connsiteY0" fmla="*/ 100418 h 1004183"/>
              <a:gd name="connsiteX1" fmla="*/ 100418 w 1356456"/>
              <a:gd name="connsiteY1" fmla="*/ 0 h 1004183"/>
              <a:gd name="connsiteX2" fmla="*/ 1256038 w 1356456"/>
              <a:gd name="connsiteY2" fmla="*/ 0 h 1004183"/>
              <a:gd name="connsiteX3" fmla="*/ 1356456 w 1356456"/>
              <a:gd name="connsiteY3" fmla="*/ 100418 h 1004183"/>
              <a:gd name="connsiteX4" fmla="*/ 1356456 w 1356456"/>
              <a:gd name="connsiteY4" fmla="*/ 903765 h 1004183"/>
              <a:gd name="connsiteX5" fmla="*/ 1256038 w 1356456"/>
              <a:gd name="connsiteY5" fmla="*/ 1004183 h 1004183"/>
              <a:gd name="connsiteX6" fmla="*/ 100418 w 1356456"/>
              <a:gd name="connsiteY6" fmla="*/ 1004183 h 1004183"/>
              <a:gd name="connsiteX7" fmla="*/ 0 w 1356456"/>
              <a:gd name="connsiteY7" fmla="*/ 903765 h 1004183"/>
              <a:gd name="connsiteX8" fmla="*/ 0 w 1356456"/>
              <a:gd name="connsiteY8" fmla="*/ 100418 h 100418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356456" h="1004183">
                <a:moveTo>
                  <a:pt x="0" y="100418"/>
                </a:moveTo>
                <a:cubicBezTo>
                  <a:pt x="0" y="44959"/>
                  <a:pt x="44959" y="0"/>
                  <a:pt x="100418" y="0"/>
                </a:cubicBezTo>
                <a:lnTo>
                  <a:pt x="1256038" y="0"/>
                </a:lnTo>
                <a:cubicBezTo>
                  <a:pt x="1311497" y="0"/>
                  <a:pt x="1356456" y="44959"/>
                  <a:pt x="1356456" y="100418"/>
                </a:cubicBezTo>
                <a:lnTo>
                  <a:pt x="1356456" y="903765"/>
                </a:lnTo>
                <a:cubicBezTo>
                  <a:pt x="1356456" y="959224"/>
                  <a:pt x="1311497" y="1004183"/>
                  <a:pt x="1256038" y="1004183"/>
                </a:cubicBezTo>
                <a:lnTo>
                  <a:pt x="100418" y="1004183"/>
                </a:lnTo>
                <a:cubicBezTo>
                  <a:pt x="44959" y="1004183"/>
                  <a:pt x="0" y="959224"/>
                  <a:pt x="0" y="903765"/>
                </a:cubicBezTo>
                <a:lnTo>
                  <a:pt x="0" y="100418"/>
                </a:lnTo>
                <a:close/>
              </a:path>
            </a:pathLst>
          </a:custGeom>
          <a:scene3d>
            <a:camera prst="orthographicFront"/>
            <a:lightRig rig="flat" dir="t"/>
          </a:scene3d>
          <a:sp3d prstMaterial="dkEdge">
            <a:bevelT w="8200" h="38100"/>
          </a:sp3d>
        </p:spPr>
        <p:style>
          <a:lnRef idx="0">
            <a:schemeClr val="lt1">
              <a:hueOff val="0"/>
              <a:satOff val="0"/>
              <a:lumOff val="0"/>
              <a:alphaOff val="0"/>
            </a:schemeClr>
          </a:lnRef>
          <a:fillRef idx="2">
            <a:schemeClr val="accent5">
              <a:hueOff val="-9933876"/>
              <a:satOff val="39811"/>
              <a:lumOff val="8628"/>
              <a:alphaOff val="0"/>
            </a:schemeClr>
          </a:fillRef>
          <a:effectRef idx="1">
            <a:schemeClr val="accent5">
              <a:hueOff val="-9933876"/>
              <a:satOff val="39811"/>
              <a:lumOff val="8628"/>
              <a:alphaOff val="0"/>
            </a:schemeClr>
          </a:effectRef>
          <a:fontRef idx="minor">
            <a:schemeClr val="dk1"/>
          </a:fontRef>
        </p:style>
        <p:txBody>
          <a:bodyPr spcFirstLastPara="0" vert="horz" wrap="square" lIns="64972" tIns="56082" rIns="64972" bIns="56082" numCol="1" spcCol="1270" anchor="ctr" anchorCtr="0">
            <a:noAutofit/>
          </a:bodyPr>
          <a:lstStyle/>
          <a:p>
            <a:pPr lvl="0" algn="ctr" defTabSz="622300">
              <a:spcBef>
                <a:spcPct val="0"/>
              </a:spcBef>
              <a:spcAft>
                <a:spcPts val="0"/>
              </a:spcAft>
            </a:pPr>
            <a:r>
              <a:rPr lang="zh-CN" altLang="en-US" sz="1400" kern="1200" dirty="0">
                <a:latin typeface="Montserrat" panose="00000500000000000000" pitchFamily="2" charset="0"/>
                <a:ea typeface="微软雅黑 Light" panose="020B0502040204020203" pitchFamily="34" charset="-122"/>
              </a:rPr>
              <a:t>真正的企业网络商标</a:t>
            </a:r>
          </a:p>
        </p:txBody>
      </p:sp>
      <p:sp>
        <p:nvSpPr>
          <p:cNvPr id="22" name="矩形 21"/>
          <p:cNvSpPr/>
          <p:nvPr/>
        </p:nvSpPr>
        <p:spPr>
          <a:xfrm>
            <a:off x="1389888" y="4023377"/>
            <a:ext cx="6602193" cy="679801"/>
          </a:xfrm>
          <a:prstGeom prst="rect">
            <a:avLst/>
          </a:prstGeom>
        </p:spPr>
        <p:txBody>
          <a:bodyPr wrap="square">
            <a:spAutoFit/>
          </a:bodyPr>
          <a:lstStyle/>
          <a:p>
            <a:pPr>
              <a:lnSpc>
                <a:spcPts val="2400"/>
              </a:lnSpc>
            </a:pPr>
            <a:r>
              <a:rPr lang="zh-CN" altLang="en-US" sz="1600" b="1" dirty="0">
                <a:latin typeface="微软雅黑 Light" panose="020B0502040204020203" pitchFamily="34" charset="-122"/>
                <a:ea typeface="微软雅黑 Light" panose="020B0502040204020203" pitchFamily="34" charset="-122"/>
              </a:rPr>
              <a:t>在国家顶级域名下注册的二级域名均由该国家自行确定。</a:t>
            </a:r>
            <a:endParaRPr lang="en-US" altLang="zh-CN" sz="1600" b="1" dirty="0">
              <a:latin typeface="微软雅黑 Light" panose="020B0502040204020203" pitchFamily="34" charset="-122"/>
              <a:ea typeface="微软雅黑 Light" panose="020B0502040204020203" pitchFamily="34" charset="-122"/>
            </a:endParaRPr>
          </a:p>
          <a:p>
            <a:pPr>
              <a:lnSpc>
                <a:spcPts val="2400"/>
              </a:lnSpc>
            </a:pPr>
            <a:r>
              <a:rPr lang="zh-CN" altLang="en-US" sz="1600" b="1" dirty="0">
                <a:latin typeface="微软雅黑 Light" panose="020B0502040204020203" pitchFamily="34" charset="-122"/>
                <a:ea typeface="微软雅黑 Light" panose="020B0502040204020203" pitchFamily="34" charset="-122"/>
              </a:rPr>
              <a:t>我国把二级域名划分为“</a:t>
            </a:r>
            <a:r>
              <a:rPr lang="zh-CN" altLang="en-US" sz="1600" b="1" dirty="0">
                <a:solidFill>
                  <a:srgbClr val="0000CC"/>
                </a:solidFill>
                <a:latin typeface="微软雅黑 Light" panose="020B0502040204020203" pitchFamily="34" charset="-122"/>
                <a:ea typeface="微软雅黑 Light" panose="020B0502040204020203" pitchFamily="34" charset="-122"/>
              </a:rPr>
              <a:t>类别域名</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0000CC"/>
                </a:solidFill>
                <a:latin typeface="微软雅黑 Light" panose="020B0502040204020203" pitchFamily="34" charset="-122"/>
                <a:ea typeface="微软雅黑 Light" panose="020B0502040204020203" pitchFamily="34" charset="-122"/>
              </a:rPr>
              <a:t>行政区域名</a:t>
            </a:r>
            <a:r>
              <a:rPr lang="zh-CN" altLang="en-US" sz="1600" b="1" dirty="0">
                <a:latin typeface="微软雅黑 Light" panose="020B0502040204020203" pitchFamily="34" charset="-122"/>
                <a:ea typeface="微软雅黑 Light" panose="020B0502040204020203" pitchFamily="34" charset="-122"/>
              </a:rPr>
              <a:t>”两大类。</a:t>
            </a:r>
          </a:p>
        </p:txBody>
      </p:sp>
    </p:spTree>
    <p:extLst>
      <p:ext uri="{BB962C8B-B14F-4D97-AF65-F5344CB8AC3E}">
        <p14:creationId xmlns:p14="http://schemas.microsoft.com/office/powerpoint/2010/main" val="22009552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10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9" name="Rectangle 6"/>
          <p:cNvSpPr>
            <a:spLocks noChangeArrowheads="1"/>
          </p:cNvSpPr>
          <p:nvPr/>
        </p:nvSpPr>
        <p:spPr bwMode="auto">
          <a:xfrm>
            <a:off x="3206618" y="582898"/>
            <a:ext cx="274947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互联网的域名空间结构</a:t>
            </a:r>
          </a:p>
        </p:txBody>
      </p:sp>
      <p:sp>
        <p:nvSpPr>
          <p:cNvPr id="81" name="Rectangle 122"/>
          <p:cNvSpPr>
            <a:spLocks noChangeArrowheads="1"/>
          </p:cNvSpPr>
          <p:nvPr/>
        </p:nvSpPr>
        <p:spPr bwMode="auto">
          <a:xfrm>
            <a:off x="4927416" y="1019374"/>
            <a:ext cx="1675702" cy="324229"/>
          </a:xfrm>
          <a:prstGeom prst="rect">
            <a:avLst/>
          </a:prstGeom>
          <a:solidFill>
            <a:srgbClr val="C3E3F9"/>
          </a:solidFill>
          <a:ln>
            <a:noFill/>
          </a:ln>
          <a:effectLst/>
        </p:spPr>
        <p:txBody>
          <a:bodyPr wrap="none" anchor="ctr"/>
          <a:lstStyle/>
          <a:p>
            <a:pPr algn="ctr"/>
            <a:r>
              <a:rPr kumimoji="1" lang="zh-CN" altLang="en-US" sz="1600" b="1" dirty="0">
                <a:solidFill>
                  <a:srgbClr val="C00000"/>
                </a:solidFill>
                <a:latin typeface="微软雅黑 Light" panose="020B0502040204020203" pitchFamily="34" charset="-122"/>
                <a:ea typeface="微软雅黑 Light" panose="020B0502040204020203" pitchFamily="34" charset="-122"/>
              </a:rPr>
              <a:t>根</a:t>
            </a:r>
            <a:r>
              <a:rPr kumimoji="1" lang="zh-CN" altLang="en-US" sz="1600" b="1" dirty="0">
                <a:latin typeface="微软雅黑 Light" panose="020B0502040204020203" pitchFamily="34" charset="-122"/>
                <a:ea typeface="微软雅黑 Light" panose="020B0502040204020203" pitchFamily="34" charset="-122"/>
              </a:rPr>
              <a:t>（根没有名字）</a:t>
            </a:r>
          </a:p>
        </p:txBody>
      </p:sp>
      <p:grpSp>
        <p:nvGrpSpPr>
          <p:cNvPr id="82" name="Group 216"/>
          <p:cNvGrpSpPr>
            <a:grpSpLocks/>
          </p:cNvGrpSpPr>
          <p:nvPr/>
        </p:nvGrpSpPr>
        <p:grpSpPr bwMode="auto">
          <a:xfrm>
            <a:off x="1111677" y="3394713"/>
            <a:ext cx="6307201" cy="756537"/>
            <a:chOff x="113" y="2435"/>
            <a:chExt cx="4956" cy="644"/>
          </a:xfrm>
        </p:grpSpPr>
        <p:sp>
          <p:nvSpPr>
            <p:cNvPr id="84" name="Rectangle 130"/>
            <p:cNvSpPr>
              <a:spLocks noChangeArrowheads="1"/>
            </p:cNvSpPr>
            <p:nvPr/>
          </p:nvSpPr>
          <p:spPr bwMode="auto">
            <a:xfrm>
              <a:off x="113" y="2811"/>
              <a:ext cx="708" cy="260"/>
            </a:xfrm>
            <a:prstGeom prst="rect">
              <a:avLst/>
            </a:prstGeom>
            <a:solidFill>
              <a:srgbClr val="008000"/>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四级域名</a:t>
              </a:r>
            </a:p>
          </p:txBody>
        </p:sp>
        <p:sp>
          <p:nvSpPr>
            <p:cNvPr id="85" name="Text Box 131"/>
            <p:cNvSpPr txBox="1">
              <a:spLocks noChangeArrowheads="1"/>
            </p:cNvSpPr>
            <p:nvPr/>
          </p:nvSpPr>
          <p:spPr bwMode="auto">
            <a:xfrm>
              <a:off x="3556" y="2817"/>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86" name="Text Box 132"/>
            <p:cNvSpPr txBox="1">
              <a:spLocks noChangeArrowheads="1"/>
            </p:cNvSpPr>
            <p:nvPr/>
          </p:nvSpPr>
          <p:spPr bwMode="auto">
            <a:xfrm>
              <a:off x="4165" y="2801"/>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87" name="Text Box 151"/>
            <p:cNvSpPr txBox="1">
              <a:spLocks noChangeArrowheads="1"/>
            </p:cNvSpPr>
            <p:nvPr/>
          </p:nvSpPr>
          <p:spPr bwMode="auto">
            <a:xfrm>
              <a:off x="4614" y="2817"/>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88" name="Line 155"/>
            <p:cNvSpPr>
              <a:spLocks noChangeShapeType="1"/>
            </p:cNvSpPr>
            <p:nvPr/>
          </p:nvSpPr>
          <p:spPr bwMode="auto">
            <a:xfrm>
              <a:off x="4381" y="2435"/>
              <a:ext cx="437" cy="4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9" name="Line 156"/>
            <p:cNvSpPr>
              <a:spLocks noChangeShapeType="1"/>
            </p:cNvSpPr>
            <p:nvPr/>
          </p:nvSpPr>
          <p:spPr bwMode="auto">
            <a:xfrm flipH="1">
              <a:off x="3819" y="2440"/>
              <a:ext cx="560"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0" name="Group 214"/>
          <p:cNvGrpSpPr>
            <a:grpSpLocks/>
          </p:cNvGrpSpPr>
          <p:nvPr/>
        </p:nvGrpSpPr>
        <p:grpSpPr bwMode="auto">
          <a:xfrm>
            <a:off x="1111677" y="1962694"/>
            <a:ext cx="6881162" cy="765934"/>
            <a:chOff x="113" y="1216"/>
            <a:chExt cx="5407" cy="652"/>
          </a:xfrm>
        </p:grpSpPr>
        <p:sp>
          <p:nvSpPr>
            <p:cNvPr id="92" name="Text Box 105"/>
            <p:cNvSpPr txBox="1">
              <a:spLocks noChangeArrowheads="1"/>
            </p:cNvSpPr>
            <p:nvPr/>
          </p:nvSpPr>
          <p:spPr bwMode="auto">
            <a:xfrm>
              <a:off x="1882"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3" name="Text Box 115"/>
            <p:cNvSpPr txBox="1">
              <a:spLocks noChangeArrowheads="1"/>
            </p:cNvSpPr>
            <p:nvPr/>
          </p:nvSpPr>
          <p:spPr bwMode="auto">
            <a:xfrm>
              <a:off x="3956" y="1593"/>
              <a:ext cx="262"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bj</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4" name="Text Box 116"/>
            <p:cNvSpPr txBox="1">
              <a:spLocks noChangeArrowheads="1"/>
            </p:cNvSpPr>
            <p:nvPr/>
          </p:nvSpPr>
          <p:spPr bwMode="auto">
            <a:xfrm>
              <a:off x="4554" y="1592"/>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5" name="Text Box 117"/>
            <p:cNvSpPr txBox="1">
              <a:spLocks noChangeArrowheads="1"/>
            </p:cNvSpPr>
            <p:nvPr/>
          </p:nvSpPr>
          <p:spPr bwMode="auto">
            <a:xfrm>
              <a:off x="5097" y="1592"/>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96" name="Text Box 118"/>
            <p:cNvSpPr txBox="1">
              <a:spLocks noChangeArrowheads="1"/>
            </p:cNvSpPr>
            <p:nvPr/>
          </p:nvSpPr>
          <p:spPr bwMode="auto">
            <a:xfrm>
              <a:off x="4277" y="157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97" name="Text Box 123"/>
            <p:cNvSpPr txBox="1">
              <a:spLocks noChangeArrowheads="1"/>
            </p:cNvSpPr>
            <p:nvPr/>
          </p:nvSpPr>
          <p:spPr bwMode="auto">
            <a:xfrm>
              <a:off x="1437" y="1592"/>
              <a:ext cx="3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cctv</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8" name="Text Box 124"/>
            <p:cNvSpPr txBox="1">
              <a:spLocks noChangeArrowheads="1"/>
            </p:cNvSpPr>
            <p:nvPr/>
          </p:nvSpPr>
          <p:spPr bwMode="auto">
            <a:xfrm>
              <a:off x="2185" y="1591"/>
              <a:ext cx="38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ibm</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99" name="Text Box 125"/>
            <p:cNvSpPr txBox="1">
              <a:spLocks noChangeArrowheads="1"/>
            </p:cNvSpPr>
            <p:nvPr/>
          </p:nvSpPr>
          <p:spPr bwMode="auto">
            <a:xfrm>
              <a:off x="2546" y="1592"/>
              <a:ext cx="59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huawei</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00" name="Rectangle 127"/>
            <p:cNvSpPr>
              <a:spLocks noChangeArrowheads="1"/>
            </p:cNvSpPr>
            <p:nvPr/>
          </p:nvSpPr>
          <p:spPr bwMode="auto">
            <a:xfrm>
              <a:off x="113" y="1608"/>
              <a:ext cx="708" cy="260"/>
            </a:xfrm>
            <a:prstGeom prst="rect">
              <a:avLst/>
            </a:prstGeom>
            <a:solidFill>
              <a:srgbClr val="0066FF"/>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二级域名</a:t>
              </a:r>
            </a:p>
          </p:txBody>
        </p:sp>
        <p:sp>
          <p:nvSpPr>
            <p:cNvPr id="101" name="Line 142"/>
            <p:cNvSpPr>
              <a:spLocks noChangeShapeType="1"/>
            </p:cNvSpPr>
            <p:nvPr/>
          </p:nvSpPr>
          <p:spPr bwMode="auto">
            <a:xfrm>
              <a:off x="2180" y="1274"/>
              <a:ext cx="213" cy="3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Line 143"/>
            <p:cNvSpPr>
              <a:spLocks noChangeShapeType="1"/>
            </p:cNvSpPr>
            <p:nvPr/>
          </p:nvSpPr>
          <p:spPr bwMode="auto">
            <a:xfrm>
              <a:off x="2173" y="1269"/>
              <a:ext cx="546" cy="3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Line 144"/>
            <p:cNvSpPr>
              <a:spLocks noChangeShapeType="1"/>
            </p:cNvSpPr>
            <p:nvPr/>
          </p:nvSpPr>
          <p:spPr bwMode="auto">
            <a:xfrm flipV="1">
              <a:off x="1672" y="1279"/>
              <a:ext cx="501" cy="34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Line 145"/>
            <p:cNvSpPr>
              <a:spLocks noChangeShapeType="1"/>
            </p:cNvSpPr>
            <p:nvPr/>
          </p:nvSpPr>
          <p:spPr bwMode="auto">
            <a:xfrm>
              <a:off x="4662" y="1216"/>
              <a:ext cx="111" cy="43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146"/>
            <p:cNvSpPr>
              <a:spLocks noChangeShapeType="1"/>
            </p:cNvSpPr>
            <p:nvPr/>
          </p:nvSpPr>
          <p:spPr bwMode="auto">
            <a:xfrm>
              <a:off x="4665" y="1224"/>
              <a:ext cx="626" cy="40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147"/>
            <p:cNvSpPr>
              <a:spLocks noChangeShapeType="1"/>
            </p:cNvSpPr>
            <p:nvPr/>
          </p:nvSpPr>
          <p:spPr bwMode="auto">
            <a:xfrm flipH="1">
              <a:off x="4090" y="1224"/>
              <a:ext cx="572" cy="39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07" name="Group 157"/>
            <p:cNvGrpSpPr>
              <a:grpSpLocks/>
            </p:cNvGrpSpPr>
            <p:nvPr/>
          </p:nvGrpSpPr>
          <p:grpSpPr bwMode="auto">
            <a:xfrm>
              <a:off x="1168" y="1244"/>
              <a:ext cx="268" cy="101"/>
              <a:chOff x="2875" y="1143"/>
              <a:chExt cx="330" cy="132"/>
            </a:xfrm>
          </p:grpSpPr>
          <p:sp>
            <p:nvSpPr>
              <p:cNvPr id="133" name="Line 15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15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16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16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8" name="Group 162"/>
            <p:cNvGrpSpPr>
              <a:grpSpLocks/>
            </p:cNvGrpSpPr>
            <p:nvPr/>
          </p:nvGrpSpPr>
          <p:grpSpPr bwMode="auto">
            <a:xfrm>
              <a:off x="2507" y="1244"/>
              <a:ext cx="268" cy="101"/>
              <a:chOff x="2875" y="1143"/>
              <a:chExt cx="330" cy="132"/>
            </a:xfrm>
          </p:grpSpPr>
          <p:sp>
            <p:nvSpPr>
              <p:cNvPr id="129" name="Line 16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0" name="Line 16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16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16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9" name="Group 167"/>
            <p:cNvGrpSpPr>
              <a:grpSpLocks/>
            </p:cNvGrpSpPr>
            <p:nvPr/>
          </p:nvGrpSpPr>
          <p:grpSpPr bwMode="auto">
            <a:xfrm>
              <a:off x="2936" y="1244"/>
              <a:ext cx="268" cy="101"/>
              <a:chOff x="2875" y="1143"/>
              <a:chExt cx="330" cy="132"/>
            </a:xfrm>
          </p:grpSpPr>
          <p:sp>
            <p:nvSpPr>
              <p:cNvPr id="125" name="Line 16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6" name="Line 16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Line 17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8" name="Line 17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0" name="Group 172"/>
            <p:cNvGrpSpPr>
              <a:grpSpLocks/>
            </p:cNvGrpSpPr>
            <p:nvPr/>
          </p:nvGrpSpPr>
          <p:grpSpPr bwMode="auto">
            <a:xfrm>
              <a:off x="3363" y="1244"/>
              <a:ext cx="268" cy="101"/>
              <a:chOff x="2875" y="1143"/>
              <a:chExt cx="330" cy="132"/>
            </a:xfrm>
          </p:grpSpPr>
          <p:sp>
            <p:nvSpPr>
              <p:cNvPr id="121" name="Line 17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17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17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17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1" name="Group 177"/>
            <p:cNvGrpSpPr>
              <a:grpSpLocks/>
            </p:cNvGrpSpPr>
            <p:nvPr/>
          </p:nvGrpSpPr>
          <p:grpSpPr bwMode="auto">
            <a:xfrm>
              <a:off x="3792" y="1244"/>
              <a:ext cx="268" cy="101"/>
              <a:chOff x="2875" y="1143"/>
              <a:chExt cx="330" cy="132"/>
            </a:xfrm>
          </p:grpSpPr>
          <p:sp>
            <p:nvSpPr>
              <p:cNvPr id="117" name="Line 17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17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18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18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2" name="Group 182"/>
            <p:cNvGrpSpPr>
              <a:grpSpLocks/>
            </p:cNvGrpSpPr>
            <p:nvPr/>
          </p:nvGrpSpPr>
          <p:grpSpPr bwMode="auto">
            <a:xfrm>
              <a:off x="4935" y="1244"/>
              <a:ext cx="268" cy="101"/>
              <a:chOff x="2875" y="1143"/>
              <a:chExt cx="330" cy="132"/>
            </a:xfrm>
          </p:grpSpPr>
          <p:sp>
            <p:nvSpPr>
              <p:cNvPr id="113" name="Line 18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18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18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18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37" name="Group 215"/>
          <p:cNvGrpSpPr>
            <a:grpSpLocks/>
          </p:cNvGrpSpPr>
          <p:nvPr/>
        </p:nvGrpSpPr>
        <p:grpSpPr bwMode="auto">
          <a:xfrm>
            <a:off x="1111677" y="2617023"/>
            <a:ext cx="6895162" cy="815271"/>
            <a:chOff x="113" y="1773"/>
            <a:chExt cx="5418" cy="694"/>
          </a:xfrm>
        </p:grpSpPr>
        <p:sp>
          <p:nvSpPr>
            <p:cNvPr id="139" name="Text Box 119"/>
            <p:cNvSpPr txBox="1">
              <a:spLocks noChangeArrowheads="1"/>
            </p:cNvSpPr>
            <p:nvPr/>
          </p:nvSpPr>
          <p:spPr bwMode="auto">
            <a:xfrm>
              <a:off x="5150" y="2205"/>
              <a:ext cx="38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pku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0" name="Text Box 120"/>
            <p:cNvSpPr txBox="1">
              <a:spLocks noChangeArrowheads="1"/>
            </p:cNvSpPr>
            <p:nvPr/>
          </p:nvSpPr>
          <p:spPr bwMode="auto">
            <a:xfrm>
              <a:off x="3924" y="2205"/>
              <a:ext cx="688"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tsinghua</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41" name="Text Box 121"/>
            <p:cNvSpPr txBox="1">
              <a:spLocks noChangeArrowheads="1"/>
            </p:cNvSpPr>
            <p:nvPr/>
          </p:nvSpPr>
          <p:spPr bwMode="auto">
            <a:xfrm>
              <a:off x="4754"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2" name="Rectangle 128"/>
            <p:cNvSpPr>
              <a:spLocks noChangeArrowheads="1"/>
            </p:cNvSpPr>
            <p:nvPr/>
          </p:nvSpPr>
          <p:spPr bwMode="auto">
            <a:xfrm>
              <a:off x="113" y="2182"/>
              <a:ext cx="708" cy="260"/>
            </a:xfrm>
            <a:prstGeom prst="rect">
              <a:avLst/>
            </a:prstGeom>
            <a:solidFill>
              <a:srgbClr val="CC00CC"/>
            </a:solidFill>
            <a:ln>
              <a:noFill/>
            </a:ln>
            <a:effectLst/>
            <a:extLst>
              <a:ext uri="{91240B29-F687-4F45-9708-019B960494DF}">
                <a14:hiddenLine xmlns:a14="http://schemas.microsoft.com/office/drawing/2010/main" w="19050" algn="ctr">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三级域名</a:t>
              </a:r>
            </a:p>
          </p:txBody>
        </p:sp>
        <p:sp>
          <p:nvSpPr>
            <p:cNvPr id="143" name="Text Box 129"/>
            <p:cNvSpPr txBox="1">
              <a:spLocks noChangeArrowheads="1"/>
            </p:cNvSpPr>
            <p:nvPr/>
          </p:nvSpPr>
          <p:spPr bwMode="auto">
            <a:xfrm>
              <a:off x="1064" y="2205"/>
              <a:ext cx="408"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mail</a:t>
              </a:r>
            </a:p>
          </p:txBody>
        </p:sp>
        <p:sp>
          <p:nvSpPr>
            <p:cNvPr id="144" name="Line 148"/>
            <p:cNvSpPr>
              <a:spLocks noChangeShapeType="1"/>
            </p:cNvSpPr>
            <p:nvPr/>
          </p:nvSpPr>
          <p:spPr bwMode="auto">
            <a:xfrm flipH="1">
              <a:off x="4386" y="1773"/>
              <a:ext cx="387" cy="42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Line 149"/>
            <p:cNvSpPr>
              <a:spLocks noChangeShapeType="1"/>
            </p:cNvSpPr>
            <p:nvPr/>
          </p:nvSpPr>
          <p:spPr bwMode="auto">
            <a:xfrm>
              <a:off x="4792" y="1784"/>
              <a:ext cx="548" cy="43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6" name="Text Box 150"/>
            <p:cNvSpPr txBox="1">
              <a:spLocks noChangeArrowheads="1"/>
            </p:cNvSpPr>
            <p:nvPr/>
          </p:nvSpPr>
          <p:spPr bwMode="auto">
            <a:xfrm>
              <a:off x="1826" y="2205"/>
              <a:ext cx="455" cy="262"/>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rgbClr val="0000CC"/>
                  </a:solidFill>
                  <a:latin typeface="微软雅黑 Light" panose="020B0502040204020203" pitchFamily="34" charset="-122"/>
                  <a:ea typeface="微软雅黑 Light" panose="020B0502040204020203" pitchFamily="34" charset="-122"/>
                </a:rPr>
                <a:t>www</a:t>
              </a:r>
            </a:p>
          </p:txBody>
        </p:sp>
        <p:sp>
          <p:nvSpPr>
            <p:cNvPr id="147" name="Text Box 152"/>
            <p:cNvSpPr txBox="1">
              <a:spLocks noChangeArrowheads="1"/>
            </p:cNvSpPr>
            <p:nvPr/>
          </p:nvSpPr>
          <p:spPr bwMode="auto">
            <a:xfrm>
              <a:off x="1519" y="216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48" name="Line 153"/>
            <p:cNvSpPr>
              <a:spLocks noChangeShapeType="1"/>
            </p:cNvSpPr>
            <p:nvPr/>
          </p:nvSpPr>
          <p:spPr bwMode="auto">
            <a:xfrm flipV="1">
              <a:off x="1274" y="1794"/>
              <a:ext cx="383" cy="44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9" name="Line 154"/>
            <p:cNvSpPr>
              <a:spLocks noChangeShapeType="1"/>
            </p:cNvSpPr>
            <p:nvPr/>
          </p:nvSpPr>
          <p:spPr bwMode="auto">
            <a:xfrm>
              <a:off x="1657" y="1794"/>
              <a:ext cx="361" cy="473"/>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50" name="Group 187"/>
            <p:cNvGrpSpPr>
              <a:grpSpLocks/>
            </p:cNvGrpSpPr>
            <p:nvPr/>
          </p:nvGrpSpPr>
          <p:grpSpPr bwMode="auto">
            <a:xfrm>
              <a:off x="2613" y="1797"/>
              <a:ext cx="269" cy="101"/>
              <a:chOff x="2875" y="1143"/>
              <a:chExt cx="330" cy="132"/>
            </a:xfrm>
          </p:grpSpPr>
          <p:sp>
            <p:nvSpPr>
              <p:cNvPr id="166" name="Line 18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7" name="Line 18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8" name="Line 19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9" name="Line 19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1" name="Group 192"/>
            <p:cNvGrpSpPr>
              <a:grpSpLocks/>
            </p:cNvGrpSpPr>
            <p:nvPr/>
          </p:nvGrpSpPr>
          <p:grpSpPr bwMode="auto">
            <a:xfrm>
              <a:off x="5131" y="1797"/>
              <a:ext cx="268" cy="101"/>
              <a:chOff x="2875" y="1143"/>
              <a:chExt cx="330" cy="132"/>
            </a:xfrm>
          </p:grpSpPr>
          <p:sp>
            <p:nvSpPr>
              <p:cNvPr id="162" name="Line 19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9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Line 19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5" name="Line 19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2" name="Group 197"/>
            <p:cNvGrpSpPr>
              <a:grpSpLocks/>
            </p:cNvGrpSpPr>
            <p:nvPr/>
          </p:nvGrpSpPr>
          <p:grpSpPr bwMode="auto">
            <a:xfrm>
              <a:off x="2239" y="1797"/>
              <a:ext cx="268" cy="101"/>
              <a:chOff x="2875" y="1143"/>
              <a:chExt cx="330" cy="132"/>
            </a:xfrm>
          </p:grpSpPr>
          <p:sp>
            <p:nvSpPr>
              <p:cNvPr id="158" name="Line 198"/>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99"/>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200"/>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201"/>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53" name="Group 202"/>
            <p:cNvGrpSpPr>
              <a:grpSpLocks/>
            </p:cNvGrpSpPr>
            <p:nvPr/>
          </p:nvGrpSpPr>
          <p:grpSpPr bwMode="auto">
            <a:xfrm>
              <a:off x="3953" y="1797"/>
              <a:ext cx="268" cy="101"/>
              <a:chOff x="2875" y="1143"/>
              <a:chExt cx="330" cy="132"/>
            </a:xfrm>
          </p:grpSpPr>
          <p:sp>
            <p:nvSpPr>
              <p:cNvPr id="154" name="Line 203"/>
              <p:cNvSpPr>
                <a:spLocks noChangeShapeType="1"/>
              </p:cNvSpPr>
              <p:nvPr/>
            </p:nvSpPr>
            <p:spPr bwMode="auto">
              <a:xfrm>
                <a:off x="3061"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5" name="Line 204"/>
              <p:cNvSpPr>
                <a:spLocks noChangeShapeType="1"/>
              </p:cNvSpPr>
              <p:nvPr/>
            </p:nvSpPr>
            <p:spPr bwMode="auto">
              <a:xfrm>
                <a:off x="3050" y="1143"/>
                <a:ext cx="37" cy="12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6" name="Line 205"/>
              <p:cNvSpPr>
                <a:spLocks noChangeShapeType="1"/>
              </p:cNvSpPr>
              <p:nvPr/>
            </p:nvSpPr>
            <p:spPr bwMode="auto">
              <a:xfrm flipH="1">
                <a:off x="2875" y="1143"/>
                <a:ext cx="144" cy="13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7" name="Line 206"/>
              <p:cNvSpPr>
                <a:spLocks noChangeShapeType="1"/>
              </p:cNvSpPr>
              <p:nvPr/>
            </p:nvSpPr>
            <p:spPr bwMode="auto">
              <a:xfrm flipH="1">
                <a:off x="2980" y="1143"/>
                <a:ext cx="54" cy="126"/>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70" name="Group 213"/>
          <p:cNvGrpSpPr>
            <a:grpSpLocks/>
          </p:cNvGrpSpPr>
          <p:nvPr/>
        </p:nvGrpSpPr>
        <p:grpSpPr bwMode="auto">
          <a:xfrm>
            <a:off x="1111677" y="1364746"/>
            <a:ext cx="6859528" cy="682525"/>
            <a:chOff x="113" y="707"/>
            <a:chExt cx="5390" cy="581"/>
          </a:xfrm>
        </p:grpSpPr>
        <p:sp>
          <p:nvSpPr>
            <p:cNvPr id="172" name="Text Box 106"/>
            <p:cNvSpPr txBox="1">
              <a:spLocks noChangeArrowheads="1"/>
            </p:cNvSpPr>
            <p:nvPr/>
          </p:nvSpPr>
          <p:spPr bwMode="auto">
            <a:xfrm>
              <a:off x="1975" y="1026"/>
              <a:ext cx="423"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com</a:t>
              </a:r>
            </a:p>
          </p:txBody>
        </p:sp>
        <p:sp>
          <p:nvSpPr>
            <p:cNvPr id="173" name="Text Box 107"/>
            <p:cNvSpPr txBox="1">
              <a:spLocks noChangeArrowheads="1"/>
            </p:cNvSpPr>
            <p:nvPr/>
          </p:nvSpPr>
          <p:spPr bwMode="auto">
            <a:xfrm>
              <a:off x="2472" y="1026"/>
              <a:ext cx="34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net</a:t>
              </a:r>
            </a:p>
          </p:txBody>
        </p:sp>
        <p:sp>
          <p:nvSpPr>
            <p:cNvPr id="174" name="Text Box 108"/>
            <p:cNvSpPr txBox="1">
              <a:spLocks noChangeArrowheads="1"/>
            </p:cNvSpPr>
            <p:nvPr/>
          </p:nvSpPr>
          <p:spPr bwMode="auto">
            <a:xfrm>
              <a:off x="2900" y="1026"/>
              <a:ext cx="364"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org</a:t>
              </a:r>
            </a:p>
          </p:txBody>
        </p:sp>
        <p:sp>
          <p:nvSpPr>
            <p:cNvPr id="175" name="Text Box 109"/>
            <p:cNvSpPr txBox="1">
              <a:spLocks noChangeArrowheads="1"/>
            </p:cNvSpPr>
            <p:nvPr/>
          </p:nvSpPr>
          <p:spPr bwMode="auto">
            <a:xfrm>
              <a:off x="3329" y="1026"/>
              <a:ext cx="389"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edu</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76" name="Text Box 110"/>
            <p:cNvSpPr txBox="1">
              <a:spLocks noChangeArrowheads="1"/>
            </p:cNvSpPr>
            <p:nvPr/>
          </p:nvSpPr>
          <p:spPr bwMode="auto">
            <a:xfrm>
              <a:off x="3758" y="1026"/>
              <a:ext cx="386"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gov</a:t>
              </a:r>
            </a:p>
          </p:txBody>
        </p:sp>
        <p:sp>
          <p:nvSpPr>
            <p:cNvPr id="177" name="Text Box 111"/>
            <p:cNvSpPr txBox="1">
              <a:spLocks noChangeArrowheads="1"/>
            </p:cNvSpPr>
            <p:nvPr/>
          </p:nvSpPr>
          <p:spPr bwMode="auto">
            <a:xfrm>
              <a:off x="1114" y="1026"/>
              <a:ext cx="431"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aero</a:t>
              </a:r>
            </a:p>
          </p:txBody>
        </p:sp>
        <p:sp>
          <p:nvSpPr>
            <p:cNvPr id="178" name="Text Box 112"/>
            <p:cNvSpPr txBox="1">
              <a:spLocks noChangeArrowheads="1"/>
            </p:cNvSpPr>
            <p:nvPr/>
          </p:nvSpPr>
          <p:spPr bwMode="auto">
            <a:xfrm>
              <a:off x="4489"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cn</a:t>
              </a:r>
            </a:p>
          </p:txBody>
        </p:sp>
        <p:sp>
          <p:nvSpPr>
            <p:cNvPr id="179" name="Text Box 113"/>
            <p:cNvSpPr txBox="1">
              <a:spLocks noChangeArrowheads="1"/>
            </p:cNvSpPr>
            <p:nvPr/>
          </p:nvSpPr>
          <p:spPr bwMode="auto">
            <a:xfrm>
              <a:off x="4918" y="1026"/>
              <a:ext cx="295"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err="1">
                  <a:solidFill>
                    <a:schemeClr val="tx1"/>
                  </a:solidFill>
                  <a:latin typeface="微软雅黑 Light" panose="020B0502040204020203" pitchFamily="34" charset="-122"/>
                  <a:ea typeface="微软雅黑 Light" panose="020B0502040204020203" pitchFamily="34" charset="-122"/>
                </a:rPr>
                <a:t>uk</a:t>
              </a:r>
              <a:endParaRPr kumimoji="1" lang="en-US" altLang="zh-CN" sz="1400" b="1" dirty="0">
                <a:solidFill>
                  <a:schemeClr val="tx1"/>
                </a:solidFill>
                <a:latin typeface="微软雅黑 Light" panose="020B0502040204020203" pitchFamily="34" charset="-122"/>
                <a:ea typeface="微软雅黑 Light" panose="020B0502040204020203" pitchFamily="34" charset="-122"/>
              </a:endParaRPr>
            </a:p>
          </p:txBody>
        </p:sp>
        <p:sp>
          <p:nvSpPr>
            <p:cNvPr id="180" name="Text Box 114"/>
            <p:cNvSpPr txBox="1">
              <a:spLocks noChangeArrowheads="1"/>
            </p:cNvSpPr>
            <p:nvPr/>
          </p:nvSpPr>
          <p:spPr bwMode="auto">
            <a:xfrm>
              <a:off x="5256" y="987"/>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81" name="Rectangle 126"/>
            <p:cNvSpPr>
              <a:spLocks noChangeArrowheads="1"/>
            </p:cNvSpPr>
            <p:nvPr/>
          </p:nvSpPr>
          <p:spPr bwMode="auto">
            <a:xfrm>
              <a:off x="113" y="1005"/>
              <a:ext cx="708" cy="260"/>
            </a:xfrm>
            <a:prstGeom prst="rect">
              <a:avLst/>
            </a:prstGeom>
            <a:solidFill>
              <a:srgbClr val="0000FF"/>
            </a:solidFill>
            <a:ln>
              <a:noFill/>
            </a:ln>
            <a:effectLst/>
            <a:extLst>
              <a:ext uri="{91240B29-F687-4F45-9708-019B960494DF}">
                <a14:hiddenLine xmlns:a14="http://schemas.microsoft.com/office/drawing/2010/main" w="19050">
                  <a:solidFill>
                    <a:srgbClr val="CCECFF"/>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a:r>
                <a:rPr kumimoji="1" lang="zh-CN" altLang="en-US" sz="1400" b="1" dirty="0">
                  <a:solidFill>
                    <a:schemeClr val="bg1"/>
                  </a:solidFill>
                  <a:latin typeface="微软雅黑 Light" panose="020B0502040204020203" pitchFamily="34" charset="-122"/>
                  <a:ea typeface="微软雅黑 Light" panose="020B0502040204020203" pitchFamily="34" charset="-122"/>
                </a:rPr>
                <a:t>顶级域名</a:t>
              </a:r>
            </a:p>
          </p:txBody>
        </p:sp>
        <p:sp>
          <p:nvSpPr>
            <p:cNvPr id="182" name="Line 133"/>
            <p:cNvSpPr>
              <a:spLocks noChangeShapeType="1"/>
            </p:cNvSpPr>
            <p:nvPr/>
          </p:nvSpPr>
          <p:spPr bwMode="auto">
            <a:xfrm flipH="1">
              <a:off x="2201" y="712"/>
              <a:ext cx="1068" cy="389"/>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3" name="Line 134"/>
            <p:cNvSpPr>
              <a:spLocks noChangeShapeType="1"/>
            </p:cNvSpPr>
            <p:nvPr/>
          </p:nvSpPr>
          <p:spPr bwMode="auto">
            <a:xfrm flipH="1">
              <a:off x="2681" y="730"/>
              <a:ext cx="575" cy="352"/>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4" name="Line 135"/>
            <p:cNvSpPr>
              <a:spLocks noChangeShapeType="1"/>
            </p:cNvSpPr>
            <p:nvPr/>
          </p:nvSpPr>
          <p:spPr bwMode="auto">
            <a:xfrm flipH="1">
              <a:off x="3134" y="730"/>
              <a:ext cx="131" cy="344"/>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5" name="Line 136"/>
            <p:cNvSpPr>
              <a:spLocks noChangeShapeType="1"/>
            </p:cNvSpPr>
            <p:nvPr/>
          </p:nvSpPr>
          <p:spPr bwMode="auto">
            <a:xfrm>
              <a:off x="3277" y="723"/>
              <a:ext cx="249" cy="36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Line 137"/>
            <p:cNvSpPr>
              <a:spLocks noChangeShapeType="1"/>
            </p:cNvSpPr>
            <p:nvPr/>
          </p:nvSpPr>
          <p:spPr bwMode="auto">
            <a:xfrm>
              <a:off x="3275" y="715"/>
              <a:ext cx="681" cy="375"/>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Line 138"/>
            <p:cNvSpPr>
              <a:spLocks noChangeShapeType="1"/>
            </p:cNvSpPr>
            <p:nvPr/>
          </p:nvSpPr>
          <p:spPr bwMode="auto">
            <a:xfrm>
              <a:off x="3288" y="708"/>
              <a:ext cx="1353" cy="377"/>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Line 139"/>
            <p:cNvSpPr>
              <a:spLocks noChangeShapeType="1"/>
            </p:cNvSpPr>
            <p:nvPr/>
          </p:nvSpPr>
          <p:spPr bwMode="auto">
            <a:xfrm flipH="1">
              <a:off x="1358" y="707"/>
              <a:ext cx="1933" cy="370"/>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Line 140"/>
            <p:cNvSpPr>
              <a:spLocks noChangeShapeType="1"/>
            </p:cNvSpPr>
            <p:nvPr/>
          </p:nvSpPr>
          <p:spPr bwMode="auto">
            <a:xfrm>
              <a:off x="3250" y="709"/>
              <a:ext cx="1777" cy="351"/>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0" name="Text Box 141"/>
            <p:cNvSpPr txBox="1">
              <a:spLocks noChangeArrowheads="1"/>
            </p:cNvSpPr>
            <p:nvPr/>
          </p:nvSpPr>
          <p:spPr bwMode="auto">
            <a:xfrm>
              <a:off x="1647" y="986"/>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sp>
          <p:nvSpPr>
            <p:cNvPr id="191" name="Text Box 207"/>
            <p:cNvSpPr txBox="1">
              <a:spLocks noChangeArrowheads="1"/>
            </p:cNvSpPr>
            <p:nvPr/>
          </p:nvSpPr>
          <p:spPr bwMode="auto">
            <a:xfrm>
              <a:off x="4147" y="985"/>
              <a:ext cx="247" cy="26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400" b="1" dirty="0">
                  <a:solidFill>
                    <a:schemeClr val="tx1"/>
                  </a:solidFill>
                  <a:latin typeface="微软雅黑 Light" panose="020B0502040204020203" pitchFamily="34" charset="-122"/>
                  <a:ea typeface="微软雅黑 Light" panose="020B0502040204020203" pitchFamily="34" charset="-122"/>
                </a:rPr>
                <a:t>…</a:t>
              </a:r>
            </a:p>
          </p:txBody>
        </p:sp>
      </p:grpSp>
      <p:sp>
        <p:nvSpPr>
          <p:cNvPr id="2" name="矩形 1"/>
          <p:cNvSpPr/>
          <p:nvPr/>
        </p:nvSpPr>
        <p:spPr>
          <a:xfrm>
            <a:off x="1447060" y="4218679"/>
            <a:ext cx="6702641" cy="369332"/>
          </a:xfrm>
          <a:prstGeom prst="rect">
            <a:avLst/>
          </a:prstGeom>
        </p:spPr>
        <p:txBody>
          <a:bodyPr wrap="square">
            <a:spAutoFit/>
          </a:bodyPr>
          <a:lstStyle/>
          <a:p>
            <a:r>
              <a:rPr lang="zh-CN" altLang="en-US" b="1" dirty="0">
                <a:latin typeface="微软雅黑 Light" panose="020B0502040204020203" pitchFamily="34" charset="-122"/>
                <a:ea typeface="微软雅黑 Light" panose="020B0502040204020203" pitchFamily="34" charset="-122"/>
              </a:rPr>
              <a:t>域名树的</a:t>
            </a:r>
            <a:r>
              <a:rPr lang="zh-CN" altLang="en-US" b="1" dirty="0">
                <a:solidFill>
                  <a:srgbClr val="C00000"/>
                </a:solidFill>
                <a:latin typeface="微软雅黑 Light" panose="020B0502040204020203" pitchFamily="34" charset="-122"/>
                <a:ea typeface="微软雅黑 Light" panose="020B0502040204020203" pitchFamily="34" charset="-122"/>
              </a:rPr>
              <a:t>树叶</a:t>
            </a:r>
            <a:r>
              <a:rPr lang="zh-CN" altLang="en-US" b="1" dirty="0">
                <a:latin typeface="微软雅黑 Light" panose="020B0502040204020203" pitchFamily="34" charset="-122"/>
                <a:ea typeface="微软雅黑 Light" panose="020B0502040204020203" pitchFamily="34" charset="-122"/>
              </a:rPr>
              <a:t>就是计算机的名字，它不能再继续往下划分子域了。</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170"/>
                                        </p:tgtEl>
                                        <p:attrNameLst>
                                          <p:attrName>style.visibility</p:attrName>
                                        </p:attrNameLst>
                                      </p:cBhvr>
                                      <p:to>
                                        <p:strVal val="visible"/>
                                      </p:to>
                                    </p:set>
                                    <p:animEffect transition="in" filter="wipe(up)">
                                      <p:cBhvr>
                                        <p:cTn id="7" dur="1000"/>
                                        <p:tgtEl>
                                          <p:spTgt spid="17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90"/>
                                        </p:tgtEl>
                                        <p:attrNameLst>
                                          <p:attrName>style.visibility</p:attrName>
                                        </p:attrNameLst>
                                      </p:cBhvr>
                                      <p:to>
                                        <p:strVal val="visible"/>
                                      </p:to>
                                    </p:set>
                                    <p:animEffect transition="in" filter="wipe(up)">
                                      <p:cBhvr>
                                        <p:cTn id="12" dur="1000"/>
                                        <p:tgtEl>
                                          <p:spTgt spid="9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137"/>
                                        </p:tgtEl>
                                        <p:attrNameLst>
                                          <p:attrName>style.visibility</p:attrName>
                                        </p:attrNameLst>
                                      </p:cBhvr>
                                      <p:to>
                                        <p:strVal val="visible"/>
                                      </p:to>
                                    </p:set>
                                    <p:animEffect transition="in" filter="wipe(up)">
                                      <p:cBhvr>
                                        <p:cTn id="17" dur="1000"/>
                                        <p:tgtEl>
                                          <p:spTgt spid="13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82"/>
                                        </p:tgtEl>
                                        <p:attrNameLst>
                                          <p:attrName>style.visibility</p:attrName>
                                        </p:attrNameLst>
                                      </p:cBhvr>
                                      <p:to>
                                        <p:strVal val="visible"/>
                                      </p:to>
                                    </p:set>
                                    <p:animEffect transition="in" filter="wipe(up)">
                                      <p:cBhvr>
                                        <p:cTn id="22" dur="1000"/>
                                        <p:tgtEl>
                                          <p:spTgt spid="82"/>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2"/>
                                        </p:tgtEl>
                                        <p:attrNameLst>
                                          <p:attrName>style.visibility</p:attrName>
                                        </p:attrNameLst>
                                      </p:cBhvr>
                                      <p:to>
                                        <p:strVal val="visible"/>
                                      </p:to>
                                    </p:set>
                                    <p:animEffect transition="in" filter="fade">
                                      <p:cBhvr>
                                        <p:cTn id="26"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E7A7377-268B-9122-F7A8-CD4766EC2F5A}"/>
              </a:ext>
            </a:extLst>
          </p:cNvPr>
          <p:cNvSpPr>
            <a:spLocks noGrp="1"/>
          </p:cNvSpPr>
          <p:nvPr>
            <p:ph type="title"/>
          </p:nvPr>
        </p:nvSpPr>
        <p:spPr>
          <a:xfrm>
            <a:off x="485999" y="174482"/>
            <a:ext cx="8171999" cy="338554"/>
          </a:xfrm>
        </p:spPr>
        <p:txBody>
          <a:bodyPr/>
          <a:lstStyle/>
          <a:p>
            <a:r>
              <a:rPr lang="zh-CN" altLang="en-US" dirty="0"/>
              <a:t>互联网的域名空间结构</a:t>
            </a:r>
          </a:p>
        </p:txBody>
      </p:sp>
      <p:sp>
        <p:nvSpPr>
          <p:cNvPr id="5" name="内容占位符 4">
            <a:extLst>
              <a:ext uri="{FF2B5EF4-FFF2-40B4-BE49-F238E27FC236}">
                <a16:creationId xmlns:a16="http://schemas.microsoft.com/office/drawing/2014/main" id="{C5015F1F-795B-051B-63D9-BEEB5F8644A6}"/>
              </a:ext>
            </a:extLst>
          </p:cNvPr>
          <p:cNvSpPr>
            <a:spLocks noGrp="1"/>
          </p:cNvSpPr>
          <p:nvPr>
            <p:ph sz="quarter" idx="11"/>
          </p:nvPr>
        </p:nvSpPr>
        <p:spPr>
          <a:xfrm>
            <a:off x="486000" y="687518"/>
            <a:ext cx="8172000" cy="4079035"/>
          </a:xfrm>
        </p:spPr>
        <p:txBody>
          <a:bodyPr/>
          <a:lstStyle/>
          <a:p>
            <a:r>
              <a:rPr lang="zh-CN" altLang="en-US" dirty="0"/>
              <a:t>注意：互联网的名字空间是按照机构的组织来划分的，与物理的网络无关，与 </a:t>
            </a:r>
            <a:r>
              <a:rPr lang="en-US" altLang="zh-CN" dirty="0"/>
              <a:t>IP </a:t>
            </a:r>
            <a:r>
              <a:rPr lang="zh-CN" altLang="en-US" dirty="0"/>
              <a:t>地址中的“子网”也没有关系。</a:t>
            </a:r>
          </a:p>
          <a:p>
            <a:endParaRPr lang="zh-CN" altLang="en-US" dirty="0"/>
          </a:p>
        </p:txBody>
      </p:sp>
    </p:spTree>
    <p:extLst>
      <p:ext uri="{BB962C8B-B14F-4D97-AF65-F5344CB8AC3E}">
        <p14:creationId xmlns:p14="http://schemas.microsoft.com/office/powerpoint/2010/main" val="181134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0EB2A92A-19AB-55D9-295A-4999AFC2517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a:t>
            </a:r>
          </a:p>
        </p:txBody>
      </p:sp>
      <p:sp>
        <p:nvSpPr>
          <p:cNvPr id="4" name="内容占位符 3">
            <a:extLst>
              <a:ext uri="{FF2B5EF4-FFF2-40B4-BE49-F238E27FC236}">
                <a16:creationId xmlns:a16="http://schemas.microsoft.com/office/drawing/2014/main" id="{566EE599-A05A-72C5-A571-993C4710FE8E}"/>
              </a:ext>
            </a:extLst>
          </p:cNvPr>
          <p:cNvSpPr>
            <a:spLocks noGrp="1"/>
          </p:cNvSpPr>
          <p:nvPr>
            <p:ph sz="quarter" idx="11"/>
          </p:nvPr>
        </p:nvSpPr>
        <p:spPr>
          <a:xfrm>
            <a:off x="486000" y="687518"/>
            <a:ext cx="8172000" cy="4079035"/>
          </a:xfrm>
        </p:spPr>
        <p:txBody>
          <a:bodyPr/>
          <a:lstStyle/>
          <a:p>
            <a:r>
              <a:rPr lang="zh-CN" altLang="en-US" dirty="0"/>
              <a:t>实现域名系统使用分布在各地的域名服务器 </a:t>
            </a:r>
            <a:r>
              <a:rPr lang="en-US" altLang="zh-CN" dirty="0"/>
              <a:t>DNS </a:t>
            </a:r>
            <a:r>
              <a:rPr lang="zh-CN" altLang="en-US" dirty="0"/>
              <a:t>服务器</a:t>
            </a:r>
            <a:endParaRPr lang="en-US" altLang="zh-CN" dirty="0"/>
          </a:p>
          <a:p>
            <a:r>
              <a:rPr lang="zh-CN" altLang="en-US" dirty="0"/>
              <a:t>一个服务器所负责管辖的（或有权限的）范围叫做区 </a:t>
            </a:r>
            <a:r>
              <a:rPr lang="en-US" altLang="zh-CN" dirty="0"/>
              <a:t>zone</a:t>
            </a:r>
            <a:endParaRPr lang="zh-CN" altLang="en-US" dirty="0"/>
          </a:p>
          <a:p>
            <a:r>
              <a:rPr lang="zh-CN" altLang="en-US" dirty="0"/>
              <a:t>各单位根据具体情况划分自己管辖的区</a:t>
            </a:r>
            <a:endParaRPr lang="en-US" altLang="zh-CN" dirty="0"/>
          </a:p>
          <a:p>
            <a:r>
              <a:rPr lang="zh-CN" altLang="en-US" dirty="0"/>
              <a:t>一个区中的所有节点必须能够连通</a:t>
            </a:r>
          </a:p>
          <a:p>
            <a:r>
              <a:rPr lang="zh-CN" altLang="en-US" dirty="0"/>
              <a:t>每个区设置权限域名服务器保存该区中的所有主机的域名到 </a:t>
            </a:r>
            <a:r>
              <a:rPr lang="en-US" altLang="zh-CN" dirty="0"/>
              <a:t>IP </a:t>
            </a:r>
            <a:r>
              <a:rPr lang="zh-CN" altLang="en-US" dirty="0"/>
              <a:t>地址的映射</a:t>
            </a:r>
            <a:endParaRPr lang="en-US" altLang="zh-CN" dirty="0"/>
          </a:p>
          <a:p>
            <a:r>
              <a:rPr lang="en-US" altLang="zh-CN" dirty="0"/>
              <a:t>DNS </a:t>
            </a:r>
            <a:r>
              <a:rPr lang="zh-CN" altLang="en-US" dirty="0"/>
              <a:t>服务器的管辖范围不是以域为单位，而是以区为单位</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AutoShape 95"/>
          <p:cNvSpPr>
            <a:spLocks noChangeArrowheads="1"/>
          </p:cNvSpPr>
          <p:nvPr/>
        </p:nvSpPr>
        <p:spPr bwMode="auto">
          <a:xfrm>
            <a:off x="1691868" y="2263871"/>
            <a:ext cx="2761795" cy="1592984"/>
          </a:xfrm>
          <a:prstGeom prst="roundRect">
            <a:avLst>
              <a:gd name="adj" fmla="val 9319"/>
            </a:avLst>
          </a:prstGeom>
          <a:solidFill>
            <a:srgbClr val="0000FF"/>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1" name="Group 173"/>
          <p:cNvGrpSpPr>
            <a:grpSpLocks/>
          </p:cNvGrpSpPr>
          <p:nvPr/>
        </p:nvGrpSpPr>
        <p:grpSpPr bwMode="auto">
          <a:xfrm>
            <a:off x="4689084" y="1219433"/>
            <a:ext cx="2775277" cy="2956210"/>
            <a:chOff x="2971" y="709"/>
            <a:chExt cx="2676" cy="3088"/>
          </a:xfrm>
        </p:grpSpPr>
        <p:sp>
          <p:nvSpPr>
            <p:cNvPr id="38" name="AutoShape 117"/>
            <p:cNvSpPr>
              <a:spLocks noChangeArrowheads="1"/>
            </p:cNvSpPr>
            <p:nvPr/>
          </p:nvSpPr>
          <p:spPr bwMode="auto">
            <a:xfrm>
              <a:off x="2971" y="1800"/>
              <a:ext cx="2665" cy="1664"/>
            </a:xfrm>
            <a:prstGeom prst="roundRect">
              <a:avLst>
                <a:gd name="adj" fmla="val 9319"/>
              </a:avLst>
            </a:prstGeom>
            <a:solidFill>
              <a:schemeClr val="accent6">
                <a:lumMod val="50000"/>
              </a:schemeClr>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32" name="Group 89"/>
            <p:cNvGrpSpPr>
              <a:grpSpLocks/>
            </p:cNvGrpSpPr>
            <p:nvPr/>
          </p:nvGrpSpPr>
          <p:grpSpPr bwMode="auto">
            <a:xfrm>
              <a:off x="4196" y="1530"/>
              <a:ext cx="256" cy="98"/>
              <a:chOff x="1519" y="813"/>
              <a:chExt cx="227" cy="77"/>
            </a:xfrm>
          </p:grpSpPr>
          <p:sp>
            <p:nvSpPr>
              <p:cNvPr id="73" name="Line 9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4" name="Line 9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3" name="Text Box 112"/>
            <p:cNvSpPr txBox="1">
              <a:spLocks noChangeArrowheads="1"/>
            </p:cNvSpPr>
            <p:nvPr/>
          </p:nvSpPr>
          <p:spPr bwMode="auto">
            <a:xfrm>
              <a:off x="3892" y="3476"/>
              <a:ext cx="1019" cy="3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&lt;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34" name="Line 113"/>
            <p:cNvSpPr>
              <a:spLocks noChangeShapeType="1"/>
            </p:cNvSpPr>
            <p:nvPr/>
          </p:nvSpPr>
          <p:spPr bwMode="auto">
            <a:xfrm>
              <a:off x="4328" y="1523"/>
              <a:ext cx="5" cy="50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5" name="Text Box 114"/>
            <p:cNvSpPr txBox="1">
              <a:spLocks noChangeArrowheads="1"/>
            </p:cNvSpPr>
            <p:nvPr/>
          </p:nvSpPr>
          <p:spPr bwMode="auto">
            <a:xfrm>
              <a:off x="3061" y="1806"/>
              <a:ext cx="937" cy="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36" name="Freeform 115"/>
            <p:cNvSpPr>
              <a:spLocks/>
            </p:cNvSpPr>
            <p:nvPr/>
          </p:nvSpPr>
          <p:spPr bwMode="auto">
            <a:xfrm>
              <a:off x="4458" y="2341"/>
              <a:ext cx="849" cy="958"/>
            </a:xfrm>
            <a:custGeom>
              <a:avLst/>
              <a:gdLst>
                <a:gd name="T0" fmla="*/ 627 w 753"/>
                <a:gd name="T1" fmla="*/ 43 h 900"/>
                <a:gd name="T2" fmla="*/ 149 w 753"/>
                <a:gd name="T3" fmla="*/ 90 h 900"/>
                <a:gd name="T4" fmla="*/ 1 w 753"/>
                <a:gd name="T5" fmla="*/ 345 h 900"/>
                <a:gd name="T6" fmla="*/ 167 w 753"/>
                <a:gd name="T7" fmla="*/ 532 h 900"/>
                <a:gd name="T8" fmla="*/ 472 w 753"/>
                <a:gd name="T9" fmla="*/ 854 h 900"/>
                <a:gd name="T10" fmla="*/ 745 w 753"/>
                <a:gd name="T11" fmla="*/ 1193 h 900"/>
                <a:gd name="T12" fmla="*/ 1103 w 753"/>
                <a:gd name="T13" fmla="*/ 1300 h 900"/>
                <a:gd name="T14" fmla="*/ 1416 w 753"/>
                <a:gd name="T15" fmla="*/ 1242 h 900"/>
                <a:gd name="T16" fmla="*/ 1547 w 753"/>
                <a:gd name="T17" fmla="*/ 1114 h 900"/>
                <a:gd name="T18" fmla="*/ 1413 w 753"/>
                <a:gd name="T19" fmla="*/ 843 h 900"/>
                <a:gd name="T20" fmla="*/ 1235 w 753"/>
                <a:gd name="T21" fmla="*/ 626 h 900"/>
                <a:gd name="T22" fmla="*/ 991 w 753"/>
                <a:gd name="T23" fmla="*/ 356 h 900"/>
                <a:gd name="T24" fmla="*/ 627 w 753"/>
                <a:gd name="T25" fmla="*/ 43 h 900"/>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753" h="900">
                  <a:moveTo>
                    <a:pt x="305" y="30"/>
                  </a:moveTo>
                  <a:cubicBezTo>
                    <a:pt x="237" y="0"/>
                    <a:pt x="124" y="27"/>
                    <a:pt x="73" y="62"/>
                  </a:cubicBezTo>
                  <a:cubicBezTo>
                    <a:pt x="22" y="97"/>
                    <a:pt x="0" y="187"/>
                    <a:pt x="1" y="238"/>
                  </a:cubicBezTo>
                  <a:cubicBezTo>
                    <a:pt x="2" y="289"/>
                    <a:pt x="43" y="308"/>
                    <a:pt x="81" y="366"/>
                  </a:cubicBezTo>
                  <a:cubicBezTo>
                    <a:pt x="119" y="424"/>
                    <a:pt x="184" y="510"/>
                    <a:pt x="231" y="586"/>
                  </a:cubicBezTo>
                  <a:cubicBezTo>
                    <a:pt x="278" y="662"/>
                    <a:pt x="312" y="769"/>
                    <a:pt x="363" y="820"/>
                  </a:cubicBezTo>
                  <a:cubicBezTo>
                    <a:pt x="414" y="871"/>
                    <a:pt x="483" y="888"/>
                    <a:pt x="537" y="894"/>
                  </a:cubicBezTo>
                  <a:cubicBezTo>
                    <a:pt x="591" y="900"/>
                    <a:pt x="653" y="875"/>
                    <a:pt x="689" y="854"/>
                  </a:cubicBezTo>
                  <a:cubicBezTo>
                    <a:pt x="725" y="833"/>
                    <a:pt x="753" y="812"/>
                    <a:pt x="753" y="766"/>
                  </a:cubicBezTo>
                  <a:cubicBezTo>
                    <a:pt x="753" y="720"/>
                    <a:pt x="712" y="636"/>
                    <a:pt x="687" y="580"/>
                  </a:cubicBezTo>
                  <a:cubicBezTo>
                    <a:pt x="662" y="524"/>
                    <a:pt x="635" y="486"/>
                    <a:pt x="601" y="430"/>
                  </a:cubicBezTo>
                  <a:cubicBezTo>
                    <a:pt x="567" y="374"/>
                    <a:pt x="532" y="311"/>
                    <a:pt x="483" y="244"/>
                  </a:cubicBezTo>
                  <a:cubicBezTo>
                    <a:pt x="434" y="177"/>
                    <a:pt x="368" y="58"/>
                    <a:pt x="305" y="30"/>
                  </a:cubicBezTo>
                  <a:close/>
                </a:path>
              </a:pathLst>
            </a:custGeom>
            <a:solidFill>
              <a:srgbClr val="9999FF"/>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Freeform 116"/>
            <p:cNvSpPr>
              <a:spLocks/>
            </p:cNvSpPr>
            <p:nvPr/>
          </p:nvSpPr>
          <p:spPr bwMode="auto">
            <a:xfrm>
              <a:off x="3215" y="1882"/>
              <a:ext cx="1535" cy="1436"/>
            </a:xfrm>
            <a:custGeom>
              <a:avLst/>
              <a:gdLst>
                <a:gd name="T0" fmla="*/ 2481 w 1360"/>
                <a:gd name="T1" fmla="*/ 85 h 1349"/>
                <a:gd name="T2" fmla="*/ 1823 w 1360"/>
                <a:gd name="T3" fmla="*/ 67 h 1349"/>
                <a:gd name="T4" fmla="*/ 1248 w 1360"/>
                <a:gd name="T5" fmla="*/ 490 h 1349"/>
                <a:gd name="T6" fmla="*/ 247 w 1360"/>
                <a:gd name="T7" fmla="*/ 1427 h 1349"/>
                <a:gd name="T8" fmla="*/ 27 w 1360"/>
                <a:gd name="T9" fmla="*/ 1809 h 1349"/>
                <a:gd name="T10" fmla="*/ 403 w 1360"/>
                <a:gd name="T11" fmla="*/ 1943 h 1349"/>
                <a:gd name="T12" fmla="*/ 1265 w 1360"/>
                <a:gd name="T13" fmla="*/ 1945 h 1349"/>
                <a:gd name="T14" fmla="*/ 2380 w 1360"/>
                <a:gd name="T15" fmla="*/ 1934 h 1349"/>
                <a:gd name="T16" fmla="*/ 2764 w 1360"/>
                <a:gd name="T17" fmla="*/ 1796 h 1349"/>
                <a:gd name="T18" fmla="*/ 2651 w 1360"/>
                <a:gd name="T19" fmla="*/ 1546 h 1349"/>
                <a:gd name="T20" fmla="*/ 2169 w 1360"/>
                <a:gd name="T21" fmla="*/ 1123 h 1349"/>
                <a:gd name="T22" fmla="*/ 2090 w 1360"/>
                <a:gd name="T23" fmla="*/ 884 h 1349"/>
                <a:gd name="T24" fmla="*/ 2368 w 1360"/>
                <a:gd name="T25" fmla="*/ 557 h 1349"/>
                <a:gd name="T26" fmla="*/ 2617 w 1360"/>
                <a:gd name="T27" fmla="*/ 381 h 1349"/>
                <a:gd name="T28" fmla="*/ 2652 w 1360"/>
                <a:gd name="T29" fmla="*/ 242 h 1349"/>
                <a:gd name="T30" fmla="*/ 2481 w 1360"/>
                <a:gd name="T31" fmla="*/ 85 h 1349"/>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360" h="1349">
                  <a:moveTo>
                    <a:pt x="1200" y="58"/>
                  </a:moveTo>
                  <a:cubicBezTo>
                    <a:pt x="1133" y="38"/>
                    <a:pt x="981" y="0"/>
                    <a:pt x="882" y="46"/>
                  </a:cubicBezTo>
                  <a:cubicBezTo>
                    <a:pt x="783" y="92"/>
                    <a:pt x="730" y="180"/>
                    <a:pt x="603" y="336"/>
                  </a:cubicBezTo>
                  <a:cubicBezTo>
                    <a:pt x="476" y="492"/>
                    <a:pt x="218" y="831"/>
                    <a:pt x="120" y="982"/>
                  </a:cubicBezTo>
                  <a:cubicBezTo>
                    <a:pt x="22" y="1133"/>
                    <a:pt x="0" y="1184"/>
                    <a:pt x="13" y="1243"/>
                  </a:cubicBezTo>
                  <a:cubicBezTo>
                    <a:pt x="26" y="1302"/>
                    <a:pt x="95" y="1319"/>
                    <a:pt x="195" y="1334"/>
                  </a:cubicBezTo>
                  <a:cubicBezTo>
                    <a:pt x="295" y="1349"/>
                    <a:pt x="453" y="1337"/>
                    <a:pt x="612" y="1336"/>
                  </a:cubicBezTo>
                  <a:cubicBezTo>
                    <a:pt x="771" y="1335"/>
                    <a:pt x="1031" y="1347"/>
                    <a:pt x="1152" y="1330"/>
                  </a:cubicBezTo>
                  <a:cubicBezTo>
                    <a:pt x="1273" y="1313"/>
                    <a:pt x="1316" y="1279"/>
                    <a:pt x="1338" y="1234"/>
                  </a:cubicBezTo>
                  <a:cubicBezTo>
                    <a:pt x="1360" y="1189"/>
                    <a:pt x="1331" y="1139"/>
                    <a:pt x="1283" y="1062"/>
                  </a:cubicBezTo>
                  <a:cubicBezTo>
                    <a:pt x="1235" y="985"/>
                    <a:pt x="1095" y="848"/>
                    <a:pt x="1050" y="772"/>
                  </a:cubicBezTo>
                  <a:cubicBezTo>
                    <a:pt x="1005" y="696"/>
                    <a:pt x="995" y="673"/>
                    <a:pt x="1011" y="608"/>
                  </a:cubicBezTo>
                  <a:cubicBezTo>
                    <a:pt x="1027" y="543"/>
                    <a:pt x="1104" y="440"/>
                    <a:pt x="1146" y="382"/>
                  </a:cubicBezTo>
                  <a:cubicBezTo>
                    <a:pt x="1188" y="324"/>
                    <a:pt x="1243" y="298"/>
                    <a:pt x="1266" y="262"/>
                  </a:cubicBezTo>
                  <a:cubicBezTo>
                    <a:pt x="1289" y="226"/>
                    <a:pt x="1295" y="200"/>
                    <a:pt x="1284" y="166"/>
                  </a:cubicBezTo>
                  <a:cubicBezTo>
                    <a:pt x="1273" y="132"/>
                    <a:pt x="1267" y="78"/>
                    <a:pt x="1200" y="58"/>
                  </a:cubicBezTo>
                  <a:close/>
                </a:path>
              </a:pathLst>
            </a:custGeom>
            <a:solidFill>
              <a:srgbClr val="00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Text Box 118"/>
            <p:cNvSpPr txBox="1">
              <a:spLocks noChangeArrowheads="1"/>
            </p:cNvSpPr>
            <p:nvPr/>
          </p:nvSpPr>
          <p:spPr bwMode="auto">
            <a:xfrm>
              <a:off x="3018" y="2131"/>
              <a:ext cx="745" cy="37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40" name="Text Box 119"/>
            <p:cNvSpPr txBox="1">
              <a:spLocks noChangeArrowheads="1"/>
            </p:cNvSpPr>
            <p:nvPr/>
          </p:nvSpPr>
          <p:spPr bwMode="auto">
            <a:xfrm>
              <a:off x="4649" y="1950"/>
              <a:ext cx="998" cy="38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5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区</a:t>
              </a:r>
            </a:p>
            <a:p>
              <a:pPr algn="ctr" eaLnBrk="1" hangingPunct="1">
                <a:lnSpc>
                  <a:spcPct val="75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y.abc.com</a:t>
              </a:r>
            </a:p>
          </p:txBody>
        </p:sp>
        <p:sp>
          <p:nvSpPr>
            <p:cNvPr id="41" name="Line 120"/>
            <p:cNvSpPr>
              <a:spLocks noChangeShapeType="1"/>
            </p:cNvSpPr>
            <p:nvPr/>
          </p:nvSpPr>
          <p:spPr bwMode="auto">
            <a:xfrm>
              <a:off x="3382" y="2470"/>
              <a:ext cx="156" cy="227"/>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1"/>
            <p:cNvSpPr>
              <a:spLocks noChangeShapeType="1"/>
            </p:cNvSpPr>
            <p:nvPr/>
          </p:nvSpPr>
          <p:spPr bwMode="auto">
            <a:xfrm rot="10800000" flipV="1">
              <a:off x="5103" y="2316"/>
              <a:ext cx="124" cy="426"/>
            </a:xfrm>
            <a:prstGeom prst="line">
              <a:avLst/>
            </a:prstGeom>
            <a:noFill/>
            <a:ln w="12700">
              <a:solidFill>
                <a:srgbClr val="FFFF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122"/>
            <p:cNvSpPr>
              <a:spLocks noChangeShapeType="1"/>
            </p:cNvSpPr>
            <p:nvPr/>
          </p:nvSpPr>
          <p:spPr bwMode="auto">
            <a:xfrm flipH="1">
              <a:off x="4054" y="2124"/>
              <a:ext cx="226" cy="417"/>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123"/>
            <p:cNvSpPr>
              <a:spLocks noChangeShapeType="1"/>
            </p:cNvSpPr>
            <p:nvPr/>
          </p:nvSpPr>
          <p:spPr bwMode="auto">
            <a:xfrm>
              <a:off x="4407" y="2143"/>
              <a:ext cx="297" cy="38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124"/>
            <p:cNvSpPr>
              <a:spLocks noChangeShapeType="1"/>
            </p:cNvSpPr>
            <p:nvPr/>
          </p:nvSpPr>
          <p:spPr bwMode="auto">
            <a:xfrm>
              <a:off x="4754" y="2610"/>
              <a:ext cx="319" cy="499"/>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068" y="2622"/>
              <a:ext cx="388" cy="44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flipH="1">
              <a:off x="4002" y="2629"/>
              <a:ext cx="11" cy="380"/>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flipH="1">
              <a:off x="3528" y="2578"/>
              <a:ext cx="470" cy="48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Oval 128"/>
            <p:cNvSpPr>
              <a:spLocks noChangeArrowheads="1"/>
            </p:cNvSpPr>
            <p:nvPr/>
          </p:nvSpPr>
          <p:spPr bwMode="auto">
            <a:xfrm>
              <a:off x="4121" y="1982"/>
              <a:ext cx="410" cy="24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0" name="Oval 129"/>
            <p:cNvSpPr>
              <a:spLocks noChangeArrowheads="1"/>
            </p:cNvSpPr>
            <p:nvPr/>
          </p:nvSpPr>
          <p:spPr bwMode="auto">
            <a:xfrm>
              <a:off x="3844"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51" name="Oval 130"/>
            <p:cNvSpPr>
              <a:spLocks noChangeArrowheads="1"/>
            </p:cNvSpPr>
            <p:nvPr/>
          </p:nvSpPr>
          <p:spPr bwMode="auto">
            <a:xfrm>
              <a:off x="3332"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52" name="Oval 131"/>
            <p:cNvSpPr>
              <a:spLocks noChangeArrowheads="1"/>
            </p:cNvSpPr>
            <p:nvPr/>
          </p:nvSpPr>
          <p:spPr bwMode="auto">
            <a:xfrm>
              <a:off x="3810"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53" name="Oval 132"/>
            <p:cNvSpPr>
              <a:spLocks noChangeArrowheads="1"/>
            </p:cNvSpPr>
            <p:nvPr/>
          </p:nvSpPr>
          <p:spPr bwMode="auto">
            <a:xfrm>
              <a:off x="428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54" name="Oval 133"/>
            <p:cNvSpPr>
              <a:spLocks noChangeArrowheads="1"/>
            </p:cNvSpPr>
            <p:nvPr/>
          </p:nvSpPr>
          <p:spPr bwMode="auto">
            <a:xfrm>
              <a:off x="4867" y="3012"/>
              <a:ext cx="359" cy="194"/>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55" name="Oval 134"/>
            <p:cNvSpPr>
              <a:spLocks noChangeArrowheads="1"/>
            </p:cNvSpPr>
            <p:nvPr/>
          </p:nvSpPr>
          <p:spPr bwMode="auto">
            <a:xfrm>
              <a:off x="4560" y="2481"/>
              <a:ext cx="359" cy="19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56" name="AutoShape 135"/>
            <p:cNvSpPr>
              <a:spLocks noChangeArrowheads="1"/>
            </p:cNvSpPr>
            <p:nvPr/>
          </p:nvSpPr>
          <p:spPr bwMode="auto">
            <a:xfrm>
              <a:off x="4063" y="1232"/>
              <a:ext cx="522" cy="303"/>
            </a:xfrm>
            <a:prstGeom prst="roundRect">
              <a:avLst>
                <a:gd name="adj" fmla="val 34167"/>
              </a:avLst>
            </a:prstGeom>
            <a:solidFill>
              <a:srgbClr val="66FF66"/>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57" name="AutoShape 136"/>
            <p:cNvSpPr>
              <a:spLocks noChangeArrowheads="1"/>
            </p:cNvSpPr>
            <p:nvPr/>
          </p:nvSpPr>
          <p:spPr bwMode="auto">
            <a:xfrm>
              <a:off x="4909" y="1225"/>
              <a:ext cx="522" cy="304"/>
            </a:xfrm>
            <a:prstGeom prst="roundRect">
              <a:avLst>
                <a:gd name="adj" fmla="val 34167"/>
              </a:avLst>
            </a:prstGeom>
            <a:solidFill>
              <a:srgbClr val="00B0F0"/>
            </a:solidFill>
            <a:ln>
              <a:noFill/>
            </a:ln>
            <a:effectLst/>
            <a:extLst>
              <a:ext uri="{91240B29-F687-4F45-9708-019B960494DF}">
                <a14:hiddenLine xmlns:a14="http://schemas.microsoft.com/office/drawing/2010/main" w="9525" algn="ctr">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58" name="AutoShape 137"/>
            <p:cNvSpPr>
              <a:spLocks noChangeArrowheads="1"/>
            </p:cNvSpPr>
            <p:nvPr/>
          </p:nvSpPr>
          <p:spPr bwMode="auto">
            <a:xfrm>
              <a:off x="3220" y="1225"/>
              <a:ext cx="522" cy="304"/>
            </a:xfrm>
            <a:prstGeom prst="roundRect">
              <a:avLst>
                <a:gd name="adj" fmla="val 34167"/>
              </a:avLst>
            </a:prstGeom>
            <a:solidFill>
              <a:srgbClr val="00FFCC"/>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59" name="Group 138"/>
            <p:cNvGrpSpPr>
              <a:grpSpLocks/>
            </p:cNvGrpSpPr>
            <p:nvPr/>
          </p:nvGrpSpPr>
          <p:grpSpPr bwMode="auto">
            <a:xfrm>
              <a:off x="5042" y="1530"/>
              <a:ext cx="256" cy="98"/>
              <a:chOff x="2875" y="1143"/>
              <a:chExt cx="330" cy="132"/>
            </a:xfrm>
          </p:grpSpPr>
          <p:sp>
            <p:nvSpPr>
              <p:cNvPr id="69" name="Line 139"/>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0" name="Line 140"/>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1" name="Line 141"/>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2" name="Line 142"/>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60" name="Group 143"/>
            <p:cNvGrpSpPr>
              <a:grpSpLocks/>
            </p:cNvGrpSpPr>
            <p:nvPr/>
          </p:nvGrpSpPr>
          <p:grpSpPr bwMode="auto">
            <a:xfrm>
              <a:off x="3353" y="1530"/>
              <a:ext cx="256" cy="98"/>
              <a:chOff x="2875" y="1143"/>
              <a:chExt cx="330" cy="132"/>
            </a:xfrm>
          </p:grpSpPr>
          <p:sp>
            <p:nvSpPr>
              <p:cNvPr id="65" name="Line 14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4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7" name="Line 14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8" name="Line 14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61" name="AutoShape 148"/>
            <p:cNvSpPr>
              <a:spLocks noChangeArrowheads="1"/>
            </p:cNvSpPr>
            <p:nvPr/>
          </p:nvSpPr>
          <p:spPr bwMode="auto">
            <a:xfrm>
              <a:off x="4049" y="709"/>
              <a:ext cx="523" cy="304"/>
            </a:xfrm>
            <a:prstGeom prst="roundRect">
              <a:avLst>
                <a:gd name="adj" fmla="val 34167"/>
              </a:avLst>
            </a:prstGeom>
            <a:solidFill>
              <a:srgbClr val="FF66FF"/>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62" name="Line 149"/>
            <p:cNvSpPr>
              <a:spLocks noChangeShapeType="1"/>
            </p:cNvSpPr>
            <p:nvPr/>
          </p:nvSpPr>
          <p:spPr bwMode="auto">
            <a:xfrm>
              <a:off x="4375" y="1010"/>
              <a:ext cx="792"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3" name="Line 150"/>
            <p:cNvSpPr>
              <a:spLocks noChangeShapeType="1"/>
            </p:cNvSpPr>
            <p:nvPr/>
          </p:nvSpPr>
          <p:spPr bwMode="auto">
            <a:xfrm flipV="1">
              <a:off x="3481" y="1010"/>
              <a:ext cx="779"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4" name="Line 151"/>
            <p:cNvSpPr>
              <a:spLocks noChangeShapeType="1"/>
            </p:cNvSpPr>
            <p:nvPr/>
          </p:nvSpPr>
          <p:spPr bwMode="auto">
            <a:xfrm>
              <a:off x="4321" y="1010"/>
              <a:ext cx="0" cy="21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3168145" y="582898"/>
            <a:ext cx="282641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区的不同划分方法举例</a:t>
            </a:r>
          </a:p>
        </p:txBody>
      </p:sp>
      <p:sp>
        <p:nvSpPr>
          <p:cNvPr id="8" name="Line 92"/>
          <p:cNvSpPr>
            <a:spLocks noChangeShapeType="1"/>
          </p:cNvSpPr>
          <p:nvPr/>
        </p:nvSpPr>
        <p:spPr bwMode="auto">
          <a:xfrm>
            <a:off x="3129287" y="1989120"/>
            <a:ext cx="6223" cy="48249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93"/>
          <p:cNvSpPr txBox="1">
            <a:spLocks noChangeArrowheads="1"/>
          </p:cNvSpPr>
          <p:nvPr/>
        </p:nvSpPr>
        <p:spPr bwMode="auto">
          <a:xfrm>
            <a:off x="1771725" y="2248647"/>
            <a:ext cx="9717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域 </a:t>
            </a: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3" name="Freeform 94"/>
          <p:cNvSpPr>
            <a:spLocks/>
          </p:cNvSpPr>
          <p:nvPr/>
        </p:nvSpPr>
        <p:spPr bwMode="auto">
          <a:xfrm>
            <a:off x="1968773" y="2337586"/>
            <a:ext cx="2243246" cy="1384288"/>
          </a:xfrm>
          <a:custGeom>
            <a:avLst/>
            <a:gdLst>
              <a:gd name="T0" fmla="*/ 2147483646 w 1917"/>
              <a:gd name="T1" fmla="*/ 2147483646 h 1143"/>
              <a:gd name="T2" fmla="*/ 2147483646 w 1917"/>
              <a:gd name="T3" fmla="*/ 2147483646 h 1143"/>
              <a:gd name="T4" fmla="*/ 2147483646 w 1917"/>
              <a:gd name="T5" fmla="*/ 2147483646 h 1143"/>
              <a:gd name="T6" fmla="*/ 2147483646 w 1917"/>
              <a:gd name="T7" fmla="*/ 2147483646 h 1143"/>
              <a:gd name="T8" fmla="*/ 2147483646 w 1917"/>
              <a:gd name="T9" fmla="*/ 2147483646 h 1143"/>
              <a:gd name="T10" fmla="*/ 2147483646 w 1917"/>
              <a:gd name="T11" fmla="*/ 2147483646 h 1143"/>
              <a:gd name="T12" fmla="*/ 2147483646 w 1917"/>
              <a:gd name="T13" fmla="*/ 2147483646 h 1143"/>
              <a:gd name="T14" fmla="*/ 2147483646 w 1917"/>
              <a:gd name="T15" fmla="*/ 2147483646 h 1143"/>
              <a:gd name="T16" fmla="*/ 2147483646 w 1917"/>
              <a:gd name="T17" fmla="*/ 2147483646 h 1143"/>
              <a:gd name="T18" fmla="*/ 2147483646 w 1917"/>
              <a:gd name="T19" fmla="*/ 2147483646 h 1143"/>
              <a:gd name="T20" fmla="*/ 2147483646 w 1917"/>
              <a:gd name="T21" fmla="*/ 2147483646 h 1143"/>
              <a:gd name="T22" fmla="*/ 2147483646 w 1917"/>
              <a:gd name="T23" fmla="*/ 2147483646 h 1143"/>
              <a:gd name="T24" fmla="*/ 2147483646 w 1917"/>
              <a:gd name="T25" fmla="*/ 2147483646 h 1143"/>
              <a:gd name="T26" fmla="*/ 2147483646 w 1917"/>
              <a:gd name="T27" fmla="*/ 2147483646 h 1143"/>
              <a:gd name="T28" fmla="*/ 2147483646 w 1917"/>
              <a:gd name="T29" fmla="*/ 2147483646 h 1143"/>
              <a:gd name="T30" fmla="*/ 2147483646 w 1917"/>
              <a:gd name="T31" fmla="*/ 2147483646 h 1143"/>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917" h="1143">
                <a:moveTo>
                  <a:pt x="1097" y="32"/>
                </a:moveTo>
                <a:cubicBezTo>
                  <a:pt x="1031" y="7"/>
                  <a:pt x="964" y="0"/>
                  <a:pt x="882" y="43"/>
                </a:cubicBezTo>
                <a:cubicBezTo>
                  <a:pt x="800" y="86"/>
                  <a:pt x="730" y="155"/>
                  <a:pt x="603" y="287"/>
                </a:cubicBezTo>
                <a:cubicBezTo>
                  <a:pt x="476" y="418"/>
                  <a:pt x="218" y="703"/>
                  <a:pt x="120" y="830"/>
                </a:cubicBezTo>
                <a:cubicBezTo>
                  <a:pt x="22" y="957"/>
                  <a:pt x="0" y="1000"/>
                  <a:pt x="13" y="1050"/>
                </a:cubicBezTo>
                <a:cubicBezTo>
                  <a:pt x="26" y="1099"/>
                  <a:pt x="95" y="1114"/>
                  <a:pt x="195" y="1126"/>
                </a:cubicBezTo>
                <a:cubicBezTo>
                  <a:pt x="295" y="1139"/>
                  <a:pt x="458" y="1126"/>
                  <a:pt x="612" y="1128"/>
                </a:cubicBezTo>
                <a:cubicBezTo>
                  <a:pt x="766" y="1130"/>
                  <a:pt x="981" y="1134"/>
                  <a:pt x="1121" y="1136"/>
                </a:cubicBezTo>
                <a:cubicBezTo>
                  <a:pt x="1261" y="1138"/>
                  <a:pt x="1336" y="1143"/>
                  <a:pt x="1451" y="1139"/>
                </a:cubicBezTo>
                <a:cubicBezTo>
                  <a:pt x="1566" y="1135"/>
                  <a:pt x="1735" y="1132"/>
                  <a:pt x="1811" y="1109"/>
                </a:cubicBezTo>
                <a:cubicBezTo>
                  <a:pt x="1887" y="1086"/>
                  <a:pt x="1917" y="1062"/>
                  <a:pt x="1907" y="1001"/>
                </a:cubicBezTo>
                <a:cubicBezTo>
                  <a:pt x="1897" y="940"/>
                  <a:pt x="1807" y="823"/>
                  <a:pt x="1751" y="743"/>
                </a:cubicBezTo>
                <a:cubicBezTo>
                  <a:pt x="1695" y="663"/>
                  <a:pt x="1625" y="586"/>
                  <a:pt x="1571" y="521"/>
                </a:cubicBezTo>
                <a:cubicBezTo>
                  <a:pt x="1517" y="456"/>
                  <a:pt x="1476" y="408"/>
                  <a:pt x="1427" y="353"/>
                </a:cubicBezTo>
                <a:cubicBezTo>
                  <a:pt x="1378" y="298"/>
                  <a:pt x="1332" y="245"/>
                  <a:pt x="1277" y="191"/>
                </a:cubicBezTo>
                <a:cubicBezTo>
                  <a:pt x="1222" y="137"/>
                  <a:pt x="1163" y="57"/>
                  <a:pt x="1097" y="32"/>
                </a:cubicBezTo>
                <a:close/>
              </a:path>
            </a:pathLst>
          </a:custGeom>
          <a:solidFill>
            <a:srgbClr val="66FFCC"/>
          </a:solidFill>
          <a:ln>
            <a:noFill/>
          </a:ln>
          <a:effectLst/>
          <a:extLst>
            <a:ext uri="{91240B29-F687-4F45-9708-019B960494DF}">
              <a14:hiddenLine xmlns:a14="http://schemas.microsoft.com/office/drawing/2010/main" w="38100" cmpd="sng">
                <a:solidFill>
                  <a:srgbClr val="5F5F5F"/>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Text Box 96"/>
          <p:cNvSpPr txBox="1">
            <a:spLocks noChangeArrowheads="1"/>
          </p:cNvSpPr>
          <p:nvPr/>
        </p:nvSpPr>
        <p:spPr bwMode="auto">
          <a:xfrm>
            <a:off x="1728519" y="2584575"/>
            <a:ext cx="772969" cy="35638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70000"/>
              </a:lnSpc>
            </a:pPr>
            <a:r>
              <a:rPr kumimoji="1" lang="zh-CN" altLang="zh-CN" sz="1200" b="1" dirty="0">
                <a:solidFill>
                  <a:schemeClr val="bg1"/>
                </a:solidFill>
                <a:latin typeface="微软雅黑 Light" panose="020B0502040204020203" pitchFamily="34" charset="-122"/>
                <a:ea typeface="微软雅黑 Light" panose="020B0502040204020203" pitchFamily="34" charset="-122"/>
              </a:rPr>
              <a:t> 区</a:t>
            </a:r>
            <a:endParaRPr kumimoji="1" lang="zh-CN" altLang="en-US" sz="1200" b="1" dirty="0">
              <a:solidFill>
                <a:schemeClr val="bg1"/>
              </a:solidFill>
              <a:latin typeface="微软雅黑 Light" panose="020B0502040204020203" pitchFamily="34" charset="-122"/>
              <a:ea typeface="微软雅黑 Light" panose="020B0502040204020203" pitchFamily="34" charset="-122"/>
            </a:endParaRPr>
          </a:p>
          <a:p>
            <a:pPr algn="ctr" eaLnBrk="1" hangingPunct="1">
              <a:lnSpc>
                <a:spcPct val="7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abc.com</a:t>
            </a:r>
          </a:p>
        </p:txBody>
      </p:sp>
      <p:sp>
        <p:nvSpPr>
          <p:cNvPr id="16" name="Freeform 97"/>
          <p:cNvSpPr>
            <a:spLocks/>
          </p:cNvSpPr>
          <p:nvPr/>
        </p:nvSpPr>
        <p:spPr bwMode="auto">
          <a:xfrm>
            <a:off x="2099448" y="2900491"/>
            <a:ext cx="86079" cy="351337"/>
          </a:xfrm>
          <a:custGeom>
            <a:avLst/>
            <a:gdLst>
              <a:gd name="T0" fmla="*/ 0 w 172"/>
              <a:gd name="T1" fmla="*/ 0 h 244"/>
              <a:gd name="T2" fmla="*/ 2147483646 w 172"/>
              <a:gd name="T3" fmla="*/ 2147483646 h 244"/>
              <a:gd name="T4" fmla="*/ 0 60000 65536"/>
              <a:gd name="T5" fmla="*/ 0 60000 65536"/>
            </a:gdLst>
            <a:ahLst/>
            <a:cxnLst>
              <a:cxn ang="T4">
                <a:pos x="T0" y="T1"/>
              </a:cxn>
              <a:cxn ang="T5">
                <a:pos x="T2" y="T3"/>
              </a:cxn>
            </a:cxnLst>
            <a:rect l="0" t="0" r="r" b="b"/>
            <a:pathLst>
              <a:path w="172" h="244">
                <a:moveTo>
                  <a:pt x="0" y="0"/>
                </a:moveTo>
                <a:lnTo>
                  <a:pt x="172" y="244"/>
                </a:lnTo>
              </a:path>
            </a:pathLst>
          </a:custGeom>
          <a:noFill/>
          <a:ln w="12700">
            <a:solidFill>
              <a:srgbClr val="FFFF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8"/>
          <p:cNvSpPr>
            <a:spLocks noChangeShapeType="1"/>
          </p:cNvSpPr>
          <p:nvPr/>
        </p:nvSpPr>
        <p:spPr bwMode="auto">
          <a:xfrm flipH="1">
            <a:off x="2837863" y="2574044"/>
            <a:ext cx="235422" cy="3992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99"/>
          <p:cNvSpPr>
            <a:spLocks noChangeShapeType="1"/>
          </p:cNvSpPr>
          <p:nvPr/>
        </p:nvSpPr>
        <p:spPr bwMode="auto">
          <a:xfrm>
            <a:off x="3203958" y="2592234"/>
            <a:ext cx="308018" cy="372398"/>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00"/>
          <p:cNvSpPr>
            <a:spLocks noChangeShapeType="1"/>
          </p:cNvSpPr>
          <p:nvPr/>
        </p:nvSpPr>
        <p:spPr bwMode="auto">
          <a:xfrm>
            <a:off x="3564869" y="3039303"/>
            <a:ext cx="329798" cy="477704"/>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01"/>
          <p:cNvSpPr>
            <a:spLocks noChangeShapeType="1"/>
          </p:cNvSpPr>
          <p:nvPr/>
        </p:nvSpPr>
        <p:spPr bwMode="auto">
          <a:xfrm>
            <a:off x="2853419" y="3050790"/>
            <a:ext cx="402394" cy="425051"/>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102"/>
          <p:cNvSpPr>
            <a:spLocks noChangeShapeType="1"/>
          </p:cNvSpPr>
          <p:nvPr/>
        </p:nvSpPr>
        <p:spPr bwMode="auto">
          <a:xfrm flipH="1">
            <a:off x="2783933" y="3057492"/>
            <a:ext cx="11408" cy="363782"/>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03"/>
          <p:cNvSpPr>
            <a:spLocks noChangeShapeType="1"/>
          </p:cNvSpPr>
          <p:nvPr/>
        </p:nvSpPr>
        <p:spPr bwMode="auto">
          <a:xfrm flipH="1">
            <a:off x="2292348" y="3008668"/>
            <a:ext cx="488474" cy="467173"/>
          </a:xfrm>
          <a:prstGeom prst="line">
            <a:avLst/>
          </a:prstGeom>
          <a:noFill/>
          <a:ln w="12700">
            <a:solidFill>
              <a:srgbClr val="7030A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104"/>
          <p:cNvSpPr>
            <a:spLocks noChangeArrowheads="1"/>
          </p:cNvSpPr>
          <p:nvPr/>
        </p:nvSpPr>
        <p:spPr bwMode="auto">
          <a:xfrm>
            <a:off x="2908385" y="2438104"/>
            <a:ext cx="424174" cy="231672"/>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abc</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24" name="Oval 105"/>
          <p:cNvSpPr>
            <a:spLocks noChangeArrowheads="1"/>
          </p:cNvSpPr>
          <p:nvPr/>
        </p:nvSpPr>
        <p:spPr bwMode="auto">
          <a:xfrm>
            <a:off x="2620071" y="2915808"/>
            <a:ext cx="372319"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x</a:t>
            </a:r>
          </a:p>
        </p:txBody>
      </p:sp>
      <p:sp>
        <p:nvSpPr>
          <p:cNvPr id="25" name="Oval 106"/>
          <p:cNvSpPr>
            <a:spLocks noChangeArrowheads="1"/>
          </p:cNvSpPr>
          <p:nvPr/>
        </p:nvSpPr>
        <p:spPr bwMode="auto">
          <a:xfrm>
            <a:off x="2090114" y="3424146"/>
            <a:ext cx="372318"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u</a:t>
            </a:r>
          </a:p>
        </p:txBody>
      </p:sp>
      <p:sp>
        <p:nvSpPr>
          <p:cNvPr id="26" name="Oval 107"/>
          <p:cNvSpPr>
            <a:spLocks noChangeArrowheads="1"/>
          </p:cNvSpPr>
          <p:nvPr/>
        </p:nvSpPr>
        <p:spPr bwMode="auto">
          <a:xfrm>
            <a:off x="2584810"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v</a:t>
            </a:r>
          </a:p>
        </p:txBody>
      </p:sp>
      <p:sp>
        <p:nvSpPr>
          <p:cNvPr id="27" name="Oval 108"/>
          <p:cNvSpPr>
            <a:spLocks noChangeArrowheads="1"/>
          </p:cNvSpPr>
          <p:nvPr/>
        </p:nvSpPr>
        <p:spPr bwMode="auto">
          <a:xfrm>
            <a:off x="3080544"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w</a:t>
            </a:r>
          </a:p>
        </p:txBody>
      </p:sp>
      <p:sp>
        <p:nvSpPr>
          <p:cNvPr id="28" name="Oval 109"/>
          <p:cNvSpPr>
            <a:spLocks noChangeArrowheads="1"/>
          </p:cNvSpPr>
          <p:nvPr/>
        </p:nvSpPr>
        <p:spPr bwMode="auto">
          <a:xfrm>
            <a:off x="3682061" y="3424146"/>
            <a:ext cx="372319" cy="185720"/>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t</a:t>
            </a:r>
          </a:p>
        </p:txBody>
      </p:sp>
      <p:sp>
        <p:nvSpPr>
          <p:cNvPr id="29" name="Oval 110"/>
          <p:cNvSpPr>
            <a:spLocks noChangeArrowheads="1"/>
          </p:cNvSpPr>
          <p:nvPr/>
        </p:nvSpPr>
        <p:spPr bwMode="auto">
          <a:xfrm>
            <a:off x="3363672" y="2915808"/>
            <a:ext cx="372318" cy="184763"/>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y</a:t>
            </a:r>
          </a:p>
        </p:txBody>
      </p:sp>
      <p:sp>
        <p:nvSpPr>
          <p:cNvPr id="30" name="Text Box 111"/>
          <p:cNvSpPr txBox="1">
            <a:spLocks noChangeArrowheads="1"/>
          </p:cNvSpPr>
          <p:nvPr/>
        </p:nvSpPr>
        <p:spPr bwMode="auto">
          <a:xfrm>
            <a:off x="2584029" y="3868344"/>
            <a:ext cx="10342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a:t>
            </a:r>
            <a:r>
              <a:rPr kumimoji="1" lang="zh-CN" altLang="en-US" sz="1400" b="1" dirty="0">
                <a:latin typeface="微软雅黑 Light" panose="020B0502040204020203" pitchFamily="34" charset="-122"/>
                <a:ea typeface="微软雅黑 Light" panose="020B0502040204020203" pitchFamily="34" charset="-122"/>
              </a:rPr>
              <a:t>区 </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域</a:t>
            </a:r>
          </a:p>
        </p:txBody>
      </p:sp>
      <p:sp>
        <p:nvSpPr>
          <p:cNvPr id="75" name="AutoShape 152"/>
          <p:cNvSpPr>
            <a:spLocks noChangeArrowheads="1"/>
          </p:cNvSpPr>
          <p:nvPr/>
        </p:nvSpPr>
        <p:spPr bwMode="auto">
          <a:xfrm>
            <a:off x="2858604" y="1720113"/>
            <a:ext cx="542403" cy="290069"/>
          </a:xfrm>
          <a:prstGeom prst="roundRect">
            <a:avLst>
              <a:gd name="adj" fmla="val 34167"/>
            </a:avLst>
          </a:prstGeom>
          <a:solidFill>
            <a:srgbClr val="66FF66"/>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com</a:t>
            </a:r>
          </a:p>
        </p:txBody>
      </p:sp>
      <p:sp>
        <p:nvSpPr>
          <p:cNvPr id="76" name="AutoShape 153"/>
          <p:cNvSpPr>
            <a:spLocks noChangeArrowheads="1"/>
          </p:cNvSpPr>
          <p:nvPr/>
        </p:nvSpPr>
        <p:spPr bwMode="auto">
          <a:xfrm>
            <a:off x="3737028" y="1713411"/>
            <a:ext cx="541366" cy="291026"/>
          </a:xfrm>
          <a:prstGeom prst="roundRect">
            <a:avLst>
              <a:gd name="adj" fmla="val 34167"/>
            </a:avLst>
          </a:prstGeom>
          <a:solidFill>
            <a:srgbClr val="00B0F0"/>
          </a:solidFill>
          <a:ln>
            <a:noFill/>
          </a:ln>
          <a:effectLst/>
        </p:spPr>
        <p:txBody>
          <a:bodyPr wrap="none" anchor="ctr"/>
          <a:lstStyle/>
          <a:p>
            <a:pPr algn="ctr" eaLnBrk="1" hangingPunct="1"/>
            <a:r>
              <a:rPr kumimoji="1" lang="en-US" altLang="zh-CN" sz="1200" b="1" dirty="0" err="1">
                <a:latin typeface="微软雅黑 Light" panose="020B0502040204020203" pitchFamily="34" charset="-122"/>
                <a:ea typeface="微软雅黑 Light" panose="020B0502040204020203" pitchFamily="34" charset="-122"/>
              </a:rPr>
              <a:t>edu</a:t>
            </a:r>
            <a:endParaRPr kumimoji="1" lang="en-US" altLang="zh-CN" sz="1200" b="1" dirty="0">
              <a:latin typeface="微软雅黑 Light" panose="020B0502040204020203" pitchFamily="34" charset="-122"/>
              <a:ea typeface="微软雅黑 Light" panose="020B0502040204020203" pitchFamily="34" charset="-122"/>
            </a:endParaRPr>
          </a:p>
        </p:txBody>
      </p:sp>
      <p:sp>
        <p:nvSpPr>
          <p:cNvPr id="77" name="AutoShape 154"/>
          <p:cNvSpPr>
            <a:spLocks noChangeArrowheads="1"/>
          </p:cNvSpPr>
          <p:nvPr/>
        </p:nvSpPr>
        <p:spPr bwMode="auto">
          <a:xfrm>
            <a:off x="1984330" y="1713411"/>
            <a:ext cx="542403" cy="291026"/>
          </a:xfrm>
          <a:prstGeom prst="roundRect">
            <a:avLst>
              <a:gd name="adj" fmla="val 34167"/>
            </a:avLst>
          </a:prstGeom>
          <a:solidFill>
            <a:srgbClr val="00FFCC"/>
          </a:solidFill>
          <a:ln>
            <a:noFill/>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org</a:t>
            </a:r>
          </a:p>
        </p:txBody>
      </p:sp>
      <p:grpSp>
        <p:nvGrpSpPr>
          <p:cNvPr id="78" name="Group 155"/>
          <p:cNvGrpSpPr>
            <a:grpSpLocks/>
          </p:cNvGrpSpPr>
          <p:nvPr/>
        </p:nvGrpSpPr>
        <p:grpSpPr bwMode="auto">
          <a:xfrm>
            <a:off x="3874961" y="2005395"/>
            <a:ext cx="265498" cy="93818"/>
            <a:chOff x="2875" y="1143"/>
            <a:chExt cx="330" cy="132"/>
          </a:xfrm>
        </p:grpSpPr>
        <p:sp>
          <p:nvSpPr>
            <p:cNvPr id="79" name="Line 156"/>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0" name="Line 157"/>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1" name="Line 158"/>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2" name="Line 159"/>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83" name="Group 160"/>
          <p:cNvGrpSpPr>
            <a:grpSpLocks/>
          </p:cNvGrpSpPr>
          <p:nvPr/>
        </p:nvGrpSpPr>
        <p:grpSpPr bwMode="auto">
          <a:xfrm>
            <a:off x="2123301" y="2005395"/>
            <a:ext cx="265498" cy="93818"/>
            <a:chOff x="2875" y="1143"/>
            <a:chExt cx="330" cy="132"/>
          </a:xfrm>
        </p:grpSpPr>
        <p:sp>
          <p:nvSpPr>
            <p:cNvPr id="84" name="Line 161"/>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5" name="Line 162"/>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6" name="Line 163"/>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7" name="Line 164"/>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88" name="AutoShape 165"/>
          <p:cNvSpPr>
            <a:spLocks noChangeArrowheads="1"/>
          </p:cNvSpPr>
          <p:nvPr/>
        </p:nvSpPr>
        <p:spPr bwMode="auto">
          <a:xfrm>
            <a:off x="2845123" y="1219433"/>
            <a:ext cx="541366" cy="291026"/>
          </a:xfrm>
          <a:prstGeom prst="roundRect">
            <a:avLst>
              <a:gd name="adj" fmla="val 34167"/>
            </a:avLst>
          </a:prstGeom>
          <a:solidFill>
            <a:srgbClr val="FF66FF"/>
          </a:solidFill>
          <a:ln>
            <a:noFill/>
          </a:ln>
          <a:effectLst/>
        </p:spPr>
        <p:txBody>
          <a:bodyPr wrap="none" anchor="ctr"/>
          <a:lstStyle/>
          <a:p>
            <a:pPr algn="ctr" eaLnBrk="1" hangingPunct="1"/>
            <a:r>
              <a:rPr kumimoji="1" lang="zh-CN" altLang="en-US" sz="1200" b="1" dirty="0">
                <a:latin typeface="微软雅黑 Light" panose="020B0502040204020203" pitchFamily="34" charset="-122"/>
                <a:ea typeface="微软雅黑 Light" panose="020B0502040204020203" pitchFamily="34" charset="-122"/>
              </a:rPr>
              <a:t>根</a:t>
            </a:r>
          </a:p>
        </p:txBody>
      </p:sp>
      <p:sp>
        <p:nvSpPr>
          <p:cNvPr id="89" name="Line 166"/>
          <p:cNvSpPr>
            <a:spLocks noChangeShapeType="1"/>
          </p:cNvSpPr>
          <p:nvPr/>
        </p:nvSpPr>
        <p:spPr bwMode="auto">
          <a:xfrm>
            <a:off x="3183216" y="1507587"/>
            <a:ext cx="821382"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0" name="Line 167"/>
          <p:cNvSpPr>
            <a:spLocks noChangeShapeType="1"/>
          </p:cNvSpPr>
          <p:nvPr/>
        </p:nvSpPr>
        <p:spPr bwMode="auto">
          <a:xfrm flipV="1">
            <a:off x="2256049" y="1507587"/>
            <a:ext cx="80790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1" name="Line 168"/>
          <p:cNvSpPr>
            <a:spLocks noChangeShapeType="1"/>
          </p:cNvSpPr>
          <p:nvPr/>
        </p:nvSpPr>
        <p:spPr bwMode="auto">
          <a:xfrm>
            <a:off x="3127213" y="1507587"/>
            <a:ext cx="0" cy="20391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92" name="Group 169"/>
          <p:cNvGrpSpPr>
            <a:grpSpLocks/>
          </p:cNvGrpSpPr>
          <p:nvPr/>
        </p:nvGrpSpPr>
        <p:grpSpPr bwMode="auto">
          <a:xfrm>
            <a:off x="2993427" y="2005395"/>
            <a:ext cx="265498" cy="93818"/>
            <a:chOff x="1519" y="813"/>
            <a:chExt cx="227" cy="77"/>
          </a:xfrm>
        </p:grpSpPr>
        <p:sp>
          <p:nvSpPr>
            <p:cNvPr id="93" name="Line 170"/>
            <p:cNvSpPr>
              <a:spLocks noChangeShapeType="1"/>
            </p:cNvSpPr>
            <p:nvPr/>
          </p:nvSpPr>
          <p:spPr bwMode="auto">
            <a:xfrm>
              <a:off x="1647"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4" name="Line 171"/>
            <p:cNvSpPr>
              <a:spLocks noChangeShapeType="1"/>
            </p:cNvSpPr>
            <p:nvPr/>
          </p:nvSpPr>
          <p:spPr bwMode="auto">
            <a:xfrm flipH="1">
              <a:off x="1519" y="813"/>
              <a:ext cx="99" cy="7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59087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5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wipe(up)">
                                      <p:cBhvr>
                                        <p:cTn id="1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36" name="Rectangle 6"/>
          <p:cNvSpPr>
            <a:spLocks noChangeArrowheads="1"/>
          </p:cNvSpPr>
          <p:nvPr/>
        </p:nvSpPr>
        <p:spPr bwMode="auto">
          <a:xfrm>
            <a:off x="2803462" y="582898"/>
            <a:ext cx="355578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树状结构的 </a:t>
            </a:r>
            <a:r>
              <a:rPr lang="en-US" altLang="zh-CN" sz="2000" b="1" dirty="0">
                <a:solidFill>
                  <a:schemeClr val="bg1"/>
                </a:solidFill>
                <a:latin typeface="微软雅黑 Light" panose="020B0502040204020203" pitchFamily="34" charset="-122"/>
                <a:ea typeface="微软雅黑 Light" panose="020B0502040204020203" pitchFamily="34" charset="-122"/>
              </a:rPr>
              <a:t>DNS </a:t>
            </a:r>
            <a:r>
              <a:rPr lang="zh-CN" altLang="en-US" sz="20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 name="组合 1"/>
          <p:cNvGrpSpPr/>
          <p:nvPr/>
        </p:nvGrpSpPr>
        <p:grpSpPr>
          <a:xfrm>
            <a:off x="1124956" y="1129683"/>
            <a:ext cx="6831277" cy="2755833"/>
            <a:chOff x="128464" y="1556792"/>
            <a:chExt cx="9873325" cy="3983038"/>
          </a:xfrm>
        </p:grpSpPr>
        <p:sp>
          <p:nvSpPr>
            <p:cNvPr id="276" name="AutoShape 31"/>
            <p:cNvSpPr>
              <a:spLocks noChangeArrowheads="1"/>
            </p:cNvSpPr>
            <p:nvPr/>
          </p:nvSpPr>
          <p:spPr bwMode="auto">
            <a:xfrm>
              <a:off x="4154498" y="3455442"/>
              <a:ext cx="2858294" cy="2084388"/>
            </a:xfrm>
            <a:prstGeom prst="roundRect">
              <a:avLst>
                <a:gd name="adj" fmla="val 16667"/>
              </a:avLst>
            </a:prstGeom>
            <a:solidFill>
              <a:srgbClr val="00FFCC"/>
            </a:solidFill>
            <a:ln w="9525">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grpSp>
          <p:nvGrpSpPr>
            <p:cNvPr id="277" name="Group 5"/>
            <p:cNvGrpSpPr>
              <a:grpSpLocks/>
            </p:cNvGrpSpPr>
            <p:nvPr/>
          </p:nvGrpSpPr>
          <p:grpSpPr bwMode="auto">
            <a:xfrm>
              <a:off x="3540531" y="2136615"/>
              <a:ext cx="4677833" cy="415541"/>
              <a:chOff x="2294" y="553"/>
              <a:chExt cx="2450" cy="337"/>
            </a:xfrm>
          </p:grpSpPr>
          <p:sp>
            <p:nvSpPr>
              <p:cNvPr id="278" name="Line 6"/>
              <p:cNvSpPr>
                <a:spLocks noChangeShapeType="1"/>
              </p:cNvSpPr>
              <p:nvPr/>
            </p:nvSpPr>
            <p:spPr bwMode="auto">
              <a:xfrm flipV="1">
                <a:off x="2294" y="553"/>
                <a:ext cx="1074"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9" name="Line 7"/>
              <p:cNvSpPr>
                <a:spLocks noChangeShapeType="1"/>
              </p:cNvSpPr>
              <p:nvPr/>
            </p:nvSpPr>
            <p:spPr bwMode="auto">
              <a:xfrm>
                <a:off x="3474" y="553"/>
                <a:ext cx="0"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0" name="Line 8"/>
              <p:cNvSpPr>
                <a:spLocks noChangeShapeType="1"/>
              </p:cNvSpPr>
              <p:nvPr/>
            </p:nvSpPr>
            <p:spPr bwMode="auto">
              <a:xfrm flipH="1" flipV="1">
                <a:off x="3595" y="553"/>
                <a:ext cx="1149" cy="3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81" name="Rectangle 9"/>
            <p:cNvSpPr>
              <a:spLocks noChangeArrowheads="1"/>
            </p:cNvSpPr>
            <p:nvPr/>
          </p:nvSpPr>
          <p:spPr bwMode="auto">
            <a:xfrm>
              <a:off x="4847573" y="1639342"/>
              <a:ext cx="1905529" cy="496888"/>
            </a:xfrm>
            <a:prstGeom prst="rect">
              <a:avLst/>
            </a:prstGeom>
            <a:solidFill>
              <a:srgbClr val="CC00CC"/>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根域名服务器</a:t>
              </a:r>
            </a:p>
          </p:txBody>
        </p:sp>
        <p:sp>
          <p:nvSpPr>
            <p:cNvPr id="282" name="Rectangle 10"/>
            <p:cNvSpPr>
              <a:spLocks noChangeArrowheads="1"/>
            </p:cNvSpPr>
            <p:nvPr/>
          </p:nvSpPr>
          <p:spPr bwMode="auto">
            <a:xfrm>
              <a:off x="2413379" y="2552157"/>
              <a:ext cx="2096082" cy="496887"/>
            </a:xfrm>
            <a:prstGeom prst="rect">
              <a:avLst/>
            </a:prstGeom>
            <a:solidFill>
              <a:srgbClr val="008000"/>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org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3" name="Rectangle 11"/>
            <p:cNvSpPr>
              <a:spLocks noChangeArrowheads="1"/>
            </p:cNvSpPr>
            <p:nvPr/>
          </p:nvSpPr>
          <p:spPr bwMode="auto">
            <a:xfrm>
              <a:off x="4752297" y="2552157"/>
              <a:ext cx="2096082" cy="496887"/>
            </a:xfrm>
            <a:prstGeom prst="rect">
              <a:avLst/>
            </a:prstGeom>
            <a:solidFill>
              <a:srgbClr val="0000FF"/>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com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sp>
          <p:nvSpPr>
            <p:cNvPr id="284" name="Rectangle 12"/>
            <p:cNvSpPr>
              <a:spLocks noChangeArrowheads="1"/>
            </p:cNvSpPr>
            <p:nvPr/>
          </p:nvSpPr>
          <p:spPr bwMode="auto">
            <a:xfrm>
              <a:off x="7092934" y="2552157"/>
              <a:ext cx="2096082" cy="496887"/>
            </a:xfrm>
            <a:prstGeom prst="rect">
              <a:avLst/>
            </a:prstGeom>
            <a:solidFill>
              <a:srgbClr val="7030A0"/>
            </a:solidFill>
            <a:ln>
              <a:noFill/>
            </a:ln>
            <a:effectLst/>
            <a:extLs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err="1">
                  <a:solidFill>
                    <a:schemeClr val="bg1"/>
                  </a:solidFill>
                  <a:latin typeface="微软雅黑 Light" panose="020B0502040204020203" pitchFamily="34" charset="-122"/>
                  <a:ea typeface="微软雅黑 Light" panose="020B0502040204020203" pitchFamily="34" charset="-122"/>
                </a:rPr>
                <a:t>edu</a:t>
              </a:r>
              <a:r>
                <a:rPr kumimoji="1" lang="en-US" altLang="zh-CN" sz="1400" b="1" dirty="0">
                  <a:solidFill>
                    <a:schemeClr val="bg1"/>
                  </a:solidFill>
                  <a:latin typeface="微软雅黑 Light" panose="020B0502040204020203" pitchFamily="34" charset="-122"/>
                  <a:ea typeface="微软雅黑 Light" panose="020B0502040204020203" pitchFamily="34" charset="-122"/>
                </a:rPr>
                <a:t>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域名服务器</a:t>
              </a:r>
            </a:p>
          </p:txBody>
        </p:sp>
        <p:grpSp>
          <p:nvGrpSpPr>
            <p:cNvPr id="285" name="Group 13"/>
            <p:cNvGrpSpPr>
              <a:grpSpLocks/>
            </p:cNvGrpSpPr>
            <p:nvPr/>
          </p:nvGrpSpPr>
          <p:grpSpPr bwMode="auto">
            <a:xfrm>
              <a:off x="7704147" y="3049042"/>
              <a:ext cx="866775" cy="249238"/>
              <a:chOff x="2875" y="1143"/>
              <a:chExt cx="330" cy="132"/>
            </a:xfrm>
          </p:grpSpPr>
          <p:sp>
            <p:nvSpPr>
              <p:cNvPr id="286" name="Line 14"/>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7" name="Line 15"/>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8" name="Line 16"/>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9" name="Line 17"/>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0" name="Text Box 18"/>
            <p:cNvSpPr txBox="1">
              <a:spLocks noChangeArrowheads="1"/>
            </p:cNvSpPr>
            <p:nvPr/>
          </p:nvSpPr>
          <p:spPr bwMode="auto">
            <a:xfrm>
              <a:off x="9263996" y="2533411"/>
              <a:ext cx="426763" cy="4003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grpSp>
          <p:nvGrpSpPr>
            <p:cNvPr id="291" name="Group 19"/>
            <p:cNvGrpSpPr>
              <a:grpSpLocks/>
            </p:cNvGrpSpPr>
            <p:nvPr/>
          </p:nvGrpSpPr>
          <p:grpSpPr bwMode="auto">
            <a:xfrm>
              <a:off x="3028033" y="3049042"/>
              <a:ext cx="866775" cy="249238"/>
              <a:chOff x="2875" y="1143"/>
              <a:chExt cx="330" cy="132"/>
            </a:xfrm>
          </p:grpSpPr>
          <p:sp>
            <p:nvSpPr>
              <p:cNvPr id="292" name="Line 20"/>
              <p:cNvSpPr>
                <a:spLocks noChangeShapeType="1"/>
              </p:cNvSpPr>
              <p:nvPr/>
            </p:nvSpPr>
            <p:spPr bwMode="auto">
              <a:xfrm>
                <a:off x="3061"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3" name="Line 21"/>
              <p:cNvSpPr>
                <a:spLocks noChangeShapeType="1"/>
              </p:cNvSpPr>
              <p:nvPr/>
            </p:nvSpPr>
            <p:spPr bwMode="auto">
              <a:xfrm>
                <a:off x="3050" y="1143"/>
                <a:ext cx="37" cy="1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4" name="Line 22"/>
              <p:cNvSpPr>
                <a:spLocks noChangeShapeType="1"/>
              </p:cNvSpPr>
              <p:nvPr/>
            </p:nvSpPr>
            <p:spPr bwMode="auto">
              <a:xfrm flipH="1">
                <a:off x="2875" y="1143"/>
                <a:ext cx="144" cy="13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5" name="Line 23"/>
              <p:cNvSpPr>
                <a:spLocks noChangeShapeType="1"/>
              </p:cNvSpPr>
              <p:nvPr/>
            </p:nvSpPr>
            <p:spPr bwMode="auto">
              <a:xfrm flipH="1">
                <a:off x="2980" y="1143"/>
                <a:ext cx="54" cy="12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6" name="Line 24"/>
            <p:cNvSpPr>
              <a:spLocks noChangeShapeType="1"/>
            </p:cNvSpPr>
            <p:nvPr/>
          </p:nvSpPr>
          <p:spPr bwMode="auto">
            <a:xfrm>
              <a:off x="5943081" y="3049042"/>
              <a:ext cx="37663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7" name="Line 25"/>
            <p:cNvSpPr>
              <a:spLocks noChangeShapeType="1"/>
            </p:cNvSpPr>
            <p:nvPr/>
          </p:nvSpPr>
          <p:spPr bwMode="auto">
            <a:xfrm>
              <a:off x="5913843" y="3049043"/>
              <a:ext cx="98029" cy="244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8" name="Line 26"/>
            <p:cNvSpPr>
              <a:spLocks noChangeShapeType="1"/>
            </p:cNvSpPr>
            <p:nvPr/>
          </p:nvSpPr>
          <p:spPr bwMode="auto">
            <a:xfrm flipH="1">
              <a:off x="5452940" y="3049042"/>
              <a:ext cx="378354" cy="2492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9" name="Line 27"/>
            <p:cNvSpPr>
              <a:spLocks noChangeShapeType="1"/>
            </p:cNvSpPr>
            <p:nvPr/>
          </p:nvSpPr>
          <p:spPr bwMode="auto">
            <a:xfrm flipH="1">
              <a:off x="5590523" y="3049042"/>
              <a:ext cx="282046" cy="66833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1" name="Line 30"/>
            <p:cNvSpPr>
              <a:spLocks noChangeShapeType="1"/>
            </p:cNvSpPr>
            <p:nvPr/>
          </p:nvSpPr>
          <p:spPr bwMode="auto">
            <a:xfrm>
              <a:off x="5538929" y="4211093"/>
              <a:ext cx="0" cy="49847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2" name="Line 32"/>
            <p:cNvSpPr>
              <a:spLocks noChangeShapeType="1"/>
            </p:cNvSpPr>
            <p:nvPr/>
          </p:nvSpPr>
          <p:spPr bwMode="auto">
            <a:xfrm flipH="1" flipV="1">
              <a:off x="6557046" y="3918993"/>
              <a:ext cx="1394752" cy="180975"/>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3" name="Text Box 33"/>
            <p:cNvSpPr txBox="1">
              <a:spLocks noChangeArrowheads="1"/>
            </p:cNvSpPr>
            <p:nvPr/>
          </p:nvSpPr>
          <p:spPr bwMode="auto">
            <a:xfrm>
              <a:off x="7849639" y="3831681"/>
              <a:ext cx="2099521" cy="7562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abc</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公司有两个</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权限域名服务器</a:t>
              </a:r>
            </a:p>
          </p:txBody>
        </p:sp>
        <p:grpSp>
          <p:nvGrpSpPr>
            <p:cNvPr id="304" name="Group 34"/>
            <p:cNvGrpSpPr>
              <a:grpSpLocks/>
            </p:cNvGrpSpPr>
            <p:nvPr/>
          </p:nvGrpSpPr>
          <p:grpSpPr bwMode="auto">
            <a:xfrm>
              <a:off x="128464" y="2385468"/>
              <a:ext cx="9873325" cy="830263"/>
              <a:chOff x="158" y="799"/>
              <a:chExt cx="5444" cy="454"/>
            </a:xfrm>
          </p:grpSpPr>
          <p:sp>
            <p:nvSpPr>
              <p:cNvPr id="305" name="Line 35"/>
              <p:cNvSpPr>
                <a:spLocks noChangeShapeType="1"/>
              </p:cNvSpPr>
              <p:nvPr/>
            </p:nvSpPr>
            <p:spPr bwMode="auto">
              <a:xfrm>
                <a:off x="158" y="799"/>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6" name="Line 36"/>
              <p:cNvSpPr>
                <a:spLocks noChangeShapeType="1"/>
              </p:cNvSpPr>
              <p:nvPr/>
            </p:nvSpPr>
            <p:spPr bwMode="auto">
              <a:xfrm>
                <a:off x="158" y="1253"/>
                <a:ext cx="5444" cy="0"/>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07" name="Text Box 37"/>
            <p:cNvSpPr txBox="1">
              <a:spLocks noChangeArrowheads="1"/>
            </p:cNvSpPr>
            <p:nvPr/>
          </p:nvSpPr>
          <p:spPr bwMode="auto">
            <a:xfrm>
              <a:off x="147065" y="406345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权限域名服务器</a:t>
              </a:r>
            </a:p>
          </p:txBody>
        </p:sp>
        <p:sp>
          <p:nvSpPr>
            <p:cNvPr id="308" name="Text Box 38"/>
            <p:cNvSpPr txBox="1">
              <a:spLocks noChangeArrowheads="1"/>
            </p:cNvSpPr>
            <p:nvPr/>
          </p:nvSpPr>
          <p:spPr bwMode="auto">
            <a:xfrm>
              <a:off x="265628" y="1696493"/>
              <a:ext cx="1823817"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根域名服务器</a:t>
              </a:r>
            </a:p>
          </p:txBody>
        </p:sp>
        <p:sp>
          <p:nvSpPr>
            <p:cNvPr id="309" name="Text Box 39"/>
            <p:cNvSpPr txBox="1">
              <a:spLocks noChangeArrowheads="1"/>
            </p:cNvSpPr>
            <p:nvPr/>
          </p:nvSpPr>
          <p:spPr bwMode="auto">
            <a:xfrm>
              <a:off x="146205" y="2583906"/>
              <a:ext cx="2083301" cy="4448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latin typeface="微软雅黑 Light" panose="020B0502040204020203" pitchFamily="34" charset="-122"/>
                  <a:ea typeface="微软雅黑 Light" panose="020B0502040204020203" pitchFamily="34" charset="-122"/>
                </a:rPr>
                <a:t>顶级域名服务器</a:t>
              </a:r>
            </a:p>
          </p:txBody>
        </p:sp>
        <p:sp>
          <p:nvSpPr>
            <p:cNvPr id="310" name="Line 40"/>
            <p:cNvSpPr>
              <a:spLocks noChangeShapeType="1"/>
            </p:cNvSpPr>
            <p:nvPr/>
          </p:nvSpPr>
          <p:spPr bwMode="auto">
            <a:xfrm>
              <a:off x="2242089" y="1556792"/>
              <a:ext cx="0" cy="3983038"/>
            </a:xfrm>
            <a:prstGeom prst="line">
              <a:avLst/>
            </a:prstGeom>
            <a:noFill/>
            <a:ln w="12700">
              <a:solidFill>
                <a:srgbClr val="000066"/>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1" name="Line 41"/>
            <p:cNvSpPr>
              <a:spLocks noChangeShapeType="1"/>
            </p:cNvSpPr>
            <p:nvPr/>
          </p:nvSpPr>
          <p:spPr bwMode="auto">
            <a:xfrm flipH="1">
              <a:off x="6531250" y="4377780"/>
              <a:ext cx="1427427" cy="658812"/>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2" name="Rectangle 43"/>
            <p:cNvSpPr>
              <a:spLocks noChangeArrowheads="1"/>
            </p:cNvSpPr>
            <p:nvPr/>
          </p:nvSpPr>
          <p:spPr bwMode="auto">
            <a:xfrm>
              <a:off x="4575844" y="3683931"/>
              <a:ext cx="1907249" cy="73675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sp>
          <p:nvSpPr>
            <p:cNvPr id="300" name="Rectangle 29"/>
            <p:cNvSpPr>
              <a:spLocks noChangeArrowheads="1"/>
            </p:cNvSpPr>
            <p:nvPr/>
          </p:nvSpPr>
          <p:spPr bwMode="auto">
            <a:xfrm>
              <a:off x="4587885" y="4654449"/>
              <a:ext cx="1907248" cy="723789"/>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Lst>
          </p:spPr>
          <p:txBody>
            <a:bodyPr wrap="none" anchor="ctr"/>
            <a:lstStyle/>
            <a:p>
              <a:pPr algn="ctr" eaLnBrk="1" hangingPunct="1"/>
              <a:r>
                <a:rPr lang="en-US" altLang="zh-CN" sz="1400" b="1" dirty="0">
                  <a:solidFill>
                    <a:srgbClr val="0000FF"/>
                  </a:solidFill>
                  <a:latin typeface="微软雅黑 Light" panose="020B0502040204020203" pitchFamily="34" charset="-122"/>
                  <a:ea typeface="微软雅黑 Light" panose="020B0502040204020203" pitchFamily="34" charset="-122"/>
                </a:rPr>
                <a:t>y.abc.com</a:t>
              </a:r>
            </a:p>
            <a:p>
              <a:pPr algn="ctr" eaLnBrk="1" hangingPunct="1"/>
              <a:r>
                <a:rPr lang="zh-CN" altLang="en-US" sz="1400" b="1" dirty="0">
                  <a:solidFill>
                    <a:srgbClr val="0000FF"/>
                  </a:solidFill>
                  <a:latin typeface="微软雅黑 Light" panose="020B0502040204020203" pitchFamily="34" charset="-122"/>
                  <a:ea typeface="微软雅黑 Light" panose="020B0502040204020203" pitchFamily="34" charset="-122"/>
                </a:rPr>
                <a:t>域名服务器</a:t>
              </a:r>
            </a:p>
          </p:txBody>
        </p:sp>
      </p:grpSp>
      <p:sp>
        <p:nvSpPr>
          <p:cNvPr id="3" name="矩形 2"/>
          <p:cNvSpPr/>
          <p:nvPr/>
        </p:nvSpPr>
        <p:spPr>
          <a:xfrm>
            <a:off x="1811045" y="4095615"/>
            <a:ext cx="6145188" cy="369332"/>
          </a:xfrm>
          <a:prstGeom prst="rect">
            <a:avLst/>
          </a:prstGeom>
        </p:spPr>
        <p:txBody>
          <a:bodyPr wrap="square">
            <a:spAutoFit/>
          </a:bodyPr>
          <a:lstStyle/>
          <a:p>
            <a:pPr algn="ctr"/>
            <a:r>
              <a:rPr lang="zh-CN" altLang="en-US" b="1" dirty="0">
                <a:latin typeface="微软雅黑 Light" panose="020B0502040204020203" pitchFamily="34" charset="-122"/>
                <a:ea typeface="微软雅黑 Light" panose="020B0502040204020203" pitchFamily="34" charset="-122"/>
              </a:rPr>
              <a:t>每个域名服务器都只对域名体系中的</a:t>
            </a:r>
            <a:r>
              <a:rPr lang="zh-CN" altLang="en-US" b="1" dirty="0">
                <a:solidFill>
                  <a:srgbClr val="C00000"/>
                </a:solidFill>
                <a:latin typeface="微软雅黑 Light" panose="020B0502040204020203" pitchFamily="34" charset="-122"/>
                <a:ea typeface="微软雅黑 Light" panose="020B0502040204020203" pitchFamily="34" charset="-122"/>
              </a:rPr>
              <a:t>一部分</a:t>
            </a:r>
            <a:r>
              <a:rPr lang="zh-CN" altLang="en-US" b="1" dirty="0">
                <a:latin typeface="微软雅黑 Light" panose="020B0502040204020203" pitchFamily="34" charset="-122"/>
                <a:ea typeface="微软雅黑 Light" panose="020B0502040204020203" pitchFamily="34" charset="-122"/>
              </a:rPr>
              <a:t>进行管辖。</a:t>
            </a:r>
          </a:p>
        </p:txBody>
      </p:sp>
    </p:spTree>
    <p:extLst>
      <p:ext uri="{BB962C8B-B14F-4D97-AF65-F5344CB8AC3E}">
        <p14:creationId xmlns:p14="http://schemas.microsoft.com/office/powerpoint/2010/main" val="35328171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3361BA-A47D-9403-D417-16163282E848}"/>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类型</a:t>
            </a:r>
          </a:p>
        </p:txBody>
      </p:sp>
      <p:sp>
        <p:nvSpPr>
          <p:cNvPr id="3" name="内容占位符 2">
            <a:extLst>
              <a:ext uri="{FF2B5EF4-FFF2-40B4-BE49-F238E27FC236}">
                <a16:creationId xmlns:a16="http://schemas.microsoft.com/office/drawing/2014/main" id="{FF5B7A5B-5AC9-393B-515A-EB035C443A6B}"/>
              </a:ext>
            </a:extLst>
          </p:cNvPr>
          <p:cNvSpPr>
            <a:spLocks noGrp="1"/>
          </p:cNvSpPr>
          <p:nvPr>
            <p:ph sz="quarter" idx="11"/>
          </p:nvPr>
        </p:nvSpPr>
        <p:spPr>
          <a:xfrm>
            <a:off x="486000" y="687518"/>
            <a:ext cx="8172000" cy="4079035"/>
          </a:xfrm>
        </p:spPr>
        <p:txBody>
          <a:bodyPr/>
          <a:lstStyle/>
          <a:p>
            <a:r>
              <a:rPr lang="zh-CN" altLang="en-US"/>
              <a:t>根据所起的作用，分为四种类型：</a:t>
            </a:r>
            <a:endParaRPr lang="en-US" altLang="zh-CN"/>
          </a:p>
          <a:p>
            <a:pPr lvl="1"/>
            <a:r>
              <a:rPr lang="zh-CN" altLang="en-US"/>
              <a:t>根域名服务器 </a:t>
            </a:r>
          </a:p>
          <a:p>
            <a:pPr lvl="1"/>
            <a:r>
              <a:rPr lang="zh-CN" altLang="en-US"/>
              <a:t>顶级域名服务器 </a:t>
            </a:r>
          </a:p>
          <a:p>
            <a:pPr lvl="1"/>
            <a:r>
              <a:rPr lang="zh-CN" altLang="en-US"/>
              <a:t>权限域名服务器 </a:t>
            </a:r>
          </a:p>
          <a:p>
            <a:pPr lvl="1"/>
            <a:r>
              <a:rPr lang="zh-CN" altLang="en-US"/>
              <a:t>本地域名服务器 </a:t>
            </a:r>
          </a:p>
          <a:p>
            <a:endParaRPr lang="zh-CN" altLang="en-US" dirty="0"/>
          </a:p>
        </p:txBody>
      </p:sp>
    </p:spTree>
    <p:extLst>
      <p:ext uri="{BB962C8B-B14F-4D97-AF65-F5344CB8AC3E}">
        <p14:creationId xmlns:p14="http://schemas.microsoft.com/office/powerpoint/2010/main" val="11682525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E9322C-3FB6-9500-61B9-5D1FB9256344}"/>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3" name="内容占位符 2">
            <a:extLst>
              <a:ext uri="{FF2B5EF4-FFF2-40B4-BE49-F238E27FC236}">
                <a16:creationId xmlns:a16="http://schemas.microsoft.com/office/drawing/2014/main" id="{52D3F750-20C8-22FA-0D9E-F047B98160B1}"/>
              </a:ext>
            </a:extLst>
          </p:cNvPr>
          <p:cNvSpPr>
            <a:spLocks noGrp="1"/>
          </p:cNvSpPr>
          <p:nvPr>
            <p:ph sz="quarter" idx="11"/>
          </p:nvPr>
        </p:nvSpPr>
        <p:spPr>
          <a:xfrm>
            <a:off x="486000" y="687518"/>
            <a:ext cx="8172000" cy="4079035"/>
          </a:xfrm>
        </p:spPr>
        <p:txBody>
          <a:bodyPr/>
          <a:lstStyle/>
          <a:p>
            <a:r>
              <a:rPr lang="zh-CN" altLang="en-US"/>
              <a:t>最高层次，最为重要</a:t>
            </a:r>
            <a:endParaRPr lang="en-US" altLang="zh-CN"/>
          </a:p>
          <a:p>
            <a:r>
              <a:rPr lang="zh-CN" altLang="en-US"/>
              <a:t>所有根域名服务器都知道所有的顶级域名服务器的域名和 </a:t>
            </a:r>
            <a:r>
              <a:rPr lang="en-US" altLang="zh-CN"/>
              <a:t>IP </a:t>
            </a:r>
            <a:r>
              <a:rPr lang="zh-CN" altLang="en-US"/>
              <a:t>地址</a:t>
            </a:r>
          </a:p>
          <a:p>
            <a:r>
              <a:rPr lang="zh-CN" altLang="en-US"/>
              <a:t>不管是哪一个本地域名服务器，若要对互联网上任何一个域名进行解析，只要自己无法解析，就首先求助于根域名服务器</a:t>
            </a:r>
            <a:endParaRPr lang="en-US" altLang="zh-CN"/>
          </a:p>
          <a:p>
            <a:r>
              <a:rPr lang="zh-CN" altLang="en-US"/>
              <a:t>若所有的根域名服务器都瘫痪了，整个互联网中的 </a:t>
            </a:r>
            <a:r>
              <a:rPr lang="en-US" altLang="zh-CN"/>
              <a:t>DNS </a:t>
            </a:r>
            <a:r>
              <a:rPr lang="zh-CN" altLang="en-US"/>
              <a:t>系统就无法工作了</a:t>
            </a:r>
          </a:p>
          <a:p>
            <a:endParaRPr lang="zh-CN" altLang="en-US" dirty="0"/>
          </a:p>
        </p:txBody>
      </p:sp>
    </p:spTree>
    <p:extLst>
      <p:ext uri="{BB962C8B-B14F-4D97-AF65-F5344CB8AC3E}">
        <p14:creationId xmlns:p14="http://schemas.microsoft.com/office/powerpoint/2010/main" val="43380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1CA98CEA-F2D2-6978-E773-86BA0E52543B}"/>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8EB8022B-4C00-9873-3D14-C644FA117245}"/>
              </a:ext>
            </a:extLst>
          </p:cNvPr>
          <p:cNvSpPr>
            <a:spLocks noGrp="1"/>
          </p:cNvSpPr>
          <p:nvPr>
            <p:ph sz="quarter" idx="11"/>
          </p:nvPr>
        </p:nvSpPr>
        <p:spPr>
          <a:xfrm>
            <a:off x="486000" y="687518"/>
            <a:ext cx="8172000" cy="4079035"/>
          </a:xfrm>
        </p:spPr>
        <p:txBody>
          <a:bodyPr/>
          <a:lstStyle/>
          <a:p>
            <a:r>
              <a:rPr lang="zh-CN" altLang="en-US" dirty="0"/>
              <a:t>根域名服务器共有 </a:t>
            </a:r>
            <a:r>
              <a:rPr lang="en-US" altLang="zh-CN" dirty="0"/>
              <a:t>13 </a:t>
            </a:r>
            <a:r>
              <a:rPr lang="zh-CN" altLang="en-US" dirty="0"/>
              <a:t>套装置，构成 </a:t>
            </a:r>
            <a:r>
              <a:rPr lang="en-US" altLang="zh-CN" dirty="0"/>
              <a:t>13 </a:t>
            </a:r>
            <a:r>
              <a:rPr lang="zh-CN" altLang="en-US" dirty="0"/>
              <a:t>组根域名服务器</a:t>
            </a:r>
            <a:endParaRPr lang="en-US" altLang="zh-CN" dirty="0"/>
          </a:p>
          <a:p>
            <a:r>
              <a:rPr lang="zh-CN" altLang="en-US" dirty="0"/>
              <a:t>根域名服务器总共只有 </a:t>
            </a:r>
            <a:r>
              <a:rPr lang="en-US" altLang="zh-CN" dirty="0"/>
              <a:t>13 </a:t>
            </a:r>
            <a:r>
              <a:rPr lang="zh-CN" altLang="en-US" dirty="0"/>
              <a:t>个不同 </a:t>
            </a:r>
            <a:r>
              <a:rPr lang="en-US" altLang="zh-CN" dirty="0"/>
              <a:t>IP </a:t>
            </a:r>
            <a:r>
              <a:rPr lang="zh-CN" altLang="en-US" dirty="0"/>
              <a:t>地址的域名，但并非仅由</a:t>
            </a:r>
            <a:r>
              <a:rPr lang="en-US" altLang="zh-CN" dirty="0"/>
              <a:t>13</a:t>
            </a:r>
            <a:r>
              <a:rPr lang="zh-CN" altLang="en-US" dirty="0"/>
              <a:t>台机器所组成</a:t>
            </a:r>
            <a:endParaRPr lang="en-US" altLang="zh-CN" dirty="0"/>
          </a:p>
          <a:p>
            <a:endParaRPr lang="zh-CN" altLang="en-US" dirty="0"/>
          </a:p>
        </p:txBody>
      </p:sp>
      <p:graphicFrame>
        <p:nvGraphicFramePr>
          <p:cNvPr id="2" name="表格 1"/>
          <p:cNvGraphicFramePr>
            <a:graphicFrameLocks noGrp="1"/>
          </p:cNvGraphicFramePr>
          <p:nvPr>
            <p:extLst>
              <p:ext uri="{D42A27DB-BD31-4B8C-83A1-F6EECF244321}">
                <p14:modId xmlns:p14="http://schemas.microsoft.com/office/powerpoint/2010/main" val="2452479132"/>
              </p:ext>
            </p:extLst>
          </p:nvPr>
        </p:nvGraphicFramePr>
        <p:xfrm>
          <a:off x="485774" y="1366823"/>
          <a:ext cx="8172449" cy="3330000"/>
        </p:xfrm>
        <a:graphic>
          <a:graphicData uri="http://schemas.openxmlformats.org/drawingml/2006/table">
            <a:tbl>
              <a:tblPr firstRow="1">
                <a:tableStyleId>{10A1B5D5-9B99-4C35-A422-299274C87663}</a:tableStyleId>
              </a:tblPr>
              <a:tblGrid>
                <a:gridCol w="1669141">
                  <a:extLst>
                    <a:ext uri="{9D8B030D-6E8A-4147-A177-3AD203B41FA5}">
                      <a16:colId xmlns:a16="http://schemas.microsoft.com/office/drawing/2014/main" val="408908172"/>
                    </a:ext>
                  </a:extLst>
                </a:gridCol>
                <a:gridCol w="2365930">
                  <a:extLst>
                    <a:ext uri="{9D8B030D-6E8A-4147-A177-3AD203B41FA5}">
                      <a16:colId xmlns:a16="http://schemas.microsoft.com/office/drawing/2014/main" val="3439813314"/>
                    </a:ext>
                  </a:extLst>
                </a:gridCol>
                <a:gridCol w="4137378">
                  <a:extLst>
                    <a:ext uri="{9D8B030D-6E8A-4147-A177-3AD203B41FA5}">
                      <a16:colId xmlns:a16="http://schemas.microsoft.com/office/drawing/2014/main" val="1803728834"/>
                    </a:ext>
                  </a:extLst>
                </a:gridCol>
              </a:tblGrid>
              <a:tr h="288000">
                <a:tc>
                  <a:txBody>
                    <a:bodyPr/>
                    <a:lstStyle/>
                    <a:p>
                      <a:pPr algn="ctr" fontAlgn="b">
                        <a:lnSpc>
                          <a:spcPct val="100000"/>
                        </a:lnSpc>
                      </a:pPr>
                      <a:r>
                        <a:rPr lang="zh-CN" altLang="en-US" sz="1000" b="1" cap="all" dirty="0">
                          <a:solidFill>
                            <a:schemeClr val="lt1"/>
                          </a:solidFill>
                          <a:effectLst/>
                          <a:latin typeface="Montserrat" panose="00000500000000000000" pitchFamily="2" charset="0"/>
                          <a:ea typeface="微软雅黑 Light" panose="020B0502040204020203" pitchFamily="34" charset="-122"/>
                        </a:rPr>
                        <a:t>域名</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algn="ctr" fontAlgn="b">
                        <a:lnSpc>
                          <a:spcPct val="100000"/>
                        </a:lnSpc>
                      </a:pPr>
                      <a:r>
                        <a:rPr lang="en-US" sz="1000" cap="all" dirty="0">
                          <a:effectLst/>
                          <a:latin typeface="Montserrat" panose="00000500000000000000" pitchFamily="2" charset="0"/>
                          <a:ea typeface="微软雅黑 Light" panose="020B0502040204020203" pitchFamily="34" charset="-122"/>
                        </a:rPr>
                        <a:t>IP </a:t>
                      </a:r>
                      <a:r>
                        <a:rPr lang="zh-CN" altLang="en-US" sz="1000" cap="all" dirty="0">
                          <a:effectLst/>
                          <a:latin typeface="Montserrat" panose="00000500000000000000" pitchFamily="2" charset="0"/>
                          <a:ea typeface="微软雅黑 Light" panose="020B0502040204020203" pitchFamily="34" charset="-122"/>
                        </a:rPr>
                        <a:t>地址</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algn="ctr" fontAlgn="b">
                        <a:lnSpc>
                          <a:spcPct val="100000"/>
                        </a:lnSpc>
                      </a:pPr>
                      <a:r>
                        <a:rPr lang="zh-CN" altLang="en-US" sz="1000" cap="all" dirty="0">
                          <a:effectLst/>
                          <a:latin typeface="Montserrat" panose="00000500000000000000" pitchFamily="2" charset="0"/>
                          <a:ea typeface="微软雅黑 Light" panose="020B0502040204020203" pitchFamily="34" charset="-122"/>
                        </a:rPr>
                        <a:t>运营商</a:t>
                      </a:r>
                      <a:endParaRPr lang="en-US" sz="1000" b="1" i="0" cap="all"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140239074"/>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a.root-servers.net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198.41.0.4, 2001:503:ba3e::2:30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79993446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b.root-servers.net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199.9.14.201, 2001:500:200::b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Southern </a:t>
                      </a:r>
                      <a:r>
                        <a:rPr lang="en-US" sz="1000" dirty="0" err="1">
                          <a:effectLst/>
                          <a:latin typeface="Montserrat" panose="00000500000000000000" pitchFamily="2" charset="0"/>
                          <a:ea typeface="微软雅黑 Light" panose="020B0502040204020203" pitchFamily="34" charset="-122"/>
                        </a:rPr>
                        <a:t>California,Information</a:t>
                      </a:r>
                      <a:r>
                        <a:rPr lang="en-US" sz="1000" dirty="0">
                          <a:effectLst/>
                          <a:latin typeface="Montserrat" panose="00000500000000000000" pitchFamily="2" charset="0"/>
                          <a:ea typeface="微软雅黑 Light" panose="020B0502040204020203" pitchFamily="34" charset="-122"/>
                        </a:rPr>
                        <a:t> Sciences Institute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81003378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192.33.4.12, 2001:500:2::c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Cogent Communications</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551130435"/>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d.root-servers.net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199.7.91.13, 2001:500:2d::d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University of Maryland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60298175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e.root-servers.net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192.203.230.10, 2001:500:a8::e</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NASA (Ames Research Center)</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2264058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f.root-servers.net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192.5.5.241, 2001:500:2f::f</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Internet Systems Consortium,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728933610"/>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g.root-servers.net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192.112.36.4, 2001:500:12::d0d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Department of Defense (NIC)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200553252"/>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h.root-servers.net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altLang="zh-CN" sz="1000" dirty="0">
                          <a:effectLst/>
                          <a:latin typeface="Montserrat" panose="00000500000000000000" pitchFamily="2" charset="0"/>
                          <a:ea typeface="微软雅黑 Light" panose="020B0502040204020203" pitchFamily="34" charset="-122"/>
                        </a:rPr>
                        <a:t>198.97.190.53, 2001:500:1::53</a:t>
                      </a:r>
                      <a:endParaRPr lang="en-US" altLang="zh-CN"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US Army (Research Lab)</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97951066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192.36.148.17, 2001:7fe::53</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Netnod</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406046716"/>
                  </a:ext>
                </a:extLst>
              </a:tr>
              <a:tr h="234000">
                <a:tc>
                  <a:txBody>
                    <a:bodyPr/>
                    <a:lstStyle/>
                    <a:p>
                      <a:pPr fontAlgn="t">
                        <a:lnSpc>
                          <a:spcPct val="100000"/>
                        </a:lnSpc>
                      </a:pPr>
                      <a:r>
                        <a:rPr lang="en-US" sz="1000" dirty="0" err="1">
                          <a:effectLst/>
                          <a:latin typeface="Montserrat" panose="00000500000000000000" pitchFamily="2" charset="0"/>
                          <a:ea typeface="微软雅黑 Light" panose="020B0502040204020203" pitchFamily="34" charset="-122"/>
                        </a:rPr>
                        <a:t>j.root-servers.net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192.58.128.30, 2001:503:c27::2:30</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Verisign, Inc.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307715153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k.root-servers.net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193.0.14.129, 2001:7fd::1</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RIPE NCC</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109581213"/>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l.root-servers.net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199.7.83.42, 2001:500:9f::42</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ICANN</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1659636611"/>
                  </a:ext>
                </a:extLst>
              </a:tr>
              <a:tr h="234000">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m.root-servers.net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2494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202.12.27.33, 2001:dc3::35</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tc>
                  <a:txBody>
                    <a:bodyPr/>
                    <a:lstStyle/>
                    <a:p>
                      <a:pPr fontAlgn="t">
                        <a:lnSpc>
                          <a:spcPct val="100000"/>
                        </a:lnSpc>
                      </a:pPr>
                      <a:r>
                        <a:rPr lang="en-US" sz="1000" dirty="0">
                          <a:effectLst/>
                          <a:latin typeface="Montserrat" panose="00000500000000000000" pitchFamily="2" charset="0"/>
                          <a:ea typeface="微软雅黑 Light" panose="020B0502040204020203" pitchFamily="34" charset="-122"/>
                        </a:rPr>
                        <a:t>WIDE Project</a:t>
                      </a:r>
                      <a:endParaRPr lang="en-US" sz="1000" b="0" i="0" dirty="0">
                        <a:solidFill>
                          <a:schemeClr val="tx1"/>
                        </a:solidFill>
                        <a:effectLst/>
                        <a:latin typeface="Montserrat" panose="00000500000000000000" pitchFamily="2" charset="0"/>
                        <a:ea typeface="微软雅黑 Light" panose="020B0502040204020203" pitchFamily="34" charset="-122"/>
                      </a:endParaRPr>
                    </a:p>
                  </a:txBody>
                  <a:tcPr marL="12471" marR="24941" marT="12471" marB="12471" anchor="ctr"/>
                </a:tc>
                <a:extLst>
                  <a:ext uri="{0D108BD9-81ED-4DB2-BD59-A6C34878D82A}">
                    <a16:rowId xmlns:a16="http://schemas.microsoft.com/office/drawing/2014/main" val="2430741343"/>
                  </a:ext>
                </a:extLst>
              </a:tr>
            </a:tbl>
          </a:graphicData>
        </a:graphic>
      </p:graphicFrame>
    </p:spTree>
    <p:extLst>
      <p:ext uri="{BB962C8B-B14F-4D97-AF65-F5344CB8AC3E}">
        <p14:creationId xmlns:p14="http://schemas.microsoft.com/office/powerpoint/2010/main" val="31808481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A0658CA-821E-5EA9-10A9-D6AAAB7D5692}"/>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根域名服务器</a:t>
            </a:r>
          </a:p>
        </p:txBody>
      </p:sp>
      <p:sp>
        <p:nvSpPr>
          <p:cNvPr id="4" name="内容占位符 3">
            <a:extLst>
              <a:ext uri="{FF2B5EF4-FFF2-40B4-BE49-F238E27FC236}">
                <a16:creationId xmlns:a16="http://schemas.microsoft.com/office/drawing/2014/main" id="{6AB244B7-CFA4-4926-7BD7-9A630A715284}"/>
              </a:ext>
            </a:extLst>
          </p:cNvPr>
          <p:cNvSpPr>
            <a:spLocks noGrp="1"/>
          </p:cNvSpPr>
          <p:nvPr>
            <p:ph sz="quarter" idx="11"/>
          </p:nvPr>
        </p:nvSpPr>
        <p:spPr>
          <a:xfrm>
            <a:off x="486000" y="687518"/>
            <a:ext cx="8172000" cy="4079035"/>
          </a:xfrm>
        </p:spPr>
        <p:txBody>
          <a:bodyPr/>
          <a:lstStyle/>
          <a:p>
            <a:r>
              <a:rPr lang="zh-CN" altLang="en-US"/>
              <a:t>根域名服务器分布在全世界</a:t>
            </a:r>
            <a:endParaRPr lang="en-US" altLang="zh-CN"/>
          </a:p>
          <a:p>
            <a:r>
              <a:rPr lang="zh-CN" altLang="en-US"/>
              <a:t>为了提供更可靠的服务，在每一个地点的根域名服务器往往由多台机器组成</a:t>
            </a:r>
          </a:p>
          <a:p>
            <a:r>
              <a:rPr lang="zh-CN" altLang="zh-CN"/>
              <a:t>根域名服务器采</a:t>
            </a:r>
            <a:r>
              <a:rPr lang="zh-CN" altLang="en-US"/>
              <a:t>用</a:t>
            </a:r>
            <a:r>
              <a:rPr lang="zh-CN" altLang="zh-CN"/>
              <a:t>任播</a:t>
            </a:r>
            <a:r>
              <a:rPr lang="en-US" altLang="zh-CN"/>
              <a:t> (anycast) </a:t>
            </a:r>
            <a:r>
              <a:rPr lang="zh-CN" altLang="zh-CN"/>
              <a:t>技术</a:t>
            </a:r>
            <a:r>
              <a:rPr lang="zh-CN" altLang="en-US"/>
              <a:t>，</a:t>
            </a:r>
            <a:r>
              <a:rPr lang="zh-CN" altLang="zh-CN"/>
              <a:t>当</a:t>
            </a:r>
            <a:r>
              <a:rPr lang="en-US" altLang="zh-CN"/>
              <a:t>DNS </a:t>
            </a:r>
            <a:r>
              <a:rPr lang="zh-CN" altLang="zh-CN"/>
              <a:t>客户向某个根域名服务器发出查询报文时，路由器能找到离这个</a:t>
            </a:r>
            <a:r>
              <a:rPr lang="en-US" altLang="zh-CN"/>
              <a:t> DNS </a:t>
            </a:r>
            <a:r>
              <a:rPr lang="zh-CN" altLang="zh-CN"/>
              <a:t>客户最近的一个根域名服务器</a:t>
            </a:r>
          </a:p>
          <a:p>
            <a:r>
              <a:rPr lang="zh-CN" altLang="en-US"/>
              <a:t>截至 </a:t>
            </a:r>
            <a:r>
              <a:rPr lang="en-US" altLang="zh-CN"/>
              <a:t>2020</a:t>
            </a:r>
            <a:r>
              <a:rPr lang="zh-CN" altLang="en-US"/>
              <a:t>年</a:t>
            </a:r>
            <a:r>
              <a:rPr lang="en-US" altLang="zh-CN"/>
              <a:t>9</a:t>
            </a:r>
            <a:r>
              <a:rPr lang="zh-CN" altLang="en-US"/>
              <a:t>月</a:t>
            </a:r>
            <a:r>
              <a:rPr lang="en-US" altLang="zh-CN"/>
              <a:t>3</a:t>
            </a:r>
            <a:r>
              <a:rPr lang="zh-CN" altLang="en-US"/>
              <a:t>日，全球共有 </a:t>
            </a:r>
            <a:r>
              <a:rPr lang="en-US" altLang="zh-CN"/>
              <a:t>1098 </a:t>
            </a:r>
            <a:r>
              <a:rPr lang="zh-CN" altLang="en-US"/>
              <a:t>个根域名服务器在运行，其中在我国的共有</a:t>
            </a:r>
            <a:r>
              <a:rPr lang="en-US" altLang="zh-CN"/>
              <a:t>28</a:t>
            </a:r>
            <a:r>
              <a:rPr lang="zh-CN" altLang="en-US"/>
              <a:t>个</a:t>
            </a:r>
            <a:endParaRPr lang="en-US" altLang="zh-CN"/>
          </a:p>
          <a:p>
            <a:endParaRPr lang="en-US" altLang="zh-CN"/>
          </a:p>
          <a:p>
            <a:r>
              <a:rPr lang="zh-CN" altLang="en-US"/>
              <a:t>注意：</a:t>
            </a:r>
            <a:endParaRPr lang="en-US" altLang="zh-CN"/>
          </a:p>
          <a:p>
            <a:pPr lvl="1"/>
            <a:r>
              <a:rPr lang="zh-CN" altLang="en-US"/>
              <a:t>根域名服务器并不直接把域名转换成 </a:t>
            </a:r>
            <a:r>
              <a:rPr lang="en-US" altLang="zh-CN"/>
              <a:t>IP </a:t>
            </a:r>
            <a:r>
              <a:rPr lang="zh-CN" altLang="en-US"/>
              <a:t>地址（根域名服务器也没有存放这种信息）</a:t>
            </a:r>
            <a:endParaRPr lang="en-US" altLang="zh-CN"/>
          </a:p>
          <a:p>
            <a:pPr lvl="1"/>
            <a:r>
              <a:rPr lang="zh-CN" altLang="en-US"/>
              <a:t>而是告诉本地域名服务器下一步应当找哪一个顶级域名服务器进行查询</a:t>
            </a:r>
          </a:p>
          <a:p>
            <a:endParaRPr lang="zh-CN" altLang="en-US"/>
          </a:p>
          <a:p>
            <a:endParaRPr lang="zh-CN" altLang="en-US" dirty="0"/>
          </a:p>
        </p:txBody>
      </p:sp>
    </p:spTree>
    <p:extLst>
      <p:ext uri="{BB962C8B-B14F-4D97-AF65-F5344CB8AC3E}">
        <p14:creationId xmlns:p14="http://schemas.microsoft.com/office/powerpoint/2010/main" val="27597976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F3E1AE4-383D-6FFE-E5C0-74694987A4C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顶级域名服务器</a:t>
            </a:r>
          </a:p>
        </p:txBody>
      </p:sp>
      <p:sp>
        <p:nvSpPr>
          <p:cNvPr id="3" name="内容占位符 2">
            <a:extLst>
              <a:ext uri="{FF2B5EF4-FFF2-40B4-BE49-F238E27FC236}">
                <a16:creationId xmlns:a16="http://schemas.microsoft.com/office/drawing/2014/main" id="{5BA68435-FFF7-7C45-75CC-4E9E3C0400CE}"/>
              </a:ext>
            </a:extLst>
          </p:cNvPr>
          <p:cNvSpPr>
            <a:spLocks noGrp="1"/>
          </p:cNvSpPr>
          <p:nvPr>
            <p:ph sz="quarter" idx="11"/>
          </p:nvPr>
        </p:nvSpPr>
        <p:spPr>
          <a:xfrm>
            <a:off x="486000" y="687518"/>
            <a:ext cx="8172000" cy="4079035"/>
          </a:xfrm>
        </p:spPr>
        <p:txBody>
          <a:bodyPr/>
          <a:lstStyle/>
          <a:p>
            <a:r>
              <a:rPr lang="zh-CN" altLang="en-US"/>
              <a:t>顶级域名服务器</a:t>
            </a:r>
            <a:endParaRPr lang="en-US" altLang="zh-CN"/>
          </a:p>
          <a:p>
            <a:pPr lvl="1"/>
            <a:r>
              <a:rPr lang="zh-CN" altLang="en-US"/>
              <a:t> </a:t>
            </a:r>
            <a:r>
              <a:rPr lang="en-US" altLang="zh-CN"/>
              <a:t>TLD – Top Level Domain</a:t>
            </a:r>
          </a:p>
          <a:p>
            <a:pPr lvl="1"/>
            <a:r>
              <a:rPr lang="zh-CN" altLang="en-US"/>
              <a:t>负责管理在该顶级域名服务器注册的所有二级域名</a:t>
            </a:r>
          </a:p>
          <a:p>
            <a:r>
              <a:rPr lang="zh-CN" altLang="en-US"/>
              <a:t>当收到 </a:t>
            </a:r>
            <a:r>
              <a:rPr lang="en-US" altLang="zh-CN"/>
              <a:t>DNS </a:t>
            </a:r>
            <a:r>
              <a:rPr lang="zh-CN" altLang="en-US"/>
              <a:t>查询请求时，就给出相应的回答</a:t>
            </a:r>
            <a:endParaRPr lang="en-US" altLang="zh-CN"/>
          </a:p>
          <a:p>
            <a:r>
              <a:rPr lang="zh-CN" altLang="en-US"/>
              <a:t>可能是最后的结果，也可能是下一步应当找的域名服务器的 </a:t>
            </a:r>
            <a:r>
              <a:rPr lang="en-US" altLang="zh-CN"/>
              <a:t>IP </a:t>
            </a:r>
            <a:r>
              <a:rPr lang="zh-CN" altLang="en-US"/>
              <a:t>地址</a:t>
            </a:r>
          </a:p>
          <a:p>
            <a:endParaRPr lang="zh-CN" altLang="en-US" dirty="0"/>
          </a:p>
        </p:txBody>
      </p:sp>
    </p:spTree>
    <p:extLst>
      <p:ext uri="{BB962C8B-B14F-4D97-AF65-F5344CB8AC3E}">
        <p14:creationId xmlns:p14="http://schemas.microsoft.com/office/powerpoint/2010/main" val="29027039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9B9B11-AB63-9417-26D7-8EA1ED505111}"/>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权限域名服务器</a:t>
            </a:r>
          </a:p>
        </p:txBody>
      </p:sp>
      <p:sp>
        <p:nvSpPr>
          <p:cNvPr id="3" name="内容占位符 2">
            <a:extLst>
              <a:ext uri="{FF2B5EF4-FFF2-40B4-BE49-F238E27FC236}">
                <a16:creationId xmlns:a16="http://schemas.microsoft.com/office/drawing/2014/main" id="{31F53DD5-FB48-AB44-89D7-2727C7006770}"/>
              </a:ext>
            </a:extLst>
          </p:cNvPr>
          <p:cNvSpPr>
            <a:spLocks noGrp="1"/>
          </p:cNvSpPr>
          <p:nvPr>
            <p:ph sz="quarter" idx="11"/>
          </p:nvPr>
        </p:nvSpPr>
        <p:spPr>
          <a:xfrm>
            <a:off x="486000" y="687518"/>
            <a:ext cx="8172000" cy="4079035"/>
          </a:xfrm>
        </p:spPr>
        <p:txBody>
          <a:bodyPr/>
          <a:lstStyle/>
          <a:p>
            <a:r>
              <a:rPr lang="zh-CN" altLang="en-US"/>
              <a:t>负责一个区 </a:t>
            </a:r>
            <a:r>
              <a:rPr lang="en-US" altLang="zh-CN"/>
              <a:t>zone </a:t>
            </a:r>
            <a:r>
              <a:rPr lang="zh-CN" altLang="en-US"/>
              <a:t>的域名服务器</a:t>
            </a:r>
          </a:p>
          <a:p>
            <a:r>
              <a:rPr lang="zh-CN" altLang="en-US"/>
              <a:t>当一个权限域名服务器还不能给出最后的查询回答时，就会告诉发出查询请求的 </a:t>
            </a:r>
            <a:r>
              <a:rPr lang="en-US" altLang="zh-CN"/>
              <a:t>DNS </a:t>
            </a:r>
            <a:r>
              <a:rPr lang="zh-CN" altLang="en-US"/>
              <a:t>客户，下一步应当找哪一个权限域名服务器</a:t>
            </a:r>
          </a:p>
          <a:p>
            <a:endParaRPr lang="zh-CN" altLang="en-US" dirty="0"/>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E12526E-1561-6970-CA2A-560E7A492E8A}"/>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本地域名服务器</a:t>
            </a:r>
          </a:p>
        </p:txBody>
      </p:sp>
      <p:sp>
        <p:nvSpPr>
          <p:cNvPr id="3" name="内容占位符 2">
            <a:extLst>
              <a:ext uri="{FF2B5EF4-FFF2-40B4-BE49-F238E27FC236}">
                <a16:creationId xmlns:a16="http://schemas.microsoft.com/office/drawing/2014/main" id="{DEE475E9-301D-A7E5-86FB-BA45D57EF5D8}"/>
              </a:ext>
            </a:extLst>
          </p:cNvPr>
          <p:cNvSpPr>
            <a:spLocks noGrp="1"/>
          </p:cNvSpPr>
          <p:nvPr>
            <p:ph sz="quarter" idx="11"/>
          </p:nvPr>
        </p:nvSpPr>
        <p:spPr>
          <a:xfrm>
            <a:off x="486000" y="687518"/>
            <a:ext cx="8172000" cy="4079035"/>
          </a:xfrm>
        </p:spPr>
        <p:txBody>
          <a:bodyPr/>
          <a:lstStyle/>
          <a:p>
            <a:r>
              <a:rPr lang="zh-CN" altLang="en-US"/>
              <a:t>非常重要</a:t>
            </a:r>
          </a:p>
          <a:p>
            <a:r>
              <a:rPr lang="zh-CN" altLang="en-US"/>
              <a:t>当一个主机发出 </a:t>
            </a:r>
            <a:r>
              <a:rPr lang="en-US" altLang="zh-CN"/>
              <a:t>DNS </a:t>
            </a:r>
            <a:r>
              <a:rPr lang="zh-CN" altLang="en-US"/>
              <a:t>查询请求时，该查询请求报文就发送给本地域名服务器</a:t>
            </a:r>
          </a:p>
          <a:p>
            <a:r>
              <a:rPr lang="zh-CN" altLang="en-US"/>
              <a:t>每一个互联网服务提供者 </a:t>
            </a:r>
            <a:r>
              <a:rPr lang="en-US" altLang="zh-CN"/>
              <a:t>ISP </a:t>
            </a:r>
            <a:r>
              <a:rPr lang="zh-CN" altLang="en-US"/>
              <a:t>或一个大学，都可以拥有一个本地域名服务器</a:t>
            </a:r>
            <a:endParaRPr lang="en-US" altLang="zh-CN"/>
          </a:p>
          <a:p>
            <a:r>
              <a:rPr lang="zh-CN" altLang="en-US"/>
              <a:t>当所要查询的主机也属于同一个本地 </a:t>
            </a:r>
            <a:r>
              <a:rPr lang="en-US" altLang="zh-CN"/>
              <a:t>ISP </a:t>
            </a:r>
            <a:r>
              <a:rPr lang="zh-CN" altLang="en-US"/>
              <a:t>时，该本地域名服务器立即就能将所查询的主机名转换为它的 </a:t>
            </a:r>
            <a:r>
              <a:rPr lang="en-US" altLang="zh-CN"/>
              <a:t>IP </a:t>
            </a:r>
            <a:r>
              <a:rPr lang="zh-CN" altLang="en-US"/>
              <a:t>地址，而不需要再去询问其他的域名服务器</a:t>
            </a:r>
          </a:p>
          <a:p>
            <a:r>
              <a:rPr lang="zh-CN" altLang="en-US"/>
              <a:t>本地域名服务器有时也称为默认域名服务器</a:t>
            </a:r>
          </a:p>
          <a:p>
            <a:endParaRPr lang="zh-CN" altLang="en-US" dirty="0"/>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5E8B17C-A709-0595-1D66-3634631AE9BF}"/>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提高域名服务器的可靠性</a:t>
            </a:r>
          </a:p>
        </p:txBody>
      </p:sp>
      <p:sp>
        <p:nvSpPr>
          <p:cNvPr id="3" name="内容占位符 2">
            <a:extLst>
              <a:ext uri="{FF2B5EF4-FFF2-40B4-BE49-F238E27FC236}">
                <a16:creationId xmlns:a16="http://schemas.microsoft.com/office/drawing/2014/main" id="{6FF5AEEE-2C37-243A-AF61-7C7BF0C32E43}"/>
              </a:ext>
            </a:extLst>
          </p:cNvPr>
          <p:cNvSpPr>
            <a:spLocks noGrp="1"/>
          </p:cNvSpPr>
          <p:nvPr>
            <p:ph sz="quarter" idx="11"/>
          </p:nvPr>
        </p:nvSpPr>
        <p:spPr>
          <a:xfrm>
            <a:off x="486000" y="687518"/>
            <a:ext cx="8172000" cy="4079035"/>
          </a:xfrm>
        </p:spPr>
        <p:txBody>
          <a:bodyPr/>
          <a:lstStyle/>
          <a:p>
            <a:r>
              <a:rPr lang="en-US" altLang="zh-CN"/>
              <a:t>DNS </a:t>
            </a:r>
            <a:r>
              <a:rPr lang="zh-CN" altLang="en-US"/>
              <a:t>域名服务器都把数据复制到几个域名服务器来保存</a:t>
            </a:r>
            <a:endParaRPr lang="en-US" altLang="zh-CN"/>
          </a:p>
          <a:p>
            <a:pPr lvl="1"/>
            <a:r>
              <a:rPr lang="zh-CN" altLang="en-US"/>
              <a:t>其中的一个是主域名服务器</a:t>
            </a:r>
            <a:endParaRPr lang="en-US" altLang="zh-CN"/>
          </a:p>
          <a:p>
            <a:pPr lvl="1"/>
            <a:r>
              <a:rPr lang="zh-CN" altLang="en-US"/>
              <a:t>其他的是辅助域名服务器。</a:t>
            </a:r>
          </a:p>
          <a:p>
            <a:r>
              <a:rPr lang="zh-CN" altLang="en-US"/>
              <a:t>当主域名服务器出故障时，辅助域名服务器可以保证 </a:t>
            </a:r>
            <a:r>
              <a:rPr lang="en-US" altLang="zh-CN"/>
              <a:t>DNS </a:t>
            </a:r>
            <a:r>
              <a:rPr lang="zh-CN" altLang="en-US"/>
              <a:t>的查询工作不会中断</a:t>
            </a:r>
          </a:p>
          <a:p>
            <a:r>
              <a:rPr lang="zh-CN" altLang="en-US"/>
              <a:t>主域名服务器定期把数据复制到辅助域名服务器中</a:t>
            </a:r>
            <a:endParaRPr lang="en-US" altLang="zh-CN"/>
          </a:p>
          <a:p>
            <a:r>
              <a:rPr lang="zh-CN" altLang="en-US"/>
              <a:t>更改数据只能在主域名服务器中进行，保证了数据的一致性</a:t>
            </a:r>
          </a:p>
          <a:p>
            <a:endParaRPr lang="zh-CN" altLang="en-US" dirty="0"/>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47989310"/>
              </p:ext>
            </p:extLst>
          </p:nvPr>
        </p:nvGraphicFramePr>
        <p:xfrm>
          <a:off x="485776" y="1080655"/>
          <a:ext cx="8172450" cy="286990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98632270-2D00-421B-FAE5-FC658CEC91CC}"/>
              </a:ext>
            </a:extLst>
          </p:cNvPr>
          <p:cNvSpPr>
            <a:spLocks noGrp="1"/>
          </p:cNvSpPr>
          <p:nvPr>
            <p:ph type="title"/>
          </p:nvPr>
        </p:nvSpPr>
        <p:spPr>
          <a:xfrm>
            <a:off x="2880000" y="144000"/>
            <a:ext cx="3384000" cy="338554"/>
          </a:xfrm>
        </p:spPr>
        <p:txBody>
          <a:bodyPr/>
          <a:lstStyle/>
          <a:p>
            <a:r>
              <a:rPr lang="zh-CN" altLang="en-US" dirty="0"/>
              <a:t>域名解析过程</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56" name="图片 5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57" name="图片 5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12" name="Text Box 7"/>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3" name="Text Box 8"/>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4" name="Text Box 9"/>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5" name="Text Box 12"/>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0" name="Text Box 18"/>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1" name="Line 20"/>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9"/>
          <p:cNvSpPr txBox="1">
            <a:spLocks noChangeArrowheads="1"/>
          </p:cNvSpPr>
          <p:nvPr/>
        </p:nvSpPr>
        <p:spPr bwMode="auto">
          <a:xfrm flipH="1">
            <a:off x="3762808" y="2014511"/>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4" name="Line 21"/>
          <p:cNvSpPr>
            <a:spLocks noChangeShapeType="1"/>
          </p:cNvSpPr>
          <p:nvPr/>
        </p:nvSpPr>
        <p:spPr bwMode="auto">
          <a:xfrm rot="10800000" flipH="1" flipV="1">
            <a:off x="3822789"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6" name="Text Box 14"/>
          <p:cNvSpPr txBox="1">
            <a:spLocks noChangeArrowheads="1"/>
          </p:cNvSpPr>
          <p:nvPr/>
        </p:nvSpPr>
        <p:spPr bwMode="auto">
          <a:xfrm flipH="1">
            <a:off x="3967275" y="1419806"/>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27" name="Line 22"/>
          <p:cNvSpPr>
            <a:spLocks noChangeShapeType="1"/>
          </p:cNvSpPr>
          <p:nvPr/>
        </p:nvSpPr>
        <p:spPr bwMode="auto">
          <a:xfrm rot="10800000" flipH="1">
            <a:off x="4030047" y="1713530"/>
            <a:ext cx="1007463"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9" name="Text Box 13"/>
          <p:cNvSpPr txBox="1">
            <a:spLocks noChangeArrowheads="1"/>
          </p:cNvSpPr>
          <p:nvPr/>
        </p:nvSpPr>
        <p:spPr bwMode="auto">
          <a:xfrm flipH="1">
            <a:off x="4691272" y="177689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0" name="Line 23"/>
          <p:cNvSpPr>
            <a:spLocks noChangeShapeType="1"/>
          </p:cNvSpPr>
          <p:nvPr/>
        </p:nvSpPr>
        <p:spPr bwMode="auto">
          <a:xfrm flipH="1" flipV="1">
            <a:off x="4030048" y="1802828"/>
            <a:ext cx="1007462" cy="102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3" name="Text Box 25"/>
          <p:cNvSpPr txBox="1">
            <a:spLocks noChangeArrowheads="1"/>
          </p:cNvSpPr>
          <p:nvPr/>
        </p:nvSpPr>
        <p:spPr bwMode="auto">
          <a:xfrm flipH="1">
            <a:off x="5297892" y="2036796"/>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4" name="Line 27"/>
          <p:cNvSpPr>
            <a:spLocks noChangeShapeType="1"/>
          </p:cNvSpPr>
          <p:nvPr/>
        </p:nvSpPr>
        <p:spPr bwMode="auto">
          <a:xfrm rot="16200000" flipH="1">
            <a:off x="5008838" y="2447731"/>
            <a:ext cx="648000" cy="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6" name="Line 28"/>
          <p:cNvSpPr>
            <a:spLocks noChangeShapeType="1"/>
          </p:cNvSpPr>
          <p:nvPr/>
        </p:nvSpPr>
        <p:spPr bwMode="auto">
          <a:xfrm rot="5400000" flipH="1" flipV="1">
            <a:off x="4909438" y="2447731"/>
            <a:ext cx="648000" cy="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7" name="Text Box 29"/>
          <p:cNvSpPr txBox="1">
            <a:spLocks noChangeArrowheads="1"/>
          </p:cNvSpPr>
          <p:nvPr/>
        </p:nvSpPr>
        <p:spPr bwMode="auto">
          <a:xfrm flipH="1">
            <a:off x="4929644" y="2508193"/>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pic>
        <p:nvPicPr>
          <p:cNvPr id="53" name="图片 5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grpSp>
        <p:nvGrpSpPr>
          <p:cNvPr id="2" name="组合 1"/>
          <p:cNvGrpSpPr/>
          <p:nvPr/>
        </p:nvGrpSpPr>
        <p:grpSpPr>
          <a:xfrm>
            <a:off x="6176311" y="4243671"/>
            <a:ext cx="2041636" cy="528629"/>
            <a:chOff x="5967873" y="3583250"/>
            <a:chExt cx="2041636" cy="528629"/>
          </a:xfrm>
        </p:grpSpPr>
        <p:sp>
          <p:nvSpPr>
            <p:cNvPr id="55" name="Line 27"/>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59" name="Line 28"/>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0" name="Text Box 50"/>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61" name="Text Box 50"/>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3" name="标题 2">
            <a:extLst>
              <a:ext uri="{FF2B5EF4-FFF2-40B4-BE49-F238E27FC236}">
                <a16:creationId xmlns:a16="http://schemas.microsoft.com/office/drawing/2014/main" id="{3B11791B-27E5-3212-ADEF-3D71AD02A6C7}"/>
              </a:ext>
            </a:extLst>
          </p:cNvPr>
          <p:cNvSpPr>
            <a:spLocks noGrp="1"/>
          </p:cNvSpPr>
          <p:nvPr>
            <p:ph type="title"/>
          </p:nvPr>
        </p:nvSpPr>
        <p:spPr>
          <a:xfrm>
            <a:off x="2880000" y="144000"/>
            <a:ext cx="3384000" cy="338554"/>
          </a:xfrm>
        </p:spPr>
        <p:txBody>
          <a:bodyPr/>
          <a:lstStyle/>
          <a:p>
            <a:r>
              <a:rPr lang="zh-CN" altLang="en-US" dirty="0"/>
              <a:t>递归查询</a:t>
            </a:r>
          </a:p>
        </p:txBody>
      </p:sp>
      <p:sp>
        <p:nvSpPr>
          <p:cNvPr id="4" name="矩形 3">
            <a:extLst>
              <a:ext uri="{FF2B5EF4-FFF2-40B4-BE49-F238E27FC236}">
                <a16:creationId xmlns:a16="http://schemas.microsoft.com/office/drawing/2014/main" id="{4A036343-4DDB-2A64-EBB3-6DE98010D97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Text Box 33">
            <a:extLst>
              <a:ext uri="{FF2B5EF4-FFF2-40B4-BE49-F238E27FC236}">
                <a16:creationId xmlns:a16="http://schemas.microsoft.com/office/drawing/2014/main" id="{A5B7E0D6-B2AC-E1ED-575C-BB5537C420C4}"/>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 name="Line 35">
            <a:extLst>
              <a:ext uri="{FF2B5EF4-FFF2-40B4-BE49-F238E27FC236}">
                <a16:creationId xmlns:a16="http://schemas.microsoft.com/office/drawing/2014/main" id="{D340186E-F3EC-8942-660A-587124B646CC}"/>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 name="Text Box 11">
            <a:extLst>
              <a:ext uri="{FF2B5EF4-FFF2-40B4-BE49-F238E27FC236}">
                <a16:creationId xmlns:a16="http://schemas.microsoft.com/office/drawing/2014/main" id="{0BBEECC0-EF77-9B1A-6494-4FF650658F8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8" name="Text Box 32">
            <a:extLst>
              <a:ext uri="{FF2B5EF4-FFF2-40B4-BE49-F238E27FC236}">
                <a16:creationId xmlns:a16="http://schemas.microsoft.com/office/drawing/2014/main" id="{AC762167-2CDB-520D-16A3-A3D643925958}"/>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9" name="Line 34">
            <a:extLst>
              <a:ext uri="{FF2B5EF4-FFF2-40B4-BE49-F238E27FC236}">
                <a16:creationId xmlns:a16="http://schemas.microsoft.com/office/drawing/2014/main" id="{CCAC8790-1628-17C0-5233-789B078EEA5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10" name="Picture 197" descr="jisuanji">
            <a:extLst>
              <a:ext uri="{FF2B5EF4-FFF2-40B4-BE49-F238E27FC236}">
                <a16:creationId xmlns:a16="http://schemas.microsoft.com/office/drawing/2014/main" id="{ABABF061-092D-FB76-D515-39B03542E74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254814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F65A090-BFFE-12FC-D81A-A80DE8E0651C}"/>
              </a:ext>
            </a:extLst>
          </p:cNvPr>
          <p:cNvSpPr>
            <a:spLocks noGrp="1"/>
          </p:cNvSpPr>
          <p:nvPr>
            <p:ph type="title"/>
          </p:nvPr>
        </p:nvSpPr>
        <p:spPr>
          <a:xfrm>
            <a:off x="2880000" y="144000"/>
            <a:ext cx="3384000" cy="338554"/>
          </a:xfrm>
        </p:spPr>
        <p:txBody>
          <a:bodyPr/>
          <a:lstStyle/>
          <a:p>
            <a:r>
              <a:rPr lang="zh-CN" altLang="en-US" dirty="0"/>
              <a:t>迭代查询</a:t>
            </a:r>
          </a:p>
        </p:txBody>
      </p:sp>
      <p:pic>
        <p:nvPicPr>
          <p:cNvPr id="6" name="图片 5">
            <a:extLst>
              <a:ext uri="{FF2B5EF4-FFF2-40B4-BE49-F238E27FC236}">
                <a16:creationId xmlns:a16="http://schemas.microsoft.com/office/drawing/2014/main" id="{9E29BBE4-F9A7-BA02-0578-39538ED5485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17018" y="1400999"/>
            <a:ext cx="476702" cy="667383"/>
          </a:xfrm>
          <a:prstGeom prst="rect">
            <a:avLst/>
          </a:prstGeom>
        </p:spPr>
      </p:pic>
      <p:pic>
        <p:nvPicPr>
          <p:cNvPr id="7" name="图片 6">
            <a:extLst>
              <a:ext uri="{FF2B5EF4-FFF2-40B4-BE49-F238E27FC236}">
                <a16:creationId xmlns:a16="http://schemas.microsoft.com/office/drawing/2014/main" id="{8AF80900-EF42-E6EC-15E0-CE0FBFC07D4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C30C13CB-89FB-6BCC-537F-30AA035F688E}"/>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042958" y="2844583"/>
            <a:ext cx="476702" cy="667383"/>
          </a:xfrm>
          <a:prstGeom prst="rect">
            <a:avLst/>
          </a:prstGeom>
        </p:spPr>
      </p:pic>
      <p:sp>
        <p:nvSpPr>
          <p:cNvPr id="9" name="Text Box 7">
            <a:extLst>
              <a:ext uri="{FF2B5EF4-FFF2-40B4-BE49-F238E27FC236}">
                <a16:creationId xmlns:a16="http://schemas.microsoft.com/office/drawing/2014/main" id="{67B21F31-549F-F3BE-9169-3D090DD7B272}"/>
              </a:ext>
            </a:extLst>
          </p:cNvPr>
          <p:cNvSpPr txBox="1">
            <a:spLocks noChangeArrowheads="1"/>
          </p:cNvSpPr>
          <p:nvPr/>
        </p:nvSpPr>
        <p:spPr bwMode="auto">
          <a:xfrm flipH="1">
            <a:off x="4772996" y="1110083"/>
            <a:ext cx="101662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TLD Server</a:t>
            </a:r>
          </a:p>
        </p:txBody>
      </p:sp>
      <p:sp>
        <p:nvSpPr>
          <p:cNvPr id="10" name="Text Box 8">
            <a:extLst>
              <a:ext uri="{FF2B5EF4-FFF2-40B4-BE49-F238E27FC236}">
                <a16:creationId xmlns:a16="http://schemas.microsoft.com/office/drawing/2014/main" id="{57B44F72-CB3F-2D76-6110-A72B1EFFC433}"/>
              </a:ext>
            </a:extLst>
          </p:cNvPr>
          <p:cNvSpPr txBox="1">
            <a:spLocks noChangeArrowheads="1"/>
          </p:cNvSpPr>
          <p:nvPr/>
        </p:nvSpPr>
        <p:spPr bwMode="auto">
          <a:xfrm flipH="1">
            <a:off x="4514706" y="3533562"/>
            <a:ext cx="2602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Authoritative DNS Server</a:t>
            </a:r>
          </a:p>
        </p:txBody>
      </p:sp>
      <p:sp>
        <p:nvSpPr>
          <p:cNvPr id="11" name="Text Box 9">
            <a:extLst>
              <a:ext uri="{FF2B5EF4-FFF2-40B4-BE49-F238E27FC236}">
                <a16:creationId xmlns:a16="http://schemas.microsoft.com/office/drawing/2014/main" id="{03F7F62F-7082-481A-306C-A33E810FC203}"/>
              </a:ext>
            </a:extLst>
          </p:cNvPr>
          <p:cNvSpPr txBox="1">
            <a:spLocks noChangeArrowheads="1"/>
          </p:cNvSpPr>
          <p:nvPr/>
        </p:nvSpPr>
        <p:spPr bwMode="auto">
          <a:xfrm flipH="1">
            <a:off x="3130062"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6C406D1C-BEBF-A11A-A880-382A81C0D8E9}"/>
              </a:ext>
            </a:extLst>
          </p:cNvPr>
          <p:cNvSpPr txBox="1">
            <a:spLocks noChangeArrowheads="1"/>
          </p:cNvSpPr>
          <p:nvPr/>
        </p:nvSpPr>
        <p:spPr bwMode="auto">
          <a:xfrm flipH="1">
            <a:off x="2988363"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586B044F-5520-627E-8B33-CDA1537FBE08}"/>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66BE7CDA-5CC0-C720-F192-DD1E6877F40E}"/>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8ADA9EC7-03C3-EDF0-1E20-66E3ABDC0940}"/>
              </a:ext>
            </a:extLst>
          </p:cNvPr>
          <p:cNvSpPr txBox="1">
            <a:spLocks noChangeArrowheads="1"/>
          </p:cNvSpPr>
          <p:nvPr/>
        </p:nvSpPr>
        <p:spPr bwMode="auto">
          <a:xfrm flipH="1">
            <a:off x="46934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305ABD2D-9632-922E-AABA-C8283BDE29E5}"/>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B8D9EB2E-D01D-781C-E812-E903BE7BA5F1}"/>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39720D7A-9BFA-ADB5-F9A6-07625AD2CE27}"/>
              </a:ext>
            </a:extLst>
          </p:cNvPr>
          <p:cNvSpPr>
            <a:spLocks noChangeShapeType="1"/>
          </p:cNvSpPr>
          <p:nvPr/>
        </p:nvSpPr>
        <p:spPr bwMode="auto">
          <a:xfrm rot="10800000" flipH="1">
            <a:off x="4009049" y="1983136"/>
            <a:ext cx="866536" cy="84869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D94E46DF-DD2E-22A1-2D2F-D182AD2376AF}"/>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0C83C11F-FC24-A1F4-3077-D050375BC2F7}"/>
              </a:ext>
            </a:extLst>
          </p:cNvPr>
          <p:cNvSpPr>
            <a:spLocks noChangeShapeType="1"/>
          </p:cNvSpPr>
          <p:nvPr/>
        </p:nvSpPr>
        <p:spPr bwMode="auto">
          <a:xfrm flipH="1">
            <a:off x="4039032" y="2094506"/>
            <a:ext cx="853434" cy="848185"/>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45E74DDC-ADEB-DA81-CD3A-F6A910700122}"/>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282AB457-D445-E6D6-E3B4-60C3CD2887BA}"/>
              </a:ext>
            </a:extLst>
          </p:cNvPr>
          <p:cNvSpPr txBox="1">
            <a:spLocks noChangeArrowheads="1"/>
          </p:cNvSpPr>
          <p:nvPr/>
        </p:nvSpPr>
        <p:spPr bwMode="auto">
          <a:xfrm flipH="1">
            <a:off x="4799505" y="2069128"/>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E13E1A7F-F3F8-6BC2-0BD4-A47BD21B38CD}"/>
              </a:ext>
            </a:extLst>
          </p:cNvPr>
          <p:cNvSpPr txBox="1">
            <a:spLocks noChangeArrowheads="1"/>
          </p:cNvSpPr>
          <p:nvPr/>
        </p:nvSpPr>
        <p:spPr bwMode="auto">
          <a:xfrm flipH="1">
            <a:off x="32426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316B5444-4986-3494-6DD0-8F6BFE784B94}"/>
              </a:ext>
            </a:extLst>
          </p:cNvPr>
          <p:cNvSpPr>
            <a:spLocks noChangeShapeType="1"/>
          </p:cNvSpPr>
          <p:nvPr/>
        </p:nvSpPr>
        <p:spPr bwMode="auto">
          <a:xfrm rot="16200000" flipH="1" flipV="1">
            <a:off x="3101753" y="2911148"/>
            <a:ext cx="0" cy="72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427D927-CB5D-214E-FA8E-15C2DC3BCA0A}"/>
              </a:ext>
            </a:extLst>
          </p:cNvPr>
          <p:cNvSpPr txBox="1">
            <a:spLocks noChangeArrowheads="1"/>
          </p:cNvSpPr>
          <p:nvPr/>
        </p:nvSpPr>
        <p:spPr bwMode="auto">
          <a:xfrm flipH="1">
            <a:off x="2129315"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AEA25CC-6430-DDEE-6DB5-A42490CBD090}"/>
              </a:ext>
            </a:extLst>
          </p:cNvPr>
          <p:cNvSpPr txBox="1">
            <a:spLocks noChangeArrowheads="1"/>
          </p:cNvSpPr>
          <p:nvPr/>
        </p:nvSpPr>
        <p:spPr bwMode="auto">
          <a:xfrm flipH="1">
            <a:off x="2667149"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8AAF1F49-9586-9750-965B-66ED7194C61E}"/>
              </a:ext>
            </a:extLst>
          </p:cNvPr>
          <p:cNvSpPr>
            <a:spLocks noChangeShapeType="1"/>
          </p:cNvSpPr>
          <p:nvPr/>
        </p:nvSpPr>
        <p:spPr bwMode="auto">
          <a:xfrm rot="16200000" flipH="1">
            <a:off x="3101753" y="2812408"/>
            <a:ext cx="0" cy="72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1179A637-F188-0331-1627-0192342E9CC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A1427FAE-351C-C8D7-3411-10BFDF7CECE5}"/>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253751"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B575E89F-DBC0-B633-8F83-F4B4AAE0F278}"/>
              </a:ext>
            </a:extLst>
          </p:cNvPr>
          <p:cNvSpPr>
            <a:spLocks noChangeShapeType="1"/>
          </p:cNvSpPr>
          <p:nvPr/>
        </p:nvSpPr>
        <p:spPr bwMode="auto">
          <a:xfrm rot="16200000" flipH="1" flipV="1">
            <a:off x="4529811" y="2845639"/>
            <a:ext cx="0" cy="864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335AAF83-EE79-35B3-5DD4-93703859216B}"/>
              </a:ext>
            </a:extLst>
          </p:cNvPr>
          <p:cNvSpPr>
            <a:spLocks noChangeShapeType="1"/>
          </p:cNvSpPr>
          <p:nvPr/>
        </p:nvSpPr>
        <p:spPr bwMode="auto">
          <a:xfrm rot="16200000" flipH="1">
            <a:off x="4529811" y="2746899"/>
            <a:ext cx="0" cy="864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B9F14C03-D07E-E78C-9CAF-1A9961A50CA7}"/>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A3CA896D-6837-190B-D350-C27D79DF7FCE}"/>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DC793F01-599B-B632-F32F-0DCF5A13D75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6418B90C-CD76-F659-0E68-ABF337C44C3F}"/>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815A792A-B6C9-D936-45AB-C0D2BD17B97B}"/>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E5D44F4A-4050-BCC1-5BCB-E1C0228132E9}"/>
              </a:ext>
            </a:extLst>
          </p:cNvPr>
          <p:cNvSpPr/>
          <p:nvPr/>
        </p:nvSpPr>
        <p:spPr>
          <a:xfrm>
            <a:off x="3013461" y="1106089"/>
            <a:ext cx="3545335"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9D3C22-9CD6-B76C-F2B4-453270AD3594}"/>
            </a:ext>
          </a:extLst>
        </p:cNvPr>
        <p:cNvGrpSpPr/>
        <p:nvPr/>
      </p:nvGrpSpPr>
      <p:grpSpPr>
        <a:xfrm>
          <a:off x="0" y="0"/>
          <a:ext cx="0" cy="0"/>
          <a:chOff x="0" y="0"/>
          <a:chExt cx="0" cy="0"/>
        </a:xfrm>
      </p:grpSpPr>
      <p:sp>
        <p:nvSpPr>
          <p:cNvPr id="3" name="标题 2">
            <a:extLst>
              <a:ext uri="{FF2B5EF4-FFF2-40B4-BE49-F238E27FC236}">
                <a16:creationId xmlns:a16="http://schemas.microsoft.com/office/drawing/2014/main" id="{2196537E-5C71-1018-1122-EAAC8FBC540A}"/>
              </a:ext>
            </a:extLst>
          </p:cNvPr>
          <p:cNvSpPr>
            <a:spLocks noGrp="1"/>
          </p:cNvSpPr>
          <p:nvPr>
            <p:ph type="title"/>
          </p:nvPr>
        </p:nvSpPr>
        <p:spPr>
          <a:xfrm>
            <a:off x="2880000" y="144000"/>
            <a:ext cx="3384000" cy="338554"/>
          </a:xfrm>
        </p:spPr>
        <p:txBody>
          <a:bodyPr/>
          <a:lstStyle/>
          <a:p>
            <a:r>
              <a:rPr lang="en-US" altLang="zh-CN" dirty="0"/>
              <a:t>8</a:t>
            </a:r>
            <a:r>
              <a:rPr lang="zh-CN" altLang="en-US" dirty="0"/>
              <a:t>个报文</a:t>
            </a:r>
          </a:p>
        </p:txBody>
      </p:sp>
      <p:pic>
        <p:nvPicPr>
          <p:cNvPr id="6" name="图片 5">
            <a:extLst>
              <a:ext uri="{FF2B5EF4-FFF2-40B4-BE49-F238E27FC236}">
                <a16:creationId xmlns:a16="http://schemas.microsoft.com/office/drawing/2014/main" id="{E83F1B76-1117-AD14-B881-FB734D7FB22A}"/>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1400999"/>
            <a:ext cx="476702" cy="667383"/>
          </a:xfrm>
          <a:prstGeom prst="rect">
            <a:avLst/>
          </a:prstGeom>
        </p:spPr>
      </p:pic>
      <p:pic>
        <p:nvPicPr>
          <p:cNvPr id="7" name="图片 6">
            <a:extLst>
              <a:ext uri="{FF2B5EF4-FFF2-40B4-BE49-F238E27FC236}">
                <a16:creationId xmlns:a16="http://schemas.microsoft.com/office/drawing/2014/main" id="{D6066D64-FC29-8CAD-F323-CFC430622323}"/>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2844583"/>
            <a:ext cx="476702" cy="667383"/>
          </a:xfrm>
          <a:prstGeom prst="rect">
            <a:avLst/>
          </a:prstGeom>
        </p:spPr>
      </p:pic>
      <p:pic>
        <p:nvPicPr>
          <p:cNvPr id="8" name="图片 7">
            <a:extLst>
              <a:ext uri="{FF2B5EF4-FFF2-40B4-BE49-F238E27FC236}">
                <a16:creationId xmlns:a16="http://schemas.microsoft.com/office/drawing/2014/main" id="{30FA67B5-BE7E-5A9F-3999-E099920147D7}"/>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598061" y="2844583"/>
            <a:ext cx="476702" cy="667383"/>
          </a:xfrm>
          <a:prstGeom prst="rect">
            <a:avLst/>
          </a:prstGeom>
        </p:spPr>
      </p:pic>
      <p:sp>
        <p:nvSpPr>
          <p:cNvPr id="9" name="Text Box 7">
            <a:extLst>
              <a:ext uri="{FF2B5EF4-FFF2-40B4-BE49-F238E27FC236}">
                <a16:creationId xmlns:a16="http://schemas.microsoft.com/office/drawing/2014/main" id="{72DDA19A-F0EB-E0A2-CE9E-140E33E905EE}"/>
              </a:ext>
            </a:extLst>
          </p:cNvPr>
          <p:cNvSpPr txBox="1">
            <a:spLocks noChangeArrowheads="1"/>
          </p:cNvSpPr>
          <p:nvPr/>
        </p:nvSpPr>
        <p:spPr bwMode="auto">
          <a:xfrm flipH="1">
            <a:off x="5043153" y="1110083"/>
            <a:ext cx="10887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00FF"/>
                </a:solidFill>
                <a:latin typeface="Montserrat" panose="00000500000000000000" pitchFamily="2" charset="0"/>
                <a:ea typeface="微软雅黑 Light" panose="020B0502040204020203" pitchFamily="34" charset="-122"/>
              </a:rPr>
              <a:t>.com Server</a:t>
            </a:r>
          </a:p>
        </p:txBody>
      </p:sp>
      <p:sp>
        <p:nvSpPr>
          <p:cNvPr id="10" name="Text Box 8">
            <a:extLst>
              <a:ext uri="{FF2B5EF4-FFF2-40B4-BE49-F238E27FC236}">
                <a16:creationId xmlns:a16="http://schemas.microsoft.com/office/drawing/2014/main" id="{CFAB2363-F053-C116-6D0A-50D142346AF9}"/>
              </a:ext>
            </a:extLst>
          </p:cNvPr>
          <p:cNvSpPr txBox="1">
            <a:spLocks noChangeArrowheads="1"/>
          </p:cNvSpPr>
          <p:nvPr/>
        </p:nvSpPr>
        <p:spPr bwMode="auto">
          <a:xfrm flipH="1">
            <a:off x="4627975" y="260889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solidFill>
                  <a:srgbClr val="993300"/>
                </a:solidFill>
                <a:latin typeface="Montserrat" panose="00000500000000000000" pitchFamily="2" charset="0"/>
                <a:ea typeface="微软雅黑 Light" panose="020B0502040204020203" pitchFamily="34" charset="-122"/>
              </a:rPr>
              <a:t>abc.com Server</a:t>
            </a:r>
          </a:p>
        </p:txBody>
      </p:sp>
      <p:sp>
        <p:nvSpPr>
          <p:cNvPr id="11" name="Text Box 9">
            <a:extLst>
              <a:ext uri="{FF2B5EF4-FFF2-40B4-BE49-F238E27FC236}">
                <a16:creationId xmlns:a16="http://schemas.microsoft.com/office/drawing/2014/main" id="{76D7F7DF-66ED-66EF-E10C-0BA1A3C94E72}"/>
              </a:ext>
            </a:extLst>
          </p:cNvPr>
          <p:cNvSpPr txBox="1">
            <a:spLocks noChangeArrowheads="1"/>
          </p:cNvSpPr>
          <p:nvPr/>
        </p:nvSpPr>
        <p:spPr bwMode="auto">
          <a:xfrm flipH="1">
            <a:off x="3597575" y="3533921"/>
            <a:ext cx="15039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0000FF"/>
                </a:solidFill>
                <a:latin typeface="Montserrat" panose="00000500000000000000" pitchFamily="2" charset="0"/>
                <a:ea typeface="微软雅黑 Light" panose="020B0502040204020203" pitchFamily="34" charset="-122"/>
              </a:rPr>
              <a:t>Local DNS Server</a:t>
            </a:r>
          </a:p>
        </p:txBody>
      </p:sp>
      <p:sp>
        <p:nvSpPr>
          <p:cNvPr id="16" name="Text Box 12">
            <a:extLst>
              <a:ext uri="{FF2B5EF4-FFF2-40B4-BE49-F238E27FC236}">
                <a16:creationId xmlns:a16="http://schemas.microsoft.com/office/drawing/2014/main" id="{8961AA69-BA2C-0BE3-33A6-1DC3E292EDF7}"/>
              </a:ext>
            </a:extLst>
          </p:cNvPr>
          <p:cNvSpPr txBox="1">
            <a:spLocks noChangeArrowheads="1"/>
          </p:cNvSpPr>
          <p:nvPr/>
        </p:nvSpPr>
        <p:spPr bwMode="auto">
          <a:xfrm flipH="1">
            <a:off x="3455876" y="1106089"/>
            <a:ext cx="1462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r>
              <a:rPr kumimoji="1" lang="en-US" altLang="zh-CN" sz="1200" dirty="0">
                <a:solidFill>
                  <a:srgbClr val="C00000"/>
                </a:solidFill>
                <a:latin typeface="Montserrat" panose="00000500000000000000" pitchFamily="2" charset="0"/>
                <a:ea typeface="微软雅黑 Light" panose="020B0502040204020203" pitchFamily="34" charset="-122"/>
              </a:rPr>
              <a:t>Root DNS Server</a:t>
            </a:r>
            <a:endParaRPr kumimoji="1"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17" name="Text Box 18">
            <a:extLst>
              <a:ext uri="{FF2B5EF4-FFF2-40B4-BE49-F238E27FC236}">
                <a16:creationId xmlns:a16="http://schemas.microsoft.com/office/drawing/2014/main" id="{79E7B123-DE1B-C50B-93A6-C948FED16B45}"/>
              </a:ext>
            </a:extLst>
          </p:cNvPr>
          <p:cNvSpPr txBox="1">
            <a:spLocks noChangeArrowheads="1"/>
          </p:cNvSpPr>
          <p:nvPr/>
        </p:nvSpPr>
        <p:spPr bwMode="auto">
          <a:xfrm flipH="1">
            <a:off x="3425142" y="2517601"/>
            <a:ext cx="367662"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18" name="Line 20">
            <a:extLst>
              <a:ext uri="{FF2B5EF4-FFF2-40B4-BE49-F238E27FC236}">
                <a16:creationId xmlns:a16="http://schemas.microsoft.com/office/drawing/2014/main" id="{78E7BAB0-A866-A5DF-4684-F0DA8CF1ECD5}"/>
              </a:ext>
            </a:extLst>
          </p:cNvPr>
          <p:cNvSpPr>
            <a:spLocks noChangeShapeType="1"/>
          </p:cNvSpPr>
          <p:nvPr/>
        </p:nvSpPr>
        <p:spPr bwMode="auto">
          <a:xfrm rot="10800000" flipH="1">
            <a:off x="3719494" y="2123730"/>
            <a:ext cx="0" cy="648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31" name="Text Box 19">
            <a:extLst>
              <a:ext uri="{FF2B5EF4-FFF2-40B4-BE49-F238E27FC236}">
                <a16:creationId xmlns:a16="http://schemas.microsoft.com/office/drawing/2014/main" id="{97601F50-8BFA-E78E-D7F1-0651E4E9083C}"/>
              </a:ext>
            </a:extLst>
          </p:cNvPr>
          <p:cNvSpPr txBox="1">
            <a:spLocks noChangeArrowheads="1"/>
          </p:cNvSpPr>
          <p:nvPr/>
        </p:nvSpPr>
        <p:spPr bwMode="auto">
          <a:xfrm flipH="1">
            <a:off x="5170150" y="3224993"/>
            <a:ext cx="367661"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38" name="Line 21">
            <a:extLst>
              <a:ext uri="{FF2B5EF4-FFF2-40B4-BE49-F238E27FC236}">
                <a16:creationId xmlns:a16="http://schemas.microsoft.com/office/drawing/2014/main" id="{63B987A2-4345-3AE0-A2A0-4A79C312E3B7}"/>
              </a:ext>
            </a:extLst>
          </p:cNvPr>
          <p:cNvSpPr>
            <a:spLocks noChangeShapeType="1"/>
          </p:cNvSpPr>
          <p:nvPr/>
        </p:nvSpPr>
        <p:spPr bwMode="auto">
          <a:xfrm rot="10800000" flipH="1" flipV="1">
            <a:off x="3809727" y="2123730"/>
            <a:ext cx="0" cy="648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46" name="Text Box 14">
            <a:extLst>
              <a:ext uri="{FF2B5EF4-FFF2-40B4-BE49-F238E27FC236}">
                <a16:creationId xmlns:a16="http://schemas.microsoft.com/office/drawing/2014/main" id="{48F68AFE-07C3-BB48-E9E9-EA846A78C563}"/>
              </a:ext>
            </a:extLst>
          </p:cNvPr>
          <p:cNvSpPr txBox="1">
            <a:spLocks noChangeArrowheads="1"/>
          </p:cNvSpPr>
          <p:nvPr/>
        </p:nvSpPr>
        <p:spPr bwMode="auto">
          <a:xfrm flipH="1">
            <a:off x="3778564" y="2002904"/>
            <a:ext cx="367663" cy="3383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2" name="Line 22">
            <a:extLst>
              <a:ext uri="{FF2B5EF4-FFF2-40B4-BE49-F238E27FC236}">
                <a16:creationId xmlns:a16="http://schemas.microsoft.com/office/drawing/2014/main" id="{109265BF-25F7-204B-FBD7-4A9B9F835CE3}"/>
              </a:ext>
            </a:extLst>
          </p:cNvPr>
          <p:cNvSpPr>
            <a:spLocks noChangeShapeType="1"/>
          </p:cNvSpPr>
          <p:nvPr/>
        </p:nvSpPr>
        <p:spPr bwMode="auto">
          <a:xfrm rot="10800000" flipH="1">
            <a:off x="4009048" y="1599429"/>
            <a:ext cx="1503935" cy="1232405"/>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3" name="Text Box 13">
            <a:extLst>
              <a:ext uri="{FF2B5EF4-FFF2-40B4-BE49-F238E27FC236}">
                <a16:creationId xmlns:a16="http://schemas.microsoft.com/office/drawing/2014/main" id="{84267230-1A40-C42C-29BF-851AA2551445}"/>
              </a:ext>
            </a:extLst>
          </p:cNvPr>
          <p:cNvSpPr txBox="1">
            <a:spLocks noChangeArrowheads="1"/>
          </p:cNvSpPr>
          <p:nvPr/>
        </p:nvSpPr>
        <p:spPr bwMode="auto">
          <a:xfrm flipH="1">
            <a:off x="4090195" y="2904304"/>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4" name="Line 23">
            <a:extLst>
              <a:ext uri="{FF2B5EF4-FFF2-40B4-BE49-F238E27FC236}">
                <a16:creationId xmlns:a16="http://schemas.microsoft.com/office/drawing/2014/main" id="{33DF1C91-9FDC-8628-2C03-F99A83A1C8F0}"/>
              </a:ext>
            </a:extLst>
          </p:cNvPr>
          <p:cNvSpPr>
            <a:spLocks noChangeShapeType="1"/>
          </p:cNvSpPr>
          <p:nvPr/>
        </p:nvSpPr>
        <p:spPr bwMode="auto">
          <a:xfrm rot="60000" flipH="1">
            <a:off x="4039032" y="1730152"/>
            <a:ext cx="1440000" cy="1212539"/>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5" name="Text Box 25">
            <a:extLst>
              <a:ext uri="{FF2B5EF4-FFF2-40B4-BE49-F238E27FC236}">
                <a16:creationId xmlns:a16="http://schemas.microsoft.com/office/drawing/2014/main" id="{2D6DC51D-4D10-C1EB-17AF-FC4F166C3E21}"/>
              </a:ext>
            </a:extLst>
          </p:cNvPr>
          <p:cNvSpPr txBox="1">
            <a:spLocks noChangeArrowheads="1"/>
          </p:cNvSpPr>
          <p:nvPr/>
        </p:nvSpPr>
        <p:spPr bwMode="auto">
          <a:xfrm flipH="1">
            <a:off x="3873226" y="2456557"/>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8" name="Text Box 29">
            <a:extLst>
              <a:ext uri="{FF2B5EF4-FFF2-40B4-BE49-F238E27FC236}">
                <a16:creationId xmlns:a16="http://schemas.microsoft.com/office/drawing/2014/main" id="{891580BC-6E8D-0E99-991B-AB9B0676DD39}"/>
              </a:ext>
            </a:extLst>
          </p:cNvPr>
          <p:cNvSpPr txBox="1">
            <a:spLocks noChangeArrowheads="1"/>
          </p:cNvSpPr>
          <p:nvPr/>
        </p:nvSpPr>
        <p:spPr bwMode="auto">
          <a:xfrm flipH="1">
            <a:off x="5295200" y="1744739"/>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69" name="Text Box 33">
            <a:extLst>
              <a:ext uri="{FF2B5EF4-FFF2-40B4-BE49-F238E27FC236}">
                <a16:creationId xmlns:a16="http://schemas.microsoft.com/office/drawing/2014/main" id="{6A2D0551-BB93-739B-5D57-281BA6313BE0}"/>
              </a:ext>
            </a:extLst>
          </p:cNvPr>
          <p:cNvSpPr txBox="1">
            <a:spLocks noChangeArrowheads="1"/>
          </p:cNvSpPr>
          <p:nvPr/>
        </p:nvSpPr>
        <p:spPr bwMode="auto">
          <a:xfrm flipH="1">
            <a:off x="3160172" y="3235326"/>
            <a:ext cx="367663" cy="3383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0" name="Line 35">
            <a:extLst>
              <a:ext uri="{FF2B5EF4-FFF2-40B4-BE49-F238E27FC236}">
                <a16:creationId xmlns:a16="http://schemas.microsoft.com/office/drawing/2014/main" id="{86E5014C-6055-3611-9B49-0C82E4472FAB}"/>
              </a:ext>
            </a:extLst>
          </p:cNvPr>
          <p:cNvSpPr>
            <a:spLocks noChangeShapeType="1"/>
          </p:cNvSpPr>
          <p:nvPr/>
        </p:nvSpPr>
        <p:spPr bwMode="auto">
          <a:xfrm rot="16200000" flipH="1" flipV="1">
            <a:off x="2842988" y="2551148"/>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1" name="Text Box 11">
            <a:extLst>
              <a:ext uri="{FF2B5EF4-FFF2-40B4-BE49-F238E27FC236}">
                <a16:creationId xmlns:a16="http://schemas.microsoft.com/office/drawing/2014/main" id="{FD32996B-45C4-0877-C4E0-7B2E3061C236}"/>
              </a:ext>
            </a:extLst>
          </p:cNvPr>
          <p:cNvSpPr txBox="1">
            <a:spLocks noChangeArrowheads="1"/>
          </p:cNvSpPr>
          <p:nvPr/>
        </p:nvSpPr>
        <p:spPr bwMode="auto">
          <a:xfrm flipH="1">
            <a:off x="1510550" y="3319776"/>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just"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72" name="Text Box 32">
            <a:extLst>
              <a:ext uri="{FF2B5EF4-FFF2-40B4-BE49-F238E27FC236}">
                <a16:creationId xmlns:a16="http://schemas.microsoft.com/office/drawing/2014/main" id="{4DE48515-71EF-08C2-69D9-B476EE0006B4}"/>
              </a:ext>
            </a:extLst>
          </p:cNvPr>
          <p:cNvSpPr txBox="1">
            <a:spLocks noChangeArrowheads="1"/>
          </p:cNvSpPr>
          <p:nvPr/>
        </p:nvSpPr>
        <p:spPr bwMode="auto">
          <a:xfrm flipH="1">
            <a:off x="2048384" y="2866430"/>
            <a:ext cx="367663" cy="33835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600" dirty="0">
                <a:latin typeface="Montserrat" panose="00000500000000000000" pitchFamily="2" charset="0"/>
                <a:ea typeface="微软雅黑 Light" panose="020B0502040204020203" pitchFamily="34" charset="-122"/>
                <a:sym typeface="Wingdings" pitchFamily="2" charset="2"/>
              </a:rPr>
              <a:t></a:t>
            </a:r>
          </a:p>
        </p:txBody>
      </p:sp>
      <p:sp>
        <p:nvSpPr>
          <p:cNvPr id="73" name="Line 34">
            <a:extLst>
              <a:ext uri="{FF2B5EF4-FFF2-40B4-BE49-F238E27FC236}">
                <a16:creationId xmlns:a16="http://schemas.microsoft.com/office/drawing/2014/main" id="{730B76CF-23E5-FA01-2069-B43AD3820221}"/>
              </a:ext>
            </a:extLst>
          </p:cNvPr>
          <p:cNvSpPr>
            <a:spLocks noChangeShapeType="1"/>
          </p:cNvSpPr>
          <p:nvPr/>
        </p:nvSpPr>
        <p:spPr bwMode="auto">
          <a:xfrm rot="16200000" flipH="1">
            <a:off x="2842988" y="2452408"/>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4" name="图片 73">
            <a:extLst>
              <a:ext uri="{FF2B5EF4-FFF2-40B4-BE49-F238E27FC236}">
                <a16:creationId xmlns:a16="http://schemas.microsoft.com/office/drawing/2014/main" id="{2B2A1103-A9E6-56C8-3C4E-BF77CD810B34}"/>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532346" y="1400999"/>
            <a:ext cx="476702" cy="667383"/>
          </a:xfrm>
          <a:prstGeom prst="rect">
            <a:avLst/>
          </a:prstGeom>
        </p:spPr>
      </p:pic>
      <p:pic>
        <p:nvPicPr>
          <p:cNvPr id="75" name="Picture 197" descr="jisuanji">
            <a:extLst>
              <a:ext uri="{FF2B5EF4-FFF2-40B4-BE49-F238E27FC236}">
                <a16:creationId xmlns:a16="http://schemas.microsoft.com/office/drawing/2014/main" id="{D085EFCC-EE73-7B7E-63D0-B2A0FF8C310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34986" y="2952667"/>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76" name="Line 35">
            <a:extLst>
              <a:ext uri="{FF2B5EF4-FFF2-40B4-BE49-F238E27FC236}">
                <a16:creationId xmlns:a16="http://schemas.microsoft.com/office/drawing/2014/main" id="{5A91C696-8D37-9B1D-262A-7A26E44B1FAA}"/>
              </a:ext>
            </a:extLst>
          </p:cNvPr>
          <p:cNvSpPr>
            <a:spLocks noChangeShapeType="1"/>
          </p:cNvSpPr>
          <p:nvPr/>
        </p:nvSpPr>
        <p:spPr bwMode="auto">
          <a:xfrm rot="16200000" flipH="1" flipV="1">
            <a:off x="4817811" y="2557639"/>
            <a:ext cx="0" cy="1440000"/>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77" name="Line 34">
            <a:extLst>
              <a:ext uri="{FF2B5EF4-FFF2-40B4-BE49-F238E27FC236}">
                <a16:creationId xmlns:a16="http://schemas.microsoft.com/office/drawing/2014/main" id="{B4476440-7947-C5C1-701E-9B48459DD308}"/>
              </a:ext>
            </a:extLst>
          </p:cNvPr>
          <p:cNvSpPr>
            <a:spLocks noChangeShapeType="1"/>
          </p:cNvSpPr>
          <p:nvPr/>
        </p:nvSpPr>
        <p:spPr bwMode="auto">
          <a:xfrm rot="16200000" flipH="1">
            <a:off x="4817811" y="2458899"/>
            <a:ext cx="0" cy="1440000"/>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grpSp>
        <p:nvGrpSpPr>
          <p:cNvPr id="78" name="组合 77">
            <a:extLst>
              <a:ext uri="{FF2B5EF4-FFF2-40B4-BE49-F238E27FC236}">
                <a16:creationId xmlns:a16="http://schemas.microsoft.com/office/drawing/2014/main" id="{E689FC7D-C5AA-71A6-BD23-028B904EAF26}"/>
              </a:ext>
            </a:extLst>
          </p:cNvPr>
          <p:cNvGrpSpPr/>
          <p:nvPr/>
        </p:nvGrpSpPr>
        <p:grpSpPr>
          <a:xfrm>
            <a:off x="6176311" y="4243671"/>
            <a:ext cx="2041636" cy="528629"/>
            <a:chOff x="5967873" y="3583250"/>
            <a:chExt cx="2041636" cy="528629"/>
          </a:xfrm>
        </p:grpSpPr>
        <p:sp>
          <p:nvSpPr>
            <p:cNvPr id="79" name="Line 27">
              <a:extLst>
                <a:ext uri="{FF2B5EF4-FFF2-40B4-BE49-F238E27FC236}">
                  <a16:creationId xmlns:a16="http://schemas.microsoft.com/office/drawing/2014/main" id="{301065E0-48DD-D6EE-D0DA-23A015641925}"/>
                </a:ext>
              </a:extLst>
            </p:cNvPr>
            <p:cNvSpPr>
              <a:spLocks noChangeShapeType="1"/>
            </p:cNvSpPr>
            <p:nvPr/>
          </p:nvSpPr>
          <p:spPr bwMode="auto">
            <a:xfrm rot="16200000" flipH="1">
              <a:off x="6187692" y="3520577"/>
              <a:ext cx="0" cy="439638"/>
            </a:xfrm>
            <a:prstGeom prst="line">
              <a:avLst/>
            </a:prstGeom>
            <a:noFill/>
            <a:ln w="38100">
              <a:solidFill>
                <a:srgbClr val="99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0" name="Line 28">
              <a:extLst>
                <a:ext uri="{FF2B5EF4-FFF2-40B4-BE49-F238E27FC236}">
                  <a16:creationId xmlns:a16="http://schemas.microsoft.com/office/drawing/2014/main" id="{783479B0-DC99-F8AE-2F89-2EEEEC52EB42}"/>
                </a:ext>
              </a:extLst>
            </p:cNvPr>
            <p:cNvSpPr>
              <a:spLocks noChangeShapeType="1"/>
            </p:cNvSpPr>
            <p:nvPr/>
          </p:nvSpPr>
          <p:spPr bwMode="auto">
            <a:xfrm rot="5400000">
              <a:off x="6187691" y="3754442"/>
              <a:ext cx="0" cy="439636"/>
            </a:xfrm>
            <a:prstGeom prst="line">
              <a:avLst/>
            </a:prstGeom>
            <a:noFill/>
            <a:ln w="38100">
              <a:solidFill>
                <a:srgbClr val="0033CC"/>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81" name="Text Box 50">
              <a:extLst>
                <a:ext uri="{FF2B5EF4-FFF2-40B4-BE49-F238E27FC236}">
                  <a16:creationId xmlns:a16="http://schemas.microsoft.com/office/drawing/2014/main" id="{D41479DF-C2B4-1D76-AE73-23EFDD8F1F8B}"/>
                </a:ext>
              </a:extLst>
            </p:cNvPr>
            <p:cNvSpPr txBox="1">
              <a:spLocks noChangeArrowheads="1"/>
            </p:cNvSpPr>
            <p:nvPr/>
          </p:nvSpPr>
          <p:spPr bwMode="auto">
            <a:xfrm flipH="1">
              <a:off x="6407509" y="358325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查询请求，域名</a:t>
              </a:r>
            </a:p>
          </p:txBody>
        </p:sp>
        <p:sp>
          <p:nvSpPr>
            <p:cNvPr id="82" name="Text Box 50">
              <a:extLst>
                <a:ext uri="{FF2B5EF4-FFF2-40B4-BE49-F238E27FC236}">
                  <a16:creationId xmlns:a16="http://schemas.microsoft.com/office/drawing/2014/main" id="{767AF789-CEBA-213F-1F27-E9FF78950A74}"/>
                </a:ext>
              </a:extLst>
            </p:cNvPr>
            <p:cNvSpPr txBox="1">
              <a:spLocks noChangeArrowheads="1"/>
            </p:cNvSpPr>
            <p:nvPr/>
          </p:nvSpPr>
          <p:spPr bwMode="auto">
            <a:xfrm flipH="1">
              <a:off x="6407509" y="3834880"/>
              <a:ext cx="160200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查询响应，</a:t>
              </a:r>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地址</a:t>
              </a:r>
            </a:p>
          </p:txBody>
        </p:sp>
      </p:grpSp>
      <p:sp>
        <p:nvSpPr>
          <p:cNvPr id="84" name="矩形 83">
            <a:extLst>
              <a:ext uri="{FF2B5EF4-FFF2-40B4-BE49-F238E27FC236}">
                <a16:creationId xmlns:a16="http://schemas.microsoft.com/office/drawing/2014/main" id="{ADD8F9A5-BA25-239A-2361-A509E7DC7D78}"/>
              </a:ext>
            </a:extLst>
          </p:cNvPr>
          <p:cNvSpPr/>
          <p:nvPr/>
        </p:nvSpPr>
        <p:spPr>
          <a:xfrm>
            <a:off x="3455876" y="1106089"/>
            <a:ext cx="2711056" cy="2726776"/>
          </a:xfrm>
          <a:prstGeom prst="rect">
            <a:avLst/>
          </a:prstGeom>
          <a:noFill/>
          <a:ln w="12700">
            <a:prstDash val="lg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Text Box 11">
            <a:extLst>
              <a:ext uri="{FF2B5EF4-FFF2-40B4-BE49-F238E27FC236}">
                <a16:creationId xmlns:a16="http://schemas.microsoft.com/office/drawing/2014/main" id="{1C9E9C5E-1346-8E17-00D2-064CAC1F29FC}"/>
              </a:ext>
            </a:extLst>
          </p:cNvPr>
          <p:cNvSpPr txBox="1">
            <a:spLocks noChangeArrowheads="1"/>
          </p:cNvSpPr>
          <p:nvPr/>
        </p:nvSpPr>
        <p:spPr bwMode="auto">
          <a:xfrm flipH="1">
            <a:off x="2229415" y="2925145"/>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5" name="Text Box 11">
            <a:extLst>
              <a:ext uri="{FF2B5EF4-FFF2-40B4-BE49-F238E27FC236}">
                <a16:creationId xmlns:a16="http://schemas.microsoft.com/office/drawing/2014/main" id="{AA633672-E2D4-617C-162D-459AD1979127}"/>
              </a:ext>
            </a:extLst>
          </p:cNvPr>
          <p:cNvSpPr txBox="1">
            <a:spLocks noChangeArrowheads="1"/>
          </p:cNvSpPr>
          <p:nvPr/>
        </p:nvSpPr>
        <p:spPr bwMode="auto">
          <a:xfrm flipH="1">
            <a:off x="4335147"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2" name="Text Box 11">
            <a:extLst>
              <a:ext uri="{FF2B5EF4-FFF2-40B4-BE49-F238E27FC236}">
                <a16:creationId xmlns:a16="http://schemas.microsoft.com/office/drawing/2014/main" id="{EA8FA89C-FA96-CC5F-5672-AAA608DDFF6A}"/>
              </a:ext>
            </a:extLst>
          </p:cNvPr>
          <p:cNvSpPr txBox="1">
            <a:spLocks noChangeArrowheads="1"/>
          </p:cNvSpPr>
          <p:nvPr/>
        </p:nvSpPr>
        <p:spPr bwMode="auto">
          <a:xfrm flipH="1">
            <a:off x="2277824" y="3317580"/>
            <a:ext cx="965329" cy="2163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000" dirty="0">
                <a:latin typeface="Montserrat" panose="00000500000000000000" pitchFamily="2" charset="0"/>
                <a:ea typeface="微软雅黑 Light" panose="020B0502040204020203" pitchFamily="34" charset="-122"/>
              </a:rPr>
              <a:t>198.51.100.50</a:t>
            </a:r>
          </a:p>
        </p:txBody>
      </p:sp>
      <p:sp>
        <p:nvSpPr>
          <p:cNvPr id="13" name="Text Box 11">
            <a:extLst>
              <a:ext uri="{FF2B5EF4-FFF2-40B4-BE49-F238E27FC236}">
                <a16:creationId xmlns:a16="http://schemas.microsoft.com/office/drawing/2014/main" id="{3DDB309C-5AF1-D087-7883-6E786E3FA968}"/>
              </a:ext>
            </a:extLst>
          </p:cNvPr>
          <p:cNvSpPr txBox="1">
            <a:spLocks noChangeArrowheads="1"/>
          </p:cNvSpPr>
          <p:nvPr/>
        </p:nvSpPr>
        <p:spPr bwMode="auto">
          <a:xfrm rot="-5400000" flipH="1">
            <a:off x="2650348" y="2094819"/>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4" name="Text Box 11">
            <a:extLst>
              <a:ext uri="{FF2B5EF4-FFF2-40B4-BE49-F238E27FC236}">
                <a16:creationId xmlns:a16="http://schemas.microsoft.com/office/drawing/2014/main" id="{28EA9050-114E-BB30-447F-666C08524D27}"/>
              </a:ext>
            </a:extLst>
          </p:cNvPr>
          <p:cNvSpPr txBox="1">
            <a:spLocks noChangeArrowheads="1"/>
          </p:cNvSpPr>
          <p:nvPr/>
        </p:nvSpPr>
        <p:spPr bwMode="auto">
          <a:xfrm rot="-2400000" flipH="1">
            <a:off x="4075655" y="195837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
        <p:nvSpPr>
          <p:cNvPr id="15" name="Text Box 11">
            <a:extLst>
              <a:ext uri="{FF2B5EF4-FFF2-40B4-BE49-F238E27FC236}">
                <a16:creationId xmlns:a16="http://schemas.microsoft.com/office/drawing/2014/main" id="{CE676635-FE73-516E-BF9A-FFAFC9AC3B3C}"/>
              </a:ext>
            </a:extLst>
          </p:cNvPr>
          <p:cNvSpPr txBox="1">
            <a:spLocks noChangeArrowheads="1"/>
          </p:cNvSpPr>
          <p:nvPr/>
        </p:nvSpPr>
        <p:spPr bwMode="auto">
          <a:xfrm flipH="1">
            <a:off x="4333121" y="2953602"/>
            <a:ext cx="128112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80000"/>
              </a:lnSpc>
            </a:pPr>
            <a:r>
              <a:rPr kumimoji="1" lang="en-US" altLang="zh-CN" sz="1200" dirty="0">
                <a:latin typeface="Montserrat" panose="00000500000000000000" pitchFamily="2" charset="0"/>
                <a:ea typeface="微软雅黑 Light" panose="020B0502040204020203" pitchFamily="34" charset="-122"/>
              </a:rPr>
              <a:t>www.abc.com</a:t>
            </a:r>
          </a:p>
        </p:txBody>
      </p:sp>
    </p:spTree>
    <p:extLst>
      <p:ext uri="{BB962C8B-B14F-4D97-AF65-F5344CB8AC3E}">
        <p14:creationId xmlns:p14="http://schemas.microsoft.com/office/powerpoint/2010/main" val="132271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3D9A0-7849-9243-C514-C925D2FABD27}"/>
              </a:ext>
            </a:extLst>
          </p:cNvPr>
          <p:cNvSpPr>
            <a:spLocks noGrp="1"/>
          </p:cNvSpPr>
          <p:nvPr>
            <p:ph type="title"/>
          </p:nvPr>
        </p:nvSpPr>
        <p:spPr>
          <a:xfrm>
            <a:off x="485999" y="174482"/>
            <a:ext cx="8171999" cy="338554"/>
          </a:xfrm>
        </p:spPr>
        <p:txBody>
          <a:bodyPr/>
          <a:lstStyle/>
          <a:p>
            <a:r>
              <a:rPr lang="en-US" altLang="zh-CN" dirty="0"/>
              <a:t>6.1.3  </a:t>
            </a:r>
            <a:r>
              <a:rPr lang="zh-CN" altLang="en-US" dirty="0"/>
              <a:t>域名服务器 </a:t>
            </a:r>
            <a:r>
              <a:rPr lang="en-US" altLang="zh-CN" dirty="0"/>
              <a:t>- </a:t>
            </a:r>
            <a:r>
              <a:rPr lang="zh-CN" altLang="en-US" dirty="0"/>
              <a:t>高速缓存</a:t>
            </a:r>
          </a:p>
        </p:txBody>
      </p:sp>
      <p:sp>
        <p:nvSpPr>
          <p:cNvPr id="3" name="内容占位符 2">
            <a:extLst>
              <a:ext uri="{FF2B5EF4-FFF2-40B4-BE49-F238E27FC236}">
                <a16:creationId xmlns:a16="http://schemas.microsoft.com/office/drawing/2014/main" id="{DA295562-9A99-6858-C061-00F9FC7C71DE}"/>
              </a:ext>
            </a:extLst>
          </p:cNvPr>
          <p:cNvSpPr>
            <a:spLocks noGrp="1"/>
          </p:cNvSpPr>
          <p:nvPr>
            <p:ph sz="quarter" idx="11"/>
          </p:nvPr>
        </p:nvSpPr>
        <p:spPr>
          <a:xfrm>
            <a:off x="486000" y="687518"/>
            <a:ext cx="8172000" cy="4079035"/>
          </a:xfrm>
        </p:spPr>
        <p:txBody>
          <a:bodyPr/>
          <a:lstStyle/>
          <a:p>
            <a:r>
              <a:rPr lang="zh-CN" altLang="en-US" dirty="0"/>
              <a:t>也称高速缓存域名服务器</a:t>
            </a:r>
            <a:endParaRPr lang="en-US" altLang="zh-CN" dirty="0"/>
          </a:p>
          <a:p>
            <a:r>
              <a:rPr lang="zh-CN" altLang="en-US" dirty="0"/>
              <a:t>存放最近用过的名字以及从何处获得名字映射信息的记录</a:t>
            </a:r>
          </a:p>
          <a:p>
            <a:r>
              <a:rPr lang="zh-CN" altLang="en-US" dirty="0"/>
              <a:t>作用</a:t>
            </a:r>
            <a:endParaRPr lang="en-US" altLang="zh-CN" dirty="0"/>
          </a:p>
          <a:p>
            <a:pPr lvl="1"/>
            <a:r>
              <a:rPr lang="zh-CN" altLang="en-US" dirty="0"/>
              <a:t>减轻根域名服务器的负荷，使 </a:t>
            </a:r>
            <a:r>
              <a:rPr lang="en-US" altLang="zh-CN" dirty="0"/>
              <a:t>DNS </a:t>
            </a:r>
            <a:r>
              <a:rPr lang="zh-CN" altLang="en-US" dirty="0"/>
              <a:t>查询请求和回答报文的数量大为减少</a:t>
            </a:r>
          </a:p>
          <a:p>
            <a:r>
              <a:rPr lang="zh-CN" altLang="en-US" dirty="0"/>
              <a:t>域名服务器应为每项内容设置计时器，并处理超过合理时间的项</a:t>
            </a:r>
          </a:p>
          <a:p>
            <a:r>
              <a:rPr lang="zh-CN" altLang="en-US" dirty="0"/>
              <a:t>当权限域名服务器回答一个查询请求时，在响应中指明绑定有效存在的时间值。增加此时间值可减少网络开销，而减少此时间值可提高域名转换的准确性</a:t>
            </a:r>
          </a:p>
          <a:p>
            <a:endParaRPr lang="zh-CN" altLang="en-US" dirty="0"/>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Line 16"/>
          <p:cNvSpPr>
            <a:spLocks noChangeShapeType="1"/>
          </p:cNvSpPr>
          <p:nvPr/>
        </p:nvSpPr>
        <p:spPr bwMode="auto">
          <a:xfrm>
            <a:off x="3637198" y="126758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FE87848C-AECC-D25B-57C8-902A288F7AF6}"/>
              </a:ext>
            </a:extLst>
          </p:cNvPr>
          <p:cNvSpPr>
            <a:spLocks noChangeArrowheads="1"/>
          </p:cNvSpPr>
          <p:nvPr/>
        </p:nvSpPr>
        <p:spPr bwMode="auto">
          <a:xfrm>
            <a:off x="3563766" y="1354881"/>
            <a:ext cx="4197661" cy="11585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6.2.1</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概述</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6.2.2</a:t>
            </a:r>
            <a:r>
              <a:rPr lang="en-US" altLang="zh-CN" sz="1600" dirty="0">
                <a:latin typeface="Montserrat" panose="00000500000000000000" pitchFamily="2" charset="0"/>
                <a:ea typeface="微软雅黑 Light" panose="020B0502040204020203" pitchFamily="34" charset="-122"/>
              </a:rPr>
              <a:t> FTP </a:t>
            </a:r>
            <a:r>
              <a:rPr lang="zh-CN" altLang="en-US" sz="1600" dirty="0">
                <a:latin typeface="Montserrat" panose="00000500000000000000" pitchFamily="2" charset="0"/>
                <a:ea typeface="微软雅黑 Light" panose="020B0502040204020203" pitchFamily="34" charset="-122"/>
              </a:rPr>
              <a:t>的基本工作原理</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6.2.3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简单文件传送协议 </a:t>
            </a:r>
            <a:r>
              <a:rPr lang="en-US" altLang="zh-CN" sz="1600" dirty="0">
                <a:latin typeface="Montserrat" panose="00000500000000000000" pitchFamily="2" charset="0"/>
                <a:ea typeface="微软雅黑 Light" panose="020B0502040204020203" pitchFamily="34" charset="-122"/>
              </a:rPr>
              <a:t>TFTP</a:t>
            </a:r>
          </a:p>
        </p:txBody>
      </p:sp>
      <p:sp>
        <p:nvSpPr>
          <p:cNvPr id="3" name="Rectangle 29">
            <a:extLst>
              <a:ext uri="{FF2B5EF4-FFF2-40B4-BE49-F238E27FC236}">
                <a16:creationId xmlns:a16="http://schemas.microsoft.com/office/drawing/2014/main" id="{41F5A660-4E1F-7BE0-5AD0-E928B540ECD2}"/>
              </a:ext>
            </a:extLst>
          </p:cNvPr>
          <p:cNvSpPr>
            <a:spLocks noChangeArrowheads="1"/>
          </p:cNvSpPr>
          <p:nvPr/>
        </p:nvSpPr>
        <p:spPr bwMode="auto">
          <a:xfrm>
            <a:off x="3563766" y="711857"/>
            <a:ext cx="5090116" cy="70788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6.2</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文件传送协议 </a:t>
            </a:r>
            <a:r>
              <a:rPr lang="en-US" altLang="zh-CN" sz="2000" dirty="0">
                <a:latin typeface="Montserrat" panose="00000500000000000000" pitchFamily="2" charset="0"/>
                <a:ea typeface="微软雅黑 Light" panose="020B0502040204020203" pitchFamily="34" charset="-122"/>
              </a:rPr>
              <a:t>FTP</a:t>
            </a:r>
            <a:endParaRPr lang="zh-CN" altLang="en-US" sz="2000" dirty="0">
              <a:latin typeface="Montserrat" panose="00000500000000000000" pitchFamily="2" charset="0"/>
              <a:ea typeface="微软雅黑 Light" panose="020B0502040204020203" pitchFamily="34" charset="-122"/>
            </a:endParaRPr>
          </a:p>
          <a:p>
            <a:pPr eaLnBrk="0" hangingPunct="0"/>
            <a:endParaRPr lang="en-US" altLang="zh-CN"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933607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752E1E-625F-21B2-277F-4B85719023F9}"/>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53B2A5E6-15B0-8F14-F8AC-683406D8BEEF}"/>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FTP</a:t>
            </a:r>
            <a:endParaRPr lang="zh-CN" altLang="en-US" sz="1200" dirty="0">
              <a:latin typeface="Montserrat" panose="00000500000000000000" pitchFamily="2" charset="0"/>
            </a:endParaRPr>
          </a:p>
        </p:txBody>
      </p:sp>
      <p:sp>
        <p:nvSpPr>
          <p:cNvPr id="24" name="矩形: 圆角 23">
            <a:extLst>
              <a:ext uri="{FF2B5EF4-FFF2-40B4-BE49-F238E27FC236}">
                <a16:creationId xmlns:a16="http://schemas.microsoft.com/office/drawing/2014/main" id="{8A3A6B5B-2D66-39B4-CF69-D6B5A602EF57}"/>
              </a:ext>
            </a:extLst>
          </p:cNvPr>
          <p:cNvSpPr/>
          <p:nvPr/>
        </p:nvSpPr>
        <p:spPr>
          <a:xfrm>
            <a:off x="3002664" y="198673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Port</a:t>
            </a:r>
            <a:endParaRPr lang="zh-CN" altLang="en-US" sz="1200" dirty="0">
              <a:latin typeface="Montserrat" panose="00000500000000000000" pitchFamily="2" charset="0"/>
            </a:endParaRPr>
          </a:p>
        </p:txBody>
      </p:sp>
      <p:sp>
        <p:nvSpPr>
          <p:cNvPr id="25" name="矩形: 圆角 24">
            <a:extLst>
              <a:ext uri="{FF2B5EF4-FFF2-40B4-BE49-F238E27FC236}">
                <a16:creationId xmlns:a16="http://schemas.microsoft.com/office/drawing/2014/main" id="{19980651-E0FF-F512-012F-30C211B48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Connection</a:t>
            </a:r>
            <a:endParaRPr lang="zh-CN" altLang="en-US" sz="1200" dirty="0">
              <a:latin typeface="Montserrat" panose="00000500000000000000" pitchFamily="2" charset="0"/>
            </a:endParaRPr>
          </a:p>
        </p:txBody>
      </p:sp>
      <p:sp>
        <p:nvSpPr>
          <p:cNvPr id="27" name="矩形: 圆角 26">
            <a:extLst>
              <a:ext uri="{FF2B5EF4-FFF2-40B4-BE49-F238E27FC236}">
                <a16:creationId xmlns:a16="http://schemas.microsoft.com/office/drawing/2014/main" id="{A87303B5-5FDE-3A09-E9CD-0A67DA082708}"/>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rPr>
              <a:t>Mode</a:t>
            </a:r>
            <a:endParaRPr lang="zh-CN" altLang="en-US" sz="1200" dirty="0">
              <a:latin typeface="Montserrat" panose="00000500000000000000" pitchFamily="2" charset="0"/>
            </a:endParaRPr>
          </a:p>
        </p:txBody>
      </p:sp>
      <p:sp>
        <p:nvSpPr>
          <p:cNvPr id="32" name="矩形: 圆角 31">
            <a:extLst>
              <a:ext uri="{FF2B5EF4-FFF2-40B4-BE49-F238E27FC236}">
                <a16:creationId xmlns:a16="http://schemas.microsoft.com/office/drawing/2014/main" id="{9E1A9E36-D537-E40A-254A-09A17EA0E6A2}"/>
              </a:ext>
            </a:extLst>
          </p:cNvPr>
          <p:cNvSpPr/>
          <p:nvPr/>
        </p:nvSpPr>
        <p:spPr>
          <a:xfrm>
            <a:off x="4310985" y="3290261"/>
            <a:ext cx="1418401"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Active mode</a:t>
            </a:r>
            <a:endParaRPr lang="zh-CN" altLang="en-US" sz="1200" dirty="0">
              <a:solidFill>
                <a:sysClr val="windowText" lastClr="000000"/>
              </a:solidFill>
              <a:latin typeface="Montserrat" panose="00000500000000000000" pitchFamily="2" charset="0"/>
            </a:endParaRPr>
          </a:p>
        </p:txBody>
      </p:sp>
      <p:sp>
        <p:nvSpPr>
          <p:cNvPr id="33" name="矩形: 圆角 32">
            <a:extLst>
              <a:ext uri="{FF2B5EF4-FFF2-40B4-BE49-F238E27FC236}">
                <a16:creationId xmlns:a16="http://schemas.microsoft.com/office/drawing/2014/main" id="{32EA589C-DE93-52D3-4BDF-C821A570D8F4}"/>
              </a:ext>
            </a:extLst>
          </p:cNvPr>
          <p:cNvSpPr/>
          <p:nvPr/>
        </p:nvSpPr>
        <p:spPr>
          <a:xfrm>
            <a:off x="4310986" y="3677269"/>
            <a:ext cx="14184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rPr>
              <a:t>Passive mode</a:t>
            </a:r>
            <a:endParaRPr lang="zh-CN" altLang="en-US" sz="1200" dirty="0">
              <a:solidFill>
                <a:sysClr val="windowText" lastClr="000000"/>
              </a:solidFill>
              <a:latin typeface="Montserrat" panose="00000500000000000000" pitchFamily="2" charset="0"/>
            </a:endParaRPr>
          </a:p>
        </p:txBody>
      </p:sp>
      <p:cxnSp>
        <p:nvCxnSpPr>
          <p:cNvPr id="34" name="连接符: 曲线 33">
            <a:extLst>
              <a:ext uri="{FF2B5EF4-FFF2-40B4-BE49-F238E27FC236}">
                <a16:creationId xmlns:a16="http://schemas.microsoft.com/office/drawing/2014/main" id="{5C78910E-2B0E-1EE1-2354-818A945FE25A}"/>
              </a:ext>
            </a:extLst>
          </p:cNvPr>
          <p:cNvCxnSpPr>
            <a:cxnSpLocks/>
            <a:stCxn id="23" idx="3"/>
            <a:endCxn id="24" idx="1"/>
          </p:cNvCxnSpPr>
          <p:nvPr/>
        </p:nvCxnSpPr>
        <p:spPr>
          <a:xfrm flipV="1">
            <a:off x="2744432" y="2112733"/>
            <a:ext cx="258232" cy="38224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CC3C04AC-0AA4-BD39-931A-BB2613350159}"/>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C85EAE23-C368-CDCC-82C5-954E5F9B01FB}"/>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2F70D455-4B74-DDB2-011A-B7ADCAA26929}"/>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3594D37C-EFEC-BCD8-84AB-013B2B1E7AEE}"/>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5038622F-0659-9FE4-8FCA-84DF1B68D1C2}"/>
              </a:ext>
            </a:extLst>
          </p:cNvPr>
          <p:cNvCxnSpPr>
            <a:cxnSpLocks/>
            <a:stCxn id="24" idx="3"/>
            <a:endCxn id="51" idx="1"/>
          </p:cNvCxnSpPr>
          <p:nvPr/>
        </p:nvCxnSpPr>
        <p:spPr>
          <a:xfrm flipV="1">
            <a:off x="4154664" y="192472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BCA2F2CE-7D9A-260D-800E-F27F1F0048E3}"/>
              </a:ext>
            </a:extLst>
          </p:cNvPr>
          <p:cNvCxnSpPr>
            <a:cxnSpLocks/>
            <a:stCxn id="53" idx="1"/>
            <a:endCxn id="24" idx="3"/>
          </p:cNvCxnSpPr>
          <p:nvPr/>
        </p:nvCxnSpPr>
        <p:spPr>
          <a:xfrm rot="10800000">
            <a:off x="4154664" y="211273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84306C3F-6AF6-8DC8-8780-8D75BF5FB700}"/>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EA6BD8D6-D611-7AFE-65C4-AF80F2E8DA9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ACECB963-7582-0D85-D5C9-9BE3E4447B69}"/>
              </a:ext>
            </a:extLst>
          </p:cNvPr>
          <p:cNvSpPr txBox="1"/>
          <p:nvPr/>
        </p:nvSpPr>
        <p:spPr>
          <a:xfrm>
            <a:off x="4310986" y="2538245"/>
            <a:ext cx="2319068"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Data Connection</a:t>
            </a:r>
            <a:endParaRPr lang="zh-CN" altLang="en-US" dirty="0"/>
          </a:p>
        </p:txBody>
      </p:sp>
      <p:sp>
        <p:nvSpPr>
          <p:cNvPr id="46" name="文本框 45">
            <a:extLst>
              <a:ext uri="{FF2B5EF4-FFF2-40B4-BE49-F238E27FC236}">
                <a16:creationId xmlns:a16="http://schemas.microsoft.com/office/drawing/2014/main" id="{11ED1445-5DBA-BDFD-5043-8ACA7D456E29}"/>
              </a:ext>
            </a:extLst>
          </p:cNvPr>
          <p:cNvSpPr txBox="1"/>
          <p:nvPr/>
        </p:nvSpPr>
        <p:spPr>
          <a:xfrm>
            <a:off x="4310986" y="2914253"/>
            <a:ext cx="2319071"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Control Connection</a:t>
            </a:r>
            <a:endParaRPr lang="zh-CN" altLang="en-US" dirty="0"/>
          </a:p>
        </p:txBody>
      </p:sp>
      <p:sp>
        <p:nvSpPr>
          <p:cNvPr id="51" name="文本框 50">
            <a:extLst>
              <a:ext uri="{FF2B5EF4-FFF2-40B4-BE49-F238E27FC236}">
                <a16:creationId xmlns:a16="http://schemas.microsoft.com/office/drawing/2014/main" id="{52623ACD-6974-C37B-8361-50D56855BE2A}"/>
              </a:ext>
            </a:extLst>
          </p:cNvPr>
          <p:cNvSpPr txBox="1"/>
          <p:nvPr/>
        </p:nvSpPr>
        <p:spPr>
          <a:xfrm>
            <a:off x="4310986" y="1786229"/>
            <a:ext cx="1982735"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t>21</a:t>
            </a:r>
            <a:endParaRPr lang="zh-CN" altLang="en-US" dirty="0"/>
          </a:p>
        </p:txBody>
      </p:sp>
      <p:sp>
        <p:nvSpPr>
          <p:cNvPr id="53" name="文本框 52">
            <a:extLst>
              <a:ext uri="{FF2B5EF4-FFF2-40B4-BE49-F238E27FC236}">
                <a16:creationId xmlns:a16="http://schemas.microsoft.com/office/drawing/2014/main" id="{BD1B519D-D5DA-78CE-2F54-AAF97110F4FD}"/>
              </a:ext>
            </a:extLst>
          </p:cNvPr>
          <p:cNvSpPr txBox="1"/>
          <p:nvPr/>
        </p:nvSpPr>
        <p:spPr>
          <a:xfrm>
            <a:off x="4310986" y="2162237"/>
            <a:ext cx="2526542"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t>20</a:t>
            </a:r>
            <a:endParaRPr lang="zh-CN" altLang="en-US" dirty="0"/>
          </a:p>
        </p:txBody>
      </p:sp>
    </p:spTree>
    <p:extLst>
      <p:ext uri="{BB962C8B-B14F-4D97-AF65-F5344CB8AC3E}">
        <p14:creationId xmlns:p14="http://schemas.microsoft.com/office/powerpoint/2010/main" val="40006795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B739273-086F-1451-AC42-2CBF9E082AB6}"/>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E43F50E3-7D95-1EE8-8B20-265C8FBC66B3}"/>
              </a:ext>
            </a:extLst>
          </p:cNvPr>
          <p:cNvSpPr>
            <a:spLocks noGrp="1"/>
          </p:cNvSpPr>
          <p:nvPr>
            <p:ph sz="quarter" idx="11"/>
          </p:nvPr>
        </p:nvSpPr>
        <p:spPr>
          <a:xfrm>
            <a:off x="486000" y="687518"/>
            <a:ext cx="8172000" cy="4079035"/>
          </a:xfrm>
        </p:spPr>
        <p:txBody>
          <a:bodyPr/>
          <a:lstStyle/>
          <a:p>
            <a:r>
              <a:rPr lang="zh-CN" altLang="en-US" dirty="0"/>
              <a:t>文件传送协议 </a:t>
            </a:r>
            <a:r>
              <a:rPr lang="en-US" altLang="zh-CN" dirty="0"/>
              <a:t>FTP (File Transfer Protocol) </a:t>
            </a:r>
            <a:r>
              <a:rPr lang="zh-CN" altLang="en-US" dirty="0"/>
              <a:t>是互联网上使用得最广泛的文件传送协议</a:t>
            </a:r>
          </a:p>
          <a:p>
            <a:r>
              <a:rPr lang="zh-CN" altLang="en-US" dirty="0"/>
              <a:t>提供交互式的访问，允许客户指明文件的类型与格式，并允许文件具有存取权限</a:t>
            </a:r>
          </a:p>
          <a:p>
            <a:r>
              <a:rPr lang="zh-CN" altLang="en-US" dirty="0"/>
              <a:t>屏蔽了各计算机系统的细节，因而适合于在异构网络中任意计算机之间传送文件</a:t>
            </a:r>
          </a:p>
          <a:p>
            <a:r>
              <a:rPr lang="zh-CN" altLang="en-US" dirty="0"/>
              <a:t>是文件共享协议的一个大类</a:t>
            </a:r>
          </a:p>
          <a:p>
            <a:endParaRPr lang="zh-CN" altLang="en-US" dirty="0"/>
          </a:p>
        </p:txBody>
      </p:sp>
    </p:spTree>
    <p:extLst>
      <p:ext uri="{BB962C8B-B14F-4D97-AF65-F5344CB8AC3E}">
        <p14:creationId xmlns:p14="http://schemas.microsoft.com/office/powerpoint/2010/main" val="1063549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DA7BD9-214C-EEA0-1048-82DA0A444D7A}"/>
              </a:ext>
            </a:extLst>
          </p:cNvPr>
          <p:cNvSpPr>
            <a:spLocks noGrp="1"/>
          </p:cNvSpPr>
          <p:nvPr>
            <p:ph type="title"/>
          </p:nvPr>
        </p:nvSpPr>
        <p:spPr>
          <a:xfrm>
            <a:off x="485999" y="174482"/>
            <a:ext cx="8171999" cy="338554"/>
          </a:xfrm>
        </p:spPr>
        <p:txBody>
          <a:bodyPr/>
          <a:lstStyle/>
          <a:p>
            <a:r>
              <a:rPr lang="en-US" altLang="zh-CN" dirty="0"/>
              <a:t>6.2.1  FTP </a:t>
            </a:r>
            <a:r>
              <a:rPr lang="zh-CN" altLang="en-US" dirty="0"/>
              <a:t>概述</a:t>
            </a:r>
          </a:p>
        </p:txBody>
      </p:sp>
      <p:sp>
        <p:nvSpPr>
          <p:cNvPr id="3" name="内容占位符 2">
            <a:extLst>
              <a:ext uri="{FF2B5EF4-FFF2-40B4-BE49-F238E27FC236}">
                <a16:creationId xmlns:a16="http://schemas.microsoft.com/office/drawing/2014/main" id="{F186E35E-69D7-386B-9DC5-E3710AD0338A}"/>
              </a:ext>
            </a:extLst>
          </p:cNvPr>
          <p:cNvSpPr>
            <a:spLocks noGrp="1"/>
          </p:cNvSpPr>
          <p:nvPr>
            <p:ph sz="quarter" idx="11"/>
          </p:nvPr>
        </p:nvSpPr>
        <p:spPr>
          <a:xfrm>
            <a:off x="486000" y="687518"/>
            <a:ext cx="8172000" cy="4079035"/>
          </a:xfrm>
        </p:spPr>
        <p:txBody>
          <a:bodyPr/>
          <a:lstStyle/>
          <a:p>
            <a:r>
              <a:rPr lang="zh-CN" altLang="en-US" dirty="0"/>
              <a:t>文件传送协议</a:t>
            </a:r>
            <a:r>
              <a:rPr lang="en-US" altLang="zh-CN" dirty="0"/>
              <a:t>FTP</a:t>
            </a:r>
          </a:p>
          <a:p>
            <a:pPr lvl="1"/>
            <a:r>
              <a:rPr lang="zh-CN" altLang="en-US" dirty="0"/>
              <a:t>复制整个文件。对文件副本进行访问</a:t>
            </a:r>
            <a:endParaRPr lang="en-US" altLang="zh-CN" dirty="0"/>
          </a:p>
          <a:p>
            <a:pPr lvl="1"/>
            <a:r>
              <a:rPr lang="zh-CN" altLang="en-US" dirty="0"/>
              <a:t>若要存取一个文件，就必须先获得一个本地文件副本</a:t>
            </a:r>
            <a:endParaRPr lang="en-US" altLang="zh-CN" dirty="0"/>
          </a:p>
          <a:p>
            <a:pPr lvl="1"/>
            <a:r>
              <a:rPr lang="zh-CN" altLang="en-US" dirty="0"/>
              <a:t>若要修改文件，只能对文件副本进行修改，然后再将修改后的文件副本传回到原节点</a:t>
            </a:r>
            <a:endParaRPr lang="en-US" altLang="zh-CN" dirty="0"/>
          </a:p>
          <a:p>
            <a:pPr lvl="1"/>
            <a:r>
              <a:rPr lang="en-US" altLang="zh-CN" dirty="0"/>
              <a:t>FTP</a:t>
            </a:r>
            <a:r>
              <a:rPr lang="zh-CN" altLang="en-US" dirty="0"/>
              <a:t>：基于</a:t>
            </a:r>
            <a:r>
              <a:rPr lang="en-US" altLang="zh-CN" dirty="0"/>
              <a:t>TCP</a:t>
            </a:r>
          </a:p>
          <a:p>
            <a:r>
              <a:rPr lang="zh-CN" altLang="en-US" dirty="0"/>
              <a:t>联机访问 </a:t>
            </a:r>
            <a:r>
              <a:rPr lang="en-US" altLang="zh-CN" dirty="0"/>
              <a:t>(on-line access) </a:t>
            </a:r>
            <a:r>
              <a:rPr lang="zh-CN" altLang="en-US" dirty="0"/>
              <a:t>协议：</a:t>
            </a:r>
            <a:r>
              <a:rPr lang="en-US" altLang="zh-CN" dirty="0"/>
              <a:t>NFS </a:t>
            </a:r>
            <a:r>
              <a:rPr lang="zh-CN" altLang="en-US" dirty="0"/>
              <a:t>等</a:t>
            </a:r>
            <a:endParaRPr lang="en-US" altLang="zh-CN" dirty="0"/>
          </a:p>
          <a:p>
            <a:pPr lvl="1"/>
            <a:r>
              <a:rPr lang="zh-CN" altLang="en-US" dirty="0"/>
              <a:t>允许同时对一个文件进行存取</a:t>
            </a:r>
            <a:endParaRPr lang="en-US" altLang="zh-CN" dirty="0"/>
          </a:p>
          <a:p>
            <a:pPr lvl="1"/>
            <a:r>
              <a:rPr lang="zh-CN" altLang="en-US" dirty="0"/>
              <a:t>远地共享文件访问，如同对本地文件的访问一样</a:t>
            </a:r>
            <a:endParaRPr lang="en-US" altLang="zh-CN" dirty="0"/>
          </a:p>
          <a:p>
            <a:pPr lvl="1"/>
            <a:r>
              <a:rPr lang="zh-CN" altLang="en-US" dirty="0"/>
              <a:t>透明存取，不需要对该应用程序作明显的改动</a:t>
            </a:r>
            <a:endParaRPr lang="en-US" altLang="zh-CN" dirty="0"/>
          </a:p>
          <a:p>
            <a:pPr lvl="1"/>
            <a:r>
              <a:rPr lang="zh-CN" altLang="en-US" dirty="0"/>
              <a:t>由操作系统负责</a:t>
            </a:r>
            <a:endParaRPr lang="en-US" altLang="zh-CN" dirty="0"/>
          </a:p>
          <a:p>
            <a:endParaRPr lang="zh-CN" altLang="en-US" dirty="0"/>
          </a:p>
        </p:txBody>
      </p:sp>
    </p:spTree>
    <p:extLst>
      <p:ext uri="{BB962C8B-B14F-4D97-AF65-F5344CB8AC3E}">
        <p14:creationId xmlns:p14="http://schemas.microsoft.com/office/powerpoint/2010/main" val="1680873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85933ED-C5D8-2B9A-A9E3-A0DD70B05A68}"/>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
        <p:nvSpPr>
          <p:cNvPr id="4" name="内容占位符 3">
            <a:extLst>
              <a:ext uri="{FF2B5EF4-FFF2-40B4-BE49-F238E27FC236}">
                <a16:creationId xmlns:a16="http://schemas.microsoft.com/office/drawing/2014/main" id="{78E292BE-B123-4F3E-3DCE-4C5D93BFB5B2}"/>
              </a:ext>
            </a:extLst>
          </p:cNvPr>
          <p:cNvSpPr>
            <a:spLocks noGrp="1"/>
          </p:cNvSpPr>
          <p:nvPr>
            <p:ph sz="quarter" idx="11"/>
          </p:nvPr>
        </p:nvSpPr>
        <p:spPr>
          <a:xfrm>
            <a:off x="486000" y="687518"/>
            <a:ext cx="8172000" cy="4079035"/>
          </a:xfrm>
        </p:spPr>
        <p:txBody>
          <a:bodyPr/>
          <a:lstStyle/>
          <a:p>
            <a:r>
              <a:rPr lang="zh-CN" altLang="en-US" dirty="0"/>
              <a:t>网络环境下复制文件的复杂性</a:t>
            </a:r>
          </a:p>
          <a:p>
            <a:pPr lvl="1"/>
            <a:r>
              <a:rPr lang="zh-CN" altLang="en-US" dirty="0"/>
              <a:t>计算机存储数据的格式不同</a:t>
            </a:r>
          </a:p>
          <a:p>
            <a:pPr lvl="1"/>
            <a:r>
              <a:rPr lang="zh-CN" altLang="en-US" dirty="0"/>
              <a:t>文件的目录结构和文件命名的规定不同</a:t>
            </a:r>
          </a:p>
          <a:p>
            <a:pPr lvl="1"/>
            <a:r>
              <a:rPr lang="zh-CN" altLang="en-US" dirty="0"/>
              <a:t>对于相同的文件存取功能，操作系统使用的命令不同</a:t>
            </a:r>
          </a:p>
          <a:p>
            <a:pPr lvl="1"/>
            <a:r>
              <a:rPr lang="zh-CN" altLang="en-US" dirty="0"/>
              <a:t>访问控制方法不同</a:t>
            </a:r>
          </a:p>
        </p:txBody>
      </p:sp>
    </p:spTree>
    <p:extLst>
      <p:ext uri="{BB962C8B-B14F-4D97-AF65-F5344CB8AC3E}">
        <p14:creationId xmlns:p14="http://schemas.microsoft.com/office/powerpoint/2010/main" val="136005291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内容占位符 38">
            <a:extLst>
              <a:ext uri="{FF2B5EF4-FFF2-40B4-BE49-F238E27FC236}">
                <a16:creationId xmlns:a16="http://schemas.microsoft.com/office/drawing/2014/main" id="{3C34A00A-6F00-73A1-20F7-8E42672825F2}"/>
              </a:ext>
            </a:extLst>
          </p:cNvPr>
          <p:cNvSpPr>
            <a:spLocks noGrp="1"/>
          </p:cNvSpPr>
          <p:nvPr>
            <p:ph sz="quarter" idx="11"/>
          </p:nvPr>
        </p:nvSpPr>
        <p:spPr/>
        <p:txBody>
          <a:bodyPr/>
          <a:lstStyle/>
          <a:p>
            <a:endParaRPr lang="zh-CN" altLang="en-US"/>
          </a:p>
        </p:txBody>
      </p:sp>
      <p:pic>
        <p:nvPicPr>
          <p:cNvPr id="4" name="图片 3">
            <a:extLst>
              <a:ext uri="{FF2B5EF4-FFF2-40B4-BE49-F238E27FC236}">
                <a16:creationId xmlns:a16="http://schemas.microsoft.com/office/drawing/2014/main" id="{05BFE6AB-ED00-4EE3-6B44-A303A58C5A15}"/>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5718" y="1172891"/>
            <a:ext cx="476702" cy="667383"/>
          </a:xfrm>
          <a:prstGeom prst="rect">
            <a:avLst/>
          </a:prstGeom>
        </p:spPr>
      </p:pic>
      <p:sp>
        <p:nvSpPr>
          <p:cNvPr id="5" name="Line 35">
            <a:extLst>
              <a:ext uri="{FF2B5EF4-FFF2-40B4-BE49-F238E27FC236}">
                <a16:creationId xmlns:a16="http://schemas.microsoft.com/office/drawing/2014/main" id="{77DE201E-B3B6-DE5B-CE11-218574934133}"/>
              </a:ext>
            </a:extLst>
          </p:cNvPr>
          <p:cNvSpPr>
            <a:spLocks noChangeShapeType="1"/>
          </p:cNvSpPr>
          <p:nvPr/>
        </p:nvSpPr>
        <p:spPr bwMode="auto">
          <a:xfrm rot="16200000" flipH="1" flipV="1">
            <a:off x="4400828" y="71345"/>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6" name="Line 34">
            <a:extLst>
              <a:ext uri="{FF2B5EF4-FFF2-40B4-BE49-F238E27FC236}">
                <a16:creationId xmlns:a16="http://schemas.microsoft.com/office/drawing/2014/main" id="{30635E03-00BE-8356-DF59-D8C6DD8C51E7}"/>
              </a:ext>
            </a:extLst>
          </p:cNvPr>
          <p:cNvSpPr>
            <a:spLocks noChangeShapeType="1"/>
          </p:cNvSpPr>
          <p:nvPr/>
        </p:nvSpPr>
        <p:spPr bwMode="auto">
          <a:xfrm rot="16200000" flipH="1">
            <a:off x="4400828" y="318995"/>
            <a:ext cx="0" cy="2880000"/>
          </a:xfrm>
          <a:prstGeom prst="line">
            <a:avLst/>
          </a:prstGeom>
          <a:noFill/>
          <a:ln w="38100">
            <a:solidFill>
              <a:srgbClr val="9900FF"/>
            </a:solidFill>
            <a:round/>
            <a:headEnd type="triangle"/>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7" name="Picture 197" descr="jisuanji">
            <a:extLst>
              <a:ext uri="{FF2B5EF4-FFF2-40B4-BE49-F238E27FC236}">
                <a16:creationId xmlns:a16="http://schemas.microsoft.com/office/drawing/2014/main" id="{17A12C4F-5DC8-3E80-C3F3-49488B7090CE}"/>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7576" y="1447225"/>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9" name="Text Box 11">
            <a:extLst>
              <a:ext uri="{FF2B5EF4-FFF2-40B4-BE49-F238E27FC236}">
                <a16:creationId xmlns:a16="http://schemas.microsoft.com/office/drawing/2014/main" id="{B5045D87-7C81-2E7E-1971-1CE17EF7C3E8}"/>
              </a:ext>
            </a:extLst>
          </p:cNvPr>
          <p:cNvSpPr txBox="1">
            <a:spLocks noChangeArrowheads="1"/>
          </p:cNvSpPr>
          <p:nvPr/>
        </p:nvSpPr>
        <p:spPr bwMode="auto">
          <a:xfrm flipH="1">
            <a:off x="2064442" y="1833020"/>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10" name="Text Box 11">
            <a:extLst>
              <a:ext uri="{FF2B5EF4-FFF2-40B4-BE49-F238E27FC236}">
                <a16:creationId xmlns:a16="http://schemas.microsoft.com/office/drawing/2014/main" id="{DAA69B25-EDA3-8EBE-F05B-F2F5FB7CDF7D}"/>
              </a:ext>
            </a:extLst>
          </p:cNvPr>
          <p:cNvSpPr txBox="1">
            <a:spLocks noChangeArrowheads="1"/>
          </p:cNvSpPr>
          <p:nvPr/>
        </p:nvSpPr>
        <p:spPr bwMode="auto">
          <a:xfrm flipH="1">
            <a:off x="6066317" y="1833020"/>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11" name="Text Box 11">
            <a:extLst>
              <a:ext uri="{FF2B5EF4-FFF2-40B4-BE49-F238E27FC236}">
                <a16:creationId xmlns:a16="http://schemas.microsoft.com/office/drawing/2014/main" id="{67691C32-4095-B385-25E1-85A43156637B}"/>
              </a:ext>
            </a:extLst>
          </p:cNvPr>
          <p:cNvSpPr txBox="1">
            <a:spLocks noChangeArrowheads="1"/>
          </p:cNvSpPr>
          <p:nvPr/>
        </p:nvSpPr>
        <p:spPr bwMode="auto">
          <a:xfrm flipH="1">
            <a:off x="3552680" y="1270190"/>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12" name="Text Box 11">
            <a:extLst>
              <a:ext uri="{FF2B5EF4-FFF2-40B4-BE49-F238E27FC236}">
                <a16:creationId xmlns:a16="http://schemas.microsoft.com/office/drawing/2014/main" id="{EA5E2543-9393-C80E-D51A-1A4F45176098}"/>
              </a:ext>
            </a:extLst>
          </p:cNvPr>
          <p:cNvSpPr txBox="1">
            <a:spLocks noChangeArrowheads="1"/>
          </p:cNvSpPr>
          <p:nvPr/>
        </p:nvSpPr>
        <p:spPr bwMode="auto">
          <a:xfrm flipH="1">
            <a:off x="3652868" y="1758995"/>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13" name="椭圆 12">
            <a:extLst>
              <a:ext uri="{FF2B5EF4-FFF2-40B4-BE49-F238E27FC236}">
                <a16:creationId xmlns:a16="http://schemas.microsoft.com/office/drawing/2014/main" id="{72104C56-6E0D-D07C-48B1-C8C876F46B48}"/>
              </a:ext>
            </a:extLst>
          </p:cNvPr>
          <p:cNvSpPr/>
          <p:nvPr/>
        </p:nvSpPr>
        <p:spPr>
          <a:xfrm>
            <a:off x="5827551"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椭圆 13">
            <a:extLst>
              <a:ext uri="{FF2B5EF4-FFF2-40B4-BE49-F238E27FC236}">
                <a16:creationId xmlns:a16="http://schemas.microsoft.com/office/drawing/2014/main" id="{7400DB66-4F8A-D290-8C73-BFF5A9E50401}"/>
              </a:ext>
            </a:extLst>
          </p:cNvPr>
          <p:cNvSpPr/>
          <p:nvPr/>
        </p:nvSpPr>
        <p:spPr>
          <a:xfrm>
            <a:off x="5827551" y="166267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Text Box 11">
            <a:extLst>
              <a:ext uri="{FF2B5EF4-FFF2-40B4-BE49-F238E27FC236}">
                <a16:creationId xmlns:a16="http://schemas.microsoft.com/office/drawing/2014/main" id="{18EB6320-661B-D553-FA21-7F8C35F31690}"/>
              </a:ext>
            </a:extLst>
          </p:cNvPr>
          <p:cNvSpPr txBox="1">
            <a:spLocks noChangeArrowheads="1"/>
          </p:cNvSpPr>
          <p:nvPr/>
        </p:nvSpPr>
        <p:spPr bwMode="auto">
          <a:xfrm flipH="1">
            <a:off x="5748808" y="1225274"/>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16" name="Text Box 11">
            <a:extLst>
              <a:ext uri="{FF2B5EF4-FFF2-40B4-BE49-F238E27FC236}">
                <a16:creationId xmlns:a16="http://schemas.microsoft.com/office/drawing/2014/main" id="{F613BFA9-9E18-8E7C-3DA9-DE7595F6C8B7}"/>
              </a:ext>
            </a:extLst>
          </p:cNvPr>
          <p:cNvSpPr txBox="1">
            <a:spLocks noChangeArrowheads="1"/>
          </p:cNvSpPr>
          <p:nvPr/>
        </p:nvSpPr>
        <p:spPr bwMode="auto">
          <a:xfrm flipH="1">
            <a:off x="5725564" y="1832899"/>
            <a:ext cx="37542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20</a:t>
            </a:r>
          </a:p>
        </p:txBody>
      </p:sp>
      <p:sp>
        <p:nvSpPr>
          <p:cNvPr id="17" name="椭圆 16">
            <a:extLst>
              <a:ext uri="{FF2B5EF4-FFF2-40B4-BE49-F238E27FC236}">
                <a16:creationId xmlns:a16="http://schemas.microsoft.com/office/drawing/2014/main" id="{E91A51CF-0B86-ACF5-C361-FFC72F58D3B1}"/>
              </a:ext>
            </a:extLst>
          </p:cNvPr>
          <p:cNvSpPr/>
          <p:nvPr/>
        </p:nvSpPr>
        <p:spPr>
          <a:xfrm>
            <a:off x="2799455" y="1427892"/>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Text Box 11">
            <a:extLst>
              <a:ext uri="{FF2B5EF4-FFF2-40B4-BE49-F238E27FC236}">
                <a16:creationId xmlns:a16="http://schemas.microsoft.com/office/drawing/2014/main" id="{5B1640E1-698F-D538-C406-099210145F9E}"/>
              </a:ext>
            </a:extLst>
          </p:cNvPr>
          <p:cNvSpPr txBox="1">
            <a:spLocks noChangeArrowheads="1"/>
          </p:cNvSpPr>
          <p:nvPr/>
        </p:nvSpPr>
        <p:spPr bwMode="auto">
          <a:xfrm flipH="1">
            <a:off x="2573019" y="1225274"/>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19" name="椭圆 18">
            <a:extLst>
              <a:ext uri="{FF2B5EF4-FFF2-40B4-BE49-F238E27FC236}">
                <a16:creationId xmlns:a16="http://schemas.microsoft.com/office/drawing/2014/main" id="{3592C5A8-8328-91B7-32B3-95F528415A94}"/>
              </a:ext>
            </a:extLst>
          </p:cNvPr>
          <p:cNvSpPr/>
          <p:nvPr/>
        </p:nvSpPr>
        <p:spPr>
          <a:xfrm>
            <a:off x="2788818" y="1657500"/>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Text Box 11">
            <a:extLst>
              <a:ext uri="{FF2B5EF4-FFF2-40B4-BE49-F238E27FC236}">
                <a16:creationId xmlns:a16="http://schemas.microsoft.com/office/drawing/2014/main" id="{D937BFBF-AA9E-6B76-661B-405684D76B76}"/>
              </a:ext>
            </a:extLst>
          </p:cNvPr>
          <p:cNvSpPr txBox="1">
            <a:spLocks noChangeArrowheads="1"/>
          </p:cNvSpPr>
          <p:nvPr/>
        </p:nvSpPr>
        <p:spPr bwMode="auto">
          <a:xfrm flipH="1">
            <a:off x="2554585" y="1832899"/>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21" name="Text Box 11">
            <a:extLst>
              <a:ext uri="{FF2B5EF4-FFF2-40B4-BE49-F238E27FC236}">
                <a16:creationId xmlns:a16="http://schemas.microsoft.com/office/drawing/2014/main" id="{189892A3-E43B-655B-9A17-86234CA5A080}"/>
              </a:ext>
            </a:extLst>
          </p:cNvPr>
          <p:cNvSpPr txBox="1">
            <a:spLocks noChangeArrowheads="1"/>
          </p:cNvSpPr>
          <p:nvPr/>
        </p:nvSpPr>
        <p:spPr bwMode="auto">
          <a:xfrm flipH="1">
            <a:off x="3836540" y="781385"/>
            <a:ext cx="114326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Active Mode</a:t>
            </a:r>
          </a:p>
        </p:txBody>
      </p:sp>
      <p:pic>
        <p:nvPicPr>
          <p:cNvPr id="8" name="图片 7">
            <a:extLst>
              <a:ext uri="{FF2B5EF4-FFF2-40B4-BE49-F238E27FC236}">
                <a16:creationId xmlns:a16="http://schemas.microsoft.com/office/drawing/2014/main" id="{3E33CF0B-6A9C-407F-4D42-02448F79D392}"/>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041181" y="3213302"/>
            <a:ext cx="476702" cy="667383"/>
          </a:xfrm>
          <a:prstGeom prst="rect">
            <a:avLst/>
          </a:prstGeom>
        </p:spPr>
      </p:pic>
      <p:sp>
        <p:nvSpPr>
          <p:cNvPr id="22" name="Line 35">
            <a:extLst>
              <a:ext uri="{FF2B5EF4-FFF2-40B4-BE49-F238E27FC236}">
                <a16:creationId xmlns:a16="http://schemas.microsoft.com/office/drawing/2014/main" id="{09D4FBF1-E915-26D6-8D33-BBA06188301C}"/>
              </a:ext>
            </a:extLst>
          </p:cNvPr>
          <p:cNvSpPr>
            <a:spLocks noChangeShapeType="1"/>
          </p:cNvSpPr>
          <p:nvPr/>
        </p:nvSpPr>
        <p:spPr bwMode="auto">
          <a:xfrm rot="16200000" flipH="1" flipV="1">
            <a:off x="4396291" y="2111756"/>
            <a:ext cx="0" cy="2880000"/>
          </a:xfrm>
          <a:prstGeom prst="line">
            <a:avLst/>
          </a:prstGeom>
          <a:noFill/>
          <a:ln w="38100">
            <a:solidFill>
              <a:srgbClr val="0033CC"/>
            </a:solidFill>
            <a:round/>
            <a:headEnd type="triangl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23" name="Line 34">
            <a:extLst>
              <a:ext uri="{FF2B5EF4-FFF2-40B4-BE49-F238E27FC236}">
                <a16:creationId xmlns:a16="http://schemas.microsoft.com/office/drawing/2014/main" id="{CBF461E3-484D-2A60-B1CF-ED1ED498407A}"/>
              </a:ext>
            </a:extLst>
          </p:cNvPr>
          <p:cNvSpPr>
            <a:spLocks noChangeShapeType="1"/>
          </p:cNvSpPr>
          <p:nvPr/>
        </p:nvSpPr>
        <p:spPr bwMode="auto">
          <a:xfrm rot="16200000" flipH="1">
            <a:off x="4396291" y="2359406"/>
            <a:ext cx="0" cy="2880000"/>
          </a:xfrm>
          <a:prstGeom prst="line">
            <a:avLst/>
          </a:prstGeom>
          <a:noFill/>
          <a:ln w="38100">
            <a:solidFill>
              <a:srgbClr val="9900FF"/>
            </a:solidFill>
            <a:round/>
            <a:headEnd type="none"/>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pic>
        <p:nvPicPr>
          <p:cNvPr id="24" name="Picture 197" descr="jisuanji">
            <a:extLst>
              <a:ext uri="{FF2B5EF4-FFF2-40B4-BE49-F238E27FC236}">
                <a16:creationId xmlns:a16="http://schemas.microsoft.com/office/drawing/2014/main" id="{B25D4CE4-F43A-494B-3464-1FFD9E491EA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373039" y="3487636"/>
            <a:ext cx="393048" cy="393049"/>
          </a:xfrm>
          <a:prstGeom prst="rect">
            <a:avLst/>
          </a:prstGeom>
          <a:noFill/>
          <a:extLst>
            <a:ext uri="{909E8E84-426E-40DD-AFC4-6F175D3DCCD1}">
              <a14:hiddenFill xmlns:a14="http://schemas.microsoft.com/office/drawing/2010/main">
                <a:solidFill>
                  <a:srgbClr val="FFFFFF"/>
                </a:solidFill>
              </a14:hiddenFill>
            </a:ext>
          </a:extLst>
        </p:spPr>
      </p:pic>
      <p:sp>
        <p:nvSpPr>
          <p:cNvPr id="25" name="Text Box 11">
            <a:extLst>
              <a:ext uri="{FF2B5EF4-FFF2-40B4-BE49-F238E27FC236}">
                <a16:creationId xmlns:a16="http://schemas.microsoft.com/office/drawing/2014/main" id="{E4CE30FE-3BD7-B58D-7814-565510D50B4B}"/>
              </a:ext>
            </a:extLst>
          </p:cNvPr>
          <p:cNvSpPr txBox="1">
            <a:spLocks noChangeArrowheads="1"/>
          </p:cNvSpPr>
          <p:nvPr/>
        </p:nvSpPr>
        <p:spPr bwMode="auto">
          <a:xfrm flipH="1">
            <a:off x="2059905" y="3873431"/>
            <a:ext cx="638316"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Client</a:t>
            </a:r>
          </a:p>
        </p:txBody>
      </p:sp>
      <p:sp>
        <p:nvSpPr>
          <p:cNvPr id="26" name="Text Box 11">
            <a:extLst>
              <a:ext uri="{FF2B5EF4-FFF2-40B4-BE49-F238E27FC236}">
                <a16:creationId xmlns:a16="http://schemas.microsoft.com/office/drawing/2014/main" id="{F4D77A70-2972-96B0-6224-E2B8C4F29559}"/>
              </a:ext>
            </a:extLst>
          </p:cNvPr>
          <p:cNvSpPr txBox="1">
            <a:spLocks noChangeArrowheads="1"/>
          </p:cNvSpPr>
          <p:nvPr/>
        </p:nvSpPr>
        <p:spPr bwMode="auto">
          <a:xfrm flipH="1">
            <a:off x="6061780" y="3873431"/>
            <a:ext cx="100700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FTP Server</a:t>
            </a:r>
          </a:p>
        </p:txBody>
      </p:sp>
      <p:sp>
        <p:nvSpPr>
          <p:cNvPr id="27" name="Text Box 11">
            <a:extLst>
              <a:ext uri="{FF2B5EF4-FFF2-40B4-BE49-F238E27FC236}">
                <a16:creationId xmlns:a16="http://schemas.microsoft.com/office/drawing/2014/main" id="{EC23EBC5-65FD-E6C3-423E-C5D8BDBD243B}"/>
              </a:ext>
            </a:extLst>
          </p:cNvPr>
          <p:cNvSpPr txBox="1">
            <a:spLocks noChangeArrowheads="1"/>
          </p:cNvSpPr>
          <p:nvPr/>
        </p:nvSpPr>
        <p:spPr bwMode="auto">
          <a:xfrm flipH="1">
            <a:off x="3548143" y="3310601"/>
            <a:ext cx="1696298"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Control Connection</a:t>
            </a:r>
          </a:p>
        </p:txBody>
      </p:sp>
      <p:sp>
        <p:nvSpPr>
          <p:cNvPr id="28" name="Text Box 11">
            <a:extLst>
              <a:ext uri="{FF2B5EF4-FFF2-40B4-BE49-F238E27FC236}">
                <a16:creationId xmlns:a16="http://schemas.microsoft.com/office/drawing/2014/main" id="{DFDCF5A9-F56D-F230-E0CE-29991C7E7BBC}"/>
              </a:ext>
            </a:extLst>
          </p:cNvPr>
          <p:cNvSpPr txBox="1">
            <a:spLocks noChangeArrowheads="1"/>
          </p:cNvSpPr>
          <p:nvPr/>
        </p:nvSpPr>
        <p:spPr bwMode="auto">
          <a:xfrm flipH="1">
            <a:off x="3648331" y="3799406"/>
            <a:ext cx="1495922"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Data Connection</a:t>
            </a:r>
          </a:p>
        </p:txBody>
      </p:sp>
      <p:sp>
        <p:nvSpPr>
          <p:cNvPr id="29" name="椭圆 28">
            <a:extLst>
              <a:ext uri="{FF2B5EF4-FFF2-40B4-BE49-F238E27FC236}">
                <a16:creationId xmlns:a16="http://schemas.microsoft.com/office/drawing/2014/main" id="{C5ED2E5F-90B8-F870-B116-516861BCD684}"/>
              </a:ext>
            </a:extLst>
          </p:cNvPr>
          <p:cNvSpPr/>
          <p:nvPr/>
        </p:nvSpPr>
        <p:spPr>
          <a:xfrm>
            <a:off x="5823014"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椭圆 29">
            <a:extLst>
              <a:ext uri="{FF2B5EF4-FFF2-40B4-BE49-F238E27FC236}">
                <a16:creationId xmlns:a16="http://schemas.microsoft.com/office/drawing/2014/main" id="{50035519-6057-60DE-5C62-1AAAD44F0AE4}"/>
              </a:ext>
            </a:extLst>
          </p:cNvPr>
          <p:cNvSpPr/>
          <p:nvPr/>
        </p:nvSpPr>
        <p:spPr>
          <a:xfrm>
            <a:off x="5823014" y="370308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Text Box 11">
            <a:extLst>
              <a:ext uri="{FF2B5EF4-FFF2-40B4-BE49-F238E27FC236}">
                <a16:creationId xmlns:a16="http://schemas.microsoft.com/office/drawing/2014/main" id="{648DBA89-89D9-AFA0-34DA-198C32A3FB9A}"/>
              </a:ext>
            </a:extLst>
          </p:cNvPr>
          <p:cNvSpPr txBox="1">
            <a:spLocks noChangeArrowheads="1"/>
          </p:cNvSpPr>
          <p:nvPr/>
        </p:nvSpPr>
        <p:spPr bwMode="auto">
          <a:xfrm flipH="1">
            <a:off x="5744271" y="3265685"/>
            <a:ext cx="328937"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21</a:t>
            </a:r>
          </a:p>
        </p:txBody>
      </p:sp>
      <p:sp>
        <p:nvSpPr>
          <p:cNvPr id="32" name="Text Box 11">
            <a:extLst>
              <a:ext uri="{FF2B5EF4-FFF2-40B4-BE49-F238E27FC236}">
                <a16:creationId xmlns:a16="http://schemas.microsoft.com/office/drawing/2014/main" id="{592C6557-511B-6138-4C15-BACCAD4CC479}"/>
              </a:ext>
            </a:extLst>
          </p:cNvPr>
          <p:cNvSpPr txBox="1">
            <a:spLocks noChangeArrowheads="1"/>
          </p:cNvSpPr>
          <p:nvPr/>
        </p:nvSpPr>
        <p:spPr bwMode="auto">
          <a:xfrm flipH="1">
            <a:off x="5606413" y="3873310"/>
            <a:ext cx="604654"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51230</a:t>
            </a:r>
          </a:p>
        </p:txBody>
      </p:sp>
      <p:sp>
        <p:nvSpPr>
          <p:cNvPr id="33" name="椭圆 32">
            <a:extLst>
              <a:ext uri="{FF2B5EF4-FFF2-40B4-BE49-F238E27FC236}">
                <a16:creationId xmlns:a16="http://schemas.microsoft.com/office/drawing/2014/main" id="{5C5A2D0B-4CD7-E73D-4D6E-D83C7E8FB2C7}"/>
              </a:ext>
            </a:extLst>
          </p:cNvPr>
          <p:cNvSpPr/>
          <p:nvPr/>
        </p:nvSpPr>
        <p:spPr>
          <a:xfrm>
            <a:off x="2794918" y="3468303"/>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4" name="Text Box 11">
            <a:extLst>
              <a:ext uri="{FF2B5EF4-FFF2-40B4-BE49-F238E27FC236}">
                <a16:creationId xmlns:a16="http://schemas.microsoft.com/office/drawing/2014/main" id="{A76890BC-F282-6CB8-DAB1-1BDA99E731EB}"/>
              </a:ext>
            </a:extLst>
          </p:cNvPr>
          <p:cNvSpPr txBox="1">
            <a:spLocks noChangeArrowheads="1"/>
          </p:cNvSpPr>
          <p:nvPr/>
        </p:nvSpPr>
        <p:spPr bwMode="auto">
          <a:xfrm flipH="1">
            <a:off x="2568482" y="3265685"/>
            <a:ext cx="603050"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54321</a:t>
            </a:r>
          </a:p>
        </p:txBody>
      </p:sp>
      <p:sp>
        <p:nvSpPr>
          <p:cNvPr id="35" name="椭圆 34">
            <a:extLst>
              <a:ext uri="{FF2B5EF4-FFF2-40B4-BE49-F238E27FC236}">
                <a16:creationId xmlns:a16="http://schemas.microsoft.com/office/drawing/2014/main" id="{3263EFA6-BC11-1DC8-2D74-B4A0F3F7A239}"/>
              </a:ext>
            </a:extLst>
          </p:cNvPr>
          <p:cNvSpPr/>
          <p:nvPr/>
        </p:nvSpPr>
        <p:spPr>
          <a:xfrm>
            <a:off x="2784281" y="3697911"/>
            <a:ext cx="171450" cy="171450"/>
          </a:xfrm>
          <a:prstGeom prst="ellipse">
            <a:avLst/>
          </a:prstGeom>
          <a:noFill/>
          <a:ln w="127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6" name="Text Box 11">
            <a:extLst>
              <a:ext uri="{FF2B5EF4-FFF2-40B4-BE49-F238E27FC236}">
                <a16:creationId xmlns:a16="http://schemas.microsoft.com/office/drawing/2014/main" id="{C2BE1A4D-0F60-4F3A-E249-4F1E6570431F}"/>
              </a:ext>
            </a:extLst>
          </p:cNvPr>
          <p:cNvSpPr txBox="1">
            <a:spLocks noChangeArrowheads="1"/>
          </p:cNvSpPr>
          <p:nvPr/>
        </p:nvSpPr>
        <p:spPr bwMode="auto">
          <a:xfrm flipH="1">
            <a:off x="2550048" y="3873310"/>
            <a:ext cx="639919"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dirty="0">
                <a:latin typeface="Montserrat" panose="00000500000000000000" pitchFamily="2" charset="0"/>
                <a:ea typeface="微软雅黑 Light" panose="020B0502040204020203" pitchFamily="34" charset="-122"/>
              </a:rPr>
              <a:t>65432</a:t>
            </a:r>
          </a:p>
        </p:txBody>
      </p:sp>
      <p:sp>
        <p:nvSpPr>
          <p:cNvPr id="37" name="Text Box 11">
            <a:extLst>
              <a:ext uri="{FF2B5EF4-FFF2-40B4-BE49-F238E27FC236}">
                <a16:creationId xmlns:a16="http://schemas.microsoft.com/office/drawing/2014/main" id="{62A54078-CF37-EBC7-5A93-3E0B9697FBF5}"/>
              </a:ext>
            </a:extLst>
          </p:cNvPr>
          <p:cNvSpPr txBox="1">
            <a:spLocks noChangeArrowheads="1"/>
          </p:cNvSpPr>
          <p:nvPr/>
        </p:nvSpPr>
        <p:spPr bwMode="auto">
          <a:xfrm flipH="1">
            <a:off x="3778303" y="2821796"/>
            <a:ext cx="1250663" cy="2411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ct val="80000"/>
              </a:lnSpc>
            </a:pPr>
            <a:r>
              <a:rPr kumimoji="1" lang="en-US" altLang="zh-CN" sz="1200" b="1" dirty="0">
                <a:latin typeface="Montserrat" panose="00000500000000000000" pitchFamily="2" charset="0"/>
                <a:ea typeface="微软雅黑 Light" panose="020B0502040204020203" pitchFamily="34" charset="-122"/>
              </a:rPr>
              <a:t>Passive Mode</a:t>
            </a:r>
          </a:p>
        </p:txBody>
      </p:sp>
      <p:sp>
        <p:nvSpPr>
          <p:cNvPr id="2" name="标题 1">
            <a:extLst>
              <a:ext uri="{FF2B5EF4-FFF2-40B4-BE49-F238E27FC236}">
                <a16:creationId xmlns:a16="http://schemas.microsoft.com/office/drawing/2014/main" id="{15BA39A2-ACF4-0FC8-78A9-7D309146713F}"/>
              </a:ext>
            </a:extLst>
          </p:cNvPr>
          <p:cNvSpPr>
            <a:spLocks noGrp="1"/>
          </p:cNvSpPr>
          <p:nvPr>
            <p:ph type="title"/>
          </p:nvPr>
        </p:nvSpPr>
        <p:spPr>
          <a:xfrm>
            <a:off x="485999" y="174482"/>
            <a:ext cx="8171999" cy="338554"/>
          </a:xfrm>
        </p:spPr>
        <p:txBody>
          <a:bodyPr/>
          <a:lstStyle/>
          <a:p>
            <a:r>
              <a:rPr lang="en-US" altLang="zh-CN" dirty="0"/>
              <a:t>6.2.2  FTP </a:t>
            </a:r>
            <a:r>
              <a:rPr lang="zh-CN" altLang="en-US" dirty="0"/>
              <a:t>的基本工作原理</a:t>
            </a:r>
          </a:p>
        </p:txBody>
      </p:sp>
    </p:spTree>
    <p:extLst>
      <p:ext uri="{BB962C8B-B14F-4D97-AF65-F5344CB8AC3E}">
        <p14:creationId xmlns:p14="http://schemas.microsoft.com/office/powerpoint/2010/main" val="19067261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6C00268-9D4A-77D0-E90D-8D8EEF54B222}"/>
              </a:ext>
            </a:extLst>
          </p:cNvPr>
          <p:cNvSpPr>
            <a:spLocks noGrp="1"/>
          </p:cNvSpPr>
          <p:nvPr>
            <p:ph type="title"/>
          </p:nvPr>
        </p:nvSpPr>
        <p:spPr>
          <a:xfrm>
            <a:off x="485999" y="174482"/>
            <a:ext cx="8171999" cy="338554"/>
          </a:xfrm>
        </p:spPr>
        <p:txBody>
          <a:bodyPr/>
          <a:lstStyle/>
          <a:p>
            <a:r>
              <a:rPr lang="en-US" altLang="zh-CN" dirty="0"/>
              <a:t>FTP </a:t>
            </a:r>
            <a:r>
              <a:rPr lang="zh-CN" altLang="en-US" dirty="0"/>
              <a:t>特点</a:t>
            </a:r>
          </a:p>
        </p:txBody>
      </p:sp>
      <p:sp>
        <p:nvSpPr>
          <p:cNvPr id="3" name="内容占位符 2">
            <a:extLst>
              <a:ext uri="{FF2B5EF4-FFF2-40B4-BE49-F238E27FC236}">
                <a16:creationId xmlns:a16="http://schemas.microsoft.com/office/drawing/2014/main" id="{172C3FCC-5588-326D-3B43-E7B33769402D}"/>
              </a:ext>
            </a:extLst>
          </p:cNvPr>
          <p:cNvSpPr>
            <a:spLocks noGrp="1"/>
          </p:cNvSpPr>
          <p:nvPr>
            <p:ph sz="quarter" idx="11"/>
          </p:nvPr>
        </p:nvSpPr>
        <p:spPr>
          <a:xfrm>
            <a:off x="486000" y="687518"/>
            <a:ext cx="8172000" cy="4079035"/>
          </a:xfrm>
        </p:spPr>
        <p:txBody>
          <a:bodyPr/>
          <a:lstStyle/>
          <a:p>
            <a:r>
              <a:rPr lang="zh-CN" altLang="en-US" dirty="0"/>
              <a:t>只提供文件传送的一些基本服务，使用 </a:t>
            </a:r>
            <a:r>
              <a:rPr lang="en-US" altLang="zh-CN" dirty="0"/>
              <a:t>TCP </a:t>
            </a:r>
            <a:r>
              <a:rPr lang="zh-CN" altLang="en-US" dirty="0"/>
              <a:t>可靠的运输服务</a:t>
            </a:r>
          </a:p>
          <a:p>
            <a:r>
              <a:rPr lang="zh-CN" altLang="en-US" dirty="0"/>
              <a:t>主要功能：减少或消除在不同操作系统下处理文件的不兼容性</a:t>
            </a:r>
          </a:p>
          <a:p>
            <a:r>
              <a:rPr lang="zh-CN" altLang="en-US" dirty="0"/>
              <a:t>使用客户服务器方式</a:t>
            </a:r>
            <a:endParaRPr lang="en-US" altLang="zh-CN" dirty="0"/>
          </a:p>
          <a:p>
            <a:pPr lvl="1"/>
            <a:r>
              <a:rPr lang="zh-CN" altLang="en-US" dirty="0"/>
              <a:t>一个 </a:t>
            </a:r>
            <a:r>
              <a:rPr lang="en-US" altLang="zh-CN" dirty="0"/>
              <a:t>FTP </a:t>
            </a:r>
            <a:r>
              <a:rPr lang="zh-CN" altLang="en-US" dirty="0"/>
              <a:t>服务器进程可同时为多个客户进程提供服务</a:t>
            </a:r>
            <a:endParaRPr lang="en-US" altLang="zh-CN" dirty="0"/>
          </a:p>
          <a:p>
            <a:pPr lvl="1"/>
            <a:r>
              <a:rPr lang="en-US" altLang="zh-CN" dirty="0"/>
              <a:t>FTP </a:t>
            </a:r>
            <a:r>
              <a:rPr lang="zh-CN" altLang="en-US" dirty="0"/>
              <a:t>的服务器进程由两大部分组成：</a:t>
            </a:r>
            <a:endParaRPr lang="en-US" altLang="zh-CN" dirty="0"/>
          </a:p>
          <a:p>
            <a:pPr lvl="2"/>
            <a:r>
              <a:rPr lang="zh-CN" altLang="en-US" dirty="0"/>
              <a:t>一个主进程，负责接受新的请求</a:t>
            </a:r>
            <a:endParaRPr lang="en-US" altLang="zh-CN" dirty="0"/>
          </a:p>
          <a:p>
            <a:pPr lvl="2"/>
            <a:r>
              <a:rPr lang="zh-CN" altLang="en-US" dirty="0"/>
              <a:t>若干个从属进程，负责处理单个请求</a:t>
            </a:r>
          </a:p>
          <a:p>
            <a:endParaRPr lang="zh-CN" altLang="en-US" dirty="0"/>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53A1AC6-F871-B80E-CDED-1BC0D1052EB8}"/>
              </a:ext>
            </a:extLst>
          </p:cNvPr>
          <p:cNvSpPr>
            <a:spLocks noGrp="1"/>
          </p:cNvSpPr>
          <p:nvPr>
            <p:ph type="title"/>
          </p:nvPr>
        </p:nvSpPr>
        <p:spPr>
          <a:xfrm>
            <a:off x="485999" y="174482"/>
            <a:ext cx="8171999" cy="338554"/>
          </a:xfrm>
        </p:spPr>
        <p:txBody>
          <a:bodyPr/>
          <a:lstStyle/>
          <a:p>
            <a:r>
              <a:rPr lang="en-US" altLang="zh-CN" dirty="0"/>
              <a:t>FTP </a:t>
            </a:r>
            <a:r>
              <a:rPr lang="zh-CN" altLang="en-US" dirty="0"/>
              <a:t>主进程的工作步骤</a:t>
            </a:r>
          </a:p>
        </p:txBody>
      </p:sp>
      <p:sp>
        <p:nvSpPr>
          <p:cNvPr id="3" name="内容占位符 2">
            <a:extLst>
              <a:ext uri="{FF2B5EF4-FFF2-40B4-BE49-F238E27FC236}">
                <a16:creationId xmlns:a16="http://schemas.microsoft.com/office/drawing/2014/main" id="{882F2773-5B09-9AC5-C6B0-71208D5F1843}"/>
              </a:ext>
            </a:extLst>
          </p:cNvPr>
          <p:cNvSpPr>
            <a:spLocks noGrp="1"/>
          </p:cNvSpPr>
          <p:nvPr>
            <p:ph sz="quarter" idx="11"/>
          </p:nvPr>
        </p:nvSpPr>
        <p:spPr>
          <a:xfrm>
            <a:off x="486000" y="687518"/>
            <a:ext cx="8172000" cy="4079035"/>
          </a:xfrm>
        </p:spPr>
        <p:txBody>
          <a:bodyPr/>
          <a:lstStyle/>
          <a:p>
            <a:r>
              <a:rPr lang="zh-CN" altLang="en-US" dirty="0"/>
              <a:t>打开熟知端口（端口号为 </a:t>
            </a:r>
            <a:r>
              <a:rPr lang="en-US" altLang="zh-CN" dirty="0"/>
              <a:t>21</a:t>
            </a:r>
            <a:r>
              <a:rPr lang="zh-CN" altLang="en-US" dirty="0"/>
              <a:t>），使客户进程能够连接上</a:t>
            </a:r>
          </a:p>
          <a:p>
            <a:r>
              <a:rPr lang="zh-CN" altLang="en-US" dirty="0"/>
              <a:t>等待客户进程发出连接请求</a:t>
            </a:r>
          </a:p>
          <a:p>
            <a:r>
              <a:rPr lang="zh-CN" altLang="en-US" dirty="0"/>
              <a:t>启动从属进程来处理客户进程发来的请求</a:t>
            </a:r>
            <a:endParaRPr lang="en-US" altLang="zh-CN" dirty="0"/>
          </a:p>
          <a:p>
            <a:pPr lvl="1"/>
            <a:r>
              <a:rPr lang="zh-CN" altLang="en-US" dirty="0"/>
              <a:t>从属进程对客户进程的请求处理完毕后即终止</a:t>
            </a:r>
            <a:endParaRPr lang="en-US" altLang="zh-CN" dirty="0"/>
          </a:p>
          <a:p>
            <a:pPr lvl="1"/>
            <a:r>
              <a:rPr lang="zh-CN" altLang="en-US" dirty="0"/>
              <a:t>但从属进程在运行期间根据需要还可能创建其他一些子进程</a:t>
            </a:r>
          </a:p>
          <a:p>
            <a:r>
              <a:rPr lang="zh-CN" altLang="en-US" dirty="0"/>
              <a:t>回到等待状态，继续接受其他客户进程发来的请求</a:t>
            </a:r>
            <a:endParaRPr lang="en-US" altLang="zh-CN" dirty="0"/>
          </a:p>
          <a:p>
            <a:r>
              <a:rPr lang="zh-CN" altLang="en-US" dirty="0"/>
              <a:t>主进程与从属进程并发进行处理</a:t>
            </a:r>
          </a:p>
          <a:p>
            <a:endParaRPr lang="zh-CN" altLang="en-US" dirty="0"/>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47"/>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3" name="标题 2">
            <a:extLst>
              <a:ext uri="{FF2B5EF4-FFF2-40B4-BE49-F238E27FC236}">
                <a16:creationId xmlns:a16="http://schemas.microsoft.com/office/drawing/2014/main" id="{11DCF4C1-9D0E-DC37-4B57-BB7E84B1B9E8}"/>
              </a:ext>
            </a:extLst>
          </p:cNvPr>
          <p:cNvSpPr>
            <a:spLocks noGrp="1"/>
          </p:cNvSpPr>
          <p:nvPr>
            <p:ph type="title"/>
          </p:nvPr>
        </p:nvSpPr>
        <p:spPr>
          <a:xfrm>
            <a:off x="2880000" y="144000"/>
            <a:ext cx="3384000" cy="338554"/>
          </a:xfrm>
        </p:spPr>
        <p:txBody>
          <a:bodyPr/>
          <a:lstStyle/>
          <a:p>
            <a:r>
              <a:rPr lang="en-US" altLang="zh-CN" dirty="0"/>
              <a:t>FTP </a:t>
            </a:r>
            <a:r>
              <a:rPr lang="zh-CN" altLang="en-US" dirty="0"/>
              <a:t>客户和服务器之间的两个从属进程和两个 </a:t>
            </a:r>
            <a:r>
              <a:rPr lang="en-US" altLang="zh-CN" dirty="0"/>
              <a:t>TCP </a:t>
            </a:r>
            <a:r>
              <a:rPr lang="zh-CN" altLang="en-US" dirty="0"/>
              <a:t>连接</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2" dur="500"/>
                                        <p:tgtEl>
                                          <p:spTgt spid="1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组合 1"/>
          <p:cNvGrpSpPr/>
          <p:nvPr/>
        </p:nvGrpSpPr>
        <p:grpSpPr>
          <a:xfrm>
            <a:off x="849135" y="1522581"/>
            <a:ext cx="7488921" cy="2442794"/>
            <a:chOff x="317184" y="1916832"/>
            <a:chExt cx="9388344" cy="3062362"/>
          </a:xfrm>
        </p:grpSpPr>
        <p:sp>
          <p:nvSpPr>
            <p:cNvPr id="60" name="Rectangle 82"/>
            <p:cNvSpPr>
              <a:spLocks noChangeArrowheads="1"/>
            </p:cNvSpPr>
            <p:nvPr/>
          </p:nvSpPr>
          <p:spPr bwMode="auto">
            <a:xfrm>
              <a:off x="6971059" y="2566118"/>
              <a:ext cx="1640681" cy="1760538"/>
            </a:xfrm>
            <a:prstGeom prst="rect">
              <a:avLst/>
            </a:prstGeom>
            <a:solidFill>
              <a:srgbClr val="0000FF"/>
            </a:solidFill>
            <a:ln w="9525" algn="ctr">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1" name="Oval 83"/>
            <p:cNvSpPr>
              <a:spLocks noChangeArrowheads="1"/>
            </p:cNvSpPr>
            <p:nvPr/>
          </p:nvSpPr>
          <p:spPr bwMode="auto">
            <a:xfrm>
              <a:off x="7062207" y="2750269"/>
              <a:ext cx="1367235" cy="557213"/>
            </a:xfrm>
            <a:prstGeom prst="ellipse">
              <a:avLst/>
            </a:prstGeom>
            <a:solidFill>
              <a:srgbClr val="99FFCC"/>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grpSp>
          <p:nvGrpSpPr>
            <p:cNvPr id="62" name="Group 84"/>
            <p:cNvGrpSpPr>
              <a:grpSpLocks/>
            </p:cNvGrpSpPr>
            <p:nvPr/>
          </p:nvGrpSpPr>
          <p:grpSpPr bwMode="auto">
            <a:xfrm>
              <a:off x="317184" y="2008906"/>
              <a:ext cx="820341" cy="1204912"/>
              <a:chOff x="480" y="1395"/>
              <a:chExt cx="511" cy="728"/>
            </a:xfrm>
          </p:grpSpPr>
          <p:grpSp>
            <p:nvGrpSpPr>
              <p:cNvPr id="63" name="Group 85"/>
              <p:cNvGrpSpPr>
                <a:grpSpLocks/>
              </p:cNvGrpSpPr>
              <p:nvPr/>
            </p:nvGrpSpPr>
            <p:grpSpPr bwMode="auto">
              <a:xfrm>
                <a:off x="717" y="1446"/>
                <a:ext cx="274" cy="237"/>
                <a:chOff x="717" y="1446"/>
                <a:chExt cx="274" cy="237"/>
              </a:xfrm>
            </p:grpSpPr>
            <p:sp>
              <p:nvSpPr>
                <p:cNvPr id="88" name="Arc 86"/>
                <p:cNvSpPr>
                  <a:spLocks/>
                </p:cNvSpPr>
                <p:nvPr/>
              </p:nvSpPr>
              <p:spPr bwMode="auto">
                <a:xfrm>
                  <a:off x="930" y="1618"/>
                  <a:ext cx="58" cy="39"/>
                </a:xfrm>
                <a:custGeom>
                  <a:avLst/>
                  <a:gdLst>
                    <a:gd name="T0" fmla="*/ 0 w 38273"/>
                    <a:gd name="T1" fmla="*/ 0 h 35142"/>
                    <a:gd name="T2" fmla="*/ 0 w 38273"/>
                    <a:gd name="T3" fmla="*/ 0 h 35142"/>
                    <a:gd name="T4" fmla="*/ 0 w 38273"/>
                    <a:gd name="T5" fmla="*/ 0 h 35142"/>
                    <a:gd name="T6" fmla="*/ 0 60000 65536"/>
                    <a:gd name="T7" fmla="*/ 0 60000 65536"/>
                    <a:gd name="T8" fmla="*/ 0 60000 65536"/>
                  </a:gdLst>
                  <a:ahLst/>
                  <a:cxnLst>
                    <a:cxn ang="T6">
                      <a:pos x="T0" y="T1"/>
                    </a:cxn>
                    <a:cxn ang="T7">
                      <a:pos x="T2" y="T3"/>
                    </a:cxn>
                    <a:cxn ang="T8">
                      <a:pos x="T4" y="T5"/>
                    </a:cxn>
                  </a:cxnLst>
                  <a:rect l="0" t="0" r="r" b="b"/>
                  <a:pathLst>
                    <a:path w="38273" h="35142" fill="none" extrusionOk="0">
                      <a:moveTo>
                        <a:pt x="-1" y="7867"/>
                      </a:moveTo>
                      <a:cubicBezTo>
                        <a:pt x="4103" y="2886"/>
                        <a:pt x="10218" y="-1"/>
                        <a:pt x="16673" y="0"/>
                      </a:cubicBezTo>
                      <a:cubicBezTo>
                        <a:pt x="28602" y="0"/>
                        <a:pt x="38273" y="9670"/>
                        <a:pt x="38273" y="21600"/>
                      </a:cubicBezTo>
                      <a:cubicBezTo>
                        <a:pt x="38273" y="26526"/>
                        <a:pt x="36589" y="31304"/>
                        <a:pt x="33500" y="35141"/>
                      </a:cubicBezTo>
                    </a:path>
                    <a:path w="38273" h="35142" stroke="0" extrusionOk="0">
                      <a:moveTo>
                        <a:pt x="-1" y="7867"/>
                      </a:moveTo>
                      <a:cubicBezTo>
                        <a:pt x="4103" y="2886"/>
                        <a:pt x="10218" y="-1"/>
                        <a:pt x="16673" y="0"/>
                      </a:cubicBezTo>
                      <a:cubicBezTo>
                        <a:pt x="28602" y="0"/>
                        <a:pt x="38273" y="9670"/>
                        <a:pt x="38273" y="21600"/>
                      </a:cubicBezTo>
                      <a:cubicBezTo>
                        <a:pt x="38273" y="26526"/>
                        <a:pt x="36589" y="31304"/>
                        <a:pt x="33500" y="35141"/>
                      </a:cubicBezTo>
                      <a:lnTo>
                        <a:pt x="16673" y="21600"/>
                      </a:lnTo>
                      <a:lnTo>
                        <a:pt x="-1" y="7867"/>
                      </a:lnTo>
                      <a:close/>
                    </a:path>
                  </a:pathLst>
                </a:custGeom>
                <a:noFill/>
                <a:ln w="4763">
                  <a:solidFill>
                    <a:srgbClr val="494936"/>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Arc 87"/>
                <p:cNvSpPr>
                  <a:spLocks/>
                </p:cNvSpPr>
                <p:nvPr/>
              </p:nvSpPr>
              <p:spPr bwMode="auto">
                <a:xfrm>
                  <a:off x="929" y="1618"/>
                  <a:ext cx="55" cy="36"/>
                </a:xfrm>
                <a:custGeom>
                  <a:avLst/>
                  <a:gdLst>
                    <a:gd name="T0" fmla="*/ 0 w 38146"/>
                    <a:gd name="T1" fmla="*/ 0 h 34928"/>
                    <a:gd name="T2" fmla="*/ 0 w 38146"/>
                    <a:gd name="T3" fmla="*/ 0 h 34928"/>
                    <a:gd name="T4" fmla="*/ 0 w 38146"/>
                    <a:gd name="T5" fmla="*/ 0 h 34928"/>
                    <a:gd name="T6" fmla="*/ 0 60000 65536"/>
                    <a:gd name="T7" fmla="*/ 0 60000 65536"/>
                    <a:gd name="T8" fmla="*/ 0 60000 65536"/>
                  </a:gdLst>
                  <a:ahLst/>
                  <a:cxnLst>
                    <a:cxn ang="T6">
                      <a:pos x="T0" y="T1"/>
                    </a:cxn>
                    <a:cxn ang="T7">
                      <a:pos x="T2" y="T3"/>
                    </a:cxn>
                    <a:cxn ang="T8">
                      <a:pos x="T4" y="T5"/>
                    </a:cxn>
                  </a:cxnLst>
                  <a:rect l="0" t="0" r="r" b="b"/>
                  <a:pathLst>
                    <a:path w="38146" h="34928" fill="none" extrusionOk="0">
                      <a:moveTo>
                        <a:pt x="0" y="7715"/>
                      </a:moveTo>
                      <a:cubicBezTo>
                        <a:pt x="4104" y="2824"/>
                        <a:pt x="10161" y="-1"/>
                        <a:pt x="16546" y="0"/>
                      </a:cubicBezTo>
                      <a:cubicBezTo>
                        <a:pt x="28475" y="0"/>
                        <a:pt x="38146" y="9670"/>
                        <a:pt x="38146" y="21600"/>
                      </a:cubicBezTo>
                      <a:cubicBezTo>
                        <a:pt x="38146" y="26432"/>
                        <a:pt x="36525" y="31125"/>
                        <a:pt x="33543" y="34927"/>
                      </a:cubicBezTo>
                    </a:path>
                    <a:path w="38146" h="34928" stroke="0" extrusionOk="0">
                      <a:moveTo>
                        <a:pt x="0" y="7715"/>
                      </a:moveTo>
                      <a:cubicBezTo>
                        <a:pt x="4104" y="2824"/>
                        <a:pt x="10161" y="-1"/>
                        <a:pt x="16546" y="0"/>
                      </a:cubicBezTo>
                      <a:cubicBezTo>
                        <a:pt x="28475" y="0"/>
                        <a:pt x="38146" y="9670"/>
                        <a:pt x="38146" y="21600"/>
                      </a:cubicBezTo>
                      <a:cubicBezTo>
                        <a:pt x="38146" y="26432"/>
                        <a:pt x="36525" y="31125"/>
                        <a:pt x="33543" y="34927"/>
                      </a:cubicBezTo>
                      <a:lnTo>
                        <a:pt x="16546" y="21600"/>
                      </a:lnTo>
                      <a:lnTo>
                        <a:pt x="0" y="7715"/>
                      </a:lnTo>
                      <a:close/>
                    </a:path>
                  </a:pathLst>
                </a:custGeom>
                <a:noFill/>
                <a:ln w="4763">
                  <a:solidFill>
                    <a:srgbClr val="DBDBCE"/>
                  </a:solidFill>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88"/>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89"/>
                <p:cNvSpPr>
                  <a:spLocks/>
                </p:cNvSpPr>
                <p:nvPr/>
              </p:nvSpPr>
              <p:spPr bwMode="auto">
                <a:xfrm>
                  <a:off x="751" y="1591"/>
                  <a:ext cx="205" cy="26"/>
                </a:xfrm>
                <a:custGeom>
                  <a:avLst/>
                  <a:gdLst>
                    <a:gd name="T0" fmla="*/ 0 w 205"/>
                    <a:gd name="T1" fmla="*/ 26 h 26"/>
                    <a:gd name="T2" fmla="*/ 25 w 205"/>
                    <a:gd name="T3" fmla="*/ 0 h 26"/>
                    <a:gd name="T4" fmla="*/ 205 w 205"/>
                    <a:gd name="T5" fmla="*/ 0 h 26"/>
                    <a:gd name="T6" fmla="*/ 180 w 205"/>
                    <a:gd name="T7" fmla="*/ 26 h 26"/>
                    <a:gd name="T8" fmla="*/ 0 w 205"/>
                    <a:gd name="T9" fmla="*/ 26 h 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5" h="26">
                      <a:moveTo>
                        <a:pt x="0" y="26"/>
                      </a:moveTo>
                      <a:lnTo>
                        <a:pt x="25" y="0"/>
                      </a:lnTo>
                      <a:lnTo>
                        <a:pt x="205" y="0"/>
                      </a:lnTo>
                      <a:lnTo>
                        <a:pt x="180" y="26"/>
                      </a:lnTo>
                      <a:lnTo>
                        <a:pt x="0" y="26"/>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2" name="Rectangle 90"/>
                <p:cNvSpPr>
                  <a:spLocks noChangeArrowheads="1"/>
                </p:cNvSpPr>
                <p:nvPr/>
              </p:nvSpPr>
              <p:spPr bwMode="auto">
                <a:xfrm>
                  <a:off x="751" y="1617"/>
                  <a:ext cx="180" cy="31"/>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Rectangle 91"/>
                <p:cNvSpPr>
                  <a:spLocks noChangeArrowheads="1"/>
                </p:cNvSpPr>
                <p:nvPr/>
              </p:nvSpPr>
              <p:spPr bwMode="auto">
                <a:xfrm>
                  <a:off x="752" y="1618"/>
                  <a:ext cx="178" cy="29"/>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92"/>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93"/>
                <p:cNvSpPr>
                  <a:spLocks/>
                </p:cNvSpPr>
                <p:nvPr/>
              </p:nvSpPr>
              <p:spPr bwMode="auto">
                <a:xfrm>
                  <a:off x="931" y="1591"/>
                  <a:ext cx="25" cy="57"/>
                </a:xfrm>
                <a:custGeom>
                  <a:avLst/>
                  <a:gdLst>
                    <a:gd name="T0" fmla="*/ 0 w 25"/>
                    <a:gd name="T1" fmla="*/ 57 h 57"/>
                    <a:gd name="T2" fmla="*/ 25 w 25"/>
                    <a:gd name="T3" fmla="*/ 35 h 57"/>
                    <a:gd name="T4" fmla="*/ 25 w 25"/>
                    <a:gd name="T5" fmla="*/ 0 h 57"/>
                    <a:gd name="T6" fmla="*/ 0 w 25"/>
                    <a:gd name="T7" fmla="*/ 26 h 57"/>
                    <a:gd name="T8" fmla="*/ 0 w 25"/>
                    <a:gd name="T9" fmla="*/ 57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57">
                      <a:moveTo>
                        <a:pt x="0" y="57"/>
                      </a:moveTo>
                      <a:lnTo>
                        <a:pt x="25" y="35"/>
                      </a:lnTo>
                      <a:lnTo>
                        <a:pt x="25" y="0"/>
                      </a:lnTo>
                      <a:lnTo>
                        <a:pt x="0" y="26"/>
                      </a:lnTo>
                      <a:lnTo>
                        <a:pt x="0" y="57"/>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94"/>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95"/>
                <p:cNvSpPr>
                  <a:spLocks/>
                </p:cNvSpPr>
                <p:nvPr/>
              </p:nvSpPr>
              <p:spPr bwMode="auto">
                <a:xfrm>
                  <a:off x="757" y="1591"/>
                  <a:ext cx="196" cy="19"/>
                </a:xfrm>
                <a:custGeom>
                  <a:avLst/>
                  <a:gdLst>
                    <a:gd name="T0" fmla="*/ 0 w 196"/>
                    <a:gd name="T1" fmla="*/ 19 h 19"/>
                    <a:gd name="T2" fmla="*/ 19 w 196"/>
                    <a:gd name="T3" fmla="*/ 0 h 19"/>
                    <a:gd name="T4" fmla="*/ 196 w 196"/>
                    <a:gd name="T5" fmla="*/ 0 h 19"/>
                    <a:gd name="T6" fmla="*/ 177 w 196"/>
                    <a:gd name="T7" fmla="*/ 19 h 19"/>
                    <a:gd name="T8" fmla="*/ 0 w 196"/>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6" h="19">
                      <a:moveTo>
                        <a:pt x="0" y="19"/>
                      </a:moveTo>
                      <a:lnTo>
                        <a:pt x="19" y="0"/>
                      </a:lnTo>
                      <a:lnTo>
                        <a:pt x="196" y="0"/>
                      </a:lnTo>
                      <a:lnTo>
                        <a:pt x="177" y="19"/>
                      </a:lnTo>
                      <a:lnTo>
                        <a:pt x="0" y="19"/>
                      </a:lnTo>
                      <a:close/>
                    </a:path>
                  </a:pathLst>
                </a:custGeom>
                <a:solidFill>
                  <a:srgbClr val="00000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96"/>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97"/>
                <p:cNvSpPr>
                  <a:spLocks/>
                </p:cNvSpPr>
                <p:nvPr/>
              </p:nvSpPr>
              <p:spPr bwMode="auto">
                <a:xfrm>
                  <a:off x="751" y="1446"/>
                  <a:ext cx="202" cy="19"/>
                </a:xfrm>
                <a:custGeom>
                  <a:avLst/>
                  <a:gdLst>
                    <a:gd name="T0" fmla="*/ 0 w 202"/>
                    <a:gd name="T1" fmla="*/ 19 h 19"/>
                    <a:gd name="T2" fmla="*/ 19 w 202"/>
                    <a:gd name="T3" fmla="*/ 0 h 19"/>
                    <a:gd name="T4" fmla="*/ 202 w 202"/>
                    <a:gd name="T5" fmla="*/ 0 h 19"/>
                    <a:gd name="T6" fmla="*/ 180 w 202"/>
                    <a:gd name="T7" fmla="*/ 19 h 19"/>
                    <a:gd name="T8" fmla="*/ 0 w 202"/>
                    <a:gd name="T9" fmla="*/ 19 h 1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2" h="19">
                      <a:moveTo>
                        <a:pt x="0" y="19"/>
                      </a:moveTo>
                      <a:lnTo>
                        <a:pt x="19" y="0"/>
                      </a:lnTo>
                      <a:lnTo>
                        <a:pt x="202" y="0"/>
                      </a:lnTo>
                      <a:lnTo>
                        <a:pt x="180" y="19"/>
                      </a:lnTo>
                      <a:lnTo>
                        <a:pt x="0" y="19"/>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0" name="Rectangle 98"/>
                <p:cNvSpPr>
                  <a:spLocks noChangeArrowheads="1"/>
                </p:cNvSpPr>
                <p:nvPr/>
              </p:nvSpPr>
              <p:spPr bwMode="auto">
                <a:xfrm>
                  <a:off x="752" y="1466"/>
                  <a:ext cx="181" cy="140"/>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99"/>
                <p:cNvSpPr>
                  <a:spLocks noChangeArrowheads="1"/>
                </p:cNvSpPr>
                <p:nvPr/>
              </p:nvSpPr>
              <p:spPr bwMode="auto">
                <a:xfrm>
                  <a:off x="768" y="1485"/>
                  <a:ext cx="149" cy="108"/>
                </a:xfrm>
                <a:prstGeom prst="rect">
                  <a:avLst/>
                </a:prstGeom>
                <a:solidFill>
                  <a:srgbClr val="FFFFFF"/>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2" name="Freeform 100"/>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Freeform 101"/>
                <p:cNvSpPr>
                  <a:spLocks/>
                </p:cNvSpPr>
                <p:nvPr/>
              </p:nvSpPr>
              <p:spPr bwMode="auto">
                <a:xfrm>
                  <a:off x="931" y="1446"/>
                  <a:ext cx="22" cy="161"/>
                </a:xfrm>
                <a:custGeom>
                  <a:avLst/>
                  <a:gdLst>
                    <a:gd name="T0" fmla="*/ 0 w 22"/>
                    <a:gd name="T1" fmla="*/ 161 h 161"/>
                    <a:gd name="T2" fmla="*/ 22 w 22"/>
                    <a:gd name="T3" fmla="*/ 142 h 161"/>
                    <a:gd name="T4" fmla="*/ 22 w 22"/>
                    <a:gd name="T5" fmla="*/ 0 h 161"/>
                    <a:gd name="T6" fmla="*/ 0 w 22"/>
                    <a:gd name="T7" fmla="*/ 19 h 161"/>
                    <a:gd name="T8" fmla="*/ 0 w 22"/>
                    <a:gd name="T9" fmla="*/ 161 h 16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 h="161">
                      <a:moveTo>
                        <a:pt x="0" y="161"/>
                      </a:moveTo>
                      <a:lnTo>
                        <a:pt x="22" y="142"/>
                      </a:lnTo>
                      <a:lnTo>
                        <a:pt x="22" y="0"/>
                      </a:lnTo>
                      <a:lnTo>
                        <a:pt x="0" y="19"/>
                      </a:lnTo>
                      <a:lnTo>
                        <a:pt x="0" y="16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4" name="Freeform 102"/>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5" name="Freeform 103"/>
                <p:cNvSpPr>
                  <a:spLocks/>
                </p:cNvSpPr>
                <p:nvPr/>
              </p:nvSpPr>
              <p:spPr bwMode="auto">
                <a:xfrm>
                  <a:off x="717" y="1642"/>
                  <a:ext cx="223" cy="35"/>
                </a:xfrm>
                <a:custGeom>
                  <a:avLst/>
                  <a:gdLst>
                    <a:gd name="T0" fmla="*/ 0 w 223"/>
                    <a:gd name="T1" fmla="*/ 35 h 35"/>
                    <a:gd name="T2" fmla="*/ 28 w 223"/>
                    <a:gd name="T3" fmla="*/ 0 h 35"/>
                    <a:gd name="T4" fmla="*/ 223 w 223"/>
                    <a:gd name="T5" fmla="*/ 0 h 35"/>
                    <a:gd name="T6" fmla="*/ 195 w 223"/>
                    <a:gd name="T7" fmla="*/ 35 h 35"/>
                    <a:gd name="T8" fmla="*/ 0 w 223"/>
                    <a:gd name="T9" fmla="*/ 35 h 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23" h="35">
                      <a:moveTo>
                        <a:pt x="0" y="35"/>
                      </a:moveTo>
                      <a:lnTo>
                        <a:pt x="28" y="0"/>
                      </a:lnTo>
                      <a:lnTo>
                        <a:pt x="223" y="0"/>
                      </a:lnTo>
                      <a:lnTo>
                        <a:pt x="195" y="35"/>
                      </a:lnTo>
                      <a:lnTo>
                        <a:pt x="0" y="35"/>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Freeform 104"/>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7" name="Freeform 105"/>
                <p:cNvSpPr>
                  <a:spLocks/>
                </p:cNvSpPr>
                <p:nvPr/>
              </p:nvSpPr>
              <p:spPr bwMode="auto">
                <a:xfrm>
                  <a:off x="912" y="1642"/>
                  <a:ext cx="28" cy="41"/>
                </a:xfrm>
                <a:custGeom>
                  <a:avLst/>
                  <a:gdLst>
                    <a:gd name="T0" fmla="*/ 0 w 28"/>
                    <a:gd name="T1" fmla="*/ 41 h 41"/>
                    <a:gd name="T2" fmla="*/ 28 w 28"/>
                    <a:gd name="T3" fmla="*/ 13 h 41"/>
                    <a:gd name="T4" fmla="*/ 28 w 28"/>
                    <a:gd name="T5" fmla="*/ 0 h 41"/>
                    <a:gd name="T6" fmla="*/ 0 w 28"/>
                    <a:gd name="T7" fmla="*/ 35 h 41"/>
                    <a:gd name="T8" fmla="*/ 0 w 28"/>
                    <a:gd name="T9" fmla="*/ 41 h 4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8" h="41">
                      <a:moveTo>
                        <a:pt x="0" y="41"/>
                      </a:moveTo>
                      <a:lnTo>
                        <a:pt x="28" y="13"/>
                      </a:lnTo>
                      <a:lnTo>
                        <a:pt x="28" y="0"/>
                      </a:lnTo>
                      <a:lnTo>
                        <a:pt x="0" y="35"/>
                      </a:lnTo>
                      <a:lnTo>
                        <a:pt x="0" y="41"/>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8" name="Rectangle 106"/>
                <p:cNvSpPr>
                  <a:spLocks noChangeArrowheads="1"/>
                </p:cNvSpPr>
                <p:nvPr/>
              </p:nvSpPr>
              <p:spPr bwMode="auto">
                <a:xfrm>
                  <a:off x="717" y="1677"/>
                  <a:ext cx="195"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9" name="Rectangle 107"/>
                <p:cNvSpPr>
                  <a:spLocks noChangeArrowheads="1"/>
                </p:cNvSpPr>
                <p:nvPr/>
              </p:nvSpPr>
              <p:spPr bwMode="auto">
                <a:xfrm>
                  <a:off x="718" y="1678"/>
                  <a:ext cx="193"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0" name="Freeform 108"/>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1" name="Freeform 109"/>
                <p:cNvSpPr>
                  <a:spLocks/>
                </p:cNvSpPr>
                <p:nvPr/>
              </p:nvSpPr>
              <p:spPr bwMode="auto">
                <a:xfrm>
                  <a:off x="953" y="1651"/>
                  <a:ext cx="38" cy="23"/>
                </a:xfrm>
                <a:custGeom>
                  <a:avLst/>
                  <a:gdLst>
                    <a:gd name="T0" fmla="*/ 0 w 38"/>
                    <a:gd name="T1" fmla="*/ 23 h 23"/>
                    <a:gd name="T2" fmla="*/ 13 w 38"/>
                    <a:gd name="T3" fmla="*/ 0 h 23"/>
                    <a:gd name="T4" fmla="*/ 38 w 38"/>
                    <a:gd name="T5" fmla="*/ 0 h 23"/>
                    <a:gd name="T6" fmla="*/ 25 w 38"/>
                    <a:gd name="T7" fmla="*/ 23 h 23"/>
                    <a:gd name="T8" fmla="*/ 0 w 38"/>
                    <a:gd name="T9" fmla="*/ 23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8" h="23">
                      <a:moveTo>
                        <a:pt x="0" y="23"/>
                      </a:moveTo>
                      <a:lnTo>
                        <a:pt x="13" y="0"/>
                      </a:lnTo>
                      <a:lnTo>
                        <a:pt x="38" y="0"/>
                      </a:lnTo>
                      <a:lnTo>
                        <a:pt x="25" y="23"/>
                      </a:lnTo>
                      <a:lnTo>
                        <a:pt x="0" y="23"/>
                      </a:lnTo>
                      <a:close/>
                    </a:path>
                  </a:pathLst>
                </a:custGeom>
                <a:solidFill>
                  <a:srgbClr val="C9C9B6"/>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2" name="Freeform 110"/>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3" name="Freeform 111"/>
                <p:cNvSpPr>
                  <a:spLocks/>
                </p:cNvSpPr>
                <p:nvPr/>
              </p:nvSpPr>
              <p:spPr bwMode="auto">
                <a:xfrm>
                  <a:off x="978" y="1651"/>
                  <a:ext cx="13" cy="29"/>
                </a:xfrm>
                <a:custGeom>
                  <a:avLst/>
                  <a:gdLst>
                    <a:gd name="T0" fmla="*/ 0 w 13"/>
                    <a:gd name="T1" fmla="*/ 29 h 29"/>
                    <a:gd name="T2" fmla="*/ 13 w 13"/>
                    <a:gd name="T3" fmla="*/ 16 h 29"/>
                    <a:gd name="T4" fmla="*/ 13 w 13"/>
                    <a:gd name="T5" fmla="*/ 0 h 29"/>
                    <a:gd name="T6" fmla="*/ 0 w 13"/>
                    <a:gd name="T7" fmla="*/ 23 h 29"/>
                    <a:gd name="T8" fmla="*/ 0 w 13"/>
                    <a:gd name="T9" fmla="*/ 29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29">
                      <a:moveTo>
                        <a:pt x="0" y="29"/>
                      </a:moveTo>
                      <a:lnTo>
                        <a:pt x="13" y="16"/>
                      </a:lnTo>
                      <a:lnTo>
                        <a:pt x="13" y="0"/>
                      </a:lnTo>
                      <a:lnTo>
                        <a:pt x="0" y="23"/>
                      </a:lnTo>
                      <a:lnTo>
                        <a:pt x="0" y="29"/>
                      </a:lnTo>
                      <a:close/>
                    </a:path>
                  </a:pathLst>
                </a:custGeom>
                <a:solidFill>
                  <a:srgbClr val="7A7A5A"/>
                </a:solidFill>
                <a:ln w="4763">
                  <a:solidFill>
                    <a:srgbClr val="494936"/>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4" name="Rectangle 112"/>
                <p:cNvSpPr>
                  <a:spLocks noChangeArrowheads="1"/>
                </p:cNvSpPr>
                <p:nvPr/>
              </p:nvSpPr>
              <p:spPr bwMode="auto">
                <a:xfrm>
                  <a:off x="950" y="1674"/>
                  <a:ext cx="28" cy="6"/>
                </a:xfrm>
                <a:prstGeom prst="rect">
                  <a:avLst/>
                </a:prstGeom>
                <a:solidFill>
                  <a:srgbClr val="B7B79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5" name="Rectangle 113"/>
                <p:cNvSpPr>
                  <a:spLocks noChangeArrowheads="1"/>
                </p:cNvSpPr>
                <p:nvPr/>
              </p:nvSpPr>
              <p:spPr bwMode="auto">
                <a:xfrm>
                  <a:off x="951" y="1675"/>
                  <a:ext cx="26" cy="4"/>
                </a:xfrm>
                <a:prstGeom prst="rect">
                  <a:avLst/>
                </a:prstGeom>
                <a:solidFill>
                  <a:srgbClr val="B7B79D"/>
                </a:solidFill>
                <a:ln w="4763">
                  <a:solidFill>
                    <a:srgbClr val="494936"/>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4" name="Freeform 114"/>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15"/>
              <p:cNvSpPr>
                <a:spLocks/>
              </p:cNvSpPr>
              <p:nvPr/>
            </p:nvSpPr>
            <p:spPr bwMode="auto">
              <a:xfrm>
                <a:off x="710" y="1620"/>
                <a:ext cx="85" cy="38"/>
              </a:xfrm>
              <a:custGeom>
                <a:avLst/>
                <a:gdLst>
                  <a:gd name="T0" fmla="*/ 0 w 85"/>
                  <a:gd name="T1" fmla="*/ 16 h 38"/>
                  <a:gd name="T2" fmla="*/ 25 w 85"/>
                  <a:gd name="T3" fmla="*/ 16 h 38"/>
                  <a:gd name="T4" fmla="*/ 44 w 85"/>
                  <a:gd name="T5" fmla="*/ 0 h 38"/>
                  <a:gd name="T6" fmla="*/ 70 w 85"/>
                  <a:gd name="T7" fmla="*/ 9 h 38"/>
                  <a:gd name="T8" fmla="*/ 79 w 85"/>
                  <a:gd name="T9" fmla="*/ 12 h 38"/>
                  <a:gd name="T10" fmla="*/ 85 w 85"/>
                  <a:gd name="T11" fmla="*/ 19 h 38"/>
                  <a:gd name="T12" fmla="*/ 82 w 85"/>
                  <a:gd name="T13" fmla="*/ 31 h 38"/>
                  <a:gd name="T14" fmla="*/ 79 w 85"/>
                  <a:gd name="T15" fmla="*/ 31 h 38"/>
                  <a:gd name="T16" fmla="*/ 73 w 85"/>
                  <a:gd name="T17" fmla="*/ 22 h 38"/>
                  <a:gd name="T18" fmla="*/ 70 w 85"/>
                  <a:gd name="T19" fmla="*/ 19 h 38"/>
                  <a:gd name="T20" fmla="*/ 57 w 85"/>
                  <a:gd name="T21" fmla="*/ 22 h 38"/>
                  <a:gd name="T22" fmla="*/ 66 w 85"/>
                  <a:gd name="T23" fmla="*/ 25 h 38"/>
                  <a:gd name="T24" fmla="*/ 70 w 85"/>
                  <a:gd name="T25" fmla="*/ 25 h 38"/>
                  <a:gd name="T26" fmla="*/ 70 w 85"/>
                  <a:gd name="T27" fmla="*/ 31 h 38"/>
                  <a:gd name="T28" fmla="*/ 41 w 85"/>
                  <a:gd name="T29" fmla="*/ 38 h 38"/>
                  <a:gd name="T30" fmla="*/ 22 w 85"/>
                  <a:gd name="T31" fmla="*/ 31 h 38"/>
                  <a:gd name="T32" fmla="*/ 3 w 85"/>
                  <a:gd name="T33" fmla="*/ 31 h 38"/>
                  <a:gd name="T34" fmla="*/ 0 w 85"/>
                  <a:gd name="T35" fmla="*/ 16 h 38"/>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85" h="38">
                    <a:moveTo>
                      <a:pt x="0" y="16"/>
                    </a:moveTo>
                    <a:lnTo>
                      <a:pt x="25" y="16"/>
                    </a:lnTo>
                    <a:lnTo>
                      <a:pt x="44" y="0"/>
                    </a:lnTo>
                    <a:lnTo>
                      <a:pt x="70" y="9"/>
                    </a:lnTo>
                    <a:lnTo>
                      <a:pt x="79" y="12"/>
                    </a:lnTo>
                    <a:lnTo>
                      <a:pt x="85" y="19"/>
                    </a:lnTo>
                    <a:lnTo>
                      <a:pt x="82" y="31"/>
                    </a:lnTo>
                    <a:lnTo>
                      <a:pt x="79" y="31"/>
                    </a:lnTo>
                    <a:lnTo>
                      <a:pt x="73" y="22"/>
                    </a:lnTo>
                    <a:lnTo>
                      <a:pt x="70" y="19"/>
                    </a:lnTo>
                    <a:lnTo>
                      <a:pt x="57" y="22"/>
                    </a:lnTo>
                    <a:lnTo>
                      <a:pt x="66" y="25"/>
                    </a:lnTo>
                    <a:lnTo>
                      <a:pt x="70" y="25"/>
                    </a:lnTo>
                    <a:lnTo>
                      <a:pt x="70" y="31"/>
                    </a:lnTo>
                    <a:lnTo>
                      <a:pt x="41" y="38"/>
                    </a:lnTo>
                    <a:lnTo>
                      <a:pt x="22" y="31"/>
                    </a:lnTo>
                    <a:lnTo>
                      <a:pt x="3" y="31"/>
                    </a:lnTo>
                    <a:lnTo>
                      <a:pt x="0" y="16"/>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16"/>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17"/>
              <p:cNvSpPr>
                <a:spLocks/>
              </p:cNvSpPr>
              <p:nvPr/>
            </p:nvSpPr>
            <p:spPr bwMode="auto">
              <a:xfrm>
                <a:off x="612" y="1629"/>
                <a:ext cx="108" cy="48"/>
              </a:xfrm>
              <a:custGeom>
                <a:avLst/>
                <a:gdLst>
                  <a:gd name="T0" fmla="*/ 0 w 108"/>
                  <a:gd name="T1" fmla="*/ 0 h 48"/>
                  <a:gd name="T2" fmla="*/ 101 w 108"/>
                  <a:gd name="T3" fmla="*/ 3 h 48"/>
                  <a:gd name="T4" fmla="*/ 108 w 108"/>
                  <a:gd name="T5" fmla="*/ 13 h 48"/>
                  <a:gd name="T6" fmla="*/ 108 w 108"/>
                  <a:gd name="T7" fmla="*/ 32 h 48"/>
                  <a:gd name="T8" fmla="*/ 29 w 108"/>
                  <a:gd name="T9" fmla="*/ 48 h 48"/>
                  <a:gd name="T10" fmla="*/ 0 w 108"/>
                  <a:gd name="T11" fmla="*/ 0 h 4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8" h="48">
                    <a:moveTo>
                      <a:pt x="0" y="0"/>
                    </a:moveTo>
                    <a:lnTo>
                      <a:pt x="101" y="3"/>
                    </a:lnTo>
                    <a:lnTo>
                      <a:pt x="108" y="13"/>
                    </a:lnTo>
                    <a:lnTo>
                      <a:pt x="108" y="32"/>
                    </a:lnTo>
                    <a:lnTo>
                      <a:pt x="29" y="48"/>
                    </a:lnTo>
                    <a:lnTo>
                      <a:pt x="0"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18"/>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9" name="Freeform 119"/>
              <p:cNvSpPr>
                <a:spLocks/>
              </p:cNvSpPr>
              <p:nvPr/>
            </p:nvSpPr>
            <p:spPr bwMode="auto">
              <a:xfrm>
                <a:off x="742" y="1863"/>
                <a:ext cx="79" cy="98"/>
              </a:xfrm>
              <a:custGeom>
                <a:avLst/>
                <a:gdLst>
                  <a:gd name="T0" fmla="*/ 44 w 79"/>
                  <a:gd name="T1" fmla="*/ 0 h 98"/>
                  <a:gd name="T2" fmla="*/ 47 w 79"/>
                  <a:gd name="T3" fmla="*/ 45 h 98"/>
                  <a:gd name="T4" fmla="*/ 53 w 79"/>
                  <a:gd name="T5" fmla="*/ 48 h 98"/>
                  <a:gd name="T6" fmla="*/ 75 w 79"/>
                  <a:gd name="T7" fmla="*/ 64 h 98"/>
                  <a:gd name="T8" fmla="*/ 79 w 79"/>
                  <a:gd name="T9" fmla="*/ 89 h 98"/>
                  <a:gd name="T10" fmla="*/ 56 w 79"/>
                  <a:gd name="T11" fmla="*/ 89 h 98"/>
                  <a:gd name="T12" fmla="*/ 41 w 79"/>
                  <a:gd name="T13" fmla="*/ 89 h 98"/>
                  <a:gd name="T14" fmla="*/ 41 w 79"/>
                  <a:gd name="T15" fmla="*/ 95 h 98"/>
                  <a:gd name="T16" fmla="*/ 15 w 79"/>
                  <a:gd name="T17" fmla="*/ 98 h 98"/>
                  <a:gd name="T18" fmla="*/ 6 w 79"/>
                  <a:gd name="T19" fmla="*/ 98 h 98"/>
                  <a:gd name="T20" fmla="*/ 0 w 79"/>
                  <a:gd name="T21" fmla="*/ 98 h 98"/>
                  <a:gd name="T22" fmla="*/ 0 w 79"/>
                  <a:gd name="T23" fmla="*/ 76 h 98"/>
                  <a:gd name="T24" fmla="*/ 3 w 79"/>
                  <a:gd name="T25" fmla="*/ 70 h 98"/>
                  <a:gd name="T26" fmla="*/ 9 w 79"/>
                  <a:gd name="T27" fmla="*/ 54 h 98"/>
                  <a:gd name="T28" fmla="*/ 6 w 79"/>
                  <a:gd name="T29" fmla="*/ 10 h 98"/>
                  <a:gd name="T30" fmla="*/ 44 w 79"/>
                  <a:gd name="T31" fmla="*/ 0 h 9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79" h="98">
                    <a:moveTo>
                      <a:pt x="44" y="0"/>
                    </a:moveTo>
                    <a:lnTo>
                      <a:pt x="47" y="45"/>
                    </a:lnTo>
                    <a:lnTo>
                      <a:pt x="53" y="48"/>
                    </a:lnTo>
                    <a:lnTo>
                      <a:pt x="75" y="64"/>
                    </a:lnTo>
                    <a:lnTo>
                      <a:pt x="79" y="89"/>
                    </a:lnTo>
                    <a:lnTo>
                      <a:pt x="56" y="89"/>
                    </a:lnTo>
                    <a:lnTo>
                      <a:pt x="41" y="89"/>
                    </a:lnTo>
                    <a:lnTo>
                      <a:pt x="41" y="95"/>
                    </a:lnTo>
                    <a:lnTo>
                      <a:pt x="15" y="98"/>
                    </a:lnTo>
                    <a:lnTo>
                      <a:pt x="6" y="98"/>
                    </a:lnTo>
                    <a:lnTo>
                      <a:pt x="0" y="98"/>
                    </a:lnTo>
                    <a:lnTo>
                      <a:pt x="0" y="76"/>
                    </a:lnTo>
                    <a:lnTo>
                      <a:pt x="3" y="70"/>
                    </a:lnTo>
                    <a:lnTo>
                      <a:pt x="9" y="54"/>
                    </a:lnTo>
                    <a:lnTo>
                      <a:pt x="6" y="10"/>
                    </a:lnTo>
                    <a:lnTo>
                      <a:pt x="44"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0" name="Freeform 120"/>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Freeform 121"/>
              <p:cNvSpPr>
                <a:spLocks/>
              </p:cNvSpPr>
              <p:nvPr/>
            </p:nvSpPr>
            <p:spPr bwMode="auto">
              <a:xfrm>
                <a:off x="795" y="1924"/>
                <a:ext cx="120" cy="98"/>
              </a:xfrm>
              <a:custGeom>
                <a:avLst/>
                <a:gdLst>
                  <a:gd name="T0" fmla="*/ 60 w 120"/>
                  <a:gd name="T1" fmla="*/ 0 h 98"/>
                  <a:gd name="T2" fmla="*/ 54 w 120"/>
                  <a:gd name="T3" fmla="*/ 31 h 98"/>
                  <a:gd name="T4" fmla="*/ 63 w 120"/>
                  <a:gd name="T5" fmla="*/ 31 h 98"/>
                  <a:gd name="T6" fmla="*/ 82 w 120"/>
                  <a:gd name="T7" fmla="*/ 44 h 98"/>
                  <a:gd name="T8" fmla="*/ 108 w 120"/>
                  <a:gd name="T9" fmla="*/ 44 h 98"/>
                  <a:gd name="T10" fmla="*/ 117 w 120"/>
                  <a:gd name="T11" fmla="*/ 47 h 98"/>
                  <a:gd name="T12" fmla="*/ 120 w 120"/>
                  <a:gd name="T13" fmla="*/ 56 h 98"/>
                  <a:gd name="T14" fmla="*/ 117 w 120"/>
                  <a:gd name="T15" fmla="*/ 66 h 98"/>
                  <a:gd name="T16" fmla="*/ 92 w 120"/>
                  <a:gd name="T17" fmla="*/ 82 h 98"/>
                  <a:gd name="T18" fmla="*/ 82 w 120"/>
                  <a:gd name="T19" fmla="*/ 85 h 98"/>
                  <a:gd name="T20" fmla="*/ 67 w 120"/>
                  <a:gd name="T21" fmla="*/ 85 h 98"/>
                  <a:gd name="T22" fmla="*/ 41 w 120"/>
                  <a:gd name="T23" fmla="*/ 88 h 98"/>
                  <a:gd name="T24" fmla="*/ 41 w 120"/>
                  <a:gd name="T25" fmla="*/ 98 h 98"/>
                  <a:gd name="T26" fmla="*/ 32 w 120"/>
                  <a:gd name="T27" fmla="*/ 98 h 98"/>
                  <a:gd name="T28" fmla="*/ 19 w 120"/>
                  <a:gd name="T29" fmla="*/ 98 h 98"/>
                  <a:gd name="T30" fmla="*/ 10 w 120"/>
                  <a:gd name="T31" fmla="*/ 94 h 98"/>
                  <a:gd name="T32" fmla="*/ 0 w 120"/>
                  <a:gd name="T33" fmla="*/ 88 h 98"/>
                  <a:gd name="T34" fmla="*/ 0 w 120"/>
                  <a:gd name="T35" fmla="*/ 72 h 98"/>
                  <a:gd name="T36" fmla="*/ 7 w 120"/>
                  <a:gd name="T37" fmla="*/ 56 h 98"/>
                  <a:gd name="T38" fmla="*/ 10 w 120"/>
                  <a:gd name="T39" fmla="*/ 47 h 98"/>
                  <a:gd name="T40" fmla="*/ 16 w 120"/>
                  <a:gd name="T41" fmla="*/ 37 h 98"/>
                  <a:gd name="T42" fmla="*/ 22 w 120"/>
                  <a:gd name="T43" fmla="*/ 6 h 98"/>
                  <a:gd name="T44" fmla="*/ 60 w 120"/>
                  <a:gd name="T45" fmla="*/ 0 h 9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20" h="98">
                    <a:moveTo>
                      <a:pt x="60" y="0"/>
                    </a:moveTo>
                    <a:lnTo>
                      <a:pt x="54" y="31"/>
                    </a:lnTo>
                    <a:lnTo>
                      <a:pt x="63" y="31"/>
                    </a:lnTo>
                    <a:lnTo>
                      <a:pt x="82" y="44"/>
                    </a:lnTo>
                    <a:lnTo>
                      <a:pt x="108" y="44"/>
                    </a:lnTo>
                    <a:lnTo>
                      <a:pt x="117" y="47"/>
                    </a:lnTo>
                    <a:lnTo>
                      <a:pt x="120" y="56"/>
                    </a:lnTo>
                    <a:lnTo>
                      <a:pt x="117" y="66"/>
                    </a:lnTo>
                    <a:lnTo>
                      <a:pt x="92" y="82"/>
                    </a:lnTo>
                    <a:lnTo>
                      <a:pt x="82" y="85"/>
                    </a:lnTo>
                    <a:lnTo>
                      <a:pt x="67" y="85"/>
                    </a:lnTo>
                    <a:lnTo>
                      <a:pt x="41" y="88"/>
                    </a:lnTo>
                    <a:lnTo>
                      <a:pt x="41" y="98"/>
                    </a:lnTo>
                    <a:lnTo>
                      <a:pt x="32" y="98"/>
                    </a:lnTo>
                    <a:lnTo>
                      <a:pt x="19" y="98"/>
                    </a:lnTo>
                    <a:lnTo>
                      <a:pt x="10" y="94"/>
                    </a:lnTo>
                    <a:lnTo>
                      <a:pt x="0" y="88"/>
                    </a:lnTo>
                    <a:lnTo>
                      <a:pt x="0" y="72"/>
                    </a:lnTo>
                    <a:lnTo>
                      <a:pt x="7" y="56"/>
                    </a:lnTo>
                    <a:lnTo>
                      <a:pt x="10" y="47"/>
                    </a:lnTo>
                    <a:lnTo>
                      <a:pt x="16" y="37"/>
                    </a:lnTo>
                    <a:lnTo>
                      <a:pt x="22" y="6"/>
                    </a:lnTo>
                    <a:lnTo>
                      <a:pt x="60" y="0"/>
                    </a:lnTo>
                    <a:close/>
                  </a:path>
                </a:pathLst>
              </a:custGeom>
              <a:solidFill>
                <a:srgbClr val="222222"/>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2" name="Freeform 122"/>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Freeform 123"/>
              <p:cNvSpPr>
                <a:spLocks/>
              </p:cNvSpPr>
              <p:nvPr/>
            </p:nvSpPr>
            <p:spPr bwMode="auto">
              <a:xfrm>
                <a:off x="710" y="1844"/>
                <a:ext cx="92" cy="54"/>
              </a:xfrm>
              <a:custGeom>
                <a:avLst/>
                <a:gdLst>
                  <a:gd name="T0" fmla="*/ 0 w 92"/>
                  <a:gd name="T1" fmla="*/ 32 h 54"/>
                  <a:gd name="T2" fmla="*/ 88 w 92"/>
                  <a:gd name="T3" fmla="*/ 0 h 54"/>
                  <a:gd name="T4" fmla="*/ 92 w 92"/>
                  <a:gd name="T5" fmla="*/ 7 h 54"/>
                  <a:gd name="T6" fmla="*/ 92 w 92"/>
                  <a:gd name="T7" fmla="*/ 16 h 54"/>
                  <a:gd name="T8" fmla="*/ 88 w 92"/>
                  <a:gd name="T9" fmla="*/ 23 h 54"/>
                  <a:gd name="T10" fmla="*/ 7 w 92"/>
                  <a:gd name="T11" fmla="*/ 54 h 54"/>
                  <a:gd name="T12" fmla="*/ 0 w 92"/>
                  <a:gd name="T13" fmla="*/ 32 h 5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92" h="54">
                    <a:moveTo>
                      <a:pt x="0" y="32"/>
                    </a:moveTo>
                    <a:lnTo>
                      <a:pt x="88" y="0"/>
                    </a:lnTo>
                    <a:lnTo>
                      <a:pt x="92" y="7"/>
                    </a:lnTo>
                    <a:lnTo>
                      <a:pt x="92" y="16"/>
                    </a:lnTo>
                    <a:lnTo>
                      <a:pt x="88" y="23"/>
                    </a:lnTo>
                    <a:lnTo>
                      <a:pt x="7" y="54"/>
                    </a:lnTo>
                    <a:lnTo>
                      <a:pt x="0" y="32"/>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4" name="Freeform 124"/>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5" name="Freeform 125"/>
              <p:cNvSpPr>
                <a:spLocks/>
              </p:cNvSpPr>
              <p:nvPr/>
            </p:nvSpPr>
            <p:spPr bwMode="auto">
              <a:xfrm>
                <a:off x="710" y="1750"/>
                <a:ext cx="170" cy="189"/>
              </a:xfrm>
              <a:custGeom>
                <a:avLst/>
                <a:gdLst>
                  <a:gd name="T0" fmla="*/ 7 w 170"/>
                  <a:gd name="T1" fmla="*/ 0 h 189"/>
                  <a:gd name="T2" fmla="*/ 44 w 170"/>
                  <a:gd name="T3" fmla="*/ 25 h 189"/>
                  <a:gd name="T4" fmla="*/ 82 w 170"/>
                  <a:gd name="T5" fmla="*/ 25 h 189"/>
                  <a:gd name="T6" fmla="*/ 158 w 170"/>
                  <a:gd name="T7" fmla="*/ 31 h 189"/>
                  <a:gd name="T8" fmla="*/ 170 w 170"/>
                  <a:gd name="T9" fmla="*/ 60 h 189"/>
                  <a:gd name="T10" fmla="*/ 167 w 170"/>
                  <a:gd name="T11" fmla="*/ 145 h 189"/>
                  <a:gd name="T12" fmla="*/ 167 w 170"/>
                  <a:gd name="T13" fmla="*/ 177 h 189"/>
                  <a:gd name="T14" fmla="*/ 133 w 170"/>
                  <a:gd name="T15" fmla="*/ 189 h 189"/>
                  <a:gd name="T16" fmla="*/ 98 w 170"/>
                  <a:gd name="T17" fmla="*/ 186 h 189"/>
                  <a:gd name="T18" fmla="*/ 107 w 170"/>
                  <a:gd name="T19" fmla="*/ 94 h 189"/>
                  <a:gd name="T20" fmla="*/ 88 w 170"/>
                  <a:gd name="T21" fmla="*/ 94 h 189"/>
                  <a:gd name="T22" fmla="*/ 0 w 170"/>
                  <a:gd name="T23" fmla="*/ 126 h 189"/>
                  <a:gd name="T24" fmla="*/ 7 w 170"/>
                  <a:gd name="T25" fmla="*/ 0 h 18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0" h="189">
                    <a:moveTo>
                      <a:pt x="7" y="0"/>
                    </a:moveTo>
                    <a:lnTo>
                      <a:pt x="44" y="25"/>
                    </a:lnTo>
                    <a:lnTo>
                      <a:pt x="82" y="25"/>
                    </a:lnTo>
                    <a:lnTo>
                      <a:pt x="158" y="31"/>
                    </a:lnTo>
                    <a:lnTo>
                      <a:pt x="170" y="60"/>
                    </a:lnTo>
                    <a:lnTo>
                      <a:pt x="167" y="145"/>
                    </a:lnTo>
                    <a:lnTo>
                      <a:pt x="167" y="177"/>
                    </a:lnTo>
                    <a:lnTo>
                      <a:pt x="133" y="189"/>
                    </a:lnTo>
                    <a:lnTo>
                      <a:pt x="98" y="186"/>
                    </a:lnTo>
                    <a:lnTo>
                      <a:pt x="107" y="94"/>
                    </a:lnTo>
                    <a:lnTo>
                      <a:pt x="88" y="94"/>
                    </a:lnTo>
                    <a:lnTo>
                      <a:pt x="0" y="126"/>
                    </a:lnTo>
                    <a:lnTo>
                      <a:pt x="7"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Freeform 126"/>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Freeform 127"/>
              <p:cNvSpPr>
                <a:spLocks/>
              </p:cNvSpPr>
              <p:nvPr/>
            </p:nvSpPr>
            <p:spPr bwMode="auto">
              <a:xfrm>
                <a:off x="521" y="1930"/>
                <a:ext cx="236" cy="193"/>
              </a:xfrm>
              <a:custGeom>
                <a:avLst/>
                <a:gdLst>
                  <a:gd name="T0" fmla="*/ 142 w 236"/>
                  <a:gd name="T1" fmla="*/ 0 h 193"/>
                  <a:gd name="T2" fmla="*/ 145 w 236"/>
                  <a:gd name="T3" fmla="*/ 54 h 193"/>
                  <a:gd name="T4" fmla="*/ 227 w 236"/>
                  <a:gd name="T5" fmla="*/ 22 h 193"/>
                  <a:gd name="T6" fmla="*/ 233 w 236"/>
                  <a:gd name="T7" fmla="*/ 25 h 193"/>
                  <a:gd name="T8" fmla="*/ 236 w 236"/>
                  <a:gd name="T9" fmla="*/ 47 h 193"/>
                  <a:gd name="T10" fmla="*/ 230 w 236"/>
                  <a:gd name="T11" fmla="*/ 47 h 193"/>
                  <a:gd name="T12" fmla="*/ 230 w 236"/>
                  <a:gd name="T13" fmla="*/ 57 h 193"/>
                  <a:gd name="T14" fmla="*/ 227 w 236"/>
                  <a:gd name="T15" fmla="*/ 63 h 193"/>
                  <a:gd name="T16" fmla="*/ 224 w 236"/>
                  <a:gd name="T17" fmla="*/ 63 h 193"/>
                  <a:gd name="T18" fmla="*/ 218 w 236"/>
                  <a:gd name="T19" fmla="*/ 60 h 193"/>
                  <a:gd name="T20" fmla="*/ 214 w 236"/>
                  <a:gd name="T21" fmla="*/ 54 h 193"/>
                  <a:gd name="T22" fmla="*/ 214 w 236"/>
                  <a:gd name="T23" fmla="*/ 47 h 193"/>
                  <a:gd name="T24" fmla="*/ 151 w 236"/>
                  <a:gd name="T25" fmla="*/ 73 h 193"/>
                  <a:gd name="T26" fmla="*/ 208 w 236"/>
                  <a:gd name="T27" fmla="*/ 136 h 193"/>
                  <a:gd name="T28" fmla="*/ 211 w 236"/>
                  <a:gd name="T29" fmla="*/ 161 h 193"/>
                  <a:gd name="T30" fmla="*/ 208 w 236"/>
                  <a:gd name="T31" fmla="*/ 171 h 193"/>
                  <a:gd name="T32" fmla="*/ 208 w 236"/>
                  <a:gd name="T33" fmla="*/ 177 h 193"/>
                  <a:gd name="T34" fmla="*/ 205 w 236"/>
                  <a:gd name="T35" fmla="*/ 187 h 193"/>
                  <a:gd name="T36" fmla="*/ 202 w 236"/>
                  <a:gd name="T37" fmla="*/ 190 h 193"/>
                  <a:gd name="T38" fmla="*/ 199 w 236"/>
                  <a:gd name="T39" fmla="*/ 190 h 193"/>
                  <a:gd name="T40" fmla="*/ 192 w 236"/>
                  <a:gd name="T41" fmla="*/ 193 h 193"/>
                  <a:gd name="T42" fmla="*/ 189 w 236"/>
                  <a:gd name="T43" fmla="*/ 190 h 193"/>
                  <a:gd name="T44" fmla="*/ 186 w 236"/>
                  <a:gd name="T45" fmla="*/ 180 h 193"/>
                  <a:gd name="T46" fmla="*/ 183 w 236"/>
                  <a:gd name="T47" fmla="*/ 177 h 193"/>
                  <a:gd name="T48" fmla="*/ 189 w 236"/>
                  <a:gd name="T49" fmla="*/ 171 h 193"/>
                  <a:gd name="T50" fmla="*/ 192 w 236"/>
                  <a:gd name="T51" fmla="*/ 168 h 193"/>
                  <a:gd name="T52" fmla="*/ 192 w 236"/>
                  <a:gd name="T53" fmla="*/ 161 h 193"/>
                  <a:gd name="T54" fmla="*/ 196 w 236"/>
                  <a:gd name="T55" fmla="*/ 161 h 193"/>
                  <a:gd name="T56" fmla="*/ 199 w 236"/>
                  <a:gd name="T57" fmla="*/ 155 h 193"/>
                  <a:gd name="T58" fmla="*/ 132 w 236"/>
                  <a:gd name="T59" fmla="*/ 79 h 193"/>
                  <a:gd name="T60" fmla="*/ 22 w 236"/>
                  <a:gd name="T61" fmla="*/ 142 h 193"/>
                  <a:gd name="T62" fmla="*/ 22 w 236"/>
                  <a:gd name="T63" fmla="*/ 152 h 193"/>
                  <a:gd name="T64" fmla="*/ 19 w 236"/>
                  <a:gd name="T65" fmla="*/ 155 h 193"/>
                  <a:gd name="T66" fmla="*/ 19 w 236"/>
                  <a:gd name="T67" fmla="*/ 171 h 193"/>
                  <a:gd name="T68" fmla="*/ 16 w 236"/>
                  <a:gd name="T69" fmla="*/ 174 h 193"/>
                  <a:gd name="T70" fmla="*/ 13 w 236"/>
                  <a:gd name="T71" fmla="*/ 177 h 193"/>
                  <a:gd name="T72" fmla="*/ 6 w 236"/>
                  <a:gd name="T73" fmla="*/ 177 h 193"/>
                  <a:gd name="T74" fmla="*/ 0 w 236"/>
                  <a:gd name="T75" fmla="*/ 171 h 193"/>
                  <a:gd name="T76" fmla="*/ 6 w 236"/>
                  <a:gd name="T77" fmla="*/ 155 h 193"/>
                  <a:gd name="T78" fmla="*/ 6 w 236"/>
                  <a:gd name="T79" fmla="*/ 149 h 193"/>
                  <a:gd name="T80" fmla="*/ 13 w 236"/>
                  <a:gd name="T81" fmla="*/ 139 h 193"/>
                  <a:gd name="T82" fmla="*/ 9 w 236"/>
                  <a:gd name="T83" fmla="*/ 120 h 193"/>
                  <a:gd name="T84" fmla="*/ 114 w 236"/>
                  <a:gd name="T85" fmla="*/ 66 h 193"/>
                  <a:gd name="T86" fmla="*/ 79 w 236"/>
                  <a:gd name="T87" fmla="*/ 35 h 193"/>
                  <a:gd name="T88" fmla="*/ 73 w 236"/>
                  <a:gd name="T89" fmla="*/ 41 h 193"/>
                  <a:gd name="T90" fmla="*/ 69 w 236"/>
                  <a:gd name="T91" fmla="*/ 47 h 193"/>
                  <a:gd name="T92" fmla="*/ 63 w 236"/>
                  <a:gd name="T93" fmla="*/ 54 h 193"/>
                  <a:gd name="T94" fmla="*/ 50 w 236"/>
                  <a:gd name="T95" fmla="*/ 44 h 193"/>
                  <a:gd name="T96" fmla="*/ 50 w 236"/>
                  <a:gd name="T97" fmla="*/ 41 h 193"/>
                  <a:gd name="T98" fmla="*/ 54 w 236"/>
                  <a:gd name="T99" fmla="*/ 35 h 193"/>
                  <a:gd name="T100" fmla="*/ 63 w 236"/>
                  <a:gd name="T101" fmla="*/ 31 h 193"/>
                  <a:gd name="T102" fmla="*/ 66 w 236"/>
                  <a:gd name="T103" fmla="*/ 22 h 193"/>
                  <a:gd name="T104" fmla="*/ 82 w 236"/>
                  <a:gd name="T105" fmla="*/ 9 h 193"/>
                  <a:gd name="T106" fmla="*/ 120 w 236"/>
                  <a:gd name="T107" fmla="*/ 44 h 193"/>
                  <a:gd name="T108" fmla="*/ 120 w 236"/>
                  <a:gd name="T109" fmla="*/ 6 h 193"/>
                  <a:gd name="T110" fmla="*/ 142 w 236"/>
                  <a:gd name="T111" fmla="*/ 0 h 193"/>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236" h="193">
                    <a:moveTo>
                      <a:pt x="142" y="0"/>
                    </a:moveTo>
                    <a:lnTo>
                      <a:pt x="145" y="54"/>
                    </a:lnTo>
                    <a:lnTo>
                      <a:pt x="227" y="22"/>
                    </a:lnTo>
                    <a:lnTo>
                      <a:pt x="233" y="25"/>
                    </a:lnTo>
                    <a:lnTo>
                      <a:pt x="236" y="47"/>
                    </a:lnTo>
                    <a:lnTo>
                      <a:pt x="230" y="47"/>
                    </a:lnTo>
                    <a:lnTo>
                      <a:pt x="230" y="57"/>
                    </a:lnTo>
                    <a:lnTo>
                      <a:pt x="227" y="63"/>
                    </a:lnTo>
                    <a:lnTo>
                      <a:pt x="224" y="63"/>
                    </a:lnTo>
                    <a:lnTo>
                      <a:pt x="218" y="60"/>
                    </a:lnTo>
                    <a:lnTo>
                      <a:pt x="214" y="54"/>
                    </a:lnTo>
                    <a:lnTo>
                      <a:pt x="214" y="47"/>
                    </a:lnTo>
                    <a:lnTo>
                      <a:pt x="151" y="73"/>
                    </a:lnTo>
                    <a:lnTo>
                      <a:pt x="208" y="136"/>
                    </a:lnTo>
                    <a:lnTo>
                      <a:pt x="211" y="161"/>
                    </a:lnTo>
                    <a:lnTo>
                      <a:pt x="208" y="171"/>
                    </a:lnTo>
                    <a:lnTo>
                      <a:pt x="208" y="177"/>
                    </a:lnTo>
                    <a:lnTo>
                      <a:pt x="205" y="187"/>
                    </a:lnTo>
                    <a:lnTo>
                      <a:pt x="202" y="190"/>
                    </a:lnTo>
                    <a:lnTo>
                      <a:pt x="199" y="190"/>
                    </a:lnTo>
                    <a:lnTo>
                      <a:pt x="192" y="193"/>
                    </a:lnTo>
                    <a:lnTo>
                      <a:pt x="189" y="190"/>
                    </a:lnTo>
                    <a:lnTo>
                      <a:pt x="186" y="180"/>
                    </a:lnTo>
                    <a:lnTo>
                      <a:pt x="183" y="177"/>
                    </a:lnTo>
                    <a:lnTo>
                      <a:pt x="189" y="171"/>
                    </a:lnTo>
                    <a:lnTo>
                      <a:pt x="192" y="168"/>
                    </a:lnTo>
                    <a:lnTo>
                      <a:pt x="192" y="161"/>
                    </a:lnTo>
                    <a:lnTo>
                      <a:pt x="196" y="161"/>
                    </a:lnTo>
                    <a:lnTo>
                      <a:pt x="199" y="155"/>
                    </a:lnTo>
                    <a:lnTo>
                      <a:pt x="132" y="79"/>
                    </a:lnTo>
                    <a:lnTo>
                      <a:pt x="22" y="142"/>
                    </a:lnTo>
                    <a:lnTo>
                      <a:pt x="22" y="152"/>
                    </a:lnTo>
                    <a:lnTo>
                      <a:pt x="19" y="155"/>
                    </a:lnTo>
                    <a:lnTo>
                      <a:pt x="19" y="171"/>
                    </a:lnTo>
                    <a:lnTo>
                      <a:pt x="16" y="174"/>
                    </a:lnTo>
                    <a:lnTo>
                      <a:pt x="13" y="177"/>
                    </a:lnTo>
                    <a:lnTo>
                      <a:pt x="6" y="177"/>
                    </a:lnTo>
                    <a:lnTo>
                      <a:pt x="0" y="171"/>
                    </a:lnTo>
                    <a:lnTo>
                      <a:pt x="6" y="155"/>
                    </a:lnTo>
                    <a:lnTo>
                      <a:pt x="6" y="149"/>
                    </a:lnTo>
                    <a:lnTo>
                      <a:pt x="13" y="139"/>
                    </a:lnTo>
                    <a:lnTo>
                      <a:pt x="9" y="120"/>
                    </a:lnTo>
                    <a:lnTo>
                      <a:pt x="114" y="66"/>
                    </a:lnTo>
                    <a:lnTo>
                      <a:pt x="79" y="35"/>
                    </a:lnTo>
                    <a:lnTo>
                      <a:pt x="73" y="41"/>
                    </a:lnTo>
                    <a:lnTo>
                      <a:pt x="69" y="47"/>
                    </a:lnTo>
                    <a:lnTo>
                      <a:pt x="63" y="54"/>
                    </a:lnTo>
                    <a:lnTo>
                      <a:pt x="50" y="44"/>
                    </a:lnTo>
                    <a:lnTo>
                      <a:pt x="50" y="41"/>
                    </a:lnTo>
                    <a:lnTo>
                      <a:pt x="54" y="35"/>
                    </a:lnTo>
                    <a:lnTo>
                      <a:pt x="63" y="31"/>
                    </a:lnTo>
                    <a:lnTo>
                      <a:pt x="66" y="22"/>
                    </a:lnTo>
                    <a:lnTo>
                      <a:pt x="82" y="9"/>
                    </a:lnTo>
                    <a:lnTo>
                      <a:pt x="120" y="44"/>
                    </a:lnTo>
                    <a:lnTo>
                      <a:pt x="120" y="6"/>
                    </a:lnTo>
                    <a:lnTo>
                      <a:pt x="142" y="0"/>
                    </a:lnTo>
                    <a:close/>
                  </a:path>
                </a:pathLst>
              </a:custGeom>
              <a:solidFill>
                <a:srgbClr val="AAAAAA"/>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Freeform 128"/>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9" name="Freeform 129"/>
              <p:cNvSpPr>
                <a:spLocks/>
              </p:cNvSpPr>
              <p:nvPr/>
            </p:nvSpPr>
            <p:spPr bwMode="auto">
              <a:xfrm>
                <a:off x="811" y="1658"/>
                <a:ext cx="69" cy="54"/>
              </a:xfrm>
              <a:custGeom>
                <a:avLst/>
                <a:gdLst>
                  <a:gd name="T0" fmla="*/ 0 w 69"/>
                  <a:gd name="T1" fmla="*/ 35 h 54"/>
                  <a:gd name="T2" fmla="*/ 19 w 69"/>
                  <a:gd name="T3" fmla="*/ 22 h 54"/>
                  <a:gd name="T4" fmla="*/ 19 w 69"/>
                  <a:gd name="T5" fmla="*/ 6 h 54"/>
                  <a:gd name="T6" fmla="*/ 35 w 69"/>
                  <a:gd name="T7" fmla="*/ 0 h 54"/>
                  <a:gd name="T8" fmla="*/ 38 w 69"/>
                  <a:gd name="T9" fmla="*/ 0 h 54"/>
                  <a:gd name="T10" fmla="*/ 38 w 69"/>
                  <a:gd name="T11" fmla="*/ 6 h 54"/>
                  <a:gd name="T12" fmla="*/ 51 w 69"/>
                  <a:gd name="T13" fmla="*/ 3 h 54"/>
                  <a:gd name="T14" fmla="*/ 63 w 69"/>
                  <a:gd name="T15" fmla="*/ 0 h 54"/>
                  <a:gd name="T16" fmla="*/ 69 w 69"/>
                  <a:gd name="T17" fmla="*/ 6 h 54"/>
                  <a:gd name="T18" fmla="*/ 63 w 69"/>
                  <a:gd name="T19" fmla="*/ 9 h 54"/>
                  <a:gd name="T20" fmla="*/ 63 w 69"/>
                  <a:gd name="T21" fmla="*/ 38 h 54"/>
                  <a:gd name="T22" fmla="*/ 41 w 69"/>
                  <a:gd name="T23" fmla="*/ 50 h 54"/>
                  <a:gd name="T24" fmla="*/ 35 w 69"/>
                  <a:gd name="T25" fmla="*/ 50 h 54"/>
                  <a:gd name="T26" fmla="*/ 25 w 69"/>
                  <a:gd name="T27" fmla="*/ 54 h 54"/>
                  <a:gd name="T28" fmla="*/ 0 w 69"/>
                  <a:gd name="T29" fmla="*/ 35 h 5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69" h="54">
                    <a:moveTo>
                      <a:pt x="0" y="35"/>
                    </a:moveTo>
                    <a:lnTo>
                      <a:pt x="19" y="22"/>
                    </a:lnTo>
                    <a:lnTo>
                      <a:pt x="19" y="6"/>
                    </a:lnTo>
                    <a:lnTo>
                      <a:pt x="35" y="0"/>
                    </a:lnTo>
                    <a:lnTo>
                      <a:pt x="38" y="0"/>
                    </a:lnTo>
                    <a:lnTo>
                      <a:pt x="38" y="6"/>
                    </a:lnTo>
                    <a:lnTo>
                      <a:pt x="51" y="3"/>
                    </a:lnTo>
                    <a:lnTo>
                      <a:pt x="63" y="0"/>
                    </a:lnTo>
                    <a:lnTo>
                      <a:pt x="69" y="6"/>
                    </a:lnTo>
                    <a:lnTo>
                      <a:pt x="63" y="9"/>
                    </a:lnTo>
                    <a:lnTo>
                      <a:pt x="63" y="38"/>
                    </a:lnTo>
                    <a:lnTo>
                      <a:pt x="41" y="50"/>
                    </a:lnTo>
                    <a:lnTo>
                      <a:pt x="35" y="50"/>
                    </a:lnTo>
                    <a:lnTo>
                      <a:pt x="25" y="54"/>
                    </a:lnTo>
                    <a:lnTo>
                      <a:pt x="0" y="35"/>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0" name="Freeform 130"/>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8 w 111"/>
                  <a:gd name="T19" fmla="*/ 92 h 149"/>
                  <a:gd name="T20" fmla="*/ 95 w 111"/>
                  <a:gd name="T21" fmla="*/ 105 h 149"/>
                  <a:gd name="T22" fmla="*/ 92 w 111"/>
                  <a:gd name="T23" fmla="*/ 114 h 149"/>
                  <a:gd name="T24" fmla="*/ 86 w 111"/>
                  <a:gd name="T25" fmla="*/ 117 h 149"/>
                  <a:gd name="T26" fmla="*/ 76 w 111"/>
                  <a:gd name="T27" fmla="*/ 117 h 149"/>
                  <a:gd name="T28" fmla="*/ 63 w 111"/>
                  <a:gd name="T29" fmla="*/ 127 h 149"/>
                  <a:gd name="T30" fmla="*/ 51 w 111"/>
                  <a:gd name="T31" fmla="*/ 149 h 149"/>
                  <a:gd name="T32" fmla="*/ 0 w 111"/>
                  <a:gd name="T33" fmla="*/ 105 h 149"/>
                  <a:gd name="T34" fmla="*/ 26 w 111"/>
                  <a:gd name="T35" fmla="*/ 0 h 149"/>
                  <a:gd name="T36" fmla="*/ 101 w 111"/>
                  <a:gd name="T37" fmla="*/ 13 h 14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Freeform 131"/>
              <p:cNvSpPr>
                <a:spLocks/>
              </p:cNvSpPr>
              <p:nvPr/>
            </p:nvSpPr>
            <p:spPr bwMode="auto">
              <a:xfrm>
                <a:off x="590" y="1417"/>
                <a:ext cx="111" cy="149"/>
              </a:xfrm>
              <a:custGeom>
                <a:avLst/>
                <a:gdLst>
                  <a:gd name="T0" fmla="*/ 101 w 111"/>
                  <a:gd name="T1" fmla="*/ 13 h 149"/>
                  <a:gd name="T2" fmla="*/ 101 w 111"/>
                  <a:gd name="T3" fmla="*/ 41 h 149"/>
                  <a:gd name="T4" fmla="*/ 101 w 111"/>
                  <a:gd name="T5" fmla="*/ 48 h 149"/>
                  <a:gd name="T6" fmla="*/ 111 w 111"/>
                  <a:gd name="T7" fmla="*/ 70 h 149"/>
                  <a:gd name="T8" fmla="*/ 108 w 111"/>
                  <a:gd name="T9" fmla="*/ 76 h 149"/>
                  <a:gd name="T10" fmla="*/ 101 w 111"/>
                  <a:gd name="T11" fmla="*/ 76 h 149"/>
                  <a:gd name="T12" fmla="*/ 101 w 111"/>
                  <a:gd name="T13" fmla="*/ 89 h 149"/>
                  <a:gd name="T14" fmla="*/ 95 w 111"/>
                  <a:gd name="T15" fmla="*/ 89 h 149"/>
                  <a:gd name="T16" fmla="*/ 98 w 111"/>
                  <a:gd name="T17" fmla="*/ 92 h 149"/>
                  <a:gd name="T18" fmla="*/ 95 w 111"/>
                  <a:gd name="T19" fmla="*/ 105 h 149"/>
                  <a:gd name="T20" fmla="*/ 92 w 111"/>
                  <a:gd name="T21" fmla="*/ 114 h 149"/>
                  <a:gd name="T22" fmla="*/ 86 w 111"/>
                  <a:gd name="T23" fmla="*/ 117 h 149"/>
                  <a:gd name="T24" fmla="*/ 76 w 111"/>
                  <a:gd name="T25" fmla="*/ 117 h 149"/>
                  <a:gd name="T26" fmla="*/ 63 w 111"/>
                  <a:gd name="T27" fmla="*/ 127 h 149"/>
                  <a:gd name="T28" fmla="*/ 51 w 111"/>
                  <a:gd name="T29" fmla="*/ 149 h 149"/>
                  <a:gd name="T30" fmla="*/ 0 w 111"/>
                  <a:gd name="T31" fmla="*/ 105 h 149"/>
                  <a:gd name="T32" fmla="*/ 26 w 111"/>
                  <a:gd name="T33" fmla="*/ 0 h 149"/>
                  <a:gd name="T34" fmla="*/ 101 w 111"/>
                  <a:gd name="T35" fmla="*/ 13 h 14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0" t="0" r="r" b="b"/>
                <a:pathLst>
                  <a:path w="111" h="149">
                    <a:moveTo>
                      <a:pt x="101" y="13"/>
                    </a:moveTo>
                    <a:lnTo>
                      <a:pt x="101" y="41"/>
                    </a:lnTo>
                    <a:lnTo>
                      <a:pt x="101" y="48"/>
                    </a:lnTo>
                    <a:lnTo>
                      <a:pt x="111" y="70"/>
                    </a:lnTo>
                    <a:lnTo>
                      <a:pt x="108" y="76"/>
                    </a:lnTo>
                    <a:lnTo>
                      <a:pt x="101" y="76"/>
                    </a:lnTo>
                    <a:lnTo>
                      <a:pt x="101" y="89"/>
                    </a:lnTo>
                    <a:lnTo>
                      <a:pt x="95" y="89"/>
                    </a:lnTo>
                    <a:lnTo>
                      <a:pt x="98" y="92"/>
                    </a:lnTo>
                    <a:lnTo>
                      <a:pt x="95" y="105"/>
                    </a:lnTo>
                    <a:lnTo>
                      <a:pt x="92" y="114"/>
                    </a:lnTo>
                    <a:lnTo>
                      <a:pt x="86" y="117"/>
                    </a:lnTo>
                    <a:lnTo>
                      <a:pt x="76" y="117"/>
                    </a:lnTo>
                    <a:lnTo>
                      <a:pt x="63" y="127"/>
                    </a:lnTo>
                    <a:lnTo>
                      <a:pt x="51" y="149"/>
                    </a:lnTo>
                    <a:lnTo>
                      <a:pt x="0" y="105"/>
                    </a:lnTo>
                    <a:lnTo>
                      <a:pt x="26" y="0"/>
                    </a:lnTo>
                    <a:lnTo>
                      <a:pt x="101" y="13"/>
                    </a:lnTo>
                    <a:close/>
                  </a:path>
                </a:pathLst>
              </a:custGeom>
              <a:solidFill>
                <a:srgbClr val="FFA380"/>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2" name="Freeform 132"/>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rgbClr val="8F5B1A"/>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3" name="Freeform 133"/>
              <p:cNvSpPr>
                <a:spLocks/>
              </p:cNvSpPr>
              <p:nvPr/>
            </p:nvSpPr>
            <p:spPr bwMode="auto">
              <a:xfrm>
                <a:off x="568" y="1395"/>
                <a:ext cx="133" cy="124"/>
              </a:xfrm>
              <a:custGeom>
                <a:avLst/>
                <a:gdLst>
                  <a:gd name="T0" fmla="*/ 76 w 133"/>
                  <a:gd name="T1" fmla="*/ 86 h 124"/>
                  <a:gd name="T2" fmla="*/ 67 w 133"/>
                  <a:gd name="T3" fmla="*/ 95 h 124"/>
                  <a:gd name="T4" fmla="*/ 57 w 133"/>
                  <a:gd name="T5" fmla="*/ 120 h 124"/>
                  <a:gd name="T6" fmla="*/ 29 w 133"/>
                  <a:gd name="T7" fmla="*/ 124 h 124"/>
                  <a:gd name="T8" fmla="*/ 16 w 133"/>
                  <a:gd name="T9" fmla="*/ 120 h 124"/>
                  <a:gd name="T10" fmla="*/ 0 w 133"/>
                  <a:gd name="T11" fmla="*/ 63 h 124"/>
                  <a:gd name="T12" fmla="*/ 0 w 133"/>
                  <a:gd name="T13" fmla="*/ 44 h 124"/>
                  <a:gd name="T14" fmla="*/ 16 w 133"/>
                  <a:gd name="T15" fmla="*/ 16 h 124"/>
                  <a:gd name="T16" fmla="*/ 38 w 133"/>
                  <a:gd name="T17" fmla="*/ 0 h 124"/>
                  <a:gd name="T18" fmla="*/ 73 w 133"/>
                  <a:gd name="T19" fmla="*/ 0 h 124"/>
                  <a:gd name="T20" fmla="*/ 108 w 133"/>
                  <a:gd name="T21" fmla="*/ 10 h 124"/>
                  <a:gd name="T22" fmla="*/ 111 w 133"/>
                  <a:gd name="T23" fmla="*/ 19 h 124"/>
                  <a:gd name="T24" fmla="*/ 133 w 133"/>
                  <a:gd name="T25" fmla="*/ 32 h 124"/>
                  <a:gd name="T26" fmla="*/ 133 w 133"/>
                  <a:gd name="T27" fmla="*/ 41 h 124"/>
                  <a:gd name="T28" fmla="*/ 120 w 133"/>
                  <a:gd name="T29" fmla="*/ 51 h 124"/>
                  <a:gd name="T30" fmla="*/ 108 w 133"/>
                  <a:gd name="T31" fmla="*/ 54 h 124"/>
                  <a:gd name="T32" fmla="*/ 98 w 133"/>
                  <a:gd name="T33" fmla="*/ 63 h 124"/>
                  <a:gd name="T34" fmla="*/ 98 w 133"/>
                  <a:gd name="T35" fmla="*/ 86 h 124"/>
                  <a:gd name="T36" fmla="*/ 85 w 133"/>
                  <a:gd name="T37" fmla="*/ 92 h 124"/>
                  <a:gd name="T38" fmla="*/ 76 w 133"/>
                  <a:gd name="T39" fmla="*/ 86 h 124"/>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133" h="124">
                    <a:moveTo>
                      <a:pt x="76" y="86"/>
                    </a:moveTo>
                    <a:lnTo>
                      <a:pt x="67" y="95"/>
                    </a:lnTo>
                    <a:lnTo>
                      <a:pt x="57" y="120"/>
                    </a:lnTo>
                    <a:lnTo>
                      <a:pt x="29" y="124"/>
                    </a:lnTo>
                    <a:lnTo>
                      <a:pt x="16" y="120"/>
                    </a:lnTo>
                    <a:lnTo>
                      <a:pt x="0" y="63"/>
                    </a:lnTo>
                    <a:lnTo>
                      <a:pt x="0" y="44"/>
                    </a:lnTo>
                    <a:lnTo>
                      <a:pt x="16" y="16"/>
                    </a:lnTo>
                    <a:lnTo>
                      <a:pt x="38" y="0"/>
                    </a:lnTo>
                    <a:lnTo>
                      <a:pt x="73" y="0"/>
                    </a:lnTo>
                    <a:lnTo>
                      <a:pt x="108" y="10"/>
                    </a:lnTo>
                    <a:lnTo>
                      <a:pt x="111" y="19"/>
                    </a:lnTo>
                    <a:lnTo>
                      <a:pt x="133" y="32"/>
                    </a:lnTo>
                    <a:lnTo>
                      <a:pt x="133" y="41"/>
                    </a:lnTo>
                    <a:lnTo>
                      <a:pt x="120" y="51"/>
                    </a:lnTo>
                    <a:lnTo>
                      <a:pt x="108" y="54"/>
                    </a:lnTo>
                    <a:lnTo>
                      <a:pt x="98" y="63"/>
                    </a:lnTo>
                    <a:lnTo>
                      <a:pt x="98" y="86"/>
                    </a:lnTo>
                    <a:lnTo>
                      <a:pt x="85" y="92"/>
                    </a:lnTo>
                    <a:lnTo>
                      <a:pt x="76" y="86"/>
                    </a:lnTo>
                    <a:close/>
                  </a:path>
                </a:pathLst>
              </a:custGeom>
              <a:solidFill>
                <a:schemeClr val="tx1"/>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4" name="Freeform 134"/>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135"/>
              <p:cNvSpPr>
                <a:spLocks/>
              </p:cNvSpPr>
              <p:nvPr/>
            </p:nvSpPr>
            <p:spPr bwMode="auto">
              <a:xfrm>
                <a:off x="512" y="1512"/>
                <a:ext cx="327" cy="446"/>
              </a:xfrm>
              <a:custGeom>
                <a:avLst/>
                <a:gdLst>
                  <a:gd name="T0" fmla="*/ 69 w 327"/>
                  <a:gd name="T1" fmla="*/ 0 h 446"/>
                  <a:gd name="T2" fmla="*/ 88 w 327"/>
                  <a:gd name="T3" fmla="*/ 7 h 446"/>
                  <a:gd name="T4" fmla="*/ 100 w 327"/>
                  <a:gd name="T5" fmla="*/ 16 h 446"/>
                  <a:gd name="T6" fmla="*/ 138 w 327"/>
                  <a:gd name="T7" fmla="*/ 67 h 446"/>
                  <a:gd name="T8" fmla="*/ 151 w 327"/>
                  <a:gd name="T9" fmla="*/ 73 h 446"/>
                  <a:gd name="T10" fmla="*/ 157 w 327"/>
                  <a:gd name="T11" fmla="*/ 89 h 446"/>
                  <a:gd name="T12" fmla="*/ 164 w 327"/>
                  <a:gd name="T13" fmla="*/ 111 h 446"/>
                  <a:gd name="T14" fmla="*/ 211 w 327"/>
                  <a:gd name="T15" fmla="*/ 187 h 446"/>
                  <a:gd name="T16" fmla="*/ 217 w 327"/>
                  <a:gd name="T17" fmla="*/ 187 h 446"/>
                  <a:gd name="T18" fmla="*/ 223 w 327"/>
                  <a:gd name="T19" fmla="*/ 187 h 446"/>
                  <a:gd name="T20" fmla="*/ 233 w 327"/>
                  <a:gd name="T21" fmla="*/ 196 h 446"/>
                  <a:gd name="T22" fmla="*/ 296 w 327"/>
                  <a:gd name="T23" fmla="*/ 177 h 446"/>
                  <a:gd name="T24" fmla="*/ 318 w 327"/>
                  <a:gd name="T25" fmla="*/ 196 h 446"/>
                  <a:gd name="T26" fmla="*/ 327 w 327"/>
                  <a:gd name="T27" fmla="*/ 209 h 446"/>
                  <a:gd name="T28" fmla="*/ 264 w 327"/>
                  <a:gd name="T29" fmla="*/ 247 h 446"/>
                  <a:gd name="T30" fmla="*/ 239 w 327"/>
                  <a:gd name="T31" fmla="*/ 256 h 446"/>
                  <a:gd name="T32" fmla="*/ 214 w 327"/>
                  <a:gd name="T33" fmla="*/ 253 h 446"/>
                  <a:gd name="T34" fmla="*/ 217 w 327"/>
                  <a:gd name="T35" fmla="*/ 307 h 446"/>
                  <a:gd name="T36" fmla="*/ 205 w 327"/>
                  <a:gd name="T37" fmla="*/ 358 h 446"/>
                  <a:gd name="T38" fmla="*/ 192 w 327"/>
                  <a:gd name="T39" fmla="*/ 412 h 446"/>
                  <a:gd name="T40" fmla="*/ 170 w 327"/>
                  <a:gd name="T41" fmla="*/ 437 h 446"/>
                  <a:gd name="T42" fmla="*/ 132 w 327"/>
                  <a:gd name="T43" fmla="*/ 446 h 446"/>
                  <a:gd name="T44" fmla="*/ 72 w 327"/>
                  <a:gd name="T45" fmla="*/ 424 h 446"/>
                  <a:gd name="T46" fmla="*/ 72 w 327"/>
                  <a:gd name="T47" fmla="*/ 304 h 446"/>
                  <a:gd name="T48" fmla="*/ 31 w 327"/>
                  <a:gd name="T49" fmla="*/ 351 h 446"/>
                  <a:gd name="T50" fmla="*/ 12 w 327"/>
                  <a:gd name="T51" fmla="*/ 294 h 446"/>
                  <a:gd name="T52" fmla="*/ 3 w 327"/>
                  <a:gd name="T53" fmla="*/ 225 h 446"/>
                  <a:gd name="T54" fmla="*/ 0 w 327"/>
                  <a:gd name="T55" fmla="*/ 158 h 446"/>
                  <a:gd name="T56" fmla="*/ 0 w 327"/>
                  <a:gd name="T57" fmla="*/ 149 h 446"/>
                  <a:gd name="T58" fmla="*/ 3 w 327"/>
                  <a:gd name="T59" fmla="*/ 79 h 446"/>
                  <a:gd name="T60" fmla="*/ 15 w 327"/>
                  <a:gd name="T61" fmla="*/ 38 h 446"/>
                  <a:gd name="T62" fmla="*/ 37 w 327"/>
                  <a:gd name="T63" fmla="*/ 16 h 446"/>
                  <a:gd name="T64" fmla="*/ 56 w 327"/>
                  <a:gd name="T65" fmla="*/ 13 h 446"/>
                  <a:gd name="T66" fmla="*/ 69 w 327"/>
                  <a:gd name="T67" fmla="*/ 0 h 44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327" h="446">
                    <a:moveTo>
                      <a:pt x="69" y="0"/>
                    </a:moveTo>
                    <a:lnTo>
                      <a:pt x="88" y="7"/>
                    </a:lnTo>
                    <a:lnTo>
                      <a:pt x="100" y="16"/>
                    </a:lnTo>
                    <a:lnTo>
                      <a:pt x="138" y="67"/>
                    </a:lnTo>
                    <a:lnTo>
                      <a:pt x="151" y="73"/>
                    </a:lnTo>
                    <a:lnTo>
                      <a:pt x="157" y="89"/>
                    </a:lnTo>
                    <a:lnTo>
                      <a:pt x="164" y="111"/>
                    </a:lnTo>
                    <a:lnTo>
                      <a:pt x="211" y="187"/>
                    </a:lnTo>
                    <a:lnTo>
                      <a:pt x="217" y="187"/>
                    </a:lnTo>
                    <a:lnTo>
                      <a:pt x="223" y="187"/>
                    </a:lnTo>
                    <a:lnTo>
                      <a:pt x="233" y="196"/>
                    </a:lnTo>
                    <a:lnTo>
                      <a:pt x="296" y="177"/>
                    </a:lnTo>
                    <a:lnTo>
                      <a:pt x="318" y="196"/>
                    </a:lnTo>
                    <a:lnTo>
                      <a:pt x="327" y="209"/>
                    </a:lnTo>
                    <a:lnTo>
                      <a:pt x="264" y="247"/>
                    </a:lnTo>
                    <a:lnTo>
                      <a:pt x="239" y="256"/>
                    </a:lnTo>
                    <a:lnTo>
                      <a:pt x="214" y="253"/>
                    </a:lnTo>
                    <a:lnTo>
                      <a:pt x="217" y="307"/>
                    </a:lnTo>
                    <a:lnTo>
                      <a:pt x="205" y="358"/>
                    </a:lnTo>
                    <a:lnTo>
                      <a:pt x="192" y="412"/>
                    </a:lnTo>
                    <a:lnTo>
                      <a:pt x="170" y="437"/>
                    </a:lnTo>
                    <a:lnTo>
                      <a:pt x="132" y="446"/>
                    </a:lnTo>
                    <a:lnTo>
                      <a:pt x="72" y="424"/>
                    </a:lnTo>
                    <a:lnTo>
                      <a:pt x="72" y="304"/>
                    </a:lnTo>
                    <a:lnTo>
                      <a:pt x="31" y="351"/>
                    </a:lnTo>
                    <a:lnTo>
                      <a:pt x="12" y="294"/>
                    </a:lnTo>
                    <a:lnTo>
                      <a:pt x="3" y="225"/>
                    </a:lnTo>
                    <a:lnTo>
                      <a:pt x="0" y="158"/>
                    </a:lnTo>
                    <a:lnTo>
                      <a:pt x="0" y="149"/>
                    </a:lnTo>
                    <a:lnTo>
                      <a:pt x="3" y="79"/>
                    </a:lnTo>
                    <a:lnTo>
                      <a:pt x="15" y="38"/>
                    </a:lnTo>
                    <a:lnTo>
                      <a:pt x="37" y="16"/>
                    </a:lnTo>
                    <a:lnTo>
                      <a:pt x="56" y="13"/>
                    </a:lnTo>
                    <a:lnTo>
                      <a:pt x="69" y="0"/>
                    </a:lnTo>
                    <a:close/>
                  </a:path>
                </a:pathLst>
              </a:custGeom>
              <a:solidFill>
                <a:srgbClr val="626248"/>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136"/>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137"/>
              <p:cNvSpPr>
                <a:spLocks/>
              </p:cNvSpPr>
              <p:nvPr/>
            </p:nvSpPr>
            <p:spPr bwMode="auto">
              <a:xfrm>
                <a:off x="480" y="1712"/>
                <a:ext cx="136" cy="243"/>
              </a:xfrm>
              <a:custGeom>
                <a:avLst/>
                <a:gdLst>
                  <a:gd name="T0" fmla="*/ 104 w 136"/>
                  <a:gd name="T1" fmla="*/ 104 h 243"/>
                  <a:gd name="T2" fmla="*/ 88 w 136"/>
                  <a:gd name="T3" fmla="*/ 66 h 243"/>
                  <a:gd name="T4" fmla="*/ 79 w 136"/>
                  <a:gd name="T5" fmla="*/ 44 h 243"/>
                  <a:gd name="T6" fmla="*/ 35 w 136"/>
                  <a:gd name="T7" fmla="*/ 19 h 243"/>
                  <a:gd name="T8" fmla="*/ 16 w 136"/>
                  <a:gd name="T9" fmla="*/ 0 h 243"/>
                  <a:gd name="T10" fmla="*/ 3 w 136"/>
                  <a:gd name="T11" fmla="*/ 3 h 243"/>
                  <a:gd name="T12" fmla="*/ 0 w 136"/>
                  <a:gd name="T13" fmla="*/ 6 h 243"/>
                  <a:gd name="T14" fmla="*/ 22 w 136"/>
                  <a:gd name="T15" fmla="*/ 63 h 243"/>
                  <a:gd name="T16" fmla="*/ 76 w 136"/>
                  <a:gd name="T17" fmla="*/ 218 h 243"/>
                  <a:gd name="T18" fmla="*/ 136 w 136"/>
                  <a:gd name="T19" fmla="*/ 243 h 243"/>
                  <a:gd name="T20" fmla="*/ 132 w 136"/>
                  <a:gd name="T21" fmla="*/ 174 h 243"/>
                  <a:gd name="T22" fmla="*/ 104 w 136"/>
                  <a:gd name="T23" fmla="*/ 104 h 243"/>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6" h="243">
                    <a:moveTo>
                      <a:pt x="104" y="104"/>
                    </a:moveTo>
                    <a:lnTo>
                      <a:pt x="88" y="66"/>
                    </a:lnTo>
                    <a:lnTo>
                      <a:pt x="79" y="44"/>
                    </a:lnTo>
                    <a:lnTo>
                      <a:pt x="35" y="19"/>
                    </a:lnTo>
                    <a:lnTo>
                      <a:pt x="16" y="0"/>
                    </a:lnTo>
                    <a:lnTo>
                      <a:pt x="3" y="3"/>
                    </a:lnTo>
                    <a:lnTo>
                      <a:pt x="0" y="6"/>
                    </a:lnTo>
                    <a:lnTo>
                      <a:pt x="22" y="63"/>
                    </a:lnTo>
                    <a:lnTo>
                      <a:pt x="76" y="218"/>
                    </a:lnTo>
                    <a:lnTo>
                      <a:pt x="136" y="243"/>
                    </a:lnTo>
                    <a:lnTo>
                      <a:pt x="132" y="174"/>
                    </a:lnTo>
                    <a:lnTo>
                      <a:pt x="104" y="104"/>
                    </a:lnTo>
                    <a:close/>
                  </a:path>
                </a:pathLst>
              </a:custGeom>
              <a:solidFill>
                <a:srgbClr val="004EFF"/>
              </a:solidFill>
              <a:ln w="4763">
                <a:solidFill>
                  <a:srgbClr val="000000"/>
                </a:solidFill>
                <a:prstDash val="solid"/>
                <a:round/>
                <a:headEnd/>
                <a:tailEnd/>
              </a:ln>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16" name="Rectangle 138"/>
            <p:cNvSpPr>
              <a:spLocks noChangeArrowheads="1"/>
            </p:cNvSpPr>
            <p:nvPr/>
          </p:nvSpPr>
          <p:spPr bwMode="auto">
            <a:xfrm>
              <a:off x="1593270" y="1916832"/>
              <a:ext cx="1640681" cy="2409825"/>
            </a:xfrm>
            <a:prstGeom prst="rect">
              <a:avLst/>
            </a:prstGeom>
            <a:solidFill>
              <a:srgbClr val="0000FF"/>
            </a:solidFill>
            <a:ln w="9525">
              <a:no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7" name="Line 139"/>
            <p:cNvSpPr>
              <a:spLocks noChangeShapeType="1"/>
            </p:cNvSpPr>
            <p:nvPr/>
          </p:nvSpPr>
          <p:spPr bwMode="auto">
            <a:xfrm>
              <a:off x="1046376" y="2288306"/>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18" name="Text Box 140"/>
            <p:cNvSpPr txBox="1">
              <a:spLocks noChangeArrowheads="1"/>
            </p:cNvSpPr>
            <p:nvPr/>
          </p:nvSpPr>
          <p:spPr bwMode="auto">
            <a:xfrm>
              <a:off x="1678699" y="4337766"/>
              <a:ext cx="139191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客户端</a:t>
              </a:r>
            </a:p>
          </p:txBody>
        </p:sp>
        <p:sp>
          <p:nvSpPr>
            <p:cNvPr id="119" name="Text Box 141"/>
            <p:cNvSpPr txBox="1">
              <a:spLocks noChangeArrowheads="1"/>
            </p:cNvSpPr>
            <p:nvPr/>
          </p:nvSpPr>
          <p:spPr bwMode="auto">
            <a:xfrm>
              <a:off x="6927924" y="4337766"/>
              <a:ext cx="1616985"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FTP </a:t>
              </a:r>
              <a:r>
                <a:rPr kumimoji="1" lang="zh-CN" altLang="en-US" sz="1400" dirty="0">
                  <a:latin typeface="Montserrat" panose="00000500000000000000" pitchFamily="2" charset="0"/>
                  <a:ea typeface="微软雅黑 Light" panose="020B0502040204020203" pitchFamily="34" charset="-122"/>
                </a:rPr>
                <a:t>服务器端</a:t>
              </a:r>
            </a:p>
          </p:txBody>
        </p:sp>
        <p:sp>
          <p:nvSpPr>
            <p:cNvPr id="120" name="AutoShape 142"/>
            <p:cNvSpPr>
              <a:spLocks noChangeArrowheads="1"/>
            </p:cNvSpPr>
            <p:nvPr/>
          </p:nvSpPr>
          <p:spPr bwMode="auto">
            <a:xfrm>
              <a:off x="408334" y="3399557"/>
              <a:ext cx="638042"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1" name="Line 143"/>
            <p:cNvSpPr>
              <a:spLocks noChangeShapeType="1"/>
            </p:cNvSpPr>
            <p:nvPr/>
          </p:nvSpPr>
          <p:spPr bwMode="auto">
            <a:xfrm>
              <a:off x="1046376" y="3817068"/>
              <a:ext cx="638043"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2" name="Line 144"/>
            <p:cNvSpPr>
              <a:spLocks noChangeShapeType="1"/>
            </p:cNvSpPr>
            <p:nvPr/>
          </p:nvSpPr>
          <p:spPr bwMode="auto">
            <a:xfrm>
              <a:off x="8429442" y="3817068"/>
              <a:ext cx="638042" cy="0"/>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3" name="AutoShape 145"/>
            <p:cNvSpPr>
              <a:spLocks noChangeArrowheads="1"/>
            </p:cNvSpPr>
            <p:nvPr/>
          </p:nvSpPr>
          <p:spPr bwMode="auto">
            <a:xfrm>
              <a:off x="9067485" y="3399557"/>
              <a:ext cx="638043" cy="835025"/>
            </a:xfrm>
            <a:prstGeom prst="can">
              <a:avLst>
                <a:gd name="adj" fmla="val 35445"/>
              </a:avLst>
            </a:prstGeom>
            <a:gradFill rotWithShape="1">
              <a:gsLst>
                <a:gs pos="0">
                  <a:srgbClr val="0070C0"/>
                </a:gs>
                <a:gs pos="50000">
                  <a:srgbClr val="00FFCC"/>
                </a:gs>
                <a:gs pos="100000">
                  <a:srgbClr val="0070C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4" name="Line 146"/>
            <p:cNvSpPr>
              <a:spLocks noChangeShapeType="1"/>
            </p:cNvSpPr>
            <p:nvPr/>
          </p:nvSpPr>
          <p:spPr bwMode="auto">
            <a:xfrm>
              <a:off x="3051653" y="3863106"/>
              <a:ext cx="4010554" cy="0"/>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25" name="Line 147"/>
            <p:cNvSpPr>
              <a:spLocks noChangeShapeType="1"/>
            </p:cNvSpPr>
            <p:nvPr/>
          </p:nvSpPr>
          <p:spPr bwMode="auto">
            <a:xfrm>
              <a:off x="3051653" y="3029668"/>
              <a:ext cx="4010554" cy="0"/>
            </a:xfrm>
            <a:prstGeom prst="line">
              <a:avLst/>
            </a:prstGeom>
            <a:noFill/>
            <a:ln w="38100">
              <a:solidFill>
                <a:srgbClr val="FF6600"/>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126" name="Object 148"/>
            <p:cNvGraphicFramePr>
              <a:graphicFrameLocks noChangeAspect="1"/>
            </p:cNvGraphicFramePr>
            <p:nvPr>
              <p:extLst>
                <p:ext uri="{D42A27DB-BD31-4B8C-83A1-F6EECF244321}">
                  <p14:modId xmlns:p14="http://schemas.microsoft.com/office/powerpoint/2010/main" val="2097526836"/>
                </p:ext>
              </p:extLst>
            </p:nvPr>
          </p:nvGraphicFramePr>
          <p:xfrm>
            <a:off x="3871995" y="2658193"/>
            <a:ext cx="2369873" cy="1746250"/>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4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71995" y="2658193"/>
                          <a:ext cx="2369873" cy="1746250"/>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27" name="Text Box 149"/>
            <p:cNvSpPr txBox="1">
              <a:spLocks noChangeArrowheads="1"/>
            </p:cNvSpPr>
            <p:nvPr/>
          </p:nvSpPr>
          <p:spPr bwMode="auto">
            <a:xfrm>
              <a:off x="4611580" y="3310268"/>
              <a:ext cx="810261" cy="347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0000FF"/>
                  </a:solidFill>
                  <a:latin typeface="Montserrat" panose="00000500000000000000" pitchFamily="2" charset="0"/>
                  <a:ea typeface="微软雅黑 Light" panose="020B0502040204020203" pitchFamily="34" charset="-122"/>
                </a:rPr>
                <a:t>互联网</a:t>
              </a:r>
            </a:p>
          </p:txBody>
        </p:sp>
        <p:sp>
          <p:nvSpPr>
            <p:cNvPr id="128" name="Text Box 150"/>
            <p:cNvSpPr txBox="1">
              <a:spLocks noChangeArrowheads="1"/>
            </p:cNvSpPr>
            <p:nvPr/>
          </p:nvSpPr>
          <p:spPr bwMode="auto">
            <a:xfrm>
              <a:off x="4113857" y="2020018"/>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0000FF"/>
                  </a:solidFill>
                  <a:latin typeface="Montserrat" panose="00000500000000000000" pitchFamily="2" charset="0"/>
                  <a:ea typeface="微软雅黑 Light" panose="020B0502040204020203" pitchFamily="34" charset="-122"/>
                </a:rPr>
                <a:t>TCP </a:t>
              </a:r>
              <a:r>
                <a:rPr kumimoji="1" lang="zh-CN" altLang="en-US" sz="1400" dirty="0">
                  <a:solidFill>
                    <a:srgbClr val="0000FF"/>
                  </a:solidFill>
                  <a:latin typeface="Montserrat" panose="00000500000000000000" pitchFamily="2" charset="0"/>
                  <a:ea typeface="微软雅黑 Light" panose="020B0502040204020203" pitchFamily="34" charset="-122"/>
                </a:rPr>
                <a:t>控制连接</a:t>
              </a:r>
            </a:p>
          </p:txBody>
        </p:sp>
        <p:sp>
          <p:nvSpPr>
            <p:cNvPr id="129" name="Text Box 151"/>
            <p:cNvSpPr txBox="1">
              <a:spLocks noChangeArrowheads="1"/>
            </p:cNvSpPr>
            <p:nvPr/>
          </p:nvSpPr>
          <p:spPr bwMode="auto">
            <a:xfrm>
              <a:off x="4209227" y="4593355"/>
              <a:ext cx="1629443" cy="38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solidFill>
                    <a:srgbClr val="CC00CC"/>
                  </a:solidFill>
                  <a:latin typeface="Montserrat" panose="00000500000000000000" pitchFamily="2" charset="0"/>
                  <a:ea typeface="微软雅黑 Light" panose="020B0502040204020203" pitchFamily="34" charset="-122"/>
                </a:rPr>
                <a:t>TCP </a:t>
              </a:r>
              <a:r>
                <a:rPr kumimoji="1" lang="zh-CN" altLang="en-US" sz="1400" dirty="0">
                  <a:solidFill>
                    <a:srgbClr val="CC00CC"/>
                  </a:solidFill>
                  <a:latin typeface="Montserrat" panose="00000500000000000000" pitchFamily="2" charset="0"/>
                  <a:ea typeface="微软雅黑 Light" panose="020B0502040204020203" pitchFamily="34" charset="-122"/>
                </a:rPr>
                <a:t>数据连接</a:t>
              </a:r>
            </a:p>
          </p:txBody>
        </p:sp>
        <p:sp>
          <p:nvSpPr>
            <p:cNvPr id="130" name="Line 152"/>
            <p:cNvSpPr>
              <a:spLocks noChangeShapeType="1"/>
            </p:cNvSpPr>
            <p:nvPr/>
          </p:nvSpPr>
          <p:spPr bwMode="auto">
            <a:xfrm flipH="1" flipV="1">
              <a:off x="3689696" y="3863107"/>
              <a:ext cx="100263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1" name="Line 153"/>
            <p:cNvSpPr>
              <a:spLocks noChangeShapeType="1"/>
            </p:cNvSpPr>
            <p:nvPr/>
          </p:nvSpPr>
          <p:spPr bwMode="auto">
            <a:xfrm flipV="1">
              <a:off x="5330377" y="3863107"/>
              <a:ext cx="1093788" cy="649287"/>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2" name="Line 154"/>
            <p:cNvSpPr>
              <a:spLocks noChangeShapeType="1"/>
            </p:cNvSpPr>
            <p:nvPr/>
          </p:nvSpPr>
          <p:spPr bwMode="auto">
            <a:xfrm>
              <a:off x="5239228" y="2472456"/>
              <a:ext cx="1184937"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3" name="Line 155"/>
            <p:cNvSpPr>
              <a:spLocks noChangeShapeType="1"/>
            </p:cNvSpPr>
            <p:nvPr/>
          </p:nvSpPr>
          <p:spPr bwMode="auto">
            <a:xfrm flipH="1">
              <a:off x="3598546" y="2472456"/>
              <a:ext cx="1093788" cy="557212"/>
            </a:xfrm>
            <a:prstGeom prst="line">
              <a:avLst/>
            </a:prstGeom>
            <a:noFill/>
            <a:ln w="1270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4" name="Oval 156"/>
            <p:cNvSpPr>
              <a:spLocks noChangeArrowheads="1"/>
            </p:cNvSpPr>
            <p:nvPr/>
          </p:nvSpPr>
          <p:spPr bwMode="auto">
            <a:xfrm>
              <a:off x="1684419" y="2008906"/>
              <a:ext cx="1367234" cy="557212"/>
            </a:xfrm>
            <a:prstGeom prst="ellipse">
              <a:avLst/>
            </a:prstGeom>
            <a:solidFill>
              <a:srgbClr val="00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用户界面</a:t>
              </a:r>
            </a:p>
          </p:txBody>
        </p:sp>
        <p:sp>
          <p:nvSpPr>
            <p:cNvPr id="135" name="Line 157"/>
            <p:cNvSpPr>
              <a:spLocks noChangeShapeType="1"/>
            </p:cNvSpPr>
            <p:nvPr/>
          </p:nvSpPr>
          <p:spPr bwMode="auto">
            <a:xfrm>
              <a:off x="2413611"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6" name="Oval 158"/>
            <p:cNvSpPr>
              <a:spLocks noChangeArrowheads="1"/>
            </p:cNvSpPr>
            <p:nvPr/>
          </p:nvSpPr>
          <p:spPr bwMode="auto">
            <a:xfrm>
              <a:off x="1684419" y="2750269"/>
              <a:ext cx="1367234" cy="557213"/>
            </a:xfrm>
            <a:prstGeom prst="ellipse">
              <a:avLst/>
            </a:prstGeom>
            <a:solidFill>
              <a:srgbClr val="99FFCC"/>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控制进程</a:t>
              </a:r>
            </a:p>
          </p:txBody>
        </p:sp>
        <p:sp>
          <p:nvSpPr>
            <p:cNvPr id="137" name="Oval 159"/>
            <p:cNvSpPr>
              <a:spLocks noChangeArrowheads="1"/>
            </p:cNvSpPr>
            <p:nvPr/>
          </p:nvSpPr>
          <p:spPr bwMode="auto">
            <a:xfrm>
              <a:off x="1684419" y="3493219"/>
              <a:ext cx="1367234" cy="741363"/>
            </a:xfrm>
            <a:prstGeom prst="ellipse">
              <a:avLst/>
            </a:prstGeom>
            <a:solidFill>
              <a:srgbClr val="66FF66"/>
            </a:solidFill>
            <a:ln w="9525">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38" name="Line 160"/>
            <p:cNvSpPr>
              <a:spLocks noChangeShapeType="1"/>
            </p:cNvSpPr>
            <p:nvPr/>
          </p:nvSpPr>
          <p:spPr bwMode="auto">
            <a:xfrm>
              <a:off x="7791399" y="3307481"/>
              <a:ext cx="0" cy="277812"/>
            </a:xfrm>
            <a:prstGeom prst="line">
              <a:avLst/>
            </a:prstGeom>
            <a:noFill/>
            <a:ln w="38100">
              <a:solidFill>
                <a:srgbClr val="00B0F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Oval 161"/>
            <p:cNvSpPr>
              <a:spLocks noChangeArrowheads="1"/>
            </p:cNvSpPr>
            <p:nvPr/>
          </p:nvSpPr>
          <p:spPr bwMode="auto">
            <a:xfrm>
              <a:off x="7062207" y="3493219"/>
              <a:ext cx="1367235" cy="741363"/>
            </a:xfrm>
            <a:prstGeom prst="ellipse">
              <a:avLst/>
            </a:prstGeom>
            <a:solidFill>
              <a:srgbClr val="66FF66"/>
            </a:solidFill>
            <a:ln w="9525" algn="ctr">
              <a:noFill/>
              <a:round/>
              <a:headEnd/>
              <a:tailEnd/>
            </a:ln>
            <a:effectLst/>
          </p:spPr>
          <p:txBody>
            <a:bodyPr wrap="none" anchor="ctr"/>
            <a:lstStyle/>
            <a:p>
              <a:pPr algn="ctr" eaLnBrk="1" hangingPunct="1"/>
              <a:r>
                <a:rPr kumimoji="1" lang="zh-CN" altLang="en-US" sz="1200" dirty="0">
                  <a:latin typeface="Montserrat" panose="00000500000000000000" pitchFamily="2" charset="0"/>
                  <a:ea typeface="微软雅黑 Light" panose="020B0502040204020203" pitchFamily="34" charset="-122"/>
                </a:rPr>
                <a:t>数据传送</a:t>
              </a:r>
            </a:p>
            <a:p>
              <a:pPr algn="ctr" eaLnBrk="1" hangingPunct="1"/>
              <a:r>
                <a:rPr kumimoji="1" lang="zh-CN" altLang="en-US" sz="1200" dirty="0">
                  <a:latin typeface="Montserrat" panose="00000500000000000000" pitchFamily="2" charset="0"/>
                  <a:ea typeface="微软雅黑 Light" panose="020B0502040204020203" pitchFamily="34" charset="-122"/>
                </a:rPr>
                <a:t>进程</a:t>
              </a:r>
            </a:p>
          </p:txBody>
        </p:sp>
        <p:sp>
          <p:nvSpPr>
            <p:cNvPr id="140" name="Oval 161"/>
            <p:cNvSpPr>
              <a:spLocks noChangeArrowheads="1"/>
            </p:cNvSpPr>
            <p:nvPr/>
          </p:nvSpPr>
          <p:spPr bwMode="auto">
            <a:xfrm>
              <a:off x="8167270" y="3344333"/>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sp>
          <p:nvSpPr>
            <p:cNvPr id="141" name="Oval 161"/>
            <p:cNvSpPr>
              <a:spLocks noChangeArrowheads="1"/>
            </p:cNvSpPr>
            <p:nvPr/>
          </p:nvSpPr>
          <p:spPr bwMode="auto">
            <a:xfrm>
              <a:off x="8234101" y="4022938"/>
              <a:ext cx="377639" cy="286999"/>
            </a:xfrm>
            <a:prstGeom prst="ellipse">
              <a:avLst/>
            </a:prstGeom>
            <a:solidFill>
              <a:srgbClr val="66FF66"/>
            </a:solidFill>
            <a:ln w="9525" algn="ctr">
              <a:noFill/>
              <a:round/>
              <a:headEnd/>
              <a:tailEnd/>
            </a:ln>
            <a:effectLst/>
          </p:spPr>
          <p:txBody>
            <a:bodyPr wrap="none" anchor="ctr"/>
            <a:lstStyle/>
            <a:p>
              <a:pPr algn="ctr" eaLnBrk="1" hangingPunct="1"/>
              <a:endParaRPr kumimoji="1" lang="zh-CN" altLang="en-US" sz="1200" dirty="0">
                <a:latin typeface="Montserrat" panose="00000500000000000000" pitchFamily="2" charset="0"/>
                <a:ea typeface="微软雅黑 Light" panose="020B0502040204020203" pitchFamily="34" charset="-122"/>
              </a:endParaRPr>
            </a:p>
          </p:txBody>
        </p:sp>
      </p:grpSp>
      <p:sp>
        <p:nvSpPr>
          <p:cNvPr id="3" name="矩形 2"/>
          <p:cNvSpPr/>
          <p:nvPr/>
        </p:nvSpPr>
        <p:spPr>
          <a:xfrm>
            <a:off x="5758298" y="2102452"/>
            <a:ext cx="377026"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21</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sp>
        <p:nvSpPr>
          <p:cNvPr id="142" name="矩形 141"/>
          <p:cNvSpPr/>
          <p:nvPr/>
        </p:nvSpPr>
        <p:spPr>
          <a:xfrm>
            <a:off x="5758298" y="2759387"/>
            <a:ext cx="437940" cy="338554"/>
          </a:xfrm>
          <a:prstGeom prst="rect">
            <a:avLst/>
          </a:prstGeom>
        </p:spPr>
        <p:txBody>
          <a:bodyPr wrap="none">
            <a:spAutoFit/>
          </a:bodyPr>
          <a:lstStyle/>
          <a:p>
            <a:r>
              <a:rPr lang="en-US" altLang="zh-CN" sz="1600" dirty="0">
                <a:solidFill>
                  <a:srgbClr val="C00000"/>
                </a:solidFill>
                <a:latin typeface="Montserrat" panose="00000500000000000000" pitchFamily="2" charset="0"/>
                <a:ea typeface="微软雅黑 Light" panose="020B0502040204020203" pitchFamily="34" charset="-122"/>
              </a:rPr>
              <a:t>20</a:t>
            </a:r>
            <a:endParaRPr lang="zh-CN" altLang="en-US" sz="1600" dirty="0">
              <a:solidFill>
                <a:srgbClr val="C00000"/>
              </a:solidFill>
              <a:latin typeface="Montserrat" panose="00000500000000000000" pitchFamily="2" charset="0"/>
              <a:ea typeface="微软雅黑 Light" panose="020B0502040204020203" pitchFamily="34" charset="-122"/>
            </a:endParaRPr>
          </a:p>
        </p:txBody>
      </p:sp>
      <p:grpSp>
        <p:nvGrpSpPr>
          <p:cNvPr id="17" name="组合 16"/>
          <p:cNvGrpSpPr/>
          <p:nvPr/>
        </p:nvGrpSpPr>
        <p:grpSpPr>
          <a:xfrm>
            <a:off x="4725624" y="1032110"/>
            <a:ext cx="2391084" cy="1344396"/>
            <a:chOff x="4725624" y="1040988"/>
            <a:chExt cx="2391084" cy="1344396"/>
          </a:xfrm>
        </p:grpSpPr>
        <p:sp>
          <p:nvSpPr>
            <p:cNvPr id="4" name="矩形 3"/>
            <p:cNvSpPr/>
            <p:nvPr/>
          </p:nvSpPr>
          <p:spPr>
            <a:xfrm>
              <a:off x="4725624" y="1040988"/>
              <a:ext cx="239108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在整个会话期间一直保持打开。</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传输 </a:t>
              </a:r>
              <a:r>
                <a:rPr lang="en-US" altLang="zh-CN" sz="1200" dirty="0">
                  <a:latin typeface="Montserrat" panose="00000500000000000000" pitchFamily="2" charset="0"/>
                  <a:ea typeface="微软雅黑 Light" panose="020B0502040204020203" pitchFamily="34" charset="-122"/>
                </a:rPr>
                <a:t>FTP </a:t>
              </a:r>
              <a:r>
                <a:rPr lang="zh-CN" altLang="en-US" sz="1200" dirty="0">
                  <a:latin typeface="Montserrat" panose="00000500000000000000" pitchFamily="2" charset="0"/>
                  <a:ea typeface="微软雅黑 Light" panose="020B0502040204020203" pitchFamily="34" charset="-122"/>
                </a:rPr>
                <a:t>客户发出的传送请求。</a:t>
              </a:r>
            </a:p>
          </p:txBody>
        </p:sp>
        <p:cxnSp>
          <p:nvCxnSpPr>
            <p:cNvPr id="7" name="直接箭头连接符 6"/>
            <p:cNvCxnSpPr/>
            <p:nvPr/>
          </p:nvCxnSpPr>
          <p:spPr>
            <a:xfrm>
              <a:off x="5463220" y="1491442"/>
              <a:ext cx="327934" cy="893942"/>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8" name="组合 17"/>
          <p:cNvGrpSpPr/>
          <p:nvPr/>
        </p:nvGrpSpPr>
        <p:grpSpPr>
          <a:xfrm>
            <a:off x="5863994" y="1579885"/>
            <a:ext cx="2600659" cy="722473"/>
            <a:chOff x="5863994" y="1588763"/>
            <a:chExt cx="2600659" cy="722473"/>
          </a:xfrm>
        </p:grpSpPr>
        <p:sp>
          <p:nvSpPr>
            <p:cNvPr id="144" name="矩形 143"/>
            <p:cNvSpPr/>
            <p:nvPr/>
          </p:nvSpPr>
          <p:spPr>
            <a:xfrm>
              <a:off x="5863994" y="1588763"/>
              <a:ext cx="2600659"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收到客户连接请求后有主进程创建。</a:t>
              </a:r>
            </a:p>
          </p:txBody>
        </p:sp>
        <p:cxnSp>
          <p:nvCxnSpPr>
            <p:cNvPr id="145" name="直接箭头连接符 144"/>
            <p:cNvCxnSpPr/>
            <p:nvPr/>
          </p:nvCxnSpPr>
          <p:spPr>
            <a:xfrm flipH="1">
              <a:off x="6916110" y="1849446"/>
              <a:ext cx="70444" cy="46179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4847067" y="3159212"/>
            <a:ext cx="3688804" cy="1224795"/>
            <a:chOff x="4847067" y="3168090"/>
            <a:chExt cx="3688804" cy="1224795"/>
          </a:xfrm>
        </p:grpSpPr>
        <p:sp>
          <p:nvSpPr>
            <p:cNvPr id="5" name="矩形 4"/>
            <p:cNvSpPr/>
            <p:nvPr/>
          </p:nvSpPr>
          <p:spPr>
            <a:xfrm>
              <a:off x="4847067" y="3931220"/>
              <a:ext cx="3688804" cy="461665"/>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收到客户发送来的文件传输请求后由控制进程创建。</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实际完成文件的传送。传送完毕后关闭。</a:t>
              </a:r>
            </a:p>
          </p:txBody>
        </p:sp>
        <p:cxnSp>
          <p:nvCxnSpPr>
            <p:cNvPr id="146" name="直接箭头连接符 145"/>
            <p:cNvCxnSpPr/>
            <p:nvPr/>
          </p:nvCxnSpPr>
          <p:spPr>
            <a:xfrm flipV="1">
              <a:off x="5690124" y="3168090"/>
              <a:ext cx="703584" cy="794398"/>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grpSp>
        <p:nvGrpSpPr>
          <p:cNvPr id="20" name="组合 19"/>
          <p:cNvGrpSpPr/>
          <p:nvPr/>
        </p:nvGrpSpPr>
        <p:grpSpPr>
          <a:xfrm>
            <a:off x="1252514" y="3108857"/>
            <a:ext cx="2886864" cy="1145709"/>
            <a:chOff x="1252514" y="3117735"/>
            <a:chExt cx="2886864" cy="1145709"/>
          </a:xfrm>
        </p:grpSpPr>
        <p:sp>
          <p:nvSpPr>
            <p:cNvPr id="143" name="矩形 142"/>
            <p:cNvSpPr/>
            <p:nvPr/>
          </p:nvSpPr>
          <p:spPr>
            <a:xfrm>
              <a:off x="1252514" y="3986445"/>
              <a:ext cx="2886864"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动态创建。传输文件。传送完毕后释放。</a:t>
              </a:r>
              <a:endParaRPr lang="en-US" altLang="zh-CN" sz="1200" dirty="0">
                <a:latin typeface="Montserrat" panose="00000500000000000000" pitchFamily="2" charset="0"/>
                <a:ea typeface="微软雅黑 Light" panose="020B0502040204020203" pitchFamily="34" charset="-122"/>
              </a:endParaRPr>
            </a:p>
          </p:txBody>
        </p:sp>
        <p:cxnSp>
          <p:nvCxnSpPr>
            <p:cNvPr id="147" name="直接箭头连接符 146"/>
            <p:cNvCxnSpPr/>
            <p:nvPr/>
          </p:nvCxnSpPr>
          <p:spPr>
            <a:xfrm flipV="1">
              <a:off x="3223892" y="3117735"/>
              <a:ext cx="241530" cy="868710"/>
            </a:xfrm>
            <a:prstGeom prst="straightConnector1">
              <a:avLst/>
            </a:prstGeom>
            <a:ln w="9525">
              <a:tailEnd type="triangle"/>
            </a:ln>
          </p:spPr>
          <p:style>
            <a:lnRef idx="1">
              <a:schemeClr val="dk1"/>
            </a:lnRef>
            <a:fillRef idx="0">
              <a:schemeClr val="dk1"/>
            </a:fillRef>
            <a:effectRef idx="0">
              <a:schemeClr val="dk1"/>
            </a:effectRef>
            <a:fontRef idx="minor">
              <a:schemeClr val="tx1"/>
            </a:fontRef>
          </p:style>
        </p:cxnSp>
      </p:grpSp>
      <p:sp>
        <p:nvSpPr>
          <p:cNvPr id="6" name="标题 5">
            <a:extLst>
              <a:ext uri="{FF2B5EF4-FFF2-40B4-BE49-F238E27FC236}">
                <a16:creationId xmlns:a16="http://schemas.microsoft.com/office/drawing/2014/main" id="{C488C777-5E43-E969-37EC-839A67746B7E}"/>
              </a:ext>
            </a:extLst>
          </p:cNvPr>
          <p:cNvSpPr>
            <a:spLocks noGrp="1"/>
          </p:cNvSpPr>
          <p:nvPr>
            <p:ph type="title"/>
          </p:nvPr>
        </p:nvSpPr>
        <p:spPr>
          <a:xfrm>
            <a:off x="2880000" y="144000"/>
            <a:ext cx="3384000" cy="338554"/>
          </a:xfrm>
        </p:spPr>
        <p:txBody>
          <a:bodyPr/>
          <a:lstStyle/>
          <a:p>
            <a:r>
              <a:rPr lang="en-US" altLang="zh-CN" dirty="0"/>
              <a:t>FTP </a:t>
            </a:r>
            <a:r>
              <a:rPr lang="zh-CN" altLang="en-US" dirty="0"/>
              <a:t>使用两个不同的端口号</a:t>
            </a:r>
          </a:p>
        </p:txBody>
      </p:sp>
    </p:spTree>
    <p:extLst>
      <p:ext uri="{BB962C8B-B14F-4D97-AF65-F5344CB8AC3E}">
        <p14:creationId xmlns:p14="http://schemas.microsoft.com/office/powerpoint/2010/main" val="5206649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142"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C0F3D33-5D01-0691-169C-68DFDF4DA179}"/>
              </a:ext>
            </a:extLst>
          </p:cNvPr>
          <p:cNvSpPr>
            <a:spLocks noGrp="1"/>
          </p:cNvSpPr>
          <p:nvPr>
            <p:ph type="title"/>
          </p:nvPr>
        </p:nvSpPr>
        <p:spPr>
          <a:xfrm>
            <a:off x="485999" y="174482"/>
            <a:ext cx="8171999" cy="338554"/>
          </a:xfrm>
        </p:spPr>
        <p:txBody>
          <a:bodyPr/>
          <a:lstStyle/>
          <a:p>
            <a:r>
              <a:rPr lang="en-US" altLang="zh-CN" dirty="0"/>
              <a:t>NFS </a:t>
            </a:r>
            <a:r>
              <a:rPr lang="zh-CN" altLang="en-US" dirty="0"/>
              <a:t>采用的思路</a:t>
            </a:r>
          </a:p>
        </p:txBody>
      </p:sp>
      <p:sp>
        <p:nvSpPr>
          <p:cNvPr id="3" name="内容占位符 2">
            <a:extLst>
              <a:ext uri="{FF2B5EF4-FFF2-40B4-BE49-F238E27FC236}">
                <a16:creationId xmlns:a16="http://schemas.microsoft.com/office/drawing/2014/main" id="{CE93C98D-0D6B-1A85-5D61-026B79A17F6B}"/>
              </a:ext>
            </a:extLst>
          </p:cNvPr>
          <p:cNvSpPr>
            <a:spLocks noGrp="1"/>
          </p:cNvSpPr>
          <p:nvPr>
            <p:ph sz="quarter" idx="11"/>
          </p:nvPr>
        </p:nvSpPr>
        <p:spPr>
          <a:xfrm>
            <a:off x="486000" y="687518"/>
            <a:ext cx="8172000" cy="4079035"/>
          </a:xfrm>
        </p:spPr>
        <p:txBody>
          <a:bodyPr/>
          <a:lstStyle/>
          <a:p>
            <a:r>
              <a:rPr lang="en-US" altLang="zh-CN" dirty="0"/>
              <a:t>FTP </a:t>
            </a:r>
            <a:r>
              <a:rPr lang="zh-CN" altLang="en-US" dirty="0"/>
              <a:t>并非对所有的数据传输都是最佳的：仅能访问副本</a:t>
            </a:r>
            <a:endParaRPr lang="en-US" altLang="zh-CN" dirty="0"/>
          </a:p>
          <a:p>
            <a:r>
              <a:rPr lang="en-US" altLang="zh-CN" dirty="0"/>
              <a:t>NFS </a:t>
            </a:r>
            <a:r>
              <a:rPr lang="zh-CN" altLang="en-US" dirty="0"/>
              <a:t>允许应用进程打开一个远地文件，并能在该文件的某一个特定的位置上开始读写数据</a:t>
            </a:r>
          </a:p>
          <a:p>
            <a:r>
              <a:rPr lang="en-US" altLang="zh-CN" dirty="0"/>
              <a:t>NFS </a:t>
            </a:r>
            <a:r>
              <a:rPr lang="zh-CN" altLang="en-US" dirty="0"/>
              <a:t>可使用户只复制一个大文件中的一个很小的片段，而不需要复制整个大文件</a:t>
            </a:r>
          </a:p>
          <a:p>
            <a:r>
              <a:rPr lang="en-US" altLang="zh-CN" dirty="0"/>
              <a:t>NFS </a:t>
            </a:r>
            <a:r>
              <a:rPr lang="zh-CN" altLang="en-US" dirty="0"/>
              <a:t>在网络上传送的只是少量的修改数据</a:t>
            </a:r>
          </a:p>
          <a:p>
            <a:endParaRPr lang="zh-CN" altLang="en-US" dirty="0"/>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284DFA9-F8BF-FEBE-C2C5-D8E69A9BF303}"/>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a:t>
            </a:r>
            <a:endParaRPr lang="zh-CN" altLang="en-US" dirty="0"/>
          </a:p>
        </p:txBody>
      </p:sp>
      <p:sp>
        <p:nvSpPr>
          <p:cNvPr id="3" name="内容占位符 2">
            <a:extLst>
              <a:ext uri="{FF2B5EF4-FFF2-40B4-BE49-F238E27FC236}">
                <a16:creationId xmlns:a16="http://schemas.microsoft.com/office/drawing/2014/main" id="{4B65EF68-F5D4-B589-7075-081420450926}"/>
              </a:ext>
            </a:extLst>
          </p:cNvPr>
          <p:cNvSpPr>
            <a:spLocks noGrp="1"/>
          </p:cNvSpPr>
          <p:nvPr>
            <p:ph sz="quarter" idx="11"/>
          </p:nvPr>
        </p:nvSpPr>
        <p:spPr>
          <a:xfrm>
            <a:off x="486000" y="687518"/>
            <a:ext cx="8172000" cy="4079035"/>
          </a:xfrm>
        </p:spPr>
        <p:txBody>
          <a:bodyPr/>
          <a:lstStyle/>
          <a:p>
            <a:r>
              <a:rPr lang="en-US" altLang="zh-CN" dirty="0"/>
              <a:t>TFTP (Trivial File Transfer Protocol) </a:t>
            </a:r>
            <a:r>
              <a:rPr lang="zh-CN" altLang="en-US" dirty="0"/>
              <a:t>是一个很小且易于实现的文件传送协议</a:t>
            </a:r>
          </a:p>
          <a:p>
            <a:r>
              <a:rPr lang="zh-CN" altLang="en-US" dirty="0"/>
              <a:t>使用客户服务器方式和使用 </a:t>
            </a:r>
            <a:r>
              <a:rPr lang="en-US" altLang="zh-CN" dirty="0"/>
              <a:t>UDP </a:t>
            </a:r>
            <a:r>
              <a:rPr lang="zh-CN" altLang="en-US" dirty="0"/>
              <a:t>数据报，因此 </a:t>
            </a:r>
            <a:r>
              <a:rPr lang="en-US" altLang="zh-CN" dirty="0"/>
              <a:t>TFTP </a:t>
            </a:r>
            <a:r>
              <a:rPr lang="zh-CN" altLang="en-US" dirty="0"/>
              <a:t>需要有自己的差错改正措施</a:t>
            </a:r>
          </a:p>
          <a:p>
            <a:r>
              <a:rPr lang="zh-CN" altLang="en-US" dirty="0"/>
              <a:t>只支持文件传输，不支持交互</a:t>
            </a:r>
          </a:p>
          <a:p>
            <a:r>
              <a:rPr lang="zh-CN" altLang="en-US" dirty="0"/>
              <a:t>没有庞大的命令集，没有列目录的功能，也不能对用户进行身份鉴别</a:t>
            </a:r>
            <a:endParaRPr lang="en-US" altLang="zh-CN" dirty="0"/>
          </a:p>
          <a:p>
            <a:r>
              <a:rPr lang="zh-CN" altLang="en-US" dirty="0"/>
              <a:t>优点：</a:t>
            </a:r>
            <a:endParaRPr lang="en-US" altLang="zh-CN" dirty="0"/>
          </a:p>
          <a:p>
            <a:pPr lvl="1"/>
            <a:r>
              <a:rPr lang="zh-CN" altLang="en-US" dirty="0"/>
              <a:t>可用于 </a:t>
            </a:r>
            <a:r>
              <a:rPr lang="en-US" altLang="zh-CN" dirty="0"/>
              <a:t>UDP </a:t>
            </a:r>
            <a:r>
              <a:rPr lang="zh-CN" altLang="en-US" dirty="0"/>
              <a:t>环境</a:t>
            </a:r>
            <a:endParaRPr lang="en-US" altLang="zh-CN" dirty="0"/>
          </a:p>
          <a:p>
            <a:pPr lvl="1"/>
            <a:r>
              <a:rPr lang="zh-CN" altLang="en-US" dirty="0"/>
              <a:t>代码所占的内存较小</a:t>
            </a:r>
          </a:p>
          <a:p>
            <a:endParaRPr lang="zh-CN" altLang="en-US" dirty="0"/>
          </a:p>
        </p:txBody>
      </p:sp>
    </p:spTree>
    <p:extLst>
      <p:ext uri="{BB962C8B-B14F-4D97-AF65-F5344CB8AC3E}">
        <p14:creationId xmlns:p14="http://schemas.microsoft.com/office/powerpoint/2010/main" val="42789788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42C1CA-9B2E-98E7-A059-1288125D50BF}"/>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特点</a:t>
            </a:r>
          </a:p>
        </p:txBody>
      </p:sp>
      <p:sp>
        <p:nvSpPr>
          <p:cNvPr id="3" name="内容占位符 2">
            <a:extLst>
              <a:ext uri="{FF2B5EF4-FFF2-40B4-BE49-F238E27FC236}">
                <a16:creationId xmlns:a16="http://schemas.microsoft.com/office/drawing/2014/main" id="{BD732D58-3499-A04E-51D2-66FCF42AD6FA}"/>
              </a:ext>
            </a:extLst>
          </p:cNvPr>
          <p:cNvSpPr>
            <a:spLocks noGrp="1"/>
          </p:cNvSpPr>
          <p:nvPr>
            <p:ph sz="quarter" idx="11"/>
          </p:nvPr>
        </p:nvSpPr>
        <p:spPr>
          <a:xfrm>
            <a:off x="486000" y="687518"/>
            <a:ext cx="8172000" cy="4079035"/>
          </a:xfrm>
        </p:spPr>
        <p:txBody>
          <a:bodyPr/>
          <a:lstStyle/>
          <a:p>
            <a:r>
              <a:rPr lang="zh-CN" altLang="en-US" dirty="0"/>
              <a:t>每次传送的数据报文中有 </a:t>
            </a:r>
            <a:r>
              <a:rPr lang="en-US" altLang="zh-CN" dirty="0"/>
              <a:t>512 </a:t>
            </a:r>
            <a:r>
              <a:rPr lang="zh-CN" altLang="en-US" dirty="0"/>
              <a:t>字节的数据，但最后一次可不足 </a:t>
            </a:r>
            <a:r>
              <a:rPr lang="en-US" altLang="zh-CN" dirty="0"/>
              <a:t>512 </a:t>
            </a:r>
            <a:r>
              <a:rPr lang="zh-CN" altLang="en-US" dirty="0"/>
              <a:t>字节</a:t>
            </a:r>
          </a:p>
          <a:p>
            <a:r>
              <a:rPr lang="zh-CN" altLang="en-US" dirty="0"/>
              <a:t>数据报文按序编号，从 </a:t>
            </a:r>
            <a:r>
              <a:rPr lang="en-US" altLang="zh-CN" dirty="0"/>
              <a:t>1 </a:t>
            </a:r>
            <a:r>
              <a:rPr lang="zh-CN" altLang="en-US" dirty="0"/>
              <a:t>开始</a:t>
            </a:r>
          </a:p>
          <a:p>
            <a:r>
              <a:rPr lang="zh-CN" altLang="en-US" dirty="0"/>
              <a:t>支持 </a:t>
            </a:r>
            <a:r>
              <a:rPr lang="en-US" altLang="zh-CN" dirty="0"/>
              <a:t>ASCII </a:t>
            </a:r>
            <a:r>
              <a:rPr lang="zh-CN" altLang="en-US" dirty="0"/>
              <a:t>码或二进制传送</a:t>
            </a:r>
          </a:p>
          <a:p>
            <a:r>
              <a:rPr lang="zh-CN" altLang="en-US" dirty="0"/>
              <a:t>可对文件进行读或写</a:t>
            </a:r>
          </a:p>
          <a:p>
            <a:r>
              <a:rPr lang="zh-CN" altLang="en-US" dirty="0"/>
              <a:t>使用很简单的首部</a:t>
            </a:r>
          </a:p>
          <a:p>
            <a:endParaRPr lang="zh-CN" altLang="en-US" dirty="0"/>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A32AB05-770B-944E-78C0-33FC3ADE4E1C}"/>
              </a:ext>
            </a:extLst>
          </p:cNvPr>
          <p:cNvSpPr>
            <a:spLocks noGrp="1"/>
          </p:cNvSpPr>
          <p:nvPr>
            <p:ph type="title"/>
          </p:nvPr>
        </p:nvSpPr>
        <p:spPr>
          <a:xfrm>
            <a:off x="485999" y="174482"/>
            <a:ext cx="8171999" cy="338554"/>
          </a:xfrm>
        </p:spPr>
        <p:txBody>
          <a:bodyPr/>
          <a:lstStyle/>
          <a:p>
            <a:r>
              <a:rPr lang="en-US" altLang="zh-CN" dirty="0"/>
              <a:t>TFTP </a:t>
            </a:r>
            <a:r>
              <a:rPr lang="zh-CN" altLang="en-US" dirty="0"/>
              <a:t>的工作很像停止等待协议</a:t>
            </a:r>
          </a:p>
        </p:txBody>
      </p:sp>
      <p:sp>
        <p:nvSpPr>
          <p:cNvPr id="3" name="内容占位符 2">
            <a:extLst>
              <a:ext uri="{FF2B5EF4-FFF2-40B4-BE49-F238E27FC236}">
                <a16:creationId xmlns:a16="http://schemas.microsoft.com/office/drawing/2014/main" id="{BF419927-F0D5-DACB-7D4B-FA2C170BE2CB}"/>
              </a:ext>
            </a:extLst>
          </p:cNvPr>
          <p:cNvSpPr>
            <a:spLocks noGrp="1"/>
          </p:cNvSpPr>
          <p:nvPr>
            <p:ph sz="quarter" idx="11"/>
          </p:nvPr>
        </p:nvSpPr>
        <p:spPr>
          <a:xfrm>
            <a:off x="486000" y="687518"/>
            <a:ext cx="8172000" cy="4079035"/>
          </a:xfrm>
        </p:spPr>
        <p:txBody>
          <a:bodyPr/>
          <a:lstStyle/>
          <a:p>
            <a:r>
              <a:rPr lang="zh-CN" altLang="en-US" dirty="0"/>
              <a:t>发送完一个文件块后就等待对方的确认，确认时应指明所确认的块编号</a:t>
            </a:r>
          </a:p>
          <a:p>
            <a:r>
              <a:rPr lang="zh-CN" altLang="en-US" dirty="0"/>
              <a:t>发完数据后在规定时间内收不到确认就要重发数据 </a:t>
            </a:r>
            <a:r>
              <a:rPr lang="en-US" altLang="zh-CN" dirty="0"/>
              <a:t>PDU</a:t>
            </a:r>
            <a:endParaRPr lang="zh-CN" altLang="en-US" dirty="0"/>
          </a:p>
          <a:p>
            <a:r>
              <a:rPr lang="zh-CN" altLang="en-US" dirty="0"/>
              <a:t>发送确认 </a:t>
            </a:r>
            <a:r>
              <a:rPr lang="en-US" altLang="zh-CN" dirty="0"/>
              <a:t>PDU </a:t>
            </a:r>
            <a:r>
              <a:rPr lang="zh-CN" altLang="en-US" dirty="0"/>
              <a:t>的一方若在规定时间内未收到下一个文件块，需重发确认 </a:t>
            </a:r>
            <a:r>
              <a:rPr lang="en-US" altLang="zh-CN" dirty="0"/>
              <a:t>PDU</a:t>
            </a:r>
            <a:r>
              <a:rPr lang="zh-CN" altLang="en-US" dirty="0"/>
              <a:t>，保证文件的传送不致因某一个数据报的丢失而告失败</a:t>
            </a:r>
          </a:p>
          <a:p>
            <a:endParaRPr lang="zh-CN" altLang="en-US" dirty="0"/>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3B45E4C-28CD-90F0-5B88-6B90A258FFAB}"/>
              </a:ext>
            </a:extLst>
          </p:cNvPr>
          <p:cNvSpPr>
            <a:spLocks noGrp="1"/>
          </p:cNvSpPr>
          <p:nvPr>
            <p:ph type="title"/>
          </p:nvPr>
        </p:nvSpPr>
        <p:spPr>
          <a:xfrm>
            <a:off x="485999" y="174482"/>
            <a:ext cx="8171999" cy="338554"/>
          </a:xfrm>
        </p:spPr>
        <p:txBody>
          <a:bodyPr/>
          <a:lstStyle/>
          <a:p>
            <a:r>
              <a:rPr lang="en-US" altLang="zh-CN" dirty="0"/>
              <a:t>6.2.3  </a:t>
            </a:r>
            <a:r>
              <a:rPr lang="zh-CN" altLang="en-US" dirty="0"/>
              <a:t>简单文件传送协议 </a:t>
            </a:r>
            <a:r>
              <a:rPr lang="en-US" altLang="zh-CN" dirty="0"/>
              <a:t>TFTP - </a:t>
            </a:r>
            <a:r>
              <a:rPr lang="zh-CN" altLang="en-US" dirty="0"/>
              <a:t>工作过程</a:t>
            </a:r>
          </a:p>
        </p:txBody>
      </p:sp>
      <p:sp>
        <p:nvSpPr>
          <p:cNvPr id="3" name="内容占位符 2">
            <a:extLst>
              <a:ext uri="{FF2B5EF4-FFF2-40B4-BE49-F238E27FC236}">
                <a16:creationId xmlns:a16="http://schemas.microsoft.com/office/drawing/2014/main" id="{60F6826C-4B4F-A0A5-3D4C-9468C1F382A9}"/>
              </a:ext>
            </a:extLst>
          </p:cNvPr>
          <p:cNvSpPr>
            <a:spLocks noGrp="1"/>
          </p:cNvSpPr>
          <p:nvPr>
            <p:ph sz="quarter" idx="11"/>
          </p:nvPr>
        </p:nvSpPr>
        <p:spPr>
          <a:xfrm>
            <a:off x="486000" y="687518"/>
            <a:ext cx="8172000" cy="4079035"/>
          </a:xfrm>
        </p:spPr>
        <p:txBody>
          <a:bodyPr/>
          <a:lstStyle/>
          <a:p>
            <a:r>
              <a:rPr lang="zh-CN" altLang="en-US" dirty="0"/>
              <a:t>开始工作时，</a:t>
            </a:r>
            <a:r>
              <a:rPr lang="en-US" altLang="zh-CN" dirty="0"/>
              <a:t>TFTP </a:t>
            </a:r>
            <a:r>
              <a:rPr lang="zh-CN" altLang="en-US" dirty="0"/>
              <a:t>客户进程发送一个读请求或写请求报文给 </a:t>
            </a:r>
            <a:r>
              <a:rPr lang="en-US" altLang="zh-CN" dirty="0"/>
              <a:t>TFTP </a:t>
            </a:r>
            <a:r>
              <a:rPr lang="zh-CN" altLang="en-US" dirty="0"/>
              <a:t>服务器进程，其 </a:t>
            </a:r>
            <a:r>
              <a:rPr lang="en-US" altLang="zh-CN" dirty="0"/>
              <a:t>UDP </a:t>
            </a:r>
            <a:r>
              <a:rPr lang="zh-CN" altLang="en-US" dirty="0"/>
              <a:t>熟知端口号码为 </a:t>
            </a:r>
            <a:r>
              <a:rPr lang="en-US" altLang="zh-CN" dirty="0"/>
              <a:t>69</a:t>
            </a:r>
            <a:endParaRPr lang="zh-CN" altLang="en-US" dirty="0"/>
          </a:p>
          <a:p>
            <a:r>
              <a:rPr lang="en-US" altLang="zh-CN" dirty="0"/>
              <a:t>TFTP </a:t>
            </a:r>
            <a:r>
              <a:rPr lang="zh-CN" altLang="en-US" dirty="0"/>
              <a:t>服务器进程选择一个新的端口和 </a:t>
            </a:r>
            <a:r>
              <a:rPr lang="en-US" altLang="zh-CN" dirty="0"/>
              <a:t>TFTP </a:t>
            </a:r>
            <a:r>
              <a:rPr lang="zh-CN" altLang="en-US" dirty="0"/>
              <a:t>客户进程进行通信</a:t>
            </a:r>
          </a:p>
          <a:p>
            <a:r>
              <a:rPr lang="zh-CN" altLang="en-US" dirty="0"/>
              <a:t>若文件长度恰好为 </a:t>
            </a:r>
            <a:r>
              <a:rPr lang="en-US" altLang="zh-CN" dirty="0"/>
              <a:t>512 </a:t>
            </a:r>
            <a:r>
              <a:rPr lang="zh-CN" altLang="en-US" dirty="0"/>
              <a:t>字节的整数倍，则在文件传送完毕后，还必须在最后发送一个只含首部而无数据的数据报文</a:t>
            </a:r>
          </a:p>
          <a:p>
            <a:r>
              <a:rPr lang="zh-CN" altLang="en-US" dirty="0"/>
              <a:t>若文件长度不是 </a:t>
            </a:r>
            <a:r>
              <a:rPr lang="en-US" altLang="zh-CN" dirty="0"/>
              <a:t>512 </a:t>
            </a:r>
            <a:r>
              <a:rPr lang="zh-CN" altLang="en-US" dirty="0"/>
              <a:t>字节的整数倍，则最后传送数据报文的数据字段一定不满 </a:t>
            </a:r>
            <a:r>
              <a:rPr lang="en-US" altLang="zh-CN" dirty="0"/>
              <a:t>512 </a:t>
            </a:r>
            <a:r>
              <a:rPr lang="zh-CN" altLang="en-US" dirty="0"/>
              <a:t>字节，作为文件结束的标志</a:t>
            </a:r>
          </a:p>
          <a:p>
            <a:endParaRPr lang="zh-CN" altLang="en-US" dirty="0"/>
          </a:p>
        </p:txBody>
      </p:sp>
    </p:spTree>
    <p:extLst>
      <p:ext uri="{BB962C8B-B14F-4D97-AF65-F5344CB8AC3E}">
        <p14:creationId xmlns:p14="http://schemas.microsoft.com/office/powerpoint/2010/main" val="37347355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8">
            <a:extLst>
              <a:ext uri="{FF2B5EF4-FFF2-40B4-BE49-F238E27FC236}">
                <a16:creationId xmlns:a16="http://schemas.microsoft.com/office/drawing/2014/main" id="{C1CF29BE-F1BD-DDE3-D698-601384607B87}"/>
              </a:ext>
            </a:extLst>
          </p:cNvPr>
          <p:cNvSpPr>
            <a:spLocks noChangeArrowheads="1"/>
          </p:cNvSpPr>
          <p:nvPr/>
        </p:nvSpPr>
        <p:spPr bwMode="auto">
          <a:xfrm>
            <a:off x="3563766" y="1354881"/>
            <a:ext cx="4197661" cy="7892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远程终端协议 </a:t>
            </a:r>
            <a:r>
              <a:rPr lang="en-US" altLang="zh-CN" sz="1600" dirty="0">
                <a:latin typeface="Montserrat" panose="00000500000000000000" pitchFamily="2" charset="0"/>
                <a:ea typeface="微软雅黑 Light" panose="020B0502040204020203" pitchFamily="34" charset="-122"/>
              </a:rPr>
              <a:t>TELNET</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6.3.2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网络虚拟终端 </a:t>
            </a:r>
            <a:r>
              <a:rPr lang="en-US" altLang="zh-CN" sz="1600" dirty="0">
                <a:latin typeface="Montserrat" panose="00000500000000000000" pitchFamily="2" charset="0"/>
                <a:ea typeface="微软雅黑 Light" panose="020B0502040204020203" pitchFamily="34" charset="-122"/>
              </a:rPr>
              <a:t>NVT</a:t>
            </a:r>
          </a:p>
        </p:txBody>
      </p:sp>
      <p:sp>
        <p:nvSpPr>
          <p:cNvPr id="5" name="Rectangle 29">
            <a:extLst>
              <a:ext uri="{FF2B5EF4-FFF2-40B4-BE49-F238E27FC236}">
                <a16:creationId xmlns:a16="http://schemas.microsoft.com/office/drawing/2014/main" id="{8BFC9671-C02A-DDDA-AED2-CFC43C862424}"/>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6.3</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远程终端协议 </a:t>
            </a:r>
            <a:r>
              <a:rPr lang="en-US" altLang="zh-CN" sz="2000" dirty="0">
                <a:latin typeface="Montserrat" panose="00000500000000000000" pitchFamily="2" charset="0"/>
                <a:ea typeface="微软雅黑 Light" panose="020B0502040204020203" pitchFamily="34" charset="-122"/>
              </a:rPr>
              <a:t>TELNET</a:t>
            </a:r>
            <a:endParaRPr lang="zh-CN" altLang="en-US" sz="2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1175922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9B66AF9-C36E-01F4-A906-184D85E3E384}"/>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p>
        </p:txBody>
      </p:sp>
      <p:sp>
        <p:nvSpPr>
          <p:cNvPr id="3" name="内容占位符 2">
            <a:extLst>
              <a:ext uri="{FF2B5EF4-FFF2-40B4-BE49-F238E27FC236}">
                <a16:creationId xmlns:a16="http://schemas.microsoft.com/office/drawing/2014/main" id="{F15D16C2-CC64-058B-DCF8-5310149A205F}"/>
              </a:ext>
            </a:extLst>
          </p:cNvPr>
          <p:cNvSpPr>
            <a:spLocks noGrp="1"/>
          </p:cNvSpPr>
          <p:nvPr>
            <p:ph sz="quarter" idx="11"/>
          </p:nvPr>
        </p:nvSpPr>
        <p:spPr>
          <a:xfrm>
            <a:off x="486000" y="687518"/>
            <a:ext cx="8172000" cy="4079035"/>
          </a:xfrm>
        </p:spPr>
        <p:txBody>
          <a:bodyPr/>
          <a:lstStyle/>
          <a:p>
            <a:r>
              <a:rPr lang="zh-CN" altLang="en-US" dirty="0"/>
              <a:t>是一个简单的远程终端协议，是互联网的正式标准</a:t>
            </a:r>
          </a:p>
          <a:p>
            <a:r>
              <a:rPr lang="zh-CN" altLang="en-US" dirty="0"/>
              <a:t>允许用户在其所在地通过 </a:t>
            </a:r>
            <a:r>
              <a:rPr lang="en-US" altLang="zh-CN" dirty="0"/>
              <a:t>TCP </a:t>
            </a:r>
            <a:r>
              <a:rPr lang="zh-CN" altLang="en-US" dirty="0"/>
              <a:t>连接注册（即登录）到远地的另一个主机上（使用主机名或 </a:t>
            </a:r>
            <a:r>
              <a:rPr lang="en-US" altLang="zh-CN" dirty="0"/>
              <a:t>IP </a:t>
            </a:r>
            <a:r>
              <a:rPr lang="zh-CN" altLang="en-US" dirty="0"/>
              <a:t>地址）</a:t>
            </a:r>
          </a:p>
          <a:p>
            <a:r>
              <a:rPr lang="zh-CN" altLang="en-US" dirty="0"/>
              <a:t>能将用户的击键传到远地主机，同时也能将远地主机的输出通过 </a:t>
            </a:r>
            <a:r>
              <a:rPr lang="en-US" altLang="zh-CN" dirty="0"/>
              <a:t>TCP </a:t>
            </a:r>
            <a:r>
              <a:rPr lang="zh-CN" altLang="en-US" dirty="0"/>
              <a:t>连接返回到用户屏幕</a:t>
            </a:r>
            <a:endParaRPr lang="en-US" altLang="zh-CN" dirty="0"/>
          </a:p>
          <a:p>
            <a:r>
              <a:rPr lang="zh-CN" altLang="en-US" dirty="0"/>
              <a:t>服务是透明的</a:t>
            </a:r>
            <a:endParaRPr lang="en-US" altLang="zh-CN" dirty="0"/>
          </a:p>
          <a:p>
            <a:r>
              <a:rPr lang="zh-CN" altLang="en-US" dirty="0"/>
              <a:t>又称为终端仿真协议</a:t>
            </a:r>
          </a:p>
          <a:p>
            <a:endParaRPr lang="zh-CN" altLang="en-US" dirty="0"/>
          </a:p>
        </p:txBody>
      </p:sp>
    </p:spTree>
    <p:extLst>
      <p:ext uri="{BB962C8B-B14F-4D97-AF65-F5344CB8AC3E}">
        <p14:creationId xmlns:p14="http://schemas.microsoft.com/office/powerpoint/2010/main" val="10931879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4C20F74-3D3F-15B4-DBBF-BB622DACACFB}"/>
              </a:ext>
            </a:extLst>
          </p:cNvPr>
          <p:cNvSpPr>
            <a:spLocks noGrp="1"/>
          </p:cNvSpPr>
          <p:nvPr>
            <p:ph type="title"/>
          </p:nvPr>
        </p:nvSpPr>
        <p:spPr>
          <a:xfrm>
            <a:off x="485999" y="174482"/>
            <a:ext cx="8171999" cy="338554"/>
          </a:xfrm>
        </p:spPr>
        <p:txBody>
          <a:bodyPr/>
          <a:lstStyle/>
          <a:p>
            <a:r>
              <a:rPr lang="en-US" altLang="zh-CN" dirty="0"/>
              <a:t>6.3  </a:t>
            </a:r>
            <a:r>
              <a:rPr lang="zh-CN" altLang="en-US" dirty="0"/>
              <a:t>远程终端协议 </a:t>
            </a:r>
            <a:r>
              <a:rPr lang="en-US" altLang="zh-CN" dirty="0"/>
              <a:t>TELNET</a:t>
            </a:r>
            <a:endParaRPr lang="zh-CN" altLang="en-US" dirty="0"/>
          </a:p>
        </p:txBody>
      </p:sp>
      <p:sp>
        <p:nvSpPr>
          <p:cNvPr id="3" name="内容占位符 2">
            <a:extLst>
              <a:ext uri="{FF2B5EF4-FFF2-40B4-BE49-F238E27FC236}">
                <a16:creationId xmlns:a16="http://schemas.microsoft.com/office/drawing/2014/main" id="{A70C96E3-4332-F9ED-F883-013F689BFA82}"/>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使用客户</a:t>
            </a:r>
            <a:r>
              <a:rPr lang="en-US" altLang="zh-CN" dirty="0"/>
              <a:t>/</a:t>
            </a:r>
            <a:r>
              <a:rPr lang="zh-CN" altLang="en-US" dirty="0"/>
              <a:t>服务器 </a:t>
            </a:r>
            <a:r>
              <a:rPr lang="en-US" altLang="zh-CN" dirty="0"/>
              <a:t>C/S </a:t>
            </a:r>
            <a:r>
              <a:rPr lang="zh-CN" altLang="en-US" dirty="0"/>
              <a:t>方式</a:t>
            </a:r>
          </a:p>
          <a:p>
            <a:pPr lvl="1"/>
            <a:r>
              <a:rPr lang="zh-CN" altLang="en-US" dirty="0"/>
              <a:t>在本地系统运行 </a:t>
            </a:r>
            <a:r>
              <a:rPr lang="en-US" altLang="zh-CN" dirty="0"/>
              <a:t>TELNET </a:t>
            </a:r>
            <a:r>
              <a:rPr lang="zh-CN" altLang="en-US" dirty="0"/>
              <a:t>客户进程，而在远地主机则运行 </a:t>
            </a:r>
            <a:r>
              <a:rPr lang="en-US" altLang="zh-CN" dirty="0"/>
              <a:t>TELNET </a:t>
            </a:r>
            <a:r>
              <a:rPr lang="zh-CN" altLang="en-US" dirty="0"/>
              <a:t>服务器进程</a:t>
            </a:r>
          </a:p>
          <a:p>
            <a:r>
              <a:rPr lang="zh-CN" altLang="en-US" dirty="0"/>
              <a:t>服务器中的主进程等待新的请求，产生从属进程来处理每一个连接</a:t>
            </a:r>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云形 5">
            <a:extLst>
              <a:ext uri="{FF2B5EF4-FFF2-40B4-BE49-F238E27FC236}">
                <a16:creationId xmlns:a16="http://schemas.microsoft.com/office/drawing/2014/main" id="{938ED39D-0D20-161F-65BA-5550543C187F}"/>
              </a:ext>
            </a:extLst>
          </p:cNvPr>
          <p:cNvSpPr/>
          <p:nvPr/>
        </p:nvSpPr>
        <p:spPr>
          <a:xfrm>
            <a:off x="3209105" y="2332181"/>
            <a:ext cx="2117853" cy="1063926"/>
          </a:xfrm>
          <a:prstGeom prst="cloud">
            <a:avLst/>
          </a:prstGeom>
          <a:solidFill>
            <a:schemeClr val="bg1">
              <a:lumMod val="95000"/>
            </a:schemeClr>
          </a:solidFill>
          <a:ln w="952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内容占位符 31">
            <a:extLst>
              <a:ext uri="{FF2B5EF4-FFF2-40B4-BE49-F238E27FC236}">
                <a16:creationId xmlns:a16="http://schemas.microsoft.com/office/drawing/2014/main" id="{2B99BCDB-F904-172F-43CC-5080485FD2CD}"/>
              </a:ext>
            </a:extLst>
          </p:cNvPr>
          <p:cNvSpPr>
            <a:spLocks noGrp="1"/>
          </p:cNvSpPr>
          <p:nvPr>
            <p:ph sz="quarter" idx="11"/>
          </p:nvPr>
        </p:nvSpPr>
        <p:spPr>
          <a:xfrm>
            <a:off x="486000" y="687518"/>
            <a:ext cx="8172000" cy="4079035"/>
          </a:xfrm>
        </p:spPr>
        <p:txBody>
          <a:bodyPr/>
          <a:lstStyle/>
          <a:p>
            <a:r>
              <a:rPr lang="en-US" altLang="zh-CN" dirty="0"/>
              <a:t>TELNET </a:t>
            </a:r>
            <a:r>
              <a:rPr lang="zh-CN" altLang="en-US" dirty="0"/>
              <a:t>使用网络虚拟终端 </a:t>
            </a:r>
            <a:r>
              <a:rPr lang="en-US" altLang="zh-CN" dirty="0"/>
              <a:t>NVT - Network Virtual Terminal</a:t>
            </a:r>
            <a:r>
              <a:rPr lang="zh-CN" altLang="en-US" dirty="0"/>
              <a:t> </a:t>
            </a:r>
            <a:endParaRPr lang="en-US" altLang="zh-CN" dirty="0"/>
          </a:p>
          <a:p>
            <a:r>
              <a:rPr lang="en-US" altLang="zh-CN" dirty="0"/>
              <a:t>TELNET </a:t>
            </a:r>
            <a:r>
              <a:rPr lang="zh-CN" altLang="en-US" dirty="0"/>
              <a:t>的选项协商 </a:t>
            </a:r>
            <a:r>
              <a:rPr lang="en-US" altLang="zh-CN" dirty="0"/>
              <a:t>(Option Negotiation) </a:t>
            </a:r>
            <a:r>
              <a:rPr lang="zh-CN" altLang="en-US" dirty="0"/>
              <a:t>使客户和服务器可商定使用更多的终端功能，协商的双方是平等的</a:t>
            </a:r>
          </a:p>
          <a:p>
            <a:endParaRPr lang="zh-CN" altLang="en-US" dirty="0"/>
          </a:p>
          <a:p>
            <a:endParaRPr lang="zh-CN" altLang="en-US" dirty="0"/>
          </a:p>
        </p:txBody>
      </p:sp>
      <p:sp>
        <p:nvSpPr>
          <p:cNvPr id="46" name="AutoShape 189"/>
          <p:cNvSpPr>
            <a:spLocks noChangeAspect="1" noChangeArrowheads="1" noTextEdit="1"/>
          </p:cNvSpPr>
          <p:nvPr/>
        </p:nvSpPr>
        <p:spPr bwMode="auto">
          <a:xfrm>
            <a:off x="1638459" y="2423203"/>
            <a:ext cx="1465666" cy="1328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4" name="AutoShape 165"/>
          <p:cNvSpPr>
            <a:spLocks noChangeAspect="1" noChangeArrowheads="1" noTextEdit="1"/>
          </p:cNvSpPr>
          <p:nvPr/>
        </p:nvSpPr>
        <p:spPr bwMode="auto">
          <a:xfrm>
            <a:off x="6123095" y="2362637"/>
            <a:ext cx="1585335" cy="1628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30" name="Text Box 6"/>
          <p:cNvSpPr txBox="1">
            <a:spLocks noChangeArrowheads="1"/>
          </p:cNvSpPr>
          <p:nvPr/>
        </p:nvSpPr>
        <p:spPr bwMode="auto">
          <a:xfrm>
            <a:off x="3862311" y="2995644"/>
            <a:ext cx="811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Internet</a:t>
            </a:r>
            <a:endParaRPr kumimoji="1" lang="zh-CN" altLang="en-US" sz="1200" dirty="0">
              <a:latin typeface="Montserrat" panose="00000500000000000000" pitchFamily="2" charset="0"/>
              <a:ea typeface="微软雅黑 Light" panose="020B0502040204020203" pitchFamily="34" charset="-122"/>
            </a:endParaRPr>
          </a:p>
        </p:txBody>
      </p:sp>
      <p:sp>
        <p:nvSpPr>
          <p:cNvPr id="33" name="Text Box 9"/>
          <p:cNvSpPr txBox="1">
            <a:spLocks noChangeArrowheads="1"/>
          </p:cNvSpPr>
          <p:nvPr/>
        </p:nvSpPr>
        <p:spPr bwMode="auto">
          <a:xfrm>
            <a:off x="4021008" y="2700447"/>
            <a:ext cx="49404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37" name="Text Box 14"/>
          <p:cNvSpPr txBox="1">
            <a:spLocks noChangeArrowheads="1"/>
          </p:cNvSpPr>
          <p:nvPr/>
        </p:nvSpPr>
        <p:spPr bwMode="auto">
          <a:xfrm>
            <a:off x="3475987" y="3445645"/>
            <a:ext cx="158408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NVT character set</a:t>
            </a:r>
            <a:endParaRPr kumimoji="1" lang="zh-CN" altLang="en-US" sz="1200" dirty="0">
              <a:latin typeface="Montserrat" panose="00000500000000000000" pitchFamily="2" charset="0"/>
              <a:ea typeface="微软雅黑 Light" panose="020B0502040204020203" pitchFamily="34" charset="-122"/>
            </a:endParaRPr>
          </a:p>
        </p:txBody>
      </p:sp>
      <p:sp>
        <p:nvSpPr>
          <p:cNvPr id="41" name="Oval 18"/>
          <p:cNvSpPr>
            <a:spLocks noChangeArrowheads="1"/>
          </p:cNvSpPr>
          <p:nvPr/>
        </p:nvSpPr>
        <p:spPr bwMode="auto">
          <a:xfrm>
            <a:off x="2017146" y="2289689"/>
            <a:ext cx="706366" cy="585157"/>
          </a:xfrm>
          <a:prstGeom prst="ellipse">
            <a:avLst/>
          </a:prstGeom>
          <a:noFill/>
          <a:ln w="12700">
            <a:noFill/>
            <a:round/>
            <a:headEnd/>
            <a:tailEnd/>
          </a:ln>
          <a:effectLst/>
        </p:spPr>
        <p:txBody>
          <a:bodyPr wrap="none" anchor="ctr"/>
          <a:lstStyle/>
          <a:p>
            <a:pPr algn="ctr" eaLnBrk="1" hangingPunct="1"/>
            <a:endParaRPr kumimoji="1"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4" name="Text Box 12"/>
          <p:cNvSpPr txBox="1">
            <a:spLocks noChangeArrowheads="1"/>
          </p:cNvSpPr>
          <p:nvPr/>
        </p:nvSpPr>
        <p:spPr bwMode="auto">
          <a:xfrm>
            <a:off x="177803" y="1521234"/>
            <a:ext cx="14606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 </a:t>
            </a:r>
            <a:r>
              <a:rPr kumimoji="1" lang="zh-CN" altLang="en-US" sz="1200" dirty="0">
                <a:latin typeface="Montserrat" panose="00000500000000000000" pitchFamily="2" charset="0"/>
                <a:ea typeface="微软雅黑 Light" panose="020B0502040204020203" pitchFamily="34" charset="-122"/>
              </a:rPr>
              <a:t>使用客户端的格式</a:t>
            </a:r>
          </a:p>
        </p:txBody>
      </p:sp>
      <p:sp>
        <p:nvSpPr>
          <p:cNvPr id="58" name="标题 57">
            <a:extLst>
              <a:ext uri="{FF2B5EF4-FFF2-40B4-BE49-F238E27FC236}">
                <a16:creationId xmlns:a16="http://schemas.microsoft.com/office/drawing/2014/main" id="{F6070622-53C9-BC7D-6425-D0ABA43B7C7D}"/>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71" name="箭头: 左右 70">
            <a:extLst>
              <a:ext uri="{FF2B5EF4-FFF2-40B4-BE49-F238E27FC236}">
                <a16:creationId xmlns:a16="http://schemas.microsoft.com/office/drawing/2014/main" id="{4C5F43E3-4CF6-522A-D6C4-34647F23AC85}"/>
              </a:ext>
            </a:extLst>
          </p:cNvPr>
          <p:cNvSpPr/>
          <p:nvPr/>
        </p:nvSpPr>
        <p:spPr>
          <a:xfrm>
            <a:off x="2828031" y="2874846"/>
            <a:ext cx="2880000" cy="144000"/>
          </a:xfrm>
          <a:prstGeom prst="leftRightArrow">
            <a:avLst/>
          </a:prstGeom>
          <a:solidFill>
            <a:srgbClr val="00B0F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矩形 1">
            <a:extLst>
              <a:ext uri="{FF2B5EF4-FFF2-40B4-BE49-F238E27FC236}">
                <a16:creationId xmlns:a16="http://schemas.microsoft.com/office/drawing/2014/main" id="{FB4A38C2-A700-C093-D7A5-DCD154728500}"/>
              </a:ext>
            </a:extLst>
          </p:cNvPr>
          <p:cNvSpPr/>
          <p:nvPr/>
        </p:nvSpPr>
        <p:spPr>
          <a:xfrm>
            <a:off x="1883228"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Client</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69" name="Picture 200" descr="jisuanji">
            <a:extLst>
              <a:ext uri="{FF2B5EF4-FFF2-40B4-BE49-F238E27FC236}">
                <a16:creationId xmlns:a16="http://schemas.microsoft.com/office/drawing/2014/main" id="{599FB058-D876-A8C2-D573-D026FD8E6628}"/>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165539"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9547ED45-3D22-5A08-6BE0-FD9E84AA374F}"/>
              </a:ext>
            </a:extLst>
          </p:cNvPr>
          <p:cNvSpPr txBox="1"/>
          <p:nvPr/>
        </p:nvSpPr>
        <p:spPr>
          <a:xfrm>
            <a:off x="982583"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sp>
        <p:nvSpPr>
          <p:cNvPr id="5" name="矩形 4">
            <a:extLst>
              <a:ext uri="{FF2B5EF4-FFF2-40B4-BE49-F238E27FC236}">
                <a16:creationId xmlns:a16="http://schemas.microsoft.com/office/drawing/2014/main" id="{BEB635DA-94EA-CB75-7301-9AC18E7C328D}"/>
              </a:ext>
            </a:extLst>
          </p:cNvPr>
          <p:cNvSpPr/>
          <p:nvPr/>
        </p:nvSpPr>
        <p:spPr>
          <a:xfrm>
            <a:off x="5752834" y="2594144"/>
            <a:ext cx="900000" cy="540000"/>
          </a:xfrm>
          <a:prstGeom prst="rect">
            <a:avLst/>
          </a:prstGeom>
          <a:ln w="12700"/>
        </p:spPr>
        <p:style>
          <a:lnRef idx="3">
            <a:schemeClr val="lt1"/>
          </a:lnRef>
          <a:fillRef idx="1">
            <a:schemeClr val="accent5"/>
          </a:fillRef>
          <a:effectRef idx="1">
            <a:schemeClr val="accent5"/>
          </a:effectRef>
          <a:fontRef idx="minor">
            <a:schemeClr val="lt1"/>
          </a:fontRef>
        </p:style>
        <p:txBody>
          <a:bodyPr rtlCol="0"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Telnet</a:t>
            </a:r>
          </a:p>
          <a:p>
            <a:pPr algn="ctr"/>
            <a:r>
              <a:rPr kumimoji="1" lang="en-US" altLang="zh-CN" sz="1200" dirty="0">
                <a:solidFill>
                  <a:schemeClr val="bg1"/>
                </a:solidFill>
                <a:latin typeface="Montserrat" panose="00000500000000000000" pitchFamily="2" charset="0"/>
                <a:ea typeface="微软雅黑 Light" panose="020B0502040204020203" pitchFamily="34" charset="-122"/>
              </a:rPr>
              <a:t>Server</a:t>
            </a:r>
            <a:endParaRPr kumimoji="1" lang="zh-CN" altLang="en-US" sz="1200" dirty="0">
              <a:solidFill>
                <a:schemeClr val="bg1"/>
              </a:solidFill>
              <a:latin typeface="Montserrat" panose="00000500000000000000" pitchFamily="2" charset="0"/>
              <a:ea typeface="微软雅黑 Light" panose="020B0502040204020203" pitchFamily="34" charset="-122"/>
            </a:endParaRPr>
          </a:p>
        </p:txBody>
      </p:sp>
      <p:pic>
        <p:nvPicPr>
          <p:cNvPr id="9" name="Picture 200" descr="jisuanji">
            <a:extLst>
              <a:ext uri="{FF2B5EF4-FFF2-40B4-BE49-F238E27FC236}">
                <a16:creationId xmlns:a16="http://schemas.microsoft.com/office/drawing/2014/main" id="{57B2700B-B1C7-F6F3-2394-5A38CBA0A0B5}"/>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49575" y="2630906"/>
            <a:ext cx="503237" cy="503238"/>
          </a:xfrm>
          <a:prstGeom prst="rect">
            <a:avLst/>
          </a:prstGeom>
          <a:noFill/>
          <a:extLst>
            <a:ext uri="{909E8E84-426E-40DD-AFC4-6F175D3DCCD1}">
              <a14:hiddenFill xmlns:a14="http://schemas.microsoft.com/office/drawing/2010/main">
                <a:solidFill>
                  <a:srgbClr val="FFFFFF"/>
                </a:solidFill>
              </a14:hiddenFill>
            </a:ext>
          </a:extLst>
        </p:spPr>
      </p:pic>
      <p:sp>
        <p:nvSpPr>
          <p:cNvPr id="10" name="文本框 9">
            <a:extLst>
              <a:ext uri="{FF2B5EF4-FFF2-40B4-BE49-F238E27FC236}">
                <a16:creationId xmlns:a16="http://schemas.microsoft.com/office/drawing/2014/main" id="{B21D6611-F844-57F9-7D03-1272E64588F0}"/>
              </a:ext>
            </a:extLst>
          </p:cNvPr>
          <p:cNvSpPr txBox="1"/>
          <p:nvPr/>
        </p:nvSpPr>
        <p:spPr>
          <a:xfrm>
            <a:off x="6766619" y="2375364"/>
            <a:ext cx="86914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Terminal</a:t>
            </a:r>
            <a:endParaRPr lang="zh-CN" altLang="en-US" sz="1200" dirty="0">
              <a:latin typeface="Montserrat" panose="00000500000000000000" pitchFamily="2" charset="0"/>
              <a:ea typeface="微软雅黑 Light" panose="020B0502040204020203" pitchFamily="34" charset="-122"/>
            </a:endParaRPr>
          </a:p>
        </p:txBody>
      </p:sp>
      <p:cxnSp>
        <p:nvCxnSpPr>
          <p:cNvPr id="12" name="直接连接符 11">
            <a:extLst>
              <a:ext uri="{FF2B5EF4-FFF2-40B4-BE49-F238E27FC236}">
                <a16:creationId xmlns:a16="http://schemas.microsoft.com/office/drawing/2014/main" id="{64EA5DAF-8565-25F6-31BB-899F33EB9F5F}"/>
              </a:ext>
            </a:extLst>
          </p:cNvPr>
          <p:cNvCxnSpPr>
            <a:cxnSpLocks/>
          </p:cNvCxnSpPr>
          <p:nvPr/>
        </p:nvCxnSpPr>
        <p:spPr>
          <a:xfrm>
            <a:off x="2333228"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3" name="直接连接符 12">
            <a:extLst>
              <a:ext uri="{FF2B5EF4-FFF2-40B4-BE49-F238E27FC236}">
                <a16:creationId xmlns:a16="http://schemas.microsoft.com/office/drawing/2014/main" id="{B7C120D4-142E-64EA-FA9B-B64897ABEB97}"/>
              </a:ext>
            </a:extLst>
          </p:cNvPr>
          <p:cNvCxnSpPr>
            <a:cxnSpLocks/>
          </p:cNvCxnSpPr>
          <p:nvPr/>
        </p:nvCxnSpPr>
        <p:spPr>
          <a:xfrm>
            <a:off x="6202834" y="3134144"/>
            <a:ext cx="0" cy="90000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
        <p:nvSpPr>
          <p:cNvPr id="14" name="箭头: 左右 13">
            <a:extLst>
              <a:ext uri="{FF2B5EF4-FFF2-40B4-BE49-F238E27FC236}">
                <a16:creationId xmlns:a16="http://schemas.microsoft.com/office/drawing/2014/main" id="{20A06FC0-A15E-6210-8C7D-DDBECEBB7A97}"/>
              </a:ext>
            </a:extLst>
          </p:cNvPr>
          <p:cNvSpPr/>
          <p:nvPr/>
        </p:nvSpPr>
        <p:spPr>
          <a:xfrm>
            <a:off x="1643822"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箭头: 左右 14">
            <a:extLst>
              <a:ext uri="{FF2B5EF4-FFF2-40B4-BE49-F238E27FC236}">
                <a16:creationId xmlns:a16="http://schemas.microsoft.com/office/drawing/2014/main" id="{28709FA9-D3B9-3E9A-499E-61514B05C627}"/>
              </a:ext>
            </a:extLst>
          </p:cNvPr>
          <p:cNvSpPr/>
          <p:nvPr/>
        </p:nvSpPr>
        <p:spPr>
          <a:xfrm>
            <a:off x="6709937" y="2766887"/>
            <a:ext cx="216000" cy="144000"/>
          </a:xfrm>
          <a:prstGeom prst="leftRightArrow">
            <a:avLst/>
          </a:prstGeom>
          <a:solidFill>
            <a:srgbClr val="F796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文本框 15">
            <a:extLst>
              <a:ext uri="{FF2B5EF4-FFF2-40B4-BE49-F238E27FC236}">
                <a16:creationId xmlns:a16="http://schemas.microsoft.com/office/drawing/2014/main" id="{D6EF0879-57D0-68DB-5F47-269D03668864}"/>
              </a:ext>
            </a:extLst>
          </p:cNvPr>
          <p:cNvSpPr txBox="1"/>
          <p:nvPr/>
        </p:nvSpPr>
        <p:spPr>
          <a:xfrm>
            <a:off x="693035" y="3445645"/>
            <a:ext cx="164019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Local character set</a:t>
            </a:r>
            <a:endParaRPr lang="zh-CN" altLang="en-US" sz="1200" dirty="0">
              <a:latin typeface="Montserrat" panose="00000500000000000000" pitchFamily="2" charset="0"/>
              <a:ea typeface="微软雅黑 Light" panose="020B0502040204020203" pitchFamily="34" charset="-122"/>
            </a:endParaRPr>
          </a:p>
        </p:txBody>
      </p:sp>
      <p:sp>
        <p:nvSpPr>
          <p:cNvPr id="17" name="文本框 16">
            <a:extLst>
              <a:ext uri="{FF2B5EF4-FFF2-40B4-BE49-F238E27FC236}">
                <a16:creationId xmlns:a16="http://schemas.microsoft.com/office/drawing/2014/main" id="{A00FB04E-312E-3038-5B37-9BACC9F7D809}"/>
              </a:ext>
            </a:extLst>
          </p:cNvPr>
          <p:cNvSpPr txBox="1"/>
          <p:nvPr/>
        </p:nvSpPr>
        <p:spPr>
          <a:xfrm>
            <a:off x="6202834" y="3445645"/>
            <a:ext cx="1891865"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Remote character set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标题 32">
            <a:extLst>
              <a:ext uri="{FF2B5EF4-FFF2-40B4-BE49-F238E27FC236}">
                <a16:creationId xmlns:a16="http://schemas.microsoft.com/office/drawing/2014/main" id="{9943CB31-7708-8E14-988B-BEDE81A67AF2}"/>
              </a:ext>
            </a:extLst>
          </p:cNvPr>
          <p:cNvSpPr>
            <a:spLocks noGrp="1"/>
          </p:cNvSpPr>
          <p:nvPr>
            <p:ph type="title"/>
          </p:nvPr>
        </p:nvSpPr>
        <p:spPr>
          <a:xfrm>
            <a:off x="485999" y="174482"/>
            <a:ext cx="8171999" cy="338554"/>
          </a:xfrm>
        </p:spPr>
        <p:txBody>
          <a:bodyPr/>
          <a:lstStyle/>
          <a:p>
            <a:r>
              <a:rPr lang="en-US" altLang="zh-CN" dirty="0"/>
              <a:t>6.3  </a:t>
            </a:r>
            <a:r>
              <a:rPr lang="zh-CN" altLang="en-US" dirty="0"/>
              <a:t>网络虚拟终端 </a:t>
            </a:r>
          </a:p>
        </p:txBody>
      </p:sp>
      <p:sp>
        <p:nvSpPr>
          <p:cNvPr id="31" name="内容占位符 30">
            <a:extLst>
              <a:ext uri="{FF2B5EF4-FFF2-40B4-BE49-F238E27FC236}">
                <a16:creationId xmlns:a16="http://schemas.microsoft.com/office/drawing/2014/main" id="{86DAD489-9F3D-E64C-B51B-284D1B9D5AC9}"/>
              </a:ext>
            </a:extLst>
          </p:cNvPr>
          <p:cNvSpPr>
            <a:spLocks noGrp="1"/>
          </p:cNvSpPr>
          <p:nvPr>
            <p:ph sz="quarter" idx="11"/>
          </p:nvPr>
        </p:nvSpPr>
        <p:spPr>
          <a:xfrm>
            <a:off x="486000" y="687518"/>
            <a:ext cx="8172000" cy="4079035"/>
          </a:xfrm>
        </p:spPr>
        <p:txBody>
          <a:bodyPr/>
          <a:lstStyle/>
          <a:p>
            <a:r>
              <a:rPr lang="en-US" altLang="zh-CN" dirty="0"/>
              <a:t>NVT </a:t>
            </a:r>
            <a:r>
              <a:rPr lang="zh-CN" altLang="en-US" dirty="0"/>
              <a:t>格式 </a:t>
            </a:r>
          </a:p>
          <a:p>
            <a:pPr lvl="1"/>
            <a:r>
              <a:rPr lang="zh-CN" altLang="en-US" dirty="0"/>
              <a:t>两个字符集：数据，控制</a:t>
            </a:r>
          </a:p>
          <a:p>
            <a:r>
              <a:rPr lang="zh-CN" altLang="en-US" dirty="0"/>
              <a:t>客户端把用户的击键和命令转换成 </a:t>
            </a:r>
            <a:r>
              <a:rPr lang="en-US" altLang="zh-CN" dirty="0"/>
              <a:t>NVT </a:t>
            </a:r>
            <a:r>
              <a:rPr lang="zh-CN" altLang="en-US" dirty="0"/>
              <a:t>格式，并送交服务器</a:t>
            </a:r>
          </a:p>
          <a:p>
            <a:r>
              <a:rPr lang="zh-CN" altLang="en-US" dirty="0"/>
              <a:t>服务器端把收到的数据和命令，从 </a:t>
            </a:r>
            <a:r>
              <a:rPr lang="en-US" altLang="zh-CN" dirty="0"/>
              <a:t>NVT </a:t>
            </a:r>
            <a:r>
              <a:rPr lang="zh-CN" altLang="en-US" dirty="0"/>
              <a:t>格式转换成远地系统所需的格式</a:t>
            </a:r>
          </a:p>
          <a:p>
            <a:r>
              <a:rPr lang="zh-CN" altLang="en-US" dirty="0"/>
              <a:t>向客户返回数据时</a:t>
            </a:r>
            <a:endParaRPr lang="en-US" altLang="zh-CN" dirty="0"/>
          </a:p>
          <a:p>
            <a:pPr lvl="1"/>
            <a:r>
              <a:rPr lang="zh-CN" altLang="en-US" dirty="0"/>
              <a:t>服务器把远地系统的格式转换为 </a:t>
            </a:r>
            <a:r>
              <a:rPr lang="en-US" altLang="zh-CN" dirty="0"/>
              <a:t>NVT </a:t>
            </a:r>
            <a:r>
              <a:rPr lang="zh-CN" altLang="en-US" dirty="0"/>
              <a:t>格式</a:t>
            </a:r>
            <a:endParaRPr lang="en-US" altLang="zh-CN" dirty="0"/>
          </a:p>
          <a:p>
            <a:pPr lvl="1"/>
            <a:r>
              <a:rPr lang="zh-CN" altLang="en-US" dirty="0"/>
              <a:t>本地客户再从 </a:t>
            </a:r>
            <a:r>
              <a:rPr lang="en-US" altLang="zh-CN" dirty="0"/>
              <a:t>NVT </a:t>
            </a:r>
            <a:r>
              <a:rPr lang="zh-CN" altLang="en-US" dirty="0"/>
              <a:t>格式转换到本地系统所需的格式</a:t>
            </a:r>
          </a:p>
          <a:p>
            <a:endParaRPr lang="zh-CN" altLang="en-US" dirty="0"/>
          </a:p>
        </p:txBody>
      </p:sp>
      <p:sp>
        <p:nvSpPr>
          <p:cNvPr id="7" name="Text Box 10"/>
          <p:cNvSpPr txBox="1">
            <a:spLocks noChangeArrowheads="1"/>
          </p:cNvSpPr>
          <p:nvPr/>
        </p:nvSpPr>
        <p:spPr bwMode="auto">
          <a:xfrm>
            <a:off x="2034816" y="4259649"/>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控制字符：</a:t>
            </a:r>
          </a:p>
        </p:txBody>
      </p:sp>
      <p:grpSp>
        <p:nvGrpSpPr>
          <p:cNvPr id="17" name="组合 16"/>
          <p:cNvGrpSpPr/>
          <p:nvPr/>
        </p:nvGrpSpPr>
        <p:grpSpPr>
          <a:xfrm>
            <a:off x="3479921" y="4259649"/>
            <a:ext cx="2365746" cy="360000"/>
            <a:chOff x="1526959" y="2041864"/>
            <a:chExt cx="2343694" cy="443884"/>
          </a:xfrm>
        </p:grpSpPr>
        <p:sp>
          <p:nvSpPr>
            <p:cNvPr id="18" name="矩形 17"/>
            <p:cNvSpPr/>
            <p:nvPr/>
          </p:nvSpPr>
          <p:spPr>
            <a:xfrm>
              <a:off x="1526959" y="2041864"/>
              <a:ext cx="292963" cy="443884"/>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1</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181992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0" name="矩形 19"/>
            <p:cNvSpPr/>
            <p:nvPr/>
          </p:nvSpPr>
          <p:spPr>
            <a:xfrm>
              <a:off x="211288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1" name="矩形 20"/>
            <p:cNvSpPr/>
            <p:nvPr/>
          </p:nvSpPr>
          <p:spPr>
            <a:xfrm>
              <a:off x="240584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2" name="矩形 21"/>
            <p:cNvSpPr/>
            <p:nvPr/>
          </p:nvSpPr>
          <p:spPr>
            <a:xfrm>
              <a:off x="269880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3" name="矩形 22"/>
            <p:cNvSpPr/>
            <p:nvPr/>
          </p:nvSpPr>
          <p:spPr>
            <a:xfrm>
              <a:off x="2991768"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4" name="矩形 23"/>
            <p:cNvSpPr/>
            <p:nvPr/>
          </p:nvSpPr>
          <p:spPr>
            <a:xfrm>
              <a:off x="328473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25" name="矩形 2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6" name="Text Box 10"/>
          <p:cNvSpPr txBox="1">
            <a:spLocks noChangeArrowheads="1"/>
          </p:cNvSpPr>
          <p:nvPr/>
        </p:nvSpPr>
        <p:spPr bwMode="auto">
          <a:xfrm>
            <a:off x="2034816" y="3700137"/>
            <a:ext cx="11288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dirty="0">
                <a:latin typeface="Montserrat" panose="00000500000000000000" pitchFamily="2" charset="0"/>
                <a:ea typeface="微软雅黑 Light" panose="020B0502040204020203" pitchFamily="34" charset="-122"/>
              </a:rPr>
              <a:t> </a:t>
            </a:r>
            <a:r>
              <a:rPr kumimoji="1" lang="zh-CN" altLang="en-US" sz="1400" dirty="0">
                <a:latin typeface="Montserrat" panose="00000500000000000000" pitchFamily="2" charset="0"/>
                <a:ea typeface="微软雅黑 Light" panose="020B0502040204020203" pitchFamily="34" charset="-122"/>
              </a:rPr>
              <a:t>数据字符：</a:t>
            </a:r>
          </a:p>
        </p:txBody>
      </p:sp>
      <p:grpSp>
        <p:nvGrpSpPr>
          <p:cNvPr id="16" name="组合 15"/>
          <p:cNvGrpSpPr/>
          <p:nvPr/>
        </p:nvGrpSpPr>
        <p:grpSpPr>
          <a:xfrm>
            <a:off x="3479921" y="3669817"/>
            <a:ext cx="2365752" cy="360000"/>
            <a:chOff x="1526957" y="2041864"/>
            <a:chExt cx="2343696" cy="443884"/>
          </a:xfrm>
        </p:grpSpPr>
        <p:sp>
          <p:nvSpPr>
            <p:cNvPr id="8" name="矩形 7"/>
            <p:cNvSpPr/>
            <p:nvPr/>
          </p:nvSpPr>
          <p:spPr>
            <a:xfrm>
              <a:off x="1526957" y="2041864"/>
              <a:ext cx="292963" cy="443884"/>
            </a:xfrm>
            <a:prstGeom prst="rect">
              <a:avLst/>
            </a:prstGeom>
            <a:solidFill>
              <a:srgbClr val="FFC0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400" dirty="0">
                  <a:solidFill>
                    <a:schemeClr val="tx1"/>
                  </a:solidFill>
                  <a:latin typeface="Montserrat" panose="00000500000000000000" pitchFamily="2" charset="0"/>
                  <a:ea typeface="微软雅黑 Light" panose="020B0502040204020203" pitchFamily="34" charset="-122"/>
                </a:rPr>
                <a:t>0</a:t>
              </a: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9" name="矩形 8"/>
            <p:cNvSpPr/>
            <p:nvPr/>
          </p:nvSpPr>
          <p:spPr>
            <a:xfrm>
              <a:off x="1819919"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2112881"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1" name="矩形 10"/>
            <p:cNvSpPr/>
            <p:nvPr/>
          </p:nvSpPr>
          <p:spPr>
            <a:xfrm>
              <a:off x="2405843"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698805"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3" name="矩形 12"/>
            <p:cNvSpPr/>
            <p:nvPr/>
          </p:nvSpPr>
          <p:spPr>
            <a:xfrm>
              <a:off x="2991764"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4" name="矩形 13"/>
            <p:cNvSpPr/>
            <p:nvPr/>
          </p:nvSpPr>
          <p:spPr>
            <a:xfrm>
              <a:off x="3284726"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577690" y="2041864"/>
              <a:ext cx="292963" cy="443884"/>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400" dirty="0">
                <a:solidFill>
                  <a:schemeClr val="tx1"/>
                </a:solidFill>
                <a:latin typeface="Montserrat" panose="00000500000000000000" pitchFamily="2" charset="0"/>
                <a:ea typeface="微软雅黑 Light" panose="020B0502040204020203" pitchFamily="34" charset="-122"/>
              </a:endParaRPr>
            </a:p>
          </p:txBody>
        </p:sp>
      </p:grpSp>
      <p:sp>
        <p:nvSpPr>
          <p:cNvPr id="26" name="右大括号 25"/>
          <p:cNvSpPr/>
          <p:nvPr/>
        </p:nvSpPr>
        <p:spPr>
          <a:xfrm rot="16200000">
            <a:off x="4710726" y="2486661"/>
            <a:ext cx="199855" cy="2070029"/>
          </a:xfrm>
          <a:prstGeom prst="rightBrace">
            <a:avLst>
              <a:gd name="adj1" fmla="val 38636"/>
              <a:gd name="adj2" fmla="val 50000"/>
            </a:avLst>
          </a:prstGeom>
          <a:ln w="9525">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600" dirty="0">
              <a:ln w="19050">
                <a:solidFill>
                  <a:schemeClr val="tx1"/>
                </a:solidFill>
              </a:ln>
              <a:latin typeface="Montserrat" panose="00000500000000000000" pitchFamily="2" charset="0"/>
              <a:ea typeface="微软雅黑 Light" panose="020B0502040204020203" pitchFamily="34" charset="-122"/>
            </a:endParaRPr>
          </a:p>
        </p:txBody>
      </p:sp>
      <p:sp>
        <p:nvSpPr>
          <p:cNvPr id="27" name="Text Box 10"/>
          <p:cNvSpPr txBox="1">
            <a:spLocks noChangeArrowheads="1"/>
          </p:cNvSpPr>
          <p:nvPr/>
        </p:nvSpPr>
        <p:spPr bwMode="auto">
          <a:xfrm>
            <a:off x="3956193" y="3143853"/>
            <a:ext cx="147348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标准 </a:t>
            </a:r>
            <a:r>
              <a:rPr kumimoji="1" lang="en-US" altLang="zh-CN" sz="1400" dirty="0">
                <a:latin typeface="Montserrat" panose="00000500000000000000" pitchFamily="2" charset="0"/>
                <a:ea typeface="微软雅黑 Light" panose="020B0502040204020203" pitchFamily="34" charset="-122"/>
              </a:rPr>
              <a:t>ASCII </a:t>
            </a:r>
            <a:r>
              <a:rPr kumimoji="1" lang="zh-CN" altLang="en-US" sz="1400" dirty="0">
                <a:latin typeface="Montserrat" panose="00000500000000000000" pitchFamily="2" charset="0"/>
                <a:ea typeface="微软雅黑 Light" panose="020B0502040204020203" pitchFamily="34" charset="-122"/>
              </a:rPr>
              <a:t>字符</a:t>
            </a:r>
          </a:p>
        </p:txBody>
      </p:sp>
    </p:spTree>
    <p:extLst>
      <p:ext uri="{BB962C8B-B14F-4D97-AF65-F5344CB8AC3E}">
        <p14:creationId xmlns:p14="http://schemas.microsoft.com/office/powerpoint/2010/main" val="3007790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 name="Line 16"/>
          <p:cNvSpPr>
            <a:spLocks noChangeShapeType="1"/>
          </p:cNvSpPr>
          <p:nvPr/>
        </p:nvSpPr>
        <p:spPr bwMode="auto">
          <a:xfrm>
            <a:off x="3637198" y="832562"/>
            <a:ext cx="0" cy="3357124"/>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8">
            <a:extLst>
              <a:ext uri="{FF2B5EF4-FFF2-40B4-BE49-F238E27FC236}">
                <a16:creationId xmlns:a16="http://schemas.microsoft.com/office/drawing/2014/main" id="{73679B2E-C224-EAB3-9287-3A88C41CCC99}"/>
              </a:ext>
            </a:extLst>
          </p:cNvPr>
          <p:cNvSpPr>
            <a:spLocks noChangeArrowheads="1"/>
          </p:cNvSpPr>
          <p:nvPr/>
        </p:nvSpPr>
        <p:spPr bwMode="auto">
          <a:xfrm>
            <a:off x="3563766" y="1354881"/>
            <a:ext cx="4197661" cy="26359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万维网</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统一资源定位符 </a:t>
            </a:r>
            <a:r>
              <a:rPr lang="en-US" altLang="zh-CN" sz="1600" dirty="0">
                <a:latin typeface="Montserrat" panose="00000500000000000000" pitchFamily="2" charset="0"/>
                <a:ea typeface="微软雅黑 Light" panose="020B0502040204020203" pitchFamily="34" charset="-122"/>
              </a:rPr>
              <a:t>URL</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6.4.3 </a:t>
            </a:r>
            <a:r>
              <a:rPr lang="zh-CN" altLang="en-US" sz="1600" dirty="0">
                <a:latin typeface="Montserrat" panose="00000500000000000000" pitchFamily="2" charset="0"/>
                <a:ea typeface="微软雅黑 Light" panose="020B0502040204020203" pitchFamily="34" charset="-122"/>
              </a:rPr>
              <a:t>超文本传送协议 </a:t>
            </a:r>
            <a:r>
              <a:rPr lang="en-US" altLang="zh-CN" sz="1600" dirty="0">
                <a:latin typeface="Montserrat" panose="00000500000000000000" pitchFamily="2" charset="0"/>
                <a:ea typeface="微软雅黑 Light" panose="020B0502040204020203" pitchFamily="34" charset="-122"/>
              </a:rPr>
              <a:t>HTTP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6.4.4 </a:t>
            </a:r>
            <a:r>
              <a:rPr lang="zh-CN" altLang="en-US" sz="1600" dirty="0">
                <a:latin typeface="Montserrat" panose="00000500000000000000" pitchFamily="2" charset="0"/>
                <a:ea typeface="微软雅黑 Light" panose="020B0502040204020203" pitchFamily="34" charset="-122"/>
              </a:rPr>
              <a:t>万维网的文档</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6.4.5 </a:t>
            </a:r>
            <a:r>
              <a:rPr lang="zh-CN" altLang="en-US" sz="1600" dirty="0">
                <a:latin typeface="Montserrat" panose="00000500000000000000" pitchFamily="2" charset="0"/>
                <a:ea typeface="微软雅黑 Light" panose="020B0502040204020203" pitchFamily="34" charset="-122"/>
              </a:rPr>
              <a:t>万维网的信息检索系统</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6.4.6 </a:t>
            </a:r>
            <a:r>
              <a:rPr lang="zh-CN" altLang="en-US" sz="1600" dirty="0">
                <a:latin typeface="Montserrat" panose="00000500000000000000" pitchFamily="2" charset="0"/>
                <a:ea typeface="微软雅黑 Light" panose="020B0502040204020203" pitchFamily="34" charset="-122"/>
              </a:rPr>
              <a:t>博客和微博</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6.4.7 </a:t>
            </a:r>
            <a:r>
              <a:rPr lang="zh-CN" altLang="en-US" sz="1600" dirty="0">
                <a:latin typeface="Montserrat" panose="00000500000000000000" pitchFamily="2" charset="0"/>
                <a:ea typeface="微软雅黑 Light" panose="020B0502040204020203" pitchFamily="34" charset="-122"/>
              </a:rPr>
              <a:t>社交网站</a:t>
            </a:r>
            <a:endParaRPr lang="en-US" altLang="zh-CN" sz="1600" dirty="0">
              <a:latin typeface="Montserrat" panose="00000500000000000000" pitchFamily="2" charset="0"/>
              <a:ea typeface="微软雅黑 Light" panose="020B0502040204020203" pitchFamily="34" charset="-122"/>
            </a:endParaRPr>
          </a:p>
        </p:txBody>
      </p:sp>
      <p:sp>
        <p:nvSpPr>
          <p:cNvPr id="3" name="Rectangle 29">
            <a:extLst>
              <a:ext uri="{FF2B5EF4-FFF2-40B4-BE49-F238E27FC236}">
                <a16:creationId xmlns:a16="http://schemas.microsoft.com/office/drawing/2014/main" id="{B1BD7EB0-BA73-6A6A-F3FC-97DC958FA28A}"/>
              </a:ext>
            </a:extLst>
          </p:cNvPr>
          <p:cNvSpPr>
            <a:spLocks noChangeArrowheads="1"/>
          </p:cNvSpPr>
          <p:nvPr/>
        </p:nvSpPr>
        <p:spPr bwMode="auto">
          <a:xfrm>
            <a:off x="3563766" y="711857"/>
            <a:ext cx="509011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FF0000"/>
                </a:solidFill>
                <a:latin typeface="Montserrat" panose="00000500000000000000" pitchFamily="2" charset="0"/>
                <a:ea typeface="微软雅黑 Light" panose="020B0502040204020203" pitchFamily="34" charset="-122"/>
              </a:rPr>
              <a:t>6.4</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万维网 </a:t>
            </a:r>
            <a:r>
              <a:rPr lang="en-US" altLang="zh-CN" sz="2000" dirty="0">
                <a:latin typeface="Montserrat" panose="00000500000000000000" pitchFamily="2" charset="0"/>
                <a:ea typeface="微软雅黑 Light" panose="020B0502040204020203" pitchFamily="34" charset="-122"/>
              </a:rPr>
              <a:t>WWW</a:t>
            </a: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2777D-2169-A9BA-FAAE-E8045FF59173}"/>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3" name="内容占位符 2">
            <a:extLst>
              <a:ext uri="{FF2B5EF4-FFF2-40B4-BE49-F238E27FC236}">
                <a16:creationId xmlns:a16="http://schemas.microsoft.com/office/drawing/2014/main" id="{271EB87E-22F1-DB0E-90D1-0F5DCB83F6BC}"/>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(World Wide Web) </a:t>
            </a:r>
            <a:r>
              <a:rPr lang="zh-CN" altLang="en-US" dirty="0"/>
              <a:t>并非某种特殊的计算机网络</a:t>
            </a:r>
          </a:p>
          <a:p>
            <a:r>
              <a:rPr lang="zh-CN" altLang="en-US" dirty="0"/>
              <a:t>万维网是一个大规模的、联机式的信息储藏所</a:t>
            </a:r>
          </a:p>
          <a:p>
            <a:r>
              <a:rPr lang="zh-CN" altLang="en-US" dirty="0"/>
              <a:t>万维网用链接的方法能非常方便地从互联网上的一个站点访问另一个站点，从而主动地按需获取丰富的信息</a:t>
            </a:r>
          </a:p>
          <a:p>
            <a:r>
              <a:rPr lang="zh-CN" altLang="en-US" dirty="0"/>
              <a:t>这种访问方式称为链接 </a:t>
            </a:r>
            <a:r>
              <a:rPr lang="en-US" altLang="zh-CN" dirty="0"/>
              <a:t>- Hyperlink</a:t>
            </a:r>
            <a:endParaRPr lang="zh-CN" altLang="en-US" dirty="0"/>
          </a:p>
          <a:p>
            <a:endParaRPr lang="zh-CN" altLang="en-US" dirty="0"/>
          </a:p>
        </p:txBody>
      </p:sp>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D7D356F-45B6-E32E-194F-BA74B3773C29}"/>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BFC31B7-58D6-5C31-B382-C61B8AE72055}"/>
              </a:ext>
            </a:extLst>
          </p:cNvPr>
          <p:cNvSpPr>
            <a:spLocks noGrp="1"/>
          </p:cNvSpPr>
          <p:nvPr>
            <p:ph sz="quarter" idx="11"/>
          </p:nvPr>
        </p:nvSpPr>
        <p:spPr>
          <a:xfrm>
            <a:off x="486000" y="687518"/>
            <a:ext cx="8172000" cy="4079035"/>
          </a:xfrm>
        </p:spPr>
        <p:txBody>
          <a:bodyPr/>
          <a:lstStyle/>
          <a:p>
            <a:r>
              <a:rPr lang="zh-CN" altLang="en-US" dirty="0"/>
              <a:t>万维网 </a:t>
            </a:r>
            <a:r>
              <a:rPr lang="en-US" altLang="zh-CN" dirty="0"/>
              <a:t>WWW - World Wide Web</a:t>
            </a:r>
          </a:p>
          <a:p>
            <a:pPr lvl="1"/>
            <a:r>
              <a:rPr lang="zh-CN" altLang="en-US" dirty="0"/>
              <a:t>一个大规模的、联机式的信息储藏所</a:t>
            </a:r>
            <a:endParaRPr lang="en-US" altLang="zh-CN" dirty="0"/>
          </a:p>
          <a:p>
            <a:pPr lvl="1"/>
            <a:r>
              <a:rPr lang="zh-CN" altLang="en-US" dirty="0"/>
              <a:t>并非某种特殊的计算机网络</a:t>
            </a:r>
            <a:endParaRPr lang="en-US" altLang="zh-CN" dirty="0"/>
          </a:p>
          <a:p>
            <a:pPr lvl="1"/>
            <a:r>
              <a:rPr lang="zh-CN" altLang="en-US" dirty="0"/>
              <a:t>访问方法：链接</a:t>
            </a:r>
            <a:endParaRPr lang="en-US" altLang="zh-CN" dirty="0"/>
          </a:p>
          <a:p>
            <a:pPr lvl="1"/>
            <a:r>
              <a:rPr lang="zh-CN" altLang="en-US" dirty="0"/>
              <a:t>提供分布式服务</a:t>
            </a:r>
          </a:p>
          <a:p>
            <a:pPr lvl="1"/>
            <a:endParaRPr lang="zh-CN" altLang="en-US" dirty="0"/>
          </a:p>
          <a:p>
            <a:endParaRPr lang="zh-CN" altLang="en-US" dirty="0"/>
          </a:p>
        </p:txBody>
      </p:sp>
      <p:sp>
        <p:nvSpPr>
          <p:cNvPr id="138" name="Text Box 5"/>
          <p:cNvSpPr txBox="1">
            <a:spLocks noChangeArrowheads="1"/>
          </p:cNvSpPr>
          <p:nvPr/>
        </p:nvSpPr>
        <p:spPr bwMode="auto">
          <a:xfrm>
            <a:off x="3484179" y="330214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39" name="Text Box 6"/>
          <p:cNvSpPr txBox="1">
            <a:spLocks noChangeArrowheads="1"/>
          </p:cNvSpPr>
          <p:nvPr/>
        </p:nvSpPr>
        <p:spPr bwMode="auto">
          <a:xfrm>
            <a:off x="2277974" y="2141875"/>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0" name="Text Box 7"/>
          <p:cNvSpPr txBox="1">
            <a:spLocks noChangeArrowheads="1"/>
          </p:cNvSpPr>
          <p:nvPr/>
        </p:nvSpPr>
        <p:spPr bwMode="auto">
          <a:xfrm>
            <a:off x="4293146" y="2041761"/>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41" name="Text Box 8"/>
          <p:cNvSpPr txBox="1">
            <a:spLocks noChangeArrowheads="1"/>
          </p:cNvSpPr>
          <p:nvPr/>
        </p:nvSpPr>
        <p:spPr bwMode="auto">
          <a:xfrm>
            <a:off x="5387480" y="326034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63" name="Text Box 9"/>
          <p:cNvSpPr txBox="1">
            <a:spLocks noChangeArrowheads="1"/>
          </p:cNvSpPr>
          <p:nvPr/>
        </p:nvSpPr>
        <p:spPr bwMode="auto">
          <a:xfrm>
            <a:off x="5791669" y="2313576"/>
            <a:ext cx="434425" cy="5655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4000" dirty="0">
                <a:solidFill>
                  <a:srgbClr val="009900"/>
                </a:solidFill>
                <a:latin typeface="Montserrat" panose="00000500000000000000" pitchFamily="2" charset="0"/>
                <a:ea typeface="微软雅黑 Light" panose="020B0502040204020203" pitchFamily="34" charset="-122"/>
                <a:sym typeface="Wingdings" pitchFamily="2" charset="2"/>
              </a:rPr>
              <a:t></a:t>
            </a:r>
            <a:endParaRPr kumimoji="1" lang="en-US" altLang="zh-CN" sz="4000" dirty="0">
              <a:solidFill>
                <a:srgbClr val="009900"/>
              </a:solidFill>
              <a:latin typeface="Montserrat" panose="00000500000000000000" pitchFamily="2" charset="0"/>
              <a:ea typeface="微软雅黑 Light" panose="020B0502040204020203" pitchFamily="34" charset="-122"/>
            </a:endParaRPr>
          </a:p>
        </p:txBody>
      </p:sp>
      <p:sp>
        <p:nvSpPr>
          <p:cNvPr id="174" name="Text Box 11"/>
          <p:cNvSpPr txBox="1">
            <a:spLocks noChangeArrowheads="1"/>
          </p:cNvSpPr>
          <p:nvPr/>
        </p:nvSpPr>
        <p:spPr bwMode="auto">
          <a:xfrm>
            <a:off x="2244675" y="3166297"/>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A</a:t>
            </a:r>
          </a:p>
        </p:txBody>
      </p:sp>
      <p:sp>
        <p:nvSpPr>
          <p:cNvPr id="179" name="Text Box 16"/>
          <p:cNvSpPr txBox="1">
            <a:spLocks noChangeArrowheads="1"/>
          </p:cNvSpPr>
          <p:nvPr/>
        </p:nvSpPr>
        <p:spPr bwMode="auto">
          <a:xfrm>
            <a:off x="5758370" y="3238782"/>
            <a:ext cx="501023"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C</a:t>
            </a:r>
          </a:p>
        </p:txBody>
      </p:sp>
      <p:sp>
        <p:nvSpPr>
          <p:cNvPr id="180" name="Text Box 17"/>
          <p:cNvSpPr txBox="1">
            <a:spLocks noChangeArrowheads="1"/>
          </p:cNvSpPr>
          <p:nvPr/>
        </p:nvSpPr>
        <p:spPr bwMode="auto">
          <a:xfrm>
            <a:off x="5357383" y="4260198"/>
            <a:ext cx="494619"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E</a:t>
            </a:r>
          </a:p>
        </p:txBody>
      </p:sp>
      <p:sp>
        <p:nvSpPr>
          <p:cNvPr id="181" name="Text Box 18"/>
          <p:cNvSpPr txBox="1">
            <a:spLocks noChangeArrowheads="1"/>
          </p:cNvSpPr>
          <p:nvPr/>
        </p:nvSpPr>
        <p:spPr bwMode="auto">
          <a:xfrm>
            <a:off x="3444476" y="4312272"/>
            <a:ext cx="513830"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Site D</a:t>
            </a:r>
          </a:p>
        </p:txBody>
      </p:sp>
      <p:sp>
        <p:nvSpPr>
          <p:cNvPr id="182" name="Text Box 19"/>
          <p:cNvSpPr txBox="1">
            <a:spLocks noChangeArrowheads="1"/>
          </p:cNvSpPr>
          <p:nvPr/>
        </p:nvSpPr>
        <p:spPr bwMode="auto">
          <a:xfrm>
            <a:off x="4257926" y="3037234"/>
            <a:ext cx="504865" cy="221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Site B</a:t>
            </a:r>
          </a:p>
        </p:txBody>
      </p:sp>
      <p:sp>
        <p:nvSpPr>
          <p:cNvPr id="184" name="Line 25"/>
          <p:cNvSpPr>
            <a:spLocks noChangeShapeType="1"/>
          </p:cNvSpPr>
          <p:nvPr/>
        </p:nvSpPr>
        <p:spPr bwMode="auto">
          <a:xfrm flipV="1">
            <a:off x="2708893" y="2339557"/>
            <a:ext cx="1600791" cy="142876"/>
          </a:xfrm>
          <a:prstGeom prst="line">
            <a:avLst/>
          </a:prstGeom>
          <a:noFill/>
          <a:ln w="19050">
            <a:solidFill>
              <a:srgbClr val="00B0F0"/>
            </a:solidFill>
            <a:prstDash val="sysDot"/>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85" name="Text Box 26"/>
          <p:cNvSpPr txBox="1">
            <a:spLocks noChangeArrowheads="1"/>
          </p:cNvSpPr>
          <p:nvPr/>
        </p:nvSpPr>
        <p:spPr bwMode="auto">
          <a:xfrm rot="21377422">
            <a:off x="3130740" y="220170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87" name="Line 22"/>
          <p:cNvSpPr>
            <a:spLocks noChangeShapeType="1"/>
          </p:cNvSpPr>
          <p:nvPr/>
        </p:nvSpPr>
        <p:spPr bwMode="auto">
          <a:xfrm flipH="1">
            <a:off x="3790248" y="2544687"/>
            <a:ext cx="541744" cy="914777"/>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8" name="Text Box 27"/>
          <p:cNvSpPr txBox="1">
            <a:spLocks noChangeArrowheads="1"/>
          </p:cNvSpPr>
          <p:nvPr/>
        </p:nvSpPr>
        <p:spPr bwMode="auto">
          <a:xfrm rot="18143965">
            <a:off x="3654585" y="270624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0" name="Line 20"/>
          <p:cNvSpPr>
            <a:spLocks noChangeShapeType="1"/>
          </p:cNvSpPr>
          <p:nvPr/>
        </p:nvSpPr>
        <p:spPr bwMode="auto">
          <a:xfrm>
            <a:off x="2708893" y="2634812"/>
            <a:ext cx="2742401" cy="1111162"/>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1" name="Text Box 28"/>
          <p:cNvSpPr txBox="1">
            <a:spLocks noChangeArrowheads="1"/>
          </p:cNvSpPr>
          <p:nvPr/>
        </p:nvSpPr>
        <p:spPr bwMode="auto">
          <a:xfrm rot="1357240">
            <a:off x="2900513" y="2634226"/>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3" name="Line 21"/>
          <p:cNvSpPr>
            <a:spLocks noChangeShapeType="1"/>
          </p:cNvSpPr>
          <p:nvPr/>
        </p:nvSpPr>
        <p:spPr bwMode="auto">
          <a:xfrm flipV="1">
            <a:off x="3903221" y="3034269"/>
            <a:ext cx="1855148" cy="761601"/>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4" name="Text Box 29"/>
          <p:cNvSpPr txBox="1">
            <a:spLocks noChangeArrowheads="1"/>
          </p:cNvSpPr>
          <p:nvPr/>
        </p:nvSpPr>
        <p:spPr bwMode="auto">
          <a:xfrm rot="20118828">
            <a:off x="3937492" y="3586431"/>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
        <p:nvSpPr>
          <p:cNvPr id="199" name="Line 23"/>
          <p:cNvSpPr>
            <a:spLocks noChangeShapeType="1"/>
          </p:cNvSpPr>
          <p:nvPr/>
        </p:nvSpPr>
        <p:spPr bwMode="auto">
          <a:xfrm>
            <a:off x="4692183" y="2634812"/>
            <a:ext cx="759112" cy="864625"/>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00" name="Text Box 31"/>
          <p:cNvSpPr txBox="1">
            <a:spLocks noChangeArrowheads="1"/>
          </p:cNvSpPr>
          <p:nvPr/>
        </p:nvSpPr>
        <p:spPr bwMode="auto">
          <a:xfrm rot="2686426">
            <a:off x="4678200" y="27423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pic>
        <p:nvPicPr>
          <p:cNvPr id="219"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0358" y="393874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0"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309325" y="268771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1"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07848" y="2868171"/>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222" name="Picture 200"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403659" y="3897296"/>
            <a:ext cx="402066" cy="402066"/>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200" descr="jisuanji">
            <a:extLst>
              <a:ext uri="{FF2B5EF4-FFF2-40B4-BE49-F238E27FC236}">
                <a16:creationId xmlns:a16="http://schemas.microsoft.com/office/drawing/2014/main" id="{CDE12068-5C2B-3416-B5B5-110E101C47E4}"/>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294153" y="2769744"/>
            <a:ext cx="402066" cy="402066"/>
          </a:xfrm>
          <a:prstGeom prst="rect">
            <a:avLst/>
          </a:prstGeom>
          <a:noFill/>
          <a:extLst>
            <a:ext uri="{909E8E84-426E-40DD-AFC4-6F175D3DCCD1}">
              <a14:hiddenFill xmlns:a14="http://schemas.microsoft.com/office/drawing/2010/main">
                <a:solidFill>
                  <a:srgbClr val="FFFFFF"/>
                </a:solidFill>
              </a14:hiddenFill>
            </a:ext>
          </a:extLst>
        </p:spPr>
      </p:pic>
      <p:sp>
        <p:nvSpPr>
          <p:cNvPr id="196" name="Line 24"/>
          <p:cNvSpPr>
            <a:spLocks noChangeShapeType="1"/>
          </p:cNvSpPr>
          <p:nvPr/>
        </p:nvSpPr>
        <p:spPr bwMode="auto">
          <a:xfrm flipH="1" flipV="1">
            <a:off x="2683406" y="2769744"/>
            <a:ext cx="878522" cy="874803"/>
          </a:xfrm>
          <a:prstGeom prst="line">
            <a:avLst/>
          </a:prstGeom>
          <a:noFill/>
          <a:ln w="19050">
            <a:solidFill>
              <a:srgbClr val="00B0F0"/>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197" name="Text Box 30"/>
          <p:cNvSpPr txBox="1">
            <a:spLocks noChangeArrowheads="1"/>
          </p:cNvSpPr>
          <p:nvPr/>
        </p:nvSpPr>
        <p:spPr bwMode="auto">
          <a:xfrm rot="2570439">
            <a:off x="2878184" y="3047625"/>
            <a:ext cx="788999" cy="2462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000" dirty="0">
                <a:latin typeface="Montserrat" panose="00000500000000000000" pitchFamily="2" charset="0"/>
                <a:ea typeface="微软雅黑 Light" panose="020B0502040204020203" pitchFamily="34" charset="-122"/>
              </a:rPr>
              <a:t>hyperlink</a:t>
            </a:r>
            <a:endParaRPr kumimoji="1"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D4DD07-2C87-9C19-22D1-59237644EB6C}"/>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112660B0-D440-C132-1245-0C7311303A49}"/>
              </a:ext>
            </a:extLst>
          </p:cNvPr>
          <p:cNvSpPr>
            <a:spLocks noGrp="1"/>
          </p:cNvSpPr>
          <p:nvPr>
            <p:ph sz="quarter" idx="11"/>
          </p:nvPr>
        </p:nvSpPr>
        <p:spPr>
          <a:xfrm>
            <a:off x="486000" y="687518"/>
            <a:ext cx="8172000" cy="4079035"/>
          </a:xfrm>
        </p:spPr>
        <p:txBody>
          <a:bodyPr/>
          <a:lstStyle/>
          <a:p>
            <a:r>
              <a:rPr lang="zh-CN" altLang="en-US" dirty="0"/>
              <a:t>万维网是分布式超媒体 </a:t>
            </a:r>
            <a:r>
              <a:rPr lang="en-US" altLang="zh-CN" dirty="0"/>
              <a:t>Hypermedia </a:t>
            </a:r>
            <a:r>
              <a:rPr lang="zh-CN" altLang="en-US" dirty="0"/>
              <a:t>系统</a:t>
            </a:r>
          </a:p>
          <a:p>
            <a:r>
              <a:rPr lang="zh-CN" altLang="en-US" dirty="0"/>
              <a:t>是超文本 </a:t>
            </a:r>
            <a:r>
              <a:rPr lang="en-US" altLang="zh-CN" dirty="0"/>
              <a:t>Hypertext  </a:t>
            </a:r>
            <a:r>
              <a:rPr lang="zh-CN" altLang="en-US" dirty="0"/>
              <a:t>系统的扩充</a:t>
            </a:r>
          </a:p>
          <a:p>
            <a:r>
              <a:rPr lang="zh-CN" altLang="en-US" dirty="0"/>
              <a:t>超文本</a:t>
            </a:r>
            <a:endParaRPr lang="en-US" altLang="zh-CN" dirty="0"/>
          </a:p>
          <a:p>
            <a:pPr lvl="1"/>
            <a:r>
              <a:rPr lang="zh-CN" altLang="en-US" dirty="0"/>
              <a:t>由多个信息源链接成</a:t>
            </a:r>
            <a:endParaRPr lang="en-US" altLang="zh-CN" dirty="0"/>
          </a:p>
          <a:p>
            <a:pPr lvl="1"/>
            <a:r>
              <a:rPr lang="zh-CN" altLang="en-US" dirty="0"/>
              <a:t>是万维网的基础</a:t>
            </a:r>
          </a:p>
          <a:p>
            <a:r>
              <a:rPr lang="zh-CN" altLang="en-US" dirty="0"/>
              <a:t>超媒体与超文本的区别</a:t>
            </a:r>
            <a:endParaRPr lang="en-US" altLang="zh-CN" dirty="0"/>
          </a:p>
          <a:p>
            <a:pPr lvl="1"/>
            <a:r>
              <a:rPr lang="zh-CN" altLang="en-US" dirty="0"/>
              <a:t>超文本文档仅包含文本信息</a:t>
            </a:r>
            <a:endParaRPr lang="en-US" altLang="zh-CN" dirty="0"/>
          </a:p>
          <a:p>
            <a:pPr lvl="1"/>
            <a:r>
              <a:rPr lang="zh-CN" altLang="en-US" dirty="0"/>
              <a:t>超媒体文档还包含其他信息，如图形、图像、声音、动画，甚至活动视频图像等</a:t>
            </a:r>
            <a:endParaRPr lang="en-US" altLang="zh-CN" dirty="0"/>
          </a:p>
          <a:p>
            <a:pPr lvl="1"/>
            <a:r>
              <a:rPr lang="zh-CN" altLang="en-US" dirty="0"/>
              <a:t>分布式系统</a:t>
            </a:r>
            <a:endParaRPr lang="en-US" altLang="zh-CN" dirty="0"/>
          </a:p>
          <a:p>
            <a:pPr lvl="1"/>
            <a:r>
              <a:rPr lang="zh-CN" altLang="en-US" dirty="0"/>
              <a:t>信息分布在整个互联网上。每台主机上的文档都独立进行管理</a:t>
            </a:r>
          </a:p>
          <a:p>
            <a:endParaRPr lang="zh-CN" altLang="en-US" dirty="0"/>
          </a:p>
        </p:txBody>
      </p:sp>
    </p:spTree>
    <p:extLst>
      <p:ext uri="{BB962C8B-B14F-4D97-AF65-F5344CB8AC3E}">
        <p14:creationId xmlns:p14="http://schemas.microsoft.com/office/powerpoint/2010/main" val="24101201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D49B3AE6-00CA-4063-181C-55282E0C2875}"/>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FE67586E-52D7-451E-2FCA-3E6BB107C478}"/>
              </a:ext>
            </a:extLst>
          </p:cNvPr>
          <p:cNvSpPr>
            <a:spLocks noGrp="1"/>
          </p:cNvSpPr>
          <p:nvPr>
            <p:ph sz="quarter" idx="11"/>
          </p:nvPr>
        </p:nvSpPr>
        <p:spPr>
          <a:xfrm>
            <a:off x="486000" y="687518"/>
            <a:ext cx="8172000" cy="4079035"/>
          </a:xfrm>
        </p:spPr>
        <p:txBody>
          <a:bodyPr/>
          <a:lstStyle/>
          <a:p>
            <a:r>
              <a:rPr lang="zh-CN" altLang="en-US" dirty="0"/>
              <a:t>以客户 </a:t>
            </a:r>
            <a:r>
              <a:rPr lang="en-US" altLang="zh-CN" dirty="0"/>
              <a:t>Client/</a:t>
            </a:r>
            <a:r>
              <a:rPr lang="zh-CN" altLang="en-US" dirty="0"/>
              <a:t>服务器</a:t>
            </a:r>
            <a:r>
              <a:rPr lang="en-US" altLang="zh-CN" dirty="0"/>
              <a:t>Server</a:t>
            </a:r>
            <a:r>
              <a:rPr lang="zh-CN" altLang="en-US" dirty="0"/>
              <a:t> </a:t>
            </a:r>
            <a:r>
              <a:rPr lang="en-US" altLang="zh-CN" dirty="0"/>
              <a:t>– C/S </a:t>
            </a:r>
            <a:r>
              <a:rPr lang="zh-CN" altLang="en-US" dirty="0"/>
              <a:t>方式工作</a:t>
            </a:r>
          </a:p>
          <a:p>
            <a:r>
              <a:rPr lang="zh-CN" altLang="en-US" dirty="0"/>
              <a:t>客户程序</a:t>
            </a:r>
            <a:endParaRPr lang="en-US" altLang="zh-CN" dirty="0"/>
          </a:p>
          <a:p>
            <a:pPr lvl="1"/>
            <a:r>
              <a:rPr lang="zh-CN" altLang="en-US" dirty="0"/>
              <a:t>客户程序向服务器程序发出请求</a:t>
            </a:r>
            <a:endParaRPr lang="en-US" altLang="zh-CN" dirty="0"/>
          </a:p>
          <a:p>
            <a:pPr lvl="1"/>
            <a:r>
              <a:rPr lang="zh-CN" altLang="en-US" dirty="0"/>
              <a:t>一个客户程序主窗口上显示出的万维网文档称为页面 </a:t>
            </a:r>
            <a:r>
              <a:rPr lang="en-US" altLang="zh-CN" dirty="0"/>
              <a:t>Page</a:t>
            </a:r>
          </a:p>
          <a:p>
            <a:pPr lvl="1"/>
            <a:r>
              <a:rPr lang="zh-CN" altLang="en-US" dirty="0"/>
              <a:t>浏览器</a:t>
            </a:r>
            <a:endParaRPr lang="en-US" altLang="zh-CN" dirty="0"/>
          </a:p>
          <a:p>
            <a:r>
              <a:rPr lang="zh-CN" altLang="en-US" dirty="0"/>
              <a:t>服务器程序</a:t>
            </a:r>
            <a:endParaRPr lang="en-US" altLang="zh-CN" dirty="0"/>
          </a:p>
          <a:p>
            <a:pPr lvl="1"/>
            <a:r>
              <a:rPr lang="zh-CN" altLang="en-US" dirty="0"/>
              <a:t>在万维网文档所驻留的主机上运行。这个主机也称为万维网服务器</a:t>
            </a:r>
            <a:endParaRPr lang="en-US" altLang="zh-CN" dirty="0"/>
          </a:p>
          <a:p>
            <a:pPr lvl="1"/>
            <a:r>
              <a:rPr lang="zh-CN" altLang="en-US" dirty="0"/>
              <a:t>服务器程序向客户程序送回客户所要的万维网文档</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94F1E1E-A38F-3B02-E851-C281C2BD14CB}"/>
              </a:ext>
            </a:extLst>
          </p:cNvPr>
          <p:cNvSpPr>
            <a:spLocks noGrp="1"/>
          </p:cNvSpPr>
          <p:nvPr>
            <p:ph type="title"/>
          </p:nvPr>
        </p:nvSpPr>
        <p:spPr>
          <a:xfrm>
            <a:off x="485999" y="174482"/>
            <a:ext cx="8171999" cy="338554"/>
          </a:xfrm>
        </p:spPr>
        <p:txBody>
          <a:bodyPr/>
          <a:lstStyle/>
          <a:p>
            <a:r>
              <a:rPr lang="en-US" altLang="zh-CN" dirty="0"/>
              <a:t>6.4.1  </a:t>
            </a:r>
            <a:r>
              <a:rPr lang="zh-CN" altLang="en-US" dirty="0"/>
              <a:t>万维网</a:t>
            </a:r>
          </a:p>
        </p:txBody>
      </p:sp>
      <p:sp>
        <p:nvSpPr>
          <p:cNvPr id="6" name="内容占位符 5">
            <a:extLst>
              <a:ext uri="{FF2B5EF4-FFF2-40B4-BE49-F238E27FC236}">
                <a16:creationId xmlns:a16="http://schemas.microsoft.com/office/drawing/2014/main" id="{60A3FF74-7570-8C38-0408-3277E10EA2B2}"/>
              </a:ext>
            </a:extLst>
          </p:cNvPr>
          <p:cNvSpPr>
            <a:spLocks noGrp="1"/>
          </p:cNvSpPr>
          <p:nvPr>
            <p:ph sz="quarter" idx="11"/>
          </p:nvPr>
        </p:nvSpPr>
        <p:spPr>
          <a:xfrm>
            <a:off x="486000" y="687518"/>
            <a:ext cx="8172000" cy="4079035"/>
          </a:xfrm>
        </p:spPr>
        <p:txBody>
          <a:bodyPr/>
          <a:lstStyle/>
          <a:p>
            <a:r>
              <a:rPr lang="zh-CN" altLang="en-US" dirty="0"/>
              <a:t>怎样标志分布在整个互联网上的万维网文档？ </a:t>
            </a:r>
          </a:p>
          <a:p>
            <a:pPr lvl="1"/>
            <a:r>
              <a:rPr lang="zh-CN" altLang="en-US" dirty="0"/>
              <a:t>使用统一资源定位符 </a:t>
            </a:r>
            <a:r>
              <a:rPr lang="en-US" altLang="zh-CN" dirty="0"/>
              <a:t>URL - Uniform Resource Locator</a:t>
            </a:r>
            <a:endParaRPr lang="zh-CN" altLang="en-US" dirty="0"/>
          </a:p>
          <a:p>
            <a:pPr lvl="1"/>
            <a:r>
              <a:rPr lang="zh-CN" altLang="en-US" dirty="0"/>
              <a:t>使每一个文档在整个互联网的范围内具有唯一的标识符 </a:t>
            </a:r>
            <a:r>
              <a:rPr lang="en-US" altLang="zh-CN" dirty="0"/>
              <a:t>URL</a:t>
            </a:r>
          </a:p>
          <a:p>
            <a:r>
              <a:rPr lang="zh-CN" altLang="en-US" dirty="0"/>
              <a:t>用什么协议来实现万维网上的各种链接？ </a:t>
            </a:r>
          </a:p>
          <a:p>
            <a:pPr lvl="1"/>
            <a:r>
              <a:rPr lang="zh-CN" altLang="en-US" dirty="0"/>
              <a:t>使用超文本传送协议 </a:t>
            </a:r>
            <a:r>
              <a:rPr lang="en-US" altLang="zh-CN" dirty="0"/>
              <a:t>HTTP - </a:t>
            </a:r>
            <a:r>
              <a:rPr lang="en-US" altLang="zh-CN" dirty="0" err="1"/>
              <a:t>HyperText</a:t>
            </a:r>
            <a:r>
              <a:rPr lang="en-US" altLang="zh-CN" dirty="0"/>
              <a:t> Transfer Protocol</a:t>
            </a:r>
            <a:endParaRPr lang="zh-CN" altLang="en-US" dirty="0"/>
          </a:p>
          <a:p>
            <a:pPr lvl="1"/>
            <a:r>
              <a:rPr lang="en-US" altLang="zh-CN" dirty="0"/>
              <a:t>HTTP </a:t>
            </a:r>
            <a:r>
              <a:rPr lang="zh-CN" altLang="en-US" dirty="0"/>
              <a:t>是一个应用层协议，使用 </a:t>
            </a:r>
            <a:r>
              <a:rPr lang="en-US" altLang="zh-CN" dirty="0"/>
              <a:t>TCP </a:t>
            </a:r>
            <a:r>
              <a:rPr lang="zh-CN" altLang="en-US" dirty="0"/>
              <a:t>连接进行可靠的传送 </a:t>
            </a:r>
          </a:p>
          <a:p>
            <a:r>
              <a:rPr lang="zh-CN" altLang="en-US" dirty="0"/>
              <a:t>怎样使不同作者创作的不同风格的万维网文档都能在互联网上的各种主机上显示出来，同时使用户清楚地知道在什么地方存在着链接？</a:t>
            </a:r>
            <a:endParaRPr lang="en-US" altLang="zh-CN" dirty="0"/>
          </a:p>
          <a:p>
            <a:pPr lvl="1"/>
            <a:r>
              <a:rPr lang="zh-CN" altLang="en-US" dirty="0"/>
              <a:t>使用超文本标记语言 </a:t>
            </a:r>
            <a:r>
              <a:rPr lang="en-US" altLang="zh-CN" dirty="0"/>
              <a:t>HTML - </a:t>
            </a:r>
            <a:r>
              <a:rPr lang="en-US" altLang="zh-CN" dirty="0" err="1"/>
              <a:t>HyperText</a:t>
            </a:r>
            <a:r>
              <a:rPr lang="en-US" altLang="zh-CN" dirty="0"/>
              <a:t> Markup Language</a:t>
            </a:r>
          </a:p>
          <a:p>
            <a:r>
              <a:rPr lang="zh-CN" altLang="en-US" dirty="0"/>
              <a:t>怎样使用户能够很方便地找到所需的信息？ </a:t>
            </a:r>
          </a:p>
          <a:p>
            <a:pPr lvl="1"/>
            <a:r>
              <a:rPr lang="zh-CN" altLang="en-US" dirty="0"/>
              <a:t>使用各种的搜索工具，即搜索引擎</a:t>
            </a:r>
          </a:p>
          <a:p>
            <a:endParaRPr lang="zh-CN" altLang="en-US" dirty="0"/>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0094BD5-A37B-94DF-54F4-B32F10D66E7A}"/>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6" name="内容占位符 5">
            <a:extLst>
              <a:ext uri="{FF2B5EF4-FFF2-40B4-BE49-F238E27FC236}">
                <a16:creationId xmlns:a16="http://schemas.microsoft.com/office/drawing/2014/main" id="{D0D43235-BE60-D728-9644-AD31A125FDF0}"/>
              </a:ext>
            </a:extLst>
          </p:cNvPr>
          <p:cNvSpPr>
            <a:spLocks noGrp="1"/>
          </p:cNvSpPr>
          <p:nvPr>
            <p:ph sz="quarter" idx="11"/>
          </p:nvPr>
        </p:nvSpPr>
        <p:spPr>
          <a:xfrm>
            <a:off x="486000" y="687518"/>
            <a:ext cx="8172000" cy="4079035"/>
          </a:xfrm>
        </p:spPr>
        <p:txBody>
          <a:bodyPr/>
          <a:lstStyle/>
          <a:p>
            <a:r>
              <a:rPr lang="zh-CN" altLang="en-US" dirty="0"/>
              <a:t>对互联网上资源的位置和访问方法的一种简洁表示</a:t>
            </a:r>
          </a:p>
          <a:p>
            <a:r>
              <a:rPr lang="zh-CN" altLang="en-US" dirty="0"/>
              <a:t>给资源的位置提供一种抽象的识别方法，并用这种方法给资源定位</a:t>
            </a:r>
          </a:p>
          <a:p>
            <a:r>
              <a:rPr lang="zh-CN" altLang="en-US" dirty="0"/>
              <a:t>互联网上的资源的地址</a:t>
            </a:r>
            <a:endParaRPr lang="en-US" altLang="zh-CN" dirty="0"/>
          </a:p>
          <a:p>
            <a:r>
              <a:rPr lang="zh-CN" altLang="en-US" dirty="0"/>
              <a:t>互联网上的资源，都有一个唯一确定的</a:t>
            </a:r>
            <a:r>
              <a:rPr lang="en-US" altLang="zh-CN" dirty="0"/>
              <a:t>URL</a:t>
            </a:r>
          </a:p>
          <a:p>
            <a:r>
              <a:rPr lang="zh-CN" altLang="en-US" dirty="0"/>
              <a:t>资源：指在互联网上可以被访问的任何对象，包括文件目录、文件、文档、图像、声音等，以及与互联网相连的任何形式的数据</a:t>
            </a:r>
            <a:endParaRPr lang="en-US" altLang="zh-CN" dirty="0"/>
          </a:p>
          <a:p>
            <a:endParaRPr lang="en-US" altLang="zh-CN" dirty="0"/>
          </a:p>
          <a:p>
            <a:r>
              <a:rPr lang="en-US" altLang="zh-CN" dirty="0"/>
              <a:t>URL </a:t>
            </a:r>
            <a:r>
              <a:rPr lang="zh-CN" altLang="en-US" dirty="0"/>
              <a:t>相当于一个文件名在网络范围的扩展</a:t>
            </a:r>
            <a:endParaRPr lang="en-US" altLang="zh-CN" dirty="0"/>
          </a:p>
          <a:p>
            <a:r>
              <a:rPr lang="zh-CN" altLang="en-US" dirty="0"/>
              <a:t>因此 </a:t>
            </a:r>
            <a:r>
              <a:rPr lang="en-US" altLang="zh-CN" dirty="0"/>
              <a:t>URL </a:t>
            </a:r>
            <a:r>
              <a:rPr lang="zh-CN" altLang="en-US" dirty="0"/>
              <a:t>是与互联网相连的机器上的任何可访问对象的一个指针</a:t>
            </a:r>
          </a:p>
        </p:txBody>
      </p:sp>
    </p:spTree>
    <p:extLst>
      <p:ext uri="{BB962C8B-B14F-4D97-AF65-F5344CB8AC3E}">
        <p14:creationId xmlns:p14="http://schemas.microsoft.com/office/powerpoint/2010/main" val="9090690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3519EE-71E2-C568-A292-2F127A727A59}"/>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3" name="内容占位符 2">
            <a:extLst>
              <a:ext uri="{FF2B5EF4-FFF2-40B4-BE49-F238E27FC236}">
                <a16:creationId xmlns:a16="http://schemas.microsoft.com/office/drawing/2014/main" id="{C87BF24E-A27C-6901-1F10-8850CC827830}"/>
              </a:ext>
            </a:extLst>
          </p:cNvPr>
          <p:cNvSpPr>
            <a:spLocks noGrp="1"/>
          </p:cNvSpPr>
          <p:nvPr>
            <p:ph sz="quarter" idx="11"/>
          </p:nvPr>
        </p:nvSpPr>
        <p:spPr>
          <a:xfrm>
            <a:off x="486000" y="687518"/>
            <a:ext cx="8172000" cy="4079035"/>
          </a:xfrm>
        </p:spPr>
        <p:txBody>
          <a:bodyPr/>
          <a:lstStyle/>
          <a:p>
            <a:r>
              <a:rPr lang="zh-CN" altLang="en-US" dirty="0"/>
              <a:t>由以冒号 </a:t>
            </a:r>
            <a:r>
              <a:rPr lang="en-US" altLang="zh-CN" dirty="0"/>
              <a:t>:</a:t>
            </a:r>
            <a:r>
              <a:rPr lang="zh-CN" altLang="en-US" dirty="0"/>
              <a:t> 隔开的两大部分组成</a:t>
            </a:r>
            <a:endParaRPr lang="en-US" altLang="zh-CN" dirty="0"/>
          </a:p>
          <a:p>
            <a:r>
              <a:rPr lang="zh-CN" altLang="en-US" dirty="0"/>
              <a:t>对字符大写或小写没有要求</a:t>
            </a:r>
          </a:p>
        </p:txBody>
      </p:sp>
      <p:sp>
        <p:nvSpPr>
          <p:cNvPr id="10" name="Text Box 25"/>
          <p:cNvSpPr txBox="1">
            <a:spLocks noChangeArrowheads="1"/>
          </p:cNvSpPr>
          <p:nvPr/>
        </p:nvSpPr>
        <p:spPr bwMode="auto">
          <a:xfrm>
            <a:off x="768619" y="1488896"/>
            <a:ext cx="3895149" cy="307777"/>
          </a:xfrm>
          <a:prstGeom prst="rect">
            <a:avLst/>
          </a:prstGeom>
          <a:noFill/>
          <a:ln w="9525">
            <a:noFill/>
            <a:miter lim="800000"/>
            <a:headEnd/>
            <a:tailEnd/>
          </a:ln>
          <a:effec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dirty="0">
                <a:latin typeface="Montserrat" panose="00000500000000000000" pitchFamily="2" charset="0"/>
                <a:ea typeface="微软雅黑 Light" panose="020B0502040204020203" pitchFamily="34" charset="-122"/>
              </a:rPr>
              <a:t>&lt;</a:t>
            </a:r>
            <a:r>
              <a:rPr lang="zh-CN" altLang="en-US" sz="1400" dirty="0">
                <a:latin typeface="Montserrat" panose="00000500000000000000" pitchFamily="2" charset="0"/>
                <a:ea typeface="微软雅黑 Light" panose="020B0502040204020203" pitchFamily="34" charset="-122"/>
              </a:rPr>
              <a:t>协议</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主机</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端口</a:t>
            </a:r>
            <a:r>
              <a:rPr lang="en-US" altLang="zh-CN" sz="1400" dirty="0">
                <a:latin typeface="Montserrat" panose="00000500000000000000" pitchFamily="2" charset="0"/>
                <a:ea typeface="微软雅黑 Light" panose="020B0502040204020203" pitchFamily="34" charset="-122"/>
              </a:rPr>
              <a:t>&gt;/&lt;</a:t>
            </a:r>
            <a:r>
              <a:rPr lang="zh-CN" altLang="en-US" sz="1400" dirty="0">
                <a:latin typeface="Montserrat" panose="00000500000000000000" pitchFamily="2" charset="0"/>
                <a:ea typeface="微软雅黑 Light" panose="020B0502040204020203" pitchFamily="34" charset="-122"/>
              </a:rPr>
              <a:t>路径</a:t>
            </a:r>
            <a:r>
              <a:rPr lang="en-US" altLang="zh-CN" sz="1400" dirty="0">
                <a:latin typeface="Montserrat" panose="00000500000000000000" pitchFamily="2" charset="0"/>
                <a:ea typeface="微软雅黑 Light" panose="020B0502040204020203" pitchFamily="34" charset="-122"/>
              </a:rPr>
              <a:t>&gt; </a:t>
            </a:r>
          </a:p>
        </p:txBody>
      </p:sp>
      <p:sp>
        <p:nvSpPr>
          <p:cNvPr id="12" name="Line 26"/>
          <p:cNvSpPr>
            <a:spLocks noChangeShapeType="1"/>
          </p:cNvSpPr>
          <p:nvPr/>
        </p:nvSpPr>
        <p:spPr bwMode="auto">
          <a:xfrm>
            <a:off x="1590514" y="1802990"/>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3" name="Freeform 27"/>
          <p:cNvSpPr>
            <a:spLocks/>
          </p:cNvSpPr>
          <p:nvPr/>
        </p:nvSpPr>
        <p:spPr bwMode="auto">
          <a:xfrm>
            <a:off x="1709140" y="1802989"/>
            <a:ext cx="215888" cy="219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14" name="AutoShape 28"/>
          <p:cNvSpPr>
            <a:spLocks/>
          </p:cNvSpPr>
          <p:nvPr/>
        </p:nvSpPr>
        <p:spPr bwMode="auto">
          <a:xfrm>
            <a:off x="1915409" y="3816552"/>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5" name="Text Box 29"/>
          <p:cNvSpPr txBox="1">
            <a:spLocks noChangeArrowheads="1"/>
          </p:cNvSpPr>
          <p:nvPr/>
        </p:nvSpPr>
        <p:spPr bwMode="auto">
          <a:xfrm>
            <a:off x="1975352" y="3765720"/>
            <a:ext cx="264527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200" dirty="0">
                <a:latin typeface="Montserrat" panose="00000500000000000000" pitchFamily="2" charset="0"/>
                <a:ea typeface="微软雅黑 Light" panose="020B0502040204020203" pitchFamily="34" charset="-122"/>
              </a:rPr>
              <a:t>ftp - </a:t>
            </a:r>
            <a:r>
              <a:rPr lang="zh-CN" altLang="en-US" sz="1200" dirty="0">
                <a:latin typeface="Montserrat" panose="00000500000000000000" pitchFamily="2" charset="0"/>
                <a:ea typeface="微软雅黑 Light" panose="020B0502040204020203" pitchFamily="34" charset="-122"/>
              </a:rPr>
              <a:t>文件传送协议 </a:t>
            </a:r>
            <a:r>
              <a:rPr lang="en-US" altLang="zh-CN" sz="1200" dirty="0">
                <a:latin typeface="Montserrat" panose="00000500000000000000" pitchFamily="2" charset="0"/>
                <a:ea typeface="微软雅黑 Light" panose="020B0502040204020203" pitchFamily="34" charset="-122"/>
              </a:rPr>
              <a:t>FTP</a:t>
            </a:r>
          </a:p>
          <a:p>
            <a:pPr eaLnBrk="1" hangingPunct="1"/>
            <a:r>
              <a:rPr lang="en-US" altLang="zh-CN" sz="1200" dirty="0">
                <a:latin typeface="Montserrat" panose="00000500000000000000" pitchFamily="2" charset="0"/>
                <a:ea typeface="微软雅黑 Light" panose="020B0502040204020203" pitchFamily="34" charset="-122"/>
              </a:rPr>
              <a:t>https - </a:t>
            </a:r>
            <a:r>
              <a:rPr lang="zh-CN" altLang="en-US" sz="1200" dirty="0">
                <a:latin typeface="Montserrat" panose="00000500000000000000" pitchFamily="2" charset="0"/>
                <a:ea typeface="微软雅黑 Light" panose="020B0502040204020203" pitchFamily="34" charset="-122"/>
              </a:rPr>
              <a:t>超文本传送安全协议 </a:t>
            </a:r>
            <a:r>
              <a:rPr lang="en-US" altLang="zh-CN" sz="1200" dirty="0">
                <a:latin typeface="Montserrat" panose="00000500000000000000" pitchFamily="2" charset="0"/>
                <a:ea typeface="微软雅黑 Light" panose="020B0502040204020203" pitchFamily="34" charset="-122"/>
              </a:rPr>
              <a:t>HTTPS</a:t>
            </a:r>
          </a:p>
        </p:txBody>
      </p:sp>
      <p:sp>
        <p:nvSpPr>
          <p:cNvPr id="19" name="Line 26"/>
          <p:cNvSpPr>
            <a:spLocks noChangeShapeType="1"/>
          </p:cNvSpPr>
          <p:nvPr/>
        </p:nvSpPr>
        <p:spPr bwMode="auto">
          <a:xfrm>
            <a:off x="2000909" y="1802972"/>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0" name="Freeform 27"/>
          <p:cNvSpPr>
            <a:spLocks/>
          </p:cNvSpPr>
          <p:nvPr/>
        </p:nvSpPr>
        <p:spPr bwMode="auto">
          <a:xfrm>
            <a:off x="2116494" y="1802971"/>
            <a:ext cx="411469" cy="1656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1" name="Text Box 29"/>
          <p:cNvSpPr txBox="1">
            <a:spLocks noChangeArrowheads="1"/>
          </p:cNvSpPr>
          <p:nvPr/>
        </p:nvSpPr>
        <p:spPr bwMode="auto">
          <a:xfrm>
            <a:off x="2510863" y="3334665"/>
            <a:ext cx="954107" cy="276999"/>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规定的格式</a:t>
            </a:r>
          </a:p>
        </p:txBody>
      </p:sp>
      <p:sp>
        <p:nvSpPr>
          <p:cNvPr id="23" name="Line 26">
            <a:extLst>
              <a:ext uri="{FF2B5EF4-FFF2-40B4-BE49-F238E27FC236}">
                <a16:creationId xmlns:a16="http://schemas.microsoft.com/office/drawing/2014/main" id="{06913E38-6BC6-0016-8EC7-3547F3DB3F9D}"/>
              </a:ext>
            </a:extLst>
          </p:cNvPr>
          <p:cNvSpPr>
            <a:spLocks noChangeShapeType="1"/>
          </p:cNvSpPr>
          <p:nvPr/>
        </p:nvSpPr>
        <p:spPr bwMode="auto">
          <a:xfrm>
            <a:off x="2376964" y="1804338"/>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4" name="Freeform 27">
            <a:extLst>
              <a:ext uri="{FF2B5EF4-FFF2-40B4-BE49-F238E27FC236}">
                <a16:creationId xmlns:a16="http://schemas.microsoft.com/office/drawing/2014/main" id="{154F1200-8C38-4112-6DF8-41C6531B8FB3}"/>
              </a:ext>
            </a:extLst>
          </p:cNvPr>
          <p:cNvSpPr>
            <a:spLocks/>
          </p:cNvSpPr>
          <p:nvPr/>
        </p:nvSpPr>
        <p:spPr bwMode="auto">
          <a:xfrm>
            <a:off x="2491560" y="1804338"/>
            <a:ext cx="411469" cy="12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sp>
        <p:nvSpPr>
          <p:cNvPr id="25" name="Text Box 29">
            <a:extLst>
              <a:ext uri="{FF2B5EF4-FFF2-40B4-BE49-F238E27FC236}">
                <a16:creationId xmlns:a16="http://schemas.microsoft.com/office/drawing/2014/main" id="{71806309-216F-5B9A-8D37-08884A65D7FD}"/>
              </a:ext>
            </a:extLst>
          </p:cNvPr>
          <p:cNvSpPr txBox="1">
            <a:spLocks noChangeArrowheads="1"/>
          </p:cNvSpPr>
          <p:nvPr/>
        </p:nvSpPr>
        <p:spPr bwMode="auto">
          <a:xfrm>
            <a:off x="2954070" y="2797637"/>
            <a:ext cx="3814369"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主机的域名 </a:t>
            </a:r>
            <a:r>
              <a:rPr lang="en-US" altLang="zh-CN" sz="1200" dirty="0">
                <a:latin typeface="Montserrat" panose="00000500000000000000" pitchFamily="2" charset="0"/>
                <a:ea typeface="微软雅黑 Light" panose="020B0502040204020203" pitchFamily="34" charset="-122"/>
              </a:rPr>
              <a:t>domain</a:t>
            </a:r>
          </a:p>
          <a:p>
            <a:r>
              <a:rPr lang="zh-CN" altLang="en-US" sz="1200" dirty="0">
                <a:latin typeface="Montserrat" panose="00000500000000000000" pitchFamily="2" charset="0"/>
                <a:ea typeface="微软雅黑 Light" panose="020B0502040204020203" pitchFamily="34" charset="-122"/>
              </a:rPr>
              <a:t>主机的 </a:t>
            </a:r>
            <a:r>
              <a:rPr lang="en-US" altLang="zh-CN" sz="1200" dirty="0">
                <a:latin typeface="Montserrat" panose="00000500000000000000" pitchFamily="2" charset="0"/>
                <a:ea typeface="微软雅黑 Light" panose="020B0502040204020203" pitchFamily="34" charset="-122"/>
              </a:rPr>
              <a:t>IP </a:t>
            </a:r>
            <a:r>
              <a:rPr lang="zh-CN" altLang="en-US" sz="1200" dirty="0">
                <a:latin typeface="Montserrat" panose="00000500000000000000" pitchFamily="2" charset="0"/>
                <a:ea typeface="微软雅黑 Light" panose="020B0502040204020203" pitchFamily="34" charset="-122"/>
              </a:rPr>
              <a:t>地址</a:t>
            </a:r>
          </a:p>
        </p:txBody>
      </p:sp>
      <p:sp>
        <p:nvSpPr>
          <p:cNvPr id="27" name="Line 26"/>
          <p:cNvSpPr>
            <a:spLocks noChangeShapeType="1"/>
          </p:cNvSpPr>
          <p:nvPr/>
        </p:nvSpPr>
        <p:spPr bwMode="auto">
          <a:xfrm>
            <a:off x="2969706"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8" name="Freeform 27"/>
          <p:cNvSpPr>
            <a:spLocks/>
          </p:cNvSpPr>
          <p:nvPr/>
        </p:nvSpPr>
        <p:spPr bwMode="auto">
          <a:xfrm>
            <a:off x="3093755" y="1804339"/>
            <a:ext cx="411469" cy="716229"/>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9"/>
          <p:cNvSpPr txBox="1">
            <a:spLocks noChangeArrowheads="1"/>
          </p:cNvSpPr>
          <p:nvPr/>
        </p:nvSpPr>
        <p:spPr bwMode="auto">
          <a:xfrm>
            <a:off x="3560344" y="2282276"/>
            <a:ext cx="198039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端口号 </a:t>
            </a:r>
            <a:r>
              <a:rPr lang="en-US" altLang="zh-CN" sz="1200" dirty="0">
                <a:latin typeface="Montserrat" panose="00000500000000000000" pitchFamily="2" charset="0"/>
                <a:ea typeface="微软雅黑 Light" panose="020B0502040204020203" pitchFamily="34" charset="-122"/>
              </a:rPr>
              <a:t>port</a:t>
            </a:r>
          </a:p>
          <a:p>
            <a:r>
              <a:rPr lang="zh-CN" altLang="en-US" sz="1200" dirty="0">
                <a:latin typeface="Montserrat" panose="00000500000000000000" pitchFamily="2" charset="0"/>
                <a:ea typeface="微软雅黑 Light" panose="020B0502040204020203" pitchFamily="34" charset="-122"/>
              </a:rPr>
              <a:t>省略时使用默认端口号</a:t>
            </a:r>
          </a:p>
        </p:txBody>
      </p:sp>
      <p:sp>
        <p:nvSpPr>
          <p:cNvPr id="31" name="Line 26"/>
          <p:cNvSpPr>
            <a:spLocks noChangeShapeType="1"/>
          </p:cNvSpPr>
          <p:nvPr/>
        </p:nvSpPr>
        <p:spPr bwMode="auto">
          <a:xfrm>
            <a:off x="3585839" y="1804339"/>
            <a:ext cx="216000" cy="0"/>
          </a:xfrm>
          <a:prstGeom prst="line">
            <a:avLst/>
          </a:prstGeom>
          <a:noFill/>
          <a:ln w="12700">
            <a:solidFill>
              <a:srgbClr val="CC00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2" name="Freeform 27"/>
          <p:cNvSpPr>
            <a:spLocks/>
          </p:cNvSpPr>
          <p:nvPr/>
        </p:nvSpPr>
        <p:spPr bwMode="auto">
          <a:xfrm>
            <a:off x="3691062" y="1804339"/>
            <a:ext cx="1656000" cy="324000"/>
          </a:xfrm>
          <a:custGeom>
            <a:avLst/>
            <a:gdLst>
              <a:gd name="T0" fmla="*/ 0 w 771"/>
              <a:gd name="T1" fmla="*/ 0 h 726"/>
              <a:gd name="T2" fmla="*/ 0 w 771"/>
              <a:gd name="T3" fmla="*/ 726 h 726"/>
              <a:gd name="T4" fmla="*/ 12 w 771"/>
              <a:gd name="T5" fmla="*/ 726 h 726"/>
              <a:gd name="T6" fmla="*/ 0 60000 65536"/>
              <a:gd name="T7" fmla="*/ 0 60000 65536"/>
              <a:gd name="T8" fmla="*/ 0 60000 65536"/>
            </a:gdLst>
            <a:ahLst/>
            <a:cxnLst>
              <a:cxn ang="T6">
                <a:pos x="T0" y="T1"/>
              </a:cxn>
              <a:cxn ang="T7">
                <a:pos x="T2" y="T3"/>
              </a:cxn>
              <a:cxn ang="T8">
                <a:pos x="T4" y="T5"/>
              </a:cxn>
            </a:cxnLst>
            <a:rect l="0" t="0" r="r" b="b"/>
            <a:pathLst>
              <a:path w="771" h="726">
                <a:moveTo>
                  <a:pt x="0" y="0"/>
                </a:moveTo>
                <a:lnTo>
                  <a:pt x="0" y="726"/>
                </a:lnTo>
                <a:lnTo>
                  <a:pt x="771" y="726"/>
                </a:lnTo>
              </a:path>
            </a:pathLst>
          </a:custGeom>
          <a:noFill/>
          <a:ln w="127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29"/>
          <p:cNvSpPr txBox="1">
            <a:spLocks noChangeArrowheads="1"/>
          </p:cNvSpPr>
          <p:nvPr/>
        </p:nvSpPr>
        <p:spPr bwMode="auto">
          <a:xfrm>
            <a:off x="5364246" y="1892363"/>
            <a:ext cx="303691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200" dirty="0">
                <a:latin typeface="Montserrat" panose="00000500000000000000" pitchFamily="2" charset="0"/>
                <a:ea typeface="微软雅黑 Light" panose="020B0502040204020203" pitchFamily="34" charset="-122"/>
              </a:rPr>
              <a:t>资源所在目录位置。区分大小写</a:t>
            </a:r>
            <a:endParaRPr lang="en-US" altLang="zh-CN" sz="1200" dirty="0">
              <a:latin typeface="Montserrat" panose="00000500000000000000" pitchFamily="2" charset="0"/>
              <a:ea typeface="微软雅黑 Light" panose="020B0502040204020203" pitchFamily="34" charset="-122"/>
            </a:endParaRPr>
          </a:p>
          <a:p>
            <a:r>
              <a:rPr lang="zh-CN" altLang="en-US" sz="1200" dirty="0">
                <a:latin typeface="Montserrat" panose="00000500000000000000" pitchFamily="2" charset="0"/>
                <a:ea typeface="微软雅黑 Light" panose="020B0502040204020203" pitchFamily="34" charset="-122"/>
              </a:rPr>
              <a:t>省略时使用所定义的默认路径</a:t>
            </a:r>
            <a:endParaRPr lang="en-US" altLang="zh-CN" sz="1200" dirty="0">
              <a:latin typeface="Montserrat" panose="00000500000000000000" pitchFamily="2" charset="0"/>
              <a:ea typeface="微软雅黑 Light" panose="020B0502040204020203" pitchFamily="34" charset="-122"/>
            </a:endParaRPr>
          </a:p>
        </p:txBody>
      </p:sp>
      <p:sp>
        <p:nvSpPr>
          <p:cNvPr id="4" name="AutoShape 28">
            <a:extLst>
              <a:ext uri="{FF2B5EF4-FFF2-40B4-BE49-F238E27FC236}">
                <a16:creationId xmlns:a16="http://schemas.microsoft.com/office/drawing/2014/main" id="{DDBCF75E-60AA-DEE7-1440-A4904A82D3E4}"/>
              </a:ext>
            </a:extLst>
          </p:cNvPr>
          <p:cNvSpPr>
            <a:spLocks/>
          </p:cNvSpPr>
          <p:nvPr/>
        </p:nvSpPr>
        <p:spPr bwMode="auto">
          <a:xfrm>
            <a:off x="2912830" y="2848469"/>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5" name="AutoShape 28">
            <a:extLst>
              <a:ext uri="{FF2B5EF4-FFF2-40B4-BE49-F238E27FC236}">
                <a16:creationId xmlns:a16="http://schemas.microsoft.com/office/drawing/2014/main" id="{89A8001D-F3CC-A1B2-66E4-9F42802EFD13}"/>
              </a:ext>
            </a:extLst>
          </p:cNvPr>
          <p:cNvSpPr>
            <a:spLocks/>
          </p:cNvSpPr>
          <p:nvPr/>
        </p:nvSpPr>
        <p:spPr bwMode="auto">
          <a:xfrm>
            <a:off x="5338670" y="1943195"/>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6" name="AutoShape 28">
            <a:extLst>
              <a:ext uri="{FF2B5EF4-FFF2-40B4-BE49-F238E27FC236}">
                <a16:creationId xmlns:a16="http://schemas.microsoft.com/office/drawing/2014/main" id="{8A2C74B3-B7C1-EA23-24A3-CCCEE5F5E270}"/>
              </a:ext>
            </a:extLst>
          </p:cNvPr>
          <p:cNvSpPr>
            <a:spLocks/>
          </p:cNvSpPr>
          <p:nvPr/>
        </p:nvSpPr>
        <p:spPr bwMode="auto">
          <a:xfrm>
            <a:off x="3489229" y="2333108"/>
            <a:ext cx="87638" cy="360000"/>
          </a:xfrm>
          <a:prstGeom prst="leftBrace">
            <a:avLst>
              <a:gd name="adj1" fmla="val 92175"/>
              <a:gd name="adj2" fmla="val 50000"/>
            </a:avLst>
          </a:prstGeom>
          <a:noFill/>
          <a:ln w="12700">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05833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584425" y="2390985"/>
            <a:ext cx="3336171" cy="369332"/>
          </a:xfrm>
          <a:prstGeom prst="rect">
            <a:avLst/>
          </a:prstGeom>
          <a:solidFill>
            <a:srgbClr val="0000FF"/>
          </a:solidFill>
        </p:spPr>
        <p:txBody>
          <a:bodyPr wrap="none">
            <a:spAutoFit/>
          </a:bodyPr>
          <a:lstStyle/>
          <a:p>
            <a:pPr algn="ctr" eaLnBrk="0" hangingPunct="0">
              <a:buClr>
                <a:srgbClr val="0070C0"/>
              </a:buClr>
            </a:pPr>
            <a:r>
              <a:rPr lang="en-US" altLang="zh-CN" b="1" dirty="0">
                <a:solidFill>
                  <a:schemeClr val="bg1"/>
                </a:solidFill>
                <a:latin typeface="Montserrat" panose="00000500000000000000" pitchFamily="2" charset="0"/>
                <a:ea typeface="微软雅黑 Light" panose="020B0502040204020203" pitchFamily="34" charset="-122"/>
              </a:rPr>
              <a:t>https://&lt;</a:t>
            </a:r>
            <a:r>
              <a:rPr lang="zh-CN" altLang="en-US" b="1" dirty="0">
                <a:solidFill>
                  <a:schemeClr val="bg1"/>
                </a:solidFill>
                <a:latin typeface="Montserrat" panose="00000500000000000000" pitchFamily="2" charset="0"/>
                <a:ea typeface="微软雅黑 Light" panose="020B0502040204020203" pitchFamily="34" charset="-122"/>
              </a:rPr>
              <a:t>主机</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端口</a:t>
            </a:r>
            <a:r>
              <a:rPr lang="en-US" altLang="zh-CN" b="1" dirty="0">
                <a:solidFill>
                  <a:schemeClr val="bg1"/>
                </a:solidFill>
                <a:latin typeface="Montserrat" panose="00000500000000000000" pitchFamily="2" charset="0"/>
                <a:ea typeface="微软雅黑 Light" panose="020B0502040204020203" pitchFamily="34" charset="-122"/>
              </a:rPr>
              <a:t>&gt;/&lt;</a:t>
            </a:r>
            <a:r>
              <a:rPr lang="zh-CN" altLang="en-US" b="1" dirty="0">
                <a:solidFill>
                  <a:schemeClr val="bg1"/>
                </a:solidFill>
                <a:latin typeface="Montserrat" panose="00000500000000000000" pitchFamily="2" charset="0"/>
                <a:ea typeface="微软雅黑 Light" panose="020B0502040204020203" pitchFamily="34" charset="-122"/>
              </a:rPr>
              <a:t>路径</a:t>
            </a:r>
            <a:r>
              <a:rPr lang="en-US" altLang="zh-CN" b="1" dirty="0">
                <a:solidFill>
                  <a:schemeClr val="bg1"/>
                </a:solidFill>
                <a:latin typeface="Montserrat" panose="00000500000000000000" pitchFamily="2" charset="0"/>
                <a:ea typeface="微软雅黑 Light" panose="020B0502040204020203" pitchFamily="34" charset="-122"/>
              </a:rPr>
              <a:t>&gt; </a:t>
            </a:r>
          </a:p>
        </p:txBody>
      </p:sp>
      <p:grpSp>
        <p:nvGrpSpPr>
          <p:cNvPr id="12" name="Group 9"/>
          <p:cNvGrpSpPr>
            <a:grpSpLocks/>
          </p:cNvGrpSpPr>
          <p:nvPr/>
        </p:nvGrpSpPr>
        <p:grpSpPr bwMode="auto">
          <a:xfrm>
            <a:off x="2461120" y="1029707"/>
            <a:ext cx="1977970" cy="1758800"/>
            <a:chOff x="1136" y="529"/>
            <a:chExt cx="1553" cy="1496"/>
          </a:xfrm>
        </p:grpSpPr>
        <p:grpSp>
          <p:nvGrpSpPr>
            <p:cNvPr id="13" name="Group 5"/>
            <p:cNvGrpSpPr>
              <a:grpSpLocks/>
            </p:cNvGrpSpPr>
            <p:nvPr/>
          </p:nvGrpSpPr>
          <p:grpSpPr bwMode="auto">
            <a:xfrm>
              <a:off x="1295" y="817"/>
              <a:ext cx="325" cy="1208"/>
              <a:chOff x="1715" y="723"/>
              <a:chExt cx="325" cy="1208"/>
            </a:xfrm>
          </p:grpSpPr>
          <p:sp>
            <p:nvSpPr>
              <p:cNvPr id="15" name="Rectangle 6"/>
              <p:cNvSpPr>
                <a:spLocks noChangeArrowheads="1"/>
              </p:cNvSpPr>
              <p:nvPr/>
            </p:nvSpPr>
            <p:spPr bwMode="auto">
              <a:xfrm>
                <a:off x="1715" y="1570"/>
                <a:ext cx="325"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16" name="Line 7"/>
              <p:cNvSpPr>
                <a:spLocks noChangeShapeType="1"/>
              </p:cNvSpPr>
              <p:nvPr/>
            </p:nvSpPr>
            <p:spPr bwMode="auto">
              <a:xfrm flipV="1">
                <a:off x="1878" y="723"/>
                <a:ext cx="0" cy="847"/>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14" name="Text Box 8"/>
            <p:cNvSpPr txBox="1">
              <a:spLocks noChangeArrowheads="1"/>
            </p:cNvSpPr>
            <p:nvPr/>
          </p:nvSpPr>
          <p:spPr bwMode="auto">
            <a:xfrm>
              <a:off x="1136" y="529"/>
              <a:ext cx="1553"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dirty="0">
                  <a:solidFill>
                    <a:srgbClr val="000099"/>
                  </a:solidFill>
                  <a:latin typeface="Montserrat" panose="00000500000000000000" pitchFamily="2" charset="0"/>
                  <a:ea typeface="微软雅黑 Light" panose="020B0502040204020203" pitchFamily="34" charset="-122"/>
                </a:rPr>
                <a:t>使用 </a:t>
              </a:r>
              <a:r>
                <a:rPr lang="en-US" altLang="zh-CN" sz="1600" dirty="0">
                  <a:solidFill>
                    <a:srgbClr val="000099"/>
                  </a:solidFill>
                  <a:latin typeface="Montserrat" panose="00000500000000000000" pitchFamily="2" charset="0"/>
                  <a:ea typeface="微软雅黑 Light" panose="020B0502040204020203" pitchFamily="34" charset="-122"/>
                </a:rPr>
                <a:t>HTTPS </a:t>
              </a:r>
              <a:r>
                <a:rPr lang="zh-CN" altLang="en-US" sz="1600" dirty="0">
                  <a:solidFill>
                    <a:srgbClr val="000099"/>
                  </a:solidFill>
                  <a:latin typeface="Montserrat" panose="00000500000000000000" pitchFamily="2" charset="0"/>
                  <a:ea typeface="微软雅黑 Light" panose="020B0502040204020203" pitchFamily="34" charset="-122"/>
                </a:rPr>
                <a:t>协议。</a:t>
              </a:r>
            </a:p>
          </p:txBody>
        </p:sp>
      </p:grpSp>
      <p:sp>
        <p:nvSpPr>
          <p:cNvPr id="18" name="矩形 17"/>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9" name="左大括号 18"/>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0" name="左大括号 19"/>
          <p:cNvSpPr/>
          <p:nvPr/>
        </p:nvSpPr>
        <p:spPr>
          <a:xfrm rot="16200000">
            <a:off x="5633560" y="3222460"/>
            <a:ext cx="117399" cy="1656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21" name="TextBox 17"/>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22" name="TextBox 18"/>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grpSp>
        <p:nvGrpSpPr>
          <p:cNvPr id="28" name="Group 9"/>
          <p:cNvGrpSpPr>
            <a:grpSpLocks/>
          </p:cNvGrpSpPr>
          <p:nvPr/>
        </p:nvGrpSpPr>
        <p:grpSpPr bwMode="auto">
          <a:xfrm>
            <a:off x="2920866" y="1322749"/>
            <a:ext cx="1416292" cy="1466053"/>
            <a:chOff x="1207" y="782"/>
            <a:chExt cx="1112" cy="1247"/>
          </a:xfrm>
        </p:grpSpPr>
        <p:grpSp>
          <p:nvGrpSpPr>
            <p:cNvPr id="29" name="Group 5"/>
            <p:cNvGrpSpPr>
              <a:grpSpLocks/>
            </p:cNvGrpSpPr>
            <p:nvPr/>
          </p:nvGrpSpPr>
          <p:grpSpPr bwMode="auto">
            <a:xfrm>
              <a:off x="1509" y="1046"/>
              <a:ext cx="182" cy="983"/>
              <a:chOff x="1929" y="952"/>
              <a:chExt cx="182" cy="983"/>
            </a:xfrm>
          </p:grpSpPr>
          <p:sp>
            <p:nvSpPr>
              <p:cNvPr id="31" name="Rectangle 6"/>
              <p:cNvSpPr>
                <a:spLocks noChangeArrowheads="1"/>
              </p:cNvSpPr>
              <p:nvPr/>
            </p:nvSpPr>
            <p:spPr bwMode="auto">
              <a:xfrm>
                <a:off x="1929" y="1574"/>
                <a:ext cx="182"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2" name="Line 7"/>
              <p:cNvSpPr>
                <a:spLocks noChangeShapeType="1"/>
              </p:cNvSpPr>
              <p:nvPr/>
            </p:nvSpPr>
            <p:spPr bwMode="auto">
              <a:xfrm flipV="1">
                <a:off x="2018" y="952"/>
                <a:ext cx="0" cy="613"/>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0" name="Text Box 8"/>
            <p:cNvSpPr txBox="1">
              <a:spLocks noChangeArrowheads="1"/>
            </p:cNvSpPr>
            <p:nvPr/>
          </p:nvSpPr>
          <p:spPr bwMode="auto">
            <a:xfrm>
              <a:off x="1207" y="782"/>
              <a:ext cx="1112"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规定的格式。</a:t>
              </a:r>
            </a:p>
          </p:txBody>
        </p:sp>
      </p:grpSp>
      <p:grpSp>
        <p:nvGrpSpPr>
          <p:cNvPr id="33" name="Group 9"/>
          <p:cNvGrpSpPr>
            <a:grpSpLocks/>
          </p:cNvGrpSpPr>
          <p:nvPr/>
        </p:nvGrpSpPr>
        <p:grpSpPr bwMode="auto">
          <a:xfrm>
            <a:off x="3341093" y="1632849"/>
            <a:ext cx="2151186" cy="1155682"/>
            <a:chOff x="1102" y="1036"/>
            <a:chExt cx="1689" cy="983"/>
          </a:xfrm>
        </p:grpSpPr>
        <p:grpSp>
          <p:nvGrpSpPr>
            <p:cNvPr id="34" name="Group 5"/>
            <p:cNvGrpSpPr>
              <a:grpSpLocks/>
            </p:cNvGrpSpPr>
            <p:nvPr/>
          </p:nvGrpSpPr>
          <p:grpSpPr bwMode="auto">
            <a:xfrm>
              <a:off x="1280" y="1303"/>
              <a:ext cx="428" cy="716"/>
              <a:chOff x="1699" y="1209"/>
              <a:chExt cx="428" cy="716"/>
            </a:xfrm>
          </p:grpSpPr>
          <p:sp>
            <p:nvSpPr>
              <p:cNvPr id="36" name="Rectangle 6"/>
              <p:cNvSpPr>
                <a:spLocks noChangeArrowheads="1"/>
              </p:cNvSpPr>
              <p:nvPr/>
            </p:nvSpPr>
            <p:spPr bwMode="auto">
              <a:xfrm>
                <a:off x="1699" y="1564"/>
                <a:ext cx="428" cy="361"/>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37" name="Line 7"/>
              <p:cNvSpPr>
                <a:spLocks noChangeShapeType="1"/>
              </p:cNvSpPr>
              <p:nvPr/>
            </p:nvSpPr>
            <p:spPr bwMode="auto">
              <a:xfrm flipV="1">
                <a:off x="1918" y="1209"/>
                <a:ext cx="0" cy="355"/>
              </a:xfrm>
              <a:prstGeom prst="line">
                <a:avLst/>
              </a:prstGeom>
              <a:noFill/>
              <a:ln w="3810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35" name="Text Box 8"/>
            <p:cNvSpPr txBox="1">
              <a:spLocks noChangeArrowheads="1"/>
            </p:cNvSpPr>
            <p:nvPr/>
          </p:nvSpPr>
          <p:spPr bwMode="auto">
            <a:xfrm>
              <a:off x="1102" y="1036"/>
              <a:ext cx="1689"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主机域名或 </a:t>
              </a:r>
              <a:r>
                <a:rPr lang="en-US" altLang="zh-CN" sz="1600" dirty="0">
                  <a:solidFill>
                    <a:srgbClr val="000099"/>
                  </a:solidFill>
                  <a:latin typeface="Montserrat" panose="00000500000000000000" pitchFamily="2" charset="0"/>
                  <a:ea typeface="微软雅黑 Light" panose="020B0502040204020203" pitchFamily="34" charset="-122"/>
                </a:rPr>
                <a:t>IP </a:t>
              </a:r>
              <a:r>
                <a:rPr lang="zh-CN" altLang="en-US" sz="1600" dirty="0">
                  <a:solidFill>
                    <a:srgbClr val="000099"/>
                  </a:solidFill>
                  <a:latin typeface="Montserrat" panose="00000500000000000000" pitchFamily="2" charset="0"/>
                  <a:ea typeface="微软雅黑 Light" panose="020B0502040204020203" pitchFamily="34" charset="-122"/>
                </a:rPr>
                <a:t>地址。</a:t>
              </a:r>
            </a:p>
          </p:txBody>
        </p:sp>
      </p:grpSp>
      <p:grpSp>
        <p:nvGrpSpPr>
          <p:cNvPr id="38" name="Group 9"/>
          <p:cNvGrpSpPr>
            <a:grpSpLocks/>
          </p:cNvGrpSpPr>
          <p:nvPr/>
        </p:nvGrpSpPr>
        <p:grpSpPr bwMode="auto">
          <a:xfrm>
            <a:off x="4162932" y="1937878"/>
            <a:ext cx="3585307" cy="851185"/>
            <a:chOff x="1058" y="1303"/>
            <a:chExt cx="2815" cy="724"/>
          </a:xfrm>
        </p:grpSpPr>
        <p:grpSp>
          <p:nvGrpSpPr>
            <p:cNvPr id="39" name="Group 5"/>
            <p:cNvGrpSpPr>
              <a:grpSpLocks/>
            </p:cNvGrpSpPr>
            <p:nvPr/>
          </p:nvGrpSpPr>
          <p:grpSpPr bwMode="auto">
            <a:xfrm>
              <a:off x="1152" y="1507"/>
              <a:ext cx="417" cy="520"/>
              <a:chOff x="1570" y="1413"/>
              <a:chExt cx="417" cy="520"/>
            </a:xfrm>
          </p:grpSpPr>
          <p:sp>
            <p:nvSpPr>
              <p:cNvPr id="41" name="Rectangle 6"/>
              <p:cNvSpPr>
                <a:spLocks noChangeArrowheads="1"/>
              </p:cNvSpPr>
              <p:nvPr/>
            </p:nvSpPr>
            <p:spPr bwMode="auto">
              <a:xfrm>
                <a:off x="1570" y="1572"/>
                <a:ext cx="417" cy="361"/>
              </a:xfrm>
              <a:prstGeom prst="rect">
                <a:avLst/>
              </a:prstGeom>
              <a:noFill/>
              <a:ln w="38100">
                <a:solidFill>
                  <a:schemeClr val="accent6">
                    <a:lumMod val="75000"/>
                  </a:schemeClr>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2" name="Line 7"/>
              <p:cNvSpPr>
                <a:spLocks noChangeShapeType="1"/>
              </p:cNvSpPr>
              <p:nvPr/>
            </p:nvSpPr>
            <p:spPr bwMode="auto">
              <a:xfrm flipV="1">
                <a:off x="1788" y="1413"/>
                <a:ext cx="0" cy="159"/>
              </a:xfrm>
              <a:prstGeom prst="line">
                <a:avLst/>
              </a:prstGeom>
              <a:noFill/>
              <a:ln w="38100">
                <a:solidFill>
                  <a:schemeClr val="accent6">
                    <a:lumMod val="75000"/>
                  </a:schemeClr>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0" name="Text Box 8"/>
            <p:cNvSpPr txBox="1">
              <a:spLocks noChangeArrowheads="1"/>
            </p:cNvSpPr>
            <p:nvPr/>
          </p:nvSpPr>
          <p:spPr bwMode="auto">
            <a:xfrm>
              <a:off x="1058" y="1303"/>
              <a:ext cx="2815" cy="2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en-US" altLang="zh-CN" sz="1600" dirty="0">
                  <a:solidFill>
                    <a:srgbClr val="000099"/>
                  </a:solidFill>
                  <a:latin typeface="Montserrat" panose="00000500000000000000" pitchFamily="2" charset="0"/>
                  <a:ea typeface="微软雅黑 Light" panose="020B0502040204020203" pitchFamily="34" charset="-122"/>
                </a:rPr>
                <a:t>HTTP </a:t>
              </a:r>
              <a:r>
                <a:rPr lang="zh-CN" altLang="en-US" sz="1600" dirty="0">
                  <a:solidFill>
                    <a:srgbClr val="000099"/>
                  </a:solidFill>
                  <a:latin typeface="Montserrat" panose="00000500000000000000" pitchFamily="2" charset="0"/>
                  <a:ea typeface="微软雅黑 Light" panose="020B0502040204020203" pitchFamily="34" charset="-122"/>
                </a:rPr>
                <a:t>的默认端口号是 </a:t>
              </a:r>
              <a:r>
                <a:rPr lang="en-US" altLang="zh-CN" sz="1600" dirty="0">
                  <a:solidFill>
                    <a:srgbClr val="000099"/>
                  </a:solidFill>
                  <a:latin typeface="Montserrat" panose="00000500000000000000" pitchFamily="2" charset="0"/>
                  <a:ea typeface="微软雅黑 Light" panose="020B0502040204020203" pitchFamily="34" charset="-122"/>
                </a:rPr>
                <a:t>80</a:t>
              </a:r>
              <a:r>
                <a:rPr lang="zh-CN" altLang="en-US" sz="1600" dirty="0">
                  <a:solidFill>
                    <a:srgbClr val="000099"/>
                  </a:solidFill>
                  <a:latin typeface="Montserrat" panose="00000500000000000000" pitchFamily="2" charset="0"/>
                  <a:ea typeface="微软雅黑 Light" panose="020B0502040204020203" pitchFamily="34" charset="-122"/>
                </a:rPr>
                <a:t>，可省略。</a:t>
              </a:r>
            </a:p>
          </p:txBody>
        </p:sp>
      </p:grpSp>
      <p:grpSp>
        <p:nvGrpSpPr>
          <p:cNvPr id="43" name="Group 9"/>
          <p:cNvGrpSpPr>
            <a:grpSpLocks/>
          </p:cNvGrpSpPr>
          <p:nvPr/>
        </p:nvGrpSpPr>
        <p:grpSpPr bwMode="auto">
          <a:xfrm>
            <a:off x="3809948" y="2364507"/>
            <a:ext cx="3949568" cy="1390817"/>
            <a:chOff x="915" y="1658"/>
            <a:chExt cx="3101" cy="1183"/>
          </a:xfrm>
        </p:grpSpPr>
        <p:grpSp>
          <p:nvGrpSpPr>
            <p:cNvPr id="44" name="Group 5"/>
            <p:cNvGrpSpPr>
              <a:grpSpLocks/>
            </p:cNvGrpSpPr>
            <p:nvPr/>
          </p:nvGrpSpPr>
          <p:grpSpPr bwMode="auto">
            <a:xfrm>
              <a:off x="1936" y="1658"/>
              <a:ext cx="428" cy="528"/>
              <a:chOff x="2356" y="1564"/>
              <a:chExt cx="428" cy="528"/>
            </a:xfrm>
          </p:grpSpPr>
          <p:sp>
            <p:nvSpPr>
              <p:cNvPr id="46" name="Rectangle 6"/>
              <p:cNvSpPr>
                <a:spLocks noChangeArrowheads="1"/>
              </p:cNvSpPr>
              <p:nvPr/>
            </p:nvSpPr>
            <p:spPr bwMode="auto">
              <a:xfrm>
                <a:off x="2356" y="1564"/>
                <a:ext cx="428" cy="360"/>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dirty="0">
                  <a:latin typeface="Montserrat" panose="00000500000000000000" pitchFamily="2" charset="0"/>
                  <a:ea typeface="微软雅黑 Light" panose="020B0502040204020203" pitchFamily="34" charset="-122"/>
                </a:endParaRPr>
              </a:p>
            </p:txBody>
          </p:sp>
          <p:sp>
            <p:nvSpPr>
              <p:cNvPr id="47" name="Line 7"/>
              <p:cNvSpPr>
                <a:spLocks noChangeShapeType="1"/>
              </p:cNvSpPr>
              <p:nvPr/>
            </p:nvSpPr>
            <p:spPr bwMode="auto">
              <a:xfrm flipV="1">
                <a:off x="2556" y="1933"/>
                <a:ext cx="0" cy="159"/>
              </a:xfrm>
              <a:prstGeom prst="line">
                <a:avLst/>
              </a:prstGeom>
              <a:noFill/>
              <a:ln w="381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dirty="0">
                  <a:latin typeface="Montserrat" panose="00000500000000000000" pitchFamily="2" charset="0"/>
                  <a:ea typeface="微软雅黑 Light" panose="020B0502040204020203" pitchFamily="34" charset="-122"/>
                </a:endParaRPr>
              </a:p>
            </p:txBody>
          </p:sp>
        </p:grpSp>
        <p:sp>
          <p:nvSpPr>
            <p:cNvPr id="45" name="Text Box 8"/>
            <p:cNvSpPr txBox="1">
              <a:spLocks noChangeArrowheads="1"/>
            </p:cNvSpPr>
            <p:nvPr/>
          </p:nvSpPr>
          <p:spPr bwMode="auto">
            <a:xfrm>
              <a:off x="915" y="2134"/>
              <a:ext cx="3101" cy="7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600" dirty="0">
                  <a:solidFill>
                    <a:srgbClr val="000099"/>
                  </a:solidFill>
                  <a:latin typeface="Montserrat" panose="00000500000000000000" pitchFamily="2" charset="0"/>
                  <a:ea typeface="微软雅黑 Light" panose="020B0502040204020203" pitchFamily="34" charset="-122"/>
                </a:rPr>
                <a:t>省略时指到互联网上的某个主页 </a:t>
              </a:r>
              <a:r>
                <a:rPr lang="en-US" altLang="zh-CN" sz="1600" dirty="0">
                  <a:solidFill>
                    <a:srgbClr val="000099"/>
                  </a:solidFill>
                  <a:latin typeface="Montserrat" panose="00000500000000000000" pitchFamily="2" charset="0"/>
                  <a:ea typeface="微软雅黑 Light" panose="020B0502040204020203" pitchFamily="34" charset="-122"/>
                </a:rPr>
                <a:t>(home page)</a:t>
              </a:r>
              <a:r>
                <a:rPr lang="zh-CN" altLang="en-US" sz="1600" dirty="0">
                  <a:solidFill>
                    <a:srgbClr val="000099"/>
                  </a:solidFill>
                  <a:latin typeface="Montserrat" panose="00000500000000000000" pitchFamily="2" charset="0"/>
                  <a:ea typeface="微软雅黑 Light" panose="020B0502040204020203" pitchFamily="34" charset="-122"/>
                </a:rPr>
                <a:t>。更复杂一些的路径是指向层次结构的从属页面。</a:t>
              </a:r>
            </a:p>
          </p:txBody>
        </p:sp>
      </p:grpSp>
      <p:sp>
        <p:nvSpPr>
          <p:cNvPr id="3" name="标题 2">
            <a:extLst>
              <a:ext uri="{FF2B5EF4-FFF2-40B4-BE49-F238E27FC236}">
                <a16:creationId xmlns:a16="http://schemas.microsoft.com/office/drawing/2014/main" id="{F8928915-D0C7-C59D-A38B-9E84EE3F2663}"/>
              </a:ext>
            </a:extLst>
          </p:cNvPr>
          <p:cNvSpPr>
            <a:spLocks noGrp="1"/>
          </p:cNvSpPr>
          <p:nvPr>
            <p:ph type="title"/>
          </p:nvPr>
        </p:nvSpPr>
        <p:spPr>
          <a:xfrm>
            <a:off x="485999" y="174482"/>
            <a:ext cx="8171999" cy="338554"/>
          </a:xfrm>
        </p:spPr>
        <p:txBody>
          <a:bodyPr/>
          <a:lstStyle/>
          <a:p>
            <a:r>
              <a:rPr lang="en-US" altLang="zh-CN" dirty="0"/>
              <a:t>6.4.2  </a:t>
            </a:r>
            <a:r>
              <a:rPr lang="zh-CN" altLang="en-US" dirty="0"/>
              <a:t>统一资源定位符 </a:t>
            </a:r>
            <a:r>
              <a:rPr lang="en-US" altLang="zh-CN" dirty="0"/>
              <a:t>URL</a:t>
            </a:r>
            <a:endParaRPr lang="zh-CN" altLang="en-US" dirty="0"/>
          </a:p>
        </p:txBody>
      </p:sp>
      <p:sp>
        <p:nvSpPr>
          <p:cNvPr id="8" name="内容占位符 7">
            <a:extLst>
              <a:ext uri="{FF2B5EF4-FFF2-40B4-BE49-F238E27FC236}">
                <a16:creationId xmlns:a16="http://schemas.microsoft.com/office/drawing/2014/main" id="{2D6D353B-FEAF-EC87-81C7-21533867DF4C}"/>
              </a:ext>
            </a:extLst>
          </p:cNvPr>
          <p:cNvSpPr>
            <a:spLocks noGrp="1"/>
          </p:cNvSpPr>
          <p:nvPr>
            <p:ph sz="quarter" idx="11"/>
          </p:nvPr>
        </p:nvSpPr>
        <p:spPr/>
        <p:txBody>
          <a:bodyPr/>
          <a:lstStyle/>
          <a:p>
            <a:endParaRPr lang="zh-CN" altLang="en-US"/>
          </a:p>
        </p:txBody>
      </p:sp>
      <p:sp>
        <p:nvSpPr>
          <p:cNvPr id="4" name="左大括号 3">
            <a:extLst>
              <a:ext uri="{FF2B5EF4-FFF2-40B4-BE49-F238E27FC236}">
                <a16:creationId xmlns:a16="http://schemas.microsoft.com/office/drawing/2014/main" id="{7ED41AD9-0843-D215-3EA7-470A66D3C3AE}"/>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55111E66-7068-E4D1-A6C1-15B4E6AF1443}"/>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383991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animEffect transition="in" filter="wipe(down)">
                                      <p:cBhvr>
                                        <p:cTn id="7" dur="1000"/>
                                        <p:tgtEl>
                                          <p:spTgt spid="12"/>
                                        </p:tgtEl>
                                      </p:cBhvr>
                                    </p:animEffect>
                                  </p:childTnLst>
                                </p:cTn>
                              </p:par>
                            </p:childTnLst>
                          </p:cTn>
                        </p:par>
                        <p:par>
                          <p:cTn id="8" fill="hold">
                            <p:stCondLst>
                              <p:cond delay="1000"/>
                            </p:stCondLst>
                            <p:childTnLst>
                              <p:par>
                                <p:cTn id="9" presetID="22" presetClass="entr" presetSubtype="4" fill="hold" nodeType="after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wipe(down)">
                                      <p:cBhvr>
                                        <p:cTn id="11" dur="1000"/>
                                        <p:tgtEl>
                                          <p:spTgt spid="28"/>
                                        </p:tgtEl>
                                      </p:cBhvr>
                                    </p:animEffect>
                                  </p:childTnLst>
                                </p:cTn>
                              </p:par>
                            </p:childTnLst>
                          </p:cTn>
                        </p:par>
                        <p:par>
                          <p:cTn id="12" fill="hold">
                            <p:stCondLst>
                              <p:cond delay="2000"/>
                            </p:stCondLst>
                            <p:childTnLst>
                              <p:par>
                                <p:cTn id="13" presetID="22" presetClass="entr" presetSubtype="4"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down)">
                                      <p:cBhvr>
                                        <p:cTn id="15" dur="1000"/>
                                        <p:tgtEl>
                                          <p:spTgt spid="33"/>
                                        </p:tgtEl>
                                      </p:cBhvr>
                                    </p:animEffect>
                                  </p:childTnLst>
                                </p:cTn>
                              </p:par>
                            </p:childTnLst>
                          </p:cTn>
                        </p:par>
                        <p:par>
                          <p:cTn id="16" fill="hold">
                            <p:stCondLst>
                              <p:cond delay="3000"/>
                            </p:stCondLst>
                            <p:childTnLst>
                              <p:par>
                                <p:cTn id="17" presetID="22" presetClass="entr" presetSubtype="4" fill="hold" nodeType="afterEffect">
                                  <p:stCondLst>
                                    <p:cond delay="0"/>
                                  </p:stCondLst>
                                  <p:childTnLst>
                                    <p:set>
                                      <p:cBhvr>
                                        <p:cTn id="18" dur="1" fill="hold">
                                          <p:stCondLst>
                                            <p:cond delay="0"/>
                                          </p:stCondLst>
                                        </p:cTn>
                                        <p:tgtEl>
                                          <p:spTgt spid="38"/>
                                        </p:tgtEl>
                                        <p:attrNameLst>
                                          <p:attrName>style.visibility</p:attrName>
                                        </p:attrNameLst>
                                      </p:cBhvr>
                                      <p:to>
                                        <p:strVal val="visible"/>
                                      </p:to>
                                    </p:set>
                                    <p:animEffect transition="in" filter="wipe(down)">
                                      <p:cBhvr>
                                        <p:cTn id="19" dur="1000"/>
                                        <p:tgtEl>
                                          <p:spTgt spid="38"/>
                                        </p:tgtEl>
                                      </p:cBhvr>
                                    </p:animEffect>
                                  </p:childTnLst>
                                </p:cTn>
                              </p:par>
                            </p:childTnLst>
                          </p:cTn>
                        </p:par>
                        <p:par>
                          <p:cTn id="20" fill="hold">
                            <p:stCondLst>
                              <p:cond delay="4000"/>
                            </p:stCondLst>
                            <p:childTnLst>
                              <p:par>
                                <p:cTn id="21" presetID="22" presetClass="entr" presetSubtype="1" fill="hold" nodeType="afterEffect">
                                  <p:stCondLst>
                                    <p:cond delay="0"/>
                                  </p:stCondLst>
                                  <p:childTnLst>
                                    <p:set>
                                      <p:cBhvr>
                                        <p:cTn id="22" dur="1" fill="hold">
                                          <p:stCondLst>
                                            <p:cond delay="0"/>
                                          </p:stCondLst>
                                        </p:cTn>
                                        <p:tgtEl>
                                          <p:spTgt spid="43"/>
                                        </p:tgtEl>
                                        <p:attrNameLst>
                                          <p:attrName>style.visibility</p:attrName>
                                        </p:attrNameLst>
                                      </p:cBhvr>
                                      <p:to>
                                        <p:strVal val="visible"/>
                                      </p:to>
                                    </p:set>
                                    <p:animEffect transition="in" filter="wipe(up)">
                                      <p:cBhvr>
                                        <p:cTn id="23" dur="1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321CB009-AD56-2F1C-F6D2-82F7084E0B78}"/>
              </a:ext>
            </a:extLst>
          </p:cNvPr>
          <p:cNvSpPr/>
          <p:nvPr/>
        </p:nvSpPr>
        <p:spPr>
          <a:xfrm>
            <a:off x="2261469" y="3736373"/>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glplaman.github.io</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4" name="左大括号 3">
            <a:extLst>
              <a:ext uri="{FF2B5EF4-FFF2-40B4-BE49-F238E27FC236}">
                <a16:creationId xmlns:a16="http://schemas.microsoft.com/office/drawing/2014/main" id="{6D86076D-4687-63B9-8219-417AEFCEE7AC}"/>
              </a:ext>
            </a:extLst>
          </p:cNvPr>
          <p:cNvSpPr/>
          <p:nvPr/>
        </p:nvSpPr>
        <p:spPr>
          <a:xfrm rot="16200000">
            <a:off x="3879134" y="3222461"/>
            <a:ext cx="117397" cy="1656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5" name="左大括号 4">
            <a:extLst>
              <a:ext uri="{FF2B5EF4-FFF2-40B4-BE49-F238E27FC236}">
                <a16:creationId xmlns:a16="http://schemas.microsoft.com/office/drawing/2014/main" id="{2B819A0E-82EF-EA20-BBD0-E8CE12B5220E}"/>
              </a:ext>
            </a:extLst>
          </p:cNvPr>
          <p:cNvSpPr/>
          <p:nvPr/>
        </p:nvSpPr>
        <p:spPr>
          <a:xfrm rot="16200000">
            <a:off x="5688742" y="3186460"/>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6" name="TextBox 17">
            <a:extLst>
              <a:ext uri="{FF2B5EF4-FFF2-40B4-BE49-F238E27FC236}">
                <a16:creationId xmlns:a16="http://schemas.microsoft.com/office/drawing/2014/main" id="{C5F4A7B5-3558-5024-7E51-87B8CFFC335D}"/>
              </a:ext>
            </a:extLst>
          </p:cNvPr>
          <p:cNvSpPr txBox="1"/>
          <p:nvPr/>
        </p:nvSpPr>
        <p:spPr>
          <a:xfrm>
            <a:off x="3544936" y="4109159"/>
            <a:ext cx="785792"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domain</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7" name="TextBox 18">
            <a:extLst>
              <a:ext uri="{FF2B5EF4-FFF2-40B4-BE49-F238E27FC236}">
                <a16:creationId xmlns:a16="http://schemas.microsoft.com/office/drawing/2014/main" id="{07B34242-391F-AFB7-625F-10D8BFF68690}"/>
              </a:ext>
            </a:extLst>
          </p:cNvPr>
          <p:cNvSpPr txBox="1"/>
          <p:nvPr/>
        </p:nvSpPr>
        <p:spPr>
          <a:xfrm>
            <a:off x="5171227" y="4109158"/>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8" name="左大括号 7">
            <a:extLst>
              <a:ext uri="{FF2B5EF4-FFF2-40B4-BE49-F238E27FC236}">
                <a16:creationId xmlns:a16="http://schemas.microsoft.com/office/drawing/2014/main" id="{334139B8-12B0-90D6-8608-E92870B5FB7A}"/>
              </a:ext>
            </a:extLst>
          </p:cNvPr>
          <p:cNvSpPr/>
          <p:nvPr/>
        </p:nvSpPr>
        <p:spPr>
          <a:xfrm rot="16200000">
            <a:off x="2697230" y="3798459"/>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TextBox 17">
            <a:extLst>
              <a:ext uri="{FF2B5EF4-FFF2-40B4-BE49-F238E27FC236}">
                <a16:creationId xmlns:a16="http://schemas.microsoft.com/office/drawing/2014/main" id="{CD8FC4BC-03A1-C0FA-7EC3-9E183476A078}"/>
              </a:ext>
            </a:extLst>
          </p:cNvPr>
          <p:cNvSpPr txBox="1"/>
          <p:nvPr/>
        </p:nvSpPr>
        <p:spPr>
          <a:xfrm>
            <a:off x="2377392" y="4087546"/>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AFBB2F2F-1CA0-2D04-3708-C90D741FEB70}"/>
              </a:ext>
            </a:extLst>
          </p:cNvPr>
          <p:cNvSpPr/>
          <p:nvPr/>
        </p:nvSpPr>
        <p:spPr>
          <a:xfrm>
            <a:off x="2261469" y="2571750"/>
            <a:ext cx="4603350" cy="307777"/>
          </a:xfrm>
          <a:prstGeom prst="rect">
            <a:avLst/>
          </a:prstGeom>
        </p:spPr>
        <p:txBody>
          <a:bodyPr wrap="square">
            <a:noAutofit/>
          </a:bodyPr>
          <a:lstStyle/>
          <a:p>
            <a:pPr algn="ctr"/>
            <a:r>
              <a:rPr lang="en-US" altLang="zh-CN" sz="1400" dirty="0">
                <a:latin typeface="Montserrat" panose="00000500000000000000" pitchFamily="2" charset="0"/>
                <a:ea typeface="微软雅黑 Light" panose="020B0502040204020203" pitchFamily="34" charset="-122"/>
                <a:cs typeface="Times New Roman" pitchFamily="18" charset="0"/>
              </a:rPr>
              <a:t>https://</a:t>
            </a:r>
            <a:r>
              <a:rPr lang="en-US" altLang="zh-CN" sz="1400" dirty="0">
                <a:solidFill>
                  <a:schemeClr val="tx2">
                    <a:lumMod val="60000"/>
                    <a:lumOff val="40000"/>
                  </a:schemeClr>
                </a:solidFill>
                <a:latin typeface="Montserrat" panose="00000500000000000000" pitchFamily="2" charset="0"/>
                <a:ea typeface="微软雅黑 Light" panose="020B0502040204020203" pitchFamily="34" charset="-122"/>
                <a:cs typeface="Times New Roman" pitchFamily="18" charset="0"/>
              </a:rPr>
              <a:t>185.199.108.153</a:t>
            </a:r>
            <a:r>
              <a:rPr lang="en-US" altLang="zh-CN" sz="1400" dirty="0">
                <a:latin typeface="Montserrat" panose="00000500000000000000" pitchFamily="2" charset="0"/>
                <a:ea typeface="微软雅黑 Light" panose="020B0502040204020203" pitchFamily="34" charset="-122"/>
                <a:cs typeface="Times New Roman" pitchFamily="18" charset="0"/>
              </a:rPr>
              <a:t>/</a:t>
            </a:r>
            <a:r>
              <a:rPr lang="en-US" altLang="zh-CN" sz="1400" dirty="0">
                <a:solidFill>
                  <a:srgbClr val="00B050"/>
                </a:solidFill>
                <a:latin typeface="Montserrat" panose="00000500000000000000" pitchFamily="2" charset="0"/>
                <a:ea typeface="微软雅黑 Light" panose="020B0502040204020203" pitchFamily="34" charset="-122"/>
                <a:cs typeface="Times New Roman" pitchFamily="18" charset="0"/>
              </a:rPr>
              <a:t>network/index.html</a:t>
            </a:r>
            <a:endParaRPr lang="zh-CN" altLang="zh-CN" sz="1400" dirty="0">
              <a:solidFill>
                <a:srgbClr val="00B050"/>
              </a:solidFill>
              <a:latin typeface="Montserrat" panose="00000500000000000000" pitchFamily="2" charset="0"/>
              <a:ea typeface="微软雅黑 Light" panose="020B0502040204020203" pitchFamily="34" charset="-122"/>
              <a:cs typeface="Times New Roman" pitchFamily="18" charset="0"/>
            </a:endParaRPr>
          </a:p>
        </p:txBody>
      </p:sp>
      <p:sp>
        <p:nvSpPr>
          <p:cNvPr id="11" name="左大括号 10">
            <a:extLst>
              <a:ext uri="{FF2B5EF4-FFF2-40B4-BE49-F238E27FC236}">
                <a16:creationId xmlns:a16="http://schemas.microsoft.com/office/drawing/2014/main" id="{2AE3F18D-BEB4-F3C2-1542-5CBFAE33CD09}"/>
              </a:ext>
            </a:extLst>
          </p:cNvPr>
          <p:cNvSpPr/>
          <p:nvPr/>
        </p:nvSpPr>
        <p:spPr>
          <a:xfrm rot="16200000">
            <a:off x="3891734" y="2273838"/>
            <a:ext cx="117397" cy="1224000"/>
          </a:xfrm>
          <a:prstGeom prst="leftBrace">
            <a:avLst>
              <a:gd name="adj1" fmla="val 47208"/>
              <a:gd name="adj2" fmla="val 49826"/>
            </a:avLst>
          </a:prstGeom>
          <a:ln w="12700">
            <a:solidFill>
              <a:schemeClr val="tx2">
                <a:lumMod val="60000"/>
                <a:lumOff val="4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2" name="左大括号 11">
            <a:extLst>
              <a:ext uri="{FF2B5EF4-FFF2-40B4-BE49-F238E27FC236}">
                <a16:creationId xmlns:a16="http://schemas.microsoft.com/office/drawing/2014/main" id="{9B984DC1-09C9-EDE6-76B1-0E6609B7E67D}"/>
              </a:ext>
            </a:extLst>
          </p:cNvPr>
          <p:cNvSpPr/>
          <p:nvPr/>
        </p:nvSpPr>
        <p:spPr>
          <a:xfrm rot="16200000">
            <a:off x="5477734" y="2021837"/>
            <a:ext cx="117399" cy="1728000"/>
          </a:xfrm>
          <a:prstGeom prst="leftBrace">
            <a:avLst>
              <a:gd name="adj1" fmla="val 47208"/>
              <a:gd name="adj2" fmla="val 49826"/>
            </a:avLst>
          </a:prstGeom>
          <a:ln w="12700">
            <a:solidFill>
              <a:srgbClr val="00B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TextBox 17">
            <a:extLst>
              <a:ext uri="{FF2B5EF4-FFF2-40B4-BE49-F238E27FC236}">
                <a16:creationId xmlns:a16="http://schemas.microsoft.com/office/drawing/2014/main" id="{8DC4D532-FC64-DD2A-2106-6C138A06297C}"/>
              </a:ext>
            </a:extLst>
          </p:cNvPr>
          <p:cNvSpPr txBox="1"/>
          <p:nvPr/>
        </p:nvSpPr>
        <p:spPr>
          <a:xfrm>
            <a:off x="3779552" y="2944536"/>
            <a:ext cx="341760" cy="276999"/>
          </a:xfrm>
          <a:prstGeom prst="rect">
            <a:avLst/>
          </a:prstGeom>
          <a:noFill/>
        </p:spPr>
        <p:txBody>
          <a:bodyPr wrap="none" rtlCol="0">
            <a:spAutoFit/>
          </a:bodyPr>
          <a:lstStyle/>
          <a:p>
            <a:pPr algn="ctr"/>
            <a:r>
              <a:rPr lang="en-US" altLang="zh-CN" sz="1200" dirty="0">
                <a:solidFill>
                  <a:schemeClr val="tx2">
                    <a:lumMod val="60000"/>
                    <a:lumOff val="40000"/>
                  </a:schemeClr>
                </a:solidFill>
                <a:latin typeface="Montserrat" panose="00000500000000000000" pitchFamily="2" charset="0"/>
                <a:ea typeface="微软雅黑 Light" panose="020B0502040204020203" pitchFamily="34" charset="-122"/>
              </a:rPr>
              <a:t>IP</a:t>
            </a:r>
            <a:endParaRPr lang="zh-CN" altLang="en-US" sz="1200" dirty="0">
              <a:solidFill>
                <a:schemeClr val="tx2">
                  <a:lumMod val="60000"/>
                  <a:lumOff val="40000"/>
                </a:schemeClr>
              </a:solidFill>
              <a:latin typeface="Montserrat" panose="00000500000000000000" pitchFamily="2" charset="0"/>
              <a:ea typeface="微软雅黑 Light" panose="020B0502040204020203" pitchFamily="34" charset="-122"/>
            </a:endParaRPr>
          </a:p>
        </p:txBody>
      </p:sp>
      <p:sp>
        <p:nvSpPr>
          <p:cNvPr id="14" name="TextBox 18">
            <a:extLst>
              <a:ext uri="{FF2B5EF4-FFF2-40B4-BE49-F238E27FC236}">
                <a16:creationId xmlns:a16="http://schemas.microsoft.com/office/drawing/2014/main" id="{61D390DF-8762-5747-0F03-99401D7B7893}"/>
              </a:ext>
            </a:extLst>
          </p:cNvPr>
          <p:cNvSpPr txBox="1"/>
          <p:nvPr/>
        </p:nvSpPr>
        <p:spPr>
          <a:xfrm>
            <a:off x="5171227" y="2944535"/>
            <a:ext cx="1042065" cy="276999"/>
          </a:xfrm>
          <a:prstGeom prst="rect">
            <a:avLst/>
          </a:prstGeom>
          <a:noFill/>
        </p:spPr>
        <p:txBody>
          <a:bodyPr wrap="square" rtlCol="0">
            <a:spAutoFit/>
          </a:bodyPr>
          <a:lstStyle>
            <a:defPPr>
              <a:defRPr lang="zh-CN"/>
            </a:defPPr>
            <a:lvl1pPr>
              <a:defRPr sz="3200" b="1">
                <a:solidFill>
                  <a:srgbClr val="000000"/>
                </a:solidFill>
                <a:latin typeface="+mn-lt"/>
                <a:ea typeface="+mn-ea"/>
              </a:defRPr>
            </a:lvl1pPr>
          </a:lstStyle>
          <a:p>
            <a:pPr algn="ctr"/>
            <a:r>
              <a:rPr lang="en-US" altLang="zh-CN" sz="1200" b="0" dirty="0">
                <a:solidFill>
                  <a:srgbClr val="00B050"/>
                </a:solidFill>
                <a:latin typeface="Montserrat" panose="00000500000000000000" pitchFamily="2" charset="0"/>
                <a:ea typeface="微软雅黑 Light" panose="020B0502040204020203" pitchFamily="34" charset="-122"/>
              </a:rPr>
              <a:t>path</a:t>
            </a:r>
            <a:endParaRPr lang="zh-CN" altLang="en-US" sz="1200" b="0" dirty="0">
              <a:solidFill>
                <a:srgbClr val="00B050"/>
              </a:solidFill>
              <a:latin typeface="Montserrat" panose="00000500000000000000" pitchFamily="2" charset="0"/>
              <a:ea typeface="微软雅黑 Light" panose="020B0502040204020203" pitchFamily="34" charset="-122"/>
            </a:endParaRPr>
          </a:p>
        </p:txBody>
      </p:sp>
      <p:sp>
        <p:nvSpPr>
          <p:cNvPr id="15" name="左大括号 14">
            <a:extLst>
              <a:ext uri="{FF2B5EF4-FFF2-40B4-BE49-F238E27FC236}">
                <a16:creationId xmlns:a16="http://schemas.microsoft.com/office/drawing/2014/main" id="{60B3363D-352F-1A0C-F75C-52C977BABDE4}"/>
              </a:ext>
            </a:extLst>
          </p:cNvPr>
          <p:cNvSpPr/>
          <p:nvPr/>
        </p:nvSpPr>
        <p:spPr>
          <a:xfrm rot="16200000">
            <a:off x="2897255" y="2633836"/>
            <a:ext cx="117397" cy="504000"/>
          </a:xfrm>
          <a:prstGeom prst="leftBrace">
            <a:avLst>
              <a:gd name="adj1" fmla="val 47208"/>
              <a:gd name="adj2" fmla="val 49826"/>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6" name="TextBox 17">
            <a:extLst>
              <a:ext uri="{FF2B5EF4-FFF2-40B4-BE49-F238E27FC236}">
                <a16:creationId xmlns:a16="http://schemas.microsoft.com/office/drawing/2014/main" id="{5B8FEAA7-B4C7-B0B0-4D27-12C158D32E2A}"/>
              </a:ext>
            </a:extLst>
          </p:cNvPr>
          <p:cNvSpPr txBox="1"/>
          <p:nvPr/>
        </p:nvSpPr>
        <p:spPr>
          <a:xfrm>
            <a:off x="2577417" y="2922923"/>
            <a:ext cx="8290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rPr>
              <a:t>protocol</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198944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2141FF72-872F-F8C1-B7CD-1E9C20946A8C}"/>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a:t>
            </a:r>
            <a:endParaRPr lang="zh-CN" altLang="en-US" dirty="0"/>
          </a:p>
        </p:txBody>
      </p:sp>
      <p:sp>
        <p:nvSpPr>
          <p:cNvPr id="5" name="内容占位符 4">
            <a:extLst>
              <a:ext uri="{FF2B5EF4-FFF2-40B4-BE49-F238E27FC236}">
                <a16:creationId xmlns:a16="http://schemas.microsoft.com/office/drawing/2014/main" id="{F5ECFF2A-A5BB-E784-B1DB-5D14166A1917}"/>
              </a:ext>
            </a:extLst>
          </p:cNvPr>
          <p:cNvSpPr>
            <a:spLocks noGrp="1"/>
          </p:cNvSpPr>
          <p:nvPr>
            <p:ph sz="quarter" idx="11"/>
          </p:nvPr>
        </p:nvSpPr>
        <p:spPr>
          <a:xfrm>
            <a:off x="486000" y="687518"/>
            <a:ext cx="8172000" cy="4079035"/>
          </a:xfrm>
        </p:spPr>
        <p:txBody>
          <a:bodyPr/>
          <a:lstStyle/>
          <a:p>
            <a:r>
              <a:rPr lang="en-US" altLang="zh-CN" dirty="0"/>
              <a:t>HTTP </a:t>
            </a:r>
            <a:r>
              <a:rPr lang="zh-CN" altLang="en-US" dirty="0"/>
              <a:t>是面向事务的 </a:t>
            </a:r>
            <a:r>
              <a:rPr lang="en-US" altLang="zh-CN" dirty="0"/>
              <a:t>(transaction-oriented) </a:t>
            </a:r>
            <a:r>
              <a:rPr lang="zh-CN" altLang="en-US" dirty="0"/>
              <a:t>应用层协议</a:t>
            </a:r>
            <a:endParaRPr lang="en-US" altLang="zh-CN" dirty="0"/>
          </a:p>
          <a:p>
            <a:r>
              <a:rPr lang="zh-CN" altLang="en-US" dirty="0"/>
              <a:t>使用 </a:t>
            </a:r>
            <a:r>
              <a:rPr lang="en-US" altLang="zh-CN" dirty="0"/>
              <a:t>TCP </a:t>
            </a:r>
            <a:r>
              <a:rPr lang="zh-CN" altLang="en-US" dirty="0"/>
              <a:t>连接进行可靠的传送</a:t>
            </a:r>
            <a:endParaRPr lang="en-US" altLang="zh-CN" dirty="0"/>
          </a:p>
          <a:p>
            <a:r>
              <a:rPr lang="zh-CN" altLang="en-US" dirty="0"/>
              <a:t>定义了浏览器与万维网服务器通信的格式和规则</a:t>
            </a:r>
            <a:endParaRPr lang="en-US" altLang="zh-CN" dirty="0"/>
          </a:p>
          <a:p>
            <a:r>
              <a:rPr lang="zh-CN" altLang="en-US" dirty="0"/>
              <a:t>是万维网上能够可靠地交换文件（包括文本、声音、图像等各种多媒体文件）的重要基础</a:t>
            </a:r>
            <a:endParaRPr lang="en-US" altLang="zh-CN" dirty="0"/>
          </a:p>
          <a:p>
            <a:r>
              <a:rPr lang="en-US" altLang="zh-CN" dirty="0"/>
              <a:t>HTTP </a:t>
            </a:r>
            <a:r>
              <a:rPr lang="zh-CN" altLang="en-US" dirty="0"/>
              <a:t>不仅传送完成超文本跳转所必需的信息，而且也传送任何可从互联网上得到的信息，如文本、超文本、声音和图像等</a:t>
            </a:r>
          </a:p>
          <a:p>
            <a:endParaRPr lang="en-US" altLang="zh-CN" dirty="0"/>
          </a:p>
          <a:p>
            <a:endParaRPr lang="zh-CN" altLang="en-US" dirty="0"/>
          </a:p>
        </p:txBody>
      </p:sp>
    </p:spTree>
    <p:extLst>
      <p:ext uri="{BB962C8B-B14F-4D97-AF65-F5344CB8AC3E}">
        <p14:creationId xmlns:p14="http://schemas.microsoft.com/office/powerpoint/2010/main" val="562256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4A5AC5-2B79-B6F3-F882-77DF85F5B792}"/>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5" name="内容占位符 64">
            <a:extLst>
              <a:ext uri="{FF2B5EF4-FFF2-40B4-BE49-F238E27FC236}">
                <a16:creationId xmlns:a16="http://schemas.microsoft.com/office/drawing/2014/main" id="{2FEE52BE-5F49-357F-2E1C-A016F8D6255E}"/>
              </a:ext>
            </a:extLst>
          </p:cNvPr>
          <p:cNvSpPr>
            <a:spLocks noGrp="1"/>
          </p:cNvSpPr>
          <p:nvPr>
            <p:ph sz="quarter" idx="11"/>
          </p:nvPr>
        </p:nvSpPr>
        <p:spPr/>
        <p:txBody>
          <a:bodyPr/>
          <a:lstStyle/>
          <a:p>
            <a:endParaRPr lang="zh-CN" altLang="en-US" dirty="0"/>
          </a:p>
        </p:txBody>
      </p:sp>
      <p:sp>
        <p:nvSpPr>
          <p:cNvPr id="9" name="矩形 8"/>
          <p:cNvSpPr/>
          <p:nvPr/>
        </p:nvSpPr>
        <p:spPr>
          <a:xfrm>
            <a:off x="2186228"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aphicFrame>
        <p:nvGraphicFramePr>
          <p:cNvPr id="17" name="Object 66"/>
          <p:cNvGraphicFramePr>
            <a:graphicFrameLocks noChangeAspect="1"/>
          </p:cNvGraphicFramePr>
          <p:nvPr>
            <p:extLst>
              <p:ext uri="{D42A27DB-BD31-4B8C-83A1-F6EECF244321}">
                <p14:modId xmlns:p14="http://schemas.microsoft.com/office/powerpoint/2010/main" val="1147271616"/>
              </p:ext>
            </p:extLst>
          </p:nvPr>
        </p:nvGraphicFramePr>
        <p:xfrm>
          <a:off x="3478498" y="2050412"/>
          <a:ext cx="2148903" cy="87304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9"/>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78498"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26" name="Rectangle 78"/>
          <p:cNvSpPr>
            <a:spLocks noChangeArrowheads="1"/>
          </p:cNvSpPr>
          <p:nvPr/>
        </p:nvSpPr>
        <p:spPr bwMode="auto">
          <a:xfrm>
            <a:off x="4201482" y="2199680"/>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dirty="0">
                <a:solidFill>
                  <a:sysClr val="windowText" lastClr="000000"/>
                </a:solidFill>
                <a:latin typeface="微软雅黑 Light" panose="020B0502040204020203" pitchFamily="34" charset="-122"/>
                <a:ea typeface="微软雅黑 Light" panose="020B0502040204020203" pitchFamily="34" charset="-122"/>
              </a:rPr>
              <a:t>HTTP</a:t>
            </a:r>
          </a:p>
        </p:txBody>
      </p:sp>
      <p:sp>
        <p:nvSpPr>
          <p:cNvPr id="28" name="Freeform 81"/>
          <p:cNvSpPr>
            <a:spLocks/>
          </p:cNvSpPr>
          <p:nvPr/>
        </p:nvSpPr>
        <p:spPr bwMode="auto">
          <a:xfrm>
            <a:off x="2897353"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3374757" y="2423733"/>
            <a:ext cx="2304000" cy="0"/>
          </a:xfrm>
          <a:prstGeom prst="line">
            <a:avLst/>
          </a:prstGeom>
          <a:noFill/>
          <a:ln w="38100">
            <a:solidFill>
              <a:srgbClr val="4BACC6"/>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3087223"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5961891" y="2680217"/>
            <a:ext cx="0" cy="1540528"/>
          </a:xfrm>
          <a:prstGeom prst="line">
            <a:avLst/>
          </a:prstGeom>
          <a:noFill/>
          <a:ln w="19050">
            <a:solidFill>
              <a:schemeClr val="tx1"/>
            </a:solidFill>
            <a:round/>
            <a:headEnd/>
            <a:tailEnd type="triangl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42" name="Line 103"/>
          <p:cNvSpPr>
            <a:spLocks noChangeShapeType="1"/>
          </p:cNvSpPr>
          <p:nvPr/>
        </p:nvSpPr>
        <p:spPr bwMode="auto">
          <a:xfrm>
            <a:off x="3087223" y="3027471"/>
            <a:ext cx="2874668" cy="0"/>
          </a:xfrm>
          <a:prstGeom prst="line">
            <a:avLst/>
          </a:prstGeom>
          <a:noFill/>
          <a:ln w="28575">
            <a:solidFill>
              <a:schemeClr val="tx1"/>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3998422" y="2910355"/>
            <a:ext cx="1068241" cy="253888"/>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建立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47" name="Line 94"/>
          <p:cNvSpPr>
            <a:spLocks noChangeShapeType="1"/>
          </p:cNvSpPr>
          <p:nvPr/>
        </p:nvSpPr>
        <p:spPr bwMode="auto">
          <a:xfrm>
            <a:off x="3087225" y="3340328"/>
            <a:ext cx="2874666" cy="0"/>
          </a:xfrm>
          <a:prstGeom prst="line">
            <a:avLst/>
          </a:prstGeom>
          <a:noFill/>
          <a:ln w="28575">
            <a:solidFill>
              <a:schemeClr val="tx1"/>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3285967" y="3216660"/>
            <a:ext cx="1464838" cy="248155"/>
            <a:chOff x="513" y="1824"/>
            <a:chExt cx="1296" cy="240"/>
          </a:xfrm>
          <a:solidFill>
            <a:schemeClr val="bg1"/>
          </a:solidFill>
        </p:grpSpPr>
        <p:sp>
          <p:nvSpPr>
            <p:cNvPr id="50" name="AutoShape 96"/>
            <p:cNvSpPr>
              <a:spLocks noChangeArrowheads="1"/>
            </p:cNvSpPr>
            <p:nvPr/>
          </p:nvSpPr>
          <p:spPr bwMode="auto">
            <a:xfrm>
              <a:off x="1521"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请求报文</a:t>
              </a:r>
            </a:p>
          </p:txBody>
        </p:sp>
      </p:grpSp>
      <p:sp>
        <p:nvSpPr>
          <p:cNvPr id="53" name="Line 106"/>
          <p:cNvSpPr>
            <a:spLocks noChangeShapeType="1"/>
          </p:cNvSpPr>
          <p:nvPr/>
        </p:nvSpPr>
        <p:spPr bwMode="auto">
          <a:xfrm>
            <a:off x="3087223" y="3990611"/>
            <a:ext cx="2874668" cy="0"/>
          </a:xfrm>
          <a:prstGeom prst="line">
            <a:avLst/>
          </a:prstGeom>
          <a:noFill/>
          <a:ln w="28575">
            <a:solidFill>
              <a:srgbClr val="4BACC6"/>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3998422" y="3885779"/>
            <a:ext cx="1068241" cy="253889"/>
          </a:xfrm>
          <a:prstGeom prst="rect">
            <a:avLst/>
          </a:prstGeom>
          <a:solidFill>
            <a:schemeClr val="bg1"/>
          </a:solid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dirty="0">
                <a:latin typeface="微软雅黑 Light" panose="020B0502040204020203" pitchFamily="34" charset="-122"/>
                <a:ea typeface="微软雅黑 Light" panose="020B0502040204020203" pitchFamily="34" charset="-122"/>
              </a:rPr>
              <a:t>释放 </a:t>
            </a:r>
            <a:r>
              <a:rPr kumimoji="1" lang="en-US" altLang="zh-CN" sz="1050" dirty="0">
                <a:latin typeface="微软雅黑 Light" panose="020B0502040204020203" pitchFamily="34" charset="-122"/>
                <a:ea typeface="微软雅黑 Light" panose="020B0502040204020203" pitchFamily="34" charset="-122"/>
              </a:rPr>
              <a:t>TCP </a:t>
            </a:r>
            <a:r>
              <a:rPr kumimoji="1" lang="zh-CN" altLang="en-US" sz="1050" dirty="0">
                <a:latin typeface="微软雅黑 Light" panose="020B0502040204020203" pitchFamily="34" charset="-122"/>
                <a:ea typeface="微软雅黑 Light" panose="020B0502040204020203" pitchFamily="34" charset="-122"/>
              </a:rPr>
              <a:t>连接</a:t>
            </a:r>
          </a:p>
        </p:txBody>
      </p:sp>
      <p:sp>
        <p:nvSpPr>
          <p:cNvPr id="56" name="Line 98"/>
          <p:cNvSpPr>
            <a:spLocks noChangeShapeType="1"/>
          </p:cNvSpPr>
          <p:nvPr/>
        </p:nvSpPr>
        <p:spPr bwMode="auto">
          <a:xfrm flipH="1">
            <a:off x="3099929" y="3674482"/>
            <a:ext cx="2861961" cy="0"/>
          </a:xfrm>
          <a:prstGeom prst="line">
            <a:avLst/>
          </a:prstGeom>
          <a:noFill/>
          <a:ln w="28575">
            <a:solidFill>
              <a:srgbClr val="F79646"/>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51776" y="3516420"/>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59" name="TextBox 56"/>
          <p:cNvSpPr txBox="1"/>
          <p:nvPr/>
        </p:nvSpPr>
        <p:spPr>
          <a:xfrm>
            <a:off x="5495044" y="3437491"/>
            <a:ext cx="393049" cy="461665"/>
          </a:xfrm>
          <a:prstGeom prst="rect">
            <a:avLst/>
          </a:prstGeom>
          <a:noFill/>
        </p:spPr>
        <p:txBody>
          <a:bodyPr wrap="square" rtlCol="0" anchor="ctr">
            <a:spAutoFit/>
          </a:bodyPr>
          <a:lstStyle/>
          <a:p>
            <a:pPr algn="ctr"/>
            <a:r>
              <a:rPr kumimoji="1" lang="en-US" altLang="zh-CN" sz="2400"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24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101403" y="3550813"/>
            <a:ext cx="1450373" cy="248156"/>
            <a:chOff x="903" y="1824"/>
            <a:chExt cx="1284" cy="240"/>
          </a:xfrm>
          <a:solidFill>
            <a:schemeClr val="bg1"/>
          </a:solidFill>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dirty="0">
                  <a:latin typeface="微软雅黑 Light" panose="020B0502040204020203" pitchFamily="34" charset="-122"/>
                  <a:ea typeface="微软雅黑 Light" panose="020B0502040204020203" pitchFamily="34" charset="-122"/>
                </a:rPr>
                <a:t>HTTP </a:t>
              </a:r>
              <a:r>
                <a:rPr kumimoji="1" lang="zh-CN" altLang="en-US" sz="1050" dirty="0">
                  <a:latin typeface="微软雅黑 Light" panose="020B0502040204020203" pitchFamily="34" charset="-122"/>
                  <a:ea typeface="微软雅黑 Light" panose="020B0502040204020203" pitchFamily="34" charset="-122"/>
                </a:rPr>
                <a:t>响应报文</a:t>
              </a:r>
            </a:p>
          </p:txBody>
        </p:sp>
      </p:grpSp>
      <p:sp>
        <p:nvSpPr>
          <p:cNvPr id="11" name="Rectangle 6">
            <a:extLst>
              <a:ext uri="{FF2B5EF4-FFF2-40B4-BE49-F238E27FC236}">
                <a16:creationId xmlns:a16="http://schemas.microsoft.com/office/drawing/2014/main" id="{37A83016-ECCD-681A-D9FB-803A591AB0A4}"/>
              </a:ext>
            </a:extLst>
          </p:cNvPr>
          <p:cNvSpPr>
            <a:spLocks noChangeArrowheads="1"/>
          </p:cNvSpPr>
          <p:nvPr/>
        </p:nvSpPr>
        <p:spPr bwMode="auto">
          <a:xfrm>
            <a:off x="5720355" y="1773369"/>
            <a:ext cx="668453" cy="386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p>
          <a:p>
            <a:pPr algn="ctr">
              <a:lnSpc>
                <a:spcPct val="80000"/>
              </a:lnSpc>
            </a:pPr>
            <a:r>
              <a:rPr kumimoji="1" lang="en-US" altLang="zh-CN" sz="1200" dirty="0">
                <a:latin typeface="Montserrat" panose="00000500000000000000" pitchFamily="2" charset="0"/>
                <a:ea typeface="微软雅黑 Light" panose="020B0502040204020203" pitchFamily="34" charset="-122"/>
              </a:rPr>
              <a:t>443</a:t>
            </a:r>
            <a:endParaRPr kumimoji="1" lang="zh-CN" altLang="en-US" sz="1200" dirty="0">
              <a:latin typeface="Montserrat" panose="00000500000000000000" pitchFamily="2" charset="0"/>
              <a:ea typeface="微软雅黑 Light" panose="020B0502040204020203" pitchFamily="34" charset="-122"/>
            </a:endParaRPr>
          </a:p>
        </p:txBody>
      </p:sp>
      <p:sp>
        <p:nvSpPr>
          <p:cNvPr id="12" name="Rectangle 7">
            <a:extLst>
              <a:ext uri="{FF2B5EF4-FFF2-40B4-BE49-F238E27FC236}">
                <a16:creationId xmlns:a16="http://schemas.microsoft.com/office/drawing/2014/main" id="{CB998C28-26DB-580B-007C-5D9A18345EB0}"/>
              </a:ext>
            </a:extLst>
          </p:cNvPr>
          <p:cNvSpPr>
            <a:spLocks noChangeArrowheads="1"/>
          </p:cNvSpPr>
          <p:nvPr/>
        </p:nvSpPr>
        <p:spPr bwMode="auto">
          <a:xfrm>
            <a:off x="2625486" y="1755447"/>
            <a:ext cx="636394"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p>
          <a:p>
            <a:pPr algn="ctr"/>
            <a:r>
              <a:rPr kumimoji="1" lang="en-US" altLang="zh-CN" sz="1200" dirty="0">
                <a:latin typeface="Montserrat" panose="00000500000000000000" pitchFamily="2" charset="0"/>
                <a:ea typeface="微软雅黑 Light" panose="020B0502040204020203" pitchFamily="34" charset="-122"/>
              </a:rPr>
              <a:t>XXXX</a:t>
            </a:r>
            <a:endParaRPr kumimoji="1" lang="zh-CN" altLang="en-US" sz="1200" dirty="0">
              <a:latin typeface="Montserrat" panose="00000500000000000000" pitchFamily="2" charset="0"/>
              <a:ea typeface="微软雅黑 Light" panose="020B0502040204020203" pitchFamily="34" charset="-122"/>
            </a:endParaRPr>
          </a:p>
        </p:txBody>
      </p:sp>
      <p:pic>
        <p:nvPicPr>
          <p:cNvPr id="13" name="图片 12">
            <a:extLst>
              <a:ext uri="{FF2B5EF4-FFF2-40B4-BE49-F238E27FC236}">
                <a16:creationId xmlns:a16="http://schemas.microsoft.com/office/drawing/2014/main" id="{99E2A51D-8E4A-FA00-788A-3128ACA6196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5720355" y="2077441"/>
            <a:ext cx="511585" cy="716219"/>
          </a:xfrm>
          <a:prstGeom prst="rect">
            <a:avLst/>
          </a:prstGeom>
        </p:spPr>
      </p:pic>
      <p:pic>
        <p:nvPicPr>
          <p:cNvPr id="14" name="Picture 197" descr="jisuanji">
            <a:extLst>
              <a:ext uri="{FF2B5EF4-FFF2-40B4-BE49-F238E27FC236}">
                <a16:creationId xmlns:a16="http://schemas.microsoft.com/office/drawing/2014/main" id="{100C9196-F6B6-E796-F51A-D8E1F143FEF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36594"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06572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806827" y="1437680"/>
            <a:ext cx="868380" cy="868382"/>
          </a:xfrm>
          <a:prstGeom prst="rect">
            <a:avLst/>
          </a:prstGeom>
          <a:noFill/>
          <a:extLst>
            <a:ext uri="{909E8E84-426E-40DD-AFC4-6F175D3DCCD1}">
              <a14:hiddenFill xmlns:a14="http://schemas.microsoft.com/office/drawing/2010/main">
                <a:solidFill>
                  <a:srgbClr val="FFFFFF"/>
                </a:solidFill>
              </a14:hiddenFill>
            </a:ext>
          </a:extLst>
        </p:spPr>
      </p:pic>
      <p:sp>
        <p:nvSpPr>
          <p:cNvPr id="9" name="矩形 8"/>
          <p:cNvSpPr/>
          <p:nvPr/>
        </p:nvSpPr>
        <p:spPr>
          <a:xfrm>
            <a:off x="925599" y="1586995"/>
            <a:ext cx="596307" cy="33992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10" name="Text Box 110"/>
          <p:cNvSpPr txBox="1">
            <a:spLocks noChangeArrowheads="1"/>
          </p:cNvSpPr>
          <p:nvPr/>
        </p:nvSpPr>
        <p:spPr bwMode="auto">
          <a:xfrm>
            <a:off x="5481420" y="1906021"/>
            <a:ext cx="723275" cy="101566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6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6000" b="1" dirty="0">
              <a:solidFill>
                <a:srgbClr val="009900"/>
              </a:solidFill>
              <a:latin typeface="微软雅黑 Light" panose="020B0502040204020203" pitchFamily="34" charset="-122"/>
              <a:ea typeface="微软雅黑 Light" panose="020B0502040204020203" pitchFamily="34" charset="-122"/>
            </a:endParaRPr>
          </a:p>
        </p:txBody>
      </p:sp>
      <p:pic>
        <p:nvPicPr>
          <p:cNvPr id="16" name="图片 15"/>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655520" y="1342814"/>
            <a:ext cx="808942" cy="1132519"/>
          </a:xfrm>
          <a:prstGeom prst="rect">
            <a:avLst/>
          </a:prstGeom>
        </p:spPr>
      </p:pic>
      <p:graphicFrame>
        <p:nvGraphicFramePr>
          <p:cNvPr id="17" name="Object 66"/>
          <p:cNvGraphicFramePr>
            <a:graphicFrameLocks noChangeAspect="1"/>
          </p:cNvGraphicFramePr>
          <p:nvPr>
            <p:extLst>
              <p:ext uri="{D42A27DB-BD31-4B8C-83A1-F6EECF244321}">
                <p14:modId xmlns:p14="http://schemas.microsoft.com/office/powerpoint/2010/main" val="2214520532"/>
              </p:ext>
            </p:extLst>
          </p:nvPr>
        </p:nvGraphicFramePr>
        <p:xfrm>
          <a:off x="2217869" y="2050412"/>
          <a:ext cx="2148903" cy="873047"/>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4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17869" y="2050412"/>
                        <a:ext cx="2148903" cy="87304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8" name="Freeform 70"/>
          <p:cNvSpPr>
            <a:spLocks/>
          </p:cNvSpPr>
          <p:nvPr/>
        </p:nvSpPr>
        <p:spPr bwMode="auto">
          <a:xfrm>
            <a:off x="4113906" y="2234685"/>
            <a:ext cx="1025331" cy="384108"/>
          </a:xfrm>
          <a:custGeom>
            <a:avLst/>
            <a:gdLst>
              <a:gd name="T0" fmla="*/ 2147483646 w 567"/>
              <a:gd name="T1" fmla="*/ 0 h 371"/>
              <a:gd name="T2" fmla="*/ 2147483646 w 567"/>
              <a:gd name="T3" fmla="*/ 2147483646 h 371"/>
              <a:gd name="T4" fmla="*/ 2147483646 w 567"/>
              <a:gd name="T5" fmla="*/ 2147483646 h 371"/>
              <a:gd name="T6" fmla="*/ 2147483646 w 567"/>
              <a:gd name="T7" fmla="*/ 2147483646 h 371"/>
              <a:gd name="T8" fmla="*/ 0 w 567"/>
              <a:gd name="T9" fmla="*/ 2147483646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7" h="371">
                <a:moveTo>
                  <a:pt x="567" y="0"/>
                </a:moveTo>
                <a:cubicBezTo>
                  <a:pt x="561" y="28"/>
                  <a:pt x="553" y="122"/>
                  <a:pt x="530" y="168"/>
                </a:cubicBezTo>
                <a:cubicBezTo>
                  <a:pt x="516" y="193"/>
                  <a:pt x="460" y="266"/>
                  <a:pt x="428" y="280"/>
                </a:cubicBezTo>
                <a:cubicBezTo>
                  <a:pt x="395" y="294"/>
                  <a:pt x="356" y="316"/>
                  <a:pt x="314" y="328"/>
                </a:cubicBezTo>
                <a:cubicBezTo>
                  <a:pt x="241" y="341"/>
                  <a:pt x="52" y="364"/>
                  <a:pt x="0" y="371"/>
                </a:cubicBezTo>
              </a:path>
            </a:pathLst>
          </a:custGeom>
          <a:noFill/>
          <a:ln w="28575"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19" name="Freeform 71"/>
          <p:cNvSpPr>
            <a:spLocks/>
          </p:cNvSpPr>
          <p:nvPr/>
        </p:nvSpPr>
        <p:spPr bwMode="auto">
          <a:xfrm>
            <a:off x="1176367" y="2053688"/>
            <a:ext cx="1282831" cy="557735"/>
          </a:xfrm>
          <a:custGeom>
            <a:avLst/>
            <a:gdLst>
              <a:gd name="T0" fmla="*/ 2147483646 w 759"/>
              <a:gd name="T1" fmla="*/ 0 h 664"/>
              <a:gd name="T2" fmla="*/ 2147483646 w 759"/>
              <a:gd name="T3" fmla="*/ 2147483646 h 664"/>
              <a:gd name="T4" fmla="*/ 2147483646 w 759"/>
              <a:gd name="T5" fmla="*/ 2147483646 h 664"/>
              <a:gd name="T6" fmla="*/ 2147483646 w 759"/>
              <a:gd name="T7" fmla="*/ 2147483646 h 664"/>
              <a:gd name="T8" fmla="*/ 2147483646 w 759"/>
              <a:gd name="T9" fmla="*/ 2147483646 h 664"/>
              <a:gd name="T10" fmla="*/ 2147483646 w 759"/>
              <a:gd name="T11" fmla="*/ 2147483646 h 664"/>
              <a:gd name="T12" fmla="*/ 2147483646 w 759"/>
              <a:gd name="T13" fmla="*/ 2147483646 h 664"/>
              <a:gd name="T14" fmla="*/ 2147483646 w 759"/>
              <a:gd name="T15" fmla="*/ 2147483646 h 66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759" h="664">
                <a:moveTo>
                  <a:pt x="7" y="0"/>
                </a:moveTo>
                <a:cubicBezTo>
                  <a:pt x="8" y="71"/>
                  <a:pt x="0" y="333"/>
                  <a:pt x="15" y="424"/>
                </a:cubicBezTo>
                <a:cubicBezTo>
                  <a:pt x="30" y="515"/>
                  <a:pt x="77" y="520"/>
                  <a:pt x="100" y="545"/>
                </a:cubicBezTo>
                <a:lnTo>
                  <a:pt x="154" y="571"/>
                </a:lnTo>
                <a:lnTo>
                  <a:pt x="190" y="591"/>
                </a:lnTo>
                <a:lnTo>
                  <a:pt x="351" y="633"/>
                </a:lnTo>
                <a:lnTo>
                  <a:pt x="583" y="664"/>
                </a:lnTo>
                <a:lnTo>
                  <a:pt x="759" y="664"/>
                </a:lnTo>
              </a:path>
            </a:pathLst>
          </a:custGeom>
          <a:noFill/>
          <a:ln w="28575" cap="rnd"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0" name="Rectangle 72"/>
          <p:cNvSpPr>
            <a:spLocks noChangeArrowheads="1"/>
          </p:cNvSpPr>
          <p:nvPr/>
        </p:nvSpPr>
        <p:spPr bwMode="auto">
          <a:xfrm>
            <a:off x="2944842" y="2535256"/>
            <a:ext cx="58670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互联网</a:t>
            </a:r>
          </a:p>
        </p:txBody>
      </p:sp>
      <p:sp>
        <p:nvSpPr>
          <p:cNvPr id="21" name="Rectangle 73"/>
          <p:cNvSpPr>
            <a:spLocks noChangeArrowheads="1"/>
          </p:cNvSpPr>
          <p:nvPr/>
        </p:nvSpPr>
        <p:spPr bwMode="auto">
          <a:xfrm>
            <a:off x="4238704" y="1038001"/>
            <a:ext cx="1468352" cy="34913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zh-CN" altLang="en-US" sz="1050" b="1" dirty="0">
                <a:latin typeface="微软雅黑 Light" panose="020B0502040204020203" pitchFamily="34" charset="-122"/>
                <a:ea typeface="微软雅黑 Light" panose="020B0502040204020203" pitchFamily="34" charset="-122"/>
              </a:rPr>
              <a:t>服务器</a:t>
            </a:r>
          </a:p>
          <a:p>
            <a:pPr algn="ctr">
              <a:lnSpc>
                <a:spcPct val="80000"/>
              </a:lnSpc>
            </a:pPr>
            <a:r>
              <a:rPr kumimoji="1" lang="en-US" altLang="zh-CN" sz="1050" b="1" dirty="0">
                <a:latin typeface="微软雅黑 Light" panose="020B0502040204020203" pitchFamily="34" charset="-122"/>
                <a:ea typeface="微软雅黑 Light" panose="020B0502040204020203" pitchFamily="34" charset="-122"/>
              </a:rPr>
              <a:t>www.tsinghua.edu.cn</a:t>
            </a:r>
          </a:p>
        </p:txBody>
      </p:sp>
      <p:sp>
        <p:nvSpPr>
          <p:cNvPr id="22" name="Rectangle 74"/>
          <p:cNvSpPr>
            <a:spLocks noChangeArrowheads="1"/>
          </p:cNvSpPr>
          <p:nvPr/>
        </p:nvSpPr>
        <p:spPr bwMode="auto">
          <a:xfrm>
            <a:off x="2331773" y="1117845"/>
            <a:ext cx="1343317"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zh-CN" sz="1050" b="1" dirty="0">
                <a:solidFill>
                  <a:srgbClr val="000099"/>
                </a:solidFill>
                <a:latin typeface="微软雅黑 Light" panose="020B0502040204020203" pitchFamily="34" charset="-122"/>
                <a:ea typeface="微软雅黑 Light" panose="020B0502040204020203" pitchFamily="34" charset="-122"/>
              </a:rPr>
              <a:t>链接到</a:t>
            </a:r>
            <a:r>
              <a:rPr kumimoji="1" lang="en-US" altLang="zh-CN" sz="1050" b="1" dirty="0">
                <a:solidFill>
                  <a:srgbClr val="000099"/>
                </a:solidFill>
                <a:latin typeface="微软雅黑 Light" panose="020B0502040204020203" pitchFamily="34" charset="-122"/>
                <a:ea typeface="微软雅黑 Light" panose="020B0502040204020203" pitchFamily="34" charset="-122"/>
              </a:rPr>
              <a:t> URL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的超链</a:t>
            </a:r>
          </a:p>
        </p:txBody>
      </p:sp>
      <p:sp>
        <p:nvSpPr>
          <p:cNvPr id="23" name="Rectangle 75"/>
          <p:cNvSpPr>
            <a:spLocks noChangeArrowheads="1"/>
          </p:cNvSpPr>
          <p:nvPr/>
        </p:nvSpPr>
        <p:spPr bwMode="auto">
          <a:xfrm>
            <a:off x="2524854" y="2237410"/>
            <a:ext cx="1542090" cy="251351"/>
          </a:xfrm>
          <a:prstGeom prst="rect">
            <a:avLst/>
          </a:prstGeom>
          <a:solidFill>
            <a:schemeClr val="bg1"/>
          </a:solidFill>
          <a:ln>
            <a:noFill/>
          </a:ln>
          <a:effectLst/>
          <a:extLs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使用此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sp>
        <p:nvSpPr>
          <p:cNvPr id="24" name="Rectangle 76"/>
          <p:cNvSpPr>
            <a:spLocks noChangeArrowheads="1"/>
          </p:cNvSpPr>
          <p:nvPr/>
        </p:nvSpPr>
        <p:spPr bwMode="auto">
          <a:xfrm>
            <a:off x="1616842" y="1611431"/>
            <a:ext cx="586700"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 程序</a:t>
            </a:r>
          </a:p>
        </p:txBody>
      </p:sp>
      <p:sp>
        <p:nvSpPr>
          <p:cNvPr id="25" name="Rectangle 77"/>
          <p:cNvSpPr>
            <a:spLocks noChangeArrowheads="1"/>
          </p:cNvSpPr>
          <p:nvPr/>
        </p:nvSpPr>
        <p:spPr bwMode="auto">
          <a:xfrm>
            <a:off x="3365815" y="1611431"/>
            <a:ext cx="1286199" cy="3806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服务器程序</a:t>
            </a:r>
            <a:endParaRPr kumimoji="1" lang="en-US" altLang="zh-CN" sz="1050" b="1" dirty="0">
              <a:solidFill>
                <a:srgbClr val="000099"/>
              </a:solidFill>
              <a:latin typeface="微软雅黑 Light" panose="020B0502040204020203" pitchFamily="34" charset="-122"/>
              <a:ea typeface="微软雅黑 Light" panose="020B0502040204020203" pitchFamily="34" charset="-122"/>
            </a:endParaRPr>
          </a:p>
          <a:p>
            <a:pPr>
              <a:lnSpc>
                <a:spcPct val="90000"/>
              </a:lnSpc>
            </a:pPr>
            <a:r>
              <a:rPr kumimoji="1" lang="zh-CN" altLang="en-US" sz="1050" b="1" dirty="0">
                <a:solidFill>
                  <a:srgbClr val="000099"/>
                </a:solidFill>
                <a:latin typeface="微软雅黑 Light" panose="020B0502040204020203" pitchFamily="34" charset="-122"/>
                <a:ea typeface="微软雅黑 Light" panose="020B0502040204020203" pitchFamily="34" charset="-122"/>
              </a:rPr>
              <a:t>监听</a:t>
            </a:r>
            <a:r>
              <a:rPr kumimoji="1" lang="en-US" altLang="zh-CN" sz="1050" b="1" dirty="0">
                <a:solidFill>
                  <a:srgbClr val="000099"/>
                </a:solidFill>
                <a:latin typeface="微软雅黑 Light" panose="020B0502040204020203" pitchFamily="34" charset="-122"/>
                <a:ea typeface="微软雅黑 Light" panose="020B0502040204020203" pitchFamily="34" charset="-122"/>
              </a:rPr>
              <a:t>TCP </a:t>
            </a:r>
            <a:r>
              <a:rPr kumimoji="1" lang="zh-CN" altLang="en-US" sz="1050" b="1" dirty="0">
                <a:solidFill>
                  <a:srgbClr val="000099"/>
                </a:solidFill>
                <a:latin typeface="微软雅黑 Light" panose="020B0502040204020203" pitchFamily="34" charset="-122"/>
                <a:ea typeface="微软雅黑 Light" panose="020B0502040204020203" pitchFamily="34" charset="-122"/>
              </a:rPr>
              <a:t>端口</a:t>
            </a:r>
            <a:r>
              <a:rPr kumimoji="1" lang="en-US" altLang="zh-CN" sz="1050" b="1" dirty="0">
                <a:solidFill>
                  <a:srgbClr val="000099"/>
                </a:solidFill>
                <a:latin typeface="微软雅黑 Light" panose="020B0502040204020203" pitchFamily="34" charset="-122"/>
                <a:ea typeface="微软雅黑 Light" panose="020B0502040204020203" pitchFamily="34" charset="-122"/>
              </a:rPr>
              <a:t>80</a:t>
            </a:r>
            <a:endParaRPr kumimoji="1"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6" name="Rectangle 78"/>
          <p:cNvSpPr>
            <a:spLocks noChangeArrowheads="1"/>
          </p:cNvSpPr>
          <p:nvPr/>
        </p:nvSpPr>
        <p:spPr bwMode="auto">
          <a:xfrm>
            <a:off x="2542845" y="1803894"/>
            <a:ext cx="506550"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050" b="1" dirty="0">
                <a:solidFill>
                  <a:srgbClr val="000099"/>
                </a:solidFill>
                <a:latin typeface="微软雅黑 Light" panose="020B0502040204020203" pitchFamily="34" charset="-122"/>
                <a:ea typeface="微软雅黑 Light" panose="020B0502040204020203" pitchFamily="34" charset="-122"/>
              </a:rPr>
              <a:t>HTTP</a:t>
            </a:r>
          </a:p>
        </p:txBody>
      </p:sp>
      <p:sp>
        <p:nvSpPr>
          <p:cNvPr id="27" name="Rectangle 79"/>
          <p:cNvSpPr>
            <a:spLocks noChangeArrowheads="1"/>
          </p:cNvSpPr>
          <p:nvPr/>
        </p:nvSpPr>
        <p:spPr bwMode="auto">
          <a:xfrm>
            <a:off x="1591475" y="1247798"/>
            <a:ext cx="452048" cy="2513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客户</a:t>
            </a:r>
          </a:p>
        </p:txBody>
      </p:sp>
      <p:sp>
        <p:nvSpPr>
          <p:cNvPr id="28" name="Freeform 81"/>
          <p:cNvSpPr>
            <a:spLocks/>
          </p:cNvSpPr>
          <p:nvPr/>
        </p:nvSpPr>
        <p:spPr bwMode="auto">
          <a:xfrm>
            <a:off x="1636724" y="1599965"/>
            <a:ext cx="414342" cy="286648"/>
          </a:xfrm>
          <a:custGeom>
            <a:avLst/>
            <a:gdLst>
              <a:gd name="T0" fmla="*/ 2147483646 w 463"/>
              <a:gd name="T1" fmla="*/ 0 h 322"/>
              <a:gd name="T2" fmla="*/ 2147483646 w 463"/>
              <a:gd name="T3" fmla="*/ 0 h 322"/>
              <a:gd name="T4" fmla="*/ 2147483646 w 463"/>
              <a:gd name="T5" fmla="*/ 2147483646 h 322"/>
              <a:gd name="T6" fmla="*/ 0 w 463"/>
              <a:gd name="T7" fmla="*/ 2147483646 h 322"/>
              <a:gd name="T8" fmla="*/ 2147483646 w 463"/>
              <a:gd name="T9" fmla="*/ 0 h 3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63" h="322">
                <a:moveTo>
                  <a:pt x="17" y="0"/>
                </a:moveTo>
                <a:lnTo>
                  <a:pt x="462" y="0"/>
                </a:lnTo>
                <a:lnTo>
                  <a:pt x="443" y="321"/>
                </a:lnTo>
                <a:lnTo>
                  <a:pt x="0" y="304"/>
                </a:lnTo>
                <a:lnTo>
                  <a:pt x="17" y="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cmpd="sng">
                <a:solidFill>
                  <a:schemeClr val="tx1"/>
                </a:solidFill>
                <a:prstDash val="solid"/>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29" name="Rectangle 82"/>
          <p:cNvSpPr>
            <a:spLocks noChangeArrowheads="1"/>
          </p:cNvSpPr>
          <p:nvPr/>
        </p:nvSpPr>
        <p:spPr bwMode="auto">
          <a:xfrm>
            <a:off x="878232" y="1564547"/>
            <a:ext cx="721352" cy="412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050" b="1" dirty="0">
                <a:latin typeface="微软雅黑 Light" panose="020B0502040204020203" pitchFamily="34" charset="-122"/>
                <a:ea typeface="微软雅黑 Light" panose="020B0502040204020203" pitchFamily="34" charset="-122"/>
              </a:rPr>
              <a:t>清华大学</a:t>
            </a:r>
          </a:p>
          <a:p>
            <a:r>
              <a:rPr kumimoji="1" lang="zh-CN" altLang="en-US" sz="1050" b="1" dirty="0">
                <a:latin typeface="微软雅黑 Light" panose="020B0502040204020203" pitchFamily="34" charset="-122"/>
                <a:ea typeface="微软雅黑 Light" panose="020B0502040204020203" pitchFamily="34" charset="-122"/>
              </a:rPr>
              <a:t>院系设置</a:t>
            </a:r>
          </a:p>
        </p:txBody>
      </p:sp>
      <p:sp>
        <p:nvSpPr>
          <p:cNvPr id="30" name="Line 83"/>
          <p:cNvSpPr>
            <a:spLocks noChangeShapeType="1"/>
          </p:cNvSpPr>
          <p:nvPr/>
        </p:nvSpPr>
        <p:spPr bwMode="auto">
          <a:xfrm>
            <a:off x="925600" y="1950360"/>
            <a:ext cx="665875"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1" name="Oval 84"/>
          <p:cNvSpPr>
            <a:spLocks noChangeArrowheads="1"/>
          </p:cNvSpPr>
          <p:nvPr/>
        </p:nvSpPr>
        <p:spPr bwMode="auto">
          <a:xfrm>
            <a:off x="1093079" y="1978958"/>
            <a:ext cx="331829"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2" name="Line 85"/>
          <p:cNvSpPr>
            <a:spLocks noChangeShapeType="1"/>
          </p:cNvSpPr>
          <p:nvPr/>
        </p:nvSpPr>
        <p:spPr bwMode="auto">
          <a:xfrm>
            <a:off x="4491994" y="1871871"/>
            <a:ext cx="284805"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3" name="Line 86"/>
          <p:cNvSpPr>
            <a:spLocks noChangeShapeType="1"/>
          </p:cNvSpPr>
          <p:nvPr/>
        </p:nvSpPr>
        <p:spPr bwMode="auto">
          <a:xfrm flipH="1">
            <a:off x="1368607" y="1871870"/>
            <a:ext cx="306600" cy="131039"/>
          </a:xfrm>
          <a:prstGeom prst="line">
            <a:avLst/>
          </a:prstGeom>
          <a:noFill/>
          <a:ln w="28575">
            <a:solidFill>
              <a:srgbClr val="CC00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4" name="Oval 87"/>
          <p:cNvSpPr>
            <a:spLocks noChangeArrowheads="1"/>
          </p:cNvSpPr>
          <p:nvPr/>
        </p:nvSpPr>
        <p:spPr bwMode="auto">
          <a:xfrm>
            <a:off x="4728887" y="1959503"/>
            <a:ext cx="332716" cy="130220"/>
          </a:xfrm>
          <a:prstGeom prst="ellipse">
            <a:avLst/>
          </a:prstGeom>
          <a:solidFill>
            <a:srgbClr val="00FFCC"/>
          </a:solidFill>
          <a:ln w="12700">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5" name="Freeform 88"/>
          <p:cNvSpPr>
            <a:spLocks/>
          </p:cNvSpPr>
          <p:nvPr/>
        </p:nvSpPr>
        <p:spPr bwMode="auto">
          <a:xfrm>
            <a:off x="1319039" y="2057782"/>
            <a:ext cx="3576205" cy="423420"/>
          </a:xfrm>
          <a:custGeom>
            <a:avLst/>
            <a:gdLst>
              <a:gd name="T0" fmla="*/ 0 w 2448"/>
              <a:gd name="T1" fmla="*/ 0 h 852"/>
              <a:gd name="T2" fmla="*/ 0 w 2448"/>
              <a:gd name="T3" fmla="*/ 2147483646 h 852"/>
              <a:gd name="T4" fmla="*/ 2147483646 w 2448"/>
              <a:gd name="T5" fmla="*/ 2147483646 h 852"/>
              <a:gd name="T6" fmla="*/ 2147483646 w 2448"/>
              <a:gd name="T7" fmla="*/ 2147483646 h 852"/>
              <a:gd name="T8" fmla="*/ 2147483646 w 2448"/>
              <a:gd name="T9" fmla="*/ 2147483646 h 852"/>
              <a:gd name="T10" fmla="*/ 2147483646 w 2448"/>
              <a:gd name="T11" fmla="*/ 2147483646 h 852"/>
              <a:gd name="T12" fmla="*/ 2147483646 w 2448"/>
              <a:gd name="T13" fmla="*/ 2147483646 h 852"/>
              <a:gd name="T14" fmla="*/ 2147483646 w 2448"/>
              <a:gd name="T15" fmla="*/ 2147483646 h 852"/>
              <a:gd name="T16" fmla="*/ 2147483646 w 2448"/>
              <a:gd name="T17" fmla="*/ 2147483646 h 852"/>
              <a:gd name="T18" fmla="*/ 2147483646 w 2448"/>
              <a:gd name="T19" fmla="*/ 2147483646 h 852"/>
              <a:gd name="T20" fmla="*/ 2147483646 w 2448"/>
              <a:gd name="T21" fmla="*/ 2147483646 h 852"/>
              <a:gd name="T22" fmla="*/ 2147483646 w 2448"/>
              <a:gd name="T23" fmla="*/ 2147483646 h 852"/>
              <a:gd name="T24" fmla="*/ 2147483646 w 2448"/>
              <a:gd name="T25" fmla="*/ 2147483646 h 852"/>
              <a:gd name="T26" fmla="*/ 2147483646 w 2448"/>
              <a:gd name="T27" fmla="*/ 2147483646 h 852"/>
              <a:gd name="T28" fmla="*/ 2147483646 w 2448"/>
              <a:gd name="T29" fmla="*/ 2147483646 h 852"/>
              <a:gd name="T30" fmla="*/ 2147483646 w 2448"/>
              <a:gd name="T31" fmla="*/ 2147483646 h 85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2448" h="852">
                <a:moveTo>
                  <a:pt x="0" y="0"/>
                </a:moveTo>
                <a:lnTo>
                  <a:pt x="0" y="608"/>
                </a:lnTo>
                <a:lnTo>
                  <a:pt x="6" y="651"/>
                </a:lnTo>
                <a:lnTo>
                  <a:pt x="24" y="699"/>
                </a:lnTo>
                <a:lnTo>
                  <a:pt x="66" y="750"/>
                </a:lnTo>
                <a:lnTo>
                  <a:pt x="144" y="793"/>
                </a:lnTo>
                <a:lnTo>
                  <a:pt x="282" y="830"/>
                </a:lnTo>
                <a:lnTo>
                  <a:pt x="432" y="852"/>
                </a:lnTo>
                <a:lnTo>
                  <a:pt x="816" y="852"/>
                </a:lnTo>
                <a:lnTo>
                  <a:pt x="2135" y="852"/>
                </a:lnTo>
                <a:lnTo>
                  <a:pt x="2250" y="837"/>
                </a:lnTo>
                <a:lnTo>
                  <a:pt x="2315" y="815"/>
                </a:lnTo>
                <a:lnTo>
                  <a:pt x="2394" y="757"/>
                </a:lnTo>
                <a:lnTo>
                  <a:pt x="2436" y="680"/>
                </a:lnTo>
                <a:lnTo>
                  <a:pt x="2448" y="615"/>
                </a:lnTo>
                <a:lnTo>
                  <a:pt x="2448" y="18"/>
                </a:lnTo>
              </a:path>
            </a:pathLst>
          </a:custGeom>
          <a:noFill/>
          <a:ln w="28575" cap="flat" cmpd="sng">
            <a:solidFill>
              <a:srgbClr val="C00000"/>
            </a:solidFill>
            <a:prstDash val="sysDot"/>
            <a:round/>
            <a:headEnd type="triangle" w="sm" len="lg"/>
            <a:tailEnd type="triangle" w="sm"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6" name="Line 89"/>
          <p:cNvSpPr>
            <a:spLocks noChangeShapeType="1"/>
          </p:cNvSpPr>
          <p:nvPr/>
        </p:nvSpPr>
        <p:spPr bwMode="auto">
          <a:xfrm flipV="1">
            <a:off x="1424907" y="2031574"/>
            <a:ext cx="3303980" cy="0"/>
          </a:xfrm>
          <a:prstGeom prst="line">
            <a:avLst/>
          </a:prstGeom>
          <a:noFill/>
          <a:ln w="38100">
            <a:solidFill>
              <a:srgbClr val="0000FF"/>
            </a:solidFill>
            <a:round/>
            <a:headEnd type="triangle" w="sm" len="lg"/>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7" name="Line 90"/>
          <p:cNvSpPr>
            <a:spLocks noChangeShapeType="1"/>
          </p:cNvSpPr>
          <p:nvPr/>
        </p:nvSpPr>
        <p:spPr bwMode="auto">
          <a:xfrm rot="16200000" flipH="1">
            <a:off x="5007482" y="2054438"/>
            <a:ext cx="149057" cy="108244"/>
          </a:xfrm>
          <a:prstGeom prst="line">
            <a:avLst/>
          </a:prstGeom>
          <a:noFill/>
          <a:ln w="28575">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8" name="Freeform 91"/>
          <p:cNvSpPr>
            <a:spLocks/>
          </p:cNvSpPr>
          <p:nvPr/>
        </p:nvSpPr>
        <p:spPr bwMode="auto">
          <a:xfrm rot="216073">
            <a:off x="1522353" y="1335967"/>
            <a:ext cx="3104827" cy="358196"/>
          </a:xfrm>
          <a:custGeom>
            <a:avLst/>
            <a:gdLst>
              <a:gd name="T0" fmla="*/ 0 w 2454"/>
              <a:gd name="T1" fmla="*/ 2147483646 h 332"/>
              <a:gd name="T2" fmla="*/ 2147483646 w 2454"/>
              <a:gd name="T3" fmla="*/ 2147483646 h 332"/>
              <a:gd name="T4" fmla="*/ 2147483646 w 2454"/>
              <a:gd name="T5" fmla="*/ 2147483646 h 332"/>
              <a:gd name="T6" fmla="*/ 2147483646 w 2454"/>
              <a:gd name="T7" fmla="*/ 2147483646 h 332"/>
              <a:gd name="T8" fmla="*/ 2147483646 w 2454"/>
              <a:gd name="T9" fmla="*/ 2147483646 h 332"/>
              <a:gd name="T10" fmla="*/ 2147483646 w 2454"/>
              <a:gd name="T11" fmla="*/ 2147483646 h 332"/>
              <a:gd name="T12" fmla="*/ 2147483646 w 2454"/>
              <a:gd name="T13" fmla="*/ 2147483646 h 33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454" h="332">
                <a:moveTo>
                  <a:pt x="0" y="332"/>
                </a:moveTo>
                <a:cubicBezTo>
                  <a:pt x="56" y="300"/>
                  <a:pt x="211" y="189"/>
                  <a:pt x="336" y="140"/>
                </a:cubicBezTo>
                <a:cubicBezTo>
                  <a:pt x="461" y="91"/>
                  <a:pt x="595" y="61"/>
                  <a:pt x="753" y="38"/>
                </a:cubicBezTo>
                <a:cubicBezTo>
                  <a:pt x="911" y="15"/>
                  <a:pt x="1120" y="0"/>
                  <a:pt x="1287" y="2"/>
                </a:cubicBezTo>
                <a:cubicBezTo>
                  <a:pt x="1454" y="4"/>
                  <a:pt x="1606" y="28"/>
                  <a:pt x="1756" y="50"/>
                </a:cubicBezTo>
                <a:cubicBezTo>
                  <a:pt x="1907" y="71"/>
                  <a:pt x="2075" y="102"/>
                  <a:pt x="2191" y="129"/>
                </a:cubicBezTo>
                <a:cubicBezTo>
                  <a:pt x="2307" y="156"/>
                  <a:pt x="2400" y="194"/>
                  <a:pt x="2454" y="212"/>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39" name="Line 92"/>
          <p:cNvSpPr>
            <a:spLocks noChangeShapeType="1"/>
          </p:cNvSpPr>
          <p:nvPr/>
        </p:nvSpPr>
        <p:spPr bwMode="auto">
          <a:xfrm>
            <a:off x="1826594"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0" name="Line 93"/>
          <p:cNvSpPr>
            <a:spLocks noChangeShapeType="1"/>
          </p:cNvSpPr>
          <p:nvPr/>
        </p:nvSpPr>
        <p:spPr bwMode="auto">
          <a:xfrm>
            <a:off x="4701262" y="2680217"/>
            <a:ext cx="0" cy="1540528"/>
          </a:xfrm>
          <a:prstGeom prst="line">
            <a:avLst/>
          </a:prstGeom>
          <a:noFill/>
          <a:ln w="19050">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1" name="Group 116"/>
          <p:cNvGrpSpPr>
            <a:grpSpLocks/>
          </p:cNvGrpSpPr>
          <p:nvPr/>
        </p:nvGrpSpPr>
        <p:grpSpPr bwMode="auto">
          <a:xfrm>
            <a:off x="1826594" y="2910355"/>
            <a:ext cx="2874668" cy="253888"/>
            <a:chOff x="1149" y="2693"/>
            <a:chExt cx="3240" cy="310"/>
          </a:xfrm>
        </p:grpSpPr>
        <p:sp>
          <p:nvSpPr>
            <p:cNvPr id="42" name="Line 103"/>
            <p:cNvSpPr>
              <a:spLocks noChangeShapeType="1"/>
            </p:cNvSpPr>
            <p:nvPr/>
          </p:nvSpPr>
          <p:spPr bwMode="auto">
            <a:xfrm>
              <a:off x="1149" y="2836"/>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43" name="Text Box 104"/>
            <p:cNvSpPr txBox="1">
              <a:spLocks noChangeArrowheads="1"/>
            </p:cNvSpPr>
            <p:nvPr/>
          </p:nvSpPr>
          <p:spPr bwMode="auto">
            <a:xfrm>
              <a:off x="2176" y="2693"/>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建立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sp>
        <p:nvSpPr>
          <p:cNvPr id="44" name="Line 108"/>
          <p:cNvSpPr>
            <a:spLocks noChangeShapeType="1"/>
          </p:cNvSpPr>
          <p:nvPr/>
        </p:nvSpPr>
        <p:spPr bwMode="auto">
          <a:xfrm>
            <a:off x="5284312" y="2237276"/>
            <a:ext cx="289241" cy="82718"/>
          </a:xfrm>
          <a:prstGeom prst="line">
            <a:avLst/>
          </a:prstGeom>
          <a:noFill/>
          <a:ln w="28575">
            <a:solidFill>
              <a:srgbClr val="333399"/>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45" name="AutoShape 111"/>
          <p:cNvSpPr>
            <a:spLocks noChangeArrowheads="1"/>
          </p:cNvSpPr>
          <p:nvPr/>
        </p:nvSpPr>
        <p:spPr bwMode="auto">
          <a:xfrm>
            <a:off x="4972880" y="2151967"/>
            <a:ext cx="332716" cy="130220"/>
          </a:xfrm>
          <a:prstGeom prst="can">
            <a:avLst>
              <a:gd name="adj" fmla="val 39583"/>
            </a:avLst>
          </a:prstGeom>
          <a:solidFill>
            <a:srgbClr val="FF00FF"/>
          </a:solidFill>
          <a:ln w="9525">
            <a:solidFill>
              <a:schemeClr val="tx1"/>
            </a:solidFill>
            <a:round/>
            <a:headEnd/>
            <a:tailEnd/>
          </a:ln>
          <a:effec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6" name="Group 117"/>
          <p:cNvGrpSpPr>
            <a:grpSpLocks/>
          </p:cNvGrpSpPr>
          <p:nvPr/>
        </p:nvGrpSpPr>
        <p:grpSpPr bwMode="auto">
          <a:xfrm>
            <a:off x="1089297" y="3160152"/>
            <a:ext cx="3611964" cy="415230"/>
            <a:chOff x="318" y="2998"/>
            <a:chExt cx="4071" cy="507"/>
          </a:xfrm>
        </p:grpSpPr>
        <p:sp>
          <p:nvSpPr>
            <p:cNvPr id="47" name="Line 94"/>
            <p:cNvSpPr>
              <a:spLocks noChangeShapeType="1"/>
            </p:cNvSpPr>
            <p:nvPr/>
          </p:nvSpPr>
          <p:spPr bwMode="auto">
            <a:xfrm>
              <a:off x="1149" y="3218"/>
              <a:ext cx="3240" cy="0"/>
            </a:xfrm>
            <a:prstGeom prst="line">
              <a:avLst/>
            </a:prstGeom>
            <a:noFill/>
            <a:ln w="28575">
              <a:solidFill>
                <a:srgbClr val="0000FF"/>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grpSp>
          <p:nvGrpSpPr>
            <p:cNvPr id="48" name="Group 95"/>
            <p:cNvGrpSpPr>
              <a:grpSpLocks/>
            </p:cNvGrpSpPr>
            <p:nvPr/>
          </p:nvGrpSpPr>
          <p:grpSpPr bwMode="auto">
            <a:xfrm>
              <a:off x="1373" y="3067"/>
              <a:ext cx="1651" cy="303"/>
              <a:chOff x="513" y="1824"/>
              <a:chExt cx="1296" cy="240"/>
            </a:xfrm>
          </p:grpSpPr>
          <p:sp>
            <p:nvSpPr>
              <p:cNvPr id="50" name="AutoShape 96"/>
              <p:cNvSpPr>
                <a:spLocks noChangeArrowheads="1"/>
              </p:cNvSpPr>
              <p:nvPr/>
            </p:nvSpPr>
            <p:spPr bwMode="auto">
              <a:xfrm>
                <a:off x="1521" y="1872"/>
                <a:ext cx="288" cy="144"/>
              </a:xfrm>
              <a:prstGeom prst="rightArrow">
                <a:avLst>
                  <a:gd name="adj1" fmla="val 50000"/>
                  <a:gd name="adj2" fmla="val 50000"/>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1" name="Rectangle 97"/>
              <p:cNvSpPr>
                <a:spLocks noChangeArrowheads="1"/>
              </p:cNvSpPr>
              <p:nvPr/>
            </p:nvSpPr>
            <p:spPr bwMode="auto">
              <a:xfrm>
                <a:off x="513" y="1824"/>
                <a:ext cx="1008" cy="240"/>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请求报文</a:t>
                </a:r>
              </a:p>
            </p:txBody>
          </p:sp>
        </p:grpSp>
        <p:sp>
          <p:nvSpPr>
            <p:cNvPr id="49" name="Text Box 114"/>
            <p:cNvSpPr txBox="1">
              <a:spLocks noChangeArrowheads="1"/>
            </p:cNvSpPr>
            <p:nvPr/>
          </p:nvSpPr>
          <p:spPr bwMode="auto">
            <a:xfrm>
              <a:off x="318" y="2998"/>
              <a:ext cx="815" cy="5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浏览器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发出</a:t>
              </a:r>
              <a:r>
                <a:rPr kumimoji="1" lang="zh-CN" altLang="en-US" sz="1050" b="1" dirty="0">
                  <a:solidFill>
                    <a:srgbClr val="000099"/>
                  </a:solidFill>
                  <a:latin typeface="微软雅黑 Light" panose="020B0502040204020203" pitchFamily="34" charset="-122"/>
                  <a:ea typeface="微软雅黑 Light" panose="020B0502040204020203" pitchFamily="34" charset="-122"/>
                </a:rPr>
                <a:t>请求</a:t>
              </a:r>
            </a:p>
          </p:txBody>
        </p:sp>
      </p:grpSp>
      <p:grpSp>
        <p:nvGrpSpPr>
          <p:cNvPr id="52" name="Group 120"/>
          <p:cNvGrpSpPr>
            <a:grpSpLocks/>
          </p:cNvGrpSpPr>
          <p:nvPr/>
        </p:nvGrpSpPr>
        <p:grpSpPr bwMode="auto">
          <a:xfrm>
            <a:off x="1826594" y="3885779"/>
            <a:ext cx="2874668" cy="253889"/>
            <a:chOff x="1149" y="3884"/>
            <a:chExt cx="3240" cy="310"/>
          </a:xfrm>
        </p:grpSpPr>
        <p:sp>
          <p:nvSpPr>
            <p:cNvPr id="53" name="Line 106"/>
            <p:cNvSpPr>
              <a:spLocks noChangeShapeType="1"/>
            </p:cNvSpPr>
            <p:nvPr/>
          </p:nvSpPr>
          <p:spPr bwMode="auto">
            <a:xfrm>
              <a:off x="1149" y="4012"/>
              <a:ext cx="3240" cy="0"/>
            </a:xfrm>
            <a:prstGeom prst="line">
              <a:avLst/>
            </a:prstGeom>
            <a:noFill/>
            <a:ln w="28575">
              <a:solidFill>
                <a:srgbClr val="0000FF"/>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FF"/>
                </a:solidFill>
                <a:latin typeface="微软雅黑 Light" panose="020B0502040204020203" pitchFamily="34" charset="-122"/>
                <a:ea typeface="微软雅黑 Light" panose="020B0502040204020203" pitchFamily="34" charset="-122"/>
              </a:endParaRPr>
            </a:p>
          </p:txBody>
        </p:sp>
        <p:sp>
          <p:nvSpPr>
            <p:cNvPr id="54" name="Text Box 107"/>
            <p:cNvSpPr txBox="1">
              <a:spLocks noChangeArrowheads="1"/>
            </p:cNvSpPr>
            <p:nvPr/>
          </p:nvSpPr>
          <p:spPr bwMode="auto">
            <a:xfrm>
              <a:off x="2176" y="3884"/>
              <a:ext cx="1204" cy="310"/>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050" b="1" dirty="0">
                  <a:latin typeface="微软雅黑 Light" panose="020B0502040204020203" pitchFamily="34" charset="-122"/>
                  <a:ea typeface="微软雅黑 Light" panose="020B0502040204020203" pitchFamily="34" charset="-122"/>
                </a:rPr>
                <a:t>释放 </a:t>
              </a:r>
              <a:r>
                <a:rPr kumimoji="1" lang="en-US" altLang="zh-CN" sz="1050" b="1" dirty="0">
                  <a:latin typeface="微软雅黑 Light" panose="020B0502040204020203" pitchFamily="34" charset="-122"/>
                  <a:ea typeface="微软雅黑 Light" panose="020B0502040204020203" pitchFamily="34" charset="-122"/>
                </a:rPr>
                <a:t>TCP </a:t>
              </a:r>
              <a:r>
                <a:rPr kumimoji="1" lang="zh-CN" altLang="en-US" sz="1050" b="1" dirty="0">
                  <a:latin typeface="微软雅黑 Light" panose="020B0502040204020203" pitchFamily="34" charset="-122"/>
                  <a:ea typeface="微软雅黑 Light" panose="020B0502040204020203" pitchFamily="34" charset="-122"/>
                </a:rPr>
                <a:t>连接</a:t>
              </a:r>
            </a:p>
          </p:txBody>
        </p:sp>
      </p:grpSp>
      <p:grpSp>
        <p:nvGrpSpPr>
          <p:cNvPr id="55" name="组合 54"/>
          <p:cNvGrpSpPr/>
          <p:nvPr/>
        </p:nvGrpSpPr>
        <p:grpSpPr>
          <a:xfrm>
            <a:off x="1839300" y="3314381"/>
            <a:ext cx="3564300" cy="707886"/>
            <a:chOff x="3088360" y="3469637"/>
            <a:chExt cx="3564300" cy="707886"/>
          </a:xfrm>
        </p:grpSpPr>
        <p:sp>
          <p:nvSpPr>
            <p:cNvPr id="56" name="Line 98"/>
            <p:cNvSpPr>
              <a:spLocks noChangeShapeType="1"/>
            </p:cNvSpPr>
            <p:nvPr/>
          </p:nvSpPr>
          <p:spPr bwMode="auto">
            <a:xfrm flipH="1">
              <a:off x="3088360" y="3829738"/>
              <a:ext cx="2861961" cy="0"/>
            </a:xfrm>
            <a:prstGeom prst="line">
              <a:avLst/>
            </a:prstGeom>
            <a:noFill/>
            <a:ln w="28575">
              <a:solidFill>
                <a:srgbClr val="CC00CC"/>
              </a:solidFill>
              <a:prstDash val="sys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7" name="Rectangle 112"/>
            <p:cNvSpPr>
              <a:spLocks noChangeArrowheads="1"/>
            </p:cNvSpPr>
            <p:nvPr/>
          </p:nvSpPr>
          <p:spPr bwMode="auto">
            <a:xfrm>
              <a:off x="5540207" y="3671676"/>
              <a:ext cx="275920" cy="33604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58" name="Text Box 109"/>
            <p:cNvSpPr txBox="1">
              <a:spLocks noChangeArrowheads="1"/>
            </p:cNvSpPr>
            <p:nvPr/>
          </p:nvSpPr>
          <p:spPr bwMode="auto">
            <a:xfrm>
              <a:off x="5929385" y="3660729"/>
              <a:ext cx="723275" cy="4154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服务器</a:t>
              </a:r>
              <a:endParaRPr kumimoji="1" lang="en-US" altLang="zh-CN" sz="1050" b="1" dirty="0">
                <a:solidFill>
                  <a:srgbClr val="000099"/>
                </a:solidFill>
                <a:latin typeface="微软雅黑 Light" panose="020B0502040204020203" pitchFamily="34" charset="-122"/>
                <a:ea typeface="微软雅黑 Light" panose="020B0502040204020203" pitchFamily="34" charset="-122"/>
                <a:sym typeface="Wingdings" pitchFamily="2" charset="2"/>
              </a:endParaRPr>
            </a:p>
            <a:p>
              <a:pPr algn="ctr" eaLnBrk="1" hangingPunct="1"/>
              <a:r>
                <a:rPr kumimoji="1" lang="zh-CN" altLang="en-US" sz="1050" b="1" dirty="0">
                  <a:solidFill>
                    <a:srgbClr val="000099"/>
                  </a:solidFill>
                  <a:latin typeface="微软雅黑 Light" panose="020B0502040204020203" pitchFamily="34" charset="-122"/>
                  <a:ea typeface="微软雅黑 Light" panose="020B0502040204020203" pitchFamily="34" charset="-122"/>
                  <a:sym typeface="Wingdings" pitchFamily="2" charset="2"/>
                </a:rPr>
                <a:t>返回</a:t>
              </a:r>
              <a:r>
                <a:rPr kumimoji="1" lang="zh-CN" altLang="en-US" sz="1050" b="1" dirty="0">
                  <a:solidFill>
                    <a:srgbClr val="000099"/>
                  </a:solidFill>
                  <a:latin typeface="微软雅黑 Light" panose="020B0502040204020203" pitchFamily="34" charset="-122"/>
                  <a:ea typeface="微软雅黑 Light" panose="020B0502040204020203" pitchFamily="34" charset="-122"/>
                </a:rPr>
                <a:t>响应</a:t>
              </a:r>
            </a:p>
          </p:txBody>
        </p:sp>
        <p:sp>
          <p:nvSpPr>
            <p:cNvPr id="59" name="TextBox 56"/>
            <p:cNvSpPr txBox="1"/>
            <p:nvPr/>
          </p:nvSpPr>
          <p:spPr>
            <a:xfrm>
              <a:off x="5483475" y="3469637"/>
              <a:ext cx="393049" cy="707886"/>
            </a:xfrm>
            <a:prstGeom prst="rect">
              <a:avLst/>
            </a:prstGeom>
            <a:noFill/>
          </p:spPr>
          <p:txBody>
            <a:bodyPr wrap="square" rtlCol="0" anchor="ctr">
              <a:spAutoFit/>
            </a:bodyPr>
            <a:lstStyle/>
            <a:p>
              <a:pPr algn="ctr"/>
              <a:r>
                <a:rPr kumimoji="1" lang="en-US" altLang="zh-CN" sz="4000" b="1" dirty="0">
                  <a:solidFill>
                    <a:srgbClr val="009900"/>
                  </a:solidFill>
                  <a:latin typeface="微软雅黑 Light" panose="020B0502040204020203" pitchFamily="34" charset="-122"/>
                  <a:ea typeface="微软雅黑 Light" panose="020B0502040204020203" pitchFamily="34" charset="-122"/>
                  <a:sym typeface="Wingdings" pitchFamily="2" charset="2"/>
                </a:rPr>
                <a:t></a:t>
              </a:r>
              <a:endParaRPr lang="zh-CN" altLang="en-US" sz="4000" dirty="0">
                <a:solidFill>
                  <a:srgbClr val="009900"/>
                </a:solidFill>
                <a:latin typeface="微软雅黑 Light" panose="020B0502040204020203" pitchFamily="34" charset="-122"/>
                <a:ea typeface="微软雅黑 Light" panose="020B0502040204020203" pitchFamily="34" charset="-122"/>
              </a:endParaRPr>
            </a:p>
          </p:txBody>
        </p:sp>
        <p:grpSp>
          <p:nvGrpSpPr>
            <p:cNvPr id="60" name="Group 99"/>
            <p:cNvGrpSpPr>
              <a:grpSpLocks/>
            </p:cNvGrpSpPr>
            <p:nvPr/>
          </p:nvGrpSpPr>
          <p:grpSpPr bwMode="auto">
            <a:xfrm flipH="1">
              <a:off x="4089834" y="3706069"/>
              <a:ext cx="1450373" cy="248156"/>
              <a:chOff x="903" y="1824"/>
              <a:chExt cx="1284" cy="240"/>
            </a:xfrm>
          </p:grpSpPr>
          <p:sp>
            <p:nvSpPr>
              <p:cNvPr id="61" name="AutoShape 100"/>
              <p:cNvSpPr>
                <a:spLocks noChangeArrowheads="1"/>
              </p:cNvSpPr>
              <p:nvPr/>
            </p:nvSpPr>
            <p:spPr bwMode="auto">
              <a:xfrm>
                <a:off x="1899" y="1872"/>
                <a:ext cx="288" cy="144"/>
              </a:xfrm>
              <a:prstGeom prst="rightArrow">
                <a:avLst>
                  <a:gd name="adj1" fmla="val 50000"/>
                  <a:gd name="adj2" fmla="val 50000"/>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50" b="1" dirty="0">
                  <a:solidFill>
                    <a:srgbClr val="000099"/>
                  </a:solidFill>
                  <a:latin typeface="微软雅黑 Light" panose="020B0502040204020203" pitchFamily="34" charset="-122"/>
                  <a:ea typeface="微软雅黑 Light" panose="020B0502040204020203" pitchFamily="34" charset="-122"/>
                </a:endParaRPr>
              </a:p>
            </p:txBody>
          </p:sp>
          <p:sp>
            <p:nvSpPr>
              <p:cNvPr id="62" name="Rectangle 101"/>
              <p:cNvSpPr>
                <a:spLocks noChangeArrowheads="1"/>
              </p:cNvSpPr>
              <p:nvPr/>
            </p:nvSpPr>
            <p:spPr bwMode="auto">
              <a:xfrm>
                <a:off x="903" y="1824"/>
                <a:ext cx="1008" cy="24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HTTP </a:t>
                </a:r>
                <a:r>
                  <a:rPr kumimoji="1" lang="zh-CN" altLang="en-US" sz="1050" b="1" dirty="0">
                    <a:latin typeface="微软雅黑 Light" panose="020B0502040204020203" pitchFamily="34" charset="-122"/>
                    <a:ea typeface="微软雅黑 Light" panose="020B0502040204020203" pitchFamily="34" charset="-122"/>
                  </a:rPr>
                  <a:t>响应报文</a:t>
                </a:r>
              </a:p>
            </p:txBody>
          </p:sp>
        </p:grpSp>
      </p:grpSp>
      <p:sp>
        <p:nvSpPr>
          <p:cNvPr id="2" name="矩形 1"/>
          <p:cNvSpPr/>
          <p:nvPr/>
        </p:nvSpPr>
        <p:spPr>
          <a:xfrm>
            <a:off x="5341898" y="2711817"/>
            <a:ext cx="3148428" cy="1477328"/>
          </a:xfrm>
          <a:prstGeom prst="rect">
            <a:avLst/>
          </a:prstGeom>
          <a:solidFill>
            <a:schemeClr val="bg1"/>
          </a:solidFill>
        </p:spPr>
        <p:txBody>
          <a:bodyPr wrap="square">
            <a:spAutoFit/>
          </a:bodyPr>
          <a:lstStyle/>
          <a:p>
            <a:pPr>
              <a:lnSpc>
                <a:spcPts val="1800"/>
              </a:lnSpc>
            </a:pPr>
            <a:r>
              <a:rPr lang="en-US" altLang="zh-CN" sz="1400" b="1" dirty="0">
                <a:solidFill>
                  <a:srgbClr val="0000FF"/>
                </a:solidFill>
                <a:latin typeface="微软雅黑 Light" panose="020B0502040204020203" pitchFamily="34" charset="-122"/>
                <a:ea typeface="微软雅黑 Light" panose="020B0502040204020203" pitchFamily="34" charset="-122"/>
              </a:rPr>
              <a:t>HTTP </a:t>
            </a:r>
            <a:r>
              <a:rPr lang="zh-CN" altLang="en-US" sz="1400" b="1" dirty="0">
                <a:solidFill>
                  <a:srgbClr val="0000FF"/>
                </a:solidFill>
                <a:latin typeface="微软雅黑 Light" panose="020B0502040204020203" pitchFamily="34" charset="-122"/>
                <a:ea typeface="微软雅黑 Light" panose="020B0502040204020203" pitchFamily="34" charset="-122"/>
              </a:rPr>
              <a:t>规定：</a:t>
            </a:r>
            <a:r>
              <a:rPr lang="zh-CN" altLang="en-US" sz="1400" b="1" dirty="0">
                <a:latin typeface="微软雅黑 Light" panose="020B0502040204020203" pitchFamily="34" charset="-122"/>
                <a:ea typeface="微软雅黑 Light" panose="020B0502040204020203" pitchFamily="34" charset="-122"/>
              </a:rPr>
              <a:t>在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客户与 </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服务器之间的每次交互，都由一个 </a:t>
            </a:r>
            <a:r>
              <a:rPr lang="en-US" altLang="zh-CN" sz="1400" b="1" dirty="0">
                <a:solidFill>
                  <a:srgbClr val="C00000"/>
                </a:solidFill>
                <a:latin typeface="微软雅黑 Light" panose="020B0502040204020203" pitchFamily="34" charset="-122"/>
                <a:ea typeface="微软雅黑 Light" panose="020B0502040204020203" pitchFamily="34" charset="-122"/>
              </a:rPr>
              <a:t>ASCII</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码串构成的</a:t>
            </a:r>
            <a:r>
              <a:rPr lang="zh-CN" altLang="en-US" sz="1400" b="1" dirty="0">
                <a:solidFill>
                  <a:srgbClr val="C00000"/>
                </a:solidFill>
                <a:latin typeface="微软雅黑 Light" panose="020B0502040204020203" pitchFamily="34" charset="-122"/>
                <a:ea typeface="微软雅黑 Light" panose="020B0502040204020203" pitchFamily="34" charset="-122"/>
              </a:rPr>
              <a:t>请求</a:t>
            </a:r>
            <a:r>
              <a:rPr lang="zh-CN" altLang="en-US" sz="1400" b="1" dirty="0">
                <a:latin typeface="微软雅黑 Light" panose="020B0502040204020203" pitchFamily="34" charset="-122"/>
                <a:ea typeface="微软雅黑 Light" panose="020B0502040204020203" pitchFamily="34" charset="-122"/>
              </a:rPr>
              <a:t>和一个类似的通用互联网扩充，即“类</a:t>
            </a:r>
            <a:r>
              <a:rPr lang="en-US" altLang="zh-CN" sz="1400" b="1" dirty="0">
                <a:latin typeface="微软雅黑 Light" panose="020B0502040204020203" pitchFamily="34" charset="-122"/>
                <a:ea typeface="微软雅黑 Light" panose="020B0502040204020203" pitchFamily="34" charset="-122"/>
              </a:rPr>
              <a:t>MIME (MIME-like)”</a:t>
            </a:r>
            <a:r>
              <a:rPr lang="zh-CN" altLang="en-US" sz="1400" b="1" dirty="0">
                <a:latin typeface="微软雅黑 Light" panose="020B0502040204020203" pitchFamily="34" charset="-122"/>
                <a:ea typeface="微软雅黑 Light" panose="020B0502040204020203" pitchFamily="34" charset="-122"/>
              </a:rPr>
              <a:t>的</a:t>
            </a:r>
            <a:r>
              <a:rPr lang="zh-CN" altLang="en-US" sz="1400" b="1" dirty="0">
                <a:solidFill>
                  <a:srgbClr val="C00000"/>
                </a:solidFill>
                <a:latin typeface="微软雅黑 Light" panose="020B0502040204020203" pitchFamily="34" charset="-122"/>
                <a:ea typeface="微软雅黑 Light" panose="020B0502040204020203" pitchFamily="34" charset="-122"/>
              </a:rPr>
              <a:t>响应</a:t>
            </a:r>
            <a:r>
              <a:rPr lang="zh-CN" altLang="en-US" sz="1400" b="1" dirty="0">
                <a:latin typeface="微软雅黑 Light" panose="020B0502040204020203" pitchFamily="34" charset="-122"/>
                <a:ea typeface="微软雅黑 Light" panose="020B0502040204020203" pitchFamily="34" charset="-122"/>
              </a:rPr>
              <a:t>组成。</a:t>
            </a:r>
            <a:r>
              <a:rPr lang="en-US" altLang="zh-CN" sz="1400" b="1" dirty="0">
                <a:latin typeface="微软雅黑 Light" panose="020B0502040204020203" pitchFamily="34" charset="-122"/>
                <a:ea typeface="微软雅黑 Light" panose="020B0502040204020203" pitchFamily="34" charset="-122"/>
              </a:rPr>
              <a:t>HTTP </a:t>
            </a:r>
            <a:r>
              <a:rPr lang="zh-CN" altLang="en-US" sz="1400" b="1" dirty="0">
                <a:latin typeface="微软雅黑 Light" panose="020B0502040204020203" pitchFamily="34" charset="-122"/>
                <a:ea typeface="微软雅黑 Light" panose="020B0502040204020203" pitchFamily="34" charset="-122"/>
              </a:rPr>
              <a:t>报文通常都使用 </a:t>
            </a:r>
            <a:r>
              <a:rPr lang="en-US" altLang="zh-CN" sz="1400" b="1" dirty="0">
                <a:latin typeface="微软雅黑 Light" panose="020B0502040204020203" pitchFamily="34" charset="-122"/>
                <a:ea typeface="微软雅黑 Light" panose="020B0502040204020203" pitchFamily="34" charset="-122"/>
              </a:rPr>
              <a:t>TCP </a:t>
            </a:r>
            <a:r>
              <a:rPr lang="zh-CN" altLang="en-US" sz="1400" b="1" dirty="0">
                <a:latin typeface="微软雅黑 Light" panose="020B0502040204020203" pitchFamily="34" charset="-122"/>
                <a:ea typeface="微软雅黑 Light" panose="020B0502040204020203" pitchFamily="34" charset="-122"/>
              </a:rPr>
              <a:t>连接传送。</a:t>
            </a:r>
          </a:p>
        </p:txBody>
      </p:sp>
      <p:sp>
        <p:nvSpPr>
          <p:cNvPr id="3" name="标题 2">
            <a:extLst>
              <a:ext uri="{FF2B5EF4-FFF2-40B4-BE49-F238E27FC236}">
                <a16:creationId xmlns:a16="http://schemas.microsoft.com/office/drawing/2014/main" id="{102B06F9-A4DF-6E64-1C07-0BC0F67C39ED}"/>
              </a:ext>
            </a:extLst>
          </p:cNvPr>
          <p:cNvSpPr>
            <a:spLocks noGrp="1"/>
          </p:cNvSpPr>
          <p:nvPr>
            <p:ph type="title"/>
          </p:nvPr>
        </p:nvSpPr>
        <p:spPr>
          <a:xfrm>
            <a:off x="2880000" y="144000"/>
            <a:ext cx="3384000" cy="338554"/>
          </a:xfrm>
        </p:spPr>
        <p:txBody>
          <a:bodyPr/>
          <a:lstStyle/>
          <a:p>
            <a:r>
              <a:rPr lang="en-US" altLang="zh-CN" dirty="0"/>
              <a:t>1.  HTTP </a:t>
            </a:r>
            <a:r>
              <a:rPr lang="zh-CN" altLang="en-US" dirty="0"/>
              <a:t>的操作过程</a:t>
            </a:r>
          </a:p>
        </p:txBody>
      </p:sp>
    </p:spTree>
    <p:extLst>
      <p:ext uri="{BB962C8B-B14F-4D97-AF65-F5344CB8AC3E}">
        <p14:creationId xmlns:p14="http://schemas.microsoft.com/office/powerpoint/2010/main" val="9176373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1D91076-5351-F3EF-0795-37E283FEDF49}"/>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7F9AE517-0F28-4846-0F1B-56A0A8282495}"/>
              </a:ext>
            </a:extLst>
          </p:cNvPr>
          <p:cNvSpPr>
            <a:spLocks noGrp="1"/>
          </p:cNvSpPr>
          <p:nvPr>
            <p:ph sz="quarter" idx="11"/>
          </p:nvPr>
        </p:nvSpPr>
        <p:spPr>
          <a:xfrm>
            <a:off x="486000" y="687518"/>
            <a:ext cx="8172000" cy="4079035"/>
          </a:xfrm>
        </p:spPr>
        <p:txBody>
          <a:bodyPr/>
          <a:lstStyle/>
          <a:p>
            <a:r>
              <a:rPr lang="zh-CN" altLang="en-US" dirty="0"/>
              <a:t>用户浏览页面的两种方法</a:t>
            </a:r>
            <a:endParaRPr lang="en-US" altLang="zh-CN" dirty="0"/>
          </a:p>
          <a:p>
            <a:pPr lvl="1"/>
            <a:r>
              <a:rPr lang="zh-CN" altLang="en-US" dirty="0"/>
              <a:t>在浏览器的地址窗口中键入所要找的页面的 </a:t>
            </a:r>
            <a:r>
              <a:rPr lang="en-US" altLang="zh-CN" dirty="0"/>
              <a:t>URL</a:t>
            </a:r>
            <a:endParaRPr lang="zh-CN" altLang="en-US" dirty="0"/>
          </a:p>
          <a:p>
            <a:pPr lvl="1"/>
            <a:r>
              <a:rPr lang="zh-CN" altLang="en-US" dirty="0"/>
              <a:t>在某一个页面中用鼠标点击一个可选部分，这时浏览器会自动在互联网上找到所要链接的页面</a:t>
            </a:r>
          </a:p>
          <a:p>
            <a:endParaRPr lang="zh-CN" altLang="en-US" dirty="0"/>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1953DF2-33E2-0C73-0D9E-EAA747E75D4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3" name="内容占位符 2">
            <a:extLst>
              <a:ext uri="{FF2B5EF4-FFF2-40B4-BE49-F238E27FC236}">
                <a16:creationId xmlns:a16="http://schemas.microsoft.com/office/drawing/2014/main" id="{2709178F-7247-8CBD-D80F-2B160BEED765}"/>
              </a:ext>
            </a:extLst>
          </p:cNvPr>
          <p:cNvSpPr>
            <a:spLocks noGrp="1"/>
          </p:cNvSpPr>
          <p:nvPr>
            <p:ph sz="quarter" idx="11"/>
          </p:nvPr>
        </p:nvSpPr>
        <p:spPr>
          <a:xfrm>
            <a:off x="486000" y="687518"/>
            <a:ext cx="8172000" cy="4079035"/>
          </a:xfrm>
        </p:spPr>
        <p:txBody>
          <a:bodyPr/>
          <a:lstStyle/>
          <a:p>
            <a:r>
              <a:rPr lang="zh-CN" altLang="en-US" dirty="0"/>
              <a:t>特点</a:t>
            </a:r>
            <a:endParaRPr lang="en-US" altLang="zh-CN" dirty="0"/>
          </a:p>
          <a:p>
            <a:pPr lvl="1"/>
            <a:r>
              <a:rPr lang="en-US" altLang="zh-CN" dirty="0"/>
              <a:t>HTTP </a:t>
            </a:r>
            <a:r>
              <a:rPr lang="zh-CN" altLang="en-US" dirty="0"/>
              <a:t>使用了面向连接的 </a:t>
            </a:r>
            <a:r>
              <a:rPr lang="en-US" altLang="zh-CN" dirty="0"/>
              <a:t>TCP </a:t>
            </a:r>
            <a:r>
              <a:rPr lang="zh-CN" altLang="en-US" dirty="0"/>
              <a:t>作为运输层协议，保证了数据的可靠传输</a:t>
            </a:r>
            <a:endParaRPr lang="en-US" altLang="zh-CN" dirty="0"/>
          </a:p>
          <a:p>
            <a:pPr lvl="1"/>
            <a:r>
              <a:rPr lang="en-US" altLang="zh-CN" dirty="0"/>
              <a:t>HTTP </a:t>
            </a:r>
            <a:r>
              <a:rPr lang="zh-CN" altLang="en-US" dirty="0"/>
              <a:t>协议本身也是无连接的</a:t>
            </a:r>
          </a:p>
          <a:p>
            <a:pPr lvl="1"/>
            <a:r>
              <a:rPr lang="en-US" altLang="zh-CN" dirty="0"/>
              <a:t>HTTP </a:t>
            </a:r>
            <a:r>
              <a:rPr lang="zh-CN" altLang="en-US" dirty="0"/>
              <a:t>是无状态的 </a:t>
            </a:r>
            <a:r>
              <a:rPr lang="en-US" altLang="zh-CN" dirty="0"/>
              <a:t>(stateless)</a:t>
            </a:r>
            <a:r>
              <a:rPr lang="zh-CN" altLang="en-US" dirty="0"/>
              <a:t>，简化了服务器的设计，使服务器更容易支持大量并发的 </a:t>
            </a:r>
            <a:r>
              <a:rPr lang="en-US" altLang="zh-CN" dirty="0"/>
              <a:t>HTTP </a:t>
            </a:r>
            <a:r>
              <a:rPr lang="zh-CN" altLang="en-US" dirty="0"/>
              <a:t>请求</a:t>
            </a:r>
          </a:p>
          <a:p>
            <a:endParaRPr lang="zh-CN" altLang="en-US" dirty="0"/>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F3A2AE-945F-DDEB-25F2-269986345C5E}"/>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基本过程</a:t>
            </a:r>
          </a:p>
        </p:txBody>
      </p:sp>
      <p:sp>
        <p:nvSpPr>
          <p:cNvPr id="6" name="内容占位符 5">
            <a:extLst>
              <a:ext uri="{FF2B5EF4-FFF2-40B4-BE49-F238E27FC236}">
                <a16:creationId xmlns:a16="http://schemas.microsoft.com/office/drawing/2014/main" id="{60F81C31-5400-1585-BE2B-171F87A86C8C}"/>
              </a:ext>
            </a:extLst>
          </p:cNvPr>
          <p:cNvSpPr>
            <a:spLocks noGrp="1"/>
          </p:cNvSpPr>
          <p:nvPr>
            <p:ph sz="quarter" idx="11"/>
          </p:nvPr>
        </p:nvSpPr>
        <p:spPr>
          <a:xfrm>
            <a:off x="486000" y="687518"/>
            <a:ext cx="8172000" cy="4079035"/>
          </a:xfrm>
        </p:spPr>
        <p:txBody>
          <a:bodyPr/>
          <a:lstStyle/>
          <a:p>
            <a:r>
              <a:rPr lang="zh-CN" altLang="en-US" dirty="0"/>
              <a:t>请求文档所需的时间 </a:t>
            </a:r>
            <a:endParaRPr lang="en-US" altLang="zh-CN" dirty="0"/>
          </a:p>
          <a:p>
            <a:pPr lvl="1"/>
            <a:r>
              <a:rPr lang="en-US" altLang="zh-CN" dirty="0"/>
              <a:t>&gt;=   RTT</a:t>
            </a:r>
            <a:r>
              <a:rPr lang="zh-CN" altLang="en-US" dirty="0"/>
              <a:t>（三报文握手建立 </a:t>
            </a:r>
            <a:r>
              <a:rPr lang="en-US" altLang="zh-CN" dirty="0"/>
              <a:t>TCP </a:t>
            </a:r>
            <a:r>
              <a:rPr lang="zh-CN" altLang="en-US" dirty="0"/>
              <a:t>连接）</a:t>
            </a:r>
            <a:r>
              <a:rPr lang="en-US" altLang="zh-CN" dirty="0"/>
              <a:t>+ RTT</a:t>
            </a:r>
            <a:r>
              <a:rPr lang="zh-CN" altLang="en-US" dirty="0"/>
              <a:t>（请求和接收文档）</a:t>
            </a:r>
            <a:r>
              <a:rPr lang="en-US" altLang="zh-CN" dirty="0"/>
              <a:t>+ </a:t>
            </a:r>
            <a:r>
              <a:rPr lang="zh-CN" altLang="en-US" dirty="0"/>
              <a:t>文档的传输时间</a:t>
            </a:r>
            <a:endParaRPr lang="en-US" altLang="zh-CN" dirty="0"/>
          </a:p>
          <a:p>
            <a:pPr lvl="1"/>
            <a:r>
              <a:rPr lang="en-US" altLang="zh-CN" dirty="0"/>
              <a:t>= 2 RTT + </a:t>
            </a:r>
            <a:r>
              <a:rPr lang="zh-CN" altLang="en-US" dirty="0"/>
              <a:t>文档的传输时间</a:t>
            </a:r>
          </a:p>
        </p:txBody>
      </p:sp>
      <p:sp>
        <p:nvSpPr>
          <p:cNvPr id="56" name="Line 20"/>
          <p:cNvSpPr>
            <a:spLocks noChangeShapeType="1"/>
          </p:cNvSpPr>
          <p:nvPr/>
        </p:nvSpPr>
        <p:spPr bwMode="auto">
          <a:xfrm flipH="1">
            <a:off x="3255093" y="3412453"/>
            <a:ext cx="3270" cy="615774"/>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57" name="Rectangle 25"/>
          <p:cNvSpPr>
            <a:spLocks noChangeArrowheads="1"/>
          </p:cNvSpPr>
          <p:nvPr/>
        </p:nvSpPr>
        <p:spPr bwMode="auto">
          <a:xfrm>
            <a:off x="3071970" y="3635822"/>
            <a:ext cx="355344" cy="173061"/>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58" name="Text Box 26"/>
          <p:cNvSpPr txBox="1">
            <a:spLocks noChangeArrowheads="1"/>
          </p:cNvSpPr>
          <p:nvPr/>
        </p:nvSpPr>
        <p:spPr bwMode="auto">
          <a:xfrm>
            <a:off x="3018331" y="3594342"/>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59" name="Line 19"/>
          <p:cNvSpPr>
            <a:spLocks noChangeShapeType="1"/>
          </p:cNvSpPr>
          <p:nvPr/>
        </p:nvSpPr>
        <p:spPr bwMode="auto">
          <a:xfrm flipH="1">
            <a:off x="3258362" y="2793661"/>
            <a:ext cx="4360" cy="614768"/>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0" name="Rectangle 22"/>
          <p:cNvSpPr>
            <a:spLocks noChangeArrowheads="1"/>
          </p:cNvSpPr>
          <p:nvPr/>
        </p:nvSpPr>
        <p:spPr bwMode="auto">
          <a:xfrm>
            <a:off x="3071970" y="3033128"/>
            <a:ext cx="355344" cy="174067"/>
          </a:xfrm>
          <a:prstGeom prst="rect">
            <a:avLst/>
          </a:prstGeom>
          <a:solidFill>
            <a:schemeClr val="bg1"/>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61" name="Text Box 23"/>
          <p:cNvSpPr txBox="1">
            <a:spLocks noChangeArrowheads="1"/>
          </p:cNvSpPr>
          <p:nvPr/>
        </p:nvSpPr>
        <p:spPr bwMode="auto">
          <a:xfrm>
            <a:off x="3021711" y="2990531"/>
            <a:ext cx="471604" cy="276999"/>
          </a:xfrm>
          <a:prstGeom prst="rect">
            <a:avLst/>
          </a:prstGeom>
          <a:noFill/>
          <a:ln>
            <a:noFill/>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RTT</a:t>
            </a:r>
          </a:p>
        </p:txBody>
      </p:sp>
      <p:sp>
        <p:nvSpPr>
          <p:cNvPr id="62" name="Freeform 4"/>
          <p:cNvSpPr>
            <a:spLocks/>
          </p:cNvSpPr>
          <p:nvPr/>
        </p:nvSpPr>
        <p:spPr bwMode="auto">
          <a:xfrm>
            <a:off x="3439305" y="3729395"/>
            <a:ext cx="2196376" cy="519182"/>
          </a:xfrm>
          <a:custGeom>
            <a:avLst/>
            <a:gdLst>
              <a:gd name="T0" fmla="*/ 0 w 1679"/>
              <a:gd name="T1" fmla="*/ 2147483646 h 408"/>
              <a:gd name="T2" fmla="*/ 0 w 1679"/>
              <a:gd name="T3" fmla="*/ 2147483646 h 408"/>
              <a:gd name="T4" fmla="*/ 2147483646 w 1679"/>
              <a:gd name="T5" fmla="*/ 0 h 408"/>
              <a:gd name="T6" fmla="*/ 2147483646 w 1679"/>
              <a:gd name="T7" fmla="*/ 2147483646 h 408"/>
              <a:gd name="T8" fmla="*/ 0 w 1679"/>
              <a:gd name="T9" fmla="*/ 2147483646 h 40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679" h="408">
                <a:moveTo>
                  <a:pt x="0" y="408"/>
                </a:moveTo>
                <a:lnTo>
                  <a:pt x="0" y="227"/>
                </a:lnTo>
                <a:lnTo>
                  <a:pt x="1679" y="0"/>
                </a:lnTo>
                <a:lnTo>
                  <a:pt x="1679" y="181"/>
                </a:lnTo>
                <a:lnTo>
                  <a:pt x="0" y="408"/>
                </a:lnTo>
                <a:close/>
              </a:path>
            </a:pathLst>
          </a:custGeom>
          <a:solidFill>
            <a:schemeClr val="bg1">
              <a:lumMod val="95000"/>
            </a:schemeClr>
          </a:solidFill>
          <a:ln>
            <a:noFill/>
          </a:ln>
          <a:effec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4" name="Rectangle 6"/>
          <p:cNvSpPr>
            <a:spLocks noChangeArrowheads="1"/>
          </p:cNvSpPr>
          <p:nvPr/>
        </p:nvSpPr>
        <p:spPr bwMode="auto">
          <a:xfrm>
            <a:off x="5241790" y="1896646"/>
            <a:ext cx="668454" cy="238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lnSpc>
                <a:spcPct val="80000"/>
              </a:lnSpc>
            </a:pPr>
            <a:r>
              <a:rPr kumimoji="1" lang="en-US" altLang="zh-CN" sz="1200" dirty="0">
                <a:latin typeface="Montserrat" panose="00000500000000000000" pitchFamily="2" charset="0"/>
                <a:ea typeface="微软雅黑 Light" panose="020B0502040204020203" pitchFamily="34" charset="-122"/>
              </a:rPr>
              <a:t>Server</a:t>
            </a:r>
            <a:endParaRPr kumimoji="1" lang="zh-CN" altLang="en-US" sz="1200" dirty="0">
              <a:latin typeface="Montserrat" panose="00000500000000000000" pitchFamily="2" charset="0"/>
              <a:ea typeface="微软雅黑 Light" panose="020B0502040204020203" pitchFamily="34" charset="-122"/>
            </a:endParaRPr>
          </a:p>
        </p:txBody>
      </p:sp>
      <p:sp>
        <p:nvSpPr>
          <p:cNvPr id="65" name="Rectangle 7"/>
          <p:cNvSpPr>
            <a:spLocks noChangeArrowheads="1"/>
          </p:cNvSpPr>
          <p:nvPr/>
        </p:nvSpPr>
        <p:spPr bwMode="auto">
          <a:xfrm>
            <a:off x="3147026" y="1878724"/>
            <a:ext cx="63639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kumimoji="1" lang="en-US" altLang="zh-CN" sz="1200" dirty="0">
                <a:latin typeface="Montserrat" panose="00000500000000000000" pitchFamily="2" charset="0"/>
                <a:ea typeface="微软雅黑 Light" panose="020B0502040204020203" pitchFamily="34" charset="-122"/>
              </a:rPr>
              <a:t>Client</a:t>
            </a:r>
            <a:endParaRPr kumimoji="1" lang="zh-CN" altLang="en-US" sz="1200" dirty="0">
              <a:latin typeface="Montserrat" panose="00000500000000000000" pitchFamily="2" charset="0"/>
              <a:ea typeface="微软雅黑 Light" panose="020B0502040204020203" pitchFamily="34" charset="-122"/>
            </a:endParaRPr>
          </a:p>
        </p:txBody>
      </p:sp>
      <p:sp>
        <p:nvSpPr>
          <p:cNvPr id="67" name="Line 9"/>
          <p:cNvSpPr>
            <a:spLocks noChangeShapeType="1"/>
          </p:cNvSpPr>
          <p:nvPr/>
        </p:nvSpPr>
        <p:spPr bwMode="auto">
          <a:xfrm>
            <a:off x="3440394" y="2744359"/>
            <a:ext cx="0" cy="1893606"/>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68" name="Text Box 10"/>
          <p:cNvSpPr txBox="1">
            <a:spLocks noChangeArrowheads="1"/>
          </p:cNvSpPr>
          <p:nvPr/>
        </p:nvSpPr>
        <p:spPr bwMode="auto">
          <a:xfrm>
            <a:off x="1920759" y="2664871"/>
            <a:ext cx="1189749"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发起 </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TCP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连接</a:t>
            </a:r>
          </a:p>
        </p:txBody>
      </p:sp>
      <p:sp>
        <p:nvSpPr>
          <p:cNvPr id="69" name="Text Box 11"/>
          <p:cNvSpPr txBox="1">
            <a:spLocks noChangeArrowheads="1"/>
          </p:cNvSpPr>
          <p:nvPr/>
        </p:nvSpPr>
        <p:spPr bwMode="auto">
          <a:xfrm>
            <a:off x="1858242" y="3261529"/>
            <a:ext cx="125226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HTTP </a:t>
            </a:r>
            <a:r>
              <a:rPr kumimoji="1" lang="zh-CN" altLang="en-US" sz="1200" dirty="0">
                <a:solidFill>
                  <a:sysClr val="windowText" lastClr="000000"/>
                </a:solidFill>
                <a:latin typeface="Montserrat" panose="00000500000000000000" pitchFamily="2" charset="0"/>
                <a:ea typeface="微软雅黑 Light" panose="020B0502040204020203" pitchFamily="34" charset="-122"/>
              </a:rPr>
              <a:t>请求报文</a:t>
            </a:r>
          </a:p>
        </p:txBody>
      </p:sp>
      <p:sp>
        <p:nvSpPr>
          <p:cNvPr id="70" name="Line 12"/>
          <p:cNvSpPr>
            <a:spLocks noChangeShapeType="1"/>
          </p:cNvSpPr>
          <p:nvPr/>
        </p:nvSpPr>
        <p:spPr bwMode="auto">
          <a:xfrm>
            <a:off x="3440394" y="2793660"/>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1" name="Line 13"/>
          <p:cNvSpPr>
            <a:spLocks noChangeShapeType="1"/>
          </p:cNvSpPr>
          <p:nvPr/>
        </p:nvSpPr>
        <p:spPr bwMode="auto">
          <a:xfrm flipH="1">
            <a:off x="3432765" y="3108591"/>
            <a:ext cx="2196376" cy="288770"/>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2" name="Line 14"/>
          <p:cNvSpPr>
            <a:spLocks noChangeShapeType="1"/>
          </p:cNvSpPr>
          <p:nvPr/>
        </p:nvSpPr>
        <p:spPr bwMode="auto">
          <a:xfrm>
            <a:off x="3440394" y="3424528"/>
            <a:ext cx="2196375" cy="287764"/>
          </a:xfrm>
          <a:prstGeom prst="line">
            <a:avLst/>
          </a:prstGeom>
          <a:noFill/>
          <a:ln w="28575">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3" name="Line 15"/>
          <p:cNvSpPr>
            <a:spLocks noChangeShapeType="1"/>
          </p:cNvSpPr>
          <p:nvPr/>
        </p:nvSpPr>
        <p:spPr bwMode="auto">
          <a:xfrm>
            <a:off x="3145001" y="2793660"/>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4" name="Line 16"/>
          <p:cNvSpPr>
            <a:spLocks noChangeShapeType="1"/>
          </p:cNvSpPr>
          <p:nvPr/>
        </p:nvSpPr>
        <p:spPr bwMode="auto">
          <a:xfrm>
            <a:off x="3149361" y="3408428"/>
            <a:ext cx="295394"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5" name="Line 17"/>
          <p:cNvSpPr>
            <a:spLocks noChangeShapeType="1"/>
          </p:cNvSpPr>
          <p:nvPr/>
        </p:nvSpPr>
        <p:spPr bwMode="auto">
          <a:xfrm>
            <a:off x="3137371" y="4250589"/>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6" name="Line 18"/>
          <p:cNvSpPr>
            <a:spLocks noChangeShapeType="1"/>
          </p:cNvSpPr>
          <p:nvPr/>
        </p:nvSpPr>
        <p:spPr bwMode="auto">
          <a:xfrm>
            <a:off x="3137371" y="4020178"/>
            <a:ext cx="295393" cy="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a:off x="5883917" y="3676407"/>
            <a:ext cx="1261884"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传输文档的时间</a:t>
            </a:r>
          </a:p>
        </p:txBody>
      </p:sp>
      <p:sp>
        <p:nvSpPr>
          <p:cNvPr id="78" name="Text Box 28"/>
          <p:cNvSpPr txBox="1">
            <a:spLocks noChangeArrowheads="1"/>
          </p:cNvSpPr>
          <p:nvPr/>
        </p:nvSpPr>
        <p:spPr bwMode="auto">
          <a:xfrm>
            <a:off x="2002512" y="4001988"/>
            <a:ext cx="1107996" cy="276999"/>
          </a:xfrm>
          <a:prstGeom prst="rect">
            <a:avLst/>
          </a:prstGeom>
          <a:noFill/>
          <a:ln w="9525">
            <a:noFill/>
            <a:miter lim="800000"/>
            <a:headEnd/>
            <a:tailEnd/>
          </a:ln>
          <a:effec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ysClr val="windowText" lastClr="000000"/>
                </a:solidFill>
                <a:latin typeface="Montserrat" panose="00000500000000000000" pitchFamily="2" charset="0"/>
                <a:ea typeface="微软雅黑 Light" panose="020B0502040204020203" pitchFamily="34" charset="-122"/>
              </a:rPr>
              <a:t>整个文档收到</a:t>
            </a:r>
          </a:p>
        </p:txBody>
      </p:sp>
      <p:sp>
        <p:nvSpPr>
          <p:cNvPr id="79" name="AutoShape 29"/>
          <p:cNvSpPr>
            <a:spLocks noChangeArrowheads="1"/>
          </p:cNvSpPr>
          <p:nvPr/>
        </p:nvSpPr>
        <p:spPr bwMode="auto">
          <a:xfrm rot="21154273">
            <a:off x="4254634" y="3899438"/>
            <a:ext cx="652918" cy="173061"/>
          </a:xfrm>
          <a:prstGeom prst="leftArrow">
            <a:avLst>
              <a:gd name="adj1" fmla="val 50000"/>
              <a:gd name="adj2" fmla="val 87064"/>
            </a:avLst>
          </a:prstGeom>
          <a:solidFill>
            <a:srgbClr val="4BACC6"/>
          </a:solidFill>
          <a:ln w="9525">
            <a:no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0" name="Line 30"/>
          <p:cNvSpPr>
            <a:spLocks noChangeShapeType="1"/>
          </p:cNvSpPr>
          <p:nvPr/>
        </p:nvSpPr>
        <p:spPr bwMode="auto">
          <a:xfrm>
            <a:off x="5630229" y="2741339"/>
            <a:ext cx="0" cy="1892600"/>
          </a:xfrm>
          <a:prstGeom prst="line">
            <a:avLst/>
          </a:prstGeom>
          <a:noFill/>
          <a:ln w="1270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83" name="Text Box 33"/>
          <p:cNvSpPr txBox="1">
            <a:spLocks noChangeArrowheads="1"/>
          </p:cNvSpPr>
          <p:nvPr/>
        </p:nvSpPr>
        <p:spPr bwMode="auto">
          <a:xfrm rot="21159151">
            <a:off x="3961445" y="4094813"/>
            <a:ext cx="125226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HTTP </a:t>
            </a:r>
            <a:r>
              <a:rPr kumimoji="1" lang="zh-CN" altLang="en-US" sz="1200" dirty="0">
                <a:latin typeface="Montserrat" panose="00000500000000000000" pitchFamily="2" charset="0"/>
                <a:ea typeface="微软雅黑 Light" panose="020B0502040204020203" pitchFamily="34" charset="-122"/>
              </a:rPr>
              <a:t>响应报文</a:t>
            </a:r>
          </a:p>
        </p:txBody>
      </p:sp>
      <p:sp>
        <p:nvSpPr>
          <p:cNvPr id="84" name="AutoShape 34"/>
          <p:cNvSpPr>
            <a:spLocks/>
          </p:cNvSpPr>
          <p:nvPr/>
        </p:nvSpPr>
        <p:spPr bwMode="auto">
          <a:xfrm>
            <a:off x="5661840" y="3716316"/>
            <a:ext cx="59950" cy="231418"/>
          </a:xfrm>
          <a:prstGeom prst="rightBracket">
            <a:avLst>
              <a:gd name="adj" fmla="val 34849"/>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85" name="Line 35"/>
          <p:cNvSpPr>
            <a:spLocks noChangeShapeType="1"/>
          </p:cNvSpPr>
          <p:nvPr/>
        </p:nvSpPr>
        <p:spPr bwMode="auto">
          <a:xfrm>
            <a:off x="5721790" y="3832024"/>
            <a:ext cx="16212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pic>
        <p:nvPicPr>
          <p:cNvPr id="87" name="图片 86"/>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372332" y="2077441"/>
            <a:ext cx="511585" cy="716219"/>
          </a:xfrm>
          <a:prstGeom prst="rect">
            <a:avLst/>
          </a:prstGeom>
        </p:spPr>
      </p:pic>
      <p:pic>
        <p:nvPicPr>
          <p:cNvPr id="88"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18736" y="2141338"/>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3" name="矩形 2"/>
          <p:cNvSpPr/>
          <p:nvPr/>
        </p:nvSpPr>
        <p:spPr>
          <a:xfrm>
            <a:off x="5249291" y="1461642"/>
            <a:ext cx="3107597" cy="322717"/>
          </a:xfrm>
          <a:prstGeom prst="rect">
            <a:avLst/>
          </a:prstGeom>
          <a:solidFill>
            <a:schemeClr val="bg1"/>
          </a:solidFill>
        </p:spPr>
        <p:txBody>
          <a:bodyPr wrap="square">
            <a:spAutoFit/>
          </a:bodyPr>
          <a:lstStyle/>
          <a:p>
            <a:pPr>
              <a:lnSpc>
                <a:spcPts val="2000"/>
              </a:lnSpc>
            </a:pP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4"/>
          <p:cNvSpPr txBox="1">
            <a:spLocks noChangeArrowheads="1"/>
          </p:cNvSpPr>
          <p:nvPr/>
        </p:nvSpPr>
        <p:spPr bwMode="auto">
          <a:xfrm>
            <a:off x="6908190" y="1122804"/>
            <a:ext cx="2026123" cy="2067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accent2"/>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nSpc>
                <a:spcPts val="2200"/>
              </a:lnSpc>
            </a:pPr>
            <a:r>
              <a:rPr lang="zh-CN" altLang="en-US" sz="1600" b="1" dirty="0">
                <a:latin typeface="微软雅黑 Light" panose="020B0502040204020203" pitchFamily="34" charset="-122"/>
                <a:ea typeface="微软雅黑 Light" panose="020B0502040204020203" pitchFamily="34" charset="-122"/>
              </a:rPr>
              <a:t>假设一个主页</a:t>
            </a:r>
            <a:r>
              <a:rPr lang="en-US" altLang="zh-CN" sz="1600" b="1" dirty="0">
                <a:latin typeface="微软雅黑 Light" panose="020B0502040204020203" pitchFamily="34" charset="-122"/>
                <a:ea typeface="微软雅黑 Light" panose="020B0502040204020203" pitchFamily="34" charset="-122"/>
              </a:rPr>
              <a:t>page.html </a:t>
            </a:r>
            <a:r>
              <a:rPr lang="zh-CN" altLang="en-US" sz="1600" b="1" dirty="0">
                <a:latin typeface="微软雅黑 Light" panose="020B0502040204020203" pitchFamily="34" charset="-122"/>
                <a:ea typeface="微软雅黑 Light" panose="020B0502040204020203" pitchFamily="34" charset="-122"/>
              </a:rPr>
              <a:t>上有 </a:t>
            </a:r>
            <a:r>
              <a:rPr lang="en-US" altLang="zh-CN" sz="1600" b="1" dirty="0">
                <a:latin typeface="微软雅黑 Light" panose="020B0502040204020203" pitchFamily="34" charset="-122"/>
                <a:ea typeface="微软雅黑 Light" panose="020B0502040204020203" pitchFamily="34" charset="-122"/>
              </a:rPr>
              <a:t>10 </a:t>
            </a:r>
            <a:r>
              <a:rPr lang="zh-CN" altLang="en-US" sz="1600" b="1" dirty="0">
                <a:latin typeface="微软雅黑 Light" panose="020B0502040204020203" pitchFamily="34" charset="-122"/>
                <a:ea typeface="微软雅黑 Light" panose="020B0502040204020203" pitchFamily="34" charset="-122"/>
              </a:rPr>
              <a:t>个链接的图片：</a:t>
            </a:r>
            <a:r>
              <a:rPr lang="en-US" altLang="zh-CN" sz="1600" b="1" dirty="0">
                <a:latin typeface="微软雅黑 Light" panose="020B0502040204020203" pitchFamily="34" charset="-122"/>
                <a:ea typeface="微软雅黑 Light" panose="020B0502040204020203" pitchFamily="34" charset="-122"/>
              </a:rPr>
              <a:t>page1.jpg, page2.jpg, page3.jpg,</a:t>
            </a:r>
          </a:p>
          <a:p>
            <a:pPr>
              <a:lnSpc>
                <a:spcPts val="2200"/>
              </a:lnSpc>
            </a:pPr>
            <a:r>
              <a:rPr lang="en-US" altLang="zh-CN" sz="1600" b="1" dirty="0">
                <a:latin typeface="微软雅黑 Light" panose="020B0502040204020203" pitchFamily="34" charset="-122"/>
                <a:ea typeface="微软雅黑 Light" panose="020B0502040204020203" pitchFamily="34" charset="-122"/>
              </a:rPr>
              <a:t>…</a:t>
            </a:r>
          </a:p>
        </p:txBody>
      </p:sp>
      <p:sp>
        <p:nvSpPr>
          <p:cNvPr id="8" name="Line 5"/>
          <p:cNvSpPr>
            <a:spLocks noChangeShapeType="1"/>
          </p:cNvSpPr>
          <p:nvPr/>
        </p:nvSpPr>
        <p:spPr bwMode="auto">
          <a:xfrm>
            <a:off x="4715307" y="1281829"/>
            <a:ext cx="6384" cy="3260286"/>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6"/>
          <p:cNvSpPr>
            <a:spLocks noChangeShapeType="1"/>
          </p:cNvSpPr>
          <p:nvPr/>
        </p:nvSpPr>
        <p:spPr bwMode="auto">
          <a:xfrm flipH="1">
            <a:off x="5835636" y="1277495"/>
            <a:ext cx="12767" cy="3267871"/>
          </a:xfrm>
          <a:prstGeom prst="line">
            <a:avLst/>
          </a:prstGeom>
          <a:noFill/>
          <a:ln w="12700">
            <a:solidFill>
              <a:schemeClr val="tx1"/>
            </a:solidFill>
            <a:prstDash val="solid"/>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52" name="组合 51"/>
          <p:cNvGrpSpPr/>
          <p:nvPr/>
        </p:nvGrpSpPr>
        <p:grpSpPr>
          <a:xfrm>
            <a:off x="3338004" y="1266224"/>
            <a:ext cx="3595617" cy="1578522"/>
            <a:chOff x="3338004" y="1266224"/>
            <a:chExt cx="3595617" cy="1578522"/>
          </a:xfrm>
        </p:grpSpPr>
        <p:sp>
          <p:nvSpPr>
            <p:cNvPr id="18" name="Text Box 12"/>
            <p:cNvSpPr txBox="1">
              <a:spLocks noChangeArrowheads="1"/>
            </p:cNvSpPr>
            <p:nvPr/>
          </p:nvSpPr>
          <p:spPr bwMode="auto">
            <a:xfrm>
              <a:off x="5902120" y="2198103"/>
              <a:ext cx="1031501"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传输 </a:t>
              </a:r>
              <a:r>
                <a:rPr lang="en-US" altLang="zh-CN" sz="1200" b="1" dirty="0">
                  <a:solidFill>
                    <a:srgbClr val="0000CC"/>
                  </a:solidFill>
                  <a:latin typeface="微软雅黑 Light" panose="020B0502040204020203" pitchFamily="34" charset="-122"/>
                  <a:ea typeface="微软雅黑 Light" panose="020B0502040204020203" pitchFamily="34" charset="-122"/>
                </a:rPr>
                <a:t>page.html </a:t>
              </a:r>
              <a:r>
                <a:rPr lang="zh-CN" altLang="en-US" sz="1200" b="1" dirty="0">
                  <a:solidFill>
                    <a:srgbClr val="0000CC"/>
                  </a:solidFill>
                  <a:latin typeface="微软雅黑 Light" panose="020B0502040204020203" pitchFamily="34" charset="-122"/>
                  <a:ea typeface="微软雅黑 Light" panose="020B0502040204020203" pitchFamily="34" charset="-122"/>
                </a:rPr>
                <a:t>的时间</a:t>
              </a:r>
            </a:p>
          </p:txBody>
        </p:sp>
        <p:grpSp>
          <p:nvGrpSpPr>
            <p:cNvPr id="3" name="组合 2"/>
            <p:cNvGrpSpPr/>
            <p:nvPr/>
          </p:nvGrpSpPr>
          <p:grpSpPr>
            <a:xfrm>
              <a:off x="3338004" y="1266224"/>
              <a:ext cx="2613601" cy="1578522"/>
              <a:chOff x="3338004" y="1266224"/>
              <a:chExt cx="2613601" cy="1578522"/>
            </a:xfrm>
          </p:grpSpPr>
          <p:sp>
            <p:nvSpPr>
              <p:cNvPr id="13" name="Line 7"/>
              <p:cNvSpPr>
                <a:spLocks noChangeShapeType="1"/>
              </p:cNvSpPr>
              <p:nvPr/>
            </p:nvSpPr>
            <p:spPr bwMode="auto">
              <a:xfrm>
                <a:off x="4724883" y="1440021"/>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8"/>
              <p:cNvSpPr>
                <a:spLocks noChangeShapeType="1"/>
              </p:cNvSpPr>
              <p:nvPr/>
            </p:nvSpPr>
            <p:spPr bwMode="auto">
              <a:xfrm flipH="1">
                <a:off x="4715307" y="1739071"/>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
              <p:cNvSpPr>
                <a:spLocks noChangeShapeType="1"/>
              </p:cNvSpPr>
              <p:nvPr/>
            </p:nvSpPr>
            <p:spPr bwMode="auto">
              <a:xfrm>
                <a:off x="4720627" y="2085794"/>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10"/>
              <p:cNvSpPr>
                <a:spLocks noChangeShapeType="1"/>
              </p:cNvSpPr>
              <p:nvPr/>
            </p:nvSpPr>
            <p:spPr bwMode="auto">
              <a:xfrm flipH="1">
                <a:off x="4731266" y="2432938"/>
                <a:ext cx="1121392" cy="258959"/>
              </a:xfrm>
              <a:prstGeom prst="line">
                <a:avLst/>
              </a:prstGeom>
              <a:noFill/>
              <a:ln w="127000">
                <a:solidFill>
                  <a:srgbClr val="0099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AutoShape 11"/>
              <p:cNvSpPr>
                <a:spLocks/>
              </p:cNvSpPr>
              <p:nvPr/>
            </p:nvSpPr>
            <p:spPr bwMode="auto">
              <a:xfrm>
                <a:off x="5901600" y="2366634"/>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14"/>
              <p:cNvSpPr txBox="1">
                <a:spLocks noChangeArrowheads="1"/>
              </p:cNvSpPr>
              <p:nvPr/>
            </p:nvSpPr>
            <p:spPr bwMode="auto">
              <a:xfrm>
                <a:off x="3338004" y="1266224"/>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sp>
            <p:nvSpPr>
              <p:cNvPr id="20" name="Text Box 17"/>
              <p:cNvSpPr txBox="1">
                <a:spLocks noChangeArrowheads="1"/>
              </p:cNvSpPr>
              <p:nvPr/>
            </p:nvSpPr>
            <p:spPr bwMode="auto">
              <a:xfrm>
                <a:off x="4738206" y="1926570"/>
                <a:ext cx="109798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solidFill>
                      <a:srgbClr val="C00000"/>
                    </a:solidFill>
                    <a:latin typeface="微软雅黑 Light" panose="020B0502040204020203" pitchFamily="34" charset="-122"/>
                    <a:ea typeface="微软雅黑 Light" panose="020B0502040204020203" pitchFamily="34" charset="-122"/>
                  </a:rPr>
                  <a:t>GET page.html</a:t>
                </a:r>
              </a:p>
            </p:txBody>
          </p:sp>
          <p:sp>
            <p:nvSpPr>
              <p:cNvPr id="21" name="Text Box 21"/>
              <p:cNvSpPr txBox="1">
                <a:spLocks noChangeArrowheads="1"/>
              </p:cNvSpPr>
              <p:nvPr/>
            </p:nvSpPr>
            <p:spPr bwMode="auto">
              <a:xfrm>
                <a:off x="3751375" y="2567747"/>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24" name="Line 13"/>
              <p:cNvSpPr>
                <a:spLocks noChangeShapeType="1"/>
              </p:cNvSpPr>
              <p:nvPr/>
            </p:nvSpPr>
            <p:spPr bwMode="auto">
              <a:xfrm>
                <a:off x="4453578" y="1422685"/>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AutoShape 15"/>
              <p:cNvSpPr>
                <a:spLocks/>
              </p:cNvSpPr>
              <p:nvPr/>
            </p:nvSpPr>
            <p:spPr bwMode="auto">
              <a:xfrm>
                <a:off x="4544013" y="1457357"/>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Text Box 16"/>
              <p:cNvSpPr txBox="1">
                <a:spLocks noChangeArrowheads="1"/>
              </p:cNvSpPr>
              <p:nvPr/>
            </p:nvSpPr>
            <p:spPr bwMode="auto">
              <a:xfrm>
                <a:off x="4115245" y="1596047"/>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7" name="AutoShape 18"/>
              <p:cNvSpPr>
                <a:spLocks/>
              </p:cNvSpPr>
              <p:nvPr/>
            </p:nvSpPr>
            <p:spPr bwMode="auto">
              <a:xfrm>
                <a:off x="4548268" y="2078210"/>
                <a:ext cx="86179" cy="54825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19"/>
              <p:cNvSpPr txBox="1">
                <a:spLocks noChangeArrowheads="1"/>
              </p:cNvSpPr>
              <p:nvPr/>
            </p:nvSpPr>
            <p:spPr bwMode="auto">
              <a:xfrm>
                <a:off x="4128013" y="222556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29" name="Line 20"/>
              <p:cNvSpPr>
                <a:spLocks noChangeShapeType="1"/>
              </p:cNvSpPr>
              <p:nvPr/>
            </p:nvSpPr>
            <p:spPr bwMode="auto">
              <a:xfrm flipH="1">
                <a:off x="4494007" y="2733070"/>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3"/>
              <p:cNvSpPr>
                <a:spLocks noChangeShapeType="1"/>
              </p:cNvSpPr>
              <p:nvPr/>
            </p:nvSpPr>
            <p:spPr bwMode="auto">
              <a:xfrm flipH="1">
                <a:off x="4480176" y="2077126"/>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grpSp>
        <p:nvGrpSpPr>
          <p:cNvPr id="53" name="组合 52"/>
          <p:cNvGrpSpPr/>
          <p:nvPr/>
        </p:nvGrpSpPr>
        <p:grpSpPr>
          <a:xfrm>
            <a:off x="5253660" y="4257392"/>
            <a:ext cx="68093" cy="273778"/>
            <a:chOff x="5253660" y="4257392"/>
            <a:chExt cx="68093" cy="273778"/>
          </a:xfrm>
        </p:grpSpPr>
        <p:sp>
          <p:nvSpPr>
            <p:cNvPr id="37"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8"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9"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1" name="组合 50"/>
          <p:cNvGrpSpPr/>
          <p:nvPr/>
        </p:nvGrpSpPr>
        <p:grpSpPr>
          <a:xfrm>
            <a:off x="3360550" y="2749191"/>
            <a:ext cx="3547641" cy="1507486"/>
            <a:chOff x="3360550" y="2749191"/>
            <a:chExt cx="3547641" cy="1507486"/>
          </a:xfrm>
        </p:grpSpPr>
        <p:grpSp>
          <p:nvGrpSpPr>
            <p:cNvPr id="4" name="组合 3"/>
            <p:cNvGrpSpPr/>
            <p:nvPr/>
          </p:nvGrpSpPr>
          <p:grpSpPr>
            <a:xfrm>
              <a:off x="3751375" y="2885392"/>
              <a:ext cx="3156816" cy="1371285"/>
              <a:chOff x="3751375" y="2841002"/>
              <a:chExt cx="3156816" cy="1371285"/>
            </a:xfrm>
          </p:grpSpPr>
          <p:sp>
            <p:nvSpPr>
              <p:cNvPr id="22" name="Line 22"/>
              <p:cNvSpPr>
                <a:spLocks noChangeShapeType="1"/>
              </p:cNvSpPr>
              <p:nvPr/>
            </p:nvSpPr>
            <p:spPr bwMode="auto">
              <a:xfrm>
                <a:off x="4723818" y="2843169"/>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24"/>
              <p:cNvSpPr>
                <a:spLocks noChangeShapeType="1"/>
              </p:cNvSpPr>
              <p:nvPr/>
            </p:nvSpPr>
            <p:spPr bwMode="auto">
              <a:xfrm flipH="1">
                <a:off x="4695092" y="3143302"/>
                <a:ext cx="1121392" cy="275212"/>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Line 25"/>
              <p:cNvSpPr>
                <a:spLocks noChangeShapeType="1"/>
              </p:cNvSpPr>
              <p:nvPr/>
            </p:nvSpPr>
            <p:spPr bwMode="auto">
              <a:xfrm>
                <a:off x="4716371" y="3466188"/>
                <a:ext cx="1128840" cy="266544"/>
              </a:xfrm>
              <a:prstGeom prst="line">
                <a:avLst/>
              </a:prstGeom>
              <a:noFill/>
              <a:ln w="19050">
                <a:solidFill>
                  <a:srgbClr val="99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26"/>
              <p:cNvSpPr>
                <a:spLocks noChangeShapeType="1"/>
              </p:cNvSpPr>
              <p:nvPr/>
            </p:nvSpPr>
            <p:spPr bwMode="auto">
              <a:xfrm flipH="1">
                <a:off x="4704667" y="3785824"/>
                <a:ext cx="1121392" cy="258960"/>
              </a:xfrm>
              <a:prstGeom prst="line">
                <a:avLst/>
              </a:prstGeom>
              <a:noFill/>
              <a:ln w="127000">
                <a:solidFill>
                  <a:srgbClr val="0099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Text Box 27"/>
              <p:cNvSpPr txBox="1">
                <a:spLocks noChangeArrowheads="1"/>
              </p:cNvSpPr>
              <p:nvPr/>
            </p:nvSpPr>
            <p:spPr bwMode="auto">
              <a:xfrm>
                <a:off x="4741906" y="3285853"/>
                <a:ext cx="107883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C00000"/>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en-US" altLang="zh-CN" dirty="0">
                    <a:latin typeface="微软雅黑 Light" panose="020B0502040204020203" pitchFamily="34" charset="-122"/>
                    <a:ea typeface="微软雅黑 Light" panose="020B0502040204020203" pitchFamily="34" charset="-122"/>
                  </a:rPr>
                  <a:t>GET page1.jpg</a:t>
                </a:r>
              </a:p>
            </p:txBody>
          </p:sp>
          <p:sp>
            <p:nvSpPr>
              <p:cNvPr id="35" name="Text Box 28"/>
              <p:cNvSpPr txBox="1">
                <a:spLocks noChangeArrowheads="1"/>
              </p:cNvSpPr>
              <p:nvPr/>
            </p:nvSpPr>
            <p:spPr bwMode="auto">
              <a:xfrm>
                <a:off x="5902121" y="3550702"/>
                <a:ext cx="1006070"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传输 </a:t>
                </a:r>
                <a:r>
                  <a:rPr lang="en-US" altLang="zh-CN" dirty="0">
                    <a:latin typeface="微软雅黑 Light" panose="020B0502040204020203" pitchFamily="34" charset="-122"/>
                    <a:ea typeface="微软雅黑 Light" panose="020B0502040204020203" pitchFamily="34" charset="-122"/>
                  </a:rPr>
                  <a:t>page1.jpg</a:t>
                </a:r>
              </a:p>
              <a:p>
                <a:r>
                  <a:rPr lang="zh-CN" altLang="en-US" dirty="0">
                    <a:latin typeface="微软雅黑 Light" panose="020B0502040204020203" pitchFamily="34" charset="-122"/>
                    <a:ea typeface="微软雅黑 Light" panose="020B0502040204020203" pitchFamily="34" charset="-122"/>
                  </a:rPr>
                  <a:t>的时间</a:t>
                </a:r>
              </a:p>
            </p:txBody>
          </p:sp>
          <p:sp>
            <p:nvSpPr>
              <p:cNvPr id="36" name="AutoShape 29"/>
              <p:cNvSpPr>
                <a:spLocks/>
              </p:cNvSpPr>
              <p:nvPr/>
            </p:nvSpPr>
            <p:spPr bwMode="auto">
              <a:xfrm>
                <a:off x="5875001" y="3735982"/>
                <a:ext cx="50005" cy="124604"/>
              </a:xfrm>
              <a:prstGeom prst="rightBrace">
                <a:avLst>
                  <a:gd name="adj1" fmla="val 20390"/>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3"/>
              <p:cNvSpPr>
                <a:spLocks noChangeShapeType="1"/>
              </p:cNvSpPr>
              <p:nvPr/>
            </p:nvSpPr>
            <p:spPr bwMode="auto">
              <a:xfrm>
                <a:off x="4453578" y="2841002"/>
                <a:ext cx="261729"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AutoShape 15"/>
              <p:cNvSpPr>
                <a:spLocks/>
              </p:cNvSpPr>
              <p:nvPr/>
            </p:nvSpPr>
            <p:spPr bwMode="auto">
              <a:xfrm>
                <a:off x="4544013" y="2875659"/>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Text Box 16"/>
              <p:cNvSpPr txBox="1">
                <a:spLocks noChangeArrowheads="1"/>
              </p:cNvSpPr>
              <p:nvPr/>
            </p:nvSpPr>
            <p:spPr bwMode="auto">
              <a:xfrm>
                <a:off x="4115245" y="3014288"/>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4" name="AutoShape 18"/>
              <p:cNvSpPr>
                <a:spLocks/>
              </p:cNvSpPr>
              <p:nvPr/>
            </p:nvSpPr>
            <p:spPr bwMode="auto">
              <a:xfrm>
                <a:off x="4548268" y="3444768"/>
                <a:ext cx="86179" cy="548017"/>
              </a:xfrm>
              <a:prstGeom prst="leftBrace">
                <a:avLst>
                  <a:gd name="adj1" fmla="val 52058"/>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Text Box 19"/>
              <p:cNvSpPr txBox="1">
                <a:spLocks noChangeArrowheads="1"/>
              </p:cNvSpPr>
              <p:nvPr/>
            </p:nvSpPr>
            <p:spPr bwMode="auto">
              <a:xfrm>
                <a:off x="4128013" y="3592061"/>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47" name="Line 23"/>
              <p:cNvSpPr>
                <a:spLocks noChangeShapeType="1"/>
              </p:cNvSpPr>
              <p:nvPr/>
            </p:nvSpPr>
            <p:spPr bwMode="auto">
              <a:xfrm flipH="1">
                <a:off x="4480176" y="3443685"/>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Text Box 21"/>
              <p:cNvSpPr txBox="1">
                <a:spLocks noChangeArrowheads="1"/>
              </p:cNvSpPr>
              <p:nvPr/>
            </p:nvSpPr>
            <p:spPr bwMode="auto">
              <a:xfrm>
                <a:off x="3751375" y="3935288"/>
                <a:ext cx="7937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defRPr sz="1200" b="1">
                    <a:solidFill>
                      <a:srgbClr val="0000CC"/>
                    </a:solidFill>
                    <a:latin typeface="微软雅黑" panose="020B0503020204020204" pitchFamily="34" charset="-122"/>
                    <a:ea typeface="微软雅黑" panose="020B0503020204020204" pitchFamily="34" charset="-122"/>
                  </a:defRPr>
                </a:lvl1pPr>
                <a:lvl2pPr marL="742950" indent="-285750">
                  <a:defRPr>
                    <a:latin typeface="Tahoma" pitchFamily="34" charset="0"/>
                    <a:ea typeface="黑体" pitchFamily="2" charset="-122"/>
                  </a:defRPr>
                </a:lvl2pPr>
                <a:lvl3pPr marL="1143000" indent="-228600">
                  <a:defRPr>
                    <a:latin typeface="Tahoma" pitchFamily="34" charset="0"/>
                    <a:ea typeface="黑体" pitchFamily="2" charset="-122"/>
                  </a:defRPr>
                </a:lvl3pPr>
                <a:lvl4pPr marL="1600200" indent="-228600">
                  <a:defRPr>
                    <a:latin typeface="Tahoma" pitchFamily="34" charset="0"/>
                    <a:ea typeface="黑体" pitchFamily="2" charset="-122"/>
                  </a:defRPr>
                </a:lvl4pPr>
                <a:lvl5pPr marL="2057400" indent="-228600">
                  <a:defRPr>
                    <a:latin typeface="Tahoma" pitchFamily="34" charset="0"/>
                    <a:ea typeface="黑体" pitchFamily="2" charset="-122"/>
                  </a:defRPr>
                </a:lvl5pPr>
                <a:lvl6pPr marL="2514600" indent="-228600" eaLnBrk="0" fontAlgn="base" hangingPunct="0">
                  <a:spcBef>
                    <a:spcPct val="0"/>
                  </a:spcBef>
                  <a:spcAft>
                    <a:spcPct val="0"/>
                  </a:spcAft>
                  <a:defRPr>
                    <a:latin typeface="Tahoma" pitchFamily="34" charset="0"/>
                    <a:ea typeface="黑体" pitchFamily="2" charset="-122"/>
                  </a:defRPr>
                </a:lvl6pPr>
                <a:lvl7pPr marL="2971800" indent="-228600" eaLnBrk="0" fontAlgn="base" hangingPunct="0">
                  <a:spcBef>
                    <a:spcPct val="0"/>
                  </a:spcBef>
                  <a:spcAft>
                    <a:spcPct val="0"/>
                  </a:spcAft>
                  <a:defRPr>
                    <a:latin typeface="Tahoma" pitchFamily="34" charset="0"/>
                    <a:ea typeface="黑体" pitchFamily="2" charset="-122"/>
                  </a:defRPr>
                </a:lvl7pPr>
                <a:lvl8pPr marL="3429000" indent="-228600" eaLnBrk="0" fontAlgn="base" hangingPunct="0">
                  <a:spcBef>
                    <a:spcPct val="0"/>
                  </a:spcBef>
                  <a:spcAft>
                    <a:spcPct val="0"/>
                  </a:spcAft>
                  <a:defRPr>
                    <a:latin typeface="Tahoma" pitchFamily="34" charset="0"/>
                    <a:ea typeface="黑体" pitchFamily="2" charset="-122"/>
                  </a:defRPr>
                </a:lvl8pPr>
                <a:lvl9pPr marL="3886200" indent="-228600" eaLnBrk="0" fontAlgn="base" hangingPunct="0">
                  <a:spcBef>
                    <a:spcPct val="0"/>
                  </a:spcBef>
                  <a:spcAft>
                    <a:spcPct val="0"/>
                  </a:spcAft>
                  <a:defRPr>
                    <a:latin typeface="Tahoma" pitchFamily="34" charset="0"/>
                    <a:ea typeface="黑体" pitchFamily="2" charset="-122"/>
                  </a:defRPr>
                </a:lvl9pPr>
              </a:lstStyle>
              <a:p>
                <a:r>
                  <a:rPr lang="zh-CN" altLang="en-US" dirty="0">
                    <a:latin typeface="微软雅黑 Light" panose="020B0502040204020203" pitchFamily="34" charset="-122"/>
                    <a:ea typeface="微软雅黑 Light" panose="020B0502040204020203" pitchFamily="34" charset="-122"/>
                  </a:rPr>
                  <a:t>收到文档</a:t>
                </a:r>
              </a:p>
            </p:txBody>
          </p:sp>
          <p:sp>
            <p:nvSpPr>
              <p:cNvPr id="49" name="Line 20"/>
              <p:cNvSpPr>
                <a:spLocks noChangeShapeType="1"/>
              </p:cNvSpPr>
              <p:nvPr/>
            </p:nvSpPr>
            <p:spPr bwMode="auto">
              <a:xfrm flipH="1">
                <a:off x="4494007" y="4100611"/>
                <a:ext cx="229811" cy="10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0" name="Text Box 14"/>
            <p:cNvSpPr txBox="1">
              <a:spLocks noChangeArrowheads="1"/>
            </p:cNvSpPr>
            <p:nvPr/>
          </p:nvSpPr>
          <p:spPr bwMode="auto">
            <a:xfrm>
              <a:off x="3360550" y="2749191"/>
              <a:ext cx="1188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4" name="Rectangle 6"/>
          <p:cNvSpPr>
            <a:spLocks noChangeArrowheads="1"/>
          </p:cNvSpPr>
          <p:nvPr/>
        </p:nvSpPr>
        <p:spPr bwMode="auto">
          <a:xfrm>
            <a:off x="5358745" y="1016583"/>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55" name="Rectangle 7"/>
          <p:cNvSpPr>
            <a:spLocks noChangeArrowheads="1"/>
          </p:cNvSpPr>
          <p:nvPr/>
        </p:nvSpPr>
        <p:spPr bwMode="auto">
          <a:xfrm>
            <a:off x="4239214" y="1016583"/>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sp>
        <p:nvSpPr>
          <p:cNvPr id="56" name="矩形 55"/>
          <p:cNvSpPr/>
          <p:nvPr/>
        </p:nvSpPr>
        <p:spPr>
          <a:xfrm>
            <a:off x="6828676" y="3251849"/>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zh-CN" altLang="en-US" sz="1400" dirty="0">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7A9B9703-543A-28AA-0F8B-B4A113C7F405}"/>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HTTP/1.0</a:t>
            </a:r>
            <a:endParaRPr lang="zh-CN" altLang="en-US" dirty="0"/>
          </a:p>
        </p:txBody>
      </p:sp>
      <p:sp>
        <p:nvSpPr>
          <p:cNvPr id="12" name="内容占位符 11">
            <a:extLst>
              <a:ext uri="{FF2B5EF4-FFF2-40B4-BE49-F238E27FC236}">
                <a16:creationId xmlns:a16="http://schemas.microsoft.com/office/drawing/2014/main" id="{E1305090-EE3A-7529-0132-FFFCBC11CDA4}"/>
              </a:ext>
            </a:extLst>
          </p:cNvPr>
          <p:cNvSpPr>
            <a:spLocks noGrp="1"/>
          </p:cNvSpPr>
          <p:nvPr>
            <p:ph sz="quarter" idx="11"/>
          </p:nvPr>
        </p:nvSpPr>
        <p:spPr>
          <a:xfrm>
            <a:off x="486000" y="687518"/>
            <a:ext cx="8172000" cy="4079035"/>
          </a:xfrm>
        </p:spPr>
        <p:txBody>
          <a:bodyPr/>
          <a:lstStyle/>
          <a:p>
            <a:r>
              <a:rPr lang="zh-CN" altLang="en-US" dirty="0"/>
              <a:t>主要缺点</a:t>
            </a:r>
            <a:endParaRPr lang="en-US" altLang="zh-CN" dirty="0"/>
          </a:p>
          <a:p>
            <a:pPr lvl="1"/>
            <a:r>
              <a:rPr lang="zh-CN" altLang="en-US" dirty="0"/>
              <a:t>每请求一个文档就要有两倍 </a:t>
            </a:r>
            <a:r>
              <a:rPr lang="en-US" altLang="zh-CN" dirty="0"/>
              <a:t>RTT </a:t>
            </a:r>
            <a:r>
              <a:rPr lang="zh-CN" altLang="en-US" dirty="0"/>
              <a:t>的开销。</a:t>
            </a:r>
            <a:endParaRPr lang="en-US" altLang="zh-CN" dirty="0"/>
          </a:p>
          <a:p>
            <a:pPr lvl="1"/>
            <a:r>
              <a:rPr lang="zh-CN" altLang="en-US" dirty="0"/>
              <a:t>客户和服务器每一次建立新的 </a:t>
            </a:r>
            <a:r>
              <a:rPr lang="en-US" altLang="zh-CN" dirty="0"/>
              <a:t>TCP </a:t>
            </a:r>
            <a:r>
              <a:rPr lang="zh-CN" altLang="en-US" dirty="0"/>
              <a:t>连接都要分配缓存和变量。</a:t>
            </a:r>
            <a:endParaRPr lang="en-US" altLang="zh-CN" dirty="0"/>
          </a:p>
          <a:p>
            <a:pPr lvl="1"/>
            <a:r>
              <a:rPr lang="zh-CN" altLang="en-US" dirty="0"/>
              <a:t>这种非持续连接使服务器的负担很重。</a:t>
            </a:r>
            <a:endParaRPr lang="en-US" altLang="zh-CN" dirty="0"/>
          </a:p>
          <a:p>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2"/>
                                        </p:tgtEl>
                                        <p:attrNameLst>
                                          <p:attrName>style.visibility</p:attrName>
                                        </p:attrNameLst>
                                      </p:cBhvr>
                                      <p:to>
                                        <p:strVal val="visible"/>
                                      </p:to>
                                    </p:set>
                                    <p:animEffect transition="in" filter="wipe(up)">
                                      <p:cBhvr>
                                        <p:cTn id="7" dur="1000"/>
                                        <p:tgtEl>
                                          <p:spTgt spid="5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wipe(up)">
                                      <p:cBhvr>
                                        <p:cTn id="12" dur="1000"/>
                                        <p:tgtEl>
                                          <p:spTgt spid="51"/>
                                        </p:tgtEl>
                                      </p:cBhvr>
                                    </p:animEffect>
                                  </p:childTnLst>
                                </p:cTn>
                              </p:par>
                            </p:childTnLst>
                          </p:cTn>
                        </p:par>
                        <p:par>
                          <p:cTn id="13" fill="hold">
                            <p:stCondLst>
                              <p:cond delay="1000"/>
                            </p:stCondLst>
                            <p:childTnLst>
                              <p:par>
                                <p:cTn id="14" presetID="22" presetClass="entr" presetSubtype="1" fill="hold" nodeType="afterEffect">
                                  <p:stCondLst>
                                    <p:cond delay="0"/>
                                  </p:stCondLst>
                                  <p:childTnLst>
                                    <p:set>
                                      <p:cBhvr>
                                        <p:cTn id="15" dur="1" fill="hold">
                                          <p:stCondLst>
                                            <p:cond delay="0"/>
                                          </p:stCondLst>
                                        </p:cTn>
                                        <p:tgtEl>
                                          <p:spTgt spid="53"/>
                                        </p:tgtEl>
                                        <p:attrNameLst>
                                          <p:attrName>style.visibility</p:attrName>
                                        </p:attrNameLst>
                                      </p:cBhvr>
                                      <p:to>
                                        <p:strVal val="visible"/>
                                      </p:to>
                                    </p:set>
                                    <p:animEffect transition="in" filter="wipe(up)">
                                      <p:cBhvr>
                                        <p:cTn id="16" dur="1000"/>
                                        <p:tgtEl>
                                          <p:spTgt spid="53"/>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56"/>
                                        </p:tgtEl>
                                        <p:attrNameLst>
                                          <p:attrName>style.visibility</p:attrName>
                                        </p:attrNameLst>
                                      </p:cBhvr>
                                      <p:to>
                                        <p:strVal val="visible"/>
                                      </p:to>
                                    </p:set>
                                    <p:animEffect transition="in" filter="fade">
                                      <p:cBhvr>
                                        <p:cTn id="21" dur="10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6"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A74FCE-39F3-810E-88A4-6916350D7240}"/>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3" name="内容占位符 2">
            <a:extLst>
              <a:ext uri="{FF2B5EF4-FFF2-40B4-BE49-F238E27FC236}">
                <a16:creationId xmlns:a16="http://schemas.microsoft.com/office/drawing/2014/main" id="{0B4F6A22-2A2C-99E7-96B6-2A5B2ED43BF8}"/>
              </a:ext>
            </a:extLst>
          </p:cNvPr>
          <p:cNvSpPr>
            <a:spLocks noGrp="1"/>
          </p:cNvSpPr>
          <p:nvPr>
            <p:ph sz="quarter" idx="11"/>
          </p:nvPr>
        </p:nvSpPr>
        <p:spPr>
          <a:xfrm>
            <a:off x="486000" y="687518"/>
            <a:ext cx="8172000" cy="4079035"/>
          </a:xfrm>
        </p:spPr>
        <p:txBody>
          <a:bodyPr/>
          <a:lstStyle/>
          <a:p>
            <a:r>
              <a:rPr lang="zh-CN" altLang="en-US" dirty="0"/>
              <a:t>使用持续连接</a:t>
            </a:r>
            <a:r>
              <a:rPr lang="en-US" altLang="zh-CN" dirty="0"/>
              <a:t> - persistent connection</a:t>
            </a:r>
          </a:p>
          <a:p>
            <a:pPr lvl="1"/>
            <a:r>
              <a:rPr lang="zh-CN" altLang="en-US" dirty="0"/>
              <a:t>服务器在发送响应后仍然在一段时间内保持这条连接（不释放），使同一个客户（浏览器）和该服务器可以继续在这条连接上传送后续的 </a:t>
            </a:r>
            <a:r>
              <a:rPr lang="en-US" altLang="zh-CN" dirty="0"/>
              <a:t>HTTP </a:t>
            </a:r>
            <a:r>
              <a:rPr lang="zh-CN" altLang="en-US" dirty="0"/>
              <a:t>请求报文和响应报文</a:t>
            </a:r>
            <a:endParaRPr lang="en-US" altLang="zh-CN" dirty="0"/>
          </a:p>
          <a:p>
            <a:pPr lvl="1"/>
            <a:r>
              <a:rPr lang="zh-CN" altLang="en-US" dirty="0"/>
              <a:t>只要文档都在同一个服务器上，就可以继续使用该 </a:t>
            </a:r>
            <a:r>
              <a:rPr lang="en-US" altLang="zh-CN" dirty="0"/>
              <a:t>TCP </a:t>
            </a:r>
            <a:r>
              <a:rPr lang="zh-CN" altLang="en-US" dirty="0"/>
              <a:t>连接</a:t>
            </a:r>
            <a:endParaRPr lang="en-US" altLang="zh-CN" dirty="0"/>
          </a:p>
          <a:p>
            <a:r>
              <a:rPr lang="zh-CN" altLang="en-US" dirty="0"/>
              <a:t>两种工作方式：</a:t>
            </a:r>
            <a:endParaRPr lang="en-US" altLang="zh-CN" dirty="0"/>
          </a:p>
          <a:p>
            <a:pPr lvl="1"/>
            <a:r>
              <a:rPr lang="zh-CN" altLang="en-US" dirty="0"/>
              <a:t>非流水线方式 </a:t>
            </a:r>
            <a:r>
              <a:rPr lang="en-US" altLang="zh-CN" dirty="0"/>
              <a:t>- without pipelining</a:t>
            </a:r>
          </a:p>
          <a:p>
            <a:pPr lvl="1"/>
            <a:r>
              <a:rPr lang="zh-CN" altLang="en-US" dirty="0"/>
              <a:t>流水线方式 </a:t>
            </a:r>
            <a:r>
              <a:rPr lang="en-US" altLang="zh-CN" dirty="0"/>
              <a:t>- with pipelining</a:t>
            </a:r>
            <a:endParaRPr lang="zh-CN" altLang="en-US" dirty="0"/>
          </a:p>
          <a:p>
            <a:endParaRPr lang="zh-CN" altLang="en-US" dirty="0"/>
          </a:p>
        </p:txBody>
      </p:sp>
    </p:spTree>
    <p:extLst>
      <p:ext uri="{BB962C8B-B14F-4D97-AF65-F5344CB8AC3E}">
        <p14:creationId xmlns:p14="http://schemas.microsoft.com/office/powerpoint/2010/main" val="29335223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54" name="组合 53"/>
          <p:cNvGrpSpPr/>
          <p:nvPr/>
        </p:nvGrpSpPr>
        <p:grpSpPr>
          <a:xfrm>
            <a:off x="3775648" y="1248914"/>
            <a:ext cx="2769774" cy="861437"/>
            <a:chOff x="3775648" y="1248914"/>
            <a:chExt cx="2769774" cy="861437"/>
          </a:xfrm>
        </p:grpSpPr>
        <p:grpSp>
          <p:nvGrpSpPr>
            <p:cNvPr id="49" name="组合 48"/>
            <p:cNvGrpSpPr/>
            <p:nvPr/>
          </p:nvGrpSpPr>
          <p:grpSpPr>
            <a:xfrm>
              <a:off x="5016247" y="1762124"/>
              <a:ext cx="1503604" cy="348227"/>
              <a:chOff x="5442383" y="1762124"/>
              <a:chExt cx="1503604" cy="348227"/>
            </a:xfrm>
          </p:grpSpPr>
          <p:sp>
            <p:nvSpPr>
              <p:cNvPr id="26" name="Rectangle 21"/>
              <p:cNvSpPr>
                <a:spLocks noChangeArrowheads="1"/>
              </p:cNvSpPr>
              <p:nvPr/>
            </p:nvSpPr>
            <p:spPr bwMode="auto">
              <a:xfrm rot="21230751">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grpSp>
        <p:nvGrpSpPr>
          <p:cNvPr id="44" name="组合 43"/>
          <p:cNvGrpSpPr/>
          <p:nvPr/>
        </p:nvGrpSpPr>
        <p:grpSpPr>
          <a:xfrm>
            <a:off x="5700971" y="36092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1631216"/>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2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page.html </a:t>
            </a:r>
            <a:r>
              <a:rPr lang="zh-CN" altLang="en-US" sz="1400" b="1" dirty="0">
                <a:latin typeface="微软雅黑 Light" panose="020B0502040204020203" pitchFamily="34" charset="-122"/>
                <a:ea typeface="微软雅黑 Light" panose="020B0502040204020203" pitchFamily="34" charset="-122"/>
              </a:rPr>
              <a:t>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+ 10 RTT</a:t>
            </a:r>
          </a:p>
          <a:p>
            <a:pPr>
              <a:lnSpc>
                <a:spcPts val="2000"/>
              </a:lnSpc>
            </a:pPr>
            <a:r>
              <a:rPr lang="en-US" altLang="zh-CN" sz="1400" b="1" dirty="0">
                <a:latin typeface="微软雅黑 Light" panose="020B0502040204020203" pitchFamily="34" charset="-122"/>
                <a:ea typeface="微软雅黑 Light" panose="020B0502040204020203" pitchFamily="34" charset="-122"/>
              </a:rPr>
              <a:t>+ 10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a:p>
            <a:pPr>
              <a:lnSpc>
                <a:spcPts val="2000"/>
              </a:lnSpc>
            </a:pP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空闲时间</a:t>
            </a:r>
            <a:endParaRPr lang="zh-CN" altLang="en-US" sz="1400" dirty="0">
              <a:latin typeface="Montserrat" panose="00000500000000000000" pitchFamily="2" charset="0"/>
              <a:ea typeface="微软雅黑 Light" panose="020B0502040204020203" pitchFamily="34" charset="-122"/>
            </a:endParaRPr>
          </a:p>
        </p:txBody>
      </p:sp>
      <p:grpSp>
        <p:nvGrpSpPr>
          <p:cNvPr id="63" name="组合 62"/>
          <p:cNvGrpSpPr/>
          <p:nvPr/>
        </p:nvGrpSpPr>
        <p:grpSpPr>
          <a:xfrm>
            <a:off x="4308273" y="2070235"/>
            <a:ext cx="2203727" cy="807585"/>
            <a:chOff x="4308273" y="2070235"/>
            <a:chExt cx="2203727" cy="807585"/>
          </a:xfrm>
        </p:grpSpPr>
        <p:grpSp>
          <p:nvGrpSpPr>
            <p:cNvPr id="50" name="组合 49"/>
            <p:cNvGrpSpPr/>
            <p:nvPr/>
          </p:nvGrpSpPr>
          <p:grpSpPr>
            <a:xfrm>
              <a:off x="4308273" y="2070235"/>
              <a:ext cx="2201256" cy="723594"/>
              <a:chOff x="4734409" y="1919309"/>
              <a:chExt cx="2201256" cy="723594"/>
            </a:xfrm>
          </p:grpSpPr>
          <p:grpSp>
            <p:nvGrpSpPr>
              <p:cNvPr id="31" name="Group 26"/>
              <p:cNvGrpSpPr>
                <a:grpSpLocks/>
              </p:cNvGrpSpPr>
              <p:nvPr/>
            </p:nvGrpSpPr>
            <p:grpSpPr bwMode="auto">
              <a:xfrm>
                <a:off x="5443288" y="2294674"/>
                <a:ext cx="1492377" cy="348229"/>
                <a:chOff x="1159" y="2266"/>
                <a:chExt cx="1160" cy="384"/>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32" name="Text Box 29"/>
              <p:cNvSpPr txBox="1">
                <a:spLocks noChangeArrowheads="1"/>
              </p:cNvSpPr>
              <p:nvPr/>
            </p:nvSpPr>
            <p:spPr bwMode="auto">
              <a:xfrm>
                <a:off x="4734409" y="191930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226133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58" name="直接连接符 57"/>
            <p:cNvCxnSpPr/>
            <p:nvPr/>
          </p:nvCxnSpPr>
          <p:spPr>
            <a:xfrm>
              <a:off x="4785064" y="2223945"/>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59" name="直接连接符 58"/>
            <p:cNvCxnSpPr/>
            <p:nvPr/>
          </p:nvCxnSpPr>
          <p:spPr>
            <a:xfrm>
              <a:off x="4785064" y="2877820"/>
              <a:ext cx="192646" cy="0"/>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cxnSp>
          <p:nvCxnSpPr>
            <p:cNvPr id="60" name="直接连接符 59"/>
            <p:cNvCxnSpPr/>
            <p:nvPr/>
          </p:nvCxnSpPr>
          <p:spPr>
            <a:xfrm flipV="1">
              <a:off x="4986740" y="2175669"/>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grpSp>
        <p:nvGrpSpPr>
          <p:cNvPr id="64" name="组合 63"/>
          <p:cNvGrpSpPr/>
          <p:nvPr/>
        </p:nvGrpSpPr>
        <p:grpSpPr>
          <a:xfrm>
            <a:off x="4308273" y="2735353"/>
            <a:ext cx="2210259" cy="742899"/>
            <a:chOff x="4308273" y="2735353"/>
            <a:chExt cx="2210259" cy="742899"/>
          </a:xfrm>
        </p:grpSpPr>
        <p:grpSp>
          <p:nvGrpSpPr>
            <p:cNvPr id="51" name="组合 50"/>
            <p:cNvGrpSpPr/>
            <p:nvPr/>
          </p:nvGrpSpPr>
          <p:grpSpPr>
            <a:xfrm>
              <a:off x="4308273" y="2735353"/>
              <a:ext cx="2210259" cy="742899"/>
              <a:chOff x="4734409" y="2531159"/>
              <a:chExt cx="2210259" cy="742899"/>
            </a:xfrm>
          </p:grpSpPr>
          <p:grpSp>
            <p:nvGrpSpPr>
              <p:cNvPr id="36" name="Group 31"/>
              <p:cNvGrpSpPr>
                <a:grpSpLocks/>
              </p:cNvGrpSpPr>
              <p:nvPr/>
            </p:nvGrpSpPr>
            <p:grpSpPr bwMode="auto">
              <a:xfrm>
                <a:off x="5440713" y="2925831"/>
                <a:ext cx="1503955" cy="348227"/>
                <a:chOff x="1145" y="3634"/>
                <a:chExt cx="1169" cy="384"/>
              </a:xfrm>
            </p:grpSpPr>
            <p:sp>
              <p:nvSpPr>
                <p:cNvPr id="38" name="Rectangle 32"/>
                <p:cNvSpPr>
                  <a:spLocks noChangeArrowheads="1"/>
                </p:cNvSpPr>
                <p:nvPr/>
              </p:nvSpPr>
              <p:spPr bwMode="auto">
                <a:xfrm rot="21347042">
                  <a:off x="1145" y="3634"/>
                  <a:ext cx="1169"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43" name="Text Box 29"/>
              <p:cNvSpPr txBox="1">
                <a:spLocks noChangeArrowheads="1"/>
              </p:cNvSpPr>
              <p:nvPr/>
            </p:nvSpPr>
            <p:spPr bwMode="auto">
              <a:xfrm>
                <a:off x="4734409" y="2531159"/>
                <a:ext cx="604670" cy="307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b="1" dirty="0">
                    <a:latin typeface="微软雅黑 Light" panose="020B0502040204020203" pitchFamily="34" charset="-122"/>
                    <a:ea typeface="微软雅黑 Light" panose="020B0502040204020203" pitchFamily="34" charset="-122"/>
                  </a:rPr>
                  <a:t>空闲</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56" name="Line 18"/>
            <p:cNvSpPr>
              <a:spLocks noChangeShapeType="1"/>
            </p:cNvSpPr>
            <p:nvPr/>
          </p:nvSpPr>
          <p:spPr bwMode="auto">
            <a:xfrm>
              <a:off x="4977710" y="2935942"/>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cxnSp>
          <p:nvCxnSpPr>
            <p:cNvPr id="62" name="直接连接符 61"/>
            <p:cNvCxnSpPr/>
            <p:nvPr/>
          </p:nvCxnSpPr>
          <p:spPr>
            <a:xfrm flipV="1">
              <a:off x="4986740" y="2815624"/>
              <a:ext cx="0" cy="120318"/>
            </a:xfrm>
            <a:prstGeom prst="line">
              <a:avLst/>
            </a:prstGeom>
            <a:ln w="28575">
              <a:solidFill>
                <a:srgbClr val="C00000"/>
              </a:solidFill>
            </a:ln>
          </p:spPr>
          <p:style>
            <a:lnRef idx="1">
              <a:schemeClr val="dk1"/>
            </a:lnRef>
            <a:fillRef idx="0">
              <a:schemeClr val="dk1"/>
            </a:fillRef>
            <a:effectRef idx="0">
              <a:schemeClr val="dk1"/>
            </a:effectRef>
            <a:fontRef idx="minor">
              <a:schemeClr val="tx1"/>
            </a:fontRef>
          </p:style>
        </p:cxnSp>
      </p:grpSp>
      <p:sp>
        <p:nvSpPr>
          <p:cNvPr id="9" name="标题 8">
            <a:extLst>
              <a:ext uri="{FF2B5EF4-FFF2-40B4-BE49-F238E27FC236}">
                <a16:creationId xmlns:a16="http://schemas.microsoft.com/office/drawing/2014/main" id="{BDDE7B4C-0ABA-2B24-BDAA-2B8FD65AA17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4351D699-3F13-DF1A-BAA0-FEC5376CBB4C}"/>
              </a:ext>
            </a:extLst>
          </p:cNvPr>
          <p:cNvSpPr>
            <a:spLocks noGrp="1"/>
          </p:cNvSpPr>
          <p:nvPr>
            <p:ph sz="quarter" idx="11"/>
          </p:nvPr>
        </p:nvSpPr>
        <p:spPr>
          <a:xfrm>
            <a:off x="486000" y="687518"/>
            <a:ext cx="8172000" cy="4079035"/>
          </a:xfrm>
        </p:spPr>
        <p:txBody>
          <a:bodyPr/>
          <a:lstStyle/>
          <a:p>
            <a:r>
              <a:rPr lang="zh-CN" altLang="en-US" dirty="0"/>
              <a:t>持续连接：非流水线方式 </a:t>
            </a:r>
          </a:p>
          <a:p>
            <a:pPr lvl="1"/>
            <a:r>
              <a:rPr lang="zh-CN" altLang="en-US" dirty="0"/>
              <a:t>客户在收到前一个响应之后才能发出下一个请求。</a:t>
            </a:r>
            <a:endParaRPr lang="en-US" altLang="zh-CN" dirty="0"/>
          </a:p>
          <a:p>
            <a:pPr lvl="1"/>
            <a:r>
              <a:rPr lang="zh-CN" altLang="en-US" dirty="0"/>
              <a:t>缺点：</a:t>
            </a:r>
            <a:r>
              <a:rPr lang="en-US" altLang="zh-CN" dirty="0"/>
              <a:t>TCP </a:t>
            </a:r>
            <a:r>
              <a:rPr lang="zh-CN" altLang="en-US" dirty="0"/>
              <a:t>连接空闲状态。</a:t>
            </a:r>
          </a:p>
          <a:p>
            <a:endParaRPr lang="zh-CN" altLang="en-US" dirty="0"/>
          </a:p>
        </p:txBody>
      </p:sp>
    </p:spTree>
    <p:extLst>
      <p:ext uri="{BB962C8B-B14F-4D97-AF65-F5344CB8AC3E}">
        <p14:creationId xmlns:p14="http://schemas.microsoft.com/office/powerpoint/2010/main" val="29236775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4"/>
                                        </p:tgtEl>
                                        <p:attrNameLst>
                                          <p:attrName>style.visibility</p:attrName>
                                        </p:attrNameLst>
                                      </p:cBhvr>
                                      <p:to>
                                        <p:strVal val="visible"/>
                                      </p:to>
                                    </p:set>
                                    <p:animEffect transition="in" filter="wipe(up)">
                                      <p:cBhvr>
                                        <p:cTn id="7" dur="1000"/>
                                        <p:tgtEl>
                                          <p:spTgt spid="5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63"/>
                                        </p:tgtEl>
                                        <p:attrNameLst>
                                          <p:attrName>style.visibility</p:attrName>
                                        </p:attrNameLst>
                                      </p:cBhvr>
                                      <p:to>
                                        <p:strVal val="visible"/>
                                      </p:to>
                                    </p:set>
                                    <p:animEffect transition="in" filter="wipe(up)">
                                      <p:cBhvr>
                                        <p:cTn id="12" dur="1000"/>
                                        <p:tgtEl>
                                          <p:spTgt spid="6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4"/>
                                        </p:tgtEl>
                                        <p:attrNameLst>
                                          <p:attrName>style.visibility</p:attrName>
                                        </p:attrNameLst>
                                      </p:cBhvr>
                                      <p:to>
                                        <p:strVal val="visible"/>
                                      </p:to>
                                    </p:set>
                                    <p:animEffect transition="in" filter="wipe(up)">
                                      <p:cBhvr>
                                        <p:cTn id="17" dur="1000"/>
                                        <p:tgtEl>
                                          <p:spTgt spid="64"/>
                                        </p:tgtEl>
                                      </p:cBhvr>
                                    </p:animEffect>
                                  </p:childTnLst>
                                </p:cTn>
                              </p:par>
                            </p:childTnLst>
                          </p:cTn>
                        </p:par>
                        <p:par>
                          <p:cTn id="18" fill="hold">
                            <p:stCondLst>
                              <p:cond delay="1000"/>
                            </p:stCondLst>
                            <p:childTnLst>
                              <p:par>
                                <p:cTn id="19" presetID="22" presetClass="entr" presetSubtype="1" fill="hold" nodeType="afterEffect">
                                  <p:stCondLst>
                                    <p:cond delay="0"/>
                                  </p:stCondLst>
                                  <p:childTnLst>
                                    <p:set>
                                      <p:cBhvr>
                                        <p:cTn id="20" dur="1" fill="hold">
                                          <p:stCondLst>
                                            <p:cond delay="0"/>
                                          </p:stCondLst>
                                        </p:cTn>
                                        <p:tgtEl>
                                          <p:spTgt spid="44"/>
                                        </p:tgtEl>
                                        <p:attrNameLst>
                                          <p:attrName>style.visibility</p:attrName>
                                        </p:attrNameLst>
                                      </p:cBhvr>
                                      <p:to>
                                        <p:strVal val="visible"/>
                                      </p:to>
                                    </p:set>
                                    <p:animEffect transition="in" filter="wipe(up)">
                                      <p:cBhvr>
                                        <p:cTn id="21" dur="1000"/>
                                        <p:tgtEl>
                                          <p:spTgt spid="4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52"/>
                                        </p:tgtEl>
                                        <p:attrNameLst>
                                          <p:attrName>style.visibility</p:attrName>
                                        </p:attrNameLst>
                                      </p:cBhvr>
                                      <p:to>
                                        <p:strVal val="visible"/>
                                      </p:to>
                                    </p:set>
                                    <p:animEffect transition="in" filter="wipe(up)">
                                      <p:cBhvr>
                                        <p:cTn id="26" dur="1000"/>
                                        <p:tgtEl>
                                          <p:spTgt spid="5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3"/>
                                        </p:tgtEl>
                                        <p:attrNameLst>
                                          <p:attrName>style.visibility</p:attrName>
                                        </p:attrNameLst>
                                      </p:cBhvr>
                                      <p:to>
                                        <p:strVal val="visible"/>
                                      </p:to>
                                    </p:set>
                                    <p:animEffect transition="in" filter="fade">
                                      <p:cBhvr>
                                        <p:cTn id="31"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Line 2"/>
          <p:cNvSpPr>
            <a:spLocks noChangeShapeType="1"/>
          </p:cNvSpPr>
          <p:nvPr/>
        </p:nvSpPr>
        <p:spPr bwMode="auto">
          <a:xfrm>
            <a:off x="4992706" y="1250946"/>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3"/>
          <p:cNvSpPr>
            <a:spLocks noChangeShapeType="1"/>
          </p:cNvSpPr>
          <p:nvPr/>
        </p:nvSpPr>
        <p:spPr bwMode="auto">
          <a:xfrm>
            <a:off x="6545422" y="1240063"/>
            <a:ext cx="0" cy="327551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0" name="Rectangle 6"/>
          <p:cNvSpPr>
            <a:spLocks noChangeArrowheads="1"/>
          </p:cNvSpPr>
          <p:nvPr/>
        </p:nvSpPr>
        <p:spPr bwMode="auto">
          <a:xfrm>
            <a:off x="5977236" y="953840"/>
            <a:ext cx="110607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万维网服务器</a:t>
            </a:r>
          </a:p>
        </p:txBody>
      </p:sp>
      <p:sp>
        <p:nvSpPr>
          <p:cNvPr id="41" name="Rectangle 7"/>
          <p:cNvSpPr>
            <a:spLocks noChangeArrowheads="1"/>
          </p:cNvSpPr>
          <p:nvPr/>
        </p:nvSpPr>
        <p:spPr bwMode="auto">
          <a:xfrm>
            <a:off x="4502586" y="953840"/>
            <a:ext cx="952185"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200" b="1" dirty="0">
                <a:latin typeface="微软雅黑 Light" panose="020B0502040204020203" pitchFamily="34" charset="-122"/>
                <a:ea typeface="微软雅黑 Light" panose="020B0502040204020203" pitchFamily="34" charset="-122"/>
              </a:rPr>
              <a:t>万维网客户</a:t>
            </a:r>
          </a:p>
        </p:txBody>
      </p:sp>
      <p:grpSp>
        <p:nvGrpSpPr>
          <p:cNvPr id="4" name="组合 3"/>
          <p:cNvGrpSpPr/>
          <p:nvPr/>
        </p:nvGrpSpPr>
        <p:grpSpPr>
          <a:xfrm>
            <a:off x="3775648" y="1248914"/>
            <a:ext cx="2769774" cy="414600"/>
            <a:chOff x="4201784" y="1248914"/>
            <a:chExt cx="2769774" cy="414600"/>
          </a:xfrm>
        </p:grpSpPr>
        <p:sp>
          <p:nvSpPr>
            <p:cNvPr id="23" name="Line 18"/>
            <p:cNvSpPr>
              <a:spLocks noChangeShapeType="1"/>
            </p:cNvSpPr>
            <p:nvPr/>
          </p:nvSpPr>
          <p:spPr bwMode="auto">
            <a:xfrm>
              <a:off x="5411697" y="1371510"/>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19"/>
            <p:cNvSpPr>
              <a:spLocks noChangeShapeType="1"/>
            </p:cNvSpPr>
            <p:nvPr/>
          </p:nvSpPr>
          <p:spPr bwMode="auto">
            <a:xfrm flipH="1">
              <a:off x="5427040" y="1491214"/>
              <a:ext cx="1488261"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Line 20"/>
            <p:cNvSpPr>
              <a:spLocks noChangeShapeType="1"/>
            </p:cNvSpPr>
            <p:nvPr/>
          </p:nvSpPr>
          <p:spPr bwMode="auto">
            <a:xfrm>
              <a:off x="5437268" y="1576457"/>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4"/>
            <p:cNvSpPr txBox="1">
              <a:spLocks noChangeArrowheads="1"/>
            </p:cNvSpPr>
            <p:nvPr/>
          </p:nvSpPr>
          <p:spPr bwMode="auto">
            <a:xfrm>
              <a:off x="4201784" y="124891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发起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grpSp>
        <p:nvGrpSpPr>
          <p:cNvPr id="52" name="组合 51"/>
          <p:cNvGrpSpPr/>
          <p:nvPr/>
        </p:nvGrpSpPr>
        <p:grpSpPr>
          <a:xfrm>
            <a:off x="3770718" y="4067972"/>
            <a:ext cx="2743829" cy="389521"/>
            <a:chOff x="4196854" y="4067972"/>
            <a:chExt cx="2743829" cy="389521"/>
          </a:xfrm>
        </p:grpSpPr>
        <p:grpSp>
          <p:nvGrpSpPr>
            <p:cNvPr id="3" name="组合 2"/>
            <p:cNvGrpSpPr/>
            <p:nvPr/>
          </p:nvGrpSpPr>
          <p:grpSpPr>
            <a:xfrm>
              <a:off x="5429646" y="4067972"/>
              <a:ext cx="1511037" cy="272914"/>
              <a:chOff x="5474036" y="4254409"/>
              <a:chExt cx="1511037" cy="272914"/>
            </a:xfrm>
          </p:grpSpPr>
          <p:sp>
            <p:nvSpPr>
              <p:cNvPr id="13" name="Line 8"/>
              <p:cNvSpPr>
                <a:spLocks noChangeShapeType="1"/>
              </p:cNvSpPr>
              <p:nvPr/>
            </p:nvSpPr>
            <p:spPr bwMode="auto">
              <a:xfrm flipH="1">
                <a:off x="5480596" y="4254409"/>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9"/>
              <p:cNvSpPr>
                <a:spLocks noChangeShapeType="1"/>
              </p:cNvSpPr>
              <p:nvPr/>
            </p:nvSpPr>
            <p:spPr bwMode="auto">
              <a:xfrm>
                <a:off x="5496035" y="4330583"/>
                <a:ext cx="1489038" cy="108822"/>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0"/>
              <p:cNvSpPr>
                <a:spLocks noChangeShapeType="1"/>
              </p:cNvSpPr>
              <p:nvPr/>
            </p:nvSpPr>
            <p:spPr bwMode="auto">
              <a:xfrm flipH="1">
                <a:off x="5474036" y="4483795"/>
                <a:ext cx="1497522" cy="43528"/>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48" name="Text Box 14"/>
            <p:cNvSpPr txBox="1">
              <a:spLocks noChangeArrowheads="1"/>
            </p:cNvSpPr>
            <p:nvPr/>
          </p:nvSpPr>
          <p:spPr bwMode="auto">
            <a:xfrm>
              <a:off x="4196854" y="4180494"/>
              <a:ext cx="1252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b="1" dirty="0">
                  <a:solidFill>
                    <a:srgbClr val="0000CC"/>
                  </a:solidFill>
                  <a:latin typeface="微软雅黑 Light" panose="020B0502040204020203" pitchFamily="34" charset="-122"/>
                  <a:ea typeface="微软雅黑 Light" panose="020B0502040204020203" pitchFamily="34" charset="-122"/>
                </a:rPr>
                <a:t>释放 </a:t>
              </a:r>
              <a:r>
                <a:rPr lang="en-US" altLang="zh-CN" sz="1200" b="1" dirty="0">
                  <a:solidFill>
                    <a:srgbClr val="0000CC"/>
                  </a:solidFill>
                  <a:latin typeface="微软雅黑 Light" panose="020B0502040204020203" pitchFamily="34" charset="-122"/>
                  <a:ea typeface="微软雅黑 Light" panose="020B0502040204020203" pitchFamily="34" charset="-122"/>
                </a:rPr>
                <a:t>TCP </a:t>
              </a:r>
              <a:r>
                <a:rPr lang="zh-CN" altLang="en-US" sz="1200" b="1" dirty="0">
                  <a:solidFill>
                    <a:srgbClr val="0000CC"/>
                  </a:solidFill>
                  <a:latin typeface="微软雅黑 Light" panose="020B0502040204020203" pitchFamily="34" charset="-122"/>
                  <a:ea typeface="微软雅黑 Light" panose="020B0502040204020203" pitchFamily="34" charset="-122"/>
                </a:rPr>
                <a:t>连接</a:t>
              </a:r>
            </a:p>
          </p:txBody>
        </p:sp>
      </p:grpSp>
      <p:sp>
        <p:nvSpPr>
          <p:cNvPr id="53" name="矩形 52"/>
          <p:cNvSpPr/>
          <p:nvPr/>
        </p:nvSpPr>
        <p:spPr>
          <a:xfrm>
            <a:off x="6661084" y="1881928"/>
            <a:ext cx="2105638" cy="861774"/>
          </a:xfrm>
          <a:prstGeom prst="rect">
            <a:avLst/>
          </a:prstGeom>
          <a:solidFill>
            <a:srgbClr val="FFFF99"/>
          </a:solidFill>
        </p:spPr>
        <p:txBody>
          <a:bodyPr wrap="square">
            <a:spAutoFit/>
          </a:bodyPr>
          <a:lstStyle/>
          <a:p>
            <a:pPr>
              <a:lnSpc>
                <a:spcPts val="2000"/>
              </a:lnSpc>
            </a:pPr>
            <a:r>
              <a:rPr lang="zh-CN" altLang="en-US" sz="1400" b="1" dirty="0">
                <a:latin typeface="微软雅黑 Light" panose="020B0502040204020203" pitchFamily="34" charset="-122"/>
                <a:ea typeface="微软雅黑 Light" panose="020B0502040204020203" pitchFamily="34" charset="-122"/>
              </a:rPr>
              <a:t>所需的时间 </a:t>
            </a:r>
            <a:r>
              <a:rPr lang="en-US" altLang="zh-CN" sz="1400" b="1" dirty="0">
                <a:latin typeface="微软雅黑 Light" panose="020B0502040204020203" pitchFamily="34" charset="-122"/>
                <a:ea typeface="微软雅黑 Light" panose="020B0502040204020203" pitchFamily="34" charset="-122"/>
              </a:rPr>
              <a:t>&gt;= </a:t>
            </a:r>
          </a:p>
          <a:p>
            <a:pPr>
              <a:lnSpc>
                <a:spcPts val="2000"/>
              </a:lnSpc>
            </a:pPr>
            <a:r>
              <a:rPr lang="en-US" altLang="zh-CN" sz="1400" b="1" dirty="0">
                <a:latin typeface="微软雅黑 Light" panose="020B0502040204020203" pitchFamily="34" charset="-122"/>
                <a:ea typeface="微软雅黑 Light" panose="020B0502040204020203" pitchFamily="34" charset="-122"/>
              </a:rPr>
              <a:t>   1 RTT </a:t>
            </a:r>
          </a:p>
          <a:p>
            <a:pPr>
              <a:lnSpc>
                <a:spcPts val="2000"/>
              </a:lnSpc>
            </a:pPr>
            <a:r>
              <a:rPr lang="en-US" altLang="zh-CN" sz="1400" b="1" dirty="0">
                <a:latin typeface="微软雅黑 Light" panose="020B0502040204020203" pitchFamily="34" charset="-122"/>
                <a:ea typeface="微软雅黑 Light" panose="020B0502040204020203" pitchFamily="34" charset="-122"/>
              </a:rPr>
              <a:t>+ 11 </a:t>
            </a:r>
            <a:r>
              <a:rPr lang="zh-CN" altLang="en-US" sz="1400" b="1" dirty="0">
                <a:latin typeface="微软雅黑 Light" panose="020B0502040204020203" pitchFamily="34" charset="-122"/>
                <a:ea typeface="微软雅黑 Light" panose="020B0502040204020203" pitchFamily="34" charset="-122"/>
              </a:rPr>
              <a:t>个文档的传输时间</a:t>
            </a:r>
            <a:endParaRPr lang="en-US" altLang="zh-CN" sz="1400" b="1" dirty="0">
              <a:latin typeface="微软雅黑 Light" panose="020B0502040204020203" pitchFamily="34" charset="-122"/>
              <a:ea typeface="微软雅黑 Light" panose="020B0502040204020203" pitchFamily="34" charset="-122"/>
            </a:endParaRPr>
          </a:p>
        </p:txBody>
      </p:sp>
      <p:grpSp>
        <p:nvGrpSpPr>
          <p:cNvPr id="8" name="组合 7"/>
          <p:cNvGrpSpPr/>
          <p:nvPr/>
        </p:nvGrpSpPr>
        <p:grpSpPr>
          <a:xfrm>
            <a:off x="4381085" y="1589855"/>
            <a:ext cx="2130915" cy="913826"/>
            <a:chOff x="4381085" y="1589855"/>
            <a:chExt cx="2130915" cy="913826"/>
          </a:xfrm>
        </p:grpSpPr>
        <p:grpSp>
          <p:nvGrpSpPr>
            <p:cNvPr id="44" name="组合 43"/>
            <p:cNvGrpSpPr/>
            <p:nvPr/>
          </p:nvGrpSpPr>
          <p:grpSpPr>
            <a:xfrm>
              <a:off x="5700971" y="1922931"/>
              <a:ext cx="68093" cy="273778"/>
              <a:chOff x="5253660" y="4257392"/>
              <a:chExt cx="68093" cy="273778"/>
            </a:xfrm>
          </p:grpSpPr>
          <p:sp>
            <p:nvSpPr>
              <p:cNvPr id="45" name="Oval 30"/>
              <p:cNvSpPr>
                <a:spLocks noChangeArrowheads="1"/>
              </p:cNvSpPr>
              <p:nvPr/>
            </p:nvSpPr>
            <p:spPr bwMode="auto">
              <a:xfrm>
                <a:off x="5262172" y="4257392"/>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Oval 31"/>
              <p:cNvSpPr>
                <a:spLocks noChangeArrowheads="1"/>
              </p:cNvSpPr>
              <p:nvPr/>
            </p:nvSpPr>
            <p:spPr bwMode="auto">
              <a:xfrm>
                <a:off x="5257916" y="4364484"/>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Oval 32"/>
              <p:cNvSpPr>
                <a:spLocks noChangeArrowheads="1"/>
              </p:cNvSpPr>
              <p:nvPr/>
            </p:nvSpPr>
            <p:spPr bwMode="auto">
              <a:xfrm>
                <a:off x="5253660" y="4470493"/>
                <a:ext cx="59581" cy="60677"/>
              </a:xfrm>
              <a:prstGeom prst="ellipse">
                <a:avLst/>
              </a:prstGeom>
              <a:solidFill>
                <a:schemeClr val="tx1"/>
              </a:solidFill>
              <a:ln w="12700">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55" name="Line 18"/>
            <p:cNvSpPr>
              <a:spLocks noChangeShapeType="1"/>
            </p:cNvSpPr>
            <p:nvPr/>
          </p:nvSpPr>
          <p:spPr bwMode="auto">
            <a:xfrm>
              <a:off x="4977710" y="1694559"/>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Line 18"/>
            <p:cNvSpPr>
              <a:spLocks noChangeShapeType="1"/>
            </p:cNvSpPr>
            <p:nvPr/>
          </p:nvSpPr>
          <p:spPr bwMode="auto">
            <a:xfrm>
              <a:off x="4977710" y="1809694"/>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AutoShape 15"/>
            <p:cNvSpPr>
              <a:spLocks/>
            </p:cNvSpPr>
            <p:nvPr/>
          </p:nvSpPr>
          <p:spPr bwMode="auto">
            <a:xfrm>
              <a:off x="4827118" y="1589855"/>
              <a:ext cx="101751" cy="893911"/>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1" name="Text Box 16"/>
            <p:cNvSpPr txBox="1">
              <a:spLocks noChangeArrowheads="1"/>
            </p:cNvSpPr>
            <p:nvPr/>
          </p:nvSpPr>
          <p:spPr bwMode="auto">
            <a:xfrm>
              <a:off x="4381085" y="1878640"/>
              <a:ext cx="4523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200" b="1" dirty="0">
                  <a:latin typeface="微软雅黑 Light" panose="020B0502040204020203" pitchFamily="34" charset="-122"/>
                  <a:ea typeface="微软雅黑 Light" panose="020B0502040204020203" pitchFamily="34" charset="-122"/>
                </a:rPr>
                <a:t>RTT</a:t>
              </a:r>
            </a:p>
          </p:txBody>
        </p:sp>
        <p:sp>
          <p:nvSpPr>
            <p:cNvPr id="65" name="Line 23"/>
            <p:cNvSpPr>
              <a:spLocks noChangeShapeType="1"/>
            </p:cNvSpPr>
            <p:nvPr/>
          </p:nvSpPr>
          <p:spPr bwMode="auto">
            <a:xfrm flipH="1">
              <a:off x="4763281" y="2502598"/>
              <a:ext cx="229811" cy="108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6" name="Line 18"/>
            <p:cNvSpPr>
              <a:spLocks noChangeShapeType="1"/>
            </p:cNvSpPr>
            <p:nvPr/>
          </p:nvSpPr>
          <p:spPr bwMode="auto">
            <a:xfrm>
              <a:off x="4977710" y="2252651"/>
              <a:ext cx="1534290" cy="87057"/>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组合 8"/>
          <p:cNvGrpSpPr/>
          <p:nvPr/>
        </p:nvGrpSpPr>
        <p:grpSpPr>
          <a:xfrm>
            <a:off x="3852846" y="2462389"/>
            <a:ext cx="2666067" cy="1002575"/>
            <a:chOff x="3852846" y="2462389"/>
            <a:chExt cx="2666067" cy="1002575"/>
          </a:xfrm>
        </p:grpSpPr>
        <p:grpSp>
          <p:nvGrpSpPr>
            <p:cNvPr id="49" name="组合 48"/>
            <p:cNvGrpSpPr/>
            <p:nvPr/>
          </p:nvGrpSpPr>
          <p:grpSpPr>
            <a:xfrm>
              <a:off x="5007753" y="2462389"/>
              <a:ext cx="1503604" cy="329153"/>
              <a:chOff x="5442383" y="1762124"/>
              <a:chExt cx="1503604" cy="363055"/>
            </a:xfrm>
          </p:grpSpPr>
          <p:sp>
            <p:nvSpPr>
              <p:cNvPr id="26" name="Rectangle 21"/>
              <p:cNvSpPr>
                <a:spLocks noChangeArrowheads="1"/>
              </p:cNvSpPr>
              <p:nvPr/>
            </p:nvSpPr>
            <p:spPr bwMode="auto">
              <a:xfrm rot="21373145">
                <a:off x="5442383" y="1762124"/>
                <a:ext cx="1503604" cy="348227"/>
              </a:xfrm>
              <a:prstGeom prst="rect">
                <a:avLst/>
              </a:prstGeom>
              <a:solidFill>
                <a:srgbClr val="009900"/>
              </a:solidFill>
              <a:ln w="9525">
                <a:noFill/>
                <a:miter lim="800000"/>
                <a:headEnd/>
                <a:tailEnd/>
              </a:ln>
              <a:effec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28" name="Text Box 23"/>
              <p:cNvSpPr txBox="1">
                <a:spLocks noChangeArrowheads="1"/>
              </p:cNvSpPr>
              <p:nvPr/>
            </p:nvSpPr>
            <p:spPr bwMode="auto">
              <a:xfrm>
                <a:off x="5552340" y="1785702"/>
                <a:ext cx="1271140" cy="3394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solidFill>
                      <a:schemeClr val="bg1"/>
                    </a:solidFill>
                    <a:latin typeface="微软雅黑 Light" panose="020B0502040204020203" pitchFamily="34" charset="-122"/>
                    <a:ea typeface="微软雅黑 Light" panose="020B0502040204020203" pitchFamily="34" charset="-122"/>
                  </a:rPr>
                  <a:t>page.html</a:t>
                </a:r>
                <a:endParaRPr lang="en-CA" altLang="zh-CN" sz="14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31" name="Group 26"/>
            <p:cNvGrpSpPr>
              <a:grpSpLocks/>
            </p:cNvGrpSpPr>
            <p:nvPr/>
          </p:nvGrpSpPr>
          <p:grpSpPr bwMode="auto">
            <a:xfrm>
              <a:off x="5017533" y="2782837"/>
              <a:ext cx="1492377" cy="316534"/>
              <a:chOff x="1159" y="2266"/>
              <a:chExt cx="1160" cy="385"/>
            </a:xfrm>
          </p:grpSpPr>
          <p:sp>
            <p:nvSpPr>
              <p:cNvPr id="33" name="Rectangle 27"/>
              <p:cNvSpPr>
                <a:spLocks noChangeArrowheads="1"/>
              </p:cNvSpPr>
              <p:nvPr/>
            </p:nvSpPr>
            <p:spPr bwMode="auto">
              <a:xfrm rot="21395996">
                <a:off x="1159" y="2266"/>
                <a:ext cx="1160" cy="384"/>
              </a:xfrm>
              <a:prstGeom prst="rect">
                <a:avLst/>
              </a:prstGeom>
              <a:solidFill>
                <a:srgbClr val="0099FF"/>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4" name="Text Box 28"/>
              <p:cNvSpPr txBox="1">
                <a:spLocks noChangeArrowheads="1"/>
              </p:cNvSpPr>
              <p:nvPr/>
            </p:nvSpPr>
            <p:spPr bwMode="auto">
              <a:xfrm>
                <a:off x="1255" y="2277"/>
                <a:ext cx="970" cy="37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page1.jpg</a:t>
                </a:r>
                <a:endParaRPr lang="en-CA" altLang="zh-CN" sz="1400" b="1" dirty="0">
                  <a:latin typeface="微软雅黑 Light" panose="020B0502040204020203" pitchFamily="34" charset="-122"/>
                  <a:ea typeface="微软雅黑 Light" panose="020B0502040204020203" pitchFamily="34" charset="-122"/>
                </a:endParaRPr>
              </a:p>
            </p:txBody>
          </p:sp>
        </p:grpSp>
        <p:grpSp>
          <p:nvGrpSpPr>
            <p:cNvPr id="36" name="Group 31"/>
            <p:cNvGrpSpPr>
              <a:grpSpLocks/>
            </p:cNvGrpSpPr>
            <p:nvPr/>
          </p:nvGrpSpPr>
          <p:grpSpPr bwMode="auto">
            <a:xfrm>
              <a:off x="5014958" y="3094398"/>
              <a:ext cx="1503955" cy="315710"/>
              <a:chOff x="1145" y="3634"/>
              <a:chExt cx="1169" cy="384"/>
            </a:xfrm>
            <a:solidFill>
              <a:schemeClr val="accent6">
                <a:lumMod val="60000"/>
                <a:lumOff val="40000"/>
              </a:schemeClr>
            </a:solidFill>
          </p:grpSpPr>
          <p:sp>
            <p:nvSpPr>
              <p:cNvPr id="38" name="Rectangle 32"/>
              <p:cNvSpPr>
                <a:spLocks noChangeArrowheads="1"/>
              </p:cNvSpPr>
              <p:nvPr/>
            </p:nvSpPr>
            <p:spPr bwMode="auto">
              <a:xfrm rot="21347042">
                <a:off x="1145" y="3634"/>
                <a:ext cx="1169" cy="384"/>
              </a:xfrm>
              <a:prstGeom prst="rect">
                <a:avLst/>
              </a:prstGeom>
              <a:grp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en-CA" altLang="zh-CN" sz="1400" b="1" dirty="0">
                  <a:latin typeface="微软雅黑 Light" panose="020B0502040204020203" pitchFamily="34" charset="-122"/>
                  <a:ea typeface="微软雅黑 Light" panose="020B0502040204020203" pitchFamily="34" charset="-122"/>
                </a:endParaRPr>
              </a:p>
            </p:txBody>
          </p:sp>
          <p:sp>
            <p:nvSpPr>
              <p:cNvPr id="39" name="Text Box 33"/>
              <p:cNvSpPr txBox="1">
                <a:spLocks noChangeArrowheads="1"/>
              </p:cNvSpPr>
              <p:nvPr/>
            </p:nvSpPr>
            <p:spPr bwMode="auto">
              <a:xfrm>
                <a:off x="1251" y="3637"/>
                <a:ext cx="994" cy="374"/>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b="1" dirty="0">
                    <a:latin typeface="微软雅黑 Light" panose="020B0502040204020203" pitchFamily="34" charset="-122"/>
                    <a:ea typeface="微软雅黑 Light" panose="020B0502040204020203" pitchFamily="34" charset="-122"/>
                  </a:rPr>
                  <a:t>page2.jpg</a:t>
                </a:r>
                <a:endParaRPr lang="en-CA" altLang="zh-CN" sz="1400" b="1" dirty="0">
                  <a:latin typeface="微软雅黑 Light" panose="020B0502040204020203" pitchFamily="34" charset="-122"/>
                  <a:ea typeface="微软雅黑 Light" panose="020B0502040204020203" pitchFamily="34" charset="-122"/>
                </a:endParaRPr>
              </a:p>
            </p:txBody>
          </p:sp>
        </p:grpSp>
        <p:sp>
          <p:nvSpPr>
            <p:cNvPr id="67" name="AutoShape 15"/>
            <p:cNvSpPr>
              <a:spLocks/>
            </p:cNvSpPr>
            <p:nvPr/>
          </p:nvSpPr>
          <p:spPr bwMode="auto">
            <a:xfrm>
              <a:off x="4827118" y="2530936"/>
              <a:ext cx="105522" cy="934028"/>
            </a:xfrm>
            <a:prstGeom prst="leftBrace">
              <a:avLst>
                <a:gd name="adj1" fmla="val 52058"/>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69" name="Text Box 12"/>
            <p:cNvSpPr txBox="1">
              <a:spLocks noChangeArrowheads="1"/>
            </p:cNvSpPr>
            <p:nvPr/>
          </p:nvSpPr>
          <p:spPr bwMode="auto">
            <a:xfrm>
              <a:off x="3852846" y="2757571"/>
              <a:ext cx="103150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r"/>
              <a:r>
                <a:rPr lang="zh-CN" altLang="en-US" sz="1200" b="1" dirty="0">
                  <a:solidFill>
                    <a:srgbClr val="0000CC"/>
                  </a:solidFill>
                  <a:latin typeface="微软雅黑 Light" panose="020B0502040204020203" pitchFamily="34" charset="-122"/>
                  <a:ea typeface="微软雅黑 Light" panose="020B0502040204020203" pitchFamily="34" charset="-122"/>
                </a:rPr>
                <a:t>传输文档的时间</a:t>
              </a:r>
            </a:p>
          </p:txBody>
        </p:sp>
      </p:grpSp>
      <p:sp>
        <p:nvSpPr>
          <p:cNvPr id="2" name="标题 1">
            <a:extLst>
              <a:ext uri="{FF2B5EF4-FFF2-40B4-BE49-F238E27FC236}">
                <a16:creationId xmlns:a16="http://schemas.microsoft.com/office/drawing/2014/main" id="{D5725204-0FC3-A3CF-026F-C3C69608F15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HTTP/1.1</a:t>
            </a:r>
            <a:endParaRPr lang="zh-CN" altLang="en-US" dirty="0"/>
          </a:p>
        </p:txBody>
      </p:sp>
      <p:sp>
        <p:nvSpPr>
          <p:cNvPr id="7" name="内容占位符 6">
            <a:extLst>
              <a:ext uri="{FF2B5EF4-FFF2-40B4-BE49-F238E27FC236}">
                <a16:creationId xmlns:a16="http://schemas.microsoft.com/office/drawing/2014/main" id="{CDFE326E-EBC0-7F18-6753-5E527297918C}"/>
              </a:ext>
            </a:extLst>
          </p:cNvPr>
          <p:cNvSpPr>
            <a:spLocks noGrp="1"/>
          </p:cNvSpPr>
          <p:nvPr>
            <p:ph sz="quarter" idx="11"/>
          </p:nvPr>
        </p:nvSpPr>
        <p:spPr>
          <a:xfrm>
            <a:off x="486000" y="687518"/>
            <a:ext cx="8172000" cy="4079035"/>
          </a:xfrm>
        </p:spPr>
        <p:txBody>
          <a:bodyPr/>
          <a:lstStyle/>
          <a:p>
            <a:r>
              <a:rPr lang="zh-CN" altLang="en-US" dirty="0"/>
              <a:t>持续连接：流水线方式 </a:t>
            </a:r>
          </a:p>
          <a:p>
            <a:pPr lvl="1"/>
            <a:r>
              <a:rPr lang="zh-CN" altLang="en-US" dirty="0"/>
              <a:t>客户在收到响应报文之前就能够接着发送新的请求报文。</a:t>
            </a:r>
            <a:endParaRPr lang="en-US" altLang="zh-CN" dirty="0"/>
          </a:p>
          <a:p>
            <a:pPr lvl="1"/>
            <a:r>
              <a:rPr lang="zh-CN" altLang="en-US" dirty="0"/>
              <a:t>连续的多个请求报文到达服务器后，服务器就可连续发回响应报文。</a:t>
            </a:r>
            <a:endParaRPr lang="en-US" altLang="zh-CN" dirty="0"/>
          </a:p>
          <a:p>
            <a:pPr lvl="1"/>
            <a:r>
              <a:rPr lang="zh-CN" altLang="en-US" dirty="0"/>
              <a:t>下载效率提高。</a:t>
            </a:r>
          </a:p>
          <a:p>
            <a:endParaRPr lang="zh-CN" altLang="en-US" dirty="0"/>
          </a:p>
        </p:txBody>
      </p:sp>
    </p:spTree>
    <p:extLst>
      <p:ext uri="{BB962C8B-B14F-4D97-AF65-F5344CB8AC3E}">
        <p14:creationId xmlns:p14="http://schemas.microsoft.com/office/powerpoint/2010/main" val="2345929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up)">
                                      <p:cBhvr>
                                        <p:cTn id="7" dur="1000"/>
                                        <p:tgtEl>
                                          <p:spTgt spid="4"/>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wipe(up)">
                                      <p:cBhvr>
                                        <p:cTn id="11" dur="1000"/>
                                        <p:tgtEl>
                                          <p:spTgt spid="8"/>
                                        </p:tgtEl>
                                      </p:cBhvr>
                                    </p:animEffect>
                                  </p:childTnLst>
                                </p:cTn>
                              </p:par>
                            </p:childTnLst>
                          </p:cTn>
                        </p:par>
                        <p:par>
                          <p:cTn id="12" fill="hold">
                            <p:stCondLst>
                              <p:cond delay="2000"/>
                            </p:stCondLst>
                            <p:childTnLst>
                              <p:par>
                                <p:cTn id="13" presetID="22" presetClass="entr" presetSubtype="1"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wipe(up)">
                                      <p:cBhvr>
                                        <p:cTn id="15" dur="1000"/>
                                        <p:tgtEl>
                                          <p:spTgt spid="9"/>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1" fill="hold" nodeType="clickEffect">
                                  <p:stCondLst>
                                    <p:cond delay="0"/>
                                  </p:stCondLst>
                                  <p:childTnLst>
                                    <p:set>
                                      <p:cBhvr>
                                        <p:cTn id="19" dur="1" fill="hold">
                                          <p:stCondLst>
                                            <p:cond delay="0"/>
                                          </p:stCondLst>
                                        </p:cTn>
                                        <p:tgtEl>
                                          <p:spTgt spid="52"/>
                                        </p:tgtEl>
                                        <p:attrNameLst>
                                          <p:attrName>style.visibility</p:attrName>
                                        </p:attrNameLst>
                                      </p:cBhvr>
                                      <p:to>
                                        <p:strVal val="visible"/>
                                      </p:to>
                                    </p:set>
                                    <p:animEffect transition="in" filter="wipe(up)">
                                      <p:cBhvr>
                                        <p:cTn id="20" dur="1000"/>
                                        <p:tgtEl>
                                          <p:spTgt spid="52"/>
                                        </p:tgtEl>
                                      </p:cBhvr>
                                    </p:animEffec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53"/>
                                        </p:tgtEl>
                                        <p:attrNameLst>
                                          <p:attrName>style.visibility</p:attrName>
                                        </p:attrNameLst>
                                      </p:cBhvr>
                                      <p:to>
                                        <p:strVal val="visible"/>
                                      </p:to>
                                    </p:set>
                                    <p:animEffect transition="in" filter="fade">
                                      <p:cBhvr>
                                        <p:cTn id="25" dur="1000"/>
                                        <p:tgtEl>
                                          <p:spTgt spid="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1FB7A9-33B1-6FE7-DF4B-FF39A666BC4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HTTP/2</a:t>
            </a:r>
            <a:endParaRPr lang="zh-CN" altLang="en-US" dirty="0"/>
          </a:p>
        </p:txBody>
      </p:sp>
      <p:sp>
        <p:nvSpPr>
          <p:cNvPr id="3" name="内容占位符 2">
            <a:extLst>
              <a:ext uri="{FF2B5EF4-FFF2-40B4-BE49-F238E27FC236}">
                <a16:creationId xmlns:a16="http://schemas.microsoft.com/office/drawing/2014/main" id="{1A54214E-650D-A5C8-25AC-5B73FBB26529}"/>
              </a:ext>
            </a:extLst>
          </p:cNvPr>
          <p:cNvSpPr>
            <a:spLocks noGrp="1"/>
          </p:cNvSpPr>
          <p:nvPr>
            <p:ph sz="quarter" idx="11"/>
          </p:nvPr>
        </p:nvSpPr>
        <p:spPr>
          <a:xfrm>
            <a:off x="486000" y="687518"/>
            <a:ext cx="8172000" cy="4079035"/>
          </a:xfrm>
        </p:spPr>
        <p:txBody>
          <a:bodyPr/>
          <a:lstStyle/>
          <a:p>
            <a:r>
              <a:rPr lang="zh-CN" altLang="en-US" dirty="0"/>
              <a:t>是协议 </a:t>
            </a:r>
            <a:r>
              <a:rPr lang="en-US" altLang="zh-CN" dirty="0"/>
              <a:t>HTTP/1.1 </a:t>
            </a:r>
            <a:r>
              <a:rPr lang="zh-CN" altLang="en-US" dirty="0"/>
              <a:t>的升级版本</a:t>
            </a:r>
            <a:endParaRPr lang="en-US" altLang="zh-CN" dirty="0"/>
          </a:p>
          <a:p>
            <a:r>
              <a:rPr lang="zh-CN" altLang="en-US" dirty="0"/>
              <a:t>服务器可以并行发回响应（使用同一个 </a:t>
            </a:r>
            <a:r>
              <a:rPr lang="en-US" altLang="zh-CN" dirty="0"/>
              <a:t>TCP </a:t>
            </a:r>
            <a:r>
              <a:rPr lang="zh-CN" altLang="en-US" dirty="0"/>
              <a:t>连接）</a:t>
            </a:r>
            <a:endParaRPr lang="en-US" altLang="zh-CN" dirty="0"/>
          </a:p>
          <a:p>
            <a:r>
              <a:rPr lang="zh-CN" altLang="en-US" dirty="0"/>
              <a:t>允许客户复用 </a:t>
            </a:r>
            <a:r>
              <a:rPr lang="en-US" altLang="zh-CN" dirty="0"/>
              <a:t>TCP </a:t>
            </a:r>
            <a:r>
              <a:rPr lang="zh-CN" altLang="en-US" dirty="0"/>
              <a:t>连接进行多个请求</a:t>
            </a:r>
            <a:endParaRPr lang="en-US" altLang="zh-CN" dirty="0"/>
          </a:p>
          <a:p>
            <a:r>
              <a:rPr lang="zh-CN" altLang="en-US" dirty="0"/>
              <a:t>把所有的报文都划分为许多较小的二进制编码的帧，并采用了新的压缩算法，不发送重复的首部字段，大大减小了首部的开销，提高了传输效率</a:t>
            </a:r>
            <a:endParaRPr lang="en-US" altLang="zh-CN" dirty="0"/>
          </a:p>
          <a:p>
            <a:r>
              <a:rPr lang="zh-CN" altLang="en-US" dirty="0"/>
              <a:t>向后兼容</a:t>
            </a:r>
            <a:endParaRPr lang="en-US" altLang="zh-CN" dirty="0"/>
          </a:p>
          <a:p>
            <a:endParaRPr lang="zh-CN" altLang="en-US" dirty="0"/>
          </a:p>
        </p:txBody>
      </p:sp>
    </p:spTree>
    <p:extLst>
      <p:ext uri="{BB962C8B-B14F-4D97-AF65-F5344CB8AC3E}">
        <p14:creationId xmlns:p14="http://schemas.microsoft.com/office/powerpoint/2010/main" val="27545526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8F51DE-3374-CA78-A521-FFEFEB71A4E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2EFEE8C-48F1-D87A-3F50-20A3393ED2EE}"/>
              </a:ext>
            </a:extLst>
          </p:cNvPr>
          <p:cNvSpPr>
            <a:spLocks noGrp="1"/>
          </p:cNvSpPr>
          <p:nvPr>
            <p:ph sz="quarter" idx="11"/>
          </p:nvPr>
        </p:nvSpPr>
        <p:spPr>
          <a:xfrm>
            <a:off x="486000" y="687518"/>
            <a:ext cx="8172000" cy="4079035"/>
          </a:xfrm>
        </p:spPr>
        <p:txBody>
          <a:bodyPr/>
          <a:lstStyle/>
          <a:p>
            <a:r>
              <a:rPr lang="zh-CN" altLang="en-US" dirty="0"/>
              <a:t>代理服务器  </a:t>
            </a:r>
            <a:r>
              <a:rPr lang="en-US" altLang="zh-CN" dirty="0"/>
              <a:t>- proxy server</a:t>
            </a:r>
          </a:p>
          <a:p>
            <a:pPr lvl="1"/>
            <a:r>
              <a:rPr lang="zh-CN" altLang="en-US" dirty="0"/>
              <a:t>又称为万维网高速缓存 </a:t>
            </a:r>
            <a:r>
              <a:rPr lang="en-US" altLang="zh-CN" dirty="0"/>
              <a:t>Web cache</a:t>
            </a:r>
          </a:p>
          <a:p>
            <a:pPr lvl="1"/>
            <a:r>
              <a:rPr lang="zh-CN" altLang="en-US" dirty="0"/>
              <a:t>把最近的请求和响应暂存在本地磁盘中</a:t>
            </a:r>
            <a:endParaRPr lang="en-US" altLang="zh-CN" dirty="0"/>
          </a:p>
          <a:p>
            <a:pPr lvl="1"/>
            <a:r>
              <a:rPr lang="zh-CN" altLang="en-US" dirty="0"/>
              <a:t>代表浏览器发出 </a:t>
            </a:r>
            <a:r>
              <a:rPr lang="en-US" altLang="zh-CN" dirty="0"/>
              <a:t>HTTP </a:t>
            </a:r>
            <a:r>
              <a:rPr lang="zh-CN" altLang="en-US" dirty="0"/>
              <a:t>请求</a:t>
            </a:r>
            <a:endParaRPr lang="en-US" altLang="zh-CN" dirty="0"/>
          </a:p>
          <a:p>
            <a:pPr lvl="1"/>
            <a:r>
              <a:rPr lang="zh-CN" altLang="en-US" dirty="0"/>
              <a:t>使用高速缓存可减少访问互联网服务器的时延</a:t>
            </a:r>
            <a:endParaRPr lang="en-US" altLang="zh-CN" dirty="0"/>
          </a:p>
          <a:p>
            <a:pPr lvl="1"/>
            <a:r>
              <a:rPr lang="zh-CN" altLang="en-US" dirty="0"/>
              <a:t>可工作在客户端或服务器端</a:t>
            </a:r>
          </a:p>
          <a:p>
            <a:r>
              <a:rPr lang="zh-CN" altLang="en-US" dirty="0"/>
              <a:t>新发展</a:t>
            </a:r>
            <a:endParaRPr lang="en-US" altLang="zh-CN" dirty="0"/>
          </a:p>
          <a:p>
            <a:pPr lvl="1"/>
            <a:r>
              <a:rPr lang="en-US" altLang="zh-CN" dirty="0"/>
              <a:t>CDN</a:t>
            </a:r>
            <a:r>
              <a:rPr lang="zh-CN" altLang="en-US" dirty="0"/>
              <a:t>（内容分发网络）</a:t>
            </a:r>
            <a:r>
              <a:rPr lang="en-US" altLang="zh-CN" dirty="0"/>
              <a:t>—— </a:t>
            </a:r>
            <a:r>
              <a:rPr lang="zh-CN" altLang="en-US" dirty="0"/>
              <a:t>全球级 </a:t>
            </a:r>
            <a:r>
              <a:rPr lang="en-US" altLang="zh-CN" dirty="0"/>
              <a:t>Web </a:t>
            </a:r>
            <a:r>
              <a:rPr lang="zh-CN" altLang="en-US" dirty="0"/>
              <a:t>缓存</a:t>
            </a:r>
            <a:endParaRPr lang="en-US" altLang="zh-CN" dirty="0"/>
          </a:p>
          <a:p>
            <a:pPr lvl="1"/>
            <a:r>
              <a:rPr lang="zh-CN" altLang="en-US" dirty="0"/>
              <a:t>反向代理（</a:t>
            </a:r>
            <a:r>
              <a:rPr lang="en-US" altLang="zh-CN" dirty="0"/>
              <a:t>Reverse Proxy</a:t>
            </a:r>
            <a:r>
              <a:rPr lang="zh-CN" altLang="en-US" dirty="0"/>
              <a:t>）</a:t>
            </a:r>
            <a:r>
              <a:rPr lang="en-US" altLang="zh-CN" dirty="0"/>
              <a:t>—— </a:t>
            </a:r>
            <a:r>
              <a:rPr lang="zh-CN" altLang="en-US" dirty="0"/>
              <a:t>服务端的代理缓存</a:t>
            </a:r>
          </a:p>
          <a:p>
            <a:pPr lvl="1"/>
            <a:r>
              <a:rPr lang="zh-CN" altLang="en-US" dirty="0"/>
              <a:t>浏览器缓存（</a:t>
            </a:r>
            <a:r>
              <a:rPr lang="en-US" altLang="zh-CN" dirty="0"/>
              <a:t>Browser Cache</a:t>
            </a:r>
            <a:r>
              <a:rPr lang="zh-CN" altLang="en-US" dirty="0"/>
              <a:t>）</a:t>
            </a:r>
            <a:r>
              <a:rPr lang="en-US" altLang="zh-CN" dirty="0"/>
              <a:t>—— </a:t>
            </a:r>
            <a:r>
              <a:rPr lang="zh-CN" altLang="en-US" dirty="0"/>
              <a:t>客户端的“微型代理”</a:t>
            </a:r>
          </a:p>
          <a:p>
            <a:pPr lvl="1"/>
            <a:r>
              <a:rPr lang="zh-CN" altLang="en-US" dirty="0"/>
              <a:t>企业</a:t>
            </a:r>
            <a:r>
              <a:rPr lang="en-US" altLang="zh-CN" dirty="0"/>
              <a:t>/ISP </a:t>
            </a:r>
            <a:r>
              <a:rPr lang="zh-CN" altLang="en-US" dirty="0"/>
              <a:t>代理缓存</a:t>
            </a:r>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47711F5-ED3A-DFFF-2779-E05E9E21F9F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428CF3E4-FACF-34EA-EED5-9A0D4EBF43E2}"/>
              </a:ext>
            </a:extLst>
          </p:cNvPr>
          <p:cNvSpPr>
            <a:spLocks noGrp="1"/>
          </p:cNvSpPr>
          <p:nvPr>
            <p:ph sz="quarter" idx="11"/>
          </p:nvPr>
        </p:nvSpPr>
        <p:spPr>
          <a:xfrm>
            <a:off x="486000" y="687518"/>
            <a:ext cx="8172000" cy="4079035"/>
          </a:xfrm>
        </p:spPr>
        <p:txBody>
          <a:bodyPr/>
          <a:lstStyle/>
          <a:p>
            <a:r>
              <a:rPr lang="zh-CN" altLang="en-US" dirty="0"/>
              <a:t>不使用高速缓存的情况</a:t>
            </a:r>
            <a:endParaRPr lang="en-US" altLang="zh-CN" dirty="0"/>
          </a:p>
          <a:p>
            <a:pPr lvl="1"/>
            <a:r>
              <a:rPr lang="zh-CN" altLang="en-US" dirty="0"/>
              <a:t>所有万维网通信量都经过这条链路</a:t>
            </a:r>
            <a:endParaRPr lang="en-US" altLang="zh-CN" dirty="0"/>
          </a:p>
          <a:p>
            <a:pPr lvl="1"/>
            <a:r>
              <a:rPr lang="zh-CN" altLang="en-US" dirty="0"/>
              <a:t>这条链路通信量很大，导致时延增加</a:t>
            </a:r>
          </a:p>
          <a:p>
            <a:endParaRPr lang="zh-CN" altLang="en-US" dirty="0"/>
          </a:p>
          <a:p>
            <a:endParaRPr lang="zh-CN" altLang="en-US" dirty="0"/>
          </a:p>
          <a:p>
            <a:endParaRPr lang="zh-CN" altLang="en-US" dirty="0"/>
          </a:p>
        </p:txBody>
      </p:sp>
      <p:graphicFrame>
        <p:nvGraphicFramePr>
          <p:cNvPr id="31" name="Object 44"/>
          <p:cNvGraphicFramePr>
            <a:graphicFrameLocks noChangeAspect="1"/>
          </p:cNvGraphicFramePr>
          <p:nvPr>
            <p:extLst>
              <p:ext uri="{D42A27DB-BD31-4B8C-83A1-F6EECF244321}">
                <p14:modId xmlns:p14="http://schemas.microsoft.com/office/powerpoint/2010/main" val="725953664"/>
              </p:ext>
            </p:extLst>
          </p:nvPr>
        </p:nvGraphicFramePr>
        <p:xfrm>
          <a:off x="6185200" y="2789181"/>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185200" y="2789181"/>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790053" y="3253939"/>
            <a:ext cx="2154462" cy="0"/>
          </a:xfrm>
          <a:prstGeom prst="line">
            <a:avLst/>
          </a:prstGeom>
          <a:noFill/>
          <a:ln w="38100">
            <a:solidFill>
              <a:srgbClr val="0000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119321" y="3675465"/>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439368" y="3444887"/>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464087" y="2881653"/>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7093301" y="2370058"/>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0" name="Rectangle 114"/>
          <p:cNvSpPr>
            <a:spLocks noChangeArrowheads="1"/>
          </p:cNvSpPr>
          <p:nvPr/>
        </p:nvSpPr>
        <p:spPr bwMode="auto">
          <a:xfrm>
            <a:off x="2403184" y="2152690"/>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1" name="Line 115"/>
          <p:cNvSpPr>
            <a:spLocks noChangeShapeType="1"/>
          </p:cNvSpPr>
          <p:nvPr/>
        </p:nvSpPr>
        <p:spPr bwMode="auto">
          <a:xfrm>
            <a:off x="1729264" y="2473338"/>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2" name="Line 116"/>
          <p:cNvSpPr>
            <a:spLocks noChangeShapeType="1"/>
          </p:cNvSpPr>
          <p:nvPr/>
        </p:nvSpPr>
        <p:spPr bwMode="auto">
          <a:xfrm>
            <a:off x="1938726" y="3059389"/>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3" name="Line 117"/>
          <p:cNvSpPr>
            <a:spLocks noChangeShapeType="1"/>
          </p:cNvSpPr>
          <p:nvPr/>
        </p:nvSpPr>
        <p:spPr bwMode="auto">
          <a:xfrm>
            <a:off x="1362381" y="3466503"/>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4" name="Line 118"/>
          <p:cNvSpPr>
            <a:spLocks noChangeShapeType="1"/>
          </p:cNvSpPr>
          <p:nvPr/>
        </p:nvSpPr>
        <p:spPr bwMode="auto">
          <a:xfrm>
            <a:off x="1799519" y="4009323"/>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5" name="Line 119"/>
          <p:cNvSpPr>
            <a:spLocks noChangeShapeType="1"/>
          </p:cNvSpPr>
          <p:nvPr/>
        </p:nvSpPr>
        <p:spPr bwMode="auto">
          <a:xfrm>
            <a:off x="2416194" y="3247936"/>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06" name="Group 120"/>
          <p:cNvGrpSpPr>
            <a:grpSpLocks/>
          </p:cNvGrpSpPr>
          <p:nvPr/>
        </p:nvGrpSpPr>
        <p:grpSpPr bwMode="auto">
          <a:xfrm>
            <a:off x="3483017" y="3087012"/>
            <a:ext cx="477468" cy="309839"/>
            <a:chOff x="2154" y="3033"/>
            <a:chExt cx="309" cy="192"/>
          </a:xfrm>
        </p:grpSpPr>
        <p:sp>
          <p:nvSpPr>
            <p:cNvPr id="107"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8"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09"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0"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111" name="Group 125"/>
            <p:cNvGrpSpPr>
              <a:grpSpLocks/>
            </p:cNvGrpSpPr>
            <p:nvPr/>
          </p:nvGrpSpPr>
          <p:grpSpPr bwMode="auto">
            <a:xfrm>
              <a:off x="2201" y="3046"/>
              <a:ext cx="214" cy="86"/>
              <a:chOff x="2201" y="3046"/>
              <a:chExt cx="214" cy="86"/>
            </a:xfrm>
          </p:grpSpPr>
          <p:grpSp>
            <p:nvGrpSpPr>
              <p:cNvPr id="114" name="Group 126"/>
              <p:cNvGrpSpPr>
                <a:grpSpLocks/>
              </p:cNvGrpSpPr>
              <p:nvPr/>
            </p:nvGrpSpPr>
            <p:grpSpPr bwMode="auto">
              <a:xfrm>
                <a:off x="2201" y="3046"/>
                <a:ext cx="212" cy="84"/>
                <a:chOff x="2201" y="3046"/>
                <a:chExt cx="212" cy="84"/>
              </a:xfrm>
            </p:grpSpPr>
            <p:sp>
              <p:nvSpPr>
                <p:cNvPr id="124"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5"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6"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7"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8"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9"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0"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31"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115" name="Group 135"/>
              <p:cNvGrpSpPr>
                <a:grpSpLocks/>
              </p:cNvGrpSpPr>
              <p:nvPr/>
            </p:nvGrpSpPr>
            <p:grpSpPr bwMode="auto">
              <a:xfrm>
                <a:off x="2203" y="3048"/>
                <a:ext cx="212" cy="84"/>
                <a:chOff x="2203" y="3048"/>
                <a:chExt cx="212" cy="84"/>
              </a:xfrm>
            </p:grpSpPr>
            <p:sp>
              <p:nvSpPr>
                <p:cNvPr id="116"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7"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8"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9"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0"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1"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2"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23"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112"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113"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40" name="Rectangle 254"/>
          <p:cNvSpPr>
            <a:spLocks noChangeArrowheads="1"/>
          </p:cNvSpPr>
          <p:nvPr/>
        </p:nvSpPr>
        <p:spPr bwMode="auto">
          <a:xfrm>
            <a:off x="2626957" y="2444516"/>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41" name="Rectangle 255"/>
          <p:cNvSpPr>
            <a:spLocks noChangeArrowheads="1"/>
          </p:cNvSpPr>
          <p:nvPr/>
        </p:nvSpPr>
        <p:spPr bwMode="auto">
          <a:xfrm>
            <a:off x="2668104" y="2126737"/>
            <a:ext cx="734251"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600" b="1" dirty="0">
                <a:solidFill>
                  <a:schemeClr val="bg1"/>
                </a:solidFill>
                <a:latin typeface="Montserrat" panose="00000500000000000000" pitchFamily="2" charset="0"/>
                <a:ea typeface="微软雅黑 Light" panose="020B0502040204020203" pitchFamily="34" charset="-122"/>
              </a:rPr>
              <a:t>校园网</a:t>
            </a:r>
          </a:p>
        </p:txBody>
      </p:sp>
      <p:sp>
        <p:nvSpPr>
          <p:cNvPr id="263" name="Rectangle 279"/>
          <p:cNvSpPr>
            <a:spLocks noChangeArrowheads="1"/>
          </p:cNvSpPr>
          <p:nvPr/>
        </p:nvSpPr>
        <p:spPr bwMode="auto">
          <a:xfrm>
            <a:off x="6603463" y="214452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latin typeface="Montserrat" panose="00000500000000000000" pitchFamily="2" charset="0"/>
                <a:ea typeface="微软雅黑 Light" panose="020B0502040204020203" pitchFamily="34" charset="-122"/>
              </a:rPr>
              <a:t>源点服务器</a:t>
            </a:r>
          </a:p>
        </p:txBody>
      </p:sp>
      <p:sp>
        <p:nvSpPr>
          <p:cNvPr id="264" name="Rectangle 280"/>
          <p:cNvSpPr>
            <a:spLocks noChangeArrowheads="1"/>
          </p:cNvSpPr>
          <p:nvPr/>
        </p:nvSpPr>
        <p:spPr bwMode="auto">
          <a:xfrm>
            <a:off x="4168645" y="2926087"/>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5" name="Rectangle 281"/>
          <p:cNvSpPr>
            <a:spLocks noChangeArrowheads="1"/>
          </p:cNvSpPr>
          <p:nvPr/>
        </p:nvSpPr>
        <p:spPr bwMode="auto">
          <a:xfrm>
            <a:off x="4543892" y="2980128"/>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266" name="Group 282"/>
          <p:cNvGrpSpPr>
            <a:grpSpLocks/>
          </p:cNvGrpSpPr>
          <p:nvPr/>
        </p:nvGrpSpPr>
        <p:grpSpPr bwMode="auto">
          <a:xfrm>
            <a:off x="5783191" y="3087012"/>
            <a:ext cx="477468" cy="309839"/>
            <a:chOff x="3202" y="3033"/>
            <a:chExt cx="309" cy="192"/>
          </a:xfrm>
        </p:grpSpPr>
        <p:sp>
          <p:nvSpPr>
            <p:cNvPr id="267"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8"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69"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0"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nvGrpSpPr>
            <p:cNvPr id="271" name="Group 287"/>
            <p:cNvGrpSpPr>
              <a:grpSpLocks/>
            </p:cNvGrpSpPr>
            <p:nvPr/>
          </p:nvGrpSpPr>
          <p:grpSpPr bwMode="auto">
            <a:xfrm>
              <a:off x="3249" y="3046"/>
              <a:ext cx="214" cy="86"/>
              <a:chOff x="3249" y="3046"/>
              <a:chExt cx="214" cy="86"/>
            </a:xfrm>
          </p:grpSpPr>
          <p:grpSp>
            <p:nvGrpSpPr>
              <p:cNvPr id="274" name="Group 288"/>
              <p:cNvGrpSpPr>
                <a:grpSpLocks/>
              </p:cNvGrpSpPr>
              <p:nvPr/>
            </p:nvGrpSpPr>
            <p:grpSpPr bwMode="auto">
              <a:xfrm>
                <a:off x="3249" y="3046"/>
                <a:ext cx="212" cy="84"/>
                <a:chOff x="3249" y="3046"/>
                <a:chExt cx="212" cy="84"/>
              </a:xfrm>
            </p:grpSpPr>
            <p:sp>
              <p:nvSpPr>
                <p:cNvPr id="284"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5"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6"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7"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8"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9"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0"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1"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nvGrpSpPr>
              <p:cNvPr id="275" name="Group 297"/>
              <p:cNvGrpSpPr>
                <a:grpSpLocks/>
              </p:cNvGrpSpPr>
              <p:nvPr/>
            </p:nvGrpSpPr>
            <p:grpSpPr bwMode="auto">
              <a:xfrm>
                <a:off x="3251" y="3048"/>
                <a:ext cx="212" cy="84"/>
                <a:chOff x="3251" y="3048"/>
                <a:chExt cx="212" cy="84"/>
              </a:xfrm>
            </p:grpSpPr>
            <p:sp>
              <p:nvSpPr>
                <p:cNvPr id="276"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7"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8"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9"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0"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1"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2"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83"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grpSp>
        <p:sp>
          <p:nvSpPr>
            <p:cNvPr id="272"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73"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grpSp>
      <p:sp>
        <p:nvSpPr>
          <p:cNvPr id="292" name="Rectangle 308"/>
          <p:cNvSpPr>
            <a:spLocks noChangeArrowheads="1"/>
          </p:cNvSpPr>
          <p:nvPr/>
        </p:nvSpPr>
        <p:spPr bwMode="auto">
          <a:xfrm>
            <a:off x="6269767" y="2736341"/>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3" name="Rectangle 309"/>
          <p:cNvSpPr>
            <a:spLocks noChangeArrowheads="1"/>
          </p:cNvSpPr>
          <p:nvPr/>
        </p:nvSpPr>
        <p:spPr bwMode="auto">
          <a:xfrm>
            <a:off x="6652101" y="3177081"/>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294" name="Rectangle 310"/>
          <p:cNvSpPr>
            <a:spLocks noChangeArrowheads="1"/>
          </p:cNvSpPr>
          <p:nvPr/>
        </p:nvSpPr>
        <p:spPr bwMode="auto">
          <a:xfrm>
            <a:off x="3748421" y="2809597"/>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5" name="Rectangle 311"/>
          <p:cNvSpPr>
            <a:spLocks noChangeArrowheads="1"/>
          </p:cNvSpPr>
          <p:nvPr/>
        </p:nvSpPr>
        <p:spPr bwMode="auto">
          <a:xfrm>
            <a:off x="3047180" y="3393247"/>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6" name="Rectangle 312"/>
          <p:cNvSpPr>
            <a:spLocks noChangeArrowheads="1"/>
          </p:cNvSpPr>
          <p:nvPr/>
        </p:nvSpPr>
        <p:spPr bwMode="auto">
          <a:xfrm>
            <a:off x="2061020" y="3101422"/>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297" name="Rectangle 313"/>
          <p:cNvSpPr>
            <a:spLocks noChangeArrowheads="1"/>
          </p:cNvSpPr>
          <p:nvPr/>
        </p:nvSpPr>
        <p:spPr bwMode="auto">
          <a:xfrm>
            <a:off x="1078421" y="2976045"/>
            <a:ext cx="550689"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eaLnBrk="1" hangingPunct="1"/>
            <a:r>
              <a:rPr kumimoji="1" lang="zh-CN" altLang="en-US" sz="1200" b="1" dirty="0">
                <a:solidFill>
                  <a:schemeClr val="bg1"/>
                </a:solidFill>
                <a:latin typeface="Montserrat" panose="00000500000000000000" pitchFamily="2" charset="0"/>
                <a:ea typeface="微软雅黑 Light" panose="020B0502040204020203" pitchFamily="34" charset="-122"/>
              </a:rPr>
              <a:t>浏览器</a:t>
            </a:r>
          </a:p>
        </p:txBody>
      </p:sp>
      <p:sp>
        <p:nvSpPr>
          <p:cNvPr id="298" name="Rectangle 314"/>
          <p:cNvSpPr>
            <a:spLocks noChangeArrowheads="1"/>
          </p:cNvSpPr>
          <p:nvPr/>
        </p:nvSpPr>
        <p:spPr bwMode="auto">
          <a:xfrm>
            <a:off x="3501849" y="2862438"/>
            <a:ext cx="171522"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299" name="Rectangle 315"/>
          <p:cNvSpPr>
            <a:spLocks noChangeArrowheads="1"/>
          </p:cNvSpPr>
          <p:nvPr/>
        </p:nvSpPr>
        <p:spPr bwMode="auto">
          <a:xfrm>
            <a:off x="5892475" y="2831213"/>
            <a:ext cx="195566"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312" name="图片 3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1878702"/>
            <a:ext cx="441076" cy="617506"/>
          </a:xfrm>
          <a:prstGeom prst="rect">
            <a:avLst/>
          </a:prstGeom>
        </p:spPr>
      </p:pic>
      <p:pic>
        <p:nvPicPr>
          <p:cNvPr id="314"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2114584"/>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5"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613187" y="269101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6"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541931" y="3691778"/>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7" name="Picture 197" descr="jisuanji"/>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1043608" y="3189261"/>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318" name="图片 3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2541189"/>
            <a:ext cx="441076" cy="617506"/>
          </a:xfrm>
          <a:prstGeom prst="rect">
            <a:avLst/>
          </a:prstGeom>
        </p:spPr>
      </p:pic>
      <p:pic>
        <p:nvPicPr>
          <p:cNvPr id="319" name="图片 3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812360" y="3261269"/>
            <a:ext cx="441076" cy="617506"/>
          </a:xfrm>
          <a:prstGeom prst="rect">
            <a:avLst/>
          </a:prstGeom>
        </p:spPr>
      </p:pic>
      <p:pic>
        <p:nvPicPr>
          <p:cNvPr id="320" name="图片 319"/>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555184" y="3837333"/>
            <a:ext cx="441076" cy="617506"/>
          </a:xfrm>
          <a:prstGeom prst="rect">
            <a:avLst/>
          </a:prstGeom>
        </p:spPr>
      </p:pic>
      <p:sp>
        <p:nvSpPr>
          <p:cNvPr id="300" name="Freeform 316"/>
          <p:cNvSpPr>
            <a:spLocks/>
          </p:cNvSpPr>
          <p:nvPr/>
        </p:nvSpPr>
        <p:spPr bwMode="auto">
          <a:xfrm>
            <a:off x="3832987" y="2446917"/>
            <a:ext cx="3801532" cy="879078"/>
          </a:xfrm>
          <a:custGeom>
            <a:avLst/>
            <a:gdLst>
              <a:gd name="T0" fmla="*/ 0 w 2922"/>
              <a:gd name="T1" fmla="*/ 2147483646 h 732"/>
              <a:gd name="T2" fmla="*/ 2147483646 w 2922"/>
              <a:gd name="T3" fmla="*/ 2147483646 h 732"/>
              <a:gd name="T4" fmla="*/ 2147483646 w 2922"/>
              <a:gd name="T5" fmla="*/ 2147483646 h 732"/>
              <a:gd name="T6" fmla="*/ 2147483646 w 2922"/>
              <a:gd name="T7" fmla="*/ 2147483646 h 732"/>
              <a:gd name="T8" fmla="*/ 2147483646 w 2922"/>
              <a:gd name="T9" fmla="*/ 0 h 7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922" h="732">
                <a:moveTo>
                  <a:pt x="0" y="718"/>
                </a:moveTo>
                <a:cubicBezTo>
                  <a:pt x="127" y="717"/>
                  <a:pt x="481" y="715"/>
                  <a:pt x="765" y="712"/>
                </a:cubicBezTo>
                <a:cubicBezTo>
                  <a:pt x="1049" y="709"/>
                  <a:pt x="1442" y="732"/>
                  <a:pt x="1702" y="700"/>
                </a:cubicBezTo>
                <a:cubicBezTo>
                  <a:pt x="1962" y="668"/>
                  <a:pt x="2121" y="637"/>
                  <a:pt x="2324" y="520"/>
                </a:cubicBezTo>
                <a:cubicBezTo>
                  <a:pt x="2527" y="403"/>
                  <a:pt x="2798" y="108"/>
                  <a:pt x="2922" y="0"/>
                </a:cubicBezTo>
              </a:path>
            </a:pathLst>
          </a:custGeom>
          <a:noFill/>
          <a:ln w="38100"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4" name="Freeform 320"/>
          <p:cNvSpPr>
            <a:spLocks/>
          </p:cNvSpPr>
          <p:nvPr/>
        </p:nvSpPr>
        <p:spPr bwMode="auto">
          <a:xfrm>
            <a:off x="1938726" y="2326825"/>
            <a:ext cx="1615846" cy="877877"/>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5" name="Freeform 321"/>
          <p:cNvSpPr>
            <a:spLocks/>
          </p:cNvSpPr>
          <p:nvPr/>
        </p:nvSpPr>
        <p:spPr bwMode="auto">
          <a:xfrm>
            <a:off x="2079234" y="2912876"/>
            <a:ext cx="1403783" cy="366283"/>
          </a:xfrm>
          <a:custGeom>
            <a:avLst/>
            <a:gdLst>
              <a:gd name="T0" fmla="*/ 0 w 620"/>
              <a:gd name="T1" fmla="*/ 0 h 909"/>
              <a:gd name="T2" fmla="*/ 2147483646 w 620"/>
              <a:gd name="T3" fmla="*/ 2147483646 h 909"/>
              <a:gd name="T4" fmla="*/ 0 60000 65536"/>
              <a:gd name="T5" fmla="*/ 0 60000 65536"/>
            </a:gdLst>
            <a:ahLst/>
            <a:cxnLst>
              <a:cxn ang="T4">
                <a:pos x="T0" y="T1"/>
              </a:cxn>
              <a:cxn ang="T5">
                <a:pos x="T2" y="T3"/>
              </a:cxn>
            </a:cxnLst>
            <a:rect l="0" t="0" r="r" b="b"/>
            <a:pathLst>
              <a:path w="620" h="909">
                <a:moveTo>
                  <a:pt x="0" y="0"/>
                </a:moveTo>
                <a:cubicBezTo>
                  <a:pt x="103" y="151"/>
                  <a:pt x="491" y="720"/>
                  <a:pt x="620" y="909"/>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6" name="Freeform 322"/>
          <p:cNvSpPr>
            <a:spLocks/>
          </p:cNvSpPr>
          <p:nvPr/>
        </p:nvSpPr>
        <p:spPr bwMode="auto">
          <a:xfrm>
            <a:off x="1437840" y="3321191"/>
            <a:ext cx="2079004" cy="28822"/>
          </a:xfrm>
          <a:custGeom>
            <a:avLst/>
            <a:gdLst>
              <a:gd name="T0" fmla="*/ 0 w 1344"/>
              <a:gd name="T1" fmla="*/ 2147483646 h 17"/>
              <a:gd name="T2" fmla="*/ 2147483646 w 1344"/>
              <a:gd name="T3" fmla="*/ 0 h 17"/>
              <a:gd name="T4" fmla="*/ 0 60000 65536"/>
              <a:gd name="T5" fmla="*/ 0 60000 65536"/>
            </a:gdLst>
            <a:ahLst/>
            <a:cxnLst>
              <a:cxn ang="T4">
                <a:pos x="T0" y="T1"/>
              </a:cxn>
              <a:cxn ang="T5">
                <a:pos x="T2" y="T3"/>
              </a:cxn>
            </a:cxnLst>
            <a:rect l="0" t="0" r="r" b="b"/>
            <a:pathLst>
              <a:path w="1344" h="17">
                <a:moveTo>
                  <a:pt x="0" y="17"/>
                </a:moveTo>
                <a:cubicBezTo>
                  <a:pt x="224" y="14"/>
                  <a:pt x="1064" y="4"/>
                  <a:pt x="1344"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307" name="Freeform 323"/>
          <p:cNvSpPr>
            <a:spLocks/>
          </p:cNvSpPr>
          <p:nvPr/>
        </p:nvSpPr>
        <p:spPr bwMode="auto">
          <a:xfrm>
            <a:off x="1938725" y="3374032"/>
            <a:ext cx="1628856" cy="489978"/>
          </a:xfrm>
          <a:custGeom>
            <a:avLst/>
            <a:gdLst>
              <a:gd name="T0" fmla="*/ 0 w 1052"/>
              <a:gd name="T1" fmla="*/ 2147483646 h 304"/>
              <a:gd name="T2" fmla="*/ 2147483646 w 1052"/>
              <a:gd name="T3" fmla="*/ 0 h 304"/>
              <a:gd name="T4" fmla="*/ 0 60000 65536"/>
              <a:gd name="T5" fmla="*/ 0 60000 65536"/>
            </a:gdLst>
            <a:ahLst/>
            <a:cxnLst>
              <a:cxn ang="T4">
                <a:pos x="T0" y="T1"/>
              </a:cxn>
              <a:cxn ang="T5">
                <a:pos x="T2" y="T3"/>
              </a:cxn>
            </a:cxnLst>
            <a:rect l="0" t="0" r="r" b="b"/>
            <a:pathLst>
              <a:path w="1052" h="304">
                <a:moveTo>
                  <a:pt x="0" y="304"/>
                </a:moveTo>
                <a:cubicBezTo>
                  <a:pt x="175" y="253"/>
                  <a:pt x="833" y="63"/>
                  <a:pt x="1052" y="0"/>
                </a:cubicBezTo>
              </a:path>
            </a:pathLst>
          </a:custGeom>
          <a:noFill/>
          <a:ln w="28575" cmpd="sng">
            <a:solidFill>
              <a:srgbClr val="CC00CC"/>
            </a:solidFill>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Montserrat" panose="00000500000000000000" pitchFamily="2" charset="0"/>
              <a:ea typeface="微软雅黑 Light" panose="020B0502040204020203" pitchFamily="34" charset="-122"/>
            </a:endParaRPr>
          </a:p>
        </p:txBody>
      </p:sp>
      <p:sp>
        <p:nvSpPr>
          <p:cNvPr id="9" name="云形 8">
            <a:extLst>
              <a:ext uri="{FF2B5EF4-FFF2-40B4-BE49-F238E27FC236}">
                <a16:creationId xmlns:a16="http://schemas.microsoft.com/office/drawing/2014/main" id="{F8D36561-CDB0-57F9-60A8-C452AF00D60A}"/>
              </a:ext>
            </a:extLst>
          </p:cNvPr>
          <p:cNvSpPr/>
          <p:nvPr/>
        </p:nvSpPr>
        <p:spPr>
          <a:xfrm>
            <a:off x="434820" y="1733421"/>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6668699-FEE9-6483-5EA6-B8A01546FCFF}"/>
              </a:ext>
            </a:extLst>
          </p:cNvPr>
          <p:cNvSpPr>
            <a:spLocks noGrp="1"/>
          </p:cNvSpPr>
          <p:nvPr>
            <p:ph type="title"/>
          </p:nvPr>
        </p:nvSpPr>
        <p:spPr>
          <a:xfrm>
            <a:off x="485999" y="174482"/>
            <a:ext cx="8171999" cy="338554"/>
          </a:xfrm>
        </p:spPr>
        <p:txBody>
          <a:bodyPr/>
          <a:lstStyle/>
          <a:p>
            <a:r>
              <a:rPr lang="en-US" altLang="zh-CN"/>
              <a:t>6.4.3  </a:t>
            </a:r>
            <a:r>
              <a:rPr lang="zh-CN" altLang="en-US"/>
              <a:t>超文本传送协议 </a:t>
            </a:r>
            <a:r>
              <a:rPr lang="en-US" altLang="zh-CN"/>
              <a:t>HTTP - </a:t>
            </a:r>
            <a:r>
              <a:rPr lang="zh-CN" altLang="en-US"/>
              <a:t>代理服务器</a:t>
            </a:r>
            <a:endParaRPr lang="zh-CN" altLang="en-US" dirty="0"/>
          </a:p>
        </p:txBody>
      </p:sp>
      <p:sp>
        <p:nvSpPr>
          <p:cNvPr id="5" name="内容占位符 4">
            <a:extLst>
              <a:ext uri="{FF2B5EF4-FFF2-40B4-BE49-F238E27FC236}">
                <a16:creationId xmlns:a16="http://schemas.microsoft.com/office/drawing/2014/main" id="{2AABC8C4-2CC1-4FEB-0B6D-A60C973A66B6}"/>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云形 3">
            <a:extLst>
              <a:ext uri="{FF2B5EF4-FFF2-40B4-BE49-F238E27FC236}">
                <a16:creationId xmlns:a16="http://schemas.microsoft.com/office/drawing/2014/main" id="{62F72D1F-0E0A-F6BA-5DBF-C53CE0E3DC25}"/>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136"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7"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8"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39"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0"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4"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5"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dirty="0">
                <a:solidFill>
                  <a:schemeClr val="bg1"/>
                </a:solidFill>
                <a:latin typeface="Montserrat" panose="00000500000000000000" pitchFamily="2" charset="0"/>
                <a:ea typeface="微软雅黑 Light" panose="020B0502040204020203" pitchFamily="34" charset="-122"/>
              </a:rPr>
              <a:t>校园网</a:t>
            </a:r>
          </a:p>
        </p:txBody>
      </p:sp>
      <p:sp>
        <p:nvSpPr>
          <p:cNvPr id="146"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48"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浏览器</a:t>
            </a:r>
          </a:p>
        </p:txBody>
      </p:sp>
      <p:pic>
        <p:nvPicPr>
          <p:cNvPr id="1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1"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aphicFrame>
        <p:nvGraphicFramePr>
          <p:cNvPr id="31" name="Object 44"/>
          <p:cNvGraphicFramePr>
            <a:graphicFrameLocks noChangeAspect="1"/>
          </p:cNvGraphicFramePr>
          <p:nvPr>
            <p:extLst>
              <p:ext uri="{D42A27DB-BD31-4B8C-83A1-F6EECF244321}">
                <p14:modId xmlns:p14="http://schemas.microsoft.com/office/powerpoint/2010/main" val="2000663618"/>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3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3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3" name="Group 120"/>
          <p:cNvGrpSpPr>
            <a:grpSpLocks/>
          </p:cNvGrpSpPr>
          <p:nvPr/>
        </p:nvGrpSpPr>
        <p:grpSpPr bwMode="auto">
          <a:xfrm>
            <a:off x="3321527" y="2753930"/>
            <a:ext cx="477468" cy="309839"/>
            <a:chOff x="2154" y="3033"/>
            <a:chExt cx="309" cy="192"/>
          </a:xfrm>
        </p:grpSpPr>
        <p:sp>
          <p:nvSpPr>
            <p:cNvPr id="4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4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48" name="Group 125"/>
            <p:cNvGrpSpPr>
              <a:grpSpLocks/>
            </p:cNvGrpSpPr>
            <p:nvPr/>
          </p:nvGrpSpPr>
          <p:grpSpPr bwMode="auto">
            <a:xfrm>
              <a:off x="2201" y="3046"/>
              <a:ext cx="214" cy="86"/>
              <a:chOff x="2201" y="3046"/>
              <a:chExt cx="214" cy="86"/>
            </a:xfrm>
          </p:grpSpPr>
          <p:grpSp>
            <p:nvGrpSpPr>
              <p:cNvPr id="51" name="Group 126"/>
              <p:cNvGrpSpPr>
                <a:grpSpLocks/>
              </p:cNvGrpSpPr>
              <p:nvPr/>
            </p:nvGrpSpPr>
            <p:grpSpPr bwMode="auto">
              <a:xfrm>
                <a:off x="2201" y="3046"/>
                <a:ext cx="212" cy="84"/>
                <a:chOff x="2201" y="3046"/>
                <a:chExt cx="212" cy="84"/>
              </a:xfrm>
            </p:grpSpPr>
            <p:sp>
              <p:nvSpPr>
                <p:cNvPr id="6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52" name="Group 135"/>
              <p:cNvGrpSpPr>
                <a:grpSpLocks/>
              </p:cNvGrpSpPr>
              <p:nvPr/>
            </p:nvGrpSpPr>
            <p:grpSpPr bwMode="auto">
              <a:xfrm>
                <a:off x="2203" y="3048"/>
                <a:ext cx="212" cy="84"/>
                <a:chOff x="2203" y="3048"/>
                <a:chExt cx="212" cy="84"/>
              </a:xfrm>
            </p:grpSpPr>
            <p:sp>
              <p:nvSpPr>
                <p:cNvPr id="5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6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4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5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69" name="Rectangle 254"/>
          <p:cNvSpPr>
            <a:spLocks noChangeArrowheads="1"/>
          </p:cNvSpPr>
          <p:nvPr/>
        </p:nvSpPr>
        <p:spPr bwMode="auto">
          <a:xfrm>
            <a:off x="2513605" y="2079127"/>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1" name="Rectangle 279"/>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7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3" name="Rectangle 281"/>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grpSp>
        <p:nvGrpSpPr>
          <p:cNvPr id="74" name="Group 282"/>
          <p:cNvGrpSpPr>
            <a:grpSpLocks/>
          </p:cNvGrpSpPr>
          <p:nvPr/>
        </p:nvGrpSpPr>
        <p:grpSpPr bwMode="auto">
          <a:xfrm>
            <a:off x="5669839" y="2721623"/>
            <a:ext cx="477468" cy="309839"/>
            <a:chOff x="3202" y="3033"/>
            <a:chExt cx="309" cy="192"/>
          </a:xfrm>
        </p:grpSpPr>
        <p:sp>
          <p:nvSpPr>
            <p:cNvPr id="7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7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nvGrpSpPr>
            <p:cNvPr id="79" name="Group 287"/>
            <p:cNvGrpSpPr>
              <a:grpSpLocks/>
            </p:cNvGrpSpPr>
            <p:nvPr/>
          </p:nvGrpSpPr>
          <p:grpSpPr bwMode="auto">
            <a:xfrm>
              <a:off x="3249" y="3046"/>
              <a:ext cx="214" cy="86"/>
              <a:chOff x="3249" y="3046"/>
              <a:chExt cx="214" cy="86"/>
            </a:xfrm>
          </p:grpSpPr>
          <p:grpSp>
            <p:nvGrpSpPr>
              <p:cNvPr id="82" name="Group 288"/>
              <p:cNvGrpSpPr>
                <a:grpSpLocks/>
              </p:cNvGrpSpPr>
              <p:nvPr/>
            </p:nvGrpSpPr>
            <p:grpSpPr bwMode="auto">
              <a:xfrm>
                <a:off x="3249" y="3046"/>
                <a:ext cx="212" cy="84"/>
                <a:chOff x="3249" y="3046"/>
                <a:chExt cx="212" cy="84"/>
              </a:xfrm>
            </p:grpSpPr>
            <p:sp>
              <p:nvSpPr>
                <p:cNvPr id="9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nvGrpSpPr>
              <p:cNvPr id="83" name="Group 297"/>
              <p:cNvGrpSpPr>
                <a:grpSpLocks/>
              </p:cNvGrpSpPr>
              <p:nvPr/>
            </p:nvGrpSpPr>
            <p:grpSpPr bwMode="auto">
              <a:xfrm>
                <a:off x="3251" y="3048"/>
                <a:ext cx="212" cy="84"/>
                <a:chOff x="3251" y="3048"/>
                <a:chExt cx="212" cy="84"/>
              </a:xfrm>
            </p:grpSpPr>
            <p:sp>
              <p:nvSpPr>
                <p:cNvPr id="8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9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grpSp>
        <p:sp>
          <p:nvSpPr>
            <p:cNvPr id="8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8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dirty="0">
                <a:solidFill>
                  <a:srgbClr val="000099"/>
                </a:solidFill>
                <a:latin typeface="Montserrat" panose="00000500000000000000" pitchFamily="2" charset="0"/>
                <a:ea typeface="微软雅黑 Light" panose="020B0502040204020203" pitchFamily="34" charset="-122"/>
              </a:endParaRPr>
            </a:p>
          </p:txBody>
        </p:sp>
      </p:grpSp>
      <p:sp>
        <p:nvSpPr>
          <p:cNvPr id="10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1" name="Rectangle 309"/>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02"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3" name="Rectangle 311"/>
          <p:cNvSpPr>
            <a:spLocks noChangeArrowheads="1"/>
          </p:cNvSpPr>
          <p:nvPr/>
        </p:nvSpPr>
        <p:spPr bwMode="auto">
          <a:xfrm>
            <a:off x="2933828" y="3027858"/>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dirty="0">
              <a:solidFill>
                <a:srgbClr val="000099"/>
              </a:solidFill>
              <a:latin typeface="Montserrat" panose="00000500000000000000" pitchFamily="2" charset="0"/>
              <a:ea typeface="微软雅黑 Light" panose="020B0502040204020203" pitchFamily="34" charset="-122"/>
            </a:endParaRPr>
          </a:p>
        </p:txBody>
      </p:sp>
      <p:sp>
        <p:nvSpPr>
          <p:cNvPr id="106" name="Rectangle 314"/>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07" name="Rectangle 315"/>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12" name="图片 11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17" name="图片 11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18" name="图片 11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19" name="图片 11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pic>
        <p:nvPicPr>
          <p:cNvPr id="128" name="图片 12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2"/>
            <a:ext cx="441076" cy="617506"/>
          </a:xfrm>
          <a:prstGeom prst="rect">
            <a:avLst/>
          </a:prstGeom>
        </p:spPr>
      </p:pic>
      <p:cxnSp>
        <p:nvCxnSpPr>
          <p:cNvPr id="3" name="直接箭头连接符 2"/>
          <p:cNvCxnSpPr/>
          <p:nvPr/>
        </p:nvCxnSpPr>
        <p:spPr>
          <a:xfrm>
            <a:off x="1825374" y="1963801"/>
            <a:ext cx="1034974" cy="1620917"/>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29" name="直接箭头连接符 128"/>
          <p:cNvCxnSpPr/>
          <p:nvPr/>
        </p:nvCxnSpPr>
        <p:spPr>
          <a:xfrm>
            <a:off x="1825374" y="2560698"/>
            <a:ext cx="881176" cy="1024020"/>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0" name="直接箭头连接符 129"/>
          <p:cNvCxnSpPr/>
          <p:nvPr/>
        </p:nvCxnSpPr>
        <p:spPr>
          <a:xfrm>
            <a:off x="1290296" y="2967888"/>
            <a:ext cx="1483088" cy="740362"/>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35" name="直接箭头连接符 134"/>
          <p:cNvCxnSpPr/>
          <p:nvPr/>
        </p:nvCxnSpPr>
        <p:spPr>
          <a:xfrm>
            <a:off x="1775935" y="3573454"/>
            <a:ext cx="952317" cy="269593"/>
          </a:xfrm>
          <a:prstGeom prst="straightConnector1">
            <a:avLst/>
          </a:prstGeom>
          <a:ln w="38100">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2" name="矩形 141"/>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(1) </a:t>
            </a:r>
            <a:r>
              <a:rPr kumimoji="1" lang="zh-CN" altLang="en-US" sz="1400" dirty="0">
                <a:latin typeface="Montserrat" panose="00000500000000000000" pitchFamily="2" charset="0"/>
                <a:ea typeface="微软雅黑 Light" panose="020B0502040204020203" pitchFamily="34" charset="-122"/>
              </a:rPr>
              <a:t>浏览器访问互联网的服务器时，先与校园网的高速缓存建立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连接，并向高速缓存发出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43" name="Text Box 328"/>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cxnSp>
        <p:nvCxnSpPr>
          <p:cNvPr id="147" name="直接箭头连接符 146"/>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2000"/>
                                        <p:tgtEl>
                                          <p:spTgt spid="3"/>
                                        </p:tgtEl>
                                      </p:cBhvr>
                                    </p:animEffect>
                                  </p:childTnLst>
                                </p:cTn>
                              </p:par>
                            </p:childTnLst>
                          </p:cTn>
                        </p:par>
                        <p:par>
                          <p:cTn id="8" fill="hold">
                            <p:stCondLst>
                              <p:cond delay="2000"/>
                            </p:stCondLst>
                            <p:childTnLst>
                              <p:par>
                                <p:cTn id="9" presetID="22" presetClass="entr" presetSubtype="1" fill="hold" nodeType="afterEffect">
                                  <p:stCondLst>
                                    <p:cond delay="0"/>
                                  </p:stCondLst>
                                  <p:childTnLst>
                                    <p:set>
                                      <p:cBhvr>
                                        <p:cTn id="10" dur="1" fill="hold">
                                          <p:stCondLst>
                                            <p:cond delay="0"/>
                                          </p:stCondLst>
                                        </p:cTn>
                                        <p:tgtEl>
                                          <p:spTgt spid="129"/>
                                        </p:tgtEl>
                                        <p:attrNameLst>
                                          <p:attrName>style.visibility</p:attrName>
                                        </p:attrNameLst>
                                      </p:cBhvr>
                                      <p:to>
                                        <p:strVal val="visible"/>
                                      </p:to>
                                    </p:set>
                                    <p:animEffect transition="in" filter="wipe(up)">
                                      <p:cBhvr>
                                        <p:cTn id="11" dur="2000"/>
                                        <p:tgtEl>
                                          <p:spTgt spid="129"/>
                                        </p:tgtEl>
                                      </p:cBhvr>
                                    </p:animEffect>
                                  </p:childTnLst>
                                </p:cTn>
                              </p:par>
                            </p:childTnLst>
                          </p:cTn>
                        </p:par>
                        <p:par>
                          <p:cTn id="12" fill="hold">
                            <p:stCondLst>
                              <p:cond delay="4000"/>
                            </p:stCondLst>
                            <p:childTnLst>
                              <p:par>
                                <p:cTn id="13" presetID="22" presetClass="entr" presetSubtype="1" fill="hold" nodeType="afterEffect">
                                  <p:stCondLst>
                                    <p:cond delay="0"/>
                                  </p:stCondLst>
                                  <p:childTnLst>
                                    <p:set>
                                      <p:cBhvr>
                                        <p:cTn id="14" dur="1" fill="hold">
                                          <p:stCondLst>
                                            <p:cond delay="0"/>
                                          </p:stCondLst>
                                        </p:cTn>
                                        <p:tgtEl>
                                          <p:spTgt spid="130"/>
                                        </p:tgtEl>
                                        <p:attrNameLst>
                                          <p:attrName>style.visibility</p:attrName>
                                        </p:attrNameLst>
                                      </p:cBhvr>
                                      <p:to>
                                        <p:strVal val="visible"/>
                                      </p:to>
                                    </p:set>
                                    <p:animEffect transition="in" filter="wipe(up)">
                                      <p:cBhvr>
                                        <p:cTn id="15" dur="2000"/>
                                        <p:tgtEl>
                                          <p:spTgt spid="130"/>
                                        </p:tgtEl>
                                      </p:cBhvr>
                                    </p:animEffect>
                                  </p:childTnLst>
                                </p:cTn>
                              </p:par>
                            </p:childTnLst>
                          </p:cTn>
                        </p:par>
                        <p:par>
                          <p:cTn id="16" fill="hold">
                            <p:stCondLst>
                              <p:cond delay="6000"/>
                            </p:stCondLst>
                            <p:childTnLst>
                              <p:par>
                                <p:cTn id="17" presetID="22" presetClass="entr" presetSubtype="1" fill="hold" nodeType="afterEffect">
                                  <p:stCondLst>
                                    <p:cond delay="0"/>
                                  </p:stCondLst>
                                  <p:childTnLst>
                                    <p:set>
                                      <p:cBhvr>
                                        <p:cTn id="18" dur="1" fill="hold">
                                          <p:stCondLst>
                                            <p:cond delay="0"/>
                                          </p:stCondLst>
                                        </p:cTn>
                                        <p:tgtEl>
                                          <p:spTgt spid="135"/>
                                        </p:tgtEl>
                                        <p:attrNameLst>
                                          <p:attrName>style.visibility</p:attrName>
                                        </p:attrNameLst>
                                      </p:cBhvr>
                                      <p:to>
                                        <p:strVal val="visible"/>
                                      </p:to>
                                    </p:set>
                                    <p:animEffect transition="in" filter="wipe(up)">
                                      <p:cBhvr>
                                        <p:cTn id="19" dur="2000"/>
                                        <p:tgtEl>
                                          <p:spTgt spid="1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09154E5-1E29-52CF-DD4B-73D66CC8B20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5" name="内容占位符 4">
            <a:extLst>
              <a:ext uri="{FF2B5EF4-FFF2-40B4-BE49-F238E27FC236}">
                <a16:creationId xmlns:a16="http://schemas.microsoft.com/office/drawing/2014/main" id="{CC6EA070-AAA0-C604-65AF-0083D9D43CEB}"/>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131"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2"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3"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4"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5"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6"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7"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38"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39"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4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4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44"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aphicFrame>
        <p:nvGraphicFramePr>
          <p:cNvPr id="192" name="Object 44"/>
          <p:cNvGraphicFramePr>
            <a:graphicFrameLocks noChangeAspect="1"/>
          </p:cNvGraphicFramePr>
          <p:nvPr>
            <p:extLst>
              <p:ext uri="{D42A27DB-BD31-4B8C-83A1-F6EECF244321}">
                <p14:modId xmlns:p14="http://schemas.microsoft.com/office/powerpoint/2010/main" val="3667047836"/>
              </p:ext>
            </p:extLst>
          </p:nvPr>
        </p:nvGraphicFramePr>
        <p:xfrm>
          <a:off x="6071848" y="2423794"/>
          <a:ext cx="1509164" cy="951134"/>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210"/>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071848" y="2423794"/>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193" name="Line 45"/>
          <p:cNvSpPr>
            <a:spLocks noChangeShapeType="1"/>
          </p:cNvSpPr>
          <p:nvPr/>
        </p:nvSpPr>
        <p:spPr bwMode="auto">
          <a:xfrm>
            <a:off x="3676701" y="2888552"/>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4" name="Line 46"/>
          <p:cNvSpPr>
            <a:spLocks noChangeShapeType="1"/>
          </p:cNvSpPr>
          <p:nvPr/>
        </p:nvSpPr>
        <p:spPr bwMode="auto">
          <a:xfrm>
            <a:off x="7005969" y="3310078"/>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5" name="Line 47"/>
          <p:cNvSpPr>
            <a:spLocks noChangeShapeType="1"/>
          </p:cNvSpPr>
          <p:nvPr/>
        </p:nvSpPr>
        <p:spPr bwMode="auto">
          <a:xfrm>
            <a:off x="7326016" y="3079500"/>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6" name="Line 48"/>
          <p:cNvSpPr>
            <a:spLocks noChangeShapeType="1"/>
          </p:cNvSpPr>
          <p:nvPr/>
        </p:nvSpPr>
        <p:spPr bwMode="auto">
          <a:xfrm flipV="1">
            <a:off x="7350735" y="2516266"/>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97" name="Line 49"/>
          <p:cNvSpPr>
            <a:spLocks noChangeShapeType="1"/>
          </p:cNvSpPr>
          <p:nvPr/>
        </p:nvSpPr>
        <p:spPr bwMode="auto">
          <a:xfrm flipV="1">
            <a:off x="6979949" y="2004671"/>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4" name="Group 120"/>
          <p:cNvGrpSpPr>
            <a:grpSpLocks/>
          </p:cNvGrpSpPr>
          <p:nvPr/>
        </p:nvGrpSpPr>
        <p:grpSpPr bwMode="auto">
          <a:xfrm>
            <a:off x="3321527" y="2753932"/>
            <a:ext cx="477468" cy="309839"/>
            <a:chOff x="2154" y="3033"/>
            <a:chExt cx="309" cy="192"/>
          </a:xfrm>
        </p:grpSpPr>
        <p:sp>
          <p:nvSpPr>
            <p:cNvPr id="205"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6"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7"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08"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09" name="Group 125"/>
            <p:cNvGrpSpPr>
              <a:grpSpLocks/>
            </p:cNvGrpSpPr>
            <p:nvPr/>
          </p:nvGrpSpPr>
          <p:grpSpPr bwMode="auto">
            <a:xfrm>
              <a:off x="2201" y="3046"/>
              <a:ext cx="214" cy="86"/>
              <a:chOff x="2201" y="3046"/>
              <a:chExt cx="214" cy="86"/>
            </a:xfrm>
          </p:grpSpPr>
          <p:grpSp>
            <p:nvGrpSpPr>
              <p:cNvPr id="212" name="Group 126"/>
              <p:cNvGrpSpPr>
                <a:grpSpLocks/>
              </p:cNvGrpSpPr>
              <p:nvPr/>
            </p:nvGrpSpPr>
            <p:grpSpPr bwMode="auto">
              <a:xfrm>
                <a:off x="2201" y="3046"/>
                <a:ext cx="212" cy="84"/>
                <a:chOff x="2201" y="3046"/>
                <a:chExt cx="212" cy="84"/>
              </a:xfrm>
            </p:grpSpPr>
            <p:sp>
              <p:nvSpPr>
                <p:cNvPr id="222"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3"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4"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5"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6"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7"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8"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9"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13" name="Group 135"/>
              <p:cNvGrpSpPr>
                <a:grpSpLocks/>
              </p:cNvGrpSpPr>
              <p:nvPr/>
            </p:nvGrpSpPr>
            <p:grpSpPr bwMode="auto">
              <a:xfrm>
                <a:off x="2203" y="3048"/>
                <a:ext cx="212" cy="84"/>
                <a:chOff x="2203" y="3048"/>
                <a:chExt cx="212" cy="84"/>
              </a:xfrm>
            </p:grpSpPr>
            <p:sp>
              <p:nvSpPr>
                <p:cNvPr id="214"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5"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6"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7"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8"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9"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0"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21"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10"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11"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30"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3" name="Rectangle 280"/>
          <p:cNvSpPr>
            <a:spLocks noChangeArrowheads="1"/>
          </p:cNvSpPr>
          <p:nvPr/>
        </p:nvSpPr>
        <p:spPr bwMode="auto">
          <a:xfrm>
            <a:off x="4055293" y="2560700"/>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35" name="Group 282"/>
          <p:cNvGrpSpPr>
            <a:grpSpLocks/>
          </p:cNvGrpSpPr>
          <p:nvPr/>
        </p:nvGrpSpPr>
        <p:grpSpPr bwMode="auto">
          <a:xfrm>
            <a:off x="5669839" y="2721625"/>
            <a:ext cx="477468" cy="309839"/>
            <a:chOff x="3202" y="3033"/>
            <a:chExt cx="309" cy="192"/>
          </a:xfrm>
        </p:grpSpPr>
        <p:sp>
          <p:nvSpPr>
            <p:cNvPr id="236"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7"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8"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39"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240" name="Group 287"/>
            <p:cNvGrpSpPr>
              <a:grpSpLocks/>
            </p:cNvGrpSpPr>
            <p:nvPr/>
          </p:nvGrpSpPr>
          <p:grpSpPr bwMode="auto">
            <a:xfrm>
              <a:off x="3249" y="3046"/>
              <a:ext cx="214" cy="86"/>
              <a:chOff x="3249" y="3046"/>
              <a:chExt cx="214" cy="86"/>
            </a:xfrm>
          </p:grpSpPr>
          <p:grpSp>
            <p:nvGrpSpPr>
              <p:cNvPr id="243" name="Group 288"/>
              <p:cNvGrpSpPr>
                <a:grpSpLocks/>
              </p:cNvGrpSpPr>
              <p:nvPr/>
            </p:nvGrpSpPr>
            <p:grpSpPr bwMode="auto">
              <a:xfrm>
                <a:off x="3249" y="3046"/>
                <a:ext cx="212" cy="84"/>
                <a:chOff x="3249" y="3046"/>
                <a:chExt cx="212" cy="84"/>
              </a:xfrm>
            </p:grpSpPr>
            <p:sp>
              <p:nvSpPr>
                <p:cNvPr id="253"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4"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5"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6"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7"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8"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9"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0"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244" name="Group 297"/>
              <p:cNvGrpSpPr>
                <a:grpSpLocks/>
              </p:cNvGrpSpPr>
              <p:nvPr/>
            </p:nvGrpSpPr>
            <p:grpSpPr bwMode="auto">
              <a:xfrm>
                <a:off x="3251" y="3048"/>
                <a:ext cx="212" cy="84"/>
                <a:chOff x="3251" y="3048"/>
                <a:chExt cx="212" cy="84"/>
              </a:xfrm>
            </p:grpSpPr>
            <p:sp>
              <p:nvSpPr>
                <p:cNvPr id="245"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6"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7"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8"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9"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0"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1"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52"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241"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42"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261" name="Rectangle 308"/>
          <p:cNvSpPr>
            <a:spLocks noChangeArrowheads="1"/>
          </p:cNvSpPr>
          <p:nvPr/>
        </p:nvSpPr>
        <p:spPr bwMode="auto">
          <a:xfrm>
            <a:off x="6156415" y="2370954"/>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3" name="Rectangle 310"/>
          <p:cNvSpPr>
            <a:spLocks noChangeArrowheads="1"/>
          </p:cNvSpPr>
          <p:nvPr/>
        </p:nvSpPr>
        <p:spPr bwMode="auto">
          <a:xfrm>
            <a:off x="3635069" y="2444210"/>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264"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269" name="图片 268"/>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1513315"/>
            <a:ext cx="441076" cy="617506"/>
          </a:xfrm>
          <a:prstGeom prst="rect">
            <a:avLst/>
          </a:prstGeom>
        </p:spPr>
      </p:pic>
      <p:pic>
        <p:nvPicPr>
          <p:cNvPr id="274" name="图片 273"/>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175802"/>
            <a:ext cx="441076" cy="617506"/>
          </a:xfrm>
          <a:prstGeom prst="rect">
            <a:avLst/>
          </a:prstGeom>
        </p:spPr>
      </p:pic>
      <p:pic>
        <p:nvPicPr>
          <p:cNvPr id="275" name="图片 274"/>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699008" y="2895882"/>
            <a:ext cx="441076" cy="617506"/>
          </a:xfrm>
          <a:prstGeom prst="rect">
            <a:avLst/>
          </a:prstGeom>
        </p:spPr>
      </p:pic>
      <p:pic>
        <p:nvPicPr>
          <p:cNvPr id="276" name="图片 275"/>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441832" y="3471946"/>
            <a:ext cx="441076" cy="617506"/>
          </a:xfrm>
          <a:prstGeom prst="rect">
            <a:avLst/>
          </a:prstGeom>
        </p:spPr>
      </p:pic>
      <p:pic>
        <p:nvPicPr>
          <p:cNvPr id="277" name="图片 276"/>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cxnSp>
        <p:nvCxnSpPr>
          <p:cNvPr id="278" name="直接箭头连接符 277"/>
          <p:cNvCxnSpPr/>
          <p:nvPr/>
        </p:nvCxnSpPr>
        <p:spPr>
          <a:xfrm>
            <a:off x="1825374" y="1963803"/>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79" name="直接箭头连接符 278"/>
          <p:cNvCxnSpPr/>
          <p:nvPr/>
        </p:nvCxnSpPr>
        <p:spPr>
          <a:xfrm>
            <a:off x="1825374" y="2560700"/>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0" name="直接箭头连接符 279"/>
          <p:cNvCxnSpPr/>
          <p:nvPr/>
        </p:nvCxnSpPr>
        <p:spPr>
          <a:xfrm>
            <a:off x="1290296" y="2967890"/>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1" name="直接箭头连接符 280"/>
          <p:cNvCxnSpPr/>
          <p:nvPr/>
        </p:nvCxnSpPr>
        <p:spPr>
          <a:xfrm>
            <a:off x="1775935" y="3573456"/>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84" name="直接箭头连接符 283"/>
          <p:cNvCxnSpPr/>
          <p:nvPr/>
        </p:nvCxnSpPr>
        <p:spPr>
          <a:xfrm flipH="1">
            <a:off x="2977610" y="3708252"/>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 name="云形 2">
            <a:extLst>
              <a:ext uri="{FF2B5EF4-FFF2-40B4-BE49-F238E27FC236}">
                <a16:creationId xmlns:a16="http://schemas.microsoft.com/office/drawing/2014/main" id="{F3AE01B0-1816-E30C-84E1-F01D41EA9544}"/>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
        <p:nvSpPr>
          <p:cNvPr id="4" name="Rectangle 279">
            <a:extLst>
              <a:ext uri="{FF2B5EF4-FFF2-40B4-BE49-F238E27FC236}">
                <a16:creationId xmlns:a16="http://schemas.microsoft.com/office/drawing/2014/main" id="{633B16F3-B8D2-7690-7619-D19F7F0AE87D}"/>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6" name="矩形 5">
            <a:extLst>
              <a:ext uri="{FF2B5EF4-FFF2-40B4-BE49-F238E27FC236}">
                <a16:creationId xmlns:a16="http://schemas.microsoft.com/office/drawing/2014/main" id="{BCDFDC69-4F33-90AA-FC8D-C2054F2C75AA}"/>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(2) </a:t>
            </a:r>
            <a:r>
              <a:rPr kumimoji="1" lang="zh-CN" altLang="en-US" sz="1400" dirty="0">
                <a:latin typeface="Montserrat" panose="00000500000000000000" pitchFamily="2" charset="0"/>
                <a:ea typeface="微软雅黑 Light" panose="020B0502040204020203" pitchFamily="34" charset="-122"/>
              </a:rPr>
              <a:t>若高速缓存已经存放了所请求的对象，则将此对象放入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响应报文中返回给浏览器</a:t>
            </a:r>
          </a:p>
        </p:txBody>
      </p:sp>
      <p:sp>
        <p:nvSpPr>
          <p:cNvPr id="9" name="Rectangle 281">
            <a:extLst>
              <a:ext uri="{FF2B5EF4-FFF2-40B4-BE49-F238E27FC236}">
                <a16:creationId xmlns:a16="http://schemas.microsoft.com/office/drawing/2014/main" id="{FAE2E37A-FE30-DA09-B3DC-8DDA52744C4E}"/>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10" name="Rectangle 309">
            <a:extLst>
              <a:ext uri="{FF2B5EF4-FFF2-40B4-BE49-F238E27FC236}">
                <a16:creationId xmlns:a16="http://schemas.microsoft.com/office/drawing/2014/main" id="{D08A4A9D-C73A-8249-D0FC-D0125D427932}"/>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11" name="Rectangle 314">
            <a:extLst>
              <a:ext uri="{FF2B5EF4-FFF2-40B4-BE49-F238E27FC236}">
                <a16:creationId xmlns:a16="http://schemas.microsoft.com/office/drawing/2014/main" id="{481A1F78-E0BF-1FA8-5725-695E66930201}"/>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12" name="Rectangle 315">
            <a:extLst>
              <a:ext uri="{FF2B5EF4-FFF2-40B4-BE49-F238E27FC236}">
                <a16:creationId xmlns:a16="http://schemas.microsoft.com/office/drawing/2014/main" id="{C1A6B4C7-4E29-FFD5-3FEB-D7F78FBF3E2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13" name="Text Box 328">
            <a:extLst>
              <a:ext uri="{FF2B5EF4-FFF2-40B4-BE49-F238E27FC236}">
                <a16:creationId xmlns:a16="http://schemas.microsoft.com/office/drawing/2014/main" id="{1604E7C9-CBF8-C111-3EAA-BCF23E0BF8DC}"/>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nodeType="afterEffect">
                                  <p:stCondLst>
                                    <p:cond delay="0"/>
                                  </p:stCondLst>
                                  <p:childTnLst>
                                    <p:set>
                                      <p:cBhvr>
                                        <p:cTn id="6" dur="1" fill="hold">
                                          <p:stCondLst>
                                            <p:cond delay="0"/>
                                          </p:stCondLst>
                                        </p:cTn>
                                        <p:tgtEl>
                                          <p:spTgt spid="278"/>
                                        </p:tgtEl>
                                        <p:attrNameLst>
                                          <p:attrName>style.visibility</p:attrName>
                                        </p:attrNameLst>
                                      </p:cBhvr>
                                      <p:to>
                                        <p:strVal val="visible"/>
                                      </p:to>
                                    </p:set>
                                    <p:animEffect transition="in" filter="wipe(down)">
                                      <p:cBhvr>
                                        <p:cTn id="7" dur="2000"/>
                                        <p:tgtEl>
                                          <p:spTgt spid="278"/>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279"/>
                                        </p:tgtEl>
                                        <p:attrNameLst>
                                          <p:attrName>style.visibility</p:attrName>
                                        </p:attrNameLst>
                                      </p:cBhvr>
                                      <p:to>
                                        <p:strVal val="visible"/>
                                      </p:to>
                                    </p:set>
                                    <p:animEffect transition="in" filter="wipe(down)">
                                      <p:cBhvr>
                                        <p:cTn id="11" dur="2000"/>
                                        <p:tgtEl>
                                          <p:spTgt spid="279"/>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280"/>
                                        </p:tgtEl>
                                        <p:attrNameLst>
                                          <p:attrName>style.visibility</p:attrName>
                                        </p:attrNameLst>
                                      </p:cBhvr>
                                      <p:to>
                                        <p:strVal val="visible"/>
                                      </p:to>
                                    </p:set>
                                    <p:animEffect transition="in" filter="wipe(down)">
                                      <p:cBhvr>
                                        <p:cTn id="15" dur="2000"/>
                                        <p:tgtEl>
                                          <p:spTgt spid="280"/>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281"/>
                                        </p:tgtEl>
                                        <p:attrNameLst>
                                          <p:attrName>style.visibility</p:attrName>
                                        </p:attrNameLst>
                                      </p:cBhvr>
                                      <p:to>
                                        <p:strVal val="visible"/>
                                      </p:to>
                                    </p:set>
                                    <p:animEffect transition="in" filter="wipe(down)">
                                      <p:cBhvr>
                                        <p:cTn id="19" dur="2000"/>
                                        <p:tgtEl>
                                          <p:spTgt spid="28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208"/>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44" name="Freeform 325"/>
          <p:cNvSpPr>
            <a:spLocks/>
          </p:cNvSpPr>
          <p:nvPr/>
        </p:nvSpPr>
        <p:spPr bwMode="auto">
          <a:xfrm>
            <a:off x="2860347" y="1930663"/>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03F40C74-ACE0-922F-6B91-886CC2C8BD8F}"/>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00C24943-A9A0-07D0-91F5-80A6ADEAA013}"/>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08BBA9C9-2C24-269C-792D-0CE18B1167C4}"/>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ECD141B9-0541-1271-7813-81927A751443}"/>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5D61CFB4-D095-A5DB-8159-25C8EBB9290C}"/>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A9865E37-D5A1-4B2D-F995-509FCC086CFE}"/>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B4502AAD-5EF5-117D-A0D2-165FBE6C184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FFBD7971-25B8-D750-C7B8-3509189E10C3}"/>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F61437B6-9DF8-1303-4685-D1FA802C579E}"/>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(3) </a:t>
            </a:r>
            <a:r>
              <a:rPr kumimoji="1" lang="zh-CN" altLang="en-US" sz="1400" dirty="0">
                <a:latin typeface="Montserrat" panose="00000500000000000000" pitchFamily="2" charset="0"/>
                <a:ea typeface="微软雅黑 Light" panose="020B0502040204020203" pitchFamily="34" charset="-122"/>
              </a:rPr>
              <a:t>若未存放，高速缓存就代表浏览器与互联网上的源点服务器建立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连接，并发送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请求报文</a:t>
            </a:r>
          </a:p>
        </p:txBody>
      </p:sp>
      <p:sp>
        <p:nvSpPr>
          <p:cNvPr id="11" name="云形 10">
            <a:extLst>
              <a:ext uri="{FF2B5EF4-FFF2-40B4-BE49-F238E27FC236}">
                <a16:creationId xmlns:a16="http://schemas.microsoft.com/office/drawing/2014/main" id="{3D7DD4B9-C83E-7FC6-2658-04230C77FD9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wipe(left)">
                                      <p:cBhvr>
                                        <p:cTn id="7" dur="2000"/>
                                        <p:tgtEl>
                                          <p:spTgt spid="1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 grpId="0"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4"/>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12" name="Freeform 325"/>
          <p:cNvSpPr>
            <a:spLocks/>
          </p:cNvSpPr>
          <p:nvPr/>
        </p:nvSpPr>
        <p:spPr bwMode="auto">
          <a:xfrm>
            <a:off x="2860347" y="2037199"/>
            <a:ext cx="4838661" cy="1597317"/>
          </a:xfrm>
          <a:custGeom>
            <a:avLst/>
            <a:gdLst>
              <a:gd name="T0" fmla="*/ 0 w 3356"/>
              <a:gd name="T1" fmla="*/ 2147483646 h 1179"/>
              <a:gd name="T2" fmla="*/ 2147483646 w 3356"/>
              <a:gd name="T3" fmla="*/ 2147483646 h 1179"/>
              <a:gd name="T4" fmla="*/ 2147483646 w 3356"/>
              <a:gd name="T5" fmla="*/ 2147483646 h 1179"/>
              <a:gd name="T6" fmla="*/ 2147483646 w 3356"/>
              <a:gd name="T7" fmla="*/ 2147483646 h 1179"/>
              <a:gd name="T8" fmla="*/ 2147483646 w 3356"/>
              <a:gd name="T9" fmla="*/ 2147483646 h 1179"/>
              <a:gd name="T10" fmla="*/ 2147483646 w 3356"/>
              <a:gd name="T11" fmla="*/ 2147483646 h 1179"/>
              <a:gd name="T12" fmla="*/ 2147483646 w 3356"/>
              <a:gd name="T13" fmla="*/ 2147483646 h 1179"/>
              <a:gd name="T14" fmla="*/ 2147483646 w 3356"/>
              <a:gd name="T15" fmla="*/ 2147483646 h 1179"/>
              <a:gd name="T16" fmla="*/ 2147483646 w 3356"/>
              <a:gd name="T17" fmla="*/ 0 h 117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356" h="1179">
                <a:moveTo>
                  <a:pt x="0" y="1179"/>
                </a:moveTo>
                <a:cubicBezTo>
                  <a:pt x="64" y="1127"/>
                  <a:pt x="263" y="937"/>
                  <a:pt x="385" y="867"/>
                </a:cubicBezTo>
                <a:cubicBezTo>
                  <a:pt x="507" y="797"/>
                  <a:pt x="552" y="778"/>
                  <a:pt x="732" y="758"/>
                </a:cubicBezTo>
                <a:cubicBezTo>
                  <a:pt x="912" y="738"/>
                  <a:pt x="1271" y="752"/>
                  <a:pt x="1464" y="749"/>
                </a:cubicBezTo>
                <a:cubicBezTo>
                  <a:pt x="1657" y="746"/>
                  <a:pt x="1767" y="750"/>
                  <a:pt x="1893" y="739"/>
                </a:cubicBezTo>
                <a:cubicBezTo>
                  <a:pt x="2019" y="728"/>
                  <a:pt x="2099" y="720"/>
                  <a:pt x="2222" y="680"/>
                </a:cubicBezTo>
                <a:cubicBezTo>
                  <a:pt x="2345" y="640"/>
                  <a:pt x="2503" y="567"/>
                  <a:pt x="2631" y="499"/>
                </a:cubicBezTo>
                <a:cubicBezTo>
                  <a:pt x="2759" y="431"/>
                  <a:pt x="2872" y="355"/>
                  <a:pt x="2993" y="272"/>
                </a:cubicBezTo>
                <a:cubicBezTo>
                  <a:pt x="3114" y="189"/>
                  <a:pt x="3295" y="53"/>
                  <a:pt x="3356" y="0"/>
                </a:cubicBezTo>
              </a:path>
            </a:pathLst>
          </a:custGeom>
          <a:noFill/>
          <a:ln w="5715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solidFill>
                <a:srgbClr val="000099"/>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A0B7F1CD-3D6A-8ECA-3BE1-B7661382DC18}"/>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C0EACFF2-0639-9712-C0B7-C6E91201A050}"/>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F7EB5044-F59D-F530-2AD5-F279E6D92C73}"/>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6C606F72-94E8-DC71-D6ED-8899876E451A}"/>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D06E433D-13BF-7521-AAF6-DCA478042B82}"/>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DFF2CBBA-FAED-FD05-83A6-FA186E7BAF82}"/>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8B550A88-A0A7-F7AD-5D33-264093C116D6}"/>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487F8928-EC82-91BF-9735-5080A647F928}"/>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82637968-E3D9-8AFA-9997-6330BF94BB7C}"/>
              </a:ext>
            </a:extLst>
          </p:cNvPr>
          <p:cNvSpPr/>
          <p:nvPr/>
        </p:nvSpPr>
        <p:spPr>
          <a:xfrm>
            <a:off x="4004325" y="908563"/>
            <a:ext cx="3297333" cy="766074"/>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(4) </a:t>
            </a:r>
            <a:r>
              <a:rPr kumimoji="1" lang="zh-CN" altLang="en-US" sz="1400" dirty="0">
                <a:latin typeface="Montserrat" panose="00000500000000000000" pitchFamily="2" charset="0"/>
                <a:ea typeface="微软雅黑 Light" panose="020B0502040204020203" pitchFamily="34" charset="-122"/>
              </a:rPr>
              <a:t>源点服务器将所请求的对象放在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响应报文中返回给校园网的高速缓存</a:t>
            </a:r>
          </a:p>
        </p:txBody>
      </p:sp>
      <p:sp>
        <p:nvSpPr>
          <p:cNvPr id="11" name="云形 10">
            <a:extLst>
              <a:ext uri="{FF2B5EF4-FFF2-40B4-BE49-F238E27FC236}">
                <a16:creationId xmlns:a16="http://schemas.microsoft.com/office/drawing/2014/main" id="{B6003530-00B5-1069-4D85-CF5DF5A95F27}"/>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2569842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grpId="0" nodeType="after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wipe(right)">
                                      <p:cBhvr>
                                        <p:cTn id="7" dur="20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Rectangle 114"/>
          <p:cNvSpPr>
            <a:spLocks noChangeArrowheads="1"/>
          </p:cNvSpPr>
          <p:nvPr/>
        </p:nvSpPr>
        <p:spPr bwMode="auto">
          <a:xfrm>
            <a:off x="2403184" y="1572659"/>
            <a:ext cx="27321" cy="2146055"/>
          </a:xfrm>
          <a:prstGeom prst="rect">
            <a:avLst/>
          </a:prstGeom>
          <a:solidFill>
            <a:srgbClr val="3366CC"/>
          </a:solidFill>
          <a:ln w="38100" cmpd="sng">
            <a:solidFill>
              <a:srgbClr val="3366CC"/>
            </a:solidFill>
            <a:miter lim="800000"/>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4" name="Line 115"/>
          <p:cNvSpPr>
            <a:spLocks noChangeShapeType="1"/>
          </p:cNvSpPr>
          <p:nvPr/>
        </p:nvSpPr>
        <p:spPr bwMode="auto">
          <a:xfrm>
            <a:off x="1729264" y="1893307"/>
            <a:ext cx="701240"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5" name="Line 116"/>
          <p:cNvSpPr>
            <a:spLocks noChangeShapeType="1"/>
          </p:cNvSpPr>
          <p:nvPr/>
        </p:nvSpPr>
        <p:spPr bwMode="auto">
          <a:xfrm>
            <a:off x="1938726" y="2479358"/>
            <a:ext cx="491779" cy="1201"/>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6" name="Line 117"/>
          <p:cNvSpPr>
            <a:spLocks noChangeShapeType="1"/>
          </p:cNvSpPr>
          <p:nvPr/>
        </p:nvSpPr>
        <p:spPr bwMode="auto">
          <a:xfrm>
            <a:off x="1362381" y="2886472"/>
            <a:ext cx="1053813" cy="36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7" name="Line 118"/>
          <p:cNvSpPr>
            <a:spLocks noChangeShapeType="1"/>
          </p:cNvSpPr>
          <p:nvPr/>
        </p:nvSpPr>
        <p:spPr bwMode="auto">
          <a:xfrm>
            <a:off x="1799519" y="3429292"/>
            <a:ext cx="632288" cy="2402"/>
          </a:xfrm>
          <a:prstGeom prst="line">
            <a:avLst/>
          </a:prstGeom>
          <a:noFill/>
          <a:ln w="28575">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8" name="Line 119"/>
          <p:cNvSpPr>
            <a:spLocks noChangeShapeType="1"/>
          </p:cNvSpPr>
          <p:nvPr/>
        </p:nvSpPr>
        <p:spPr bwMode="auto">
          <a:xfrm>
            <a:off x="2443258" y="2943988"/>
            <a:ext cx="1193020" cy="2402"/>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59" name="Rectangle 255"/>
          <p:cNvSpPr>
            <a:spLocks noChangeArrowheads="1"/>
          </p:cNvSpPr>
          <p:nvPr/>
        </p:nvSpPr>
        <p:spPr bwMode="auto">
          <a:xfrm>
            <a:off x="2668104" y="1546706"/>
            <a:ext cx="615553"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校园网</a:t>
            </a:r>
          </a:p>
        </p:txBody>
      </p:sp>
      <p:sp>
        <p:nvSpPr>
          <p:cNvPr id="160" name="Rectangle 312"/>
          <p:cNvSpPr>
            <a:spLocks noChangeArrowheads="1"/>
          </p:cNvSpPr>
          <p:nvPr/>
        </p:nvSpPr>
        <p:spPr bwMode="auto">
          <a:xfrm>
            <a:off x="2061020" y="2521391"/>
            <a:ext cx="357776" cy="3014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1" name="Rectangle 313"/>
          <p:cNvSpPr>
            <a:spLocks noChangeArrowheads="1"/>
          </p:cNvSpPr>
          <p:nvPr/>
        </p:nvSpPr>
        <p:spPr bwMode="auto">
          <a:xfrm>
            <a:off x="1078422" y="2396014"/>
            <a:ext cx="461665"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浏览器</a:t>
            </a:r>
          </a:p>
        </p:txBody>
      </p:sp>
      <p:pic>
        <p:nvPicPr>
          <p:cNvPr id="16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1534553"/>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13187" y="2110986"/>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541931" y="3111747"/>
            <a:ext cx="516657" cy="516658"/>
          </a:xfrm>
          <a:prstGeom prst="rect">
            <a:avLst/>
          </a:prstGeom>
          <a:noFill/>
          <a:extLst>
            <a:ext uri="{909E8E84-426E-40DD-AFC4-6F175D3DCCD1}">
              <a14:hiddenFill xmlns:a14="http://schemas.microsoft.com/office/drawing/2010/main">
                <a:solidFill>
                  <a:srgbClr val="FFFFFF"/>
                </a:solidFill>
              </a14:hiddenFill>
            </a:ext>
          </a:extLst>
        </p:spPr>
      </p:pic>
      <p:pic>
        <p:nvPicPr>
          <p:cNvPr id="16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3608" y="2609230"/>
            <a:ext cx="516657" cy="516658"/>
          </a:xfrm>
          <a:prstGeom prst="rect">
            <a:avLst/>
          </a:prstGeom>
          <a:noFill/>
          <a:extLst>
            <a:ext uri="{909E8E84-426E-40DD-AFC4-6F175D3DCCD1}">
              <a14:hiddenFill xmlns:a14="http://schemas.microsoft.com/office/drawing/2010/main">
                <a:solidFill>
                  <a:srgbClr val="FFFFFF"/>
                </a:solidFill>
              </a14:hiddenFill>
            </a:ext>
          </a:extLst>
        </p:spPr>
      </p:pic>
      <p:sp>
        <p:nvSpPr>
          <p:cNvPr id="166" name="Line 119"/>
          <p:cNvSpPr>
            <a:spLocks noChangeShapeType="1"/>
          </p:cNvSpPr>
          <p:nvPr/>
        </p:nvSpPr>
        <p:spPr bwMode="auto">
          <a:xfrm flipV="1">
            <a:off x="2977610" y="2970289"/>
            <a:ext cx="513818" cy="650825"/>
          </a:xfrm>
          <a:prstGeom prst="line">
            <a:avLst/>
          </a:prstGeom>
          <a:noFill/>
          <a:ln w="19050">
            <a:solidFill>
              <a:srgbClr val="3366CC"/>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8" name="Rectangle 254"/>
          <p:cNvSpPr>
            <a:spLocks noChangeArrowheads="1"/>
          </p:cNvSpPr>
          <p:nvPr/>
        </p:nvSpPr>
        <p:spPr bwMode="auto">
          <a:xfrm>
            <a:off x="2513605" y="2079129"/>
            <a:ext cx="729863" cy="5115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69" name="Rectangle 311"/>
          <p:cNvSpPr>
            <a:spLocks noChangeArrowheads="1"/>
          </p:cNvSpPr>
          <p:nvPr/>
        </p:nvSpPr>
        <p:spPr bwMode="auto">
          <a:xfrm>
            <a:off x="2933828" y="3027860"/>
            <a:ext cx="355175" cy="302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70" name="图片 16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39810" y="3452414"/>
            <a:ext cx="441076" cy="617506"/>
          </a:xfrm>
          <a:prstGeom prst="rect">
            <a:avLst/>
          </a:prstGeom>
        </p:spPr>
      </p:pic>
      <p:graphicFrame>
        <p:nvGraphicFramePr>
          <p:cNvPr id="41" name="Object 44"/>
          <p:cNvGraphicFramePr>
            <a:graphicFrameLocks noChangeAspect="1"/>
          </p:cNvGraphicFramePr>
          <p:nvPr>
            <p:extLst>
              <p:ext uri="{D42A27DB-BD31-4B8C-83A1-F6EECF244321}">
                <p14:modId xmlns:p14="http://schemas.microsoft.com/office/powerpoint/2010/main" val="1367370087"/>
              </p:ext>
            </p:extLst>
          </p:nvPr>
        </p:nvGraphicFramePr>
        <p:xfrm>
          <a:off x="6071848" y="2423792"/>
          <a:ext cx="1509164" cy="951134"/>
        </p:xfrm>
        <a:graphic>
          <a:graphicData uri="http://schemas.openxmlformats.org/presentationml/2006/ole">
            <mc:AlternateContent xmlns:mc="http://schemas.openxmlformats.org/markup-compatibility/2006">
              <mc:Choice xmlns:v="urn:schemas-microsoft-com:vml" Requires="v">
                <p:oleObj name="VISIO" r:id="rId4" imgW="1687068" imgH="964692" progId="">
                  <p:embed/>
                </p:oleObj>
              </mc:Choice>
              <mc:Fallback>
                <p:oleObj name="VISIO" r:id="rId4" imgW="1687068" imgH="964692" progId="">
                  <p:embed/>
                  <p:pic>
                    <p:nvPicPr>
                      <p:cNvPr id="0" name="Picture 35"/>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71848" y="2423792"/>
                        <a:ext cx="1509164" cy="951134"/>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sp>
        <p:nvSpPr>
          <p:cNvPr id="42" name="Line 45"/>
          <p:cNvSpPr>
            <a:spLocks noChangeShapeType="1"/>
          </p:cNvSpPr>
          <p:nvPr/>
        </p:nvSpPr>
        <p:spPr bwMode="auto">
          <a:xfrm>
            <a:off x="3676701" y="2888550"/>
            <a:ext cx="2154462"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3" name="Line 46"/>
          <p:cNvSpPr>
            <a:spLocks noChangeShapeType="1"/>
          </p:cNvSpPr>
          <p:nvPr/>
        </p:nvSpPr>
        <p:spPr bwMode="auto">
          <a:xfrm>
            <a:off x="7005969" y="3310076"/>
            <a:ext cx="554227" cy="449146"/>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4" name="Line 47"/>
          <p:cNvSpPr>
            <a:spLocks noChangeShapeType="1"/>
          </p:cNvSpPr>
          <p:nvPr/>
        </p:nvSpPr>
        <p:spPr bwMode="auto">
          <a:xfrm>
            <a:off x="7326016" y="3079498"/>
            <a:ext cx="444943" cy="94873"/>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5" name="Line 48"/>
          <p:cNvSpPr>
            <a:spLocks noChangeShapeType="1"/>
          </p:cNvSpPr>
          <p:nvPr/>
        </p:nvSpPr>
        <p:spPr bwMode="auto">
          <a:xfrm flipV="1">
            <a:off x="7350735" y="2516264"/>
            <a:ext cx="420224" cy="127298"/>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46" name="Line 49"/>
          <p:cNvSpPr>
            <a:spLocks noChangeShapeType="1"/>
          </p:cNvSpPr>
          <p:nvPr/>
        </p:nvSpPr>
        <p:spPr bwMode="auto">
          <a:xfrm flipV="1">
            <a:off x="6979949" y="2004669"/>
            <a:ext cx="580248" cy="492380"/>
          </a:xfrm>
          <a:prstGeom prst="line">
            <a:avLst/>
          </a:prstGeom>
          <a:noFill/>
          <a:ln w="28575">
            <a:solidFill>
              <a:srgbClr val="006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3" name="Group 120"/>
          <p:cNvGrpSpPr>
            <a:grpSpLocks/>
          </p:cNvGrpSpPr>
          <p:nvPr/>
        </p:nvGrpSpPr>
        <p:grpSpPr bwMode="auto">
          <a:xfrm>
            <a:off x="3321527" y="2753930"/>
            <a:ext cx="477468" cy="309839"/>
            <a:chOff x="2154" y="3033"/>
            <a:chExt cx="309" cy="192"/>
          </a:xfrm>
        </p:grpSpPr>
        <p:sp>
          <p:nvSpPr>
            <p:cNvPr id="54" name="Oval 121"/>
            <p:cNvSpPr>
              <a:spLocks noChangeArrowheads="1"/>
            </p:cNvSpPr>
            <p:nvPr/>
          </p:nvSpPr>
          <p:spPr bwMode="auto">
            <a:xfrm>
              <a:off x="2155"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5" name="Rectangle 122"/>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6" name="Rectangle 123"/>
            <p:cNvSpPr>
              <a:spLocks noChangeArrowheads="1"/>
            </p:cNvSpPr>
            <p:nvPr/>
          </p:nvSpPr>
          <p:spPr bwMode="auto">
            <a:xfrm>
              <a:off x="2154"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57" name="Oval 124"/>
            <p:cNvSpPr>
              <a:spLocks noChangeArrowheads="1"/>
            </p:cNvSpPr>
            <p:nvPr/>
          </p:nvSpPr>
          <p:spPr bwMode="auto">
            <a:xfrm>
              <a:off x="2155"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58" name="Group 125"/>
            <p:cNvGrpSpPr>
              <a:grpSpLocks/>
            </p:cNvGrpSpPr>
            <p:nvPr/>
          </p:nvGrpSpPr>
          <p:grpSpPr bwMode="auto">
            <a:xfrm>
              <a:off x="2201" y="3046"/>
              <a:ext cx="214" cy="86"/>
              <a:chOff x="2201" y="3046"/>
              <a:chExt cx="214" cy="86"/>
            </a:xfrm>
          </p:grpSpPr>
          <p:grpSp>
            <p:nvGrpSpPr>
              <p:cNvPr id="61" name="Group 126"/>
              <p:cNvGrpSpPr>
                <a:grpSpLocks/>
              </p:cNvGrpSpPr>
              <p:nvPr/>
            </p:nvGrpSpPr>
            <p:grpSpPr bwMode="auto">
              <a:xfrm>
                <a:off x="2201" y="3046"/>
                <a:ext cx="212" cy="84"/>
                <a:chOff x="2201" y="3046"/>
                <a:chExt cx="212" cy="84"/>
              </a:xfrm>
            </p:grpSpPr>
            <p:sp>
              <p:nvSpPr>
                <p:cNvPr id="71" name="Freeform 127"/>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2" name="Freeform 128"/>
                <p:cNvSpPr>
                  <a:spLocks/>
                </p:cNvSpPr>
                <p:nvPr/>
              </p:nvSpPr>
              <p:spPr bwMode="auto">
                <a:xfrm>
                  <a:off x="2312"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0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0"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3" name="Freeform 129"/>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4" name="Freeform 130"/>
                <p:cNvSpPr>
                  <a:spLocks/>
                </p:cNvSpPr>
                <p:nvPr/>
              </p:nvSpPr>
              <p:spPr bwMode="auto">
                <a:xfrm>
                  <a:off x="2201" y="3090"/>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5" name="Freeform 131"/>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6" name="Freeform 132"/>
                <p:cNvSpPr>
                  <a:spLocks/>
                </p:cNvSpPr>
                <p:nvPr/>
              </p:nvSpPr>
              <p:spPr bwMode="auto">
                <a:xfrm>
                  <a:off x="2206" y="3046"/>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7" name="Freeform 133"/>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8" name="Freeform 134"/>
                <p:cNvSpPr>
                  <a:spLocks/>
                </p:cNvSpPr>
                <p:nvPr/>
              </p:nvSpPr>
              <p:spPr bwMode="auto">
                <a:xfrm>
                  <a:off x="2308" y="3094"/>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1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1" y="6"/>
                      </a:lnTo>
                      <a:lnTo>
                        <a:pt x="101"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62" name="Group 135"/>
              <p:cNvGrpSpPr>
                <a:grpSpLocks/>
              </p:cNvGrpSpPr>
              <p:nvPr/>
            </p:nvGrpSpPr>
            <p:grpSpPr bwMode="auto">
              <a:xfrm>
                <a:off x="2203" y="3048"/>
                <a:ext cx="212" cy="84"/>
                <a:chOff x="2203" y="3048"/>
                <a:chExt cx="212" cy="84"/>
              </a:xfrm>
            </p:grpSpPr>
            <p:sp>
              <p:nvSpPr>
                <p:cNvPr id="63" name="Freeform 136"/>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4" name="Freeform 137"/>
                <p:cNvSpPr>
                  <a:spLocks/>
                </p:cNvSpPr>
                <p:nvPr/>
              </p:nvSpPr>
              <p:spPr bwMode="auto">
                <a:xfrm>
                  <a:off x="2313" y="3050"/>
                  <a:ext cx="102" cy="36"/>
                </a:xfrm>
                <a:custGeom>
                  <a:avLst/>
                  <a:gdLst>
                    <a:gd name="T0" fmla="*/ 0 w 102"/>
                    <a:gd name="T1" fmla="*/ 28 h 36"/>
                    <a:gd name="T2" fmla="*/ 23 w 102"/>
                    <a:gd name="T3" fmla="*/ 36 h 36"/>
                    <a:gd name="T4" fmla="*/ 77 w 102"/>
                    <a:gd name="T5" fmla="*/ 12 h 36"/>
                    <a:gd name="T6" fmla="*/ 102 w 102"/>
                    <a:gd name="T7" fmla="*/ 20 h 36"/>
                    <a:gd name="T8" fmla="*/ 89 w 102"/>
                    <a:gd name="T9" fmla="*/ 0 h 36"/>
                    <a:gd name="T10" fmla="*/ 25 w 102"/>
                    <a:gd name="T11" fmla="*/ 0 h 36"/>
                    <a:gd name="T12" fmla="*/ 51 w 102"/>
                    <a:gd name="T13" fmla="*/ 6 h 36"/>
                    <a:gd name="T14" fmla="*/ 0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28"/>
                      </a:moveTo>
                      <a:lnTo>
                        <a:pt x="23" y="36"/>
                      </a:lnTo>
                      <a:lnTo>
                        <a:pt x="77" y="12"/>
                      </a:lnTo>
                      <a:lnTo>
                        <a:pt x="102" y="20"/>
                      </a:lnTo>
                      <a:lnTo>
                        <a:pt x="89" y="0"/>
                      </a:lnTo>
                      <a:lnTo>
                        <a:pt x="25"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5" name="Freeform 138"/>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6" name="Freeform 139"/>
                <p:cNvSpPr>
                  <a:spLocks/>
                </p:cNvSpPr>
                <p:nvPr/>
              </p:nvSpPr>
              <p:spPr bwMode="auto">
                <a:xfrm>
                  <a:off x="2203"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0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0"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7" name="Freeform 140"/>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8" name="Freeform 141"/>
                <p:cNvSpPr>
                  <a:spLocks/>
                </p:cNvSpPr>
                <p:nvPr/>
              </p:nvSpPr>
              <p:spPr bwMode="auto">
                <a:xfrm>
                  <a:off x="2208" y="3048"/>
                  <a:ext cx="102" cy="36"/>
                </a:xfrm>
                <a:custGeom>
                  <a:avLst/>
                  <a:gdLst>
                    <a:gd name="T0" fmla="*/ 0 w 102"/>
                    <a:gd name="T1" fmla="*/ 8 h 36"/>
                    <a:gd name="T2" fmla="*/ 23 w 102"/>
                    <a:gd name="T3" fmla="*/ 0 h 36"/>
                    <a:gd name="T4" fmla="*/ 77 w 102"/>
                    <a:gd name="T5" fmla="*/ 22 h 36"/>
                    <a:gd name="T6" fmla="*/ 102 w 102"/>
                    <a:gd name="T7" fmla="*/ 16 h 36"/>
                    <a:gd name="T8" fmla="*/ 89 w 102"/>
                    <a:gd name="T9" fmla="*/ 36 h 36"/>
                    <a:gd name="T10" fmla="*/ 25 w 102"/>
                    <a:gd name="T11" fmla="*/ 36 h 36"/>
                    <a:gd name="T12" fmla="*/ 51 w 102"/>
                    <a:gd name="T13" fmla="*/ 30 h 36"/>
                    <a:gd name="T14" fmla="*/ 0 w 102"/>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0" y="8"/>
                      </a:moveTo>
                      <a:lnTo>
                        <a:pt x="23" y="0"/>
                      </a:lnTo>
                      <a:lnTo>
                        <a:pt x="77" y="22"/>
                      </a:lnTo>
                      <a:lnTo>
                        <a:pt x="102" y="16"/>
                      </a:lnTo>
                      <a:lnTo>
                        <a:pt x="89" y="36"/>
                      </a:lnTo>
                      <a:lnTo>
                        <a:pt x="25" y="36"/>
                      </a:lnTo>
                      <a:lnTo>
                        <a:pt x="51"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9" name="Freeform 142"/>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70" name="Freeform 143"/>
                <p:cNvSpPr>
                  <a:spLocks/>
                </p:cNvSpPr>
                <p:nvPr/>
              </p:nvSpPr>
              <p:spPr bwMode="auto">
                <a:xfrm>
                  <a:off x="2310" y="3096"/>
                  <a:ext cx="101" cy="36"/>
                </a:xfrm>
                <a:custGeom>
                  <a:avLst/>
                  <a:gdLst>
                    <a:gd name="T0" fmla="*/ 101 w 101"/>
                    <a:gd name="T1" fmla="*/ 28 h 36"/>
                    <a:gd name="T2" fmla="*/ 79 w 101"/>
                    <a:gd name="T3" fmla="*/ 36 h 36"/>
                    <a:gd name="T4" fmla="*/ 26 w 101"/>
                    <a:gd name="T5" fmla="*/ 12 h 36"/>
                    <a:gd name="T6" fmla="*/ 0 w 101"/>
                    <a:gd name="T7" fmla="*/ 20 h 36"/>
                    <a:gd name="T8" fmla="*/ 13 w 101"/>
                    <a:gd name="T9" fmla="*/ 0 h 36"/>
                    <a:gd name="T10" fmla="*/ 79 w 101"/>
                    <a:gd name="T11" fmla="*/ 0 h 36"/>
                    <a:gd name="T12" fmla="*/ 50 w 101"/>
                    <a:gd name="T13" fmla="*/ 6 h 36"/>
                    <a:gd name="T14" fmla="*/ 101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101" y="28"/>
                      </a:moveTo>
                      <a:lnTo>
                        <a:pt x="79" y="36"/>
                      </a:lnTo>
                      <a:lnTo>
                        <a:pt x="26" y="12"/>
                      </a:lnTo>
                      <a:lnTo>
                        <a:pt x="0" y="20"/>
                      </a:lnTo>
                      <a:lnTo>
                        <a:pt x="13" y="0"/>
                      </a:lnTo>
                      <a:lnTo>
                        <a:pt x="79" y="0"/>
                      </a:lnTo>
                      <a:lnTo>
                        <a:pt x="50" y="6"/>
                      </a:lnTo>
                      <a:lnTo>
                        <a:pt x="101"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59" name="Line 144"/>
            <p:cNvSpPr>
              <a:spLocks noChangeShapeType="1"/>
            </p:cNvSpPr>
            <p:nvPr/>
          </p:nvSpPr>
          <p:spPr bwMode="auto">
            <a:xfrm>
              <a:off x="2154"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60" name="Line 145"/>
            <p:cNvSpPr>
              <a:spLocks noChangeShapeType="1"/>
            </p:cNvSpPr>
            <p:nvPr/>
          </p:nvSpPr>
          <p:spPr bwMode="auto">
            <a:xfrm>
              <a:off x="246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82" name="Rectangle 280"/>
          <p:cNvSpPr>
            <a:spLocks noChangeArrowheads="1"/>
          </p:cNvSpPr>
          <p:nvPr/>
        </p:nvSpPr>
        <p:spPr bwMode="auto">
          <a:xfrm>
            <a:off x="4055293" y="2560698"/>
            <a:ext cx="697338" cy="3218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4" name="Group 282"/>
          <p:cNvGrpSpPr>
            <a:grpSpLocks/>
          </p:cNvGrpSpPr>
          <p:nvPr/>
        </p:nvGrpSpPr>
        <p:grpSpPr bwMode="auto">
          <a:xfrm>
            <a:off x="5669839" y="2721623"/>
            <a:ext cx="477468" cy="309839"/>
            <a:chOff x="3202" y="3033"/>
            <a:chExt cx="309" cy="192"/>
          </a:xfrm>
        </p:grpSpPr>
        <p:sp>
          <p:nvSpPr>
            <p:cNvPr id="85" name="Oval 283"/>
            <p:cNvSpPr>
              <a:spLocks noChangeArrowheads="1"/>
            </p:cNvSpPr>
            <p:nvPr/>
          </p:nvSpPr>
          <p:spPr bwMode="auto">
            <a:xfrm>
              <a:off x="3203" y="3113"/>
              <a:ext cx="308" cy="112"/>
            </a:xfrm>
            <a:prstGeom prst="ellipse">
              <a:avLst/>
            </a:prstGeom>
            <a:solidFill>
              <a:srgbClr val="0078AA"/>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6" name="Rectangle 284"/>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7" name="Rectangle 285"/>
            <p:cNvSpPr>
              <a:spLocks noChangeArrowheads="1"/>
            </p:cNvSpPr>
            <p:nvPr/>
          </p:nvSpPr>
          <p:spPr bwMode="auto">
            <a:xfrm>
              <a:off x="3202" y="3090"/>
              <a:ext cx="308" cy="80"/>
            </a:xfrm>
            <a:prstGeom prst="rect">
              <a:avLst/>
            </a:prstGeom>
            <a:solidFill>
              <a:srgbClr val="0078AA"/>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88" name="Oval 286"/>
            <p:cNvSpPr>
              <a:spLocks noChangeArrowheads="1"/>
            </p:cNvSpPr>
            <p:nvPr/>
          </p:nvSpPr>
          <p:spPr bwMode="auto">
            <a:xfrm>
              <a:off x="3203" y="3033"/>
              <a:ext cx="308" cy="112"/>
            </a:xfrm>
            <a:prstGeom prst="ellipse">
              <a:avLst/>
            </a:prstGeom>
            <a:solidFill>
              <a:srgbClr val="00B4FF"/>
            </a:solidFill>
            <a:ln w="3175">
              <a:solidFill>
                <a:srgbClr val="AAE6FF"/>
              </a:solidFill>
              <a:round/>
              <a:headEnd/>
              <a:tailEnd/>
            </a:ln>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nvGrpSpPr>
            <p:cNvPr id="89" name="Group 287"/>
            <p:cNvGrpSpPr>
              <a:grpSpLocks/>
            </p:cNvGrpSpPr>
            <p:nvPr/>
          </p:nvGrpSpPr>
          <p:grpSpPr bwMode="auto">
            <a:xfrm>
              <a:off x="3249" y="3046"/>
              <a:ext cx="214" cy="86"/>
              <a:chOff x="3249" y="3046"/>
              <a:chExt cx="214" cy="86"/>
            </a:xfrm>
          </p:grpSpPr>
          <p:grpSp>
            <p:nvGrpSpPr>
              <p:cNvPr id="92" name="Group 288"/>
              <p:cNvGrpSpPr>
                <a:grpSpLocks/>
              </p:cNvGrpSpPr>
              <p:nvPr/>
            </p:nvGrpSpPr>
            <p:grpSpPr bwMode="auto">
              <a:xfrm>
                <a:off x="3249" y="3046"/>
                <a:ext cx="212" cy="84"/>
                <a:chOff x="3249" y="3046"/>
                <a:chExt cx="212" cy="84"/>
              </a:xfrm>
            </p:grpSpPr>
            <p:sp>
              <p:nvSpPr>
                <p:cNvPr id="102" name="Freeform 289"/>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3" name="Freeform 290"/>
                <p:cNvSpPr>
                  <a:spLocks/>
                </p:cNvSpPr>
                <p:nvPr/>
              </p:nvSpPr>
              <p:spPr bwMode="auto">
                <a:xfrm>
                  <a:off x="3360" y="3048"/>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4" name="Freeform 291"/>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5" name="Freeform 292"/>
                <p:cNvSpPr>
                  <a:spLocks/>
                </p:cNvSpPr>
                <p:nvPr/>
              </p:nvSpPr>
              <p:spPr bwMode="auto">
                <a:xfrm>
                  <a:off x="3249" y="3090"/>
                  <a:ext cx="102" cy="38"/>
                </a:xfrm>
                <a:custGeom>
                  <a:avLst/>
                  <a:gdLst>
                    <a:gd name="T0" fmla="*/ 102 w 102"/>
                    <a:gd name="T1" fmla="*/ 8 h 38"/>
                    <a:gd name="T2" fmla="*/ 79 w 102"/>
                    <a:gd name="T3" fmla="*/ 0 h 38"/>
                    <a:gd name="T4" fmla="*/ 26 w 102"/>
                    <a:gd name="T5" fmla="*/ 24 h 38"/>
                    <a:gd name="T6" fmla="*/ 0 w 102"/>
                    <a:gd name="T7" fmla="*/ 16 h 38"/>
                    <a:gd name="T8" fmla="*/ 13 w 102"/>
                    <a:gd name="T9" fmla="*/ 38 h 38"/>
                    <a:gd name="T10" fmla="*/ 79 w 102"/>
                    <a:gd name="T11" fmla="*/ 38 h 38"/>
                    <a:gd name="T12" fmla="*/ 51 w 102"/>
                    <a:gd name="T13" fmla="*/ 30 h 38"/>
                    <a:gd name="T14" fmla="*/ 102 w 102"/>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8">
                      <a:moveTo>
                        <a:pt x="102" y="8"/>
                      </a:moveTo>
                      <a:lnTo>
                        <a:pt x="79" y="0"/>
                      </a:lnTo>
                      <a:lnTo>
                        <a:pt x="26" y="24"/>
                      </a:lnTo>
                      <a:lnTo>
                        <a:pt x="0" y="16"/>
                      </a:lnTo>
                      <a:lnTo>
                        <a:pt x="13" y="38"/>
                      </a:lnTo>
                      <a:lnTo>
                        <a:pt x="79" y="38"/>
                      </a:lnTo>
                      <a:lnTo>
                        <a:pt x="51" y="30"/>
                      </a:lnTo>
                      <a:lnTo>
                        <a:pt x="102"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6" name="Freeform 293"/>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7" name="Freeform 294"/>
                <p:cNvSpPr>
                  <a:spLocks/>
                </p:cNvSpPr>
                <p:nvPr/>
              </p:nvSpPr>
              <p:spPr bwMode="auto">
                <a:xfrm>
                  <a:off x="3255" y="3046"/>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8" name="Freeform 295"/>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9" name="Freeform 296"/>
                <p:cNvSpPr>
                  <a:spLocks/>
                </p:cNvSpPr>
                <p:nvPr/>
              </p:nvSpPr>
              <p:spPr bwMode="auto">
                <a:xfrm>
                  <a:off x="3356" y="3094"/>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nvGrpSpPr>
              <p:cNvPr id="93" name="Group 297"/>
              <p:cNvGrpSpPr>
                <a:grpSpLocks/>
              </p:cNvGrpSpPr>
              <p:nvPr/>
            </p:nvGrpSpPr>
            <p:grpSpPr bwMode="auto">
              <a:xfrm>
                <a:off x="3251" y="3048"/>
                <a:ext cx="212" cy="84"/>
                <a:chOff x="3251" y="3048"/>
                <a:chExt cx="212" cy="84"/>
              </a:xfrm>
            </p:grpSpPr>
            <p:sp>
              <p:nvSpPr>
                <p:cNvPr id="94" name="Freeform 298"/>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5" name="Freeform 299"/>
                <p:cNvSpPr>
                  <a:spLocks/>
                </p:cNvSpPr>
                <p:nvPr/>
              </p:nvSpPr>
              <p:spPr bwMode="auto">
                <a:xfrm>
                  <a:off x="3362" y="3050"/>
                  <a:ext cx="101" cy="36"/>
                </a:xfrm>
                <a:custGeom>
                  <a:avLst/>
                  <a:gdLst>
                    <a:gd name="T0" fmla="*/ 0 w 101"/>
                    <a:gd name="T1" fmla="*/ 28 h 36"/>
                    <a:gd name="T2" fmla="*/ 22 w 101"/>
                    <a:gd name="T3" fmla="*/ 36 h 36"/>
                    <a:gd name="T4" fmla="*/ 77 w 101"/>
                    <a:gd name="T5" fmla="*/ 12 h 36"/>
                    <a:gd name="T6" fmla="*/ 101 w 101"/>
                    <a:gd name="T7" fmla="*/ 20 h 36"/>
                    <a:gd name="T8" fmla="*/ 88 w 101"/>
                    <a:gd name="T9" fmla="*/ 0 h 36"/>
                    <a:gd name="T10" fmla="*/ 24 w 101"/>
                    <a:gd name="T11" fmla="*/ 0 h 36"/>
                    <a:gd name="T12" fmla="*/ 51 w 101"/>
                    <a:gd name="T13" fmla="*/ 6 h 36"/>
                    <a:gd name="T14" fmla="*/ 0 w 101"/>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28"/>
                      </a:moveTo>
                      <a:lnTo>
                        <a:pt x="22" y="36"/>
                      </a:lnTo>
                      <a:lnTo>
                        <a:pt x="77" y="12"/>
                      </a:lnTo>
                      <a:lnTo>
                        <a:pt x="101" y="20"/>
                      </a:lnTo>
                      <a:lnTo>
                        <a:pt x="88" y="0"/>
                      </a:lnTo>
                      <a:lnTo>
                        <a:pt x="24" y="0"/>
                      </a:lnTo>
                      <a:lnTo>
                        <a:pt x="51" y="6"/>
                      </a:lnTo>
                      <a:lnTo>
                        <a:pt x="0"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6" name="Freeform 300"/>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7" name="Freeform 301"/>
                <p:cNvSpPr>
                  <a:spLocks/>
                </p:cNvSpPr>
                <p:nvPr/>
              </p:nvSpPr>
              <p:spPr bwMode="auto">
                <a:xfrm>
                  <a:off x="3251" y="3092"/>
                  <a:ext cx="101" cy="38"/>
                </a:xfrm>
                <a:custGeom>
                  <a:avLst/>
                  <a:gdLst>
                    <a:gd name="T0" fmla="*/ 101 w 101"/>
                    <a:gd name="T1" fmla="*/ 8 h 38"/>
                    <a:gd name="T2" fmla="*/ 79 w 101"/>
                    <a:gd name="T3" fmla="*/ 0 h 38"/>
                    <a:gd name="T4" fmla="*/ 26 w 101"/>
                    <a:gd name="T5" fmla="*/ 24 h 38"/>
                    <a:gd name="T6" fmla="*/ 0 w 101"/>
                    <a:gd name="T7" fmla="*/ 16 h 38"/>
                    <a:gd name="T8" fmla="*/ 13 w 101"/>
                    <a:gd name="T9" fmla="*/ 38 h 38"/>
                    <a:gd name="T10" fmla="*/ 79 w 101"/>
                    <a:gd name="T11" fmla="*/ 38 h 38"/>
                    <a:gd name="T12" fmla="*/ 51 w 101"/>
                    <a:gd name="T13" fmla="*/ 30 h 38"/>
                    <a:gd name="T14" fmla="*/ 101 w 101"/>
                    <a:gd name="T15" fmla="*/ 8 h 3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8">
                      <a:moveTo>
                        <a:pt x="101" y="8"/>
                      </a:moveTo>
                      <a:lnTo>
                        <a:pt x="79" y="0"/>
                      </a:lnTo>
                      <a:lnTo>
                        <a:pt x="26" y="24"/>
                      </a:lnTo>
                      <a:lnTo>
                        <a:pt x="0" y="16"/>
                      </a:lnTo>
                      <a:lnTo>
                        <a:pt x="13" y="38"/>
                      </a:lnTo>
                      <a:lnTo>
                        <a:pt x="79" y="38"/>
                      </a:lnTo>
                      <a:lnTo>
                        <a:pt x="51" y="30"/>
                      </a:lnTo>
                      <a:lnTo>
                        <a:pt x="101"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8" name="Freeform 302"/>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9" name="Freeform 303"/>
                <p:cNvSpPr>
                  <a:spLocks/>
                </p:cNvSpPr>
                <p:nvPr/>
              </p:nvSpPr>
              <p:spPr bwMode="auto">
                <a:xfrm>
                  <a:off x="3257" y="3048"/>
                  <a:ext cx="101" cy="36"/>
                </a:xfrm>
                <a:custGeom>
                  <a:avLst/>
                  <a:gdLst>
                    <a:gd name="T0" fmla="*/ 0 w 101"/>
                    <a:gd name="T1" fmla="*/ 8 h 36"/>
                    <a:gd name="T2" fmla="*/ 22 w 101"/>
                    <a:gd name="T3" fmla="*/ 0 h 36"/>
                    <a:gd name="T4" fmla="*/ 77 w 101"/>
                    <a:gd name="T5" fmla="*/ 22 h 36"/>
                    <a:gd name="T6" fmla="*/ 101 w 101"/>
                    <a:gd name="T7" fmla="*/ 16 h 36"/>
                    <a:gd name="T8" fmla="*/ 88 w 101"/>
                    <a:gd name="T9" fmla="*/ 36 h 36"/>
                    <a:gd name="T10" fmla="*/ 24 w 101"/>
                    <a:gd name="T11" fmla="*/ 36 h 36"/>
                    <a:gd name="T12" fmla="*/ 50 w 101"/>
                    <a:gd name="T13" fmla="*/ 30 h 36"/>
                    <a:gd name="T14" fmla="*/ 0 w 101"/>
                    <a:gd name="T15" fmla="*/ 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1" h="36">
                      <a:moveTo>
                        <a:pt x="0" y="8"/>
                      </a:moveTo>
                      <a:lnTo>
                        <a:pt x="22" y="0"/>
                      </a:lnTo>
                      <a:lnTo>
                        <a:pt x="77" y="22"/>
                      </a:lnTo>
                      <a:lnTo>
                        <a:pt x="101" y="16"/>
                      </a:lnTo>
                      <a:lnTo>
                        <a:pt x="88" y="36"/>
                      </a:lnTo>
                      <a:lnTo>
                        <a:pt x="24" y="36"/>
                      </a:lnTo>
                      <a:lnTo>
                        <a:pt x="50" y="30"/>
                      </a:lnTo>
                      <a:lnTo>
                        <a:pt x="0" y="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0" name="Freeform 304"/>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01" name="Freeform 305"/>
                <p:cNvSpPr>
                  <a:spLocks/>
                </p:cNvSpPr>
                <p:nvPr/>
              </p:nvSpPr>
              <p:spPr bwMode="auto">
                <a:xfrm>
                  <a:off x="3358" y="3096"/>
                  <a:ext cx="102" cy="36"/>
                </a:xfrm>
                <a:custGeom>
                  <a:avLst/>
                  <a:gdLst>
                    <a:gd name="T0" fmla="*/ 102 w 102"/>
                    <a:gd name="T1" fmla="*/ 28 h 36"/>
                    <a:gd name="T2" fmla="*/ 79 w 102"/>
                    <a:gd name="T3" fmla="*/ 36 h 36"/>
                    <a:gd name="T4" fmla="*/ 26 w 102"/>
                    <a:gd name="T5" fmla="*/ 12 h 36"/>
                    <a:gd name="T6" fmla="*/ 0 w 102"/>
                    <a:gd name="T7" fmla="*/ 20 h 36"/>
                    <a:gd name="T8" fmla="*/ 13 w 102"/>
                    <a:gd name="T9" fmla="*/ 0 h 36"/>
                    <a:gd name="T10" fmla="*/ 79 w 102"/>
                    <a:gd name="T11" fmla="*/ 0 h 36"/>
                    <a:gd name="T12" fmla="*/ 51 w 102"/>
                    <a:gd name="T13" fmla="*/ 6 h 36"/>
                    <a:gd name="T14" fmla="*/ 102 w 102"/>
                    <a:gd name="T15" fmla="*/ 28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02" h="36">
                      <a:moveTo>
                        <a:pt x="102" y="28"/>
                      </a:moveTo>
                      <a:lnTo>
                        <a:pt x="79" y="36"/>
                      </a:lnTo>
                      <a:lnTo>
                        <a:pt x="26" y="12"/>
                      </a:lnTo>
                      <a:lnTo>
                        <a:pt x="0" y="20"/>
                      </a:lnTo>
                      <a:lnTo>
                        <a:pt x="13" y="0"/>
                      </a:lnTo>
                      <a:lnTo>
                        <a:pt x="79" y="0"/>
                      </a:lnTo>
                      <a:lnTo>
                        <a:pt x="51" y="6"/>
                      </a:lnTo>
                      <a:lnTo>
                        <a:pt x="102" y="28"/>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grpSp>
        <p:sp>
          <p:nvSpPr>
            <p:cNvPr id="90" name="Line 306"/>
            <p:cNvSpPr>
              <a:spLocks noChangeShapeType="1"/>
            </p:cNvSpPr>
            <p:nvPr/>
          </p:nvSpPr>
          <p:spPr bwMode="auto">
            <a:xfrm>
              <a:off x="3202"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91" name="Line 307"/>
            <p:cNvSpPr>
              <a:spLocks noChangeShapeType="1"/>
            </p:cNvSpPr>
            <p:nvPr/>
          </p:nvSpPr>
          <p:spPr bwMode="auto">
            <a:xfrm>
              <a:off x="3510" y="3088"/>
              <a:ext cx="1" cy="80"/>
            </a:xfrm>
            <a:prstGeom prst="line">
              <a:avLst/>
            </a:prstGeom>
            <a:noFill/>
            <a:ln w="3175">
              <a:solidFill>
                <a:srgbClr val="AAE6FF"/>
              </a:solidFill>
              <a:round/>
              <a:headEnd/>
              <a:tailEnd/>
            </a:ln>
            <a:extLst>
              <a:ext uri="{909E8E84-426E-40DD-AFC4-6F175D3DCCD1}">
                <a14:hiddenFill xmlns:a14="http://schemas.microsoft.com/office/drawing/2010/main">
                  <a:noFill/>
                </a14:hiddenFill>
              </a:ext>
            </a:extLst>
          </p:spPr>
          <p:txBody>
            <a:bodyPr/>
            <a:lstStyle/>
            <a:p>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grpSp>
      <p:sp>
        <p:nvSpPr>
          <p:cNvPr id="110" name="Rectangle 308"/>
          <p:cNvSpPr>
            <a:spLocks noChangeArrowheads="1"/>
          </p:cNvSpPr>
          <p:nvPr/>
        </p:nvSpPr>
        <p:spPr bwMode="auto">
          <a:xfrm>
            <a:off x="6156415" y="2370952"/>
            <a:ext cx="729863" cy="3230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sp>
        <p:nvSpPr>
          <p:cNvPr id="121" name="Rectangle 310"/>
          <p:cNvSpPr>
            <a:spLocks noChangeArrowheads="1"/>
          </p:cNvSpPr>
          <p:nvPr/>
        </p:nvSpPr>
        <p:spPr bwMode="auto">
          <a:xfrm>
            <a:off x="3635069" y="2444208"/>
            <a:ext cx="327853" cy="3014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sz="1400" b="1" dirty="0">
              <a:solidFill>
                <a:srgbClr val="000099"/>
              </a:solidFill>
              <a:latin typeface="微软雅黑 Light" panose="020B0502040204020203" pitchFamily="34" charset="-122"/>
              <a:ea typeface="微软雅黑 Light" panose="020B0502040204020203" pitchFamily="34" charset="-122"/>
            </a:endParaRPr>
          </a:p>
        </p:txBody>
      </p:sp>
      <p:pic>
        <p:nvPicPr>
          <p:cNvPr id="128" name="图片 127"/>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1513313"/>
            <a:ext cx="441076" cy="617506"/>
          </a:xfrm>
          <a:prstGeom prst="rect">
            <a:avLst/>
          </a:prstGeom>
        </p:spPr>
      </p:pic>
      <p:pic>
        <p:nvPicPr>
          <p:cNvPr id="133" name="图片 13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175800"/>
            <a:ext cx="441076" cy="617506"/>
          </a:xfrm>
          <a:prstGeom prst="rect">
            <a:avLst/>
          </a:prstGeom>
        </p:spPr>
      </p:pic>
      <p:pic>
        <p:nvPicPr>
          <p:cNvPr id="134" name="图片 13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699008" y="2895880"/>
            <a:ext cx="441076" cy="617506"/>
          </a:xfrm>
          <a:prstGeom prst="rect">
            <a:avLst/>
          </a:prstGeom>
        </p:spPr>
      </p:pic>
      <p:pic>
        <p:nvPicPr>
          <p:cNvPr id="135" name="图片 134"/>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441832" y="3471944"/>
            <a:ext cx="441076" cy="617506"/>
          </a:xfrm>
          <a:prstGeom prst="rect">
            <a:avLst/>
          </a:prstGeom>
        </p:spPr>
      </p:pic>
      <p:cxnSp>
        <p:nvCxnSpPr>
          <p:cNvPr id="143" name="直接箭头连接符 142"/>
          <p:cNvCxnSpPr/>
          <p:nvPr/>
        </p:nvCxnSpPr>
        <p:spPr>
          <a:xfrm flipH="1">
            <a:off x="2977610" y="3708250"/>
            <a:ext cx="821385" cy="134797"/>
          </a:xfrm>
          <a:prstGeom prst="straightConnector1">
            <a:avLst/>
          </a:prstGeom>
          <a:ln w="19050">
            <a:solidFill>
              <a:srgbClr val="0000FF"/>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3" name="直接箭头连接符 112"/>
          <p:cNvCxnSpPr/>
          <p:nvPr/>
        </p:nvCxnSpPr>
        <p:spPr>
          <a:xfrm>
            <a:off x="1825374" y="1963801"/>
            <a:ext cx="1034974" cy="1620917"/>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4" name="直接箭头连接符 113"/>
          <p:cNvCxnSpPr/>
          <p:nvPr/>
        </p:nvCxnSpPr>
        <p:spPr>
          <a:xfrm>
            <a:off x="1825374" y="2560698"/>
            <a:ext cx="881176" cy="1024020"/>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a:xfrm>
            <a:off x="1290296" y="2967888"/>
            <a:ext cx="1483088" cy="740362"/>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a:xfrm>
            <a:off x="1775935" y="3573454"/>
            <a:ext cx="952317" cy="269593"/>
          </a:xfrm>
          <a:prstGeom prst="straightConnector1">
            <a:avLst/>
          </a:prstGeom>
          <a:ln w="38100">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2" name="标题 1">
            <a:extLst>
              <a:ext uri="{FF2B5EF4-FFF2-40B4-BE49-F238E27FC236}">
                <a16:creationId xmlns:a16="http://schemas.microsoft.com/office/drawing/2014/main" id="{4560B5F8-0F99-FBBF-E884-D57A71BC3583}"/>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a:t>
            </a:r>
            <a:r>
              <a:rPr lang="zh-CN" altLang="en-US" dirty="0"/>
              <a:t>代理服务器</a:t>
            </a:r>
          </a:p>
        </p:txBody>
      </p:sp>
      <p:sp>
        <p:nvSpPr>
          <p:cNvPr id="3" name="内容占位符 2">
            <a:extLst>
              <a:ext uri="{FF2B5EF4-FFF2-40B4-BE49-F238E27FC236}">
                <a16:creationId xmlns:a16="http://schemas.microsoft.com/office/drawing/2014/main" id="{1B103C35-0A92-9DBA-3435-CCB55F285925}"/>
              </a:ext>
            </a:extLst>
          </p:cNvPr>
          <p:cNvSpPr>
            <a:spLocks noGrp="1"/>
          </p:cNvSpPr>
          <p:nvPr>
            <p:ph sz="quarter" idx="11"/>
          </p:nvPr>
        </p:nvSpPr>
        <p:spPr>
          <a:xfrm>
            <a:off x="486000" y="687518"/>
            <a:ext cx="8172000" cy="4079035"/>
          </a:xfrm>
        </p:spPr>
        <p:txBody>
          <a:bodyPr/>
          <a:lstStyle/>
          <a:p>
            <a:r>
              <a:rPr lang="zh-CN" altLang="en-US" dirty="0"/>
              <a:t>使用高速缓存的情况</a:t>
            </a:r>
          </a:p>
          <a:p>
            <a:endParaRPr lang="zh-CN" altLang="en-US" dirty="0"/>
          </a:p>
        </p:txBody>
      </p:sp>
      <p:sp>
        <p:nvSpPr>
          <p:cNvPr id="4" name="Rectangle 281">
            <a:extLst>
              <a:ext uri="{FF2B5EF4-FFF2-40B4-BE49-F238E27FC236}">
                <a16:creationId xmlns:a16="http://schemas.microsoft.com/office/drawing/2014/main" id="{68D31A94-9F9B-921E-368D-DA2935ED1706}"/>
              </a:ext>
            </a:extLst>
          </p:cNvPr>
          <p:cNvSpPr>
            <a:spLocks noChangeArrowheads="1"/>
          </p:cNvSpPr>
          <p:nvPr/>
        </p:nvSpPr>
        <p:spPr bwMode="auto">
          <a:xfrm>
            <a:off x="4374843" y="2614739"/>
            <a:ext cx="711733"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2 Mbit/s</a:t>
            </a:r>
          </a:p>
        </p:txBody>
      </p:sp>
      <p:sp>
        <p:nvSpPr>
          <p:cNvPr id="5" name="Rectangle 309">
            <a:extLst>
              <a:ext uri="{FF2B5EF4-FFF2-40B4-BE49-F238E27FC236}">
                <a16:creationId xmlns:a16="http://schemas.microsoft.com/office/drawing/2014/main" id="{5D1076AD-4B16-0528-4D81-D861F47F8A4E}"/>
              </a:ext>
            </a:extLst>
          </p:cNvPr>
          <p:cNvSpPr>
            <a:spLocks noChangeArrowheads="1"/>
          </p:cNvSpPr>
          <p:nvPr/>
        </p:nvSpPr>
        <p:spPr bwMode="auto">
          <a:xfrm>
            <a:off x="6538749" y="2811692"/>
            <a:ext cx="538609"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zh-CN" altLang="en-US" sz="1400" dirty="0">
                <a:latin typeface="Montserrat" panose="00000500000000000000" pitchFamily="2" charset="0"/>
                <a:ea typeface="微软雅黑 Light" panose="020B0502040204020203" pitchFamily="34" charset="-122"/>
              </a:rPr>
              <a:t>互联网</a:t>
            </a:r>
          </a:p>
        </p:txBody>
      </p:sp>
      <p:sp>
        <p:nvSpPr>
          <p:cNvPr id="6" name="Rectangle 314">
            <a:extLst>
              <a:ext uri="{FF2B5EF4-FFF2-40B4-BE49-F238E27FC236}">
                <a16:creationId xmlns:a16="http://schemas.microsoft.com/office/drawing/2014/main" id="{3B25CDB7-BB3D-6253-C12E-FD13A65A27AD}"/>
              </a:ext>
            </a:extLst>
          </p:cNvPr>
          <p:cNvSpPr>
            <a:spLocks noChangeArrowheads="1"/>
          </p:cNvSpPr>
          <p:nvPr/>
        </p:nvSpPr>
        <p:spPr bwMode="auto">
          <a:xfrm>
            <a:off x="3631167" y="2464624"/>
            <a:ext cx="17312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7" name="Rectangle 315">
            <a:extLst>
              <a:ext uri="{FF2B5EF4-FFF2-40B4-BE49-F238E27FC236}">
                <a16:creationId xmlns:a16="http://schemas.microsoft.com/office/drawing/2014/main" id="{EBC4CD57-30CB-07E2-0FB9-B8DB9F008574}"/>
              </a:ext>
            </a:extLst>
          </p:cNvPr>
          <p:cNvSpPr>
            <a:spLocks noChangeArrowheads="1"/>
          </p:cNvSpPr>
          <p:nvPr/>
        </p:nvSpPr>
        <p:spPr bwMode="auto">
          <a:xfrm>
            <a:off x="5779123" y="2465824"/>
            <a:ext cx="19717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eaLnBrk="1" hangingPunct="1"/>
            <a:r>
              <a:rPr kumimoji="1" lang="en-US" altLang="zh-CN" sz="1400" dirty="0">
                <a:latin typeface="Montserrat" panose="00000500000000000000" pitchFamily="2" charset="0"/>
                <a:ea typeface="微软雅黑 Light" panose="020B0502040204020203" pitchFamily="34" charset="-122"/>
              </a:rPr>
              <a:t>R</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8" name="Text Box 328">
            <a:extLst>
              <a:ext uri="{FF2B5EF4-FFF2-40B4-BE49-F238E27FC236}">
                <a16:creationId xmlns:a16="http://schemas.microsoft.com/office/drawing/2014/main" id="{222AF1CF-1B66-8E85-1926-23DB5E73AB91}"/>
              </a:ext>
            </a:extLst>
          </p:cNvPr>
          <p:cNvSpPr txBox="1">
            <a:spLocks noChangeArrowheads="1"/>
          </p:cNvSpPr>
          <p:nvPr/>
        </p:nvSpPr>
        <p:spPr bwMode="auto">
          <a:xfrm>
            <a:off x="3761576" y="3548615"/>
            <a:ext cx="1621051" cy="52360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zh-CN" altLang="en-US" sz="1400" dirty="0">
                <a:latin typeface="Montserrat" panose="00000500000000000000" pitchFamily="2" charset="0"/>
                <a:ea typeface="微软雅黑 Light" panose="020B0502040204020203" pitchFamily="34" charset="-122"/>
              </a:rPr>
              <a:t>校园网的高速缓存</a:t>
            </a:r>
          </a:p>
          <a:p>
            <a:pPr algn="ctr"/>
            <a:r>
              <a:rPr lang="zh-CN" altLang="en-US" sz="1400" dirty="0">
                <a:latin typeface="Montserrat" panose="00000500000000000000" pitchFamily="2" charset="0"/>
                <a:ea typeface="微软雅黑 Light" panose="020B0502040204020203" pitchFamily="34" charset="-122"/>
              </a:rPr>
              <a:t>（代理服务器）</a:t>
            </a:r>
          </a:p>
        </p:txBody>
      </p:sp>
      <p:sp>
        <p:nvSpPr>
          <p:cNvPr id="9" name="Rectangle 279">
            <a:extLst>
              <a:ext uri="{FF2B5EF4-FFF2-40B4-BE49-F238E27FC236}">
                <a16:creationId xmlns:a16="http://schemas.microsoft.com/office/drawing/2014/main" id="{1E2381FD-C897-163A-7880-ADA444DC890A}"/>
              </a:ext>
            </a:extLst>
          </p:cNvPr>
          <p:cNvSpPr>
            <a:spLocks noChangeArrowheads="1"/>
          </p:cNvSpPr>
          <p:nvPr/>
        </p:nvSpPr>
        <p:spPr bwMode="auto">
          <a:xfrm>
            <a:off x="7350735" y="1274990"/>
            <a:ext cx="1090397"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1" lang="zh-CN" altLang="en-US" sz="1400" dirty="0">
                <a:latin typeface="Montserrat" panose="00000500000000000000" pitchFamily="2" charset="0"/>
                <a:ea typeface="微软雅黑 Light" panose="020B0502040204020203" pitchFamily="34" charset="-122"/>
              </a:rPr>
              <a:t>源点服务器</a:t>
            </a:r>
          </a:p>
        </p:txBody>
      </p:sp>
      <p:sp>
        <p:nvSpPr>
          <p:cNvPr id="10" name="矩形 9">
            <a:extLst>
              <a:ext uri="{FF2B5EF4-FFF2-40B4-BE49-F238E27FC236}">
                <a16:creationId xmlns:a16="http://schemas.microsoft.com/office/drawing/2014/main" id="{6F86043E-5B6D-5592-29AE-2A56279A98C7}"/>
              </a:ext>
            </a:extLst>
          </p:cNvPr>
          <p:cNvSpPr/>
          <p:nvPr/>
        </p:nvSpPr>
        <p:spPr>
          <a:xfrm>
            <a:off x="4004325" y="908563"/>
            <a:ext cx="3297333" cy="1169551"/>
          </a:xfrm>
          <a:prstGeom prst="rect">
            <a:avLst/>
          </a:prstGeom>
          <a:noFill/>
          <a:ln>
            <a:solidFill>
              <a:schemeClr val="tx1"/>
            </a:solidFill>
          </a:ln>
        </p:spPr>
        <p:txBody>
          <a:bodyPr wrap="square">
            <a:spAutoFit/>
          </a:bodyPr>
          <a:lstStyle/>
          <a:p>
            <a:pPr algn="just"/>
            <a:r>
              <a:rPr kumimoji="1" lang="en-US" altLang="zh-CN" sz="1400" dirty="0">
                <a:latin typeface="Montserrat" panose="00000500000000000000" pitchFamily="2" charset="0"/>
                <a:ea typeface="微软雅黑 Light" panose="020B0502040204020203" pitchFamily="34" charset="-122"/>
              </a:rPr>
              <a:t>(5) </a:t>
            </a:r>
            <a:r>
              <a:rPr kumimoji="1" lang="zh-CN" altLang="en-US" sz="1400" dirty="0">
                <a:latin typeface="Montserrat" panose="00000500000000000000" pitchFamily="2" charset="0"/>
                <a:ea typeface="微软雅黑 Light" panose="020B0502040204020203" pitchFamily="34" charset="-122"/>
              </a:rPr>
              <a:t>高速缓存收到对象后，先复制到本地存储器中（留待以后用），然后将该对象放在 </a:t>
            </a:r>
            <a:r>
              <a:rPr kumimoji="1" lang="en-US" altLang="zh-CN" sz="1400" dirty="0">
                <a:latin typeface="Montserrat" panose="00000500000000000000" pitchFamily="2" charset="0"/>
                <a:ea typeface="微软雅黑 Light" panose="020B0502040204020203" pitchFamily="34" charset="-122"/>
              </a:rPr>
              <a:t>HTTP </a:t>
            </a:r>
            <a:r>
              <a:rPr kumimoji="1" lang="zh-CN" altLang="en-US" sz="1400" dirty="0">
                <a:latin typeface="Montserrat" panose="00000500000000000000" pitchFamily="2" charset="0"/>
                <a:ea typeface="微软雅黑 Light" panose="020B0502040204020203" pitchFamily="34" charset="-122"/>
              </a:rPr>
              <a:t>响应报文中，通过已建立的 </a:t>
            </a:r>
            <a:r>
              <a:rPr kumimoji="1" lang="en-US" altLang="zh-CN" sz="1400" dirty="0">
                <a:latin typeface="Montserrat" panose="00000500000000000000" pitchFamily="2" charset="0"/>
                <a:ea typeface="微软雅黑 Light" panose="020B0502040204020203" pitchFamily="34" charset="-122"/>
              </a:rPr>
              <a:t>TCP </a:t>
            </a:r>
            <a:r>
              <a:rPr kumimoji="1" lang="zh-CN" altLang="en-US" sz="1400" dirty="0">
                <a:latin typeface="Montserrat" panose="00000500000000000000" pitchFamily="2" charset="0"/>
                <a:ea typeface="微软雅黑 Light" panose="020B0502040204020203" pitchFamily="34" charset="-122"/>
              </a:rPr>
              <a:t>连接，返回给请求该对象的浏览器</a:t>
            </a:r>
          </a:p>
        </p:txBody>
      </p:sp>
      <p:sp>
        <p:nvSpPr>
          <p:cNvPr id="11" name="云形 10">
            <a:extLst>
              <a:ext uri="{FF2B5EF4-FFF2-40B4-BE49-F238E27FC236}">
                <a16:creationId xmlns:a16="http://schemas.microsoft.com/office/drawing/2014/main" id="{F4DB7647-F29F-477C-9C1C-9B6503291ECD}"/>
              </a:ext>
            </a:extLst>
          </p:cNvPr>
          <p:cNvSpPr/>
          <p:nvPr/>
        </p:nvSpPr>
        <p:spPr>
          <a:xfrm>
            <a:off x="434820" y="1153390"/>
            <a:ext cx="3611524" cy="3041339"/>
          </a:xfrm>
          <a:prstGeom prst="cloud">
            <a:avLst/>
          </a:prstGeom>
          <a:no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2643020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3"/>
                                        </p:tgtEl>
                                        <p:attrNameLst>
                                          <p:attrName>style.visibility</p:attrName>
                                        </p:attrNameLst>
                                      </p:cBhvr>
                                      <p:to>
                                        <p:strVal val="visible"/>
                                      </p:to>
                                    </p:set>
                                    <p:animEffect transition="in" filter="wipe(down)">
                                      <p:cBhvr>
                                        <p:cTn id="7" dur="2000"/>
                                        <p:tgtEl>
                                          <p:spTgt spid="113"/>
                                        </p:tgtEl>
                                      </p:cBhvr>
                                    </p:animEffect>
                                  </p:childTnLst>
                                </p:cTn>
                              </p:par>
                            </p:childTnLst>
                          </p:cTn>
                        </p:par>
                        <p:par>
                          <p:cTn id="8" fill="hold">
                            <p:stCondLst>
                              <p:cond delay="2000"/>
                            </p:stCondLst>
                            <p:childTnLst>
                              <p:par>
                                <p:cTn id="9" presetID="22" presetClass="entr" presetSubtype="4" fill="hold" nodeType="afterEffect">
                                  <p:stCondLst>
                                    <p:cond delay="0"/>
                                  </p:stCondLst>
                                  <p:childTnLst>
                                    <p:set>
                                      <p:cBhvr>
                                        <p:cTn id="10" dur="1" fill="hold">
                                          <p:stCondLst>
                                            <p:cond delay="0"/>
                                          </p:stCondLst>
                                        </p:cTn>
                                        <p:tgtEl>
                                          <p:spTgt spid="114"/>
                                        </p:tgtEl>
                                        <p:attrNameLst>
                                          <p:attrName>style.visibility</p:attrName>
                                        </p:attrNameLst>
                                      </p:cBhvr>
                                      <p:to>
                                        <p:strVal val="visible"/>
                                      </p:to>
                                    </p:set>
                                    <p:animEffect transition="in" filter="wipe(down)">
                                      <p:cBhvr>
                                        <p:cTn id="11" dur="2000"/>
                                        <p:tgtEl>
                                          <p:spTgt spid="114"/>
                                        </p:tgtEl>
                                      </p:cBhvr>
                                    </p:animEffect>
                                  </p:childTnLst>
                                </p:cTn>
                              </p:par>
                            </p:childTnLst>
                          </p:cTn>
                        </p:par>
                        <p:par>
                          <p:cTn id="12" fill="hold">
                            <p:stCondLst>
                              <p:cond delay="4000"/>
                            </p:stCondLst>
                            <p:childTnLst>
                              <p:par>
                                <p:cTn id="13" presetID="22" presetClass="entr" presetSubtype="4" fill="hold" nodeType="afterEffect">
                                  <p:stCondLst>
                                    <p:cond delay="0"/>
                                  </p:stCondLst>
                                  <p:childTnLst>
                                    <p:set>
                                      <p:cBhvr>
                                        <p:cTn id="14" dur="1" fill="hold">
                                          <p:stCondLst>
                                            <p:cond delay="0"/>
                                          </p:stCondLst>
                                        </p:cTn>
                                        <p:tgtEl>
                                          <p:spTgt spid="115"/>
                                        </p:tgtEl>
                                        <p:attrNameLst>
                                          <p:attrName>style.visibility</p:attrName>
                                        </p:attrNameLst>
                                      </p:cBhvr>
                                      <p:to>
                                        <p:strVal val="visible"/>
                                      </p:to>
                                    </p:set>
                                    <p:animEffect transition="in" filter="wipe(down)">
                                      <p:cBhvr>
                                        <p:cTn id="15" dur="2000"/>
                                        <p:tgtEl>
                                          <p:spTgt spid="115"/>
                                        </p:tgtEl>
                                      </p:cBhvr>
                                    </p:animEffect>
                                  </p:childTnLst>
                                </p:cTn>
                              </p:par>
                            </p:childTnLst>
                          </p:cTn>
                        </p:par>
                        <p:par>
                          <p:cTn id="16" fill="hold">
                            <p:stCondLst>
                              <p:cond delay="6000"/>
                            </p:stCondLst>
                            <p:childTnLst>
                              <p:par>
                                <p:cTn id="17" presetID="22" presetClass="entr" presetSubtype="4" fill="hold" nodeType="afterEffect">
                                  <p:stCondLst>
                                    <p:cond delay="0"/>
                                  </p:stCondLst>
                                  <p:childTnLst>
                                    <p:set>
                                      <p:cBhvr>
                                        <p:cTn id="18" dur="1" fill="hold">
                                          <p:stCondLst>
                                            <p:cond delay="0"/>
                                          </p:stCondLst>
                                        </p:cTn>
                                        <p:tgtEl>
                                          <p:spTgt spid="117"/>
                                        </p:tgtEl>
                                        <p:attrNameLst>
                                          <p:attrName>style.visibility</p:attrName>
                                        </p:attrNameLst>
                                      </p:cBhvr>
                                      <p:to>
                                        <p:strVal val="visible"/>
                                      </p:to>
                                    </p:set>
                                    <p:animEffect transition="in" filter="wipe(down)">
                                      <p:cBhvr>
                                        <p:cTn id="19" dur="2000"/>
                                        <p:tgtEl>
                                          <p:spTgt spid="1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6A0FB0-4091-032C-87C4-02F0556438AA}"/>
              </a:ext>
            </a:extLst>
          </p:cNvPr>
          <p:cNvSpPr>
            <a:spLocks noGrp="1"/>
          </p:cNvSpPr>
          <p:nvPr>
            <p:ph type="title"/>
          </p:nvPr>
        </p:nvSpPr>
        <p:spPr>
          <a:xfrm>
            <a:off x="485999" y="174482"/>
            <a:ext cx="8171999" cy="338554"/>
          </a:xfrm>
        </p:spPr>
        <p:txBody>
          <a:bodyPr/>
          <a:lstStyle/>
          <a:p>
            <a:r>
              <a:rPr lang="en-US" altLang="zh-CN" dirty="0"/>
              <a:t>6.4.3  </a:t>
            </a:r>
            <a:r>
              <a:rPr lang="zh-CN" altLang="en-US" dirty="0"/>
              <a:t>超文本传送协议 </a:t>
            </a:r>
            <a:r>
              <a:rPr lang="en-US" altLang="zh-CN" dirty="0"/>
              <a:t>HTTP - HTTP </a:t>
            </a:r>
            <a:r>
              <a:rPr lang="zh-CN" altLang="en-US" dirty="0"/>
              <a:t>的报文结构</a:t>
            </a:r>
          </a:p>
        </p:txBody>
      </p:sp>
      <p:sp>
        <p:nvSpPr>
          <p:cNvPr id="3" name="内容占位符 2">
            <a:extLst>
              <a:ext uri="{FF2B5EF4-FFF2-40B4-BE49-F238E27FC236}">
                <a16:creationId xmlns:a16="http://schemas.microsoft.com/office/drawing/2014/main" id="{ECE1610A-3EAE-ACC6-1597-D95BF673976E}"/>
              </a:ext>
            </a:extLst>
          </p:cNvPr>
          <p:cNvSpPr>
            <a:spLocks noGrp="1"/>
          </p:cNvSpPr>
          <p:nvPr>
            <p:ph sz="quarter" idx="11"/>
          </p:nvPr>
        </p:nvSpPr>
        <p:spPr>
          <a:xfrm>
            <a:off x="486000" y="687518"/>
            <a:ext cx="8172000" cy="4079035"/>
          </a:xfrm>
        </p:spPr>
        <p:txBody>
          <a:bodyPr/>
          <a:lstStyle/>
          <a:p>
            <a:r>
              <a:rPr lang="zh-CN" altLang="en-US" dirty="0"/>
              <a:t>两类报文：</a:t>
            </a:r>
          </a:p>
          <a:p>
            <a:pPr lvl="1"/>
            <a:r>
              <a:rPr lang="zh-CN" altLang="en-US" dirty="0"/>
              <a:t>请求报文：从客户向服务器的请求</a:t>
            </a:r>
          </a:p>
          <a:p>
            <a:pPr lvl="1"/>
            <a:r>
              <a:rPr lang="zh-CN" altLang="en-US" dirty="0"/>
              <a:t>响应报文：从服务器到客户的回答</a:t>
            </a:r>
          </a:p>
          <a:p>
            <a:r>
              <a:rPr lang="zh-CN" altLang="en-US" dirty="0"/>
              <a:t>由于 </a:t>
            </a:r>
            <a:r>
              <a:rPr lang="en-US" altLang="zh-CN" dirty="0"/>
              <a:t>HTTP </a:t>
            </a:r>
            <a:r>
              <a:rPr lang="zh-CN" altLang="en-US" dirty="0"/>
              <a:t>是面向正文的 </a:t>
            </a:r>
            <a:r>
              <a:rPr lang="en-US" altLang="zh-CN" dirty="0"/>
              <a:t>(text-oriented)</a:t>
            </a:r>
            <a:r>
              <a:rPr lang="zh-CN" altLang="en-US" dirty="0"/>
              <a:t>，因此报文中每一个字段的值都是一些 </a:t>
            </a:r>
            <a:r>
              <a:rPr lang="en-US" altLang="zh-CN" dirty="0"/>
              <a:t>ASCII </a:t>
            </a:r>
            <a:r>
              <a:rPr lang="zh-CN" altLang="en-US" dirty="0"/>
              <a:t>码串，每个字段的长度都是不确定的</a:t>
            </a:r>
            <a:endParaRPr lang="en-US" altLang="zh-CN" dirty="0"/>
          </a:p>
          <a:p>
            <a:r>
              <a:rPr lang="zh-CN" altLang="en-US" dirty="0"/>
              <a:t>三个组成部分：</a:t>
            </a:r>
            <a:endParaRPr lang="en-US" altLang="zh-CN" dirty="0"/>
          </a:p>
          <a:p>
            <a:pPr lvl="1"/>
            <a:r>
              <a:rPr lang="zh-CN" altLang="en-US" dirty="0"/>
              <a:t>开始行：用于区分是请求报文还是响应报文</a:t>
            </a:r>
            <a:endParaRPr lang="en-US" altLang="zh-CN" dirty="0"/>
          </a:p>
          <a:p>
            <a:pPr lvl="1"/>
            <a:r>
              <a:rPr lang="zh-CN" altLang="en-US" dirty="0"/>
              <a:t>首部行：说明浏览器、服务器或报文主体的一些信息。可以有多行，也可以不使用</a:t>
            </a:r>
            <a:endParaRPr lang="en-US" altLang="zh-CN" dirty="0"/>
          </a:p>
          <a:p>
            <a:pPr lvl="1"/>
            <a:r>
              <a:rPr lang="zh-CN" altLang="en-US" dirty="0"/>
              <a:t>实体主体：请求报文中一般不用，响应报文中也可能没有该字段</a:t>
            </a:r>
            <a:endParaRPr lang="en-US" altLang="zh-CN" dirty="0"/>
          </a:p>
          <a:p>
            <a:endParaRPr lang="zh-CN" altLang="en-US" dirty="0"/>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方   法</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68" name="Text Box 41"/>
          <p:cNvSpPr txBox="1">
            <a:spLocks noChangeArrowheads="1"/>
          </p:cNvSpPr>
          <p:nvPr/>
        </p:nvSpPr>
        <p:spPr bwMode="auto">
          <a:xfrm>
            <a:off x="3802295" y="1414998"/>
            <a:ext cx="50847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URL</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版   本</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Montserrat" panose="00000500000000000000" pitchFamily="2" charset="0"/>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75" name="Text Box 49"/>
          <p:cNvSpPr txBox="1">
            <a:spLocks noChangeArrowheads="1"/>
          </p:cNvSpPr>
          <p:nvPr/>
        </p:nvSpPr>
        <p:spPr bwMode="auto">
          <a:xfrm>
            <a:off x="3744379" y="1685708"/>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solidFill>
                  <a:schemeClr val="bg1"/>
                </a:solidFill>
                <a:latin typeface="Montserrat" panose="00000500000000000000" pitchFamily="2" charset="0"/>
                <a:ea typeface="微软雅黑 Light" panose="020B0502040204020203" pitchFamily="34" charset="-122"/>
              </a:rPr>
              <a:t>值</a:t>
            </a:r>
          </a:p>
        </p:txBody>
      </p:sp>
      <p:sp>
        <p:nvSpPr>
          <p:cNvPr id="179" name="Text Box 54"/>
          <p:cNvSpPr txBox="1">
            <a:spLocks noChangeArrowheads="1"/>
          </p:cNvSpPr>
          <p:nvPr/>
        </p:nvSpPr>
        <p:spPr bwMode="auto">
          <a:xfrm>
            <a:off x="3730382" y="2625412"/>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noFill/>
          <a:ln w="9525">
            <a:solidFill>
              <a:schemeClr val="tx1"/>
            </a:solidFill>
            <a:miter lim="800000"/>
            <a:headEnd/>
            <a:tailEnd/>
          </a:ln>
          <a:effectLst/>
        </p:spPr>
        <p:txBody>
          <a:bodyPr wrap="none" anchor="ctr"/>
          <a:lstStyle/>
          <a:p>
            <a:pPr algn="ctr"/>
            <a:r>
              <a:rPr kumimoji="1" lang="zh-CN" altLang="en-US" sz="1200" dirty="0">
                <a:latin typeface="Montserrat" panose="00000500000000000000" pitchFamily="2" charset="0"/>
                <a:ea typeface="微软雅黑 Light" panose="020B0502040204020203" pitchFamily="34" charset="-122"/>
              </a:rPr>
              <a:t>实体主体</a:t>
            </a:r>
          </a:p>
          <a:p>
            <a:pPr algn="ctr"/>
            <a:r>
              <a:rPr kumimoji="1" lang="zh-CN" altLang="en-US" sz="1200" dirty="0">
                <a:latin typeface="Montserrat" panose="00000500000000000000" pitchFamily="2" charset="0"/>
                <a:ea typeface="微软雅黑 Light" panose="020B0502040204020203" pitchFamily="34" charset="-122"/>
              </a:rPr>
              <a:t>（通常不用）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dirty="0">
              <a:latin typeface="Montserrat" panose="00000500000000000000" pitchFamily="2" charset="0"/>
              <a:ea typeface="微软雅黑 Light" panose="020B0502040204020203" pitchFamily="34" charset="-122"/>
            </a:endParaRPr>
          </a:p>
        </p:txBody>
      </p:sp>
      <p:sp>
        <p:nvSpPr>
          <p:cNvPr id="196" name="Text Box 71"/>
          <p:cNvSpPr txBox="1">
            <a:spLocks noChangeArrowheads="1"/>
          </p:cNvSpPr>
          <p:nvPr/>
        </p:nvSpPr>
        <p:spPr bwMode="auto">
          <a:xfrm>
            <a:off x="3744379" y="2221940"/>
            <a:ext cx="2167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a:t>
            </a:r>
          </a:p>
        </p:txBody>
      </p:sp>
      <p:sp>
        <p:nvSpPr>
          <p:cNvPr id="197" name="Text Box 72"/>
          <p:cNvSpPr txBox="1">
            <a:spLocks noChangeArrowheads="1"/>
          </p:cNvSpPr>
          <p:nvPr/>
        </p:nvSpPr>
        <p:spPr bwMode="auto">
          <a:xfrm>
            <a:off x="5429318" y="141499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0" name="Text Box 75"/>
          <p:cNvSpPr txBox="1">
            <a:spLocks noChangeArrowheads="1"/>
          </p:cNvSpPr>
          <p:nvPr/>
        </p:nvSpPr>
        <p:spPr bwMode="auto">
          <a:xfrm>
            <a:off x="2710121" y="2482278"/>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2" name="Rectangle 132"/>
          <p:cNvSpPr>
            <a:spLocks noChangeArrowheads="1"/>
          </p:cNvSpPr>
          <p:nvPr/>
        </p:nvSpPr>
        <p:spPr bwMode="auto">
          <a:xfrm>
            <a:off x="2622488" y="1386996"/>
            <a:ext cx="362259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dirty="0">
              <a:latin typeface="Montserrat" panose="00000500000000000000" pitchFamily="2" charset="0"/>
              <a:ea typeface="微软雅黑 Light" panose="020B0502040204020203" pitchFamily="34" charset="-122"/>
            </a:endParaRPr>
          </a:p>
        </p:txBody>
      </p:sp>
      <p:sp>
        <p:nvSpPr>
          <p:cNvPr id="203"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dirty="0">
                <a:latin typeface="Montserrat" panose="00000500000000000000" pitchFamily="2" charset="0"/>
                <a:ea typeface="微软雅黑 Light" panose="020B0502040204020203" pitchFamily="34" charset="-122"/>
              </a:rPr>
              <a:t>请求行</a:t>
            </a:r>
          </a:p>
        </p:txBody>
      </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5" name="Text Box 74"/>
          <p:cNvSpPr txBox="1">
            <a:spLocks noChangeArrowheads="1"/>
          </p:cNvSpPr>
          <p:nvPr/>
        </p:nvSpPr>
        <p:spPr bwMode="auto">
          <a:xfrm>
            <a:off x="4314671" y="1697117"/>
            <a:ext cx="5950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solidFill>
                  <a:srgbClr val="FFFF00"/>
                </a:solidFill>
                <a:latin typeface="Montserrat" panose="00000500000000000000" pitchFamily="2" charset="0"/>
                <a:ea typeface="微软雅黑 Light" panose="020B0502040204020203" pitchFamily="34" charset="-122"/>
              </a:rPr>
              <a:t>CRLF</a:t>
            </a:r>
          </a:p>
        </p:txBody>
      </p:sp>
      <p:sp>
        <p:nvSpPr>
          <p:cNvPr id="206" name="矩形 205"/>
          <p:cNvSpPr/>
          <p:nvPr/>
        </p:nvSpPr>
        <p:spPr>
          <a:xfrm>
            <a:off x="1346773" y="3552318"/>
            <a:ext cx="6636391" cy="328873"/>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在请求报文中，开始行是请求行。</a:t>
            </a:r>
          </a:p>
        </p:txBody>
      </p:sp>
      <p:sp>
        <p:nvSpPr>
          <p:cNvPr id="2" name="标题 1">
            <a:extLst>
              <a:ext uri="{FF2B5EF4-FFF2-40B4-BE49-F238E27FC236}">
                <a16:creationId xmlns:a16="http://schemas.microsoft.com/office/drawing/2014/main" id="{6B389190-496E-F124-7C81-E121F72F783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的报文结构（请求报文）</a:t>
            </a:r>
          </a:p>
        </p:txBody>
      </p:sp>
    </p:spTree>
    <p:extLst>
      <p:ext uri="{BB962C8B-B14F-4D97-AF65-F5344CB8AC3E}">
        <p14:creationId xmlns:p14="http://schemas.microsoft.com/office/powerpoint/2010/main" val="10830772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7" name="Rectangle 132"/>
          <p:cNvSpPr>
            <a:spLocks noChangeArrowheads="1"/>
          </p:cNvSpPr>
          <p:nvPr/>
        </p:nvSpPr>
        <p:spPr bwMode="auto">
          <a:xfrm>
            <a:off x="2622487" y="1393059"/>
            <a:ext cx="1029240"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方法：对所请求的对象进行的操作，实际上就是一些命令。</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请求报文的类型是由它所采用的方法决定的。 </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256486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500"/>
                                  </p:stCondLst>
                                  <p:childTnLst>
                                    <p:anim calcmode="discrete" valueType="str">
                                      <p:cBhvr>
                                        <p:cTn id="6"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148"/>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3" name="矩形 2"/>
          <p:cNvSpPr/>
          <p:nvPr/>
        </p:nvSpPr>
        <p:spPr>
          <a:xfrm>
            <a:off x="645268" y="560764"/>
            <a:ext cx="3274230"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请求报文的一些方法</a:t>
            </a:r>
          </a:p>
        </p:txBody>
      </p:sp>
      <p:graphicFrame>
        <p:nvGraphicFramePr>
          <p:cNvPr id="7" name="图示 6"/>
          <p:cNvGraphicFramePr/>
          <p:nvPr>
            <p:extLst>
              <p:ext uri="{D42A27DB-BD31-4B8C-83A1-F6EECF244321}">
                <p14:modId xmlns:p14="http://schemas.microsoft.com/office/powerpoint/2010/main" val="2459573070"/>
              </p:ext>
            </p:extLst>
          </p:nvPr>
        </p:nvGraphicFramePr>
        <p:xfrm>
          <a:off x="556963" y="981296"/>
          <a:ext cx="8048776" cy="324251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cxnSp>
        <p:nvCxnSpPr>
          <p:cNvPr id="9" name="直接连接符 8"/>
          <p:cNvCxnSpPr/>
          <p:nvPr/>
        </p:nvCxnSpPr>
        <p:spPr>
          <a:xfrm>
            <a:off x="3060406" y="960874"/>
            <a:ext cx="0" cy="3386004"/>
          </a:xfrm>
          <a:prstGeom prst="line">
            <a:avLst/>
          </a:prstGeom>
          <a:ln w="571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92567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：所请求的资源的 </a:t>
            </a:r>
            <a:r>
              <a:rPr kumimoji="1" lang="en-US" altLang="zh-CN" sz="1400" b="1" dirty="0">
                <a:latin typeface="微软雅黑 Light" panose="020B0502040204020203" pitchFamily="34" charset="-122"/>
                <a:ea typeface="微软雅黑 Light" panose="020B0502040204020203" pitchFamily="34" charset="-122"/>
              </a:rPr>
              <a:t>URL</a:t>
            </a:r>
            <a:r>
              <a:rPr kumimoji="1" lang="zh-CN" altLang="en-US" sz="1400" b="1" dirty="0">
                <a:latin typeface="微软雅黑 Light" panose="020B0502040204020203" pitchFamily="34" charset="-122"/>
                <a:ea typeface="微软雅黑 Light" panose="020B0502040204020203" pitchFamily="34" charset="-122"/>
              </a:rPr>
              <a:t>。</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3" name="Rectangle 132"/>
          <p:cNvSpPr>
            <a:spLocks noChangeArrowheads="1"/>
          </p:cNvSpPr>
          <p:nvPr/>
        </p:nvSpPr>
        <p:spPr bwMode="auto">
          <a:xfrm>
            <a:off x="3592182" y="1395872"/>
            <a:ext cx="1006775"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032249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 grpId="0"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51"/>
          <p:cNvSpPr>
            <a:spLocks noChangeArrowheads="1"/>
          </p:cNvSpPr>
          <p:nvPr/>
        </p:nvSpPr>
        <p:spPr bwMode="auto">
          <a:xfrm>
            <a:off x="2707874" y="2226967"/>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Rectangle 43"/>
          <p:cNvSpPr>
            <a:spLocks noChangeArrowheads="1"/>
          </p:cNvSpPr>
          <p:nvPr/>
        </p:nvSpPr>
        <p:spPr bwMode="auto">
          <a:xfrm>
            <a:off x="2707874" y="1693845"/>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4"/>
          <p:cNvSpPr>
            <a:spLocks noChangeArrowheads="1"/>
          </p:cNvSpPr>
          <p:nvPr/>
        </p:nvSpPr>
        <p:spPr bwMode="auto">
          <a:xfrm>
            <a:off x="2707874" y="1428321"/>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Rectangle 23"/>
          <p:cNvSpPr>
            <a:spLocks noChangeArrowheads="1"/>
          </p:cNvSpPr>
          <p:nvPr/>
        </p:nvSpPr>
        <p:spPr bwMode="auto">
          <a:xfrm>
            <a:off x="4300064" y="2233190"/>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9" name="Rectangle 24"/>
          <p:cNvSpPr>
            <a:spLocks noChangeArrowheads="1"/>
          </p:cNvSpPr>
          <p:nvPr/>
        </p:nvSpPr>
        <p:spPr bwMode="auto">
          <a:xfrm>
            <a:off x="2712369" y="2505973"/>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25"/>
          <p:cNvSpPr>
            <a:spLocks noChangeArrowheads="1"/>
          </p:cNvSpPr>
          <p:nvPr/>
        </p:nvSpPr>
        <p:spPr bwMode="auto">
          <a:xfrm>
            <a:off x="4300064" y="1700068"/>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26"/>
          <p:cNvSpPr>
            <a:spLocks noChangeArrowheads="1"/>
          </p:cNvSpPr>
          <p:nvPr/>
        </p:nvSpPr>
        <p:spPr bwMode="auto">
          <a:xfrm>
            <a:off x="3906792" y="2233189"/>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27"/>
          <p:cNvSpPr>
            <a:spLocks noChangeArrowheads="1"/>
          </p:cNvSpPr>
          <p:nvPr/>
        </p:nvSpPr>
        <p:spPr bwMode="auto">
          <a:xfrm>
            <a:off x="3906792" y="1700068"/>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Line 28"/>
          <p:cNvSpPr>
            <a:spLocks noChangeShapeType="1"/>
          </p:cNvSpPr>
          <p:nvPr/>
        </p:nvSpPr>
        <p:spPr bwMode="auto">
          <a:xfrm>
            <a:off x="380903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Line 29"/>
          <p:cNvSpPr>
            <a:spLocks noChangeShapeType="1"/>
          </p:cNvSpPr>
          <p:nvPr/>
        </p:nvSpPr>
        <p:spPr bwMode="auto">
          <a:xfrm>
            <a:off x="4300064"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30"/>
          <p:cNvSpPr>
            <a:spLocks noChangeShapeType="1"/>
          </p:cNvSpPr>
          <p:nvPr/>
        </p:nvSpPr>
        <p:spPr bwMode="auto">
          <a:xfrm>
            <a:off x="3906792"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31"/>
          <p:cNvSpPr>
            <a:spLocks noChangeArrowheads="1"/>
          </p:cNvSpPr>
          <p:nvPr/>
        </p:nvSpPr>
        <p:spPr bwMode="auto">
          <a:xfrm>
            <a:off x="5458532" y="1434545"/>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Rectangle 32"/>
          <p:cNvSpPr>
            <a:spLocks noChangeArrowheads="1"/>
          </p:cNvSpPr>
          <p:nvPr/>
        </p:nvSpPr>
        <p:spPr bwMode="auto">
          <a:xfrm>
            <a:off x="4515802"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33"/>
          <p:cNvSpPr>
            <a:spLocks noChangeArrowheads="1"/>
          </p:cNvSpPr>
          <p:nvPr/>
        </p:nvSpPr>
        <p:spPr bwMode="auto">
          <a:xfrm>
            <a:off x="3573073" y="1434545"/>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9" name="Text Box 35"/>
          <p:cNvSpPr txBox="1">
            <a:spLocks noChangeArrowheads="1"/>
          </p:cNvSpPr>
          <p:nvPr/>
        </p:nvSpPr>
        <p:spPr bwMode="auto">
          <a:xfrm>
            <a:off x="282922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方   法</a:t>
            </a:r>
          </a:p>
        </p:txBody>
      </p:sp>
      <p:sp>
        <p:nvSpPr>
          <p:cNvPr id="20" name="Line 36"/>
          <p:cNvSpPr>
            <a:spLocks noChangeShapeType="1"/>
          </p:cNvSpPr>
          <p:nvPr/>
        </p:nvSpPr>
        <p:spPr bwMode="auto">
          <a:xfrm>
            <a:off x="3573073"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37"/>
          <p:cNvSpPr>
            <a:spLocks noChangeShapeType="1"/>
          </p:cNvSpPr>
          <p:nvPr/>
        </p:nvSpPr>
        <p:spPr bwMode="auto">
          <a:xfrm>
            <a:off x="3651727"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38"/>
          <p:cNvSpPr>
            <a:spLocks noChangeShapeType="1"/>
          </p:cNvSpPr>
          <p:nvPr/>
        </p:nvSpPr>
        <p:spPr bwMode="auto">
          <a:xfrm>
            <a:off x="451580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39"/>
          <p:cNvSpPr>
            <a:spLocks noChangeShapeType="1"/>
          </p:cNvSpPr>
          <p:nvPr/>
        </p:nvSpPr>
        <p:spPr bwMode="auto">
          <a:xfrm>
            <a:off x="4594456"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Line 40"/>
          <p:cNvSpPr>
            <a:spLocks noChangeShapeType="1"/>
          </p:cNvSpPr>
          <p:nvPr/>
        </p:nvSpPr>
        <p:spPr bwMode="auto">
          <a:xfrm>
            <a:off x="5458532" y="1428321"/>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Text Box 41"/>
          <p:cNvSpPr txBox="1">
            <a:spLocks noChangeArrowheads="1"/>
          </p:cNvSpPr>
          <p:nvPr/>
        </p:nvSpPr>
        <p:spPr bwMode="auto">
          <a:xfrm>
            <a:off x="3802295" y="1421061"/>
            <a:ext cx="46198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URL</a:t>
            </a:r>
          </a:p>
        </p:txBody>
      </p:sp>
      <p:sp>
        <p:nvSpPr>
          <p:cNvPr id="26" name="Text Box 42"/>
          <p:cNvSpPr txBox="1">
            <a:spLocks noChangeArrowheads="1"/>
          </p:cNvSpPr>
          <p:nvPr/>
        </p:nvSpPr>
        <p:spPr bwMode="auto">
          <a:xfrm>
            <a:off x="4684347" y="1421061"/>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27" name="Text Box 44"/>
          <p:cNvSpPr txBox="1">
            <a:spLocks noChangeArrowheads="1"/>
          </p:cNvSpPr>
          <p:nvPr/>
        </p:nvSpPr>
        <p:spPr bwMode="auto">
          <a:xfrm>
            <a:off x="2713492" y="1690733"/>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28" name="Line 45"/>
          <p:cNvSpPr>
            <a:spLocks noChangeShapeType="1"/>
          </p:cNvSpPr>
          <p:nvPr/>
        </p:nvSpPr>
        <p:spPr bwMode="auto">
          <a:xfrm>
            <a:off x="380903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Line 46"/>
          <p:cNvSpPr>
            <a:spLocks noChangeShapeType="1"/>
          </p:cNvSpPr>
          <p:nvPr/>
        </p:nvSpPr>
        <p:spPr bwMode="auto">
          <a:xfrm>
            <a:off x="4300064"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Line 48"/>
          <p:cNvSpPr>
            <a:spLocks noChangeShapeType="1"/>
          </p:cNvSpPr>
          <p:nvPr/>
        </p:nvSpPr>
        <p:spPr bwMode="auto">
          <a:xfrm>
            <a:off x="3906792"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2" name="Text Box 49"/>
          <p:cNvSpPr txBox="1">
            <a:spLocks noChangeArrowheads="1"/>
          </p:cNvSpPr>
          <p:nvPr/>
        </p:nvSpPr>
        <p:spPr bwMode="auto">
          <a:xfrm>
            <a:off x="3744379" y="1691771"/>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3" name="Text Box 50"/>
          <p:cNvSpPr txBox="1">
            <a:spLocks noChangeArrowheads="1"/>
          </p:cNvSpPr>
          <p:nvPr/>
        </p:nvSpPr>
        <p:spPr bwMode="auto">
          <a:xfrm>
            <a:off x="3993312" y="1695920"/>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4" name="Text Box 52"/>
          <p:cNvSpPr txBox="1">
            <a:spLocks noChangeArrowheads="1"/>
          </p:cNvSpPr>
          <p:nvPr/>
        </p:nvSpPr>
        <p:spPr bwMode="auto">
          <a:xfrm>
            <a:off x="2710122" y="2218669"/>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35" name="Text Box 53"/>
          <p:cNvSpPr txBox="1">
            <a:spLocks noChangeArrowheads="1"/>
          </p:cNvSpPr>
          <p:nvPr/>
        </p:nvSpPr>
        <p:spPr bwMode="auto">
          <a:xfrm>
            <a:off x="4010166" y="222696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36" name="Text Box 54"/>
          <p:cNvSpPr txBox="1">
            <a:spLocks noChangeArrowheads="1"/>
          </p:cNvSpPr>
          <p:nvPr/>
        </p:nvSpPr>
        <p:spPr bwMode="auto">
          <a:xfrm>
            <a:off x="3730382" y="2631475"/>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7" name="Text Box 55"/>
          <p:cNvSpPr txBox="1">
            <a:spLocks noChangeArrowheads="1"/>
          </p:cNvSpPr>
          <p:nvPr/>
        </p:nvSpPr>
        <p:spPr bwMode="auto">
          <a:xfrm rot="16200000">
            <a:off x="3246779" y="1972818"/>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39" name="Rectangle 57"/>
          <p:cNvSpPr>
            <a:spLocks noChangeArrowheads="1"/>
          </p:cNvSpPr>
          <p:nvPr/>
        </p:nvSpPr>
        <p:spPr bwMode="auto">
          <a:xfrm>
            <a:off x="2707874" y="2759051"/>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Text Box 58"/>
          <p:cNvSpPr txBox="1">
            <a:spLocks noChangeArrowheads="1"/>
          </p:cNvSpPr>
          <p:nvPr/>
        </p:nvSpPr>
        <p:spPr bwMode="auto">
          <a:xfrm>
            <a:off x="3886521" y="2820245"/>
            <a:ext cx="1107996"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实体主体</a:t>
            </a:r>
          </a:p>
          <a:p>
            <a:pPr algn="ct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（通常不用）</a:t>
            </a:r>
          </a:p>
        </p:txBody>
      </p:sp>
      <p:sp>
        <p:nvSpPr>
          <p:cNvPr id="42" name="Line 60"/>
          <p:cNvSpPr>
            <a:spLocks noChangeShapeType="1"/>
          </p:cNvSpPr>
          <p:nvPr/>
        </p:nvSpPr>
        <p:spPr bwMode="auto">
          <a:xfrm>
            <a:off x="2707874"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Line 61"/>
          <p:cNvSpPr>
            <a:spLocks noChangeShapeType="1"/>
          </p:cNvSpPr>
          <p:nvPr/>
        </p:nvSpPr>
        <p:spPr bwMode="auto">
          <a:xfrm>
            <a:off x="2707874"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4" name="Line 62"/>
          <p:cNvSpPr>
            <a:spLocks noChangeShapeType="1"/>
          </p:cNvSpPr>
          <p:nvPr/>
        </p:nvSpPr>
        <p:spPr bwMode="auto">
          <a:xfrm>
            <a:off x="3356211" y="2493526"/>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5" name="Line 63"/>
          <p:cNvSpPr>
            <a:spLocks noChangeShapeType="1"/>
          </p:cNvSpPr>
          <p:nvPr/>
        </p:nvSpPr>
        <p:spPr bwMode="auto">
          <a:xfrm>
            <a:off x="4928176" y="1960405"/>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Text Box 64"/>
          <p:cNvSpPr txBox="1">
            <a:spLocks noChangeArrowheads="1"/>
          </p:cNvSpPr>
          <p:nvPr/>
        </p:nvSpPr>
        <p:spPr bwMode="auto">
          <a:xfrm>
            <a:off x="3815778" y="99684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47" name="Text Box 65"/>
          <p:cNvSpPr txBox="1">
            <a:spLocks noChangeArrowheads="1"/>
          </p:cNvSpPr>
          <p:nvPr/>
        </p:nvSpPr>
        <p:spPr bwMode="auto">
          <a:xfrm>
            <a:off x="5186612" y="99684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48" name="Line 66"/>
          <p:cNvSpPr>
            <a:spLocks noChangeShapeType="1"/>
          </p:cNvSpPr>
          <p:nvPr/>
        </p:nvSpPr>
        <p:spPr bwMode="auto">
          <a:xfrm>
            <a:off x="4247254" y="1228141"/>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67"/>
          <p:cNvSpPr>
            <a:spLocks noChangeShapeType="1"/>
          </p:cNvSpPr>
          <p:nvPr/>
        </p:nvSpPr>
        <p:spPr bwMode="auto">
          <a:xfrm flipH="1">
            <a:off x="3592174" y="1228141"/>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68"/>
          <p:cNvSpPr>
            <a:spLocks noChangeShapeType="1"/>
          </p:cNvSpPr>
          <p:nvPr/>
        </p:nvSpPr>
        <p:spPr bwMode="auto">
          <a:xfrm>
            <a:off x="5609099" y="1228141"/>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69"/>
          <p:cNvSpPr>
            <a:spLocks noChangeShapeType="1"/>
          </p:cNvSpPr>
          <p:nvPr/>
        </p:nvSpPr>
        <p:spPr bwMode="auto">
          <a:xfrm>
            <a:off x="3985446" y="2226967"/>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70"/>
          <p:cNvSpPr>
            <a:spLocks noChangeShapeType="1"/>
          </p:cNvSpPr>
          <p:nvPr/>
        </p:nvSpPr>
        <p:spPr bwMode="auto">
          <a:xfrm>
            <a:off x="3985446" y="1693845"/>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Text Box 71"/>
          <p:cNvSpPr txBox="1">
            <a:spLocks noChangeArrowheads="1"/>
          </p:cNvSpPr>
          <p:nvPr/>
        </p:nvSpPr>
        <p:spPr bwMode="auto">
          <a:xfrm>
            <a:off x="3744379" y="2228003"/>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54" name="Text Box 72"/>
          <p:cNvSpPr txBox="1">
            <a:spLocks noChangeArrowheads="1"/>
          </p:cNvSpPr>
          <p:nvPr/>
        </p:nvSpPr>
        <p:spPr bwMode="auto">
          <a:xfrm>
            <a:off x="5429318" y="142106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5" name="Text Box 75"/>
          <p:cNvSpPr txBox="1">
            <a:spLocks noChangeArrowheads="1"/>
          </p:cNvSpPr>
          <p:nvPr/>
        </p:nvSpPr>
        <p:spPr bwMode="auto">
          <a:xfrm>
            <a:off x="2710121" y="2488341"/>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59" name="Text Box 73"/>
          <p:cNvSpPr txBox="1">
            <a:spLocks noChangeArrowheads="1"/>
          </p:cNvSpPr>
          <p:nvPr/>
        </p:nvSpPr>
        <p:spPr bwMode="auto">
          <a:xfrm>
            <a:off x="4310177" y="2232152"/>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0" name="Text Box 74"/>
          <p:cNvSpPr txBox="1">
            <a:spLocks noChangeArrowheads="1"/>
          </p:cNvSpPr>
          <p:nvPr/>
        </p:nvSpPr>
        <p:spPr bwMode="auto">
          <a:xfrm>
            <a:off x="4314671" y="1703180"/>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61" name="矩形 60"/>
          <p:cNvSpPr/>
          <p:nvPr/>
        </p:nvSpPr>
        <p:spPr>
          <a:xfrm>
            <a:off x="1346773" y="3448136"/>
            <a:ext cx="6636391" cy="328551"/>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a:t>
            </a:r>
          </a:p>
        </p:txBody>
      </p:sp>
      <p:sp>
        <p:nvSpPr>
          <p:cNvPr id="69" name="Text Box 133"/>
          <p:cNvSpPr txBox="1">
            <a:spLocks noChangeArrowheads="1"/>
          </p:cNvSpPr>
          <p:nvPr/>
        </p:nvSpPr>
        <p:spPr bwMode="auto">
          <a:xfrm>
            <a:off x="1891003" y="1405666"/>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70"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7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4" name="Rectangle 132"/>
          <p:cNvSpPr>
            <a:spLocks noChangeArrowheads="1"/>
          </p:cNvSpPr>
          <p:nvPr/>
        </p:nvSpPr>
        <p:spPr bwMode="auto">
          <a:xfrm>
            <a:off x="4555129" y="1395872"/>
            <a:ext cx="948557" cy="328794"/>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58054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750"/>
                                  </p:stCondLst>
                                  <p:childTnLst>
                                    <p:anim calcmode="discrete" valueType="str">
                                      <p:cBhvr>
                                        <p:cTn id="6" dur="500" fill="hold"/>
                                        <p:tgtEl>
                                          <p:spTgt spid="6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4" grpId="0"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AutoShape 5"/>
          <p:cNvSpPr>
            <a:spLocks noChangeArrowheads="1"/>
          </p:cNvSpPr>
          <p:nvPr/>
        </p:nvSpPr>
        <p:spPr bwMode="auto">
          <a:xfrm>
            <a:off x="556963" y="612150"/>
            <a:ext cx="8048776"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68" name="矩形 67"/>
          <p:cNvSpPr/>
          <p:nvPr/>
        </p:nvSpPr>
        <p:spPr>
          <a:xfrm>
            <a:off x="645268" y="569910"/>
            <a:ext cx="2504788"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sz="2000" b="1" dirty="0">
                <a:latin typeface="微软雅黑 Light" panose="020B0502040204020203" pitchFamily="34" charset="-122"/>
                <a:ea typeface="微软雅黑 Light" panose="020B0502040204020203" pitchFamily="34" charset="-122"/>
              </a:rPr>
              <a:t>HTTP </a:t>
            </a:r>
            <a:r>
              <a:rPr lang="zh-CN" altLang="en-US" sz="2000" b="1" dirty="0">
                <a:latin typeface="微软雅黑 Light" panose="020B0502040204020203" pitchFamily="34" charset="-122"/>
                <a:ea typeface="微软雅黑 Light" panose="020B0502040204020203" pitchFamily="34" charset="-122"/>
              </a:rPr>
              <a:t>请求报文举例</a:t>
            </a:r>
          </a:p>
        </p:txBody>
      </p:sp>
      <p:sp>
        <p:nvSpPr>
          <p:cNvPr id="2" name="矩形 1"/>
          <p:cNvSpPr/>
          <p:nvPr/>
        </p:nvSpPr>
        <p:spPr>
          <a:xfrm>
            <a:off x="1615736" y="1012260"/>
            <a:ext cx="3400148" cy="2092881"/>
          </a:xfrm>
          <a:prstGeom prst="rect">
            <a:avLst/>
          </a:prstGeom>
        </p:spPr>
        <p:txBody>
          <a:bodyPr wrap="square">
            <a:spAutoFit/>
          </a:bodyPr>
          <a:lstStyle/>
          <a:p>
            <a:pPr>
              <a:lnSpc>
                <a:spcPts val="2600"/>
              </a:lnSpc>
              <a:spcAft>
                <a:spcPts val="0"/>
              </a:spcAft>
            </a:pP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GET /</a:t>
            </a:r>
            <a:r>
              <a:rPr lang="en-US" altLang="zh-CN" b="1" kern="500" dirty="0" err="1">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dir</a:t>
            </a:r>
            <a:r>
              <a:rPr lang="en-US" altLang="zh-CN" b="1" kern="500" dirty="0">
                <a:solidFill>
                  <a:srgbClr val="C00000"/>
                </a:solidFill>
                <a:latin typeface="Montserrat" panose="00000500000000000000" pitchFamily="2" charset="0"/>
                <a:ea typeface="微软雅黑 Light" panose="020B0502040204020203" pitchFamily="34" charset="-122"/>
                <a:cs typeface="Times New Roman" panose="02020603050405020304" pitchFamily="18" charset="0"/>
              </a:rPr>
              <a:t>/index.htm HTTP/1.1</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Host: www.xyz.edu.cn</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Connection: close</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User-Agent: Mozilla/5.0</a:t>
            </a:r>
          </a:p>
          <a:p>
            <a:pPr>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Accept-Language: </a:t>
            </a:r>
            <a:r>
              <a:rPr lang="en-US" altLang="zh-CN" b="1" kern="500" dirty="0" err="1">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cn</a:t>
            </a:r>
            <a:endPar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endParaRPr>
          </a:p>
          <a:p>
            <a:pPr>
              <a:lnSpc>
                <a:spcPts val="2600"/>
              </a:lnSpc>
              <a:spcAft>
                <a:spcPts val="0"/>
              </a:spcAft>
            </a:pPr>
            <a:r>
              <a:rPr lang="en-US" altLang="zh-CN" b="1" kern="500" dirty="0">
                <a:solidFill>
                  <a:schemeClr val="tx1">
                    <a:lumMod val="95000"/>
                    <a:lumOff val="5000"/>
                  </a:schemeClr>
                </a:solidFill>
                <a:latin typeface="Montserrat" panose="00000500000000000000" pitchFamily="2" charset="0"/>
                <a:ea typeface="微软雅黑 Light" panose="020B0502040204020203" pitchFamily="34" charset="-122"/>
                <a:cs typeface="Times New Roman" panose="02020603050405020304" pitchFamily="18" charset="0"/>
              </a:rPr>
              <a:t>CRLF</a:t>
            </a:r>
          </a:p>
        </p:txBody>
      </p:sp>
      <p:sp>
        <p:nvSpPr>
          <p:cNvPr id="3" name="矩形 2"/>
          <p:cNvSpPr/>
          <p:nvPr/>
        </p:nvSpPr>
        <p:spPr>
          <a:xfrm>
            <a:off x="4898150" y="1056648"/>
            <a:ext cx="1685077"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使用了相对 </a:t>
            </a:r>
            <a:r>
              <a:rPr lang="en-US" altLang="zh-CN" sz="1600" b="1" dirty="0">
                <a:latin typeface="微软雅黑 Light" panose="020B0502040204020203" pitchFamily="34" charset="-122"/>
                <a:ea typeface="微软雅黑 Light" panose="020B0502040204020203" pitchFamily="34" charset="-122"/>
              </a:rPr>
              <a:t>URL</a:t>
            </a:r>
            <a:endParaRPr lang="zh-CN" altLang="en-US" sz="1600" b="1" dirty="0">
              <a:latin typeface="微软雅黑 Light" panose="020B0502040204020203" pitchFamily="34" charset="-122"/>
              <a:ea typeface="微软雅黑 Light" panose="020B0502040204020203" pitchFamily="34" charset="-122"/>
            </a:endParaRPr>
          </a:p>
        </p:txBody>
      </p:sp>
      <p:sp>
        <p:nvSpPr>
          <p:cNvPr id="63" name="Text Box 133"/>
          <p:cNvSpPr txBox="1">
            <a:spLocks noChangeArrowheads="1"/>
          </p:cNvSpPr>
          <p:nvPr/>
        </p:nvSpPr>
        <p:spPr bwMode="auto">
          <a:xfrm>
            <a:off x="759679" y="1087150"/>
            <a:ext cx="723619" cy="3080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请求行</a:t>
            </a:r>
          </a:p>
        </p:txBody>
      </p:sp>
      <p:sp>
        <p:nvSpPr>
          <p:cNvPr id="65" name="Text Box 47"/>
          <p:cNvSpPr txBox="1">
            <a:spLocks noChangeArrowheads="1"/>
          </p:cNvSpPr>
          <p:nvPr/>
        </p:nvSpPr>
        <p:spPr bwMode="auto">
          <a:xfrm>
            <a:off x="745412" y="185097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66" name="AutoShape 56"/>
          <p:cNvSpPr>
            <a:spLocks/>
          </p:cNvSpPr>
          <p:nvPr/>
        </p:nvSpPr>
        <p:spPr bwMode="auto">
          <a:xfrm flipH="1">
            <a:off x="1433175" y="1474518"/>
            <a:ext cx="167949" cy="114439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2" name="矩形 71"/>
          <p:cNvSpPr/>
          <p:nvPr/>
        </p:nvSpPr>
        <p:spPr>
          <a:xfrm>
            <a:off x="4898150" y="1396606"/>
            <a:ext cx="2852063"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首部行开始。给出主机的域名</a:t>
            </a:r>
          </a:p>
        </p:txBody>
      </p:sp>
      <p:sp>
        <p:nvSpPr>
          <p:cNvPr id="73" name="矩形 72"/>
          <p:cNvSpPr/>
          <p:nvPr/>
        </p:nvSpPr>
        <p:spPr>
          <a:xfrm>
            <a:off x="4898150" y="1712542"/>
            <a:ext cx="3877985"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告诉服务器发送完请求的文档后释放连接</a:t>
            </a:r>
          </a:p>
        </p:txBody>
      </p:sp>
      <p:sp>
        <p:nvSpPr>
          <p:cNvPr id="74" name="矩形 73"/>
          <p:cNvSpPr/>
          <p:nvPr/>
        </p:nvSpPr>
        <p:spPr>
          <a:xfrm>
            <a:off x="4898150" y="2052500"/>
            <a:ext cx="3627596"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表明用户代理使用火狐浏览器 </a:t>
            </a:r>
            <a:r>
              <a:rPr lang="en-US" altLang="zh-CN" sz="1600" b="1" dirty="0">
                <a:latin typeface="微软雅黑 Light" panose="020B0502040204020203" pitchFamily="34" charset="-122"/>
                <a:ea typeface="微软雅黑 Light" panose="020B0502040204020203" pitchFamily="34" charset="-122"/>
              </a:rPr>
              <a:t>Firefox</a:t>
            </a:r>
            <a:endParaRPr lang="zh-CN" altLang="en-US" sz="1600" b="1" dirty="0">
              <a:latin typeface="微软雅黑 Light" panose="020B0502040204020203" pitchFamily="34" charset="-122"/>
              <a:ea typeface="微软雅黑 Light" panose="020B0502040204020203" pitchFamily="34" charset="-122"/>
            </a:endParaRPr>
          </a:p>
        </p:txBody>
      </p:sp>
      <p:sp>
        <p:nvSpPr>
          <p:cNvPr id="75" name="矩形 74"/>
          <p:cNvSpPr/>
          <p:nvPr/>
        </p:nvSpPr>
        <p:spPr>
          <a:xfrm>
            <a:off x="4898150" y="2396862"/>
            <a:ext cx="3672800"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表示用户希望优先得到中文版本的文档</a:t>
            </a:r>
          </a:p>
        </p:txBody>
      </p:sp>
      <p:sp>
        <p:nvSpPr>
          <p:cNvPr id="76" name="矩形 75"/>
          <p:cNvSpPr/>
          <p:nvPr/>
        </p:nvSpPr>
        <p:spPr>
          <a:xfrm>
            <a:off x="4898150" y="2736820"/>
            <a:ext cx="2646878" cy="338554"/>
          </a:xfrm>
          <a:prstGeom prst="rect">
            <a:avLst/>
          </a:prstGeom>
        </p:spPr>
        <p:txBody>
          <a:bodyPr wrap="none">
            <a:spAutoFit/>
          </a:bodyPr>
          <a:lstStyle/>
          <a:p>
            <a:r>
              <a:rPr lang="zh-CN" altLang="en-US" sz="1600" b="1" dirty="0">
                <a:latin typeface="微软雅黑 Light" panose="020B0502040204020203" pitchFamily="34" charset="-122"/>
                <a:ea typeface="微软雅黑 Light" panose="020B0502040204020203" pitchFamily="34" charset="-122"/>
              </a:rPr>
              <a:t>请求报文的最后一行为空行</a:t>
            </a:r>
          </a:p>
        </p:txBody>
      </p:sp>
      <p:sp>
        <p:nvSpPr>
          <p:cNvPr id="77" name="矩形 76"/>
          <p:cNvSpPr/>
          <p:nvPr/>
        </p:nvSpPr>
        <p:spPr>
          <a:xfrm>
            <a:off x="4898150" y="3071423"/>
            <a:ext cx="1415772" cy="338554"/>
          </a:xfrm>
          <a:prstGeom prst="rect">
            <a:avLst/>
          </a:prstGeom>
        </p:spPr>
        <p:txBody>
          <a:bodyPr wrap="none">
            <a:spAutoFit/>
          </a:bodyPr>
          <a:lstStyle/>
          <a:p>
            <a:r>
              <a:rPr lang="zh-CN" altLang="en-US" sz="1600" b="1" dirty="0">
                <a:solidFill>
                  <a:srgbClr val="0000FF"/>
                </a:solidFill>
                <a:latin typeface="微软雅黑 Light" panose="020B0502040204020203" pitchFamily="34" charset="-122"/>
                <a:ea typeface="微软雅黑 Light" panose="020B0502040204020203" pitchFamily="34" charset="-122"/>
              </a:rPr>
              <a:t>没有实体主体</a:t>
            </a:r>
          </a:p>
        </p:txBody>
      </p:sp>
    </p:spTree>
    <p:extLst>
      <p:ext uri="{BB962C8B-B14F-4D97-AF65-F5344CB8AC3E}">
        <p14:creationId xmlns:p14="http://schemas.microsoft.com/office/powerpoint/2010/main" val="1436468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2">
                                            <p:txEl>
                                              <p:pRg st="0" end="0"/>
                                            </p:txEl>
                                          </p:spTgt>
                                        </p:tgtEl>
                                        <p:attrNameLst>
                                          <p:attrName>style.visibility</p:attrName>
                                        </p:attrNameLst>
                                      </p:cBhvr>
                                      <p:to>
                                        <p:strVal val="visible"/>
                                      </p:to>
                                    </p:set>
                                    <p:animEffect transition="in" filter="fade">
                                      <p:cBhvr>
                                        <p:cTn id="12" dur="1000"/>
                                        <p:tgtEl>
                                          <p:spTgt spid="72">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73">
                                            <p:txEl>
                                              <p:pRg st="0" end="0"/>
                                            </p:txEl>
                                          </p:spTgt>
                                        </p:tgtEl>
                                        <p:attrNameLst>
                                          <p:attrName>style.visibility</p:attrName>
                                        </p:attrNameLst>
                                      </p:cBhvr>
                                      <p:to>
                                        <p:strVal val="visible"/>
                                      </p:to>
                                    </p:set>
                                    <p:animEffect transition="in" filter="fade">
                                      <p:cBhvr>
                                        <p:cTn id="17" dur="1000"/>
                                        <p:tgtEl>
                                          <p:spTgt spid="73">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4">
                                            <p:txEl>
                                              <p:pRg st="0" end="0"/>
                                            </p:txEl>
                                          </p:spTgt>
                                        </p:tgtEl>
                                        <p:attrNameLst>
                                          <p:attrName>style.visibility</p:attrName>
                                        </p:attrNameLst>
                                      </p:cBhvr>
                                      <p:to>
                                        <p:strVal val="visible"/>
                                      </p:to>
                                    </p:set>
                                    <p:animEffect transition="in" filter="fade">
                                      <p:cBhvr>
                                        <p:cTn id="22" dur="1000"/>
                                        <p:tgtEl>
                                          <p:spTgt spid="7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5">
                                            <p:txEl>
                                              <p:pRg st="0" end="0"/>
                                            </p:txEl>
                                          </p:spTgt>
                                        </p:tgtEl>
                                        <p:attrNameLst>
                                          <p:attrName>style.visibility</p:attrName>
                                        </p:attrNameLst>
                                      </p:cBhvr>
                                      <p:to>
                                        <p:strVal val="visible"/>
                                      </p:to>
                                    </p:set>
                                    <p:animEffect transition="in" filter="fade">
                                      <p:cBhvr>
                                        <p:cTn id="27" dur="1000"/>
                                        <p:tgtEl>
                                          <p:spTgt spid="75">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76">
                                            <p:txEl>
                                              <p:pRg st="0" end="0"/>
                                            </p:txEl>
                                          </p:spTgt>
                                        </p:tgtEl>
                                        <p:attrNameLst>
                                          <p:attrName>style.visibility</p:attrName>
                                        </p:attrNameLst>
                                      </p:cBhvr>
                                      <p:to>
                                        <p:strVal val="visible"/>
                                      </p:to>
                                    </p:set>
                                    <p:animEffect transition="in" filter="fade">
                                      <p:cBhvr>
                                        <p:cTn id="32" dur="1000"/>
                                        <p:tgtEl>
                                          <p:spTgt spid="7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77">
                                            <p:txEl>
                                              <p:pRg st="0" end="0"/>
                                            </p:txEl>
                                          </p:spTgt>
                                        </p:tgtEl>
                                        <p:attrNameLst>
                                          <p:attrName>style.visibility</p:attrName>
                                        </p:attrNameLst>
                                      </p:cBhvr>
                                      <p:to>
                                        <p:strVal val="visible"/>
                                      </p:to>
                                    </p:set>
                                    <p:animEffect transition="in" filter="fade">
                                      <p:cBhvr>
                                        <p:cTn id="37" dur="1000"/>
                                        <p:tgtEl>
                                          <p:spTgt spid="7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72" grpId="0" build="p"/>
      <p:bldP spid="73" grpId="0" build="p"/>
      <p:bldP spid="74" grpId="0" build="p"/>
      <p:bldP spid="75" grpId="0" build="p"/>
      <p:bldP spid="76" grpId="0" build="p"/>
      <p:bldP spid="77" grpId="0" build="p"/>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 name="Rectangle 51"/>
          <p:cNvSpPr>
            <a:spLocks noChangeArrowheads="1"/>
          </p:cNvSpPr>
          <p:nvPr/>
        </p:nvSpPr>
        <p:spPr bwMode="auto">
          <a:xfrm>
            <a:off x="2707874" y="2220904"/>
            <a:ext cx="2220302" cy="266560"/>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9" name="Rectangle 43"/>
          <p:cNvSpPr>
            <a:spLocks noChangeArrowheads="1"/>
          </p:cNvSpPr>
          <p:nvPr/>
        </p:nvSpPr>
        <p:spPr bwMode="auto">
          <a:xfrm>
            <a:off x="2707874" y="1687782"/>
            <a:ext cx="2220302" cy="26656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2" name="Rectangle 34"/>
          <p:cNvSpPr>
            <a:spLocks noChangeArrowheads="1"/>
          </p:cNvSpPr>
          <p:nvPr/>
        </p:nvSpPr>
        <p:spPr bwMode="auto">
          <a:xfrm>
            <a:off x="2707874" y="1422258"/>
            <a:ext cx="3398995" cy="26552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1" name="Rectangle 23"/>
          <p:cNvSpPr>
            <a:spLocks noChangeArrowheads="1"/>
          </p:cNvSpPr>
          <p:nvPr/>
        </p:nvSpPr>
        <p:spPr bwMode="auto">
          <a:xfrm>
            <a:off x="4300064" y="2227127"/>
            <a:ext cx="628112" cy="254114"/>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2" name="Rectangle 24"/>
          <p:cNvSpPr>
            <a:spLocks noChangeArrowheads="1"/>
          </p:cNvSpPr>
          <p:nvPr/>
        </p:nvSpPr>
        <p:spPr bwMode="auto">
          <a:xfrm>
            <a:off x="2712369" y="2499910"/>
            <a:ext cx="643842" cy="25307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3" name="Rectangle 25"/>
          <p:cNvSpPr>
            <a:spLocks noChangeArrowheads="1"/>
          </p:cNvSpPr>
          <p:nvPr/>
        </p:nvSpPr>
        <p:spPr bwMode="auto">
          <a:xfrm>
            <a:off x="4300064" y="1694005"/>
            <a:ext cx="628112" cy="260337"/>
          </a:xfrm>
          <a:prstGeom prst="rect">
            <a:avLst/>
          </a:prstGeom>
          <a:solidFill>
            <a:srgbClr val="00B0F0"/>
          </a:solidFill>
          <a:ln>
            <a:noFill/>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4" name="Rectangle 26"/>
          <p:cNvSpPr>
            <a:spLocks noChangeArrowheads="1"/>
          </p:cNvSpPr>
          <p:nvPr/>
        </p:nvSpPr>
        <p:spPr bwMode="auto">
          <a:xfrm>
            <a:off x="3906792" y="2227126"/>
            <a:ext cx="85396"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5" name="Rectangle 27"/>
          <p:cNvSpPr>
            <a:spLocks noChangeArrowheads="1"/>
          </p:cNvSpPr>
          <p:nvPr/>
        </p:nvSpPr>
        <p:spPr bwMode="auto">
          <a:xfrm>
            <a:off x="3906792" y="1694005"/>
            <a:ext cx="78654" cy="260337"/>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56" name="Line 28"/>
          <p:cNvSpPr>
            <a:spLocks noChangeShapeType="1"/>
          </p:cNvSpPr>
          <p:nvPr/>
        </p:nvSpPr>
        <p:spPr bwMode="auto">
          <a:xfrm>
            <a:off x="380903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7" name="Line 29"/>
          <p:cNvSpPr>
            <a:spLocks noChangeShapeType="1"/>
          </p:cNvSpPr>
          <p:nvPr/>
        </p:nvSpPr>
        <p:spPr bwMode="auto">
          <a:xfrm>
            <a:off x="4300064"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8" name="Line 30"/>
          <p:cNvSpPr>
            <a:spLocks noChangeShapeType="1"/>
          </p:cNvSpPr>
          <p:nvPr/>
        </p:nvSpPr>
        <p:spPr bwMode="auto">
          <a:xfrm>
            <a:off x="3906792"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9" name="Rectangle 31"/>
          <p:cNvSpPr>
            <a:spLocks noChangeArrowheads="1"/>
          </p:cNvSpPr>
          <p:nvPr/>
        </p:nvSpPr>
        <p:spPr bwMode="auto">
          <a:xfrm>
            <a:off x="5458532" y="1428482"/>
            <a:ext cx="648337" cy="259300"/>
          </a:xfrm>
          <a:prstGeom prst="rect">
            <a:avLst/>
          </a:prstGeom>
          <a:solidFill>
            <a:srgbClr val="00B0F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0" name="Rectangle 32"/>
          <p:cNvSpPr>
            <a:spLocks noChangeArrowheads="1"/>
          </p:cNvSpPr>
          <p:nvPr/>
        </p:nvSpPr>
        <p:spPr bwMode="auto">
          <a:xfrm>
            <a:off x="4515802"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1" name="Rectangle 33"/>
          <p:cNvSpPr>
            <a:spLocks noChangeArrowheads="1"/>
          </p:cNvSpPr>
          <p:nvPr/>
        </p:nvSpPr>
        <p:spPr bwMode="auto">
          <a:xfrm>
            <a:off x="3573073" y="1428482"/>
            <a:ext cx="78654" cy="259300"/>
          </a:xfrm>
          <a:prstGeom prst="rect">
            <a:avLst/>
          </a:prstGeom>
          <a:solidFill>
            <a:srgbClr val="CCE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2" name="Text Box 35"/>
          <p:cNvSpPr txBox="1">
            <a:spLocks noChangeArrowheads="1"/>
          </p:cNvSpPr>
          <p:nvPr/>
        </p:nvSpPr>
        <p:spPr bwMode="auto">
          <a:xfrm>
            <a:off x="282922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版   本</a:t>
            </a:r>
          </a:p>
        </p:txBody>
      </p:sp>
      <p:sp>
        <p:nvSpPr>
          <p:cNvPr id="163" name="Line 36"/>
          <p:cNvSpPr>
            <a:spLocks noChangeShapeType="1"/>
          </p:cNvSpPr>
          <p:nvPr/>
        </p:nvSpPr>
        <p:spPr bwMode="auto">
          <a:xfrm>
            <a:off x="3573073"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4" name="Line 37"/>
          <p:cNvSpPr>
            <a:spLocks noChangeShapeType="1"/>
          </p:cNvSpPr>
          <p:nvPr/>
        </p:nvSpPr>
        <p:spPr bwMode="auto">
          <a:xfrm>
            <a:off x="3651727"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5" name="Line 38"/>
          <p:cNvSpPr>
            <a:spLocks noChangeShapeType="1"/>
          </p:cNvSpPr>
          <p:nvPr/>
        </p:nvSpPr>
        <p:spPr bwMode="auto">
          <a:xfrm>
            <a:off x="451580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6" name="Line 39"/>
          <p:cNvSpPr>
            <a:spLocks noChangeShapeType="1"/>
          </p:cNvSpPr>
          <p:nvPr/>
        </p:nvSpPr>
        <p:spPr bwMode="auto">
          <a:xfrm>
            <a:off x="4594456"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7" name="Line 40"/>
          <p:cNvSpPr>
            <a:spLocks noChangeShapeType="1"/>
          </p:cNvSpPr>
          <p:nvPr/>
        </p:nvSpPr>
        <p:spPr bwMode="auto">
          <a:xfrm>
            <a:off x="5458532" y="1422258"/>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8" name="Text Box 41"/>
          <p:cNvSpPr txBox="1">
            <a:spLocks noChangeArrowheads="1"/>
          </p:cNvSpPr>
          <p:nvPr/>
        </p:nvSpPr>
        <p:spPr bwMode="auto">
          <a:xfrm>
            <a:off x="3802295" y="141499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状态码</a:t>
            </a:r>
          </a:p>
        </p:txBody>
      </p:sp>
      <p:sp>
        <p:nvSpPr>
          <p:cNvPr id="169" name="Text Box 42"/>
          <p:cNvSpPr txBox="1">
            <a:spLocks noChangeArrowheads="1"/>
          </p:cNvSpPr>
          <p:nvPr/>
        </p:nvSpPr>
        <p:spPr bwMode="auto">
          <a:xfrm>
            <a:off x="4684347" y="1414998"/>
            <a:ext cx="63190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b="1" dirty="0">
                <a:latin typeface="微软雅黑 Light" panose="020B0502040204020203" pitchFamily="34" charset="-122"/>
                <a:ea typeface="微软雅黑 Light" panose="020B0502040204020203" pitchFamily="34" charset="-122"/>
              </a:rPr>
              <a:t>短   语</a:t>
            </a:r>
          </a:p>
        </p:txBody>
      </p:sp>
      <p:sp>
        <p:nvSpPr>
          <p:cNvPr id="170" name="Text Box 44"/>
          <p:cNvSpPr txBox="1">
            <a:spLocks noChangeArrowheads="1"/>
          </p:cNvSpPr>
          <p:nvPr/>
        </p:nvSpPr>
        <p:spPr bwMode="auto">
          <a:xfrm>
            <a:off x="2713492" y="1684670"/>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1" name="Line 45"/>
          <p:cNvSpPr>
            <a:spLocks noChangeShapeType="1"/>
          </p:cNvSpPr>
          <p:nvPr/>
        </p:nvSpPr>
        <p:spPr bwMode="auto">
          <a:xfrm>
            <a:off x="380903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2" name="Line 46"/>
          <p:cNvSpPr>
            <a:spLocks noChangeShapeType="1"/>
          </p:cNvSpPr>
          <p:nvPr/>
        </p:nvSpPr>
        <p:spPr bwMode="auto">
          <a:xfrm>
            <a:off x="4300064"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3" name="Text Box 47"/>
          <p:cNvSpPr txBox="1">
            <a:spLocks noChangeArrowheads="1"/>
          </p:cNvSpPr>
          <p:nvPr/>
        </p:nvSpPr>
        <p:spPr bwMode="auto">
          <a:xfrm>
            <a:off x="1876736" y="194753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首部行</a:t>
            </a:r>
          </a:p>
        </p:txBody>
      </p:sp>
      <p:sp>
        <p:nvSpPr>
          <p:cNvPr id="174" name="Line 48"/>
          <p:cNvSpPr>
            <a:spLocks noChangeShapeType="1"/>
          </p:cNvSpPr>
          <p:nvPr/>
        </p:nvSpPr>
        <p:spPr bwMode="auto">
          <a:xfrm>
            <a:off x="3906792"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5" name="Text Box 49"/>
          <p:cNvSpPr txBox="1">
            <a:spLocks noChangeArrowheads="1"/>
          </p:cNvSpPr>
          <p:nvPr/>
        </p:nvSpPr>
        <p:spPr bwMode="auto">
          <a:xfrm>
            <a:off x="3744379" y="1685708"/>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76" name="Text Box 50"/>
          <p:cNvSpPr txBox="1">
            <a:spLocks noChangeArrowheads="1"/>
          </p:cNvSpPr>
          <p:nvPr/>
        </p:nvSpPr>
        <p:spPr bwMode="auto">
          <a:xfrm>
            <a:off x="3993312" y="1689857"/>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7" name="Text Box 52"/>
          <p:cNvSpPr txBox="1">
            <a:spLocks noChangeArrowheads="1"/>
          </p:cNvSpPr>
          <p:nvPr/>
        </p:nvSpPr>
        <p:spPr bwMode="auto">
          <a:xfrm>
            <a:off x="2710122" y="2212606"/>
            <a:ext cx="95410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首部字段名</a:t>
            </a:r>
          </a:p>
        </p:txBody>
      </p:sp>
      <p:sp>
        <p:nvSpPr>
          <p:cNvPr id="178" name="Text Box 53"/>
          <p:cNvSpPr txBox="1">
            <a:spLocks noChangeArrowheads="1"/>
          </p:cNvSpPr>
          <p:nvPr/>
        </p:nvSpPr>
        <p:spPr bwMode="auto">
          <a:xfrm>
            <a:off x="4010166" y="2220904"/>
            <a:ext cx="33855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chemeClr val="bg1"/>
                </a:solidFill>
                <a:latin typeface="微软雅黑 Light" panose="020B0502040204020203" pitchFamily="34" charset="-122"/>
                <a:ea typeface="微软雅黑 Light" panose="020B0502040204020203" pitchFamily="34" charset="-122"/>
              </a:rPr>
              <a:t>值</a:t>
            </a:r>
          </a:p>
        </p:txBody>
      </p:sp>
      <p:sp>
        <p:nvSpPr>
          <p:cNvPr id="179" name="Text Box 54"/>
          <p:cNvSpPr txBox="1">
            <a:spLocks noChangeArrowheads="1"/>
          </p:cNvSpPr>
          <p:nvPr/>
        </p:nvSpPr>
        <p:spPr bwMode="auto">
          <a:xfrm>
            <a:off x="3730382" y="2625412"/>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0" name="Text Box 55"/>
          <p:cNvSpPr txBox="1">
            <a:spLocks noChangeArrowheads="1"/>
          </p:cNvSpPr>
          <p:nvPr/>
        </p:nvSpPr>
        <p:spPr bwMode="auto">
          <a:xfrm rot="16200000">
            <a:off x="3246779" y="1966755"/>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latin typeface="微软雅黑 Light" panose="020B0502040204020203" pitchFamily="34" charset="-122"/>
                <a:ea typeface="微软雅黑 Light" panose="020B0502040204020203" pitchFamily="34" charset="-122"/>
              </a:rPr>
              <a:t>…</a:t>
            </a:r>
          </a:p>
        </p:txBody>
      </p:sp>
      <p:sp>
        <p:nvSpPr>
          <p:cNvPr id="181" name="AutoShape 56"/>
          <p:cNvSpPr>
            <a:spLocks/>
          </p:cNvSpPr>
          <p:nvPr/>
        </p:nvSpPr>
        <p:spPr bwMode="auto">
          <a:xfrm flipH="1">
            <a:off x="2545337" y="1722010"/>
            <a:ext cx="157309" cy="765455"/>
          </a:xfrm>
          <a:prstGeom prst="rightBrace">
            <a:avLst>
              <a:gd name="adj1" fmla="val 43929"/>
              <a:gd name="adj2" fmla="val 50000"/>
            </a:avLst>
          </a:prstGeom>
          <a:noFill/>
          <a:ln w="19050">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2" name="Rectangle 57"/>
          <p:cNvSpPr>
            <a:spLocks noChangeArrowheads="1"/>
          </p:cNvSpPr>
          <p:nvPr/>
        </p:nvSpPr>
        <p:spPr bwMode="auto">
          <a:xfrm>
            <a:off x="2707874" y="2752988"/>
            <a:ext cx="3537202" cy="599502"/>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83" name="Text Box 58"/>
          <p:cNvSpPr txBox="1">
            <a:spLocks noChangeArrowheads="1"/>
          </p:cNvSpPr>
          <p:nvPr/>
        </p:nvSpPr>
        <p:spPr bwMode="auto">
          <a:xfrm>
            <a:off x="3450505" y="2796426"/>
            <a:ext cx="1980029"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实体主体</a:t>
            </a:r>
          </a:p>
          <a:p>
            <a:pPr algn="ctr"/>
            <a:r>
              <a:rPr kumimoji="1" lang="zh-CN" altLang="en-US" sz="1400" b="1" dirty="0">
                <a:solidFill>
                  <a:schemeClr val="bg1"/>
                </a:solidFill>
                <a:latin typeface="微软雅黑 Light" panose="020B0502040204020203" pitchFamily="34" charset="-122"/>
                <a:ea typeface="微软雅黑 Light" panose="020B0502040204020203" pitchFamily="34" charset="-122"/>
              </a:rPr>
              <a:t>（有些响应报文不用）</a:t>
            </a:r>
          </a:p>
        </p:txBody>
      </p:sp>
      <p:sp>
        <p:nvSpPr>
          <p:cNvPr id="185" name="Line 60"/>
          <p:cNvSpPr>
            <a:spLocks noChangeShapeType="1"/>
          </p:cNvSpPr>
          <p:nvPr/>
        </p:nvSpPr>
        <p:spPr bwMode="auto">
          <a:xfrm>
            <a:off x="2707874"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6" name="Line 61"/>
          <p:cNvSpPr>
            <a:spLocks noChangeShapeType="1"/>
          </p:cNvSpPr>
          <p:nvPr/>
        </p:nvSpPr>
        <p:spPr bwMode="auto">
          <a:xfrm>
            <a:off x="2707874"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7" name="Line 62"/>
          <p:cNvSpPr>
            <a:spLocks noChangeShapeType="1"/>
          </p:cNvSpPr>
          <p:nvPr/>
        </p:nvSpPr>
        <p:spPr bwMode="auto">
          <a:xfrm>
            <a:off x="3356211" y="2487463"/>
            <a:ext cx="0" cy="26552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8" name="Line 63"/>
          <p:cNvSpPr>
            <a:spLocks noChangeShapeType="1"/>
          </p:cNvSpPr>
          <p:nvPr/>
        </p:nvSpPr>
        <p:spPr bwMode="auto">
          <a:xfrm>
            <a:off x="4928176" y="1954342"/>
            <a:ext cx="0" cy="26656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9" name="Text Box 64"/>
          <p:cNvSpPr txBox="1">
            <a:spLocks noChangeArrowheads="1"/>
          </p:cNvSpPr>
          <p:nvPr/>
        </p:nvSpPr>
        <p:spPr bwMode="auto">
          <a:xfrm>
            <a:off x="3815778" y="99078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空格</a:t>
            </a:r>
          </a:p>
        </p:txBody>
      </p:sp>
      <p:sp>
        <p:nvSpPr>
          <p:cNvPr id="190" name="Text Box 65"/>
          <p:cNvSpPr txBox="1">
            <a:spLocks noChangeArrowheads="1"/>
          </p:cNvSpPr>
          <p:nvPr/>
        </p:nvSpPr>
        <p:spPr bwMode="auto">
          <a:xfrm>
            <a:off x="5186612" y="99078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latin typeface="微软雅黑 Light" panose="020B0502040204020203" pitchFamily="34" charset="-122"/>
                <a:ea typeface="微软雅黑 Light" panose="020B0502040204020203" pitchFamily="34" charset="-122"/>
              </a:rPr>
              <a:t>回车换行</a:t>
            </a:r>
          </a:p>
        </p:txBody>
      </p:sp>
      <p:sp>
        <p:nvSpPr>
          <p:cNvPr id="191" name="Line 66"/>
          <p:cNvSpPr>
            <a:spLocks noChangeShapeType="1"/>
          </p:cNvSpPr>
          <p:nvPr/>
        </p:nvSpPr>
        <p:spPr bwMode="auto">
          <a:xfrm>
            <a:off x="4247254" y="1222078"/>
            <a:ext cx="288774"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2" name="Line 67"/>
          <p:cNvSpPr>
            <a:spLocks noChangeShapeType="1"/>
          </p:cNvSpPr>
          <p:nvPr/>
        </p:nvSpPr>
        <p:spPr bwMode="auto">
          <a:xfrm flipH="1">
            <a:off x="3592174" y="1222078"/>
            <a:ext cx="314618"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3" name="Line 68"/>
          <p:cNvSpPr>
            <a:spLocks noChangeShapeType="1"/>
          </p:cNvSpPr>
          <p:nvPr/>
        </p:nvSpPr>
        <p:spPr bwMode="auto">
          <a:xfrm>
            <a:off x="5609099" y="1222078"/>
            <a:ext cx="157309" cy="200180"/>
          </a:xfrm>
          <a:prstGeom prst="line">
            <a:avLst/>
          </a:prstGeom>
          <a:noFill/>
          <a:ln w="1905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4" name="Line 69"/>
          <p:cNvSpPr>
            <a:spLocks noChangeShapeType="1"/>
          </p:cNvSpPr>
          <p:nvPr/>
        </p:nvSpPr>
        <p:spPr bwMode="auto">
          <a:xfrm>
            <a:off x="3985446" y="2220904"/>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5" name="Line 70"/>
          <p:cNvSpPr>
            <a:spLocks noChangeShapeType="1"/>
          </p:cNvSpPr>
          <p:nvPr/>
        </p:nvSpPr>
        <p:spPr bwMode="auto">
          <a:xfrm>
            <a:off x="3985446" y="1687782"/>
            <a:ext cx="0" cy="26656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6" name="Text Box 71"/>
          <p:cNvSpPr txBox="1">
            <a:spLocks noChangeArrowheads="1"/>
          </p:cNvSpPr>
          <p:nvPr/>
        </p:nvSpPr>
        <p:spPr bwMode="auto">
          <a:xfrm>
            <a:off x="3744379" y="2221940"/>
            <a:ext cx="22794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197" name="Text Box 72"/>
          <p:cNvSpPr txBox="1">
            <a:spLocks noChangeArrowheads="1"/>
          </p:cNvSpPr>
          <p:nvPr/>
        </p:nvSpPr>
        <p:spPr bwMode="auto">
          <a:xfrm>
            <a:off x="5429318" y="141499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0" name="Text Box 75"/>
          <p:cNvSpPr txBox="1">
            <a:spLocks noChangeArrowheads="1"/>
          </p:cNvSpPr>
          <p:nvPr/>
        </p:nvSpPr>
        <p:spPr bwMode="auto">
          <a:xfrm>
            <a:off x="2710121" y="2482278"/>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grpSp>
        <p:nvGrpSpPr>
          <p:cNvPr id="201" name="Group 134"/>
          <p:cNvGrpSpPr>
            <a:grpSpLocks/>
          </p:cNvGrpSpPr>
          <p:nvPr/>
        </p:nvGrpSpPr>
        <p:grpSpPr bwMode="auto">
          <a:xfrm>
            <a:off x="1891003" y="1386996"/>
            <a:ext cx="4354075" cy="328794"/>
            <a:chOff x="460" y="1045"/>
            <a:chExt cx="3875" cy="317"/>
          </a:xfrm>
        </p:grpSpPr>
        <p:sp>
          <p:nvSpPr>
            <p:cNvPr id="202" name="Rectangle 132"/>
            <p:cNvSpPr>
              <a:spLocks noChangeArrowheads="1"/>
            </p:cNvSpPr>
            <p:nvPr/>
          </p:nvSpPr>
          <p:spPr bwMode="auto">
            <a:xfrm>
              <a:off x="1111" y="1045"/>
              <a:ext cx="3224" cy="317"/>
            </a:xfrm>
            <a:prstGeom prst="rect">
              <a:avLst/>
            </a:prstGeom>
            <a:noFill/>
            <a:ln w="3810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03" name="Text Box 133"/>
            <p:cNvSpPr txBox="1">
              <a:spLocks noChangeArrowheads="1"/>
            </p:cNvSpPr>
            <p:nvPr/>
          </p:nvSpPr>
          <p:spPr bwMode="auto">
            <a:xfrm>
              <a:off x="460" y="1063"/>
              <a:ext cx="644" cy="2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1400" b="1" dirty="0">
                  <a:latin typeface="微软雅黑 Light" panose="020B0502040204020203" pitchFamily="34" charset="-122"/>
                  <a:ea typeface="微软雅黑 Light" panose="020B0502040204020203" pitchFamily="34" charset="-122"/>
                </a:rPr>
                <a:t>状态行</a:t>
              </a:r>
            </a:p>
          </p:txBody>
        </p:sp>
      </p:grpSp>
      <p:sp>
        <p:nvSpPr>
          <p:cNvPr id="204" name="Text Box 73"/>
          <p:cNvSpPr txBox="1">
            <a:spLocks noChangeArrowheads="1"/>
          </p:cNvSpPr>
          <p:nvPr/>
        </p:nvSpPr>
        <p:spPr bwMode="auto">
          <a:xfrm>
            <a:off x="4310177" y="2226089"/>
            <a:ext cx="601144"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5" name="Text Box 74"/>
          <p:cNvSpPr txBox="1">
            <a:spLocks noChangeArrowheads="1"/>
          </p:cNvSpPr>
          <p:nvPr/>
        </p:nvSpPr>
        <p:spPr bwMode="auto">
          <a:xfrm>
            <a:off x="4314671" y="1697117"/>
            <a:ext cx="5341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FFFF00"/>
                </a:solidFill>
                <a:latin typeface="微软雅黑 Light" panose="020B0502040204020203" pitchFamily="34" charset="-122"/>
                <a:ea typeface="微软雅黑 Light" panose="020B0502040204020203" pitchFamily="34" charset="-122"/>
              </a:rPr>
              <a:t>CRLF</a:t>
            </a:r>
          </a:p>
        </p:txBody>
      </p:sp>
      <p:sp>
        <p:nvSpPr>
          <p:cNvPr id="206" name="矩形 205"/>
          <p:cNvSpPr/>
          <p:nvPr/>
        </p:nvSpPr>
        <p:spPr>
          <a:xfrm>
            <a:off x="1346773" y="3454660"/>
            <a:ext cx="6636391" cy="605294"/>
          </a:xfrm>
          <a:prstGeom prst="rect">
            <a:avLst/>
          </a:prstGeom>
          <a:solidFill>
            <a:srgbClr val="00FFFF"/>
          </a:solidFill>
          <a:ln>
            <a:solidFill>
              <a:schemeClr val="tx1"/>
            </a:solidFill>
          </a:ln>
        </p:spPr>
        <p:txBody>
          <a:bodyPr wrap="square">
            <a:spAutoFit/>
          </a:bodyPr>
          <a:lstStyle/>
          <a:p>
            <a:pPr>
              <a:lnSpc>
                <a:spcPts val="2000"/>
              </a:lnSpc>
            </a:pPr>
            <a:r>
              <a:rPr kumimoji="1" lang="zh-CN" altLang="en-US" sz="1400" b="1" dirty="0">
                <a:latin typeface="微软雅黑 Light" panose="020B0502040204020203" pitchFamily="34" charset="-122"/>
                <a:ea typeface="微软雅黑 Light" panose="020B0502040204020203" pitchFamily="34" charset="-122"/>
              </a:rPr>
              <a:t>在响应报文中，开始行是状态行。</a:t>
            </a:r>
            <a:endParaRPr kumimoji="1" lang="en-US" altLang="zh-CN" sz="1400" b="1" dirty="0">
              <a:latin typeface="微软雅黑 Light" panose="020B0502040204020203" pitchFamily="34" charset="-122"/>
              <a:ea typeface="微软雅黑 Light" panose="020B0502040204020203" pitchFamily="34" charset="-122"/>
            </a:endParaRPr>
          </a:p>
          <a:p>
            <a:pPr>
              <a:lnSpc>
                <a:spcPts val="2000"/>
              </a:lnSpc>
            </a:pPr>
            <a:r>
              <a:rPr kumimoji="1" lang="zh-CN" altLang="en-US" sz="1400" b="1" dirty="0">
                <a:latin typeface="微软雅黑 Light" panose="020B0502040204020203" pitchFamily="34" charset="-122"/>
                <a:ea typeface="微软雅黑 Light" panose="020B0502040204020203" pitchFamily="34" charset="-122"/>
              </a:rPr>
              <a:t>版本：</a:t>
            </a:r>
            <a:r>
              <a:rPr kumimoji="1" lang="en-US" altLang="zh-CN" sz="1400" b="1" dirty="0">
                <a:latin typeface="微软雅黑 Light" panose="020B0502040204020203" pitchFamily="34" charset="-122"/>
                <a:ea typeface="微软雅黑 Light" panose="020B0502040204020203" pitchFamily="34" charset="-122"/>
              </a:rPr>
              <a:t>HTTP </a:t>
            </a:r>
            <a:r>
              <a:rPr kumimoji="1" lang="zh-CN" altLang="en-US" sz="1400" b="1" dirty="0">
                <a:latin typeface="微软雅黑 Light" panose="020B0502040204020203" pitchFamily="34" charset="-122"/>
                <a:ea typeface="微软雅黑 Light" panose="020B0502040204020203" pitchFamily="34" charset="-122"/>
              </a:rPr>
              <a:t>的版本。状态码：服务器操作完成的状态。短语：解释状态码。</a:t>
            </a:r>
          </a:p>
        </p:txBody>
      </p:sp>
      <p:sp>
        <p:nvSpPr>
          <p:cNvPr id="2" name="标题 1">
            <a:extLst>
              <a:ext uri="{FF2B5EF4-FFF2-40B4-BE49-F238E27FC236}">
                <a16:creationId xmlns:a16="http://schemas.microsoft.com/office/drawing/2014/main" id="{CB2E8956-452E-84D6-8227-1F89AEA06D71}"/>
              </a:ext>
            </a:extLst>
          </p:cNvPr>
          <p:cNvSpPr>
            <a:spLocks noGrp="1"/>
          </p:cNvSpPr>
          <p:nvPr>
            <p:ph type="title"/>
          </p:nvPr>
        </p:nvSpPr>
        <p:spPr>
          <a:xfrm>
            <a:off x="2880000" y="144000"/>
            <a:ext cx="3384000" cy="338554"/>
          </a:xfrm>
        </p:spPr>
        <p:txBody>
          <a:bodyPr/>
          <a:lstStyle/>
          <a:p>
            <a:r>
              <a:rPr lang="en-US" altLang="zh-CN" dirty="0"/>
              <a:t>HTTP </a:t>
            </a:r>
            <a:r>
              <a:rPr lang="zh-CN" altLang="en-US" dirty="0"/>
              <a:t>的报文结构（响应报文）</a:t>
            </a:r>
          </a:p>
        </p:txBody>
      </p:sp>
    </p:spTree>
    <p:extLst>
      <p:ext uri="{BB962C8B-B14F-4D97-AF65-F5344CB8AC3E}">
        <p14:creationId xmlns:p14="http://schemas.microsoft.com/office/powerpoint/2010/main" val="1826939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2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68"/>
          <p:cNvSpPr>
            <a:spLocks noChangeArrowheads="1"/>
          </p:cNvSpPr>
          <p:nvPr/>
        </p:nvSpPr>
        <p:spPr bwMode="auto">
          <a:xfrm>
            <a:off x="556963" y="929132"/>
            <a:ext cx="8081200"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1xx </a:t>
            </a:r>
            <a:r>
              <a:rPr lang="zh-CN" altLang="en-US" sz="2000" b="1" dirty="0">
                <a:solidFill>
                  <a:srgbClr val="0000FF"/>
                </a:solidFill>
                <a:latin typeface="微软雅黑 Light" panose="020B0502040204020203" pitchFamily="34" charset="-122"/>
                <a:ea typeface="微软雅黑 Light" panose="020B0502040204020203" pitchFamily="34" charset="-122"/>
              </a:rPr>
              <a:t>表示通知信息</a:t>
            </a:r>
            <a:r>
              <a:rPr lang="zh-CN" altLang="en-US" sz="2000" b="1" dirty="0">
                <a:latin typeface="微软雅黑 Light" panose="020B0502040204020203" pitchFamily="34" charset="-122"/>
                <a:ea typeface="微软雅黑 Light" panose="020B0502040204020203" pitchFamily="34" charset="-122"/>
              </a:rPr>
              <a:t>，如请求收到了或正在进行处理。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2xx </a:t>
            </a:r>
            <a:r>
              <a:rPr lang="zh-CN" altLang="en-US" sz="2000" b="1" dirty="0">
                <a:solidFill>
                  <a:srgbClr val="0000FF"/>
                </a:solidFill>
                <a:latin typeface="微软雅黑 Light" panose="020B0502040204020203" pitchFamily="34" charset="-122"/>
                <a:ea typeface="微软雅黑 Light" panose="020B0502040204020203" pitchFamily="34" charset="-122"/>
              </a:rPr>
              <a:t>表示成功</a:t>
            </a:r>
            <a:r>
              <a:rPr lang="zh-CN" altLang="en-US" sz="2000" b="1" dirty="0">
                <a:latin typeface="微软雅黑 Light" panose="020B0502040204020203" pitchFamily="34" charset="-122"/>
                <a:ea typeface="微软雅黑 Light" panose="020B0502040204020203" pitchFamily="34" charset="-122"/>
              </a:rPr>
              <a:t>，如接受或知道了。</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3xx </a:t>
            </a:r>
            <a:r>
              <a:rPr lang="zh-CN" altLang="en-US" sz="2000" b="1" dirty="0">
                <a:solidFill>
                  <a:srgbClr val="0000FF"/>
                </a:solidFill>
                <a:latin typeface="微软雅黑 Light" panose="020B0502040204020203" pitchFamily="34" charset="-122"/>
                <a:ea typeface="微软雅黑 Light" panose="020B0502040204020203" pitchFamily="34" charset="-122"/>
              </a:rPr>
              <a:t>表示重定向</a:t>
            </a:r>
            <a:r>
              <a:rPr lang="zh-CN" altLang="en-US" sz="2000" b="1" dirty="0">
                <a:latin typeface="微软雅黑 Light" panose="020B0502040204020203" pitchFamily="34" charset="-122"/>
                <a:ea typeface="微软雅黑 Light" panose="020B0502040204020203" pitchFamily="34" charset="-122"/>
              </a:rPr>
              <a:t>，表示要完成请求还必须采取进一步的行动。</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4xx </a:t>
            </a:r>
            <a:r>
              <a:rPr lang="zh-CN" altLang="en-US" sz="2000" b="1" dirty="0">
                <a:solidFill>
                  <a:srgbClr val="0000FF"/>
                </a:solidFill>
                <a:latin typeface="微软雅黑 Light" panose="020B0502040204020203" pitchFamily="34" charset="-122"/>
                <a:ea typeface="微软雅黑 Light" panose="020B0502040204020203" pitchFamily="34" charset="-122"/>
              </a:rPr>
              <a:t>表示客户的差错</a:t>
            </a:r>
            <a:r>
              <a:rPr lang="zh-CN" altLang="en-US" sz="2000" b="1" dirty="0">
                <a:latin typeface="微软雅黑 Light" panose="020B0502040204020203" pitchFamily="34" charset="-122"/>
                <a:ea typeface="微软雅黑 Light" panose="020B0502040204020203" pitchFamily="34" charset="-122"/>
              </a:rPr>
              <a:t>，如请求中有错误的语法或不能完成。</a:t>
            </a:r>
          </a:p>
          <a:p>
            <a:pPr marL="285750" indent="-285750" eaLnBrk="0" hangingPunct="0">
              <a:lnSpc>
                <a:spcPts val="30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5xx </a:t>
            </a:r>
            <a:r>
              <a:rPr lang="zh-CN" altLang="en-US" sz="2000" b="1" dirty="0">
                <a:solidFill>
                  <a:srgbClr val="0000FF"/>
                </a:solidFill>
                <a:latin typeface="微软雅黑 Light" panose="020B0502040204020203" pitchFamily="34" charset="-122"/>
                <a:ea typeface="微软雅黑 Light" panose="020B0502040204020203" pitchFamily="34" charset="-122"/>
              </a:rPr>
              <a:t>表示服务器的差错</a:t>
            </a:r>
            <a:r>
              <a:rPr lang="zh-CN" altLang="en-US" sz="2000" b="1" dirty="0">
                <a:latin typeface="微软雅黑 Light" panose="020B0502040204020203" pitchFamily="34" charset="-122"/>
                <a:ea typeface="微软雅黑 Light" panose="020B0502040204020203" pitchFamily="34" charset="-122"/>
              </a:rPr>
              <a:t>，如服务器失效无法完成请求。</a:t>
            </a:r>
          </a:p>
        </p:txBody>
      </p:sp>
      <p:sp>
        <p:nvSpPr>
          <p:cNvPr id="4" name="矩形 3"/>
          <p:cNvSpPr/>
          <p:nvPr/>
        </p:nvSpPr>
        <p:spPr>
          <a:xfrm>
            <a:off x="645268" y="552756"/>
            <a:ext cx="41905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状态码：都是三位数字，分为</a:t>
            </a:r>
            <a:r>
              <a:rPr lang="en-US" altLang="zh-CN" sz="2000" b="1" dirty="0">
                <a:latin typeface="微软雅黑 Light" panose="020B0502040204020203" pitchFamily="34" charset="-122"/>
                <a:ea typeface="微软雅黑 Light" panose="020B0502040204020203" pitchFamily="34" charset="-122"/>
              </a:rPr>
              <a:t>5</a:t>
            </a:r>
            <a:r>
              <a:rPr lang="zh-CN" altLang="en-US" sz="2000" b="1" dirty="0">
                <a:latin typeface="微软雅黑 Light" panose="020B0502040204020203" pitchFamily="34" charset="-122"/>
                <a:ea typeface="微软雅黑 Light" panose="020B0502040204020203" pitchFamily="34" charset="-122"/>
              </a:rPr>
              <a:t>大类</a:t>
            </a:r>
          </a:p>
        </p:txBody>
      </p:sp>
      <p:sp>
        <p:nvSpPr>
          <p:cNvPr id="5" name="矩形 4"/>
          <p:cNvSpPr/>
          <p:nvPr/>
        </p:nvSpPr>
        <p:spPr>
          <a:xfrm>
            <a:off x="834501" y="2916840"/>
            <a:ext cx="6951216" cy="1426031"/>
          </a:xfrm>
          <a:prstGeom prst="rect">
            <a:avLst/>
          </a:prstGeom>
        </p:spPr>
        <p:txBody>
          <a:bodyPr wrap="square">
            <a:spAutoFit/>
          </a:bodyPr>
          <a:lstStyle/>
          <a:p>
            <a:pPr algn="just">
              <a:lnSpc>
                <a:spcPts val="2600"/>
              </a:lnSpc>
              <a:spcAft>
                <a:spcPts val="0"/>
              </a:spcAft>
            </a:pPr>
            <a:r>
              <a:rPr lang="zh-CN" altLang="zh-CN" b="1" kern="500" dirty="0">
                <a:latin typeface="微软雅黑 Light" panose="020B0502040204020203" pitchFamily="34" charset="-122"/>
                <a:ea typeface="微软雅黑 Light" panose="020B0502040204020203" pitchFamily="34" charset="-122"/>
              </a:rPr>
              <a:t>响应报文中常见到的三种状态行</a:t>
            </a:r>
            <a:r>
              <a:rPr lang="zh-CN" altLang="en-US" b="1" kern="500" dirty="0">
                <a:latin typeface="微软雅黑 Light" panose="020B0502040204020203" pitchFamily="34" charset="-122"/>
                <a:ea typeface="微软雅黑 Light" panose="020B0502040204020203" pitchFamily="34" charset="-122"/>
              </a:rPr>
              <a:t>：</a:t>
            </a:r>
            <a:endParaRPr lang="zh-CN" altLang="zh-CN" b="1" kern="500" dirty="0">
              <a:latin typeface="微软雅黑 Light" panose="020B0502040204020203" pitchFamily="34" charset="-122"/>
              <a:ea typeface="微软雅黑 Light" panose="020B0502040204020203" pitchFamily="34" charset="-122"/>
            </a:endParaRP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HTTP/1.1 202 Accepted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接受</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HTTP/1.1 400 Bad Request</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错误的请求</a:t>
            </a:r>
          </a:p>
          <a:p>
            <a:pPr algn="just">
              <a:lnSpc>
                <a:spcPts val="2600"/>
              </a:lnSpc>
              <a:spcAft>
                <a:spcPts val="0"/>
              </a:spcAft>
            </a:pPr>
            <a:r>
              <a:rPr lang="en-US" altLang="zh-CN" b="1" kern="500" dirty="0">
                <a:solidFill>
                  <a:srgbClr val="000099"/>
                </a:solidFill>
                <a:latin typeface="Montserrat" panose="00000500000000000000" pitchFamily="2" charset="0"/>
                <a:ea typeface="微软雅黑 Light" panose="020B0502040204020203" pitchFamily="34" charset="-122"/>
                <a:cs typeface="Times New Roman" panose="02020603050405020304" pitchFamily="18" charset="0"/>
              </a:rPr>
              <a:t>Http/1.1 404 Not Found</a:t>
            </a:r>
            <a:r>
              <a:rPr lang="en-US" altLang="zh-CN" b="1" kern="500" dirty="0">
                <a:latin typeface="Montserrat" panose="00000500000000000000" pitchFamily="2" charset="0"/>
                <a:ea typeface="微软雅黑 Light" panose="020B0502040204020203" pitchFamily="34" charset="-122"/>
                <a:cs typeface="Times New Roman" panose="02020603050405020304" pitchFamily="18" charset="0"/>
              </a:rPr>
              <a:t>		</a:t>
            </a:r>
            <a:r>
              <a:rPr lang="zh-CN" altLang="zh-CN" b="1" kern="500" dirty="0">
                <a:latin typeface="Montserrat" panose="00000500000000000000" pitchFamily="2" charset="0"/>
                <a:ea typeface="微软雅黑 Light" panose="020B0502040204020203" pitchFamily="34" charset="-122"/>
              </a:rPr>
              <a:t>找不到</a:t>
            </a:r>
          </a:p>
        </p:txBody>
      </p:sp>
    </p:spTree>
    <p:extLst>
      <p:ext uri="{BB962C8B-B14F-4D97-AF65-F5344CB8AC3E}">
        <p14:creationId xmlns:p14="http://schemas.microsoft.com/office/powerpoint/2010/main" val="17636566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9078077-FB14-9D82-3940-11B42C9C590D}"/>
              </a:ext>
            </a:extLst>
          </p:cNvPr>
          <p:cNvSpPr>
            <a:spLocks noGrp="1"/>
          </p:cNvSpPr>
          <p:nvPr>
            <p:ph type="title"/>
          </p:nvPr>
        </p:nvSpPr>
        <p:spPr>
          <a:xfrm>
            <a:off x="485999" y="174482"/>
            <a:ext cx="8171999" cy="338554"/>
          </a:xfrm>
        </p:spPr>
        <p:txBody>
          <a:bodyPr/>
          <a:lstStyle/>
          <a:p>
            <a:r>
              <a:rPr lang="en-US" altLang="zh-CN" dirty="0"/>
              <a:t>4. </a:t>
            </a:r>
            <a:r>
              <a:rPr lang="zh-CN" altLang="en-US" dirty="0"/>
              <a:t>在服务器上存放用户的信息</a:t>
            </a:r>
          </a:p>
        </p:txBody>
      </p:sp>
      <p:sp>
        <p:nvSpPr>
          <p:cNvPr id="9" name="内容占位符 8">
            <a:extLst>
              <a:ext uri="{FF2B5EF4-FFF2-40B4-BE49-F238E27FC236}">
                <a16:creationId xmlns:a16="http://schemas.microsoft.com/office/drawing/2014/main" id="{2984B7CF-D7EE-F72A-E964-33BAED6612C0}"/>
              </a:ext>
            </a:extLst>
          </p:cNvPr>
          <p:cNvSpPr>
            <a:spLocks noGrp="1"/>
          </p:cNvSpPr>
          <p:nvPr>
            <p:ph sz="quarter" idx="11"/>
          </p:nvPr>
        </p:nvSpPr>
        <p:spPr>
          <a:xfrm>
            <a:off x="486000" y="687518"/>
            <a:ext cx="8172000" cy="4079035"/>
          </a:xfrm>
        </p:spPr>
        <p:txBody>
          <a:bodyPr/>
          <a:lstStyle/>
          <a:p>
            <a:r>
              <a:rPr lang="zh-CN" altLang="en-US" dirty="0"/>
              <a:t>万维网使用 </a:t>
            </a:r>
            <a:r>
              <a:rPr lang="en-US" altLang="zh-CN"/>
              <a:t>Cookie </a:t>
            </a:r>
            <a:r>
              <a:rPr lang="zh-CN" altLang="en-US"/>
              <a:t>跟踪</a:t>
            </a:r>
            <a:r>
              <a:rPr lang="zh-CN" altLang="en-US" dirty="0"/>
              <a:t>在 </a:t>
            </a:r>
            <a:r>
              <a:rPr lang="en-US" altLang="zh-CN"/>
              <a:t>HTTP </a:t>
            </a:r>
            <a:r>
              <a:rPr lang="zh-CN" altLang="en-US"/>
              <a:t>服务器</a:t>
            </a:r>
            <a:r>
              <a:rPr lang="zh-CN" altLang="en-US" dirty="0"/>
              <a:t>和客户之间传递的状态信息</a:t>
            </a:r>
          </a:p>
        </p:txBody>
      </p:sp>
      <p:grpSp>
        <p:nvGrpSpPr>
          <p:cNvPr id="7" name="Group 5"/>
          <p:cNvGrpSpPr>
            <a:grpSpLocks/>
          </p:cNvGrpSpPr>
          <p:nvPr/>
        </p:nvGrpSpPr>
        <p:grpSpPr bwMode="auto">
          <a:xfrm>
            <a:off x="2353913" y="3239298"/>
            <a:ext cx="2956331" cy="318744"/>
            <a:chOff x="1285" y="2720"/>
            <a:chExt cx="2219" cy="340"/>
          </a:xfrm>
        </p:grpSpPr>
        <p:sp>
          <p:nvSpPr>
            <p:cNvPr id="8" name="Line 6"/>
            <p:cNvSpPr>
              <a:spLocks noChangeShapeType="1"/>
            </p:cNvSpPr>
            <p:nvPr/>
          </p:nvSpPr>
          <p:spPr bwMode="auto">
            <a:xfrm flipH="1">
              <a:off x="1285" y="2720"/>
              <a:ext cx="2219" cy="199"/>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1" name="Text Box 9"/>
            <p:cNvSpPr txBox="1">
              <a:spLocks noChangeArrowheads="1"/>
            </p:cNvSpPr>
            <p:nvPr/>
          </p:nvSpPr>
          <p:spPr bwMode="auto">
            <a:xfrm>
              <a:off x="1456" y="2732"/>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grpSp>
        <p:nvGrpSpPr>
          <p:cNvPr id="12" name="Group 10"/>
          <p:cNvGrpSpPr>
            <a:grpSpLocks/>
          </p:cNvGrpSpPr>
          <p:nvPr/>
        </p:nvGrpSpPr>
        <p:grpSpPr bwMode="auto">
          <a:xfrm>
            <a:off x="2354415" y="4152257"/>
            <a:ext cx="2944341" cy="348742"/>
            <a:chOff x="1365" y="3581"/>
            <a:chExt cx="2210" cy="372"/>
          </a:xfrm>
        </p:grpSpPr>
        <p:sp>
          <p:nvSpPr>
            <p:cNvPr id="13" name="Line 11"/>
            <p:cNvSpPr>
              <a:spLocks noChangeShapeType="1"/>
            </p:cNvSpPr>
            <p:nvPr/>
          </p:nvSpPr>
          <p:spPr bwMode="auto">
            <a:xfrm flipH="1">
              <a:off x="1365" y="3581"/>
              <a:ext cx="2210" cy="293"/>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16" name="Text Box 14"/>
            <p:cNvSpPr txBox="1">
              <a:spLocks noChangeArrowheads="1"/>
            </p:cNvSpPr>
            <p:nvPr/>
          </p:nvSpPr>
          <p:spPr bwMode="auto">
            <a:xfrm>
              <a:off x="1545" y="3625"/>
              <a:ext cx="1567"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 </a:t>
              </a:r>
            </a:p>
          </p:txBody>
        </p:sp>
      </p:grpSp>
      <p:sp>
        <p:nvSpPr>
          <p:cNvPr id="17" name="Text Box 15"/>
          <p:cNvSpPr txBox="1">
            <a:spLocks noChangeArrowheads="1"/>
          </p:cNvSpPr>
          <p:nvPr/>
        </p:nvSpPr>
        <p:spPr bwMode="auto">
          <a:xfrm>
            <a:off x="1138081" y="2169376"/>
            <a:ext cx="1270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en-US" altLang="zh-CN" sz="1400" dirty="0">
                <a:latin typeface="Montserrat" panose="00000500000000000000" pitchFamily="2" charset="0"/>
                <a:ea typeface="微软雅黑 Light" panose="020B0502040204020203" pitchFamily="34" charset="-122"/>
              </a:rPr>
              <a:t>cookie file</a:t>
            </a:r>
          </a:p>
        </p:txBody>
      </p:sp>
      <p:grpSp>
        <p:nvGrpSpPr>
          <p:cNvPr id="19" name="Group 17"/>
          <p:cNvGrpSpPr>
            <a:grpSpLocks/>
          </p:cNvGrpSpPr>
          <p:nvPr/>
        </p:nvGrpSpPr>
        <p:grpSpPr bwMode="auto">
          <a:xfrm>
            <a:off x="2325175" y="2776920"/>
            <a:ext cx="5145612" cy="535302"/>
            <a:chOff x="1392" y="2261"/>
            <a:chExt cx="3555" cy="571"/>
          </a:xfrm>
        </p:grpSpPr>
        <p:sp>
          <p:nvSpPr>
            <p:cNvPr id="20" name="Line 18"/>
            <p:cNvSpPr>
              <a:spLocks noChangeShapeType="1"/>
            </p:cNvSpPr>
            <p:nvPr/>
          </p:nvSpPr>
          <p:spPr bwMode="auto">
            <a:xfrm>
              <a:off x="1392" y="2357"/>
              <a:ext cx="2082" cy="24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1" name="Text Box 19"/>
            <p:cNvSpPr txBox="1">
              <a:spLocks noChangeArrowheads="1"/>
            </p:cNvSpPr>
            <p:nvPr/>
          </p:nvSpPr>
          <p:spPr bwMode="auto">
            <a:xfrm>
              <a:off x="1562" y="2261"/>
              <a:ext cx="1443"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a:p>
              <a:pPr algn="ctr">
                <a:lnSpc>
                  <a:spcPct val="80000"/>
                </a:lnSpc>
              </a:pPr>
              <a:r>
                <a:rPr lang="en-US" altLang="zh-CN" sz="1400" dirty="0">
                  <a:solidFill>
                    <a:srgbClr val="0000FF"/>
                  </a:solidFill>
                  <a:latin typeface="Montserrat" panose="00000500000000000000" pitchFamily="2" charset="0"/>
                  <a:ea typeface="微软雅黑 Light" panose="020B0502040204020203" pitchFamily="34" charset="-122"/>
                </a:rPr>
                <a:t>cookie: ad42</a:t>
              </a:r>
            </a:p>
          </p:txBody>
        </p:sp>
        <p:sp>
          <p:nvSpPr>
            <p:cNvPr id="22" name="Text Box 20"/>
            <p:cNvSpPr txBox="1">
              <a:spLocks noChangeArrowheads="1"/>
            </p:cNvSpPr>
            <p:nvPr/>
          </p:nvSpPr>
          <p:spPr bwMode="auto">
            <a:xfrm>
              <a:off x="3508" y="2504"/>
              <a:ext cx="411"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endParaRPr lang="en-US" altLang="zh-CN" sz="1400" dirty="0">
                <a:solidFill>
                  <a:srgbClr val="0000FF"/>
                </a:solidFill>
                <a:latin typeface="Montserrat" panose="00000500000000000000" pitchFamily="2" charset="0"/>
                <a:ea typeface="微软雅黑 Light" panose="020B0502040204020203" pitchFamily="34" charset="-122"/>
              </a:endParaRPr>
            </a:p>
          </p:txBody>
        </p:sp>
        <p:sp>
          <p:nvSpPr>
            <p:cNvPr id="23" name="Line 21"/>
            <p:cNvSpPr>
              <a:spLocks noChangeShapeType="1"/>
            </p:cNvSpPr>
            <p:nvPr/>
          </p:nvSpPr>
          <p:spPr bwMode="auto">
            <a:xfrm flipV="1">
              <a:off x="3967" y="2439"/>
              <a:ext cx="980" cy="228"/>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6" name="Text Box 24"/>
            <p:cNvSpPr txBox="1">
              <a:spLocks noChangeArrowheads="1"/>
            </p:cNvSpPr>
            <p:nvPr/>
          </p:nvSpPr>
          <p:spPr bwMode="auto">
            <a:xfrm>
              <a:off x="4252" y="2400"/>
              <a:ext cx="34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endParaRPr lang="en-US" altLang="zh-CN" sz="1200" dirty="0">
                <a:latin typeface="Montserrat" panose="00000500000000000000" pitchFamily="2" charset="0"/>
                <a:ea typeface="微软雅黑 Light" panose="020B0502040204020203" pitchFamily="34" charset="-122"/>
              </a:endParaRPr>
            </a:p>
          </p:txBody>
        </p:sp>
      </p:grpSp>
      <p:sp>
        <p:nvSpPr>
          <p:cNvPr id="28" name="AutoShape 26"/>
          <p:cNvSpPr>
            <a:spLocks noChangeArrowheads="1"/>
          </p:cNvSpPr>
          <p:nvPr/>
        </p:nvSpPr>
        <p:spPr bwMode="auto">
          <a:xfrm>
            <a:off x="1119464" y="1723191"/>
            <a:ext cx="1139100"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29" name="Text Box 27"/>
          <p:cNvSpPr txBox="1">
            <a:spLocks noChangeArrowheads="1"/>
          </p:cNvSpPr>
          <p:nvPr/>
        </p:nvSpPr>
        <p:spPr bwMode="auto">
          <a:xfrm>
            <a:off x="1163429" y="1804752"/>
            <a:ext cx="1000543" cy="3074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solidFill>
                  <a:schemeClr val="bg1"/>
                </a:solidFill>
                <a:latin typeface="Montserrat" panose="00000500000000000000" pitchFamily="2" charset="0"/>
                <a:ea typeface="微软雅黑 Light" panose="020B0502040204020203" pitchFamily="34" charset="-122"/>
              </a:rPr>
              <a:t>JD 1234</a:t>
            </a:r>
          </a:p>
        </p:txBody>
      </p:sp>
      <p:sp>
        <p:nvSpPr>
          <p:cNvPr id="30" name="AutoShape 28"/>
          <p:cNvSpPr>
            <a:spLocks noChangeArrowheads="1"/>
          </p:cNvSpPr>
          <p:nvPr/>
        </p:nvSpPr>
        <p:spPr bwMode="auto">
          <a:xfrm>
            <a:off x="7565597" y="2623173"/>
            <a:ext cx="544020" cy="516595"/>
          </a:xfrm>
          <a:prstGeom prst="can">
            <a:avLst>
              <a:gd name="adj" fmla="val 39157"/>
            </a:avLst>
          </a:prstGeom>
          <a:solidFill>
            <a:srgbClr val="92D05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grpSp>
        <p:nvGrpSpPr>
          <p:cNvPr id="31" name="Group 29"/>
          <p:cNvGrpSpPr>
            <a:grpSpLocks/>
          </p:cNvGrpSpPr>
          <p:nvPr/>
        </p:nvGrpSpPr>
        <p:grpSpPr bwMode="auto">
          <a:xfrm>
            <a:off x="2243909" y="1837565"/>
            <a:ext cx="5407917" cy="996544"/>
            <a:chOff x="1386" y="1259"/>
            <a:chExt cx="3719" cy="1063"/>
          </a:xfrm>
        </p:grpSpPr>
        <p:sp>
          <p:nvSpPr>
            <p:cNvPr id="32" name="Line 30"/>
            <p:cNvSpPr>
              <a:spLocks noChangeShapeType="1"/>
            </p:cNvSpPr>
            <p:nvPr/>
          </p:nvSpPr>
          <p:spPr bwMode="auto">
            <a:xfrm>
              <a:off x="1386" y="1364"/>
              <a:ext cx="2109" cy="200"/>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3" name="Text Box 31"/>
            <p:cNvSpPr txBox="1">
              <a:spLocks noChangeArrowheads="1"/>
            </p:cNvSpPr>
            <p:nvPr/>
          </p:nvSpPr>
          <p:spPr bwMode="auto">
            <a:xfrm>
              <a:off x="1627" y="1259"/>
              <a:ext cx="1436" cy="32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endParaRPr lang="en-US" altLang="zh-CN" sz="1400" dirty="0">
                <a:latin typeface="Montserrat" panose="00000500000000000000" pitchFamily="2" charset="0"/>
                <a:ea typeface="微软雅黑 Light" panose="020B0502040204020203" pitchFamily="34" charset="-122"/>
              </a:endParaRPr>
            </a:p>
          </p:txBody>
        </p:sp>
        <p:sp>
          <p:nvSpPr>
            <p:cNvPr id="34" name="Text Box 32"/>
            <p:cNvSpPr txBox="1">
              <a:spLocks noChangeArrowheads="1"/>
            </p:cNvSpPr>
            <p:nvPr/>
          </p:nvSpPr>
          <p:spPr bwMode="auto">
            <a:xfrm>
              <a:off x="3467" y="1364"/>
              <a:ext cx="982" cy="68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rgbClr val="0000FF"/>
                  </a:solidFill>
                  <a:latin typeface="Montserrat" panose="00000500000000000000" pitchFamily="2" charset="0"/>
                  <a:ea typeface="微软雅黑 Light" panose="020B0502040204020203" pitchFamily="34" charset="-122"/>
                </a:rPr>
                <a:t>JD </a:t>
              </a:r>
              <a:r>
                <a:rPr lang="zh-CN" altLang="en-US" sz="1200" dirty="0">
                  <a:solidFill>
                    <a:srgbClr val="0000FF"/>
                  </a:solidFill>
                  <a:latin typeface="Montserrat" panose="00000500000000000000" pitchFamily="2" charset="0"/>
                  <a:ea typeface="微软雅黑 Light" panose="020B0502040204020203" pitchFamily="34" charset="-122"/>
                </a:rPr>
                <a:t>服务器为用户创建</a:t>
              </a:r>
              <a:r>
                <a:rPr lang="zh-CN" altLang="en-US" sz="1200" dirty="0">
                  <a:solidFill>
                    <a:srgbClr val="C00000"/>
                  </a:solidFill>
                  <a:latin typeface="Montserrat" panose="00000500000000000000" pitchFamily="2" charset="0"/>
                  <a:ea typeface="微软雅黑 Light" panose="020B0502040204020203" pitchFamily="34" charset="-122"/>
                </a:rPr>
                <a:t>唯一</a:t>
              </a:r>
              <a:r>
                <a:rPr lang="zh-CN" altLang="en-US" sz="1200" dirty="0">
                  <a:solidFill>
                    <a:srgbClr val="0000FF"/>
                  </a:solidFill>
                  <a:latin typeface="Montserrat" panose="00000500000000000000" pitchFamily="2" charset="0"/>
                  <a:ea typeface="微软雅黑 Light" panose="020B0502040204020203" pitchFamily="34" charset="-122"/>
                </a:rPr>
                <a:t>识别码</a:t>
              </a:r>
              <a:r>
                <a:rPr lang="en-US" altLang="zh-CN" sz="1200" dirty="0">
                  <a:solidFill>
                    <a:srgbClr val="0000FF"/>
                  </a:solidFill>
                  <a:latin typeface="Montserrat" panose="00000500000000000000" pitchFamily="2" charset="0"/>
                  <a:ea typeface="微软雅黑 Light" panose="020B0502040204020203" pitchFamily="34" charset="-122"/>
                </a:rPr>
                <a:t>ad42</a:t>
              </a:r>
            </a:p>
          </p:txBody>
        </p:sp>
        <p:grpSp>
          <p:nvGrpSpPr>
            <p:cNvPr id="35" name="Group 33"/>
            <p:cNvGrpSpPr>
              <a:grpSpLocks/>
            </p:cNvGrpSpPr>
            <p:nvPr/>
          </p:nvGrpSpPr>
          <p:grpSpPr bwMode="auto">
            <a:xfrm>
              <a:off x="4195" y="1723"/>
              <a:ext cx="910" cy="599"/>
              <a:chOff x="4195" y="1633"/>
              <a:chExt cx="910" cy="599"/>
            </a:xfrm>
          </p:grpSpPr>
          <p:sp>
            <p:nvSpPr>
              <p:cNvPr id="36" name="Line 34"/>
              <p:cNvSpPr>
                <a:spLocks noChangeShapeType="1"/>
              </p:cNvSpPr>
              <p:nvPr/>
            </p:nvSpPr>
            <p:spPr bwMode="auto">
              <a:xfrm>
                <a:off x="4407" y="1633"/>
                <a:ext cx="574" cy="599"/>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38" name="Text Box 36"/>
              <p:cNvSpPr txBox="1">
                <a:spLocks noChangeArrowheads="1"/>
              </p:cNvSpPr>
              <p:nvPr/>
            </p:nvSpPr>
            <p:spPr bwMode="auto">
              <a:xfrm>
                <a:off x="4195" y="1796"/>
                <a:ext cx="910" cy="248"/>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75000"/>
                  </a:lnSpc>
                </a:pPr>
                <a:r>
                  <a:rPr lang="zh-CN" altLang="en-US" sz="1200" dirty="0">
                    <a:latin typeface="Montserrat" panose="00000500000000000000" pitchFamily="2" charset="0"/>
                    <a:ea typeface="微软雅黑 Light" panose="020B0502040204020203" pitchFamily="34" charset="-122"/>
                  </a:rPr>
                  <a:t>产生一个项目</a:t>
                </a:r>
                <a:endParaRPr lang="en-US" altLang="zh-CN" sz="1200" dirty="0">
                  <a:latin typeface="Montserrat" panose="00000500000000000000" pitchFamily="2" charset="0"/>
                  <a:ea typeface="微软雅黑 Light" panose="020B0502040204020203" pitchFamily="34" charset="-122"/>
                </a:endParaRPr>
              </a:p>
            </p:txBody>
          </p:sp>
        </p:grpSp>
      </p:grpSp>
      <p:sp>
        <p:nvSpPr>
          <p:cNvPr id="40" name="Line 38"/>
          <p:cNvSpPr>
            <a:spLocks noChangeShapeType="1"/>
          </p:cNvSpPr>
          <p:nvPr/>
        </p:nvSpPr>
        <p:spPr bwMode="auto">
          <a:xfrm flipH="1">
            <a:off x="2287874" y="2306080"/>
            <a:ext cx="2981645" cy="380617"/>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1" name="Text Box 39"/>
          <p:cNvSpPr txBox="1">
            <a:spLocks noChangeArrowheads="1"/>
          </p:cNvSpPr>
          <p:nvPr/>
        </p:nvSpPr>
        <p:spPr bwMode="auto">
          <a:xfrm>
            <a:off x="2572982" y="2213269"/>
            <a:ext cx="2088000" cy="523114"/>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响应</a:t>
            </a:r>
            <a:r>
              <a:rPr lang="en-US" altLang="zh-CN" sz="1400" dirty="0">
                <a:latin typeface="Montserrat" panose="00000500000000000000" pitchFamily="2" charset="0"/>
                <a:ea typeface="微软雅黑 Light" panose="020B0502040204020203" pitchFamily="34" charset="-122"/>
              </a:rPr>
              <a:t> </a:t>
            </a:r>
          </a:p>
          <a:p>
            <a:pPr algn="ctr"/>
            <a:r>
              <a:rPr lang="en-US" altLang="zh-CN" sz="1400" dirty="0">
                <a:solidFill>
                  <a:srgbClr val="0000FF"/>
                </a:solidFill>
                <a:latin typeface="Montserrat" panose="00000500000000000000" pitchFamily="2" charset="0"/>
                <a:ea typeface="微软雅黑 Light" panose="020B0502040204020203" pitchFamily="34" charset="-122"/>
              </a:rPr>
              <a:t>set-cookie: ad42 </a:t>
            </a:r>
          </a:p>
        </p:txBody>
      </p:sp>
      <p:sp>
        <p:nvSpPr>
          <p:cNvPr id="43" name="AutoShape 41"/>
          <p:cNvSpPr>
            <a:spLocks noChangeArrowheads="1"/>
          </p:cNvSpPr>
          <p:nvPr/>
        </p:nvSpPr>
        <p:spPr bwMode="auto">
          <a:xfrm>
            <a:off x="1139448" y="2449514"/>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4" name="Text Box 42"/>
          <p:cNvSpPr txBox="1">
            <a:spLocks noChangeArrowheads="1"/>
          </p:cNvSpPr>
          <p:nvPr/>
        </p:nvSpPr>
        <p:spPr bwMode="auto">
          <a:xfrm>
            <a:off x="1186078" y="2506700"/>
            <a:ext cx="101653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grpSp>
        <p:nvGrpSpPr>
          <p:cNvPr id="45" name="Group 43"/>
          <p:cNvGrpSpPr>
            <a:grpSpLocks/>
          </p:cNvGrpSpPr>
          <p:nvPr/>
        </p:nvGrpSpPr>
        <p:grpSpPr bwMode="auto">
          <a:xfrm>
            <a:off x="2332973" y="3071515"/>
            <a:ext cx="5171916" cy="1143727"/>
            <a:chOff x="1374" y="2480"/>
            <a:chExt cx="3882" cy="1220"/>
          </a:xfrm>
        </p:grpSpPr>
        <p:sp>
          <p:nvSpPr>
            <p:cNvPr id="46" name="Line 44"/>
            <p:cNvSpPr>
              <a:spLocks noChangeShapeType="1"/>
            </p:cNvSpPr>
            <p:nvPr/>
          </p:nvSpPr>
          <p:spPr bwMode="auto">
            <a:xfrm>
              <a:off x="1374" y="3293"/>
              <a:ext cx="2235" cy="158"/>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47" name="Text Box 45"/>
            <p:cNvSpPr txBox="1">
              <a:spLocks noChangeArrowheads="1"/>
            </p:cNvSpPr>
            <p:nvPr/>
          </p:nvSpPr>
          <p:spPr bwMode="auto">
            <a:xfrm>
              <a:off x="1561" y="3171"/>
              <a:ext cx="1567" cy="466"/>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lnSpc>
                  <a:spcPct val="80000"/>
                </a:lnSpc>
              </a:pPr>
              <a:r>
                <a:rPr lang="en-US" altLang="zh-CN" sz="1400" dirty="0">
                  <a:latin typeface="Montserrat" panose="00000500000000000000" pitchFamily="2" charset="0"/>
                  <a:ea typeface="微软雅黑 Light" panose="020B0502040204020203" pitchFamily="34" charset="-122"/>
                </a:rPr>
                <a:t>http </a:t>
              </a:r>
              <a:r>
                <a:rPr lang="zh-CN" altLang="en-US" sz="1400" dirty="0">
                  <a:latin typeface="Montserrat" panose="00000500000000000000" pitchFamily="2" charset="0"/>
                  <a:ea typeface="微软雅黑 Light" panose="020B0502040204020203" pitchFamily="34" charset="-122"/>
                </a:rPr>
                <a:t>请求</a:t>
              </a:r>
            </a:p>
            <a:p>
              <a:pPr algn="ctr">
                <a:lnSpc>
                  <a:spcPct val="80000"/>
                </a:lnSpc>
              </a:pPr>
              <a:r>
                <a:rPr lang="en-US" altLang="zh-CN" sz="1400" dirty="0">
                  <a:latin typeface="Montserrat" panose="00000500000000000000" pitchFamily="2" charset="0"/>
                  <a:ea typeface="微软雅黑 Light" panose="020B0502040204020203" pitchFamily="34" charset="-122"/>
                </a:rPr>
                <a:t>cookie: ad42</a:t>
              </a:r>
            </a:p>
          </p:txBody>
        </p:sp>
        <p:sp>
          <p:nvSpPr>
            <p:cNvPr id="48" name="Text Box 46"/>
            <p:cNvSpPr txBox="1">
              <a:spLocks noChangeArrowheads="1"/>
            </p:cNvSpPr>
            <p:nvPr/>
          </p:nvSpPr>
          <p:spPr bwMode="auto">
            <a:xfrm>
              <a:off x="3706" y="3372"/>
              <a:ext cx="408" cy="32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0000FF"/>
                  </a:solidFill>
                  <a:latin typeface="Montserrat" panose="00000500000000000000" pitchFamily="2" charset="0"/>
                  <a:ea typeface="微软雅黑 Light" panose="020B0502040204020203" pitchFamily="34" charset="-122"/>
                </a:rPr>
                <a:t>处理</a:t>
              </a:r>
            </a:p>
          </p:txBody>
        </p:sp>
        <p:sp>
          <p:nvSpPr>
            <p:cNvPr id="49" name="Line 47"/>
            <p:cNvSpPr>
              <a:spLocks noChangeShapeType="1"/>
            </p:cNvSpPr>
            <p:nvPr/>
          </p:nvSpPr>
          <p:spPr bwMode="auto">
            <a:xfrm flipV="1">
              <a:off x="4211" y="2480"/>
              <a:ext cx="1045" cy="971"/>
            </a:xfrm>
            <a:prstGeom prst="line">
              <a:avLst/>
            </a:prstGeom>
            <a:noFill/>
            <a:ln w="9525">
              <a:solidFill>
                <a:schemeClr val="tx1"/>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0" name="Text Box 48"/>
            <p:cNvSpPr txBox="1">
              <a:spLocks noChangeArrowheads="1"/>
            </p:cNvSpPr>
            <p:nvPr/>
          </p:nvSpPr>
          <p:spPr bwMode="auto">
            <a:xfrm>
              <a:off x="4494" y="2844"/>
              <a:ext cx="370" cy="29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200" dirty="0">
                  <a:latin typeface="Montserrat" panose="00000500000000000000" pitchFamily="2" charset="0"/>
                  <a:ea typeface="微软雅黑 Light" panose="020B0502040204020203" pitchFamily="34" charset="-122"/>
                </a:rPr>
                <a:t>访问</a:t>
              </a:r>
            </a:p>
          </p:txBody>
        </p:sp>
      </p:grpSp>
      <p:sp>
        <p:nvSpPr>
          <p:cNvPr id="18" name="Text Box 16"/>
          <p:cNvSpPr txBox="1">
            <a:spLocks noChangeArrowheads="1"/>
          </p:cNvSpPr>
          <p:nvPr/>
        </p:nvSpPr>
        <p:spPr bwMode="auto">
          <a:xfrm>
            <a:off x="777810" y="339622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r>
              <a:rPr lang="zh-CN" altLang="en-US" sz="1400" dirty="0">
                <a:latin typeface="Montserrat" panose="00000500000000000000" pitchFamily="2" charset="0"/>
                <a:ea typeface="微软雅黑 Light" panose="020B0502040204020203" pitchFamily="34" charset="-122"/>
              </a:rPr>
              <a:t>几天后</a:t>
            </a:r>
            <a:endParaRPr lang="en-US" altLang="zh-CN" sz="1400" dirty="0">
              <a:latin typeface="Montserrat" panose="00000500000000000000" pitchFamily="2" charset="0"/>
              <a:ea typeface="微软雅黑 Light" panose="020B0502040204020203" pitchFamily="34" charset="-122"/>
            </a:endParaRPr>
          </a:p>
        </p:txBody>
      </p:sp>
      <p:sp>
        <p:nvSpPr>
          <p:cNvPr id="52" name="AutoShape 50"/>
          <p:cNvSpPr>
            <a:spLocks noChangeArrowheads="1"/>
          </p:cNvSpPr>
          <p:nvPr/>
        </p:nvSpPr>
        <p:spPr bwMode="auto">
          <a:xfrm>
            <a:off x="1145201" y="3696648"/>
            <a:ext cx="1104461" cy="455616"/>
          </a:xfrm>
          <a:prstGeom prst="can">
            <a:avLst>
              <a:gd name="adj" fmla="val 25000"/>
            </a:avLst>
          </a:prstGeom>
          <a:solidFill>
            <a:srgbClr val="0070C0"/>
          </a:solidFill>
          <a:ln w="9525">
            <a:noFill/>
            <a:round/>
            <a:headEnd/>
            <a:tailEnd/>
          </a:ln>
          <a:effectLst/>
        </p:spPr>
        <p:txBody>
          <a:bodyPr wrap="none" anchor="ctr"/>
          <a:lstStyle/>
          <a:p>
            <a:endParaRPr lang="zh-CN" altLang="en-US" sz="1400" dirty="0">
              <a:latin typeface="Montserrat" panose="00000500000000000000" pitchFamily="2" charset="0"/>
              <a:ea typeface="微软雅黑 Light" panose="020B0502040204020203" pitchFamily="34" charset="-122"/>
            </a:endParaRPr>
          </a:p>
        </p:txBody>
      </p:sp>
      <p:sp>
        <p:nvSpPr>
          <p:cNvPr id="53" name="Text Box 51"/>
          <p:cNvSpPr txBox="1">
            <a:spLocks noChangeArrowheads="1"/>
          </p:cNvSpPr>
          <p:nvPr/>
        </p:nvSpPr>
        <p:spPr bwMode="auto">
          <a:xfrm>
            <a:off x="1053274" y="3751022"/>
            <a:ext cx="1337610" cy="46124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en-US" altLang="zh-CN" sz="1200" dirty="0">
                <a:solidFill>
                  <a:schemeClr val="bg1"/>
                </a:solidFill>
                <a:latin typeface="Montserrat" panose="00000500000000000000" pitchFamily="2" charset="0"/>
                <a:ea typeface="微软雅黑 Light" panose="020B0502040204020203" pitchFamily="34" charset="-122"/>
              </a:rPr>
              <a:t>JD 1234</a:t>
            </a:r>
          </a:p>
          <a:p>
            <a:pPr algn="ctr"/>
            <a:r>
              <a:rPr lang="en-US" altLang="zh-CN" sz="1200" dirty="0">
                <a:solidFill>
                  <a:schemeClr val="bg1"/>
                </a:solidFill>
                <a:latin typeface="Montserrat" panose="00000500000000000000" pitchFamily="2" charset="0"/>
                <a:ea typeface="微软雅黑 Light" panose="020B0502040204020203" pitchFamily="34" charset="-122"/>
              </a:rPr>
              <a:t>ad42</a:t>
            </a:r>
          </a:p>
        </p:txBody>
      </p:sp>
      <p:sp>
        <p:nvSpPr>
          <p:cNvPr id="54" name="Text Box 52"/>
          <p:cNvSpPr txBox="1">
            <a:spLocks noChangeArrowheads="1"/>
          </p:cNvSpPr>
          <p:nvPr/>
        </p:nvSpPr>
        <p:spPr bwMode="auto">
          <a:xfrm>
            <a:off x="7504887" y="3158476"/>
            <a:ext cx="723275" cy="523220"/>
          </a:xfrm>
          <a:prstGeom prst="rect">
            <a:avLst/>
          </a:prstGeom>
          <a:noFill/>
          <a:ln>
            <a:noFill/>
          </a:ln>
          <a:effectLst/>
        </p:spPr>
        <p:txBody>
          <a:bodyPr wrap="non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dirty="0">
                <a:solidFill>
                  <a:srgbClr val="C00000"/>
                </a:solidFill>
                <a:latin typeface="Montserrat" panose="00000500000000000000" pitchFamily="2" charset="0"/>
                <a:ea typeface="微软雅黑 Light" panose="020B0502040204020203" pitchFamily="34" charset="-122"/>
              </a:rPr>
              <a:t>后台</a:t>
            </a:r>
            <a:endParaRPr lang="en-US" altLang="zh-CN" sz="1400" dirty="0">
              <a:solidFill>
                <a:srgbClr val="C00000"/>
              </a:solidFill>
              <a:latin typeface="Montserrat" panose="00000500000000000000" pitchFamily="2" charset="0"/>
              <a:ea typeface="微软雅黑 Light" panose="020B0502040204020203" pitchFamily="34" charset="-122"/>
            </a:endParaRPr>
          </a:p>
          <a:p>
            <a:pPr algn="ctr"/>
            <a:r>
              <a:rPr lang="zh-CN" altLang="en-US" sz="1400" dirty="0">
                <a:solidFill>
                  <a:srgbClr val="C00000"/>
                </a:solidFill>
                <a:latin typeface="Montserrat" panose="00000500000000000000" pitchFamily="2" charset="0"/>
                <a:ea typeface="微软雅黑 Light" panose="020B0502040204020203" pitchFamily="34" charset="-122"/>
              </a:rPr>
              <a:t>数据库</a:t>
            </a:r>
            <a:endParaRPr lang="en-US" altLang="zh-CN" sz="1400" dirty="0">
              <a:solidFill>
                <a:srgbClr val="C00000"/>
              </a:solidFill>
              <a:latin typeface="Montserrat" panose="00000500000000000000" pitchFamily="2" charset="0"/>
              <a:ea typeface="微软雅黑 Light" panose="020B0502040204020203" pitchFamily="34" charset="-122"/>
            </a:endParaRPr>
          </a:p>
        </p:txBody>
      </p:sp>
      <p:sp>
        <p:nvSpPr>
          <p:cNvPr id="56" name="Rectangle 6"/>
          <p:cNvSpPr>
            <a:spLocks noChangeArrowheads="1"/>
          </p:cNvSpPr>
          <p:nvPr/>
        </p:nvSpPr>
        <p:spPr bwMode="auto">
          <a:xfrm>
            <a:off x="5592513" y="1399786"/>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服务器</a:t>
            </a:r>
          </a:p>
        </p:txBody>
      </p:sp>
      <p:sp>
        <p:nvSpPr>
          <p:cNvPr id="57" name="Rectangle 7"/>
          <p:cNvSpPr>
            <a:spLocks noChangeArrowheads="1"/>
          </p:cNvSpPr>
          <p:nvPr/>
        </p:nvSpPr>
        <p:spPr bwMode="auto">
          <a:xfrm>
            <a:off x="1403785" y="1399786"/>
            <a:ext cx="729368"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dirty="0">
                <a:latin typeface="Montserrat" panose="00000500000000000000" pitchFamily="2" charset="0"/>
                <a:ea typeface="微软雅黑 Light" panose="020B0502040204020203" pitchFamily="34" charset="-122"/>
              </a:rPr>
              <a:t>用户 </a:t>
            </a:r>
            <a:r>
              <a:rPr kumimoji="1" lang="en-US" altLang="zh-CN" sz="1400" dirty="0">
                <a:latin typeface="Montserrat" panose="00000500000000000000" pitchFamily="2" charset="0"/>
                <a:ea typeface="微软雅黑 Light" panose="020B0502040204020203" pitchFamily="34" charset="-122"/>
              </a:rPr>
              <a:t>A</a:t>
            </a:r>
            <a:endParaRPr kumimoji="1" lang="zh-CN" altLang="en-US" sz="14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862400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wipe(left)">
                                      <p:cBhvr>
                                        <p:cTn id="7" dur="10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1000"/>
                                        <p:tgtEl>
                                          <p:spTgt spid="19"/>
                                        </p:tgtEl>
                                      </p:cBhvr>
                                    </p:animEffect>
                                  </p:childTnLst>
                                </p:cTn>
                              </p:par>
                            </p:childTnLst>
                          </p:cTn>
                        </p:par>
                        <p:par>
                          <p:cTn id="13" fill="hold">
                            <p:stCondLst>
                              <p:cond delay="1000"/>
                            </p:stCondLst>
                            <p:childTnLst>
                              <p:par>
                                <p:cTn id="14" presetID="22" presetClass="entr" presetSubtype="2"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right)">
                                      <p:cBhvr>
                                        <p:cTn id="16" dur="1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nodeType="clickEffect">
                                  <p:stCondLst>
                                    <p:cond delay="0"/>
                                  </p:stCondLst>
                                  <p:childTnLst>
                                    <p:set>
                                      <p:cBhvr>
                                        <p:cTn id="20" dur="1" fill="hold">
                                          <p:stCondLst>
                                            <p:cond delay="0"/>
                                          </p:stCondLst>
                                        </p:cTn>
                                        <p:tgtEl>
                                          <p:spTgt spid="45"/>
                                        </p:tgtEl>
                                        <p:attrNameLst>
                                          <p:attrName>style.visibility</p:attrName>
                                        </p:attrNameLst>
                                      </p:cBhvr>
                                      <p:to>
                                        <p:strVal val="visible"/>
                                      </p:to>
                                    </p:set>
                                    <p:animEffect transition="in" filter="wipe(left)">
                                      <p:cBhvr>
                                        <p:cTn id="21" dur="1000"/>
                                        <p:tgtEl>
                                          <p:spTgt spid="45"/>
                                        </p:tgtEl>
                                      </p:cBhvr>
                                    </p:animEffect>
                                  </p:childTnLst>
                                </p:cTn>
                              </p:par>
                            </p:childTnLst>
                          </p:cTn>
                        </p:par>
                        <p:par>
                          <p:cTn id="22" fill="hold">
                            <p:stCondLst>
                              <p:cond delay="1000"/>
                            </p:stCondLst>
                            <p:childTnLst>
                              <p:par>
                                <p:cTn id="23" presetID="22" presetClass="entr" presetSubtype="2" fill="hold" nodeType="after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1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142E95E9-8F13-616E-9A46-47DE6D86797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a:t>
            </a:r>
          </a:p>
        </p:txBody>
      </p:sp>
      <p:sp>
        <p:nvSpPr>
          <p:cNvPr id="5" name="内容占位符 4">
            <a:extLst>
              <a:ext uri="{FF2B5EF4-FFF2-40B4-BE49-F238E27FC236}">
                <a16:creationId xmlns:a16="http://schemas.microsoft.com/office/drawing/2014/main" id="{3C2233FB-025B-FE82-4396-79C80C23F69C}"/>
              </a:ext>
            </a:extLst>
          </p:cNvPr>
          <p:cNvSpPr>
            <a:spLocks noGrp="1"/>
          </p:cNvSpPr>
          <p:nvPr>
            <p:ph sz="quarter" idx="11"/>
          </p:nvPr>
        </p:nvSpPr>
        <p:spPr>
          <a:xfrm>
            <a:off x="486000" y="687518"/>
            <a:ext cx="8172000" cy="4079035"/>
          </a:xfrm>
        </p:spPr>
        <p:txBody>
          <a:bodyPr/>
          <a:lstStyle/>
          <a:p>
            <a:r>
              <a:rPr lang="zh-CN" altLang="en-US" dirty="0"/>
              <a:t>在一个客户程序主窗口上显示出的万维网文档称为页面 </a:t>
            </a:r>
            <a:r>
              <a:rPr lang="en-US" altLang="zh-CN" dirty="0"/>
              <a:t>page</a:t>
            </a:r>
          </a:p>
          <a:p>
            <a:r>
              <a:rPr lang="zh-CN" altLang="en-US" dirty="0"/>
              <a:t>页面制作的标准语言：</a:t>
            </a:r>
            <a:r>
              <a:rPr lang="en-US" altLang="zh-CN" dirty="0"/>
              <a:t>HTML</a:t>
            </a:r>
          </a:p>
          <a:p>
            <a:r>
              <a:rPr lang="zh-CN" altLang="en-US" dirty="0"/>
              <a:t>分为：</a:t>
            </a:r>
            <a:endParaRPr lang="en-US" altLang="zh-CN" dirty="0"/>
          </a:p>
          <a:p>
            <a:pPr lvl="1"/>
            <a:r>
              <a:rPr lang="zh-CN" altLang="en-US" dirty="0"/>
              <a:t>静态万维网文档。内容不会改变。简单</a:t>
            </a:r>
            <a:endParaRPr lang="en-US" altLang="zh-CN" dirty="0"/>
          </a:p>
          <a:p>
            <a:pPr lvl="1"/>
            <a:r>
              <a:rPr lang="zh-CN" altLang="en-US" dirty="0"/>
              <a:t>动态万维网文档。文档的内容由应用程序动态创建</a:t>
            </a:r>
            <a:endParaRPr lang="en-US" altLang="zh-CN" dirty="0"/>
          </a:p>
          <a:p>
            <a:pPr lvl="1"/>
            <a:r>
              <a:rPr lang="zh-CN" altLang="en-US" dirty="0"/>
              <a:t>活动万维网文档。由浏览器端改变文档的内容</a:t>
            </a:r>
          </a:p>
          <a:p>
            <a:endParaRPr lang="zh-CN" altLang="en-US" dirty="0"/>
          </a:p>
        </p:txBody>
      </p:sp>
    </p:spTree>
    <p:extLst>
      <p:ext uri="{BB962C8B-B14F-4D97-AF65-F5344CB8AC3E}">
        <p14:creationId xmlns:p14="http://schemas.microsoft.com/office/powerpoint/2010/main" val="3230439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BC9E27-0B78-1E50-1F75-BEB7A75FD436}"/>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8BA7EFD1-D622-D78F-E7F5-B89A07379D58}"/>
              </a:ext>
            </a:extLst>
          </p:cNvPr>
          <p:cNvSpPr>
            <a:spLocks noGrp="1"/>
          </p:cNvSpPr>
          <p:nvPr>
            <p:ph sz="quarter" idx="11"/>
          </p:nvPr>
        </p:nvSpPr>
        <p:spPr>
          <a:xfrm>
            <a:off x="486000" y="687518"/>
            <a:ext cx="8172000" cy="4079035"/>
          </a:xfrm>
        </p:spPr>
        <p:txBody>
          <a:bodyPr/>
          <a:lstStyle/>
          <a:p>
            <a:r>
              <a:rPr lang="zh-CN" altLang="en-US" dirty="0"/>
              <a:t>超文本标记语言 </a:t>
            </a:r>
            <a:r>
              <a:rPr lang="en-US" altLang="zh-CN" dirty="0"/>
              <a:t>HTML - Hypertext Markup Language</a:t>
            </a:r>
          </a:p>
          <a:p>
            <a:pPr lvl="1"/>
            <a:r>
              <a:rPr lang="zh-CN" altLang="en-US" dirty="0"/>
              <a:t>制作万维网页面的标准语言</a:t>
            </a:r>
            <a:endParaRPr lang="en-US" altLang="zh-CN" dirty="0"/>
          </a:p>
          <a:p>
            <a:pPr lvl="1"/>
            <a:r>
              <a:rPr lang="zh-CN" altLang="en-US" dirty="0"/>
              <a:t>它消除了不同计算机之间信息交流的障碍</a:t>
            </a:r>
            <a:endParaRPr lang="en-US" altLang="zh-CN" dirty="0"/>
          </a:p>
          <a:p>
            <a:pPr lvl="1"/>
            <a:r>
              <a:rPr lang="zh-CN" altLang="en-US" dirty="0"/>
              <a:t>是万维网的重要基础 </a:t>
            </a:r>
            <a:r>
              <a:rPr lang="en-US" altLang="zh-CN" dirty="0"/>
              <a:t>[RFC 2854]</a:t>
            </a:r>
          </a:p>
          <a:p>
            <a:r>
              <a:rPr lang="zh-CN" altLang="en-US" dirty="0"/>
              <a:t>最新 </a:t>
            </a:r>
            <a:r>
              <a:rPr lang="en-US" altLang="zh-CN" dirty="0"/>
              <a:t>HTML 5.0 </a:t>
            </a:r>
            <a:r>
              <a:rPr lang="zh-CN" altLang="en-US" dirty="0"/>
              <a:t>增加了</a:t>
            </a:r>
            <a:r>
              <a:rPr lang="en-US" altLang="zh-CN" dirty="0"/>
              <a:t>&lt;audio&gt;</a:t>
            </a:r>
            <a:r>
              <a:rPr lang="zh-CN" altLang="en-US" dirty="0"/>
              <a:t>和</a:t>
            </a:r>
            <a:r>
              <a:rPr lang="en-US" altLang="zh-CN" dirty="0"/>
              <a:t>&lt;video&gt;</a:t>
            </a:r>
            <a:r>
              <a:rPr lang="zh-CN" altLang="en-US" dirty="0"/>
              <a:t>两个标签，实现对多媒体中的音频、视频使用的支持，增加了能够在移动设备上支持多媒体功能</a:t>
            </a:r>
            <a:endParaRPr lang="en-US" altLang="zh-CN" dirty="0"/>
          </a:p>
          <a:p>
            <a:endParaRPr lang="en-US" altLang="zh-CN" dirty="0"/>
          </a:p>
          <a:p>
            <a:r>
              <a:rPr lang="zh-CN" altLang="en-US" dirty="0"/>
              <a:t>注意：</a:t>
            </a:r>
            <a:r>
              <a:rPr lang="en-US" altLang="zh-CN" dirty="0"/>
              <a:t>HTML </a:t>
            </a:r>
            <a:r>
              <a:rPr lang="zh-CN" altLang="en-US" dirty="0"/>
              <a:t>不是应用层的协议，只是万维网浏览器使用的一种语言</a:t>
            </a:r>
          </a:p>
          <a:p>
            <a:endParaRPr lang="en-US" altLang="zh-CN" dirty="0"/>
          </a:p>
          <a:p>
            <a:endParaRPr lang="zh-CN" altLang="en-US" dirty="0"/>
          </a:p>
        </p:txBody>
      </p:sp>
    </p:spTree>
    <p:extLst>
      <p:ext uri="{BB962C8B-B14F-4D97-AF65-F5344CB8AC3E}">
        <p14:creationId xmlns:p14="http://schemas.microsoft.com/office/powerpoint/2010/main" val="36394079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6A400A1-B248-A968-8646-5C1ABB0EAFF9}"/>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a:t>
            </a:r>
          </a:p>
        </p:txBody>
      </p:sp>
      <p:sp>
        <p:nvSpPr>
          <p:cNvPr id="3" name="内容占位符 2">
            <a:extLst>
              <a:ext uri="{FF2B5EF4-FFF2-40B4-BE49-F238E27FC236}">
                <a16:creationId xmlns:a16="http://schemas.microsoft.com/office/drawing/2014/main" id="{9B4B6751-79EA-D88B-B9A5-277C6F904E6B}"/>
              </a:ext>
            </a:extLst>
          </p:cNvPr>
          <p:cNvSpPr>
            <a:spLocks noGrp="1"/>
          </p:cNvSpPr>
          <p:nvPr>
            <p:ph sz="quarter" idx="11"/>
          </p:nvPr>
        </p:nvSpPr>
        <p:spPr>
          <a:xfrm>
            <a:off x="486000" y="687518"/>
            <a:ext cx="8172000" cy="4079035"/>
          </a:xfrm>
        </p:spPr>
        <p:txBody>
          <a:bodyPr/>
          <a:lstStyle/>
          <a:p>
            <a:r>
              <a:rPr lang="en-US" altLang="zh-CN" dirty="0"/>
              <a:t>HTML </a:t>
            </a:r>
            <a:r>
              <a:rPr lang="zh-CN" altLang="en-US" dirty="0"/>
              <a:t>定义了许多用于排版的命令</a:t>
            </a:r>
            <a:endParaRPr lang="en-US" altLang="zh-CN" dirty="0"/>
          </a:p>
          <a:p>
            <a:pPr lvl="1"/>
            <a:r>
              <a:rPr lang="zh-CN" altLang="en-US" dirty="0"/>
              <a:t>标记</a:t>
            </a:r>
            <a:endParaRPr lang="en-US" altLang="zh-CN" dirty="0"/>
          </a:p>
          <a:p>
            <a:pPr lvl="1"/>
            <a:r>
              <a:rPr lang="zh-CN" altLang="en-US" dirty="0"/>
              <a:t>也叫标签</a:t>
            </a:r>
          </a:p>
          <a:p>
            <a:r>
              <a:rPr lang="en-US" altLang="zh-CN" dirty="0"/>
              <a:t>HTML </a:t>
            </a:r>
            <a:r>
              <a:rPr lang="zh-CN" altLang="en-US" dirty="0"/>
              <a:t>把各种标签嵌入到万维网的页面中，构成了所谓的 </a:t>
            </a:r>
            <a:r>
              <a:rPr lang="en-US" altLang="zh-CN" dirty="0"/>
              <a:t>HTML </a:t>
            </a:r>
            <a:r>
              <a:rPr lang="zh-CN" altLang="en-US" dirty="0"/>
              <a:t>文档</a:t>
            </a:r>
            <a:endParaRPr lang="en-US" altLang="zh-CN" dirty="0"/>
          </a:p>
          <a:p>
            <a:r>
              <a:rPr lang="en-US" altLang="zh-CN" dirty="0"/>
              <a:t>HTML </a:t>
            </a:r>
            <a:r>
              <a:rPr lang="zh-CN" altLang="en-US" dirty="0"/>
              <a:t>文档是一种可以用任何文本编辑器创建的 </a:t>
            </a:r>
            <a:r>
              <a:rPr lang="en-US" altLang="zh-CN" dirty="0"/>
              <a:t>ASCII </a:t>
            </a:r>
            <a:r>
              <a:rPr lang="zh-CN" altLang="en-US" dirty="0"/>
              <a:t>码文件</a:t>
            </a:r>
            <a:endParaRPr lang="en-US" altLang="zh-CN" dirty="0"/>
          </a:p>
          <a:p>
            <a:r>
              <a:rPr lang="en-US" altLang="zh-CN" dirty="0"/>
              <a:t>HTML </a:t>
            </a:r>
            <a:r>
              <a:rPr lang="zh-CN" altLang="en-US" dirty="0"/>
              <a:t>文档的后缀：</a:t>
            </a:r>
            <a:r>
              <a:rPr lang="en-US" altLang="zh-CN" dirty="0"/>
              <a:t>.html </a:t>
            </a:r>
            <a:r>
              <a:rPr lang="zh-CN" altLang="en-US" dirty="0"/>
              <a:t>或 </a:t>
            </a:r>
            <a:r>
              <a:rPr lang="en-US" altLang="zh-CN" dirty="0"/>
              <a:t>.</a:t>
            </a:r>
            <a:r>
              <a:rPr lang="en-US" altLang="zh-CN" dirty="0" err="1"/>
              <a:t>htm</a:t>
            </a:r>
            <a:endParaRPr lang="zh-CN" altLang="en-US" dirty="0"/>
          </a:p>
          <a:p>
            <a:endParaRPr lang="zh-CN" altLang="en-US" dirty="0"/>
          </a:p>
        </p:txBody>
      </p:sp>
    </p:spTree>
    <p:extLst>
      <p:ext uri="{BB962C8B-B14F-4D97-AF65-F5344CB8AC3E}">
        <p14:creationId xmlns:p14="http://schemas.microsoft.com/office/powerpoint/2010/main" val="27588526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15EFF48-1405-B4AB-3050-98905A02C6EE}"/>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19" name="内容占位符 18">
            <a:extLst>
              <a:ext uri="{FF2B5EF4-FFF2-40B4-BE49-F238E27FC236}">
                <a16:creationId xmlns:a16="http://schemas.microsoft.com/office/drawing/2014/main" id="{73715B37-FDBE-0B0C-1BF3-2A651509B074}"/>
              </a:ext>
            </a:extLst>
          </p:cNvPr>
          <p:cNvSpPr>
            <a:spLocks noGrp="1"/>
          </p:cNvSpPr>
          <p:nvPr>
            <p:ph sz="quarter" idx="11"/>
          </p:nvPr>
        </p:nvSpPr>
        <p:spPr/>
        <p:txBody>
          <a:bodyPr/>
          <a:lstStyle/>
          <a:p>
            <a:endParaRPr lang="zh-CN" altLang="en-US"/>
          </a:p>
        </p:txBody>
      </p:sp>
      <p:sp>
        <p:nvSpPr>
          <p:cNvPr id="5" name="Text Box 4"/>
          <p:cNvSpPr txBox="1">
            <a:spLocks noChangeArrowheads="1"/>
          </p:cNvSpPr>
          <p:nvPr/>
        </p:nvSpPr>
        <p:spPr bwMode="auto">
          <a:xfrm>
            <a:off x="2318278" y="1670726"/>
            <a:ext cx="4741180" cy="224676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en-US" altLang="zh-CN" sz="1400" dirty="0">
                <a:latin typeface="Montserrat" panose="00000500000000000000" pitchFamily="2" charset="0"/>
                <a:ea typeface="微软雅黑 Light" panose="020B0502040204020203" pitchFamily="34" charset="-122"/>
              </a:rPr>
              <a:t>&lt;HTML&gt;                                          </a:t>
            </a:r>
          </a:p>
          <a:p>
            <a:pPr eaLnBrk="1" hangingPunct="1"/>
            <a:r>
              <a:rPr lang="en-US" altLang="zh-CN" sz="1400" dirty="0">
                <a:latin typeface="Montserrat" panose="00000500000000000000" pitchFamily="2" charset="0"/>
                <a:ea typeface="微软雅黑 Light" panose="020B0502040204020203" pitchFamily="34" charset="-122"/>
              </a:rPr>
              <a:t>&lt;HEAD&gt;                                         </a:t>
            </a:r>
            <a:br>
              <a:rPr lang="en-US" altLang="zh-CN" sz="1400" dirty="0">
                <a:latin typeface="Montserrat" panose="00000500000000000000" pitchFamily="2" charset="0"/>
                <a:ea typeface="微软雅黑 Light" panose="020B0502040204020203" pitchFamily="34" charset="-122"/>
              </a:rPr>
            </a:br>
            <a:r>
              <a:rPr lang="en-US" altLang="zh-CN" sz="1400" dirty="0">
                <a:latin typeface="Montserrat" panose="00000500000000000000" pitchFamily="2" charset="0"/>
                <a:ea typeface="微软雅黑 Light" panose="020B0502040204020203" pitchFamily="34" charset="-122"/>
              </a:rPr>
              <a:t>      &lt;TITLE&gt;</a:t>
            </a:r>
            <a:r>
              <a:rPr lang="zh-CN" altLang="en-US" sz="1400" dirty="0">
                <a:latin typeface="Montserrat" panose="00000500000000000000" pitchFamily="2" charset="0"/>
                <a:ea typeface="微软雅黑 Light" panose="020B0502040204020203" pitchFamily="34" charset="-122"/>
              </a:rPr>
              <a:t>一个 </a:t>
            </a:r>
            <a:r>
              <a:rPr lang="en-US" altLang="zh-CN" sz="1400" dirty="0">
                <a:latin typeface="Montserrat" panose="00000500000000000000" pitchFamily="2" charset="0"/>
                <a:ea typeface="微软雅黑 Light" panose="020B0502040204020203" pitchFamily="34" charset="-122"/>
              </a:rPr>
              <a:t>HTML </a:t>
            </a:r>
            <a:r>
              <a:rPr lang="zh-CN" altLang="en-US" sz="1400" dirty="0">
                <a:latin typeface="Montserrat" panose="00000500000000000000" pitchFamily="2" charset="0"/>
                <a:ea typeface="微软雅黑 Light" panose="020B0502040204020203" pitchFamily="34" charset="-122"/>
              </a:rPr>
              <a:t>的例子</a:t>
            </a:r>
            <a:r>
              <a:rPr lang="en-US" altLang="zh-CN" sz="1400" dirty="0">
                <a:latin typeface="Montserrat" panose="00000500000000000000" pitchFamily="2" charset="0"/>
                <a:ea typeface="微软雅黑 Light" panose="020B0502040204020203" pitchFamily="34" charset="-122"/>
              </a:rPr>
              <a:t>&lt;/TITLE&gt;</a:t>
            </a:r>
          </a:p>
          <a:p>
            <a:pPr eaLnBrk="1" hangingPunct="1"/>
            <a:r>
              <a:rPr lang="en-US" altLang="zh-CN" sz="1400" dirty="0">
                <a:latin typeface="Montserrat" panose="00000500000000000000" pitchFamily="2" charset="0"/>
                <a:ea typeface="微软雅黑 Light" panose="020B0502040204020203" pitchFamily="34" charset="-122"/>
              </a:rPr>
              <a:t>&lt;/HEAD&gt;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      &lt;H1&gt;HTML </a:t>
            </a:r>
            <a:r>
              <a:rPr lang="zh-CN" altLang="en-US" sz="1400" dirty="0">
                <a:latin typeface="Montserrat" panose="00000500000000000000" pitchFamily="2" charset="0"/>
                <a:ea typeface="微软雅黑 Light" panose="020B0502040204020203" pitchFamily="34" charset="-122"/>
              </a:rPr>
              <a:t>很容易掌握</a:t>
            </a:r>
            <a:r>
              <a:rPr lang="en-US" altLang="zh-CN" sz="1400" dirty="0">
                <a:latin typeface="Montserrat" panose="00000500000000000000" pitchFamily="2" charset="0"/>
                <a:ea typeface="微软雅黑 Light" panose="020B0502040204020203" pitchFamily="34" charset="-122"/>
              </a:rPr>
              <a:t>&lt;/H1&gt;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这是第一个段落。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      &lt;P&gt;</a:t>
            </a:r>
            <a:r>
              <a:rPr lang="zh-CN" altLang="en-US" sz="1400" dirty="0">
                <a:latin typeface="Montserrat" panose="00000500000000000000" pitchFamily="2" charset="0"/>
                <a:ea typeface="微软雅黑 Light" panose="020B0502040204020203" pitchFamily="34" charset="-122"/>
              </a:rPr>
              <a:t>这是第二个段落。</a:t>
            </a:r>
            <a:r>
              <a:rPr lang="en-US" altLang="zh-CN" sz="1400" dirty="0">
                <a:latin typeface="Montserrat" panose="00000500000000000000" pitchFamily="2" charset="0"/>
                <a:ea typeface="微软雅黑 Light" panose="020B0502040204020203" pitchFamily="34" charset="-122"/>
              </a:rPr>
              <a:t>&lt;/P&gt;</a:t>
            </a:r>
          </a:p>
          <a:p>
            <a:pPr eaLnBrk="1" hangingPunct="1"/>
            <a:r>
              <a:rPr lang="en-US" altLang="zh-CN" sz="1400" dirty="0">
                <a:latin typeface="Montserrat" panose="00000500000000000000" pitchFamily="2" charset="0"/>
                <a:ea typeface="微软雅黑 Light" panose="020B0502040204020203" pitchFamily="34" charset="-122"/>
              </a:rPr>
              <a:t>&lt;/BODY&gt;</a:t>
            </a:r>
          </a:p>
          <a:p>
            <a:pPr eaLnBrk="1" hangingPunct="1"/>
            <a:r>
              <a:rPr lang="en-US" altLang="zh-CN" sz="1400" dirty="0">
                <a:latin typeface="Montserrat" panose="00000500000000000000" pitchFamily="2" charset="0"/>
                <a:ea typeface="微软雅黑 Light" panose="020B0502040204020203" pitchFamily="34" charset="-122"/>
              </a:rPr>
              <a:t>&lt;/HTML&gt;</a:t>
            </a:r>
          </a:p>
        </p:txBody>
      </p:sp>
      <p:grpSp>
        <p:nvGrpSpPr>
          <p:cNvPr id="16" name="组合 15"/>
          <p:cNvGrpSpPr/>
          <p:nvPr/>
        </p:nvGrpSpPr>
        <p:grpSpPr>
          <a:xfrm>
            <a:off x="968437" y="1817720"/>
            <a:ext cx="808985" cy="1944000"/>
            <a:chOff x="1202807" y="1334295"/>
            <a:chExt cx="808985" cy="1944000"/>
          </a:xfrm>
        </p:grpSpPr>
        <p:sp>
          <p:nvSpPr>
            <p:cNvPr id="2" name="左大括号 1"/>
            <p:cNvSpPr/>
            <p:nvPr/>
          </p:nvSpPr>
          <p:spPr>
            <a:xfrm>
              <a:off x="1823224" y="1334295"/>
              <a:ext cx="188568" cy="1944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9" name="矩形 8"/>
            <p:cNvSpPr/>
            <p:nvPr/>
          </p:nvSpPr>
          <p:spPr>
            <a:xfrm>
              <a:off x="1202807" y="2152407"/>
              <a:ext cx="671545"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文档</a:t>
              </a:r>
            </a:p>
          </p:txBody>
        </p:sp>
      </p:grpSp>
      <p:grpSp>
        <p:nvGrpSpPr>
          <p:cNvPr id="17" name="组合 16"/>
          <p:cNvGrpSpPr/>
          <p:nvPr/>
        </p:nvGrpSpPr>
        <p:grpSpPr>
          <a:xfrm>
            <a:off x="1603775" y="2025862"/>
            <a:ext cx="760827" cy="432000"/>
            <a:chOff x="1838145" y="1546282"/>
            <a:chExt cx="760827" cy="432000"/>
          </a:xfrm>
        </p:grpSpPr>
        <p:sp>
          <p:nvSpPr>
            <p:cNvPr id="11" name="左大括号 10"/>
            <p:cNvSpPr/>
            <p:nvPr/>
          </p:nvSpPr>
          <p:spPr>
            <a:xfrm>
              <a:off x="2448302" y="1546282"/>
              <a:ext cx="150670" cy="432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3" name="矩形 12"/>
            <p:cNvSpPr/>
            <p:nvPr/>
          </p:nvSpPr>
          <p:spPr>
            <a:xfrm>
              <a:off x="1838145" y="1608394"/>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首部</a:t>
              </a:r>
              <a:endParaRPr lang="en-US" altLang="zh-CN" sz="1400" dirty="0">
                <a:latin typeface="Montserrat" panose="00000500000000000000" pitchFamily="2" charset="0"/>
                <a:ea typeface="微软雅黑 Light" panose="020B0502040204020203" pitchFamily="34" charset="-122"/>
              </a:endParaRPr>
            </a:p>
          </p:txBody>
        </p:sp>
      </p:grpSp>
      <p:grpSp>
        <p:nvGrpSpPr>
          <p:cNvPr id="18" name="组合 17"/>
          <p:cNvGrpSpPr/>
          <p:nvPr/>
        </p:nvGrpSpPr>
        <p:grpSpPr>
          <a:xfrm>
            <a:off x="1603775" y="2677230"/>
            <a:ext cx="760827" cy="828000"/>
            <a:chOff x="1838145" y="2466614"/>
            <a:chExt cx="760827" cy="828000"/>
          </a:xfrm>
        </p:grpSpPr>
        <p:sp>
          <p:nvSpPr>
            <p:cNvPr id="14" name="左大括号 13"/>
            <p:cNvSpPr/>
            <p:nvPr/>
          </p:nvSpPr>
          <p:spPr>
            <a:xfrm>
              <a:off x="2448302" y="2466614"/>
              <a:ext cx="150670" cy="828000"/>
            </a:xfrm>
            <a:prstGeom prst="leftBrace">
              <a:avLst>
                <a:gd name="adj1" fmla="val 20518"/>
                <a:gd name="adj2" fmla="val 50972"/>
              </a:avLst>
            </a:prstGeom>
            <a:ln w="12700">
              <a:solidFill>
                <a:schemeClr val="tx1"/>
              </a:solidFill>
            </a:ln>
          </p:spPr>
          <p:style>
            <a:lnRef idx="1">
              <a:schemeClr val="dk1"/>
            </a:lnRef>
            <a:fillRef idx="0">
              <a:schemeClr val="dk1"/>
            </a:fillRef>
            <a:effectRef idx="0">
              <a:schemeClr val="dk1"/>
            </a:effectRef>
            <a:fontRef idx="minor">
              <a:schemeClr val="tx1"/>
            </a:fontRef>
          </p:style>
          <p:txBody>
            <a:bodyPr rtlCol="0" anchor="ctr"/>
            <a:lstStyle/>
            <a:p>
              <a:pPr algn="ctr"/>
              <a:endParaRPr lang="zh-CN" altLang="en-US" sz="1400" dirty="0">
                <a:latin typeface="Montserrat" panose="00000500000000000000" pitchFamily="2" charset="0"/>
                <a:ea typeface="微软雅黑 Light" panose="020B0502040204020203" pitchFamily="34" charset="-122"/>
              </a:endParaRPr>
            </a:p>
          </p:txBody>
        </p:sp>
        <p:sp>
          <p:nvSpPr>
            <p:cNvPr id="15" name="矩形 14"/>
            <p:cNvSpPr/>
            <p:nvPr/>
          </p:nvSpPr>
          <p:spPr>
            <a:xfrm>
              <a:off x="1838145" y="2726726"/>
              <a:ext cx="671544" cy="307777"/>
            </a:xfrm>
            <a:prstGeom prst="rect">
              <a:avLst/>
            </a:prstGeom>
          </p:spPr>
          <p:txBody>
            <a:bodyPr wrap="square">
              <a:spAutoFit/>
            </a:bodyPr>
            <a:lstStyle/>
            <a:p>
              <a:pPr algn="r"/>
              <a:r>
                <a:rPr lang="zh-CN" altLang="en-US" sz="1400" dirty="0">
                  <a:latin typeface="Montserrat" panose="00000500000000000000" pitchFamily="2" charset="0"/>
                  <a:ea typeface="微软雅黑 Light" panose="020B0502040204020203" pitchFamily="34" charset="-122"/>
                </a:rPr>
                <a:t>主体</a:t>
              </a:r>
              <a:endParaRPr lang="en-US" altLang="zh-CN" sz="1400" dirty="0">
                <a:latin typeface="Montserrat" panose="00000500000000000000" pitchFamily="2" charset="0"/>
                <a:ea typeface="微软雅黑 Light" panose="020B0502040204020203" pitchFamily="34" charset="-122"/>
              </a:endParaRPr>
            </a:p>
          </p:txBody>
        </p:sp>
      </p:grpSp>
      <p:pic>
        <p:nvPicPr>
          <p:cNvPr id="25" name="Picture 5" descr="HTML"/>
          <p:cNvPicPr>
            <a:picLocks noChangeAspect="1" noChangeArrowheads="1"/>
          </p:cNvPicPr>
          <p:nvPr/>
        </p:nvPicPr>
        <p:blipFill>
          <a:blip r:embed="rId2">
            <a:extLst>
              <a:ext uri="{28A0092B-C50C-407E-A947-70E740481C1C}">
                <a14:useLocalDpi xmlns:a14="http://schemas.microsoft.com/office/drawing/2010/main" val="0"/>
              </a:ext>
            </a:extLst>
          </a:blip>
          <a:srcRect r="39665" b="65755"/>
          <a:stretch>
            <a:fillRect/>
          </a:stretch>
        </p:blipFill>
        <p:spPr bwMode="auto">
          <a:xfrm>
            <a:off x="5337736" y="2697912"/>
            <a:ext cx="3078295" cy="1310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651702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5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7"/>
                                        </p:tgtEl>
                                        <p:attrNameLst>
                                          <p:attrName>style.visibility</p:attrName>
                                        </p:attrNameLst>
                                      </p:cBhvr>
                                      <p:to>
                                        <p:strVal val="visible"/>
                                      </p:to>
                                    </p:set>
                                    <p:animEffect transition="in" filter="fade">
                                      <p:cBhvr>
                                        <p:cTn id="16" dur="500"/>
                                        <p:tgtEl>
                                          <p:spTgt spid="1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FCAEF4BB-11D5-508F-8DDF-1A2919102C2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超文本标记语言 </a:t>
            </a:r>
            <a:r>
              <a:rPr lang="en-US" altLang="zh-CN" dirty="0"/>
              <a:t>HTML – </a:t>
            </a:r>
            <a:r>
              <a:rPr lang="zh-CN" altLang="en-US" dirty="0"/>
              <a:t>标签</a:t>
            </a:r>
          </a:p>
        </p:txBody>
      </p:sp>
      <p:sp>
        <p:nvSpPr>
          <p:cNvPr id="8" name="内容占位符 7">
            <a:extLst>
              <a:ext uri="{FF2B5EF4-FFF2-40B4-BE49-F238E27FC236}">
                <a16:creationId xmlns:a16="http://schemas.microsoft.com/office/drawing/2014/main" id="{42946583-CD91-60DC-C2EC-9A0B8F0BDFA1}"/>
              </a:ext>
            </a:extLst>
          </p:cNvPr>
          <p:cNvSpPr>
            <a:spLocks noGrp="1"/>
          </p:cNvSpPr>
          <p:nvPr>
            <p:ph sz="quarter" idx="11"/>
          </p:nvPr>
        </p:nvSpPr>
        <p:spPr>
          <a:xfrm>
            <a:off x="486000" y="687518"/>
            <a:ext cx="8172000" cy="4079035"/>
          </a:xfrm>
        </p:spPr>
        <p:txBody>
          <a:bodyPr/>
          <a:lstStyle/>
          <a:p>
            <a:r>
              <a:rPr lang="zh-CN" altLang="en-US" dirty="0"/>
              <a:t>链接标签 </a:t>
            </a:r>
            <a:r>
              <a:rPr lang="en-US" altLang="zh-CN" dirty="0"/>
              <a:t>&lt;a&gt;</a:t>
            </a:r>
          </a:p>
          <a:p>
            <a:pPr lvl="1"/>
            <a:r>
              <a:rPr lang="zh-CN" altLang="en-US" dirty="0"/>
              <a:t>每个链接都有一个起点和终点</a:t>
            </a:r>
            <a:endParaRPr lang="en-US" altLang="zh-CN" dirty="0"/>
          </a:p>
          <a:p>
            <a:pPr lvl="1"/>
            <a:r>
              <a:rPr lang="zh-CN" altLang="en-US" dirty="0"/>
              <a:t>起点：说明在万维网页面中的什么地方可引出一个链接。可以文字、图像；如</a:t>
            </a:r>
            <a:r>
              <a:rPr lang="en-US" altLang="zh-CN" dirty="0"/>
              <a:t>&lt;a </a:t>
            </a:r>
            <a:r>
              <a:rPr lang="en-US" altLang="zh-CN" dirty="0" err="1"/>
              <a:t>href</a:t>
            </a:r>
            <a:r>
              <a:rPr lang="en-US" altLang="zh-CN" dirty="0"/>
              <a:t> = “http://glplaman.github.io”&gt;</a:t>
            </a:r>
            <a:r>
              <a:rPr lang="zh-CN" altLang="en-US" dirty="0"/>
              <a:t>大树小站</a:t>
            </a:r>
            <a:r>
              <a:rPr lang="en-US" altLang="zh-CN" dirty="0"/>
              <a:t>&lt;/a&gt;</a:t>
            </a:r>
          </a:p>
          <a:p>
            <a:pPr lvl="1"/>
            <a:r>
              <a:rPr lang="zh-CN" altLang="en-US" dirty="0"/>
              <a:t>终点：</a:t>
            </a:r>
            <a:endParaRPr lang="en-US" altLang="zh-CN" dirty="0"/>
          </a:p>
          <a:p>
            <a:pPr lvl="2"/>
            <a:r>
              <a:rPr lang="zh-CN" altLang="en-US" dirty="0"/>
              <a:t>可以是其他网站上的页面。这种链接方式叫做远程链接。这时必须指明链接到的网站的 </a:t>
            </a:r>
            <a:r>
              <a:rPr lang="en-US" altLang="zh-CN" dirty="0"/>
              <a:t>URL</a:t>
            </a:r>
          </a:p>
          <a:p>
            <a:pPr lvl="2"/>
            <a:r>
              <a:rPr lang="zh-CN" altLang="en-US" dirty="0"/>
              <a:t>可以指向本计算机中的某一个文件或本文件中的某处，这种链接方式叫做本地链接。这时必须指明链接的路径</a:t>
            </a:r>
            <a:endParaRPr lang="en-US" altLang="zh-CN" dirty="0"/>
          </a:p>
          <a:p>
            <a:r>
              <a:rPr lang="zh-CN" altLang="en-US" dirty="0"/>
              <a:t>图像标签 </a:t>
            </a:r>
            <a:r>
              <a:rPr lang="en-US" altLang="zh-CN" dirty="0"/>
              <a:t>&lt;</a:t>
            </a:r>
            <a:r>
              <a:rPr lang="en-US" altLang="zh-CN" dirty="0" err="1"/>
              <a:t>img</a:t>
            </a:r>
            <a:r>
              <a:rPr lang="en-US" altLang="zh-CN" dirty="0"/>
              <a:t>&gt;</a:t>
            </a:r>
          </a:p>
          <a:p>
            <a:pPr lvl="1"/>
            <a:r>
              <a:rPr lang="zh-CN" altLang="en-US" dirty="0"/>
              <a:t>允许在万维网页面中插入图像</a:t>
            </a:r>
            <a:endParaRPr lang="en-US" altLang="zh-CN" dirty="0"/>
          </a:p>
          <a:p>
            <a:pPr lvl="1"/>
            <a:r>
              <a:rPr lang="zh-CN" altLang="en-US" dirty="0"/>
              <a:t>一个页面本身带有的图像称为内含图像 </a:t>
            </a:r>
            <a:r>
              <a:rPr lang="en-US" altLang="zh-CN" dirty="0"/>
              <a:t>(inline image)</a:t>
            </a:r>
          </a:p>
          <a:p>
            <a:pPr lvl="1"/>
            <a:r>
              <a:rPr lang="en-US" altLang="zh-CN" dirty="0"/>
              <a:t>HTML </a:t>
            </a:r>
            <a:r>
              <a:rPr lang="zh-CN" altLang="en-US" dirty="0"/>
              <a:t>标准没有规定该图像的格式</a:t>
            </a:r>
            <a:endParaRPr lang="en-US" altLang="zh-CN" dirty="0"/>
          </a:p>
          <a:p>
            <a:pPr lvl="1"/>
            <a:r>
              <a:rPr lang="zh-CN" altLang="en-US" dirty="0"/>
              <a:t>大多数浏览器都支持 </a:t>
            </a:r>
            <a:r>
              <a:rPr lang="en-US" altLang="zh-CN" dirty="0"/>
              <a:t>GIF </a:t>
            </a:r>
            <a:r>
              <a:rPr lang="zh-CN" altLang="en-US" dirty="0"/>
              <a:t>和 </a:t>
            </a:r>
            <a:r>
              <a:rPr lang="en-US" altLang="zh-CN" dirty="0"/>
              <a:t>JPEG </a:t>
            </a:r>
            <a:r>
              <a:rPr lang="zh-CN" altLang="en-US" dirty="0"/>
              <a:t>文件</a:t>
            </a:r>
          </a:p>
        </p:txBody>
      </p:sp>
    </p:spTree>
    <p:extLst>
      <p:ext uri="{BB962C8B-B14F-4D97-AF65-F5344CB8AC3E}">
        <p14:creationId xmlns:p14="http://schemas.microsoft.com/office/powerpoint/2010/main" val="8308218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DCBAF94-6214-D296-7FEA-4A843D2D37B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XML</a:t>
            </a:r>
            <a:endParaRPr lang="zh-CN" altLang="en-US" dirty="0"/>
          </a:p>
        </p:txBody>
      </p:sp>
      <p:sp>
        <p:nvSpPr>
          <p:cNvPr id="6" name="内容占位符 5">
            <a:extLst>
              <a:ext uri="{FF2B5EF4-FFF2-40B4-BE49-F238E27FC236}">
                <a16:creationId xmlns:a16="http://schemas.microsoft.com/office/drawing/2014/main" id="{686E0B60-CF65-4112-FA17-586F4A1AE496}"/>
              </a:ext>
            </a:extLst>
          </p:cNvPr>
          <p:cNvSpPr>
            <a:spLocks noGrp="1"/>
          </p:cNvSpPr>
          <p:nvPr>
            <p:ph sz="quarter" idx="11"/>
          </p:nvPr>
        </p:nvSpPr>
        <p:spPr>
          <a:xfrm>
            <a:off x="486000" y="687518"/>
            <a:ext cx="8172000" cy="4079035"/>
          </a:xfrm>
        </p:spPr>
        <p:txBody>
          <a:bodyPr/>
          <a:lstStyle/>
          <a:p>
            <a:r>
              <a:rPr lang="zh-CN" altLang="en-US" dirty="0"/>
              <a:t>可扩展标记语言 </a:t>
            </a:r>
            <a:r>
              <a:rPr lang="en-US" altLang="zh-CN" dirty="0"/>
              <a:t>XML (Extensible Markup Language) </a:t>
            </a:r>
            <a:r>
              <a:rPr lang="zh-CN" altLang="en-US" dirty="0"/>
              <a:t>和 </a:t>
            </a:r>
            <a:r>
              <a:rPr lang="en-US" altLang="zh-CN" dirty="0"/>
              <a:t>HTML </a:t>
            </a:r>
            <a:r>
              <a:rPr lang="zh-CN" altLang="en-US" dirty="0"/>
              <a:t>很相似</a:t>
            </a:r>
          </a:p>
          <a:p>
            <a:r>
              <a:rPr lang="zh-CN" altLang="en-US" dirty="0"/>
              <a:t>设计宗旨是：传输数据，而不是显示数据</a:t>
            </a:r>
            <a:endParaRPr lang="en-US" altLang="zh-CN" dirty="0"/>
          </a:p>
          <a:p>
            <a:r>
              <a:rPr lang="zh-CN" altLang="en-US" dirty="0"/>
              <a:t>特点和优点：</a:t>
            </a:r>
            <a:endParaRPr lang="en-US" altLang="zh-CN" dirty="0"/>
          </a:p>
          <a:p>
            <a:pPr lvl="1"/>
            <a:r>
              <a:rPr lang="zh-CN" altLang="en-US" dirty="0"/>
              <a:t>可用来标记数据、定义数据类型</a:t>
            </a:r>
            <a:endParaRPr lang="en-US" altLang="zh-CN" dirty="0"/>
          </a:p>
          <a:p>
            <a:pPr lvl="1"/>
            <a:r>
              <a:rPr lang="zh-CN" altLang="en-US" dirty="0"/>
              <a:t>允许用户对自己的标记语言进行自定义，并且是无限制的</a:t>
            </a:r>
            <a:endParaRPr lang="en-US" altLang="zh-CN" dirty="0"/>
          </a:p>
          <a:p>
            <a:pPr lvl="1"/>
            <a:r>
              <a:rPr lang="zh-CN" altLang="en-US" dirty="0"/>
              <a:t>简单，与平台无关</a:t>
            </a:r>
            <a:endParaRPr lang="en-US" altLang="zh-CN" dirty="0"/>
          </a:p>
          <a:p>
            <a:pPr lvl="1"/>
            <a:r>
              <a:rPr lang="zh-CN" altLang="en-US" dirty="0"/>
              <a:t>将用户界面与结构化数据分隔开来</a:t>
            </a:r>
          </a:p>
          <a:p>
            <a:endParaRPr lang="zh-CN" altLang="en-US" dirty="0"/>
          </a:p>
        </p:txBody>
      </p:sp>
    </p:spTree>
    <p:extLst>
      <p:ext uri="{BB962C8B-B14F-4D97-AF65-F5344CB8AC3E}">
        <p14:creationId xmlns:p14="http://schemas.microsoft.com/office/powerpoint/2010/main" val="19838351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E38630A-792D-CCC8-B4E6-756B277288BD}"/>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XHTML</a:t>
            </a:r>
            <a:endParaRPr lang="zh-CN" altLang="en-US" dirty="0"/>
          </a:p>
        </p:txBody>
      </p:sp>
      <p:sp>
        <p:nvSpPr>
          <p:cNvPr id="6" name="内容占位符 5">
            <a:extLst>
              <a:ext uri="{FF2B5EF4-FFF2-40B4-BE49-F238E27FC236}">
                <a16:creationId xmlns:a16="http://schemas.microsoft.com/office/drawing/2014/main" id="{98719D2B-A02A-3D4F-4F52-B97701557E03}"/>
              </a:ext>
            </a:extLst>
          </p:cNvPr>
          <p:cNvSpPr>
            <a:spLocks noGrp="1"/>
          </p:cNvSpPr>
          <p:nvPr>
            <p:ph sz="quarter" idx="11"/>
          </p:nvPr>
        </p:nvSpPr>
        <p:spPr>
          <a:xfrm>
            <a:off x="486000" y="687518"/>
            <a:ext cx="8172000" cy="4079035"/>
          </a:xfrm>
        </p:spPr>
        <p:txBody>
          <a:bodyPr/>
          <a:lstStyle/>
          <a:p>
            <a:r>
              <a:rPr lang="zh-CN" altLang="en-US" dirty="0"/>
              <a:t>可扩展超文本标记语言 </a:t>
            </a:r>
            <a:r>
              <a:rPr lang="en-US" altLang="zh-CN" dirty="0"/>
              <a:t>XHTML (Extensible HTML) </a:t>
            </a:r>
            <a:r>
              <a:rPr lang="zh-CN" altLang="en-US" dirty="0"/>
              <a:t>与 </a:t>
            </a:r>
            <a:r>
              <a:rPr lang="en-US" altLang="zh-CN" dirty="0"/>
              <a:t>HTML 4.01 </a:t>
            </a:r>
            <a:r>
              <a:rPr lang="zh-CN" altLang="en-US" dirty="0"/>
              <a:t>几乎相同，是更严格的 </a:t>
            </a:r>
            <a:r>
              <a:rPr lang="en-US" altLang="zh-CN" dirty="0"/>
              <a:t>HTML </a:t>
            </a:r>
            <a:r>
              <a:rPr lang="zh-CN" altLang="en-US" dirty="0"/>
              <a:t>版本</a:t>
            </a:r>
            <a:endParaRPr lang="en-US" altLang="zh-CN" dirty="0"/>
          </a:p>
          <a:p>
            <a:r>
              <a:rPr lang="zh-CN" altLang="en-US" dirty="0"/>
              <a:t>作为一种 </a:t>
            </a:r>
            <a:r>
              <a:rPr lang="en-US" altLang="zh-CN" dirty="0"/>
              <a:t>XML </a:t>
            </a:r>
            <a:r>
              <a:rPr lang="zh-CN" altLang="en-US" dirty="0"/>
              <a:t>应用被重新定义的 </a:t>
            </a:r>
            <a:r>
              <a:rPr lang="en-US" altLang="zh-CN" dirty="0"/>
              <a:t>HTML</a:t>
            </a:r>
            <a:r>
              <a:rPr lang="zh-CN" altLang="en-US" dirty="0"/>
              <a:t>，将逐渐取代 </a:t>
            </a:r>
            <a:r>
              <a:rPr lang="en-US" altLang="zh-CN" dirty="0"/>
              <a:t>HTML</a:t>
            </a:r>
            <a:endParaRPr lang="zh-CN" altLang="en-US" dirty="0"/>
          </a:p>
          <a:p>
            <a:endParaRPr lang="zh-CN" altLang="en-US" dirty="0"/>
          </a:p>
        </p:txBody>
      </p:sp>
    </p:spTree>
    <p:extLst>
      <p:ext uri="{BB962C8B-B14F-4D97-AF65-F5344CB8AC3E}">
        <p14:creationId xmlns:p14="http://schemas.microsoft.com/office/powerpoint/2010/main" val="1910200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EBAB1D7-458B-4D1E-2401-DD5D726A7A25}"/>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CSS</a:t>
            </a:r>
            <a:endParaRPr lang="zh-CN" altLang="en-US" dirty="0"/>
          </a:p>
        </p:txBody>
      </p:sp>
      <p:sp>
        <p:nvSpPr>
          <p:cNvPr id="7" name="内容占位符 6">
            <a:extLst>
              <a:ext uri="{FF2B5EF4-FFF2-40B4-BE49-F238E27FC236}">
                <a16:creationId xmlns:a16="http://schemas.microsoft.com/office/drawing/2014/main" id="{EDBB8FE1-D008-B358-8B22-7DEBBA7888F9}"/>
              </a:ext>
            </a:extLst>
          </p:cNvPr>
          <p:cNvSpPr>
            <a:spLocks noGrp="1"/>
          </p:cNvSpPr>
          <p:nvPr>
            <p:ph sz="quarter" idx="11"/>
          </p:nvPr>
        </p:nvSpPr>
        <p:spPr>
          <a:xfrm>
            <a:off x="486000" y="687518"/>
            <a:ext cx="8172000" cy="4079035"/>
          </a:xfrm>
        </p:spPr>
        <p:txBody>
          <a:bodyPr/>
          <a:lstStyle/>
          <a:p>
            <a:r>
              <a:rPr lang="zh-CN" altLang="en-US" dirty="0"/>
              <a:t>层叠样式表 </a:t>
            </a:r>
            <a:r>
              <a:rPr lang="en-US" altLang="zh-CN" dirty="0"/>
              <a:t>CSS (Cascading Style Sheets) </a:t>
            </a:r>
            <a:r>
              <a:rPr lang="zh-CN" altLang="en-US" dirty="0"/>
              <a:t>是一种样式表语言，用于为 </a:t>
            </a:r>
            <a:r>
              <a:rPr lang="en-US" altLang="zh-CN" dirty="0"/>
              <a:t>HTML </a:t>
            </a:r>
            <a:r>
              <a:rPr lang="zh-CN" altLang="en-US" dirty="0"/>
              <a:t>文档定义布局</a:t>
            </a:r>
          </a:p>
          <a:p>
            <a:r>
              <a:rPr lang="en-US" altLang="zh-CN" dirty="0"/>
              <a:t>CSS </a:t>
            </a:r>
            <a:r>
              <a:rPr lang="zh-CN" altLang="en-US" dirty="0"/>
              <a:t>与 </a:t>
            </a:r>
            <a:r>
              <a:rPr lang="en-US" altLang="zh-CN" dirty="0"/>
              <a:t>HTML </a:t>
            </a:r>
            <a:r>
              <a:rPr lang="zh-CN" altLang="en-US" dirty="0"/>
              <a:t>的区别：</a:t>
            </a:r>
            <a:endParaRPr lang="en-US" altLang="zh-CN" dirty="0"/>
          </a:p>
          <a:p>
            <a:pPr lvl="1"/>
            <a:r>
              <a:rPr lang="en-US" altLang="zh-CN" dirty="0"/>
              <a:t>HTML </a:t>
            </a:r>
            <a:r>
              <a:rPr lang="zh-CN" altLang="en-US" dirty="0"/>
              <a:t>用于结构化内容</a:t>
            </a:r>
            <a:endParaRPr lang="en-US" altLang="zh-CN" dirty="0"/>
          </a:p>
          <a:p>
            <a:pPr lvl="1"/>
            <a:r>
              <a:rPr lang="en-US" altLang="zh-CN" dirty="0"/>
              <a:t>CSS </a:t>
            </a:r>
            <a:r>
              <a:rPr lang="zh-CN" altLang="en-US" dirty="0"/>
              <a:t>则用于格式化结构化的内容；例如：精确规定在浏览器上显示的字体、颜色、边距、高度、宽度、背景图像等</a:t>
            </a:r>
          </a:p>
          <a:p>
            <a:endParaRPr lang="zh-CN" altLang="en-US" dirty="0"/>
          </a:p>
        </p:txBody>
      </p:sp>
    </p:spTree>
    <p:extLst>
      <p:ext uri="{BB962C8B-B14F-4D97-AF65-F5344CB8AC3E}">
        <p14:creationId xmlns:p14="http://schemas.microsoft.com/office/powerpoint/2010/main" val="202840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6F770C-8DD1-AE54-B5C7-51691A60B567}"/>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DFE4B64A-0ECF-6E5F-33F9-62BC16F45E2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JavaScript</a:t>
            </a:r>
            <a:endParaRPr lang="zh-CN" altLang="en-US" dirty="0"/>
          </a:p>
        </p:txBody>
      </p:sp>
      <p:sp>
        <p:nvSpPr>
          <p:cNvPr id="3" name="内容占位符 2">
            <a:extLst>
              <a:ext uri="{FF2B5EF4-FFF2-40B4-BE49-F238E27FC236}">
                <a16:creationId xmlns:a16="http://schemas.microsoft.com/office/drawing/2014/main" id="{5CA3EDCB-3327-C63F-9C70-D368A1426697}"/>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568956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56FBBA2-2102-2270-A3F0-99CC05CBE39C}"/>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8" name="内容占位符 7">
            <a:extLst>
              <a:ext uri="{FF2B5EF4-FFF2-40B4-BE49-F238E27FC236}">
                <a16:creationId xmlns:a16="http://schemas.microsoft.com/office/drawing/2014/main" id="{2860E9B4-B2DD-C73D-68AD-FE2D5EA47E48}"/>
              </a:ext>
            </a:extLst>
          </p:cNvPr>
          <p:cNvSpPr>
            <a:spLocks noGrp="1"/>
          </p:cNvSpPr>
          <p:nvPr>
            <p:ph sz="quarter" idx="11"/>
          </p:nvPr>
        </p:nvSpPr>
        <p:spPr>
          <a:xfrm>
            <a:off x="486000" y="687518"/>
            <a:ext cx="8172000" cy="4079035"/>
          </a:xfrm>
        </p:spPr>
        <p:txBody>
          <a:bodyPr/>
          <a:lstStyle/>
          <a:p>
            <a:r>
              <a:rPr lang="zh-CN" altLang="en-US" dirty="0"/>
              <a:t>静态文档：</a:t>
            </a:r>
            <a:endParaRPr lang="en-US" altLang="zh-CN" dirty="0"/>
          </a:p>
          <a:p>
            <a:pPr lvl="1"/>
            <a:r>
              <a:rPr lang="zh-CN" altLang="en-US" dirty="0"/>
              <a:t>该文档创作完毕后就存放在万维网服务器中，在被用户浏览的过程中，内容不会改变</a:t>
            </a:r>
          </a:p>
          <a:p>
            <a:r>
              <a:rPr lang="zh-CN" altLang="en-US" dirty="0"/>
              <a:t>动态文档：</a:t>
            </a:r>
            <a:endParaRPr lang="en-US" altLang="zh-CN" dirty="0"/>
          </a:p>
          <a:p>
            <a:pPr lvl="1"/>
            <a:r>
              <a:rPr lang="zh-CN" altLang="en-US" dirty="0"/>
              <a:t>文档的内容是在浏览器访问万维网服务器时才由应用程序动态创建</a:t>
            </a:r>
          </a:p>
          <a:p>
            <a:r>
              <a:rPr lang="zh-CN" altLang="en-US" dirty="0"/>
              <a:t>动态文档和静态文档之间的主要差别体现在服务器端：文档内容的生成方法不同。从浏览器的角度看，这两种文档并没有区别</a:t>
            </a:r>
          </a:p>
          <a:p>
            <a:endParaRPr lang="zh-CN" altLang="en-US" dirty="0"/>
          </a:p>
        </p:txBody>
      </p:sp>
    </p:spTree>
    <p:extLst>
      <p:ext uri="{BB962C8B-B14F-4D97-AF65-F5344CB8AC3E}">
        <p14:creationId xmlns:p14="http://schemas.microsoft.com/office/powerpoint/2010/main" val="23866077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4977CF9-97B9-4923-86BD-83DC701D1D5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6" name="内容占位符 5">
            <a:extLst>
              <a:ext uri="{FF2B5EF4-FFF2-40B4-BE49-F238E27FC236}">
                <a16:creationId xmlns:a16="http://schemas.microsoft.com/office/drawing/2014/main" id="{7C18C0B9-EC50-B764-85A0-C01BD822D42E}"/>
              </a:ext>
            </a:extLst>
          </p:cNvPr>
          <p:cNvSpPr>
            <a:spLocks noGrp="1"/>
          </p:cNvSpPr>
          <p:nvPr>
            <p:ph sz="quarter" idx="11"/>
          </p:nvPr>
        </p:nvSpPr>
        <p:spPr>
          <a:xfrm>
            <a:off x="486000" y="687518"/>
            <a:ext cx="8172000" cy="4079035"/>
          </a:xfrm>
        </p:spPr>
        <p:txBody>
          <a:bodyPr/>
          <a:lstStyle/>
          <a:p>
            <a:r>
              <a:rPr lang="zh-CN" altLang="en-US" dirty="0"/>
              <a:t>万维网服务器功能的扩充</a:t>
            </a:r>
          </a:p>
          <a:p>
            <a:pPr lvl="1"/>
            <a:r>
              <a:rPr lang="zh-CN" altLang="en-US" dirty="0"/>
              <a:t>增加一个应用程序：处理浏览器发来的数据，并创建动态文档</a:t>
            </a:r>
          </a:p>
          <a:p>
            <a:pPr lvl="1"/>
            <a:r>
              <a:rPr lang="zh-CN" altLang="en-US" dirty="0"/>
              <a:t>增加一个机制：使万维网服务器把浏览器发来的数据传送给这个应用程序，然后万维网服务器能够解释这个应用程序的输出，并向浏览器返回 </a:t>
            </a:r>
            <a:r>
              <a:rPr lang="en-US" altLang="zh-CN" dirty="0"/>
              <a:t>HTML </a:t>
            </a:r>
            <a:r>
              <a:rPr lang="zh-CN" altLang="en-US" dirty="0"/>
              <a:t>文档</a:t>
            </a:r>
          </a:p>
          <a:p>
            <a:endParaRPr lang="zh-CN" altLang="en-US" dirty="0"/>
          </a:p>
        </p:txBody>
      </p:sp>
    </p:spTree>
    <p:extLst>
      <p:ext uri="{BB962C8B-B14F-4D97-AF65-F5344CB8AC3E}">
        <p14:creationId xmlns:p14="http://schemas.microsoft.com/office/powerpoint/2010/main" val="4016965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4" name="图片 5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06545"/>
            <a:ext cx="1117348" cy="1564286"/>
          </a:xfrm>
          <a:prstGeom prst="rect">
            <a:avLst/>
          </a:prstGeom>
        </p:spPr>
      </p:pic>
      <p:pic>
        <p:nvPicPr>
          <p:cNvPr id="52"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65693"/>
            <a:ext cx="918304" cy="918306"/>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oup 49"/>
          <p:cNvGrpSpPr>
            <a:grpSpLocks/>
          </p:cNvGrpSpPr>
          <p:nvPr/>
        </p:nvGrpSpPr>
        <p:grpSpPr bwMode="auto">
          <a:xfrm>
            <a:off x="5765827" y="1852999"/>
            <a:ext cx="1421552" cy="824975"/>
            <a:chOff x="3530" y="1904"/>
            <a:chExt cx="1150" cy="723"/>
          </a:xfrm>
        </p:grpSpPr>
        <p:sp>
          <p:nvSpPr>
            <p:cNvPr id="14" name="AutoShape 5"/>
            <p:cNvSpPr>
              <a:spLocks noChangeArrowheads="1"/>
            </p:cNvSpPr>
            <p:nvPr/>
          </p:nvSpPr>
          <p:spPr bwMode="auto">
            <a:xfrm>
              <a:off x="4238" y="1904"/>
              <a:ext cx="442" cy="289"/>
            </a:xfrm>
            <a:prstGeom prst="can">
              <a:avLst>
                <a:gd name="adj" fmla="val 39583"/>
              </a:avLst>
            </a:prstGeom>
            <a:solidFill>
              <a:srgbClr val="00CC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flipV="1">
              <a:off x="3985" y="2177"/>
              <a:ext cx="393" cy="232"/>
            </a:xfrm>
            <a:prstGeom prst="line">
              <a:avLst/>
            </a:prstGeom>
            <a:noFill/>
            <a:ln w="28575">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8"/>
            <p:cNvSpPr>
              <a:spLocks noChangeShapeType="1"/>
            </p:cNvSpPr>
            <p:nvPr/>
          </p:nvSpPr>
          <p:spPr bwMode="auto">
            <a:xfrm>
              <a:off x="3530" y="2276"/>
              <a:ext cx="186" cy="181"/>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Oval 13"/>
            <p:cNvSpPr>
              <a:spLocks noChangeArrowheads="1"/>
            </p:cNvSpPr>
            <p:nvPr/>
          </p:nvSpPr>
          <p:spPr bwMode="auto">
            <a:xfrm>
              <a:off x="3658" y="2401"/>
              <a:ext cx="450" cy="226"/>
            </a:xfrm>
            <a:prstGeom prst="ellipse">
              <a:avLst/>
            </a:prstGeom>
            <a:solidFill>
              <a:srgbClr val="FFC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400" b="1" dirty="0">
                  <a:latin typeface="微软雅黑 Light" panose="020B0502040204020203" pitchFamily="34" charset="-122"/>
                  <a:ea typeface="微软雅黑 Light" panose="020B0502040204020203" pitchFamily="34" charset="-122"/>
                </a:rPr>
                <a:t>CGI</a:t>
              </a:r>
            </a:p>
          </p:txBody>
        </p:sp>
      </p:grpSp>
      <p:grpSp>
        <p:nvGrpSpPr>
          <p:cNvPr id="18" name="Group 45"/>
          <p:cNvGrpSpPr>
            <a:grpSpLocks/>
          </p:cNvGrpSpPr>
          <p:nvPr/>
        </p:nvGrpSpPr>
        <p:grpSpPr bwMode="auto">
          <a:xfrm>
            <a:off x="2223070" y="3241656"/>
            <a:ext cx="4154643" cy="1200381"/>
            <a:chOff x="664" y="3124"/>
            <a:chExt cx="3361" cy="1052"/>
          </a:xfrm>
        </p:grpSpPr>
        <p:sp>
          <p:nvSpPr>
            <p:cNvPr id="19"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sp>
          <p:nvSpPr>
            <p:cNvPr id="21" name="Text Box 36"/>
            <p:cNvSpPr txBox="1">
              <a:spLocks noChangeArrowheads="1"/>
            </p:cNvSpPr>
            <p:nvPr/>
          </p:nvSpPr>
          <p:spPr bwMode="auto">
            <a:xfrm>
              <a:off x="2795" y="3217"/>
              <a:ext cx="1230"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响应动态文档</a:t>
              </a:r>
            </a:p>
          </p:txBody>
        </p:sp>
        <p:grpSp>
          <p:nvGrpSpPr>
            <p:cNvPr id="22" name="Group 37"/>
            <p:cNvGrpSpPr>
              <a:grpSpLocks/>
            </p:cNvGrpSpPr>
            <p:nvPr/>
          </p:nvGrpSpPr>
          <p:grpSpPr bwMode="auto">
            <a:xfrm flipH="1">
              <a:off x="1039" y="3509"/>
              <a:ext cx="1433" cy="321"/>
              <a:chOff x="1152" y="1824"/>
              <a:chExt cx="1296" cy="240"/>
            </a:xfrm>
          </p:grpSpPr>
          <p:sp>
            <p:nvSpPr>
              <p:cNvPr id="23"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grpSp>
      <p:sp>
        <p:nvSpPr>
          <p:cNvPr id="25" name="Rectangle 6"/>
          <p:cNvSpPr>
            <a:spLocks noChangeArrowheads="1"/>
          </p:cNvSpPr>
          <p:nvPr/>
        </p:nvSpPr>
        <p:spPr bwMode="auto">
          <a:xfrm>
            <a:off x="5439488" y="1030307"/>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6" name="Oval 7"/>
          <p:cNvSpPr>
            <a:spLocks noChangeArrowheads="1"/>
          </p:cNvSpPr>
          <p:nvPr/>
        </p:nvSpPr>
        <p:spPr bwMode="auto">
          <a:xfrm>
            <a:off x="5464090" y="2037719"/>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7" name="Rectangle 8"/>
          <p:cNvSpPr>
            <a:spLocks noChangeArrowheads="1"/>
          </p:cNvSpPr>
          <p:nvPr/>
        </p:nvSpPr>
        <p:spPr bwMode="auto">
          <a:xfrm>
            <a:off x="2940772" y="151751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8" name="Rectangle 9"/>
          <p:cNvSpPr>
            <a:spLocks noChangeArrowheads="1"/>
          </p:cNvSpPr>
          <p:nvPr/>
        </p:nvSpPr>
        <p:spPr bwMode="auto">
          <a:xfrm>
            <a:off x="1815383" y="1290466"/>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9" name="Line 10"/>
          <p:cNvSpPr>
            <a:spLocks noChangeShapeType="1"/>
          </p:cNvSpPr>
          <p:nvPr/>
        </p:nvSpPr>
        <p:spPr bwMode="auto">
          <a:xfrm>
            <a:off x="5067412" y="1803669"/>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Rectangle 11"/>
          <p:cNvSpPr>
            <a:spLocks noChangeArrowheads="1"/>
          </p:cNvSpPr>
          <p:nvPr/>
        </p:nvSpPr>
        <p:spPr bwMode="auto">
          <a:xfrm>
            <a:off x="4460470" y="1529820"/>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31" name="Rectangle 12"/>
          <p:cNvSpPr>
            <a:spLocks noChangeArrowheads="1"/>
          </p:cNvSpPr>
          <p:nvPr/>
        </p:nvSpPr>
        <p:spPr bwMode="auto">
          <a:xfrm>
            <a:off x="3686651" y="1935156"/>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32" name="Rectangle 16"/>
          <p:cNvSpPr>
            <a:spLocks noChangeArrowheads="1"/>
          </p:cNvSpPr>
          <p:nvPr/>
        </p:nvSpPr>
        <p:spPr bwMode="auto">
          <a:xfrm>
            <a:off x="6544861" y="1572303"/>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数据库</a:t>
            </a:r>
          </a:p>
        </p:txBody>
      </p:sp>
      <p:sp>
        <p:nvSpPr>
          <p:cNvPr id="34" name="Oval 20"/>
          <p:cNvSpPr>
            <a:spLocks noChangeArrowheads="1"/>
          </p:cNvSpPr>
          <p:nvPr/>
        </p:nvSpPr>
        <p:spPr bwMode="auto">
          <a:xfrm>
            <a:off x="2054028" y="2058059"/>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21"/>
          <p:cNvSpPr>
            <a:spLocks noChangeShapeType="1"/>
          </p:cNvSpPr>
          <p:nvPr/>
        </p:nvSpPr>
        <p:spPr bwMode="auto">
          <a:xfrm flipH="1">
            <a:off x="2423324" y="1803669"/>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7" name="Group 50"/>
          <p:cNvGrpSpPr>
            <a:grpSpLocks/>
          </p:cNvGrpSpPr>
          <p:nvPr/>
        </p:nvGrpSpPr>
        <p:grpSpPr bwMode="auto">
          <a:xfrm>
            <a:off x="1935051" y="2782951"/>
            <a:ext cx="3964277" cy="1325894"/>
            <a:chOff x="431" y="2722"/>
            <a:chExt cx="3207" cy="1162"/>
          </a:xfrm>
        </p:grpSpPr>
        <p:sp>
          <p:nvSpPr>
            <p:cNvPr id="38"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0" name="Group 44"/>
            <p:cNvGrpSpPr>
              <a:grpSpLocks/>
            </p:cNvGrpSpPr>
            <p:nvPr/>
          </p:nvGrpSpPr>
          <p:grpSpPr bwMode="auto">
            <a:xfrm>
              <a:off x="431" y="2722"/>
              <a:ext cx="3207" cy="519"/>
              <a:chOff x="431" y="2722"/>
              <a:chExt cx="3207" cy="519"/>
            </a:xfrm>
          </p:grpSpPr>
          <p:sp>
            <p:nvSpPr>
              <p:cNvPr id="41"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42" name="Group 24"/>
              <p:cNvGrpSpPr>
                <a:grpSpLocks/>
              </p:cNvGrpSpPr>
              <p:nvPr/>
            </p:nvGrpSpPr>
            <p:grpSpPr bwMode="auto">
              <a:xfrm>
                <a:off x="1419" y="2919"/>
                <a:ext cx="1461" cy="322"/>
                <a:chOff x="1152" y="1824"/>
                <a:chExt cx="1296" cy="240"/>
              </a:xfrm>
            </p:grpSpPr>
            <p:sp>
              <p:nvSpPr>
                <p:cNvPr id="44"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45"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43"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grpSp>
        <p:nvGrpSpPr>
          <p:cNvPr id="46" name="Group 42"/>
          <p:cNvGrpSpPr>
            <a:grpSpLocks/>
          </p:cNvGrpSpPr>
          <p:nvPr/>
        </p:nvGrpSpPr>
        <p:grpSpPr bwMode="auto">
          <a:xfrm>
            <a:off x="6355464" y="2624355"/>
            <a:ext cx="1976577" cy="1353282"/>
            <a:chOff x="3909" y="2533"/>
            <a:chExt cx="1599" cy="1186"/>
          </a:xfrm>
        </p:grpSpPr>
        <p:sp>
          <p:nvSpPr>
            <p:cNvPr id="47" name="Line 30"/>
            <p:cNvSpPr>
              <a:spLocks noChangeShapeType="1"/>
            </p:cNvSpPr>
            <p:nvPr/>
          </p:nvSpPr>
          <p:spPr bwMode="auto">
            <a:xfrm>
              <a:off x="3909" y="2533"/>
              <a:ext cx="278" cy="336"/>
            </a:xfrm>
            <a:prstGeom prst="line">
              <a:avLst/>
            </a:prstGeom>
            <a:noFill/>
            <a:ln w="28575">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Text Box 31"/>
            <p:cNvSpPr txBox="1">
              <a:spLocks noChangeArrowheads="1"/>
            </p:cNvSpPr>
            <p:nvPr/>
          </p:nvSpPr>
          <p:spPr bwMode="auto">
            <a:xfrm>
              <a:off x="4260" y="2552"/>
              <a:ext cx="1248" cy="5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800" b="1" dirty="0">
                  <a:latin typeface="微软雅黑 Light" panose="020B0502040204020203" pitchFamily="34" charset="-122"/>
                  <a:ea typeface="微软雅黑 Light" panose="020B0502040204020203" pitchFamily="34" charset="-122"/>
                </a:rPr>
                <a:t> </a:t>
              </a:r>
              <a:r>
                <a:rPr kumimoji="1" lang="en-US" altLang="zh-CN" sz="1400" b="1" dirty="0">
                  <a:latin typeface="微软雅黑 Light" panose="020B0502040204020203" pitchFamily="34" charset="-122"/>
                  <a:ea typeface="微软雅黑 Light" panose="020B0502040204020203" pitchFamily="34" charset="-122"/>
                </a:rPr>
                <a:t>CGI </a:t>
              </a:r>
              <a:r>
                <a:rPr kumimoji="1" lang="zh-CN" altLang="en-US" sz="1400" b="1" dirty="0">
                  <a:latin typeface="微软雅黑 Light" panose="020B0502040204020203" pitchFamily="34" charset="-122"/>
                  <a:ea typeface="微软雅黑 Light" panose="020B0502040204020203" pitchFamily="34" charset="-122"/>
                </a:rPr>
                <a:t>程序创建</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动态文档</a:t>
              </a:r>
            </a:p>
          </p:txBody>
        </p:sp>
        <p:sp>
          <p:nvSpPr>
            <p:cNvPr id="49" name="Text Box 35"/>
            <p:cNvSpPr txBox="1">
              <a:spLocks noChangeArrowheads="1"/>
            </p:cNvSpPr>
            <p:nvPr/>
          </p:nvSpPr>
          <p:spPr bwMode="auto">
            <a:xfrm>
              <a:off x="4035" y="2667"/>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50" name="Line 15"/>
          <p:cNvSpPr>
            <a:spLocks noChangeShapeType="1"/>
          </p:cNvSpPr>
          <p:nvPr/>
        </p:nvSpPr>
        <p:spPr bwMode="auto">
          <a:xfrm>
            <a:off x="2490075" y="2219308"/>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A170D5E1-EA82-1148-086E-10C1A47E25DB}"/>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a:t>
            </a:r>
          </a:p>
        </p:txBody>
      </p:sp>
      <p:sp>
        <p:nvSpPr>
          <p:cNvPr id="3" name="内容占位符 2">
            <a:extLst>
              <a:ext uri="{FF2B5EF4-FFF2-40B4-BE49-F238E27FC236}">
                <a16:creationId xmlns:a16="http://schemas.microsoft.com/office/drawing/2014/main" id="{3C6C69FA-DEB9-D723-D667-1AC330FEFF9B}"/>
              </a:ext>
            </a:extLst>
          </p:cNvPr>
          <p:cNvSpPr>
            <a:spLocks noGrp="1"/>
          </p:cNvSpPr>
          <p:nvPr>
            <p:ph sz="quarter" idx="11"/>
          </p:nvPr>
        </p:nvSpPr>
        <p:spPr>
          <a:xfrm>
            <a:off x="486000" y="687518"/>
            <a:ext cx="8172000" cy="4079035"/>
          </a:xfrm>
        </p:spPr>
        <p:txBody>
          <a:bodyPr/>
          <a:lstStyle/>
          <a:p>
            <a:r>
              <a:rPr lang="zh-CN" altLang="en-US" dirty="0"/>
              <a:t>扩充了功能的万维网服务器</a:t>
            </a:r>
          </a:p>
        </p:txBody>
      </p:sp>
    </p:spTree>
    <p:extLst>
      <p:ext uri="{BB962C8B-B14F-4D97-AF65-F5344CB8AC3E}">
        <p14:creationId xmlns:p14="http://schemas.microsoft.com/office/powerpoint/2010/main" val="37207427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wipe(left)">
                                      <p:cBhvr>
                                        <p:cTn id="7" dur="2000"/>
                                        <p:tgtEl>
                                          <p:spTgt spid="3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3"/>
                                        </p:tgtEl>
                                        <p:attrNameLst>
                                          <p:attrName>style.visibility</p:attrName>
                                        </p:attrNameLst>
                                      </p:cBhvr>
                                      <p:to>
                                        <p:strVal val="visible"/>
                                      </p:to>
                                    </p:set>
                                    <p:animEffect transition="in" filter="wipe(left)">
                                      <p:cBhvr>
                                        <p:cTn id="12" dur="1000"/>
                                        <p:tgtEl>
                                          <p:spTgt spid="1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46"/>
                                        </p:tgtEl>
                                        <p:attrNameLst>
                                          <p:attrName>style.visibility</p:attrName>
                                        </p:attrNameLst>
                                      </p:cBhvr>
                                      <p:to>
                                        <p:strVal val="visible"/>
                                      </p:to>
                                    </p:set>
                                    <p:animEffect transition="in" filter="wipe(left)">
                                      <p:cBhvr>
                                        <p:cTn id="16" dur="2000"/>
                                        <p:tgtEl>
                                          <p:spTgt spid="46"/>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wipe(right)">
                                      <p:cBhvr>
                                        <p:cTn id="21" dur="2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5CB376E5-7B6C-CB91-B2C6-14988DA8F6C8}"/>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6" name="内容占位符 5">
            <a:extLst>
              <a:ext uri="{FF2B5EF4-FFF2-40B4-BE49-F238E27FC236}">
                <a16:creationId xmlns:a16="http://schemas.microsoft.com/office/drawing/2014/main" id="{562F9C1A-0C99-8010-2A12-8099830B0956}"/>
              </a:ext>
            </a:extLst>
          </p:cNvPr>
          <p:cNvSpPr>
            <a:spLocks noGrp="1"/>
          </p:cNvSpPr>
          <p:nvPr>
            <p:ph sz="quarter" idx="11"/>
          </p:nvPr>
        </p:nvSpPr>
        <p:spPr>
          <a:xfrm>
            <a:off x="486000" y="687518"/>
            <a:ext cx="8172000" cy="4079035"/>
          </a:xfrm>
        </p:spPr>
        <p:txBody>
          <a:bodyPr/>
          <a:lstStyle/>
          <a:p>
            <a:r>
              <a:rPr lang="zh-CN" altLang="en-US" dirty="0"/>
              <a:t>通用网关接口 </a:t>
            </a:r>
            <a:r>
              <a:rPr lang="en-US" altLang="zh-CN" dirty="0"/>
              <a:t>CGI (Common Gateway Interface) </a:t>
            </a:r>
            <a:r>
              <a:rPr lang="zh-CN" altLang="en-US" dirty="0"/>
              <a:t>：定义动态文档应如何创建，输入数据应如何提供给应用程序，以及输出结果应如何使用的一种标准</a:t>
            </a:r>
          </a:p>
          <a:p>
            <a:r>
              <a:rPr lang="zh-CN" altLang="en-US" dirty="0"/>
              <a:t>通用：</a:t>
            </a:r>
            <a:r>
              <a:rPr lang="en-US" altLang="zh-CN" dirty="0"/>
              <a:t>CGI </a:t>
            </a:r>
            <a:r>
              <a:rPr lang="zh-CN" altLang="en-US" dirty="0"/>
              <a:t>标准所定义的规则对其他任何语言都是通用的</a:t>
            </a:r>
          </a:p>
          <a:p>
            <a:r>
              <a:rPr lang="zh-CN" altLang="en-US" dirty="0"/>
              <a:t>网关：</a:t>
            </a:r>
            <a:r>
              <a:rPr lang="en-US" altLang="zh-CN" dirty="0"/>
              <a:t>CGI </a:t>
            </a:r>
            <a:r>
              <a:rPr lang="zh-CN" altLang="en-US" dirty="0"/>
              <a:t>程序的作用像网关</a:t>
            </a:r>
          </a:p>
          <a:p>
            <a:r>
              <a:rPr lang="zh-CN" altLang="en-US" dirty="0"/>
              <a:t>接口：有一些已定义好的变量和调用等可供其他 </a:t>
            </a:r>
            <a:r>
              <a:rPr lang="en-US" altLang="zh-CN" dirty="0"/>
              <a:t>CGI </a:t>
            </a:r>
            <a:r>
              <a:rPr lang="zh-CN" altLang="en-US" dirty="0"/>
              <a:t>程序使用</a:t>
            </a:r>
          </a:p>
          <a:p>
            <a:endParaRPr lang="zh-CN" altLang="en-US" dirty="0"/>
          </a:p>
        </p:txBody>
      </p:sp>
    </p:spTree>
    <p:extLst>
      <p:ext uri="{BB962C8B-B14F-4D97-AF65-F5344CB8AC3E}">
        <p14:creationId xmlns:p14="http://schemas.microsoft.com/office/powerpoint/2010/main" val="10758464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114B24B7-A667-653D-1EF0-D32725BE71F0}"/>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动态万维网文档 </a:t>
            </a:r>
            <a:r>
              <a:rPr lang="en-US" altLang="zh-CN" dirty="0"/>
              <a:t>- CGI</a:t>
            </a:r>
            <a:endParaRPr lang="zh-CN" altLang="en-US" dirty="0"/>
          </a:p>
        </p:txBody>
      </p:sp>
      <p:sp>
        <p:nvSpPr>
          <p:cNvPr id="9" name="内容占位符 8">
            <a:extLst>
              <a:ext uri="{FF2B5EF4-FFF2-40B4-BE49-F238E27FC236}">
                <a16:creationId xmlns:a16="http://schemas.microsoft.com/office/drawing/2014/main" id="{6DCE7EDF-6008-3662-EC6F-F2386706DC70}"/>
              </a:ext>
            </a:extLst>
          </p:cNvPr>
          <p:cNvSpPr>
            <a:spLocks noGrp="1"/>
          </p:cNvSpPr>
          <p:nvPr>
            <p:ph sz="quarter" idx="11"/>
          </p:nvPr>
        </p:nvSpPr>
        <p:spPr>
          <a:xfrm>
            <a:off x="486000" y="687518"/>
            <a:ext cx="8172000" cy="4079035"/>
          </a:xfrm>
        </p:spPr>
        <p:txBody>
          <a:bodyPr/>
          <a:lstStyle/>
          <a:p>
            <a:r>
              <a:rPr lang="zh-CN" altLang="en-US" dirty="0"/>
              <a:t>正式名字：</a:t>
            </a:r>
            <a:r>
              <a:rPr lang="en-US" altLang="zh-CN" dirty="0"/>
              <a:t>CGI </a:t>
            </a:r>
            <a:r>
              <a:rPr lang="zh-CN" altLang="en-US" dirty="0"/>
              <a:t>脚本 </a:t>
            </a:r>
            <a:r>
              <a:rPr lang="en-US" altLang="zh-CN" dirty="0"/>
              <a:t>(script)</a:t>
            </a:r>
            <a:endParaRPr lang="zh-CN" altLang="en-US" dirty="0"/>
          </a:p>
          <a:p>
            <a:r>
              <a:rPr lang="zh-CN" altLang="en-US" dirty="0"/>
              <a:t>脚本：指的是一个程序，它被另一个程序（解释程序）而不是计算机的处理机来解释或执行</a:t>
            </a:r>
            <a:endParaRPr lang="en-US" altLang="zh-CN" dirty="0"/>
          </a:p>
          <a:p>
            <a:r>
              <a:rPr lang="zh-CN" altLang="en-US" dirty="0"/>
              <a:t>脚本语言 </a:t>
            </a:r>
            <a:r>
              <a:rPr lang="en-US" altLang="zh-CN" dirty="0"/>
              <a:t>(script language)</a:t>
            </a:r>
            <a:r>
              <a:rPr lang="zh-CN" altLang="en-US" dirty="0"/>
              <a:t>：如 </a:t>
            </a:r>
            <a:r>
              <a:rPr lang="en-US" altLang="zh-CN" dirty="0"/>
              <a:t>Perl, JavaScript</a:t>
            </a:r>
            <a:r>
              <a:rPr lang="zh-CN" altLang="en-US" dirty="0"/>
              <a:t>，</a:t>
            </a:r>
            <a:r>
              <a:rPr lang="en-US" altLang="zh-CN" dirty="0" err="1"/>
              <a:t>Tcl</a:t>
            </a:r>
            <a:r>
              <a:rPr lang="en-US" altLang="zh-CN" dirty="0"/>
              <a:t>/Tk </a:t>
            </a:r>
            <a:r>
              <a:rPr lang="zh-CN" altLang="en-US" dirty="0"/>
              <a:t>等。也可用一些常用的编程语言写出，如 </a:t>
            </a:r>
            <a:r>
              <a:rPr lang="en-US" altLang="zh-CN" dirty="0"/>
              <a:t>C</a:t>
            </a:r>
            <a:r>
              <a:rPr lang="zh-CN" altLang="en-US" dirty="0"/>
              <a:t>，</a:t>
            </a:r>
            <a:r>
              <a:rPr lang="en-US" altLang="zh-CN" dirty="0"/>
              <a:t>C++</a:t>
            </a:r>
            <a:r>
              <a:rPr lang="zh-CN" altLang="en-US" dirty="0"/>
              <a:t>等</a:t>
            </a:r>
          </a:p>
          <a:p>
            <a:r>
              <a:rPr lang="zh-CN" altLang="en-US" dirty="0"/>
              <a:t>脚本运行起来要比一般的编译程序要慢</a:t>
            </a:r>
            <a:endParaRPr lang="en-US" altLang="zh-CN" dirty="0"/>
          </a:p>
          <a:p>
            <a:r>
              <a:rPr lang="zh-CN" altLang="en-US" dirty="0"/>
              <a:t>脚本不一定是一个独立的程序，可以是一个动态装入的库，甚至是服务器的一个子程序</a:t>
            </a:r>
            <a:endParaRPr lang="en-US" altLang="zh-CN" dirty="0"/>
          </a:p>
          <a:p>
            <a:endParaRPr lang="en-US" altLang="zh-CN" dirty="0"/>
          </a:p>
          <a:p>
            <a:endParaRPr lang="en-US" altLang="zh-CN" dirty="0"/>
          </a:p>
          <a:p>
            <a:r>
              <a:rPr lang="en-US" altLang="zh-CN" dirty="0"/>
              <a:t>CGI </a:t>
            </a:r>
            <a:r>
              <a:rPr lang="zh-CN" altLang="en-US" dirty="0"/>
              <a:t>程序又称为 </a:t>
            </a:r>
            <a:r>
              <a:rPr lang="en-US" altLang="zh-CN" dirty="0" err="1"/>
              <a:t>cgi</a:t>
            </a:r>
            <a:r>
              <a:rPr lang="en-US" altLang="zh-CN" dirty="0"/>
              <a:t>-bin </a:t>
            </a:r>
            <a:r>
              <a:rPr lang="zh-CN" altLang="en-US" dirty="0"/>
              <a:t>脚本，因为在许多万维网服务器上，将 </a:t>
            </a:r>
            <a:r>
              <a:rPr lang="en-US" altLang="zh-CN" dirty="0"/>
              <a:t>CGI </a:t>
            </a:r>
            <a:r>
              <a:rPr lang="zh-CN" altLang="en-US" dirty="0"/>
              <a:t>程序放在 </a:t>
            </a:r>
            <a:r>
              <a:rPr lang="en-US" altLang="zh-CN" dirty="0"/>
              <a:t>/</a:t>
            </a:r>
            <a:r>
              <a:rPr lang="en-US" altLang="zh-CN" dirty="0" err="1"/>
              <a:t>cgi</a:t>
            </a:r>
            <a:r>
              <a:rPr lang="en-US" altLang="zh-CN" dirty="0"/>
              <a:t>-bin </a:t>
            </a:r>
            <a:r>
              <a:rPr lang="zh-CN" altLang="en-US" dirty="0"/>
              <a:t>的目录下。</a:t>
            </a:r>
          </a:p>
          <a:p>
            <a:endParaRPr lang="zh-CN" altLang="en-US" dirty="0"/>
          </a:p>
          <a:p>
            <a:endParaRPr lang="zh-CN" altLang="en-US" dirty="0"/>
          </a:p>
        </p:txBody>
      </p:sp>
    </p:spTree>
    <p:extLst>
      <p:ext uri="{BB962C8B-B14F-4D97-AF65-F5344CB8AC3E}">
        <p14:creationId xmlns:p14="http://schemas.microsoft.com/office/powerpoint/2010/main" val="3969896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111037C-E403-4F6D-BB6E-74F8A333C3F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0B11BAC1-D8B1-DECA-7B9A-314B5BEFA2A8}"/>
              </a:ext>
            </a:extLst>
          </p:cNvPr>
          <p:cNvSpPr>
            <a:spLocks noGrp="1"/>
          </p:cNvSpPr>
          <p:nvPr>
            <p:ph sz="quarter" idx="11"/>
          </p:nvPr>
        </p:nvSpPr>
        <p:spPr>
          <a:xfrm>
            <a:off x="486000" y="687518"/>
            <a:ext cx="8172000" cy="4079035"/>
          </a:xfrm>
        </p:spPr>
        <p:txBody>
          <a:bodyPr/>
          <a:lstStyle/>
          <a:p>
            <a:r>
              <a:rPr lang="zh-CN" altLang="en-US" dirty="0"/>
              <a:t>活动文档 </a:t>
            </a:r>
            <a:r>
              <a:rPr lang="en-US" altLang="zh-CN" dirty="0"/>
              <a:t>(active document) </a:t>
            </a:r>
            <a:r>
              <a:rPr lang="zh-CN" altLang="en-US" dirty="0"/>
              <a:t>技术：把屏幕连续更新的工作转移给浏览器端</a:t>
            </a:r>
          </a:p>
          <a:p>
            <a:r>
              <a:rPr lang="zh-CN" altLang="en-US" dirty="0"/>
              <a:t>每当浏览器请求一个活动文档时，服务器就返回一段程序副本在浏览器端运行</a:t>
            </a:r>
          </a:p>
          <a:p>
            <a:r>
              <a:rPr lang="zh-CN" altLang="en-US" dirty="0"/>
              <a:t>活动文档程序可与用户直接交互，并可连续地改变屏幕的显示</a:t>
            </a:r>
          </a:p>
          <a:p>
            <a:r>
              <a:rPr lang="zh-CN" altLang="en-US" dirty="0"/>
              <a:t>由于活动文档技术不需要服务器的连续更新传送，对网络带宽的要求也不会太高</a:t>
            </a:r>
          </a:p>
          <a:p>
            <a:endParaRPr lang="zh-CN" altLang="en-US" dirty="0"/>
          </a:p>
        </p:txBody>
      </p:sp>
    </p:spTree>
    <p:extLst>
      <p:ext uri="{BB962C8B-B14F-4D97-AF65-F5344CB8AC3E}">
        <p14:creationId xmlns:p14="http://schemas.microsoft.com/office/powerpoint/2010/main" val="4414462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064C727-B6CF-AB44-0AD6-D870EA4E7C53}"/>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7" name="内容占位符 6">
            <a:extLst>
              <a:ext uri="{FF2B5EF4-FFF2-40B4-BE49-F238E27FC236}">
                <a16:creationId xmlns:a16="http://schemas.microsoft.com/office/drawing/2014/main" id="{20916C61-94BF-AE55-967A-D65F49C6EFBD}"/>
              </a:ext>
            </a:extLst>
          </p:cNvPr>
          <p:cNvSpPr>
            <a:spLocks noGrp="1"/>
          </p:cNvSpPr>
          <p:nvPr>
            <p:ph sz="quarter" idx="11"/>
          </p:nvPr>
        </p:nvSpPr>
        <p:spPr>
          <a:xfrm>
            <a:off x="486000" y="687518"/>
            <a:ext cx="8172000" cy="4079035"/>
          </a:xfrm>
        </p:spPr>
        <p:txBody>
          <a:bodyPr/>
          <a:lstStyle/>
          <a:p>
            <a:r>
              <a:rPr lang="zh-CN" altLang="en-US" dirty="0"/>
              <a:t>活动文档在客户端创建</a:t>
            </a:r>
          </a:p>
          <a:p>
            <a:endParaRPr lang="zh-CN" altLang="en-US" dirty="0"/>
          </a:p>
        </p:txBody>
      </p:sp>
      <p:sp>
        <p:nvSpPr>
          <p:cNvPr id="41" name="Text Box 35"/>
          <p:cNvSpPr txBox="1">
            <a:spLocks noChangeArrowheads="1"/>
          </p:cNvSpPr>
          <p:nvPr/>
        </p:nvSpPr>
        <p:spPr bwMode="auto">
          <a:xfrm>
            <a:off x="6787313" y="1644546"/>
            <a:ext cx="830681" cy="12003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pic>
        <p:nvPicPr>
          <p:cNvPr id="3" name="图片 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5464089" y="1310914"/>
            <a:ext cx="1117348" cy="1564286"/>
          </a:xfrm>
          <a:prstGeom prst="rect">
            <a:avLst/>
          </a:prstGeom>
        </p:spPr>
      </p:pic>
      <p:pic>
        <p:nvPicPr>
          <p:cNvPr id="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89331" y="1570062"/>
            <a:ext cx="918304" cy="918306"/>
          </a:xfrm>
          <a:prstGeom prst="rect">
            <a:avLst/>
          </a:prstGeom>
          <a:noFill/>
          <a:extLst>
            <a:ext uri="{909E8E84-426E-40DD-AFC4-6F175D3DCCD1}">
              <a14:hiddenFill xmlns:a14="http://schemas.microsoft.com/office/drawing/2010/main">
                <a:solidFill>
                  <a:srgbClr val="FFFFFF"/>
                </a:solidFill>
              </a14:hiddenFill>
            </a:ext>
          </a:extLst>
        </p:spPr>
      </p:pic>
      <p:sp>
        <p:nvSpPr>
          <p:cNvPr id="8" name="AutoShape 5"/>
          <p:cNvSpPr>
            <a:spLocks noChangeArrowheads="1"/>
          </p:cNvSpPr>
          <p:nvPr/>
        </p:nvSpPr>
        <p:spPr bwMode="auto">
          <a:xfrm>
            <a:off x="6920814" y="2608418"/>
            <a:ext cx="546370" cy="329762"/>
          </a:xfrm>
          <a:prstGeom prst="can">
            <a:avLst>
              <a:gd name="adj" fmla="val 39583"/>
            </a:avLst>
          </a:prstGeom>
          <a:solidFill>
            <a:srgbClr val="00CC00"/>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2" name="Group 45"/>
          <p:cNvGrpSpPr>
            <a:grpSpLocks/>
          </p:cNvGrpSpPr>
          <p:nvPr/>
        </p:nvGrpSpPr>
        <p:grpSpPr bwMode="auto">
          <a:xfrm>
            <a:off x="2223070" y="3246025"/>
            <a:ext cx="3759079" cy="1200381"/>
            <a:chOff x="664" y="3124"/>
            <a:chExt cx="3041" cy="1052"/>
          </a:xfrm>
        </p:grpSpPr>
        <p:sp>
          <p:nvSpPr>
            <p:cNvPr id="13" name="Line 32"/>
            <p:cNvSpPr>
              <a:spLocks noChangeShapeType="1"/>
            </p:cNvSpPr>
            <p:nvPr/>
          </p:nvSpPr>
          <p:spPr bwMode="auto">
            <a:xfrm flipH="1" flipV="1">
              <a:off x="664" y="36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Text Box 36"/>
            <p:cNvSpPr txBox="1">
              <a:spLocks noChangeArrowheads="1"/>
            </p:cNvSpPr>
            <p:nvPr/>
          </p:nvSpPr>
          <p:spPr bwMode="auto">
            <a:xfrm>
              <a:off x="2809" y="3369"/>
              <a:ext cx="896" cy="3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zh-CN" altLang="en-US" sz="1400" b="1" dirty="0">
                  <a:latin typeface="微软雅黑 Light" panose="020B0502040204020203" pitchFamily="34" charset="-122"/>
                  <a:ea typeface="微软雅黑 Light" panose="020B0502040204020203" pitchFamily="34" charset="-122"/>
                </a:rPr>
                <a:t>响应程序</a:t>
              </a:r>
            </a:p>
          </p:txBody>
        </p:sp>
        <p:grpSp>
          <p:nvGrpSpPr>
            <p:cNvPr id="16" name="Group 37"/>
            <p:cNvGrpSpPr>
              <a:grpSpLocks/>
            </p:cNvGrpSpPr>
            <p:nvPr/>
          </p:nvGrpSpPr>
          <p:grpSpPr bwMode="auto">
            <a:xfrm flipH="1">
              <a:off x="1039" y="3509"/>
              <a:ext cx="1433" cy="321"/>
              <a:chOff x="1152" y="1824"/>
              <a:chExt cx="1296" cy="240"/>
            </a:xfrm>
          </p:grpSpPr>
          <p:sp>
            <p:nvSpPr>
              <p:cNvPr id="17" name="AutoShape 38"/>
              <p:cNvSpPr>
                <a:spLocks noChangeArrowheads="1"/>
              </p:cNvSpPr>
              <p:nvPr/>
            </p:nvSpPr>
            <p:spPr bwMode="auto">
              <a:xfrm>
                <a:off x="2160" y="1872"/>
                <a:ext cx="288" cy="144"/>
              </a:xfrm>
              <a:prstGeom prst="rightArrow">
                <a:avLst>
                  <a:gd name="adj1" fmla="val 50000"/>
                  <a:gd name="adj2" fmla="val 50000"/>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8" name="Rectangle 39"/>
              <p:cNvSpPr>
                <a:spLocks noChangeArrowheads="1"/>
              </p:cNvSpPr>
              <p:nvPr/>
            </p:nvSpPr>
            <p:spPr bwMode="auto">
              <a:xfrm>
                <a:off x="1152" y="1824"/>
                <a:ext cx="1008" cy="240"/>
              </a:xfrm>
              <a:prstGeom prst="rect">
                <a:avLst/>
              </a:prstGeom>
              <a:solidFill>
                <a:srgbClr val="CC00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响应报文</a:t>
                </a:r>
              </a:p>
            </p:txBody>
          </p:sp>
        </p:grpSp>
        <p:sp>
          <p:nvSpPr>
            <p:cNvPr id="14" name="Text Box 34"/>
            <p:cNvSpPr txBox="1">
              <a:spLocks noChangeArrowheads="1"/>
            </p:cNvSpPr>
            <p:nvPr/>
          </p:nvSpPr>
          <p:spPr bwMode="auto">
            <a:xfrm>
              <a:off x="2336" y="3124"/>
              <a:ext cx="672" cy="10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7200" b="1" dirty="0">
                  <a:solidFill>
                    <a:srgbClr val="0000FF"/>
                  </a:solidFill>
                  <a:latin typeface="微软雅黑 Light" panose="020B0502040204020203" pitchFamily="34" charset="-122"/>
                  <a:ea typeface="微软雅黑 Light" panose="020B0502040204020203" pitchFamily="34" charset="-122"/>
                  <a:sym typeface="Wingdings" pitchFamily="2" charset="2"/>
                </a:rPr>
                <a:t></a:t>
              </a:r>
              <a:endParaRPr kumimoji="1" lang="en-US" altLang="zh-CN" sz="7200" b="1" dirty="0">
                <a:solidFill>
                  <a:srgbClr val="0000FF"/>
                </a:solidFill>
                <a:latin typeface="微软雅黑 Light" panose="020B0502040204020203" pitchFamily="34" charset="-122"/>
                <a:ea typeface="微软雅黑 Light" panose="020B0502040204020203" pitchFamily="34" charset="-122"/>
              </a:endParaRPr>
            </a:p>
          </p:txBody>
        </p:sp>
      </p:grpSp>
      <p:sp>
        <p:nvSpPr>
          <p:cNvPr id="19" name="Rectangle 6"/>
          <p:cNvSpPr>
            <a:spLocks noChangeArrowheads="1"/>
          </p:cNvSpPr>
          <p:nvPr/>
        </p:nvSpPr>
        <p:spPr bwMode="auto">
          <a:xfrm>
            <a:off x="5439488" y="1034676"/>
            <a:ext cx="1259961"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万维网服务器</a:t>
            </a:r>
          </a:p>
        </p:txBody>
      </p:sp>
      <p:sp>
        <p:nvSpPr>
          <p:cNvPr id="20" name="Oval 7"/>
          <p:cNvSpPr>
            <a:spLocks noChangeArrowheads="1"/>
          </p:cNvSpPr>
          <p:nvPr/>
        </p:nvSpPr>
        <p:spPr bwMode="auto">
          <a:xfrm>
            <a:off x="5464090" y="2042088"/>
            <a:ext cx="531658" cy="259166"/>
          </a:xfrm>
          <a:prstGeom prst="ellipse">
            <a:avLst/>
          </a:prstGeom>
          <a:solidFill>
            <a:srgbClr val="00FFFF"/>
          </a:solidFill>
          <a:ln w="9525">
            <a:solidFill>
              <a:schemeClr val="tx1"/>
            </a:solidFill>
            <a:round/>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1" name="Rectangle 8"/>
          <p:cNvSpPr>
            <a:spLocks noChangeArrowheads="1"/>
          </p:cNvSpPr>
          <p:nvPr/>
        </p:nvSpPr>
        <p:spPr bwMode="auto">
          <a:xfrm>
            <a:off x="2940772" y="1521888"/>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浏览器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2" name="Rectangle 9"/>
          <p:cNvSpPr>
            <a:spLocks noChangeArrowheads="1"/>
          </p:cNvSpPr>
          <p:nvPr/>
        </p:nvSpPr>
        <p:spPr bwMode="auto">
          <a:xfrm>
            <a:off x="1815383" y="1294835"/>
            <a:ext cx="108042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zh-CN" altLang="en-US" sz="1400" b="1" dirty="0">
                <a:latin typeface="微软雅黑 Light" panose="020B0502040204020203" pitchFamily="34" charset="-122"/>
                <a:ea typeface="微软雅黑 Light" panose="020B0502040204020203" pitchFamily="34" charset="-122"/>
              </a:rPr>
              <a:t>万维网客户</a:t>
            </a:r>
          </a:p>
        </p:txBody>
      </p:sp>
      <p:sp>
        <p:nvSpPr>
          <p:cNvPr id="23" name="Line 10"/>
          <p:cNvSpPr>
            <a:spLocks noChangeShapeType="1"/>
          </p:cNvSpPr>
          <p:nvPr/>
        </p:nvSpPr>
        <p:spPr bwMode="auto">
          <a:xfrm>
            <a:off x="5067412" y="1808038"/>
            <a:ext cx="605705" cy="379093"/>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Rectangle 11"/>
          <p:cNvSpPr>
            <a:spLocks noChangeArrowheads="1"/>
          </p:cNvSpPr>
          <p:nvPr/>
        </p:nvSpPr>
        <p:spPr bwMode="auto">
          <a:xfrm>
            <a:off x="4460470" y="1534189"/>
            <a:ext cx="721352" cy="47756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90000"/>
              </a:lnSpc>
            </a:pPr>
            <a:r>
              <a:rPr kumimoji="1" lang="zh-CN" altLang="en-US" sz="1400" b="1" dirty="0">
                <a:latin typeface="微软雅黑 Light" panose="020B0502040204020203" pitchFamily="34" charset="-122"/>
                <a:ea typeface="微软雅黑 Light" panose="020B0502040204020203" pitchFamily="34" charset="-122"/>
              </a:rPr>
              <a:t>服务器</a:t>
            </a:r>
          </a:p>
          <a:p>
            <a:pPr>
              <a:lnSpc>
                <a:spcPct val="90000"/>
              </a:lnSpc>
            </a:pPr>
            <a:r>
              <a:rPr kumimoji="1" lang="zh-CN" altLang="en-US" sz="1400" b="1" dirty="0">
                <a:latin typeface="微软雅黑 Light" panose="020B0502040204020203" pitchFamily="34" charset="-122"/>
                <a:ea typeface="微软雅黑 Light" panose="020B0502040204020203" pitchFamily="34" charset="-122"/>
              </a:rPr>
              <a:t> 程序</a:t>
            </a:r>
          </a:p>
        </p:txBody>
      </p:sp>
      <p:sp>
        <p:nvSpPr>
          <p:cNvPr id="25" name="Rectangle 12"/>
          <p:cNvSpPr>
            <a:spLocks noChangeArrowheads="1"/>
          </p:cNvSpPr>
          <p:nvPr/>
        </p:nvSpPr>
        <p:spPr bwMode="auto">
          <a:xfrm>
            <a:off x="3686651" y="1939525"/>
            <a:ext cx="624403"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905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kumimoji="1" lang="en-US" altLang="zh-CN" sz="1400" b="1" dirty="0">
                <a:latin typeface="微软雅黑 Light" panose="020B0502040204020203" pitchFamily="34" charset="-122"/>
                <a:ea typeface="微软雅黑 Light" panose="020B0502040204020203" pitchFamily="34" charset="-122"/>
              </a:rPr>
              <a:t>HTTP</a:t>
            </a:r>
          </a:p>
        </p:txBody>
      </p:sp>
      <p:sp>
        <p:nvSpPr>
          <p:cNvPr id="27" name="Oval 20"/>
          <p:cNvSpPr>
            <a:spLocks noChangeArrowheads="1"/>
          </p:cNvSpPr>
          <p:nvPr/>
        </p:nvSpPr>
        <p:spPr bwMode="auto">
          <a:xfrm>
            <a:off x="2054028" y="2062428"/>
            <a:ext cx="567551" cy="257114"/>
          </a:xfrm>
          <a:prstGeom prst="ellipse">
            <a:avLst/>
          </a:prstGeom>
          <a:solidFill>
            <a:srgbClr val="66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1"/>
          <p:cNvSpPr>
            <a:spLocks noChangeShapeType="1"/>
          </p:cNvSpPr>
          <p:nvPr/>
        </p:nvSpPr>
        <p:spPr bwMode="auto">
          <a:xfrm flipH="1">
            <a:off x="2423324" y="1808038"/>
            <a:ext cx="585052" cy="397351"/>
          </a:xfrm>
          <a:prstGeom prst="line">
            <a:avLst/>
          </a:prstGeom>
          <a:noFill/>
          <a:ln w="28575">
            <a:solidFill>
              <a:srgbClr val="FF00FF"/>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9" name="Group 50"/>
          <p:cNvGrpSpPr>
            <a:grpSpLocks/>
          </p:cNvGrpSpPr>
          <p:nvPr/>
        </p:nvGrpSpPr>
        <p:grpSpPr bwMode="auto">
          <a:xfrm>
            <a:off x="1935051" y="2787320"/>
            <a:ext cx="3964277" cy="1325894"/>
            <a:chOff x="431" y="2722"/>
            <a:chExt cx="3207" cy="1162"/>
          </a:xfrm>
        </p:grpSpPr>
        <p:sp>
          <p:nvSpPr>
            <p:cNvPr id="30" name="Line 27"/>
            <p:cNvSpPr>
              <a:spLocks noChangeShapeType="1"/>
            </p:cNvSpPr>
            <p:nvPr/>
          </p:nvSpPr>
          <p:spPr bwMode="auto">
            <a:xfrm>
              <a:off x="664" y="2791"/>
              <a:ext cx="0" cy="1093"/>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Line 28"/>
            <p:cNvSpPr>
              <a:spLocks noChangeShapeType="1"/>
            </p:cNvSpPr>
            <p:nvPr/>
          </p:nvSpPr>
          <p:spPr bwMode="auto">
            <a:xfrm>
              <a:off x="3638" y="2855"/>
              <a:ext cx="0" cy="1029"/>
            </a:xfrm>
            <a:prstGeom prst="line">
              <a:avLst/>
            </a:prstGeom>
            <a:noFill/>
            <a:ln w="19050">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44"/>
            <p:cNvGrpSpPr>
              <a:grpSpLocks/>
            </p:cNvGrpSpPr>
            <p:nvPr/>
          </p:nvGrpSpPr>
          <p:grpSpPr bwMode="auto">
            <a:xfrm>
              <a:off x="431" y="2722"/>
              <a:ext cx="3207" cy="519"/>
              <a:chOff x="431" y="2722"/>
              <a:chExt cx="3207" cy="519"/>
            </a:xfrm>
          </p:grpSpPr>
          <p:sp>
            <p:nvSpPr>
              <p:cNvPr id="33" name="Line 23"/>
              <p:cNvSpPr>
                <a:spLocks noChangeShapeType="1"/>
              </p:cNvSpPr>
              <p:nvPr/>
            </p:nvSpPr>
            <p:spPr bwMode="auto">
              <a:xfrm flipV="1">
                <a:off x="673" y="3080"/>
                <a:ext cx="2965" cy="11"/>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4" name="Group 24"/>
              <p:cNvGrpSpPr>
                <a:grpSpLocks/>
              </p:cNvGrpSpPr>
              <p:nvPr/>
            </p:nvGrpSpPr>
            <p:grpSpPr bwMode="auto">
              <a:xfrm>
                <a:off x="1419" y="2919"/>
                <a:ext cx="1461" cy="322"/>
                <a:chOff x="1152" y="1824"/>
                <a:chExt cx="1296" cy="240"/>
              </a:xfrm>
            </p:grpSpPr>
            <p:sp>
              <p:nvSpPr>
                <p:cNvPr id="36" name="AutoShape 25"/>
                <p:cNvSpPr>
                  <a:spLocks noChangeArrowheads="1"/>
                </p:cNvSpPr>
                <p:nvPr/>
              </p:nvSpPr>
              <p:spPr bwMode="auto">
                <a:xfrm>
                  <a:off x="2160" y="1872"/>
                  <a:ext cx="288" cy="144"/>
                </a:xfrm>
                <a:prstGeom prst="rightArrow">
                  <a:avLst>
                    <a:gd name="adj1" fmla="val 50000"/>
                    <a:gd name="adj2" fmla="val 50000"/>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37" name="Rectangle 26"/>
                <p:cNvSpPr>
                  <a:spLocks noChangeArrowheads="1"/>
                </p:cNvSpPr>
                <p:nvPr/>
              </p:nvSpPr>
              <p:spPr bwMode="auto">
                <a:xfrm>
                  <a:off x="1152" y="1824"/>
                  <a:ext cx="1008" cy="240"/>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solidFill>
                        <a:schemeClr val="bg1"/>
                      </a:solidFill>
                      <a:latin typeface="微软雅黑 Light" panose="020B0502040204020203" pitchFamily="34" charset="-122"/>
                      <a:ea typeface="微软雅黑 Light" panose="020B0502040204020203" pitchFamily="34" charset="-122"/>
                    </a:rPr>
                    <a:t>HTTP </a:t>
                  </a:r>
                  <a:r>
                    <a:rPr kumimoji="1" lang="zh-CN" altLang="en-US" sz="1400" b="1" dirty="0">
                      <a:solidFill>
                        <a:schemeClr val="bg1"/>
                      </a:solidFill>
                      <a:latin typeface="微软雅黑 Light" panose="020B0502040204020203" pitchFamily="34" charset="-122"/>
                      <a:ea typeface="微软雅黑 Light" panose="020B0502040204020203" pitchFamily="34" charset="-122"/>
                    </a:rPr>
                    <a:t>请求报文</a:t>
                  </a:r>
                </a:p>
              </p:txBody>
            </p:sp>
          </p:grpSp>
          <p:sp>
            <p:nvSpPr>
              <p:cNvPr id="35" name="Text Box 29"/>
              <p:cNvSpPr txBox="1">
                <a:spLocks noChangeArrowheads="1"/>
              </p:cNvSpPr>
              <p:nvPr/>
            </p:nvSpPr>
            <p:spPr bwMode="auto">
              <a:xfrm>
                <a:off x="431" y="2722"/>
                <a:ext cx="939" cy="324"/>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800" b="1" dirty="0">
                    <a:latin typeface="微软雅黑 Light" panose="020B0502040204020203" pitchFamily="34" charset="-122"/>
                    <a:ea typeface="微软雅黑 Light" panose="020B0502040204020203" pitchFamily="34" charset="-122"/>
                    <a:sym typeface="Wingdings" pitchFamily="2" charset="2"/>
                  </a:rPr>
                  <a:t></a:t>
                </a:r>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请求文档</a:t>
                </a:r>
              </a:p>
            </p:txBody>
          </p:sp>
        </p:grpSp>
      </p:grpSp>
      <p:sp>
        <p:nvSpPr>
          <p:cNvPr id="40" name="Text Box 31"/>
          <p:cNvSpPr txBox="1">
            <a:spLocks noChangeArrowheads="1"/>
          </p:cNvSpPr>
          <p:nvPr/>
        </p:nvSpPr>
        <p:spPr bwMode="auto">
          <a:xfrm>
            <a:off x="1039584" y="3445400"/>
            <a:ext cx="1176925" cy="8002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800" b="1" dirty="0">
                <a:solidFill>
                  <a:srgbClr val="0000FF"/>
                </a:solidFill>
                <a:latin typeface="微软雅黑 Light" panose="020B0502040204020203" pitchFamily="34" charset="-122"/>
                <a:ea typeface="微软雅黑 Light" panose="020B0502040204020203" pitchFamily="34" charset="-122"/>
                <a:sym typeface="Wingdings" pitchFamily="2" charset="2"/>
              </a:rPr>
              <a:t> </a:t>
            </a:r>
            <a:r>
              <a:rPr kumimoji="1" lang="zh-CN" altLang="en-US" sz="1400" b="1" dirty="0">
                <a:solidFill>
                  <a:srgbClr val="0000FF"/>
                </a:solidFill>
                <a:latin typeface="微软雅黑 Light" panose="020B0502040204020203" pitchFamily="34" charset="-122"/>
                <a:ea typeface="微软雅黑 Light" panose="020B0502040204020203" pitchFamily="34" charset="-122"/>
              </a:rPr>
              <a:t>此程序在</a:t>
            </a:r>
          </a:p>
          <a:p>
            <a:pPr algn="ctr"/>
            <a:r>
              <a:rPr kumimoji="1" lang="zh-CN" altLang="en-US" sz="1400" b="1" dirty="0">
                <a:solidFill>
                  <a:srgbClr val="CC00FF"/>
                </a:solidFill>
                <a:latin typeface="微软雅黑 Light" panose="020B0502040204020203" pitchFamily="34" charset="-122"/>
                <a:ea typeface="微软雅黑 Light" panose="020B0502040204020203" pitchFamily="34" charset="-122"/>
              </a:rPr>
              <a:t>客户端</a:t>
            </a:r>
            <a:r>
              <a:rPr kumimoji="1" lang="zh-CN" altLang="en-US" sz="1400" b="1" dirty="0">
                <a:solidFill>
                  <a:srgbClr val="0000FF"/>
                </a:solidFill>
                <a:latin typeface="微软雅黑 Light" panose="020B0502040204020203" pitchFamily="34" charset="-122"/>
                <a:ea typeface="微软雅黑 Light" panose="020B0502040204020203" pitchFamily="34" charset="-122"/>
              </a:rPr>
              <a:t>创建</a:t>
            </a:r>
          </a:p>
          <a:p>
            <a:pPr algn="ctr"/>
            <a:r>
              <a:rPr kumimoji="1" lang="zh-CN" altLang="en-US" sz="1400" b="1" dirty="0">
                <a:solidFill>
                  <a:srgbClr val="0000FF"/>
                </a:solidFill>
                <a:latin typeface="微软雅黑 Light" panose="020B0502040204020203" pitchFamily="34" charset="-122"/>
                <a:ea typeface="微软雅黑 Light" panose="020B0502040204020203" pitchFamily="34" charset="-122"/>
              </a:rPr>
              <a:t>出活动文档</a:t>
            </a:r>
          </a:p>
        </p:txBody>
      </p:sp>
      <p:sp>
        <p:nvSpPr>
          <p:cNvPr id="42" name="Line 15"/>
          <p:cNvSpPr>
            <a:spLocks noChangeShapeType="1"/>
          </p:cNvSpPr>
          <p:nvPr/>
        </p:nvSpPr>
        <p:spPr bwMode="auto">
          <a:xfrm>
            <a:off x="2490075" y="2223677"/>
            <a:ext cx="3142249" cy="0"/>
          </a:xfrm>
          <a:prstGeom prst="line">
            <a:avLst/>
          </a:prstGeom>
          <a:noFill/>
          <a:ln w="38100">
            <a:solidFill>
              <a:srgbClr val="CC00CC"/>
            </a:solidFill>
            <a:prstDash val="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31"/>
          <p:cNvSpPr txBox="1">
            <a:spLocks noChangeArrowheads="1"/>
          </p:cNvSpPr>
          <p:nvPr/>
        </p:nvSpPr>
        <p:spPr bwMode="auto">
          <a:xfrm>
            <a:off x="6490906" y="2955417"/>
            <a:ext cx="1439407"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r>
              <a:rPr kumimoji="1" lang="zh-CN" altLang="en-US" sz="1400" b="1" dirty="0">
                <a:solidFill>
                  <a:srgbClr val="0000FF"/>
                </a:solidFill>
                <a:latin typeface="微软雅黑 Light" panose="020B0502040204020203" pitchFamily="34" charset="-122"/>
                <a:ea typeface="微软雅黑 Light" panose="020B0502040204020203" pitchFamily="34" charset="-122"/>
              </a:rPr>
              <a:t>事先</a:t>
            </a:r>
            <a:r>
              <a:rPr kumimoji="1" lang="zh-CN" altLang="en-US" sz="1400" b="1" dirty="0">
                <a:latin typeface="微软雅黑 Light" panose="020B0502040204020203" pitchFamily="34" charset="-122"/>
                <a:ea typeface="微软雅黑 Light" panose="020B0502040204020203" pitchFamily="34" charset="-122"/>
              </a:rPr>
              <a:t>被编译成二进制代码，存放为文件</a:t>
            </a:r>
          </a:p>
        </p:txBody>
      </p:sp>
      <p:sp>
        <p:nvSpPr>
          <p:cNvPr id="10" name="Line 18"/>
          <p:cNvSpPr>
            <a:spLocks noChangeShapeType="1"/>
          </p:cNvSpPr>
          <p:nvPr/>
        </p:nvSpPr>
        <p:spPr bwMode="auto">
          <a:xfrm>
            <a:off x="5845975" y="2187131"/>
            <a:ext cx="1176617" cy="586168"/>
          </a:xfrm>
          <a:prstGeom prst="line">
            <a:avLst/>
          </a:prstGeom>
          <a:noFill/>
          <a:ln w="25400">
            <a:solidFill>
              <a:srgbClr val="FF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Text Box 31"/>
          <p:cNvSpPr txBox="1">
            <a:spLocks noChangeArrowheads="1"/>
          </p:cNvSpPr>
          <p:nvPr/>
        </p:nvSpPr>
        <p:spPr bwMode="auto">
          <a:xfrm>
            <a:off x="6845948" y="1598383"/>
            <a:ext cx="61137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b="1" dirty="0">
                <a:latin typeface="微软雅黑 Light" panose="020B0502040204020203" pitchFamily="34" charset="-122"/>
                <a:ea typeface="微软雅黑 Light" panose="020B0502040204020203" pitchFamily="34" charset="-122"/>
              </a:rPr>
              <a:t>程序</a:t>
            </a:r>
          </a:p>
        </p:txBody>
      </p:sp>
    </p:spTree>
    <p:extLst>
      <p:ext uri="{BB962C8B-B14F-4D97-AF65-F5344CB8AC3E}">
        <p14:creationId xmlns:p14="http://schemas.microsoft.com/office/powerpoint/2010/main" val="29419260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2000"/>
                                        <p:tgtEl>
                                          <p:spTgt spid="29"/>
                                        </p:tgtEl>
                                      </p:cBhvr>
                                    </p:animEffect>
                                  </p:childTnLst>
                                </p:cTn>
                              </p:par>
                            </p:childTnLst>
                          </p:cTn>
                        </p:par>
                        <p:par>
                          <p:cTn id="8" fill="hold">
                            <p:stCondLst>
                              <p:cond delay="2000"/>
                            </p:stCondLst>
                            <p:childTnLst>
                              <p:par>
                                <p:cTn id="9" presetID="22" presetClass="entr" presetSubtype="2" fill="hold" nodeType="afterEffect">
                                  <p:stCondLst>
                                    <p:cond delay="500"/>
                                  </p:stCondLst>
                                  <p:childTnLst>
                                    <p:set>
                                      <p:cBhvr>
                                        <p:cTn id="10" dur="1" fill="hold">
                                          <p:stCondLst>
                                            <p:cond delay="0"/>
                                          </p:stCondLst>
                                        </p:cTn>
                                        <p:tgtEl>
                                          <p:spTgt spid="12"/>
                                        </p:tgtEl>
                                        <p:attrNameLst>
                                          <p:attrName>style.visibility</p:attrName>
                                        </p:attrNameLst>
                                      </p:cBhvr>
                                      <p:to>
                                        <p:strVal val="visible"/>
                                      </p:to>
                                    </p:set>
                                    <p:animEffect transition="in" filter="wipe(right)">
                                      <p:cBhvr>
                                        <p:cTn id="11" dur="2000"/>
                                        <p:tgtEl>
                                          <p:spTgt spid="12"/>
                                        </p:tgtEl>
                                      </p:cBhvr>
                                    </p:animEffect>
                                  </p:childTnLst>
                                </p:cTn>
                              </p:par>
                            </p:childTnLst>
                          </p:cTn>
                        </p:par>
                        <p:par>
                          <p:cTn id="12" fill="hold">
                            <p:stCondLst>
                              <p:cond delay="4500"/>
                            </p:stCondLst>
                            <p:childTnLst>
                              <p:par>
                                <p:cTn id="13" presetID="1" presetClass="entr" presetSubtype="0" fill="hold" grpId="0" nodeType="afterEffect">
                                  <p:stCondLst>
                                    <p:cond delay="250"/>
                                  </p:stCondLst>
                                  <p:childTnLst>
                                    <p:set>
                                      <p:cBhvr>
                                        <p:cTn id="14" dur="1" fill="hold">
                                          <p:stCondLst>
                                            <p:cond delay="0"/>
                                          </p:stCondLst>
                                        </p:cTn>
                                        <p:tgtEl>
                                          <p:spTgt spid="4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p:bldLst>
  </p:timing>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1E16CE6C-0BB5-349E-CE68-5E77297ADCAA}"/>
              </a:ext>
            </a:extLst>
          </p:cNvPr>
          <p:cNvSpPr>
            <a:spLocks noGrp="1"/>
          </p:cNvSpPr>
          <p:nvPr>
            <p:ph type="title"/>
          </p:nvPr>
        </p:nvSpPr>
        <p:spPr>
          <a:xfrm>
            <a:off x="485999" y="174482"/>
            <a:ext cx="8171999" cy="338554"/>
          </a:xfrm>
        </p:spPr>
        <p:txBody>
          <a:bodyPr/>
          <a:lstStyle/>
          <a:p>
            <a:r>
              <a:rPr lang="en-US" altLang="zh-CN" dirty="0"/>
              <a:t>6.4.4  </a:t>
            </a:r>
            <a:r>
              <a:rPr lang="zh-CN" altLang="en-US" dirty="0"/>
              <a:t>万维网的文档 </a:t>
            </a:r>
            <a:r>
              <a:rPr lang="en-US" altLang="zh-CN" dirty="0"/>
              <a:t>- </a:t>
            </a:r>
            <a:r>
              <a:rPr lang="zh-CN" altLang="en-US" dirty="0"/>
              <a:t>活动万维网文档</a:t>
            </a:r>
          </a:p>
        </p:txBody>
      </p:sp>
      <p:sp>
        <p:nvSpPr>
          <p:cNvPr id="6" name="内容占位符 5">
            <a:extLst>
              <a:ext uri="{FF2B5EF4-FFF2-40B4-BE49-F238E27FC236}">
                <a16:creationId xmlns:a16="http://schemas.microsoft.com/office/drawing/2014/main" id="{23E512CC-0CA9-5C3E-9B93-DBE104C6B915}"/>
              </a:ext>
            </a:extLst>
          </p:cNvPr>
          <p:cNvSpPr>
            <a:spLocks noGrp="1"/>
          </p:cNvSpPr>
          <p:nvPr>
            <p:ph sz="quarter" idx="11"/>
          </p:nvPr>
        </p:nvSpPr>
        <p:spPr>
          <a:xfrm>
            <a:off x="486000" y="687518"/>
            <a:ext cx="8172000" cy="4079035"/>
          </a:xfrm>
        </p:spPr>
        <p:txBody>
          <a:bodyPr/>
          <a:lstStyle/>
          <a:p>
            <a:r>
              <a:rPr lang="zh-CN" altLang="en-US" dirty="0"/>
              <a:t>用 </a:t>
            </a:r>
            <a:r>
              <a:rPr lang="en-US" altLang="zh-CN" dirty="0"/>
              <a:t>Java </a:t>
            </a:r>
            <a:r>
              <a:rPr lang="zh-CN" altLang="en-US" dirty="0"/>
              <a:t>语言创建活动文档</a:t>
            </a:r>
            <a:endParaRPr lang="en-US" altLang="zh-CN" dirty="0"/>
          </a:p>
          <a:p>
            <a:pPr lvl="1"/>
            <a:r>
              <a:rPr lang="en-US" altLang="zh-CN" dirty="0"/>
              <a:t>Java </a:t>
            </a:r>
            <a:r>
              <a:rPr lang="zh-CN" altLang="en-US" dirty="0"/>
              <a:t>语言是一项用于创建和运行活动文档的技术</a:t>
            </a:r>
          </a:p>
          <a:p>
            <a:pPr lvl="1"/>
            <a:r>
              <a:rPr lang="zh-CN" altLang="en-US" dirty="0"/>
              <a:t>在 </a:t>
            </a:r>
            <a:r>
              <a:rPr lang="en-US" altLang="zh-CN" dirty="0"/>
              <a:t>Java </a:t>
            </a:r>
            <a:r>
              <a:rPr lang="zh-CN" altLang="en-US" dirty="0"/>
              <a:t>技术中使用小应用程序 </a:t>
            </a:r>
            <a:r>
              <a:rPr lang="en-US" altLang="zh-CN" dirty="0"/>
              <a:t>(applet) </a:t>
            </a:r>
            <a:r>
              <a:rPr lang="zh-CN" altLang="en-US" dirty="0"/>
              <a:t>来描述活动文档程序</a:t>
            </a:r>
          </a:p>
          <a:p>
            <a:pPr lvl="1"/>
            <a:r>
              <a:rPr lang="zh-CN" altLang="en-US" dirty="0"/>
              <a:t>用户从万维网服务器下载嵌入了 </a:t>
            </a:r>
            <a:r>
              <a:rPr lang="en-US" altLang="zh-CN" dirty="0"/>
              <a:t>applet </a:t>
            </a:r>
            <a:r>
              <a:rPr lang="zh-CN" altLang="en-US" dirty="0"/>
              <a:t>的 </a:t>
            </a:r>
            <a:r>
              <a:rPr lang="en-US" altLang="zh-CN" dirty="0"/>
              <a:t>HTML </a:t>
            </a:r>
            <a:r>
              <a:rPr lang="zh-CN" altLang="en-US" dirty="0"/>
              <a:t>文档后，可在浏览器的屏幕上点击某个图像，就可看到动画效果，或在下拉式菜单中点击某个项目，就可看到计算结果</a:t>
            </a:r>
          </a:p>
          <a:p>
            <a:pPr lvl="1"/>
            <a:r>
              <a:rPr lang="en-US" altLang="zh-CN" dirty="0"/>
              <a:t>Java </a:t>
            </a:r>
            <a:r>
              <a:rPr lang="zh-CN" altLang="en-US" dirty="0"/>
              <a:t>技术是活动文档技术的一部分</a:t>
            </a:r>
          </a:p>
          <a:p>
            <a:endParaRPr lang="zh-CN" altLang="en-US" dirty="0"/>
          </a:p>
          <a:p>
            <a:endParaRPr lang="zh-CN" altLang="en-US" dirty="0"/>
          </a:p>
        </p:txBody>
      </p:sp>
    </p:spTree>
    <p:extLst>
      <p:ext uri="{BB962C8B-B14F-4D97-AF65-F5344CB8AC3E}">
        <p14:creationId xmlns:p14="http://schemas.microsoft.com/office/powerpoint/2010/main" val="25613518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2B7D146-31B3-FE7B-96A0-67819FFBF6E5}"/>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a:t>
            </a:r>
          </a:p>
        </p:txBody>
      </p:sp>
      <p:sp>
        <p:nvSpPr>
          <p:cNvPr id="3" name="内容占位符 2">
            <a:extLst>
              <a:ext uri="{FF2B5EF4-FFF2-40B4-BE49-F238E27FC236}">
                <a16:creationId xmlns:a16="http://schemas.microsoft.com/office/drawing/2014/main" id="{63A35A5C-8E24-C07C-FA2E-757A7E1F38D5}"/>
              </a:ext>
            </a:extLst>
          </p:cNvPr>
          <p:cNvSpPr>
            <a:spLocks noGrp="1"/>
          </p:cNvSpPr>
          <p:nvPr>
            <p:ph sz="quarter" idx="11"/>
          </p:nvPr>
        </p:nvSpPr>
        <p:spPr>
          <a:xfrm>
            <a:off x="486000" y="687518"/>
            <a:ext cx="8172000" cy="4079035"/>
          </a:xfrm>
        </p:spPr>
        <p:txBody>
          <a:bodyPr/>
          <a:lstStyle/>
          <a:p>
            <a:r>
              <a:rPr lang="zh-CN" altLang="en-US" dirty="0"/>
              <a:t>使用户能够很方便地找到所需的信息</a:t>
            </a:r>
            <a:endParaRPr lang="en-US" altLang="zh-CN" dirty="0"/>
          </a:p>
          <a:p>
            <a:r>
              <a:rPr lang="zh-CN" altLang="en-US" dirty="0"/>
              <a:t>在万维网中用来进行搜索的程序叫做搜索引擎 </a:t>
            </a:r>
            <a:r>
              <a:rPr lang="en-US" altLang="zh-CN" dirty="0"/>
              <a:t>(search engine)</a:t>
            </a:r>
            <a:endParaRPr lang="zh-CN" altLang="en-US" dirty="0"/>
          </a:p>
          <a:p>
            <a:endParaRPr lang="zh-CN" altLang="en-US" dirty="0"/>
          </a:p>
        </p:txBody>
      </p:sp>
    </p:spTree>
    <p:extLst>
      <p:ext uri="{BB962C8B-B14F-4D97-AF65-F5344CB8AC3E}">
        <p14:creationId xmlns:p14="http://schemas.microsoft.com/office/powerpoint/2010/main" val="228514630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652910924"/>
              </p:ext>
            </p:extLst>
          </p:nvPr>
        </p:nvGraphicFramePr>
        <p:xfrm>
          <a:off x="485775" y="1015066"/>
          <a:ext cx="8172450" cy="357757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AF4A2823-8284-5396-62EB-439343F26EB6}"/>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B94BBD20-2C24-F92A-9C9E-0C09B80601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502240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6"/>
          <p:cNvSpPr txBox="1"/>
          <p:nvPr/>
        </p:nvSpPr>
        <p:spPr>
          <a:xfrm>
            <a:off x="3491880" y="3734537"/>
            <a:ext cx="1726755"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(b)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分类检索举例</a:t>
            </a:r>
          </a:p>
        </p:txBody>
      </p:sp>
      <p:grpSp>
        <p:nvGrpSpPr>
          <p:cNvPr id="12" name="组合 11"/>
          <p:cNvGrpSpPr/>
          <p:nvPr/>
        </p:nvGrpSpPr>
        <p:grpSpPr>
          <a:xfrm>
            <a:off x="1296140" y="2610313"/>
            <a:ext cx="6676008" cy="886063"/>
            <a:chOff x="107503" y="2060848"/>
            <a:chExt cx="8856985" cy="1399389"/>
          </a:xfrm>
        </p:grpSpPr>
        <p:pic>
          <p:nvPicPr>
            <p:cNvPr id="6" name="图片 5" descr="sina-1.jpg"/>
            <p:cNvPicPr>
              <a:picLocks noChangeAspect="1"/>
            </p:cNvPicPr>
            <p:nvPr/>
          </p:nvPicPr>
          <p:blipFill>
            <a:blip r:embed="rId2" cstate="print"/>
            <a:stretch>
              <a:fillRect/>
            </a:stretch>
          </p:blipFill>
          <p:spPr>
            <a:xfrm>
              <a:off x="107503" y="2079309"/>
              <a:ext cx="8856985" cy="1380928"/>
            </a:xfrm>
            <a:prstGeom prst="rect">
              <a:avLst/>
            </a:prstGeom>
          </p:spPr>
        </p:pic>
        <p:sp>
          <p:nvSpPr>
            <p:cNvPr id="9" name="矩形 8"/>
            <p:cNvSpPr/>
            <p:nvPr/>
          </p:nvSpPr>
          <p:spPr>
            <a:xfrm>
              <a:off x="107504" y="2060848"/>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grpSp>
        <p:nvGrpSpPr>
          <p:cNvPr id="11" name="组合 10"/>
          <p:cNvGrpSpPr/>
          <p:nvPr/>
        </p:nvGrpSpPr>
        <p:grpSpPr>
          <a:xfrm>
            <a:off x="1296140" y="861134"/>
            <a:ext cx="6668990" cy="1269550"/>
            <a:chOff x="107504" y="116632"/>
            <a:chExt cx="8850229" cy="1501140"/>
          </a:xfrm>
        </p:grpSpPr>
        <p:pic>
          <p:nvPicPr>
            <p:cNvPr id="5" name="图片 4" descr="google.jpg"/>
            <p:cNvPicPr>
              <a:picLocks noChangeAspect="1"/>
            </p:cNvPicPr>
            <p:nvPr/>
          </p:nvPicPr>
          <p:blipFill>
            <a:blip r:embed="rId3" cstate="print"/>
            <a:stretch>
              <a:fillRect/>
            </a:stretch>
          </p:blipFill>
          <p:spPr>
            <a:xfrm>
              <a:off x="1979712" y="116632"/>
              <a:ext cx="4861560" cy="1501140"/>
            </a:xfrm>
            <a:prstGeom prst="rect">
              <a:avLst/>
            </a:prstGeom>
          </p:spPr>
        </p:pic>
        <p:sp>
          <p:nvSpPr>
            <p:cNvPr id="10" name="矩形 9"/>
            <p:cNvSpPr/>
            <p:nvPr/>
          </p:nvSpPr>
          <p:spPr>
            <a:xfrm>
              <a:off x="107504" y="180173"/>
              <a:ext cx="8850229" cy="1376619"/>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
        <p:nvSpPr>
          <p:cNvPr id="13" name="TextBox 5"/>
          <p:cNvSpPr txBox="1"/>
          <p:nvPr/>
        </p:nvSpPr>
        <p:spPr>
          <a:xfrm>
            <a:off x="3491880" y="2061872"/>
            <a:ext cx="1755609" cy="338554"/>
          </a:xfrm>
          <a:prstGeom prst="rect">
            <a:avLst/>
          </a:prstGeom>
          <a:noFill/>
        </p:spPr>
        <p:txBody>
          <a:bodyPr wrap="none" rtlCol="0">
            <a:spAutoFit/>
          </a:bodyPr>
          <a:lstStyle/>
          <a:p>
            <a:r>
              <a:rPr lang="en-US" altLang="zh-CN" sz="1600" b="1" dirty="0">
                <a:latin typeface="微软雅黑 Light" panose="020B0502040204020203" pitchFamily="34" charset="-122"/>
                <a:ea typeface="微软雅黑 Light" panose="020B0502040204020203" pitchFamily="34" charset="-122"/>
                <a:cs typeface="Times New Roman" pitchFamily="18" charset="0"/>
              </a:rPr>
              <a:t>(a) </a:t>
            </a:r>
            <a:r>
              <a:rPr lang="zh-CN" altLang="en-US" sz="1600" b="1" dirty="0">
                <a:latin typeface="微软雅黑 Light" panose="020B0502040204020203" pitchFamily="34" charset="-122"/>
                <a:ea typeface="微软雅黑 Light" panose="020B0502040204020203" pitchFamily="34" charset="-122"/>
                <a:cs typeface="Times New Roman" pitchFamily="18" charset="0"/>
              </a:rPr>
              <a:t>全文检索举例</a:t>
            </a:r>
          </a:p>
        </p:txBody>
      </p:sp>
      <p:sp>
        <p:nvSpPr>
          <p:cNvPr id="2" name="标题 1">
            <a:extLst>
              <a:ext uri="{FF2B5EF4-FFF2-40B4-BE49-F238E27FC236}">
                <a16:creationId xmlns:a16="http://schemas.microsoft.com/office/drawing/2014/main" id="{EDB14A9C-1BBC-DE4F-EA9C-65D4090BF7A4}"/>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7" name="内容占位符 6">
            <a:extLst>
              <a:ext uri="{FF2B5EF4-FFF2-40B4-BE49-F238E27FC236}">
                <a16:creationId xmlns:a16="http://schemas.microsoft.com/office/drawing/2014/main" id="{E0B42A52-ABE1-B35F-83D3-431D43E85A6A}"/>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288902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123F727-80A4-14A6-98CB-AE7D24F65DF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搜索引擎</a:t>
            </a:r>
          </a:p>
        </p:txBody>
      </p:sp>
      <p:sp>
        <p:nvSpPr>
          <p:cNvPr id="6" name="内容占位符 5">
            <a:extLst>
              <a:ext uri="{FF2B5EF4-FFF2-40B4-BE49-F238E27FC236}">
                <a16:creationId xmlns:a16="http://schemas.microsoft.com/office/drawing/2014/main" id="{E81A46EA-8C5D-224B-D2EA-779AA868BFFF}"/>
              </a:ext>
            </a:extLst>
          </p:cNvPr>
          <p:cNvSpPr>
            <a:spLocks noGrp="1"/>
          </p:cNvSpPr>
          <p:nvPr>
            <p:ph sz="quarter" idx="11"/>
          </p:nvPr>
        </p:nvSpPr>
        <p:spPr>
          <a:xfrm>
            <a:off x="486000" y="687518"/>
            <a:ext cx="8172000" cy="4079035"/>
          </a:xfrm>
        </p:spPr>
        <p:txBody>
          <a:bodyPr/>
          <a:lstStyle/>
          <a:p>
            <a:r>
              <a:rPr lang="zh-CN" altLang="en-US" dirty="0"/>
              <a:t>全文检索搜索引擎</a:t>
            </a:r>
          </a:p>
          <a:p>
            <a:pPr lvl="1"/>
            <a:r>
              <a:rPr lang="zh-CN" altLang="en-US" dirty="0"/>
              <a:t>必应 </a:t>
            </a:r>
            <a:r>
              <a:rPr lang="en-US" altLang="zh-CN" dirty="0">
                <a:hlinkClick r:id="rId2"/>
              </a:rPr>
              <a:t>www.cn.bing.com</a:t>
            </a:r>
            <a:r>
              <a:rPr lang="en-US" altLang="zh-CN" dirty="0"/>
              <a:t> </a:t>
            </a:r>
          </a:p>
          <a:p>
            <a:pPr lvl="1"/>
            <a:r>
              <a:rPr lang="zh-CN" altLang="en-US" dirty="0"/>
              <a:t>百度 </a:t>
            </a:r>
            <a:r>
              <a:rPr lang="en-US" altLang="zh-CN" dirty="0">
                <a:hlinkClick r:id="rId3"/>
              </a:rPr>
              <a:t>www.baidu.com</a:t>
            </a:r>
            <a:r>
              <a:rPr lang="en-US" altLang="zh-CN" dirty="0"/>
              <a:t> </a:t>
            </a:r>
          </a:p>
          <a:p>
            <a:pPr lvl="1"/>
            <a:r>
              <a:rPr lang="zh-CN" altLang="en-US" dirty="0"/>
              <a:t>谷歌 </a:t>
            </a:r>
            <a:r>
              <a:rPr lang="en-US" altLang="zh-CN" dirty="0">
                <a:hlinkClick r:id="rId4"/>
              </a:rPr>
              <a:t>www.google.com</a:t>
            </a:r>
            <a:r>
              <a:rPr lang="en-US" altLang="zh-CN" dirty="0"/>
              <a:t> - </a:t>
            </a:r>
            <a:r>
              <a:rPr lang="zh-CN" altLang="en-US" dirty="0"/>
              <a:t>不可用</a:t>
            </a:r>
            <a:endParaRPr lang="en-US" altLang="zh-CN" dirty="0"/>
          </a:p>
          <a:p>
            <a:r>
              <a:rPr lang="zh-CN" altLang="en-US" dirty="0"/>
              <a:t>分类目录搜索引擎 </a:t>
            </a:r>
            <a:r>
              <a:rPr lang="en-US" altLang="zh-CN" dirty="0"/>
              <a:t>- </a:t>
            </a:r>
            <a:r>
              <a:rPr lang="zh-CN" altLang="en-US" dirty="0"/>
              <a:t>被淘汰</a:t>
            </a:r>
          </a:p>
          <a:p>
            <a:pPr lvl="1"/>
            <a:r>
              <a:rPr lang="zh-CN" altLang="en-US" dirty="0"/>
              <a:t>雅虎 </a:t>
            </a:r>
            <a:r>
              <a:rPr lang="en-US" altLang="zh-CN" dirty="0">
                <a:hlinkClick r:id="rId5"/>
              </a:rPr>
              <a:t>www.yahoo.com</a:t>
            </a:r>
            <a:r>
              <a:rPr lang="en-US" altLang="zh-CN" dirty="0"/>
              <a:t> - </a:t>
            </a:r>
            <a:r>
              <a:rPr lang="zh-CN" altLang="en-US" dirty="0"/>
              <a:t>不可用</a:t>
            </a:r>
            <a:endParaRPr lang="en-US" altLang="zh-CN" dirty="0"/>
          </a:p>
          <a:p>
            <a:pPr lvl="1"/>
            <a:r>
              <a:rPr lang="zh-CN" altLang="en-US" dirty="0"/>
              <a:t>雅虎中国 </a:t>
            </a:r>
            <a:r>
              <a:rPr lang="en-US" altLang="zh-CN" dirty="0">
                <a:hlinkClick r:id="rId6"/>
              </a:rPr>
              <a:t>www.cn.yahoo.com</a:t>
            </a:r>
            <a:r>
              <a:rPr lang="en-US" altLang="zh-CN" dirty="0"/>
              <a:t> - </a:t>
            </a:r>
            <a:r>
              <a:rPr lang="zh-CN" altLang="en-US" dirty="0"/>
              <a:t>不可用</a:t>
            </a:r>
            <a:endParaRPr lang="en-US" altLang="zh-CN" dirty="0"/>
          </a:p>
          <a:p>
            <a:pPr lvl="1"/>
            <a:r>
              <a:rPr lang="zh-CN" altLang="en-US" dirty="0"/>
              <a:t>新浪 </a:t>
            </a:r>
            <a:r>
              <a:rPr lang="en-US" altLang="zh-CN" dirty="0">
                <a:hlinkClick r:id="rId7"/>
              </a:rPr>
              <a:t>www.sina.com</a:t>
            </a:r>
            <a:r>
              <a:rPr lang="en-US" altLang="zh-CN" dirty="0"/>
              <a:t> – </a:t>
            </a:r>
            <a:r>
              <a:rPr lang="zh-CN" altLang="en-US" dirty="0"/>
              <a:t>转型</a:t>
            </a:r>
            <a:endParaRPr lang="en-US" altLang="zh-CN" dirty="0"/>
          </a:p>
          <a:p>
            <a:pPr lvl="1"/>
            <a:r>
              <a:rPr lang="zh-CN" altLang="en-US" dirty="0"/>
              <a:t>搜狐 </a:t>
            </a:r>
            <a:r>
              <a:rPr lang="en-US" altLang="zh-CN" dirty="0">
                <a:hlinkClick r:id="rId8"/>
              </a:rPr>
              <a:t>www.sohu.com</a:t>
            </a:r>
            <a:r>
              <a:rPr lang="en-US" altLang="zh-CN" dirty="0"/>
              <a:t> – </a:t>
            </a:r>
            <a:r>
              <a:rPr lang="zh-CN" altLang="en-US" dirty="0"/>
              <a:t>转型</a:t>
            </a:r>
            <a:endParaRPr lang="en-US" altLang="zh-CN" dirty="0"/>
          </a:p>
          <a:p>
            <a:pPr lvl="1"/>
            <a:r>
              <a:rPr lang="zh-CN" altLang="en-US" dirty="0"/>
              <a:t>网易 </a:t>
            </a:r>
            <a:r>
              <a:rPr lang="en-US" altLang="zh-CN" dirty="0">
                <a:hlinkClick r:id="rId9"/>
              </a:rPr>
              <a:t>www.163.com</a:t>
            </a:r>
            <a:r>
              <a:rPr lang="en-US" altLang="zh-CN" dirty="0"/>
              <a:t> – </a:t>
            </a:r>
            <a:r>
              <a:rPr lang="zh-CN" altLang="en-US" dirty="0"/>
              <a:t>转型</a:t>
            </a:r>
            <a:endParaRPr lang="en-US" altLang="zh-CN" dirty="0"/>
          </a:p>
          <a:p>
            <a:endParaRPr lang="zh-CN" altLang="en-US" dirty="0"/>
          </a:p>
        </p:txBody>
      </p:sp>
    </p:spTree>
    <p:extLst>
      <p:ext uri="{BB962C8B-B14F-4D97-AF65-F5344CB8AC3E}">
        <p14:creationId xmlns:p14="http://schemas.microsoft.com/office/powerpoint/2010/main" val="32549018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7B8CC42-14CE-3F2B-C36E-44C222D02BDE}"/>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垂直搜索引擎</a:t>
            </a:r>
          </a:p>
        </p:txBody>
      </p:sp>
      <p:sp>
        <p:nvSpPr>
          <p:cNvPr id="8" name="内容占位符 7">
            <a:extLst>
              <a:ext uri="{FF2B5EF4-FFF2-40B4-BE49-F238E27FC236}">
                <a16:creationId xmlns:a16="http://schemas.microsoft.com/office/drawing/2014/main" id="{9DE05CC5-8E25-2DD4-2204-0BCA56C53923}"/>
              </a:ext>
            </a:extLst>
          </p:cNvPr>
          <p:cNvSpPr>
            <a:spLocks noGrp="1"/>
          </p:cNvSpPr>
          <p:nvPr>
            <p:ph sz="quarter" idx="11"/>
          </p:nvPr>
        </p:nvSpPr>
        <p:spPr>
          <a:xfrm>
            <a:off x="486000" y="687518"/>
            <a:ext cx="8172000" cy="4079035"/>
          </a:xfrm>
        </p:spPr>
        <p:txBody>
          <a:bodyPr/>
          <a:lstStyle/>
          <a:p>
            <a:r>
              <a:rPr lang="zh-CN" altLang="en-US" dirty="0"/>
              <a:t>垂直搜索引擎 </a:t>
            </a:r>
            <a:r>
              <a:rPr lang="en-US" altLang="zh-CN" dirty="0"/>
              <a:t>(Vertical Search Engine) </a:t>
            </a:r>
            <a:r>
              <a:rPr lang="zh-CN" altLang="en-US" dirty="0"/>
              <a:t>：</a:t>
            </a:r>
            <a:endParaRPr lang="en-US" altLang="zh-CN" dirty="0"/>
          </a:p>
          <a:p>
            <a:pPr lvl="1"/>
            <a:r>
              <a:rPr lang="zh-CN" altLang="en-US" dirty="0"/>
              <a:t>针对某一特定领域、特定人群或某一特定需求提供搜索服务</a:t>
            </a:r>
          </a:p>
          <a:p>
            <a:pPr lvl="1"/>
            <a:r>
              <a:rPr lang="zh-CN" altLang="en-US" dirty="0"/>
              <a:t>也是提供关键字来进行搜索，但被放到一个行业知识的上下文中，返回的结果更倾向于信息、消息、条目等</a:t>
            </a:r>
            <a:endParaRPr lang="en-US" altLang="zh-CN" dirty="0"/>
          </a:p>
          <a:p>
            <a:pPr lvl="1"/>
            <a:r>
              <a:rPr lang="zh-CN" altLang="en-US" dirty="0"/>
              <a:t>目前热门的垂直搜索行业有：购物、旅游、汽车、求职、房产、交友等</a:t>
            </a:r>
          </a:p>
          <a:p>
            <a:endParaRPr lang="zh-CN" altLang="en-US" dirty="0"/>
          </a:p>
        </p:txBody>
      </p:sp>
    </p:spTree>
    <p:extLst>
      <p:ext uri="{BB962C8B-B14F-4D97-AF65-F5344CB8AC3E}">
        <p14:creationId xmlns:p14="http://schemas.microsoft.com/office/powerpoint/2010/main" val="10650305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47EFB5DE-8008-FE08-67F8-B2704A219607}"/>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a:t>
            </a:r>
            <a:r>
              <a:rPr lang="zh-CN" altLang="en-US" dirty="0"/>
              <a:t>元搜索引擎</a:t>
            </a:r>
          </a:p>
        </p:txBody>
      </p:sp>
      <p:sp>
        <p:nvSpPr>
          <p:cNvPr id="6" name="内容占位符 5">
            <a:extLst>
              <a:ext uri="{FF2B5EF4-FFF2-40B4-BE49-F238E27FC236}">
                <a16:creationId xmlns:a16="http://schemas.microsoft.com/office/drawing/2014/main" id="{AD536EB4-E8F7-390F-F15B-BB3F358DEE51}"/>
              </a:ext>
            </a:extLst>
          </p:cNvPr>
          <p:cNvSpPr>
            <a:spLocks noGrp="1"/>
          </p:cNvSpPr>
          <p:nvPr>
            <p:ph sz="quarter" idx="11"/>
          </p:nvPr>
        </p:nvSpPr>
        <p:spPr>
          <a:xfrm>
            <a:off x="486000" y="687518"/>
            <a:ext cx="8172000" cy="4079035"/>
          </a:xfrm>
        </p:spPr>
        <p:txBody>
          <a:bodyPr/>
          <a:lstStyle/>
          <a:p>
            <a:r>
              <a:rPr lang="zh-CN" altLang="en-US" dirty="0"/>
              <a:t>元搜索引擎 </a:t>
            </a:r>
            <a:r>
              <a:rPr lang="en-US" altLang="zh-CN" dirty="0"/>
              <a:t>(Meta Search Engine) </a:t>
            </a:r>
            <a:r>
              <a:rPr lang="zh-CN" altLang="en-US" dirty="0"/>
              <a:t>：</a:t>
            </a:r>
            <a:endParaRPr lang="en-US" altLang="zh-CN" dirty="0"/>
          </a:p>
          <a:p>
            <a:pPr lvl="1"/>
            <a:r>
              <a:rPr lang="zh-CN" altLang="en-US" dirty="0"/>
              <a:t>把用户提交的检索请求发送到多个独立的搜索引擎上去搜索，并把检索结果集中统一处理，以统一的格式提供给用户，因此是搜索引擎之上的搜索引擎</a:t>
            </a:r>
            <a:endParaRPr lang="en-US" altLang="zh-CN" dirty="0"/>
          </a:p>
          <a:p>
            <a:pPr lvl="1"/>
            <a:r>
              <a:rPr lang="zh-CN" altLang="en-US" dirty="0"/>
              <a:t>主要精力放在提高搜索速度、智能化处理搜索结果、个性化搜索功能的设置和用户检索界面的友好性上</a:t>
            </a:r>
            <a:endParaRPr lang="en-US" altLang="zh-CN" dirty="0"/>
          </a:p>
          <a:p>
            <a:pPr lvl="1"/>
            <a:r>
              <a:rPr lang="zh-CN" altLang="en-US" dirty="0"/>
              <a:t>其查全率和查准率都比较高</a:t>
            </a:r>
          </a:p>
          <a:p>
            <a:endParaRPr lang="zh-CN" altLang="en-US" dirty="0"/>
          </a:p>
        </p:txBody>
      </p:sp>
    </p:spTree>
    <p:extLst>
      <p:ext uri="{BB962C8B-B14F-4D97-AF65-F5344CB8AC3E}">
        <p14:creationId xmlns:p14="http://schemas.microsoft.com/office/powerpoint/2010/main" val="18209685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12F4BC4-DFAF-315E-6730-F9B00EABE90A}"/>
              </a:ext>
            </a:extLst>
          </p:cNvPr>
          <p:cNvSpPr>
            <a:spLocks noGrp="1"/>
          </p:cNvSpPr>
          <p:nvPr>
            <p:ph type="title"/>
          </p:nvPr>
        </p:nvSpPr>
        <p:spPr>
          <a:xfrm>
            <a:off x="485999" y="174482"/>
            <a:ext cx="8171999" cy="338554"/>
          </a:xfrm>
        </p:spPr>
        <p:txBody>
          <a:bodyPr/>
          <a:lstStyle/>
          <a:p>
            <a:r>
              <a:rPr lang="en-US" altLang="zh-CN" dirty="0"/>
              <a:t>6.4.5  </a:t>
            </a:r>
            <a:r>
              <a:rPr lang="zh-CN" altLang="en-US" dirty="0"/>
              <a:t>万维网的信息检索系统 </a:t>
            </a:r>
            <a:r>
              <a:rPr lang="en-US" altLang="zh-CN" dirty="0"/>
              <a:t>- Google </a:t>
            </a:r>
            <a:r>
              <a:rPr lang="zh-CN" altLang="en-US" dirty="0"/>
              <a:t>搜索技术的特点</a:t>
            </a:r>
          </a:p>
        </p:txBody>
      </p:sp>
      <p:sp>
        <p:nvSpPr>
          <p:cNvPr id="5" name="内容占位符 4">
            <a:extLst>
              <a:ext uri="{FF2B5EF4-FFF2-40B4-BE49-F238E27FC236}">
                <a16:creationId xmlns:a16="http://schemas.microsoft.com/office/drawing/2014/main" id="{65EEC8E3-06E5-E815-8470-801E4828BA1A}"/>
              </a:ext>
            </a:extLst>
          </p:cNvPr>
          <p:cNvSpPr>
            <a:spLocks noGrp="1"/>
          </p:cNvSpPr>
          <p:nvPr>
            <p:ph sz="quarter" idx="11"/>
          </p:nvPr>
        </p:nvSpPr>
        <p:spPr>
          <a:xfrm>
            <a:off x="486000" y="687518"/>
            <a:ext cx="8172000" cy="4079035"/>
          </a:xfrm>
        </p:spPr>
        <p:txBody>
          <a:bodyPr/>
          <a:lstStyle/>
          <a:p>
            <a:r>
              <a:rPr lang="zh-CN" altLang="en-US" dirty="0"/>
              <a:t>核心技术：网页排名（</a:t>
            </a:r>
            <a:r>
              <a:rPr lang="en-US" altLang="zh-CN" dirty="0"/>
              <a:t>PageRank</a:t>
            </a:r>
            <a:r>
              <a:rPr lang="zh-CN" altLang="en-US" dirty="0"/>
              <a:t>）</a:t>
            </a:r>
            <a:endParaRPr lang="en-US" altLang="zh-CN" dirty="0"/>
          </a:p>
          <a:p>
            <a:pPr lvl="1"/>
            <a:r>
              <a:rPr lang="zh-CN" altLang="en-US" dirty="0"/>
              <a:t>对搜索结果按重要性排序</a:t>
            </a:r>
            <a:endParaRPr lang="en-US" altLang="zh-CN" dirty="0"/>
          </a:p>
          <a:p>
            <a:pPr lvl="1"/>
            <a:r>
              <a:rPr lang="zh-CN" altLang="en-US" dirty="0"/>
              <a:t>对链接的数目进行加权统计。来自重要网站的链接，其权重较大</a:t>
            </a:r>
            <a:endParaRPr lang="en-US" altLang="zh-CN" dirty="0"/>
          </a:p>
          <a:p>
            <a:pPr lvl="1"/>
            <a:r>
              <a:rPr lang="zh-CN" altLang="en-US" dirty="0"/>
              <a:t>进行超文本匹配分析，确定哪些网页与正在执行的特定搜索相关</a:t>
            </a:r>
            <a:endParaRPr lang="en-US" altLang="zh-CN" dirty="0"/>
          </a:p>
          <a:p>
            <a:pPr lvl="1"/>
            <a:r>
              <a:rPr lang="zh-CN" altLang="en-US" dirty="0"/>
              <a:t>在综合考虑整体重要性以及与特定查询的相关性之后，</a:t>
            </a:r>
            <a:r>
              <a:rPr lang="en-US" altLang="zh-CN" dirty="0"/>
              <a:t>Google  </a:t>
            </a:r>
            <a:r>
              <a:rPr lang="zh-CN" altLang="en-US" dirty="0"/>
              <a:t>就把最相关、最可靠的搜索结果放在首位</a:t>
            </a:r>
          </a:p>
          <a:p>
            <a:endParaRPr lang="zh-CN" altLang="en-US" dirty="0"/>
          </a:p>
        </p:txBody>
      </p:sp>
    </p:spTree>
    <p:extLst>
      <p:ext uri="{BB962C8B-B14F-4D97-AF65-F5344CB8AC3E}">
        <p14:creationId xmlns:p14="http://schemas.microsoft.com/office/powerpoint/2010/main" val="38698286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3031574077"/>
              </p:ext>
            </p:extLst>
          </p:nvPr>
        </p:nvGraphicFramePr>
        <p:xfrm>
          <a:off x="486000" y="1163781"/>
          <a:ext cx="8172000" cy="311525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216770B2-A3F4-AD58-9296-0ADDD3221072}"/>
              </a:ext>
            </a:extLst>
          </p:cNvPr>
          <p:cNvSpPr>
            <a:spLocks noGrp="1"/>
          </p:cNvSpPr>
          <p:nvPr>
            <p:ph type="title"/>
          </p:nvPr>
        </p:nvSpPr>
        <p:spPr>
          <a:xfrm>
            <a:off x="485999" y="174482"/>
            <a:ext cx="8171999" cy="338554"/>
          </a:xfrm>
        </p:spPr>
        <p:txBody>
          <a:bodyPr/>
          <a:lstStyle/>
          <a:p>
            <a:r>
              <a:rPr lang="en-US" altLang="zh-CN" dirty="0"/>
              <a:t>6.4.6  </a:t>
            </a:r>
            <a:r>
              <a:rPr lang="zh-CN" altLang="en-US" dirty="0"/>
              <a:t>博客和微博</a:t>
            </a:r>
          </a:p>
        </p:txBody>
      </p:sp>
      <p:sp>
        <p:nvSpPr>
          <p:cNvPr id="6" name="内容占位符 5">
            <a:extLst>
              <a:ext uri="{FF2B5EF4-FFF2-40B4-BE49-F238E27FC236}">
                <a16:creationId xmlns:a16="http://schemas.microsoft.com/office/drawing/2014/main" id="{E04930E9-86D7-68D5-6AA6-A3711960AE5E}"/>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7668944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A5C6C6-5048-BBF2-06C9-CEFEA1057C08}"/>
              </a:ext>
            </a:extLst>
          </p:cNvPr>
          <p:cNvSpPr>
            <a:spLocks noGrp="1"/>
          </p:cNvSpPr>
          <p:nvPr>
            <p:ph type="title"/>
          </p:nvPr>
        </p:nvSpPr>
        <p:spPr>
          <a:xfrm>
            <a:off x="485999" y="174482"/>
            <a:ext cx="8171999" cy="338554"/>
          </a:xfrm>
        </p:spPr>
        <p:txBody>
          <a:bodyPr/>
          <a:lstStyle/>
          <a:p>
            <a:r>
              <a:rPr lang="en-US" altLang="zh-CN" dirty="0"/>
              <a:t>6.4.7  </a:t>
            </a:r>
            <a:r>
              <a:rPr lang="zh-CN" altLang="en-US" dirty="0"/>
              <a:t>社交网站</a:t>
            </a:r>
          </a:p>
        </p:txBody>
      </p:sp>
      <p:sp>
        <p:nvSpPr>
          <p:cNvPr id="4" name="内容占位符 3">
            <a:extLst>
              <a:ext uri="{FF2B5EF4-FFF2-40B4-BE49-F238E27FC236}">
                <a16:creationId xmlns:a16="http://schemas.microsoft.com/office/drawing/2014/main" id="{B84C7620-F39D-785E-C0A8-8A31203396FA}"/>
              </a:ext>
            </a:extLst>
          </p:cNvPr>
          <p:cNvSpPr>
            <a:spLocks noGrp="1"/>
          </p:cNvSpPr>
          <p:nvPr>
            <p:ph sz="quarter" idx="11"/>
          </p:nvPr>
        </p:nvSpPr>
        <p:spPr>
          <a:xfrm>
            <a:off x="486000" y="687518"/>
            <a:ext cx="8172000" cy="4079035"/>
          </a:xfrm>
        </p:spPr>
        <p:txBody>
          <a:bodyPr/>
          <a:lstStyle/>
          <a:p>
            <a:r>
              <a:rPr lang="zh-CN" altLang="en-US" dirty="0"/>
              <a:t>社交网站 </a:t>
            </a:r>
            <a:r>
              <a:rPr lang="en-US" altLang="zh-CN" dirty="0"/>
              <a:t>SNS - Social Networking Site</a:t>
            </a:r>
          </a:p>
          <a:p>
            <a:r>
              <a:rPr lang="zh-CN" altLang="en-US" dirty="0"/>
              <a:t>为一群拥有相同兴趣与活动的人创建在线社区</a:t>
            </a:r>
            <a:endParaRPr lang="en-US" altLang="zh-CN" dirty="0"/>
          </a:p>
          <a:p>
            <a:r>
              <a:rPr lang="zh-CN" altLang="en-US" dirty="0"/>
              <a:t>功能丰富：如电子邮件、即时传信（在线聊天）、博客撰写、共享相册、上传视频、网页游戏、创建社团、刊登广告等</a:t>
            </a:r>
            <a:endParaRPr lang="en-US" altLang="zh-CN" dirty="0"/>
          </a:p>
          <a:p>
            <a:r>
              <a:rPr lang="zh-CN" altLang="en-US" dirty="0"/>
              <a:t>热门：</a:t>
            </a:r>
            <a:endParaRPr lang="en-US" altLang="zh-CN" dirty="0"/>
          </a:p>
          <a:p>
            <a:pPr lvl="1"/>
            <a:r>
              <a:rPr lang="zh-CN" altLang="en-US" dirty="0"/>
              <a:t>微信 </a:t>
            </a:r>
            <a:r>
              <a:rPr lang="en-US" altLang="zh-CN" dirty="0"/>
              <a:t>weixin.qq.com</a:t>
            </a:r>
          </a:p>
          <a:p>
            <a:pPr lvl="1"/>
            <a:r>
              <a:rPr lang="zh-CN" altLang="en-US" dirty="0"/>
              <a:t>抖音</a:t>
            </a:r>
          </a:p>
          <a:p>
            <a:pPr lvl="1"/>
            <a:r>
              <a:rPr lang="en-US" altLang="zh-CN" dirty="0"/>
              <a:t>facebook.com – </a:t>
            </a:r>
            <a:r>
              <a:rPr lang="zh-CN" altLang="en-US" dirty="0"/>
              <a:t>不可用</a:t>
            </a:r>
            <a:endParaRPr lang="en-US" altLang="zh-CN" dirty="0"/>
          </a:p>
          <a:p>
            <a:pPr lvl="1"/>
            <a:r>
              <a:rPr lang="en-US" altLang="zh-CN" dirty="0"/>
              <a:t>youTube.com – </a:t>
            </a:r>
            <a:r>
              <a:rPr lang="zh-CN" altLang="en-US" dirty="0"/>
              <a:t>不可用</a:t>
            </a:r>
            <a:endParaRPr lang="en-US" altLang="zh-CN" dirty="0"/>
          </a:p>
          <a:p>
            <a:pPr lvl="1"/>
            <a:r>
              <a:rPr lang="en-US" altLang="zh-CN" dirty="0"/>
              <a:t>twitter.com – </a:t>
            </a:r>
            <a:r>
              <a:rPr lang="zh-CN" altLang="en-US" dirty="0"/>
              <a:t>不可用</a:t>
            </a:r>
            <a:endParaRPr lang="en-US" altLang="zh-CN" dirty="0"/>
          </a:p>
          <a:p>
            <a:endParaRPr lang="zh-CN" altLang="en-US" dirty="0"/>
          </a:p>
        </p:txBody>
      </p:sp>
    </p:spTree>
    <p:extLst>
      <p:ext uri="{BB962C8B-B14F-4D97-AF65-F5344CB8AC3E}">
        <p14:creationId xmlns:p14="http://schemas.microsoft.com/office/powerpoint/2010/main" val="1748806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29"/>
          <p:cNvSpPr>
            <a:spLocks noChangeArrowheads="1"/>
          </p:cNvSpPr>
          <p:nvPr/>
        </p:nvSpPr>
        <p:spPr bwMode="auto">
          <a:xfrm>
            <a:off x="3563766" y="711857"/>
            <a:ext cx="328298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6.5</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电子邮件</a:t>
            </a:r>
            <a:endParaRPr lang="zh-CN" altLang="fr-FR" sz="2000" dirty="0">
              <a:latin typeface="Montserrat" panose="00000500000000000000" pitchFamily="2" charset="0"/>
              <a:ea typeface="微软雅黑 Light" panose="020B0502040204020203" pitchFamily="34" charset="-122"/>
            </a:endParaRPr>
          </a:p>
        </p:txBody>
      </p:sp>
      <p:sp>
        <p:nvSpPr>
          <p:cNvPr id="12" name="Rectangle 8"/>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12928410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DC1F86AE-51BD-05CB-98D2-AFFEB7FE89C7}"/>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概述</a:t>
            </a:r>
          </a:p>
        </p:txBody>
      </p:sp>
      <p:sp>
        <p:nvSpPr>
          <p:cNvPr id="6" name="内容占位符 5">
            <a:extLst>
              <a:ext uri="{FF2B5EF4-FFF2-40B4-BE49-F238E27FC236}">
                <a16:creationId xmlns:a16="http://schemas.microsoft.com/office/drawing/2014/main" id="{0129C16F-8466-7630-FD0C-C90A39420198}"/>
              </a:ext>
            </a:extLst>
          </p:cNvPr>
          <p:cNvSpPr>
            <a:spLocks noGrp="1"/>
          </p:cNvSpPr>
          <p:nvPr>
            <p:ph sz="quarter" idx="11"/>
          </p:nvPr>
        </p:nvSpPr>
        <p:spPr>
          <a:xfrm>
            <a:off x="486000" y="687518"/>
            <a:ext cx="8172000" cy="4079035"/>
          </a:xfrm>
        </p:spPr>
        <p:txBody>
          <a:bodyPr/>
          <a:lstStyle/>
          <a:p>
            <a:r>
              <a:rPr lang="zh-CN" altLang="en-US" dirty="0"/>
              <a:t>电子邮件 </a:t>
            </a:r>
            <a:r>
              <a:rPr lang="en-US" altLang="zh-CN" dirty="0"/>
              <a:t>e-mail</a:t>
            </a:r>
            <a:r>
              <a:rPr lang="zh-CN" altLang="en-US" dirty="0"/>
              <a:t>：指使用电子设备交换的邮件及其方法</a:t>
            </a:r>
            <a:endParaRPr lang="en-US" altLang="zh-CN" dirty="0"/>
          </a:p>
          <a:p>
            <a:r>
              <a:rPr lang="zh-CN" altLang="en-US" dirty="0"/>
              <a:t>优点</a:t>
            </a:r>
            <a:endParaRPr lang="en-US" altLang="zh-CN" dirty="0"/>
          </a:p>
          <a:p>
            <a:pPr lvl="1"/>
            <a:r>
              <a:rPr lang="zh-CN" altLang="en-US" dirty="0"/>
              <a:t>使用方便，传递迅速，费用低廉</a:t>
            </a:r>
            <a:endParaRPr lang="en-US" altLang="zh-CN" dirty="0"/>
          </a:p>
          <a:p>
            <a:pPr lvl="1"/>
            <a:r>
              <a:rPr lang="zh-CN" altLang="en-US" dirty="0"/>
              <a:t>可以传送多种类型的信息，包括：文字信息，声音和图像等</a:t>
            </a:r>
            <a:endParaRPr lang="en-US" altLang="zh-CN" dirty="0"/>
          </a:p>
          <a:p>
            <a:r>
              <a:rPr lang="zh-CN" altLang="en-US" dirty="0"/>
              <a:t>重要标准</a:t>
            </a:r>
            <a:endParaRPr lang="en-US" altLang="zh-CN" dirty="0"/>
          </a:p>
          <a:p>
            <a:pPr lvl="1"/>
            <a:r>
              <a:rPr lang="zh-CN" altLang="en-US" dirty="0"/>
              <a:t>简单邮件发送协议 </a:t>
            </a:r>
            <a:r>
              <a:rPr lang="en-US" altLang="zh-CN" dirty="0"/>
              <a:t>SMTP</a:t>
            </a:r>
          </a:p>
          <a:p>
            <a:pPr lvl="1"/>
            <a:r>
              <a:rPr lang="zh-CN" altLang="en-US" dirty="0"/>
              <a:t>互联网文本报文格式</a:t>
            </a:r>
          </a:p>
          <a:p>
            <a:pPr lvl="1"/>
            <a:r>
              <a:rPr lang="zh-CN" altLang="en-US" dirty="0"/>
              <a:t>通用互联网邮件扩充 </a:t>
            </a:r>
            <a:r>
              <a:rPr lang="en-US" altLang="zh-CN" dirty="0"/>
              <a:t>MIME</a:t>
            </a:r>
          </a:p>
          <a:p>
            <a:pPr lvl="1"/>
            <a:r>
              <a:rPr lang="zh-CN" altLang="en-US" dirty="0"/>
              <a:t>邮件读取协议 </a:t>
            </a:r>
            <a:r>
              <a:rPr lang="en-US" altLang="zh-CN" dirty="0"/>
              <a:t>POP3 </a:t>
            </a:r>
            <a:r>
              <a:rPr lang="zh-CN" altLang="en-US" dirty="0"/>
              <a:t>和 </a:t>
            </a:r>
            <a:r>
              <a:rPr lang="en-US" altLang="zh-CN" dirty="0"/>
              <a:t>IMAP</a:t>
            </a:r>
            <a:endParaRPr lang="zh-CN" altLang="en-US" dirty="0"/>
          </a:p>
          <a:p>
            <a:endParaRPr lang="zh-CN" altLang="en-US" dirty="0"/>
          </a:p>
        </p:txBody>
      </p:sp>
    </p:spTree>
    <p:extLst>
      <p:ext uri="{BB962C8B-B14F-4D97-AF65-F5344CB8AC3E}">
        <p14:creationId xmlns:p14="http://schemas.microsoft.com/office/powerpoint/2010/main" val="35682415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BB4A9F-5A06-F878-2675-FE26CF977D34}"/>
            </a:ext>
          </a:extLst>
        </p:cNvPr>
        <p:cNvGrpSpPr/>
        <p:nvPr/>
      </p:nvGrpSpPr>
      <p:grpSpPr>
        <a:xfrm>
          <a:off x="0" y="0"/>
          <a:ext cx="0" cy="0"/>
          <a:chOff x="0" y="0"/>
          <a:chExt cx="0" cy="0"/>
        </a:xfrm>
      </p:grpSpPr>
      <p:sp>
        <p:nvSpPr>
          <p:cNvPr id="23" name="矩形: 圆角 22">
            <a:extLst>
              <a:ext uri="{FF2B5EF4-FFF2-40B4-BE49-F238E27FC236}">
                <a16:creationId xmlns:a16="http://schemas.microsoft.com/office/drawing/2014/main" id="{71D4BF17-8F37-9BD2-37E1-87A1549A6847}"/>
              </a:ext>
            </a:extLst>
          </p:cNvPr>
          <p:cNvSpPr/>
          <p:nvPr/>
        </p:nvSpPr>
        <p:spPr>
          <a:xfrm>
            <a:off x="1880432" y="2350980"/>
            <a:ext cx="864000" cy="288000"/>
          </a:xfrm>
          <a:prstGeom prst="roundRect">
            <a:avLst/>
          </a:prstGeom>
          <a:solidFill>
            <a:srgbClr val="F9423A">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latin typeface="Montserrat" panose="00000500000000000000" pitchFamily="2" charset="0"/>
                <a:ea typeface="微软雅黑 Light" panose="020B0502040204020203" pitchFamily="34" charset="-122"/>
              </a:rPr>
              <a:t>FTP</a:t>
            </a:r>
            <a:endParaRPr lang="zh-CN" altLang="en-US" sz="1200" dirty="0">
              <a:latin typeface="Montserrat" panose="00000500000000000000" pitchFamily="2" charset="0"/>
              <a:ea typeface="微软雅黑 Light" panose="020B0502040204020203" pitchFamily="34" charset="-122"/>
            </a:endParaRPr>
          </a:p>
        </p:txBody>
      </p:sp>
      <p:sp>
        <p:nvSpPr>
          <p:cNvPr id="24" name="矩形: 圆角 23">
            <a:extLst>
              <a:ext uri="{FF2B5EF4-FFF2-40B4-BE49-F238E27FC236}">
                <a16:creationId xmlns:a16="http://schemas.microsoft.com/office/drawing/2014/main" id="{4FBD1AF2-1FD3-85D7-D32C-1E0DCE093BE6}"/>
              </a:ext>
            </a:extLst>
          </p:cNvPr>
          <p:cNvSpPr/>
          <p:nvPr/>
        </p:nvSpPr>
        <p:spPr>
          <a:xfrm>
            <a:off x="3002664" y="1692593"/>
            <a:ext cx="1152000" cy="252000"/>
          </a:xfrm>
          <a:prstGeom prst="roundRect">
            <a:avLst/>
          </a:prstGeom>
          <a:solidFill>
            <a:srgbClr val="4472C4">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组成</a:t>
            </a:r>
          </a:p>
        </p:txBody>
      </p:sp>
      <p:sp>
        <p:nvSpPr>
          <p:cNvPr id="25" name="矩形: 圆角 24">
            <a:extLst>
              <a:ext uri="{FF2B5EF4-FFF2-40B4-BE49-F238E27FC236}">
                <a16:creationId xmlns:a16="http://schemas.microsoft.com/office/drawing/2014/main" id="{796161CD-4288-6D09-5094-74B214F8CC61}"/>
              </a:ext>
            </a:extLst>
          </p:cNvPr>
          <p:cNvSpPr/>
          <p:nvPr/>
        </p:nvSpPr>
        <p:spPr>
          <a:xfrm>
            <a:off x="3002664" y="2720748"/>
            <a:ext cx="1152000" cy="288000"/>
          </a:xfrm>
          <a:prstGeom prst="roundRect">
            <a:avLst/>
          </a:prstGeom>
          <a:solidFill>
            <a:srgbClr val="F6A04D">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邮件发送</a:t>
            </a:r>
          </a:p>
        </p:txBody>
      </p:sp>
      <p:sp>
        <p:nvSpPr>
          <p:cNvPr id="27" name="矩形: 圆角 26">
            <a:extLst>
              <a:ext uri="{FF2B5EF4-FFF2-40B4-BE49-F238E27FC236}">
                <a16:creationId xmlns:a16="http://schemas.microsoft.com/office/drawing/2014/main" id="{C26F321A-55BC-253A-2B89-3781F81383CB}"/>
              </a:ext>
            </a:extLst>
          </p:cNvPr>
          <p:cNvSpPr/>
          <p:nvPr/>
        </p:nvSpPr>
        <p:spPr>
          <a:xfrm>
            <a:off x="3002664" y="3483765"/>
            <a:ext cx="1152000" cy="288000"/>
          </a:xfrm>
          <a:prstGeom prst="roundRect">
            <a:avLst/>
          </a:prstGeom>
          <a:solidFill>
            <a:srgbClr val="00BC7B">
              <a:alpha val="89804"/>
            </a:srgb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邮件接收</a:t>
            </a:r>
          </a:p>
        </p:txBody>
      </p:sp>
      <p:sp>
        <p:nvSpPr>
          <p:cNvPr id="32" name="矩形: 圆角 31">
            <a:extLst>
              <a:ext uri="{FF2B5EF4-FFF2-40B4-BE49-F238E27FC236}">
                <a16:creationId xmlns:a16="http://schemas.microsoft.com/office/drawing/2014/main" id="{C3A74916-4C9A-319D-4DAE-41DACD2C6860}"/>
              </a:ext>
            </a:extLst>
          </p:cNvPr>
          <p:cNvSpPr/>
          <p:nvPr/>
        </p:nvSpPr>
        <p:spPr>
          <a:xfrm>
            <a:off x="4310985" y="3290261"/>
            <a:ext cx="72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POP3</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33" name="矩形: 圆角 32">
            <a:extLst>
              <a:ext uri="{FF2B5EF4-FFF2-40B4-BE49-F238E27FC236}">
                <a16:creationId xmlns:a16="http://schemas.microsoft.com/office/drawing/2014/main" id="{F47B7CD0-A445-0920-751C-9D0A0ACDD5F4}"/>
              </a:ext>
            </a:extLst>
          </p:cNvPr>
          <p:cNvSpPr/>
          <p:nvPr/>
        </p:nvSpPr>
        <p:spPr>
          <a:xfrm>
            <a:off x="4310986" y="3677269"/>
            <a:ext cx="720000" cy="288000"/>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just"/>
            <a:r>
              <a:rPr lang="en-US" altLang="zh-CN" sz="1200" dirty="0">
                <a:solidFill>
                  <a:sysClr val="windowText" lastClr="000000"/>
                </a:solidFill>
                <a:latin typeface="Montserrat" panose="00000500000000000000" pitchFamily="2" charset="0"/>
                <a:ea typeface="微软雅黑 Light" panose="020B0502040204020203" pitchFamily="34" charset="-122"/>
              </a:rPr>
              <a:t>IMAP</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cxnSp>
        <p:nvCxnSpPr>
          <p:cNvPr id="34" name="连接符: 曲线 33">
            <a:extLst>
              <a:ext uri="{FF2B5EF4-FFF2-40B4-BE49-F238E27FC236}">
                <a16:creationId xmlns:a16="http://schemas.microsoft.com/office/drawing/2014/main" id="{1E7359D1-8418-6480-4E4E-3A8CAA515642}"/>
              </a:ext>
            </a:extLst>
          </p:cNvPr>
          <p:cNvCxnSpPr>
            <a:cxnSpLocks/>
            <a:stCxn id="23" idx="3"/>
            <a:endCxn id="24" idx="1"/>
          </p:cNvCxnSpPr>
          <p:nvPr/>
        </p:nvCxnSpPr>
        <p:spPr>
          <a:xfrm flipV="1">
            <a:off x="2744432" y="1818593"/>
            <a:ext cx="258232" cy="676387"/>
          </a:xfrm>
          <a:prstGeom prst="curvedConnector3">
            <a:avLst/>
          </a:prstGeom>
          <a:ln>
            <a:solidFill>
              <a:schemeClr val="accent1">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36" name="连接符: 曲线 35">
            <a:extLst>
              <a:ext uri="{FF2B5EF4-FFF2-40B4-BE49-F238E27FC236}">
                <a16:creationId xmlns:a16="http://schemas.microsoft.com/office/drawing/2014/main" id="{E63CD510-46E4-B274-6484-03E191F89C64}"/>
              </a:ext>
            </a:extLst>
          </p:cNvPr>
          <p:cNvCxnSpPr>
            <a:stCxn id="23" idx="3"/>
            <a:endCxn id="27" idx="1"/>
          </p:cNvCxnSpPr>
          <p:nvPr/>
        </p:nvCxnSpPr>
        <p:spPr>
          <a:xfrm>
            <a:off x="2744432" y="2494980"/>
            <a:ext cx="258232" cy="1132785"/>
          </a:xfrm>
          <a:prstGeom prst="curvedConnector3">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37" name="连接符: 曲线 36">
            <a:extLst>
              <a:ext uri="{FF2B5EF4-FFF2-40B4-BE49-F238E27FC236}">
                <a16:creationId xmlns:a16="http://schemas.microsoft.com/office/drawing/2014/main" id="{B2DDEC70-E23B-0D07-510B-61F248628424}"/>
              </a:ext>
            </a:extLst>
          </p:cNvPr>
          <p:cNvCxnSpPr>
            <a:stCxn id="25" idx="1"/>
            <a:endCxn id="23" idx="3"/>
          </p:cNvCxnSpPr>
          <p:nvPr/>
        </p:nvCxnSpPr>
        <p:spPr>
          <a:xfrm rot="10800000">
            <a:off x="2744432" y="2494980"/>
            <a:ext cx="258232" cy="369768"/>
          </a:xfrm>
          <a:prstGeom prst="curvedConnector3">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8" name="连接符: 曲线 37">
            <a:extLst>
              <a:ext uri="{FF2B5EF4-FFF2-40B4-BE49-F238E27FC236}">
                <a16:creationId xmlns:a16="http://schemas.microsoft.com/office/drawing/2014/main" id="{19AF5B41-F9C2-EC84-A81C-31DABE0F6816}"/>
              </a:ext>
            </a:extLst>
          </p:cNvPr>
          <p:cNvCxnSpPr>
            <a:cxnSpLocks/>
            <a:stCxn id="25" idx="3"/>
            <a:endCxn id="44" idx="1"/>
          </p:cNvCxnSpPr>
          <p:nvPr/>
        </p:nvCxnSpPr>
        <p:spPr>
          <a:xfrm flipV="1">
            <a:off x="4154664" y="2676745"/>
            <a:ext cx="156322" cy="188003"/>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39" name="连接符: 曲线 38">
            <a:extLst>
              <a:ext uri="{FF2B5EF4-FFF2-40B4-BE49-F238E27FC236}">
                <a16:creationId xmlns:a16="http://schemas.microsoft.com/office/drawing/2014/main" id="{B0725CF0-591E-E874-AFBC-2A4EA1AACF93}"/>
              </a:ext>
            </a:extLst>
          </p:cNvPr>
          <p:cNvCxnSpPr>
            <a:cxnSpLocks/>
            <a:stCxn id="46" idx="1"/>
            <a:endCxn id="25" idx="3"/>
          </p:cNvCxnSpPr>
          <p:nvPr/>
        </p:nvCxnSpPr>
        <p:spPr>
          <a:xfrm rot="10800000">
            <a:off x="4154664" y="2864749"/>
            <a:ext cx="156322" cy="188005"/>
          </a:xfrm>
          <a:prstGeom prst="curvedConnector3">
            <a:avLst>
              <a:gd name="adj1" fmla="val 50000"/>
            </a:avLst>
          </a:prstGeom>
          <a:ln>
            <a:solidFill>
              <a:srgbClr val="FFC000"/>
            </a:solidFill>
          </a:ln>
        </p:spPr>
        <p:style>
          <a:lnRef idx="1">
            <a:schemeClr val="accent1"/>
          </a:lnRef>
          <a:fillRef idx="0">
            <a:schemeClr val="accent1"/>
          </a:fillRef>
          <a:effectRef idx="0">
            <a:schemeClr val="accent1"/>
          </a:effectRef>
          <a:fontRef idx="minor">
            <a:schemeClr val="tx1"/>
          </a:fontRef>
        </p:style>
      </p:cxnSp>
      <p:cxnSp>
        <p:nvCxnSpPr>
          <p:cNvPr id="40" name="连接符: 曲线 39">
            <a:extLst>
              <a:ext uri="{FF2B5EF4-FFF2-40B4-BE49-F238E27FC236}">
                <a16:creationId xmlns:a16="http://schemas.microsoft.com/office/drawing/2014/main" id="{25AC6A82-E135-A34F-7840-A327C85B5CCE}"/>
              </a:ext>
            </a:extLst>
          </p:cNvPr>
          <p:cNvCxnSpPr>
            <a:cxnSpLocks/>
            <a:stCxn id="24" idx="3"/>
            <a:endCxn id="51" idx="1"/>
          </p:cNvCxnSpPr>
          <p:nvPr/>
        </p:nvCxnSpPr>
        <p:spPr>
          <a:xfrm flipV="1">
            <a:off x="4154664" y="163058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1" name="连接符: 曲线 40">
            <a:extLst>
              <a:ext uri="{FF2B5EF4-FFF2-40B4-BE49-F238E27FC236}">
                <a16:creationId xmlns:a16="http://schemas.microsoft.com/office/drawing/2014/main" id="{6A5337E7-8046-AC9F-9C0F-49D30BDF330D}"/>
              </a:ext>
            </a:extLst>
          </p:cNvPr>
          <p:cNvCxnSpPr>
            <a:cxnSpLocks/>
            <a:stCxn id="53" idx="1"/>
            <a:endCxn id="24" idx="3"/>
          </p:cNvCxnSpPr>
          <p:nvPr/>
        </p:nvCxnSpPr>
        <p:spPr>
          <a:xfrm rot="10800000">
            <a:off x="4154664" y="1818593"/>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42" name="连接符: 曲线 41">
            <a:extLst>
              <a:ext uri="{FF2B5EF4-FFF2-40B4-BE49-F238E27FC236}">
                <a16:creationId xmlns:a16="http://schemas.microsoft.com/office/drawing/2014/main" id="{0C6C8CE1-14EB-FA57-6F42-C419A2BEEE5C}"/>
              </a:ext>
            </a:extLst>
          </p:cNvPr>
          <p:cNvCxnSpPr>
            <a:cxnSpLocks/>
            <a:stCxn id="27" idx="3"/>
            <a:endCxn id="32" idx="1"/>
          </p:cNvCxnSpPr>
          <p:nvPr/>
        </p:nvCxnSpPr>
        <p:spPr>
          <a:xfrm flipV="1">
            <a:off x="4154664" y="3434261"/>
            <a:ext cx="156321"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43" name="连接符: 曲线 42">
            <a:extLst>
              <a:ext uri="{FF2B5EF4-FFF2-40B4-BE49-F238E27FC236}">
                <a16:creationId xmlns:a16="http://schemas.microsoft.com/office/drawing/2014/main" id="{191A71F9-F634-C6C4-1EC2-D7625808E138}"/>
              </a:ext>
            </a:extLst>
          </p:cNvPr>
          <p:cNvCxnSpPr>
            <a:cxnSpLocks/>
            <a:stCxn id="33" idx="1"/>
            <a:endCxn id="27" idx="3"/>
          </p:cNvCxnSpPr>
          <p:nvPr/>
        </p:nvCxnSpPr>
        <p:spPr>
          <a:xfrm rot="10800000">
            <a:off x="4154664" y="3627765"/>
            <a:ext cx="156322" cy="193504"/>
          </a:xfrm>
          <a:prstGeom prst="curvedConnector3">
            <a:avLst>
              <a:gd name="adj1" fmla="val 50000"/>
            </a:avLst>
          </a:prstGeom>
          <a:ln>
            <a:solidFill>
              <a:srgbClr val="92D050"/>
            </a:solidFill>
          </a:ln>
        </p:spPr>
        <p:style>
          <a:lnRef idx="1">
            <a:schemeClr val="accent1"/>
          </a:lnRef>
          <a:fillRef idx="0">
            <a:schemeClr val="accent1"/>
          </a:fillRef>
          <a:effectRef idx="0">
            <a:schemeClr val="accent1"/>
          </a:effectRef>
          <a:fontRef idx="minor">
            <a:schemeClr val="tx1"/>
          </a:fontRef>
        </p:style>
      </p:cxnSp>
      <p:sp>
        <p:nvSpPr>
          <p:cNvPr id="44" name="文本框 43">
            <a:extLst>
              <a:ext uri="{FF2B5EF4-FFF2-40B4-BE49-F238E27FC236}">
                <a16:creationId xmlns:a16="http://schemas.microsoft.com/office/drawing/2014/main" id="{15BDFFD1-6FC8-7B91-FB73-B8EA2AC04071}"/>
              </a:ext>
            </a:extLst>
          </p:cNvPr>
          <p:cNvSpPr txBox="1"/>
          <p:nvPr/>
        </p:nvSpPr>
        <p:spPr>
          <a:xfrm>
            <a:off x="4310986" y="25382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SMTP</a:t>
            </a:r>
            <a:endParaRPr lang="zh-CN" altLang="en-US" dirty="0">
              <a:ea typeface="微软雅黑 Light" panose="020B0502040204020203" pitchFamily="34" charset="-122"/>
            </a:endParaRPr>
          </a:p>
        </p:txBody>
      </p:sp>
      <p:sp>
        <p:nvSpPr>
          <p:cNvPr id="46" name="文本框 45">
            <a:extLst>
              <a:ext uri="{FF2B5EF4-FFF2-40B4-BE49-F238E27FC236}">
                <a16:creationId xmlns:a16="http://schemas.microsoft.com/office/drawing/2014/main" id="{A826DA65-2ABD-996D-7FE9-85CBC6AE6E94}"/>
              </a:ext>
            </a:extLst>
          </p:cNvPr>
          <p:cNvSpPr txBox="1"/>
          <p:nvPr/>
        </p:nvSpPr>
        <p:spPr>
          <a:xfrm>
            <a:off x="4310986" y="29142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25</a:t>
            </a:r>
            <a:endParaRPr lang="zh-CN" altLang="en-US" dirty="0">
              <a:ea typeface="微软雅黑 Light" panose="020B0502040204020203" pitchFamily="34" charset="-122"/>
            </a:endParaRPr>
          </a:p>
        </p:txBody>
      </p:sp>
      <p:sp>
        <p:nvSpPr>
          <p:cNvPr id="51" name="文本框 50">
            <a:extLst>
              <a:ext uri="{FF2B5EF4-FFF2-40B4-BE49-F238E27FC236}">
                <a16:creationId xmlns:a16="http://schemas.microsoft.com/office/drawing/2014/main" id="{CFB4A85C-C902-7E07-5A0A-F2EDDCF2C4CB}"/>
              </a:ext>
            </a:extLst>
          </p:cNvPr>
          <p:cNvSpPr txBox="1"/>
          <p:nvPr/>
        </p:nvSpPr>
        <p:spPr>
          <a:xfrm>
            <a:off x="4310986" y="1492089"/>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zh-CN" altLang="en-US" dirty="0">
                <a:ea typeface="微软雅黑 Light" panose="020B0502040204020203" pitchFamily="34" charset="-122"/>
              </a:rPr>
              <a:t>信封</a:t>
            </a:r>
          </a:p>
        </p:txBody>
      </p:sp>
      <p:sp>
        <p:nvSpPr>
          <p:cNvPr id="53" name="文本框 52">
            <a:extLst>
              <a:ext uri="{FF2B5EF4-FFF2-40B4-BE49-F238E27FC236}">
                <a16:creationId xmlns:a16="http://schemas.microsoft.com/office/drawing/2014/main" id="{31DDE3DE-14C0-39EF-7ADD-87A0EC576427}"/>
              </a:ext>
            </a:extLst>
          </p:cNvPr>
          <p:cNvSpPr txBox="1"/>
          <p:nvPr/>
        </p:nvSpPr>
        <p:spPr>
          <a:xfrm>
            <a:off x="4310986" y="1868097"/>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zh-CN" altLang="en-US" dirty="0">
                <a:ea typeface="微软雅黑 Light" panose="020B0502040204020203" pitchFamily="34" charset="-122"/>
              </a:rPr>
              <a:t>内容</a:t>
            </a:r>
          </a:p>
        </p:txBody>
      </p:sp>
      <p:cxnSp>
        <p:nvCxnSpPr>
          <p:cNvPr id="5" name="连接符: 曲线 4">
            <a:extLst>
              <a:ext uri="{FF2B5EF4-FFF2-40B4-BE49-F238E27FC236}">
                <a16:creationId xmlns:a16="http://schemas.microsoft.com/office/drawing/2014/main" id="{AF34D3BE-6FC6-004B-494F-B20A4F201CCA}"/>
              </a:ext>
            </a:extLst>
          </p:cNvPr>
          <p:cNvCxnSpPr>
            <a:cxnSpLocks/>
            <a:endCxn id="7" idx="1"/>
          </p:cNvCxnSpPr>
          <p:nvPr/>
        </p:nvCxnSpPr>
        <p:spPr>
          <a:xfrm flipV="1">
            <a:off x="4883625" y="1843345"/>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cxnSp>
        <p:nvCxnSpPr>
          <p:cNvPr id="6" name="连接符: 曲线 5">
            <a:extLst>
              <a:ext uri="{FF2B5EF4-FFF2-40B4-BE49-F238E27FC236}">
                <a16:creationId xmlns:a16="http://schemas.microsoft.com/office/drawing/2014/main" id="{BF67F262-0C09-B877-5CB5-A4B2D92FFD48}"/>
              </a:ext>
            </a:extLst>
          </p:cNvPr>
          <p:cNvCxnSpPr>
            <a:cxnSpLocks/>
            <a:stCxn id="8" idx="1"/>
          </p:cNvCxnSpPr>
          <p:nvPr/>
        </p:nvCxnSpPr>
        <p:spPr>
          <a:xfrm rot="10800000">
            <a:off x="4883625" y="2031349"/>
            <a:ext cx="156322" cy="188004"/>
          </a:xfrm>
          <a:prstGeom prst="curvedConnector3">
            <a:avLst>
              <a:gd name="adj1" fmla="val 50000"/>
            </a:avLst>
          </a:prstGeom>
          <a:ln>
            <a:solidFill>
              <a:srgbClr val="5780CA"/>
            </a:solidFill>
          </a:ln>
        </p:spPr>
        <p:style>
          <a:lnRef idx="1">
            <a:schemeClr val="accent1"/>
          </a:lnRef>
          <a:fillRef idx="0">
            <a:schemeClr val="accent1"/>
          </a:fillRef>
          <a:effectRef idx="0">
            <a:schemeClr val="accent1"/>
          </a:effectRef>
          <a:fontRef idx="minor">
            <a:schemeClr val="tx1"/>
          </a:fontRef>
        </p:style>
      </p:cxnSp>
      <p:sp>
        <p:nvSpPr>
          <p:cNvPr id="7" name="文本框 6">
            <a:extLst>
              <a:ext uri="{FF2B5EF4-FFF2-40B4-BE49-F238E27FC236}">
                <a16:creationId xmlns:a16="http://schemas.microsoft.com/office/drawing/2014/main" id="{C76BE385-14C2-E20D-B197-810EF102524D}"/>
              </a:ext>
            </a:extLst>
          </p:cNvPr>
          <p:cNvSpPr txBox="1"/>
          <p:nvPr/>
        </p:nvSpPr>
        <p:spPr>
          <a:xfrm>
            <a:off x="5039947" y="1704845"/>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ctr">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pPr algn="just"/>
            <a:r>
              <a:rPr lang="en-US" altLang="zh-CN" dirty="0">
                <a:ea typeface="微软雅黑 Light" panose="020B0502040204020203" pitchFamily="34" charset="-122"/>
              </a:rPr>
              <a:t>head</a:t>
            </a:r>
            <a:endParaRPr lang="zh-CN" altLang="en-US" dirty="0">
              <a:ea typeface="微软雅黑 Light" panose="020B0502040204020203" pitchFamily="34" charset="-122"/>
            </a:endParaRPr>
          </a:p>
        </p:txBody>
      </p:sp>
      <p:sp>
        <p:nvSpPr>
          <p:cNvPr id="8" name="文本框 7">
            <a:extLst>
              <a:ext uri="{FF2B5EF4-FFF2-40B4-BE49-F238E27FC236}">
                <a16:creationId xmlns:a16="http://schemas.microsoft.com/office/drawing/2014/main" id="{80DBB313-0E15-514A-FD4C-7D1532B2361D}"/>
              </a:ext>
            </a:extLst>
          </p:cNvPr>
          <p:cNvSpPr txBox="1"/>
          <p:nvPr/>
        </p:nvSpPr>
        <p:spPr>
          <a:xfrm>
            <a:off x="5039947" y="2080853"/>
            <a:ext cx="720000" cy="276999"/>
          </a:xfrm>
          <a:prstGeom prst="roundRect">
            <a:avLst/>
          </a:prstGeom>
          <a:no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zh-CN"/>
            </a:defPPr>
            <a:lvl1pPr algn="just">
              <a:defRPr sz="1200">
                <a:solidFill>
                  <a:sysClr val="windowText" lastClr="000000"/>
                </a:solidFill>
                <a:latin typeface="Montserrat" panose="00000500000000000000" pitchFamily="2" charset="0"/>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en-US" altLang="zh-CN" dirty="0">
                <a:ea typeface="微软雅黑 Light" panose="020B0502040204020203" pitchFamily="34" charset="-122"/>
              </a:rPr>
              <a:t>body</a:t>
            </a:r>
            <a:endParaRPr lang="zh-CN" altLang="en-US" dirty="0">
              <a:ea typeface="微软雅黑 Light" panose="020B0502040204020203" pitchFamily="34" charset="-122"/>
            </a:endParaRPr>
          </a:p>
        </p:txBody>
      </p:sp>
    </p:spTree>
    <p:extLst>
      <p:ext uri="{BB962C8B-B14F-4D97-AF65-F5344CB8AC3E}">
        <p14:creationId xmlns:p14="http://schemas.microsoft.com/office/powerpoint/2010/main" val="592355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382D251-B95F-D8D9-E26E-F696D8676794}"/>
              </a:ext>
            </a:extLst>
          </p:cNvPr>
          <p:cNvSpPr>
            <a:spLocks noGrp="1"/>
          </p:cNvSpPr>
          <p:nvPr>
            <p:ph sz="quarter" idx="11"/>
          </p:nvPr>
        </p:nvSpPr>
        <p:spPr>
          <a:xfrm>
            <a:off x="486000" y="687518"/>
            <a:ext cx="8172000" cy="4079035"/>
          </a:xfrm>
        </p:spPr>
        <p:txBody>
          <a:bodyPr/>
          <a:lstStyle/>
          <a:p>
            <a:endParaRPr lang="zh-CN" altLang="en-US" dirty="0"/>
          </a:p>
        </p:txBody>
      </p:sp>
      <p:sp>
        <p:nvSpPr>
          <p:cNvPr id="2" name="标题 1">
            <a:extLst>
              <a:ext uri="{FF2B5EF4-FFF2-40B4-BE49-F238E27FC236}">
                <a16:creationId xmlns:a16="http://schemas.microsoft.com/office/drawing/2014/main" id="{4C8EFAAD-8BB1-42D9-D5A1-C49CDB22D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组成</a:t>
            </a:r>
          </a:p>
        </p:txBody>
      </p:sp>
      <p:sp>
        <p:nvSpPr>
          <p:cNvPr id="27" name="文本框 26">
            <a:extLst>
              <a:ext uri="{FF2B5EF4-FFF2-40B4-BE49-F238E27FC236}">
                <a16:creationId xmlns:a16="http://schemas.microsoft.com/office/drawing/2014/main" id="{41785BD4-F3BD-8A8F-2452-A650E617F9F4}"/>
              </a:ext>
            </a:extLst>
          </p:cNvPr>
          <p:cNvSpPr txBox="1"/>
          <p:nvPr/>
        </p:nvSpPr>
        <p:spPr>
          <a:xfrm>
            <a:off x="485775"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P1</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用户代理 </a:t>
            </a:r>
            <a:r>
              <a:rPr lang="en-US" altLang="zh-CN" sz="1200" dirty="0">
                <a:latin typeface="Montserrat" panose="00000500000000000000" pitchFamily="2" charset="0"/>
                <a:ea typeface="微软雅黑 Light" panose="020B0502040204020203" pitchFamily="34" charset="-122"/>
              </a:rPr>
              <a:t>User Agent - UA</a:t>
            </a:r>
          </a:p>
          <a:p>
            <a:pPr algn="just"/>
            <a:r>
              <a:rPr lang="zh-CN" altLang="en-US" sz="1200" dirty="0">
                <a:latin typeface="Montserrat" panose="00000500000000000000" pitchFamily="2" charset="0"/>
                <a:ea typeface="微软雅黑 Light" panose="020B0502040204020203" pitchFamily="34" charset="-122"/>
              </a:rPr>
              <a:t>用户与电子邮件系统的接口；又被称为电子邮件客户端软件，如</a:t>
            </a:r>
            <a:r>
              <a:rPr lang="en-US" altLang="zh-CN" sz="1200" dirty="0">
                <a:latin typeface="Montserrat" panose="00000500000000000000" pitchFamily="2" charset="0"/>
                <a:ea typeface="微软雅黑 Light" panose="020B0502040204020203" pitchFamily="34" charset="-122"/>
              </a:rPr>
              <a:t>Outlook</a:t>
            </a:r>
            <a:r>
              <a:rPr lang="zh-CN" altLang="en-US" sz="1200" dirty="0">
                <a:latin typeface="Montserrat" panose="00000500000000000000" pitchFamily="2" charset="0"/>
                <a:ea typeface="微软雅黑 Light" panose="020B0502040204020203" pitchFamily="34" charset="-122"/>
              </a:rPr>
              <a:t>、</a:t>
            </a:r>
            <a:r>
              <a:rPr lang="en-US" altLang="zh-CN" sz="1200" dirty="0" err="1">
                <a:latin typeface="Montserrat" panose="00000500000000000000" pitchFamily="2" charset="0"/>
                <a:ea typeface="微软雅黑 Light" panose="020B0502040204020203" pitchFamily="34" charset="-122"/>
              </a:rPr>
              <a:t>Foxmail</a:t>
            </a:r>
            <a:r>
              <a:rPr lang="en-US" altLang="zh-CN" sz="1200" dirty="0">
                <a:latin typeface="Montserrat" panose="00000500000000000000" pitchFamily="2" charset="0"/>
                <a:ea typeface="微软雅黑 Light" panose="020B0502040204020203" pitchFamily="34" charset="-122"/>
              </a:rPr>
              <a:t> </a:t>
            </a:r>
            <a:endParaRPr lang="zh-CN" altLang="en-US" sz="1200" dirty="0">
              <a:latin typeface="Montserrat" panose="00000500000000000000" pitchFamily="2" charset="0"/>
              <a:ea typeface="微软雅黑 Light" panose="020B0502040204020203" pitchFamily="34" charset="-122"/>
            </a:endParaRPr>
          </a:p>
          <a:p>
            <a:pPr algn="just"/>
            <a:r>
              <a:rPr lang="zh-CN" altLang="en-US" sz="1200" dirty="0">
                <a:latin typeface="Montserrat" panose="00000500000000000000" pitchFamily="2" charset="0"/>
                <a:ea typeface="微软雅黑 Light" panose="020B0502040204020203" pitchFamily="34" charset="-122"/>
              </a:rPr>
              <a:t>基本功能：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撰写</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显示</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处理</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通信</a:t>
            </a:r>
          </a:p>
        </p:txBody>
      </p:sp>
      <p:sp>
        <p:nvSpPr>
          <p:cNvPr id="28" name="文本框 27">
            <a:extLst>
              <a:ext uri="{FF2B5EF4-FFF2-40B4-BE49-F238E27FC236}">
                <a16:creationId xmlns:a16="http://schemas.microsoft.com/office/drawing/2014/main" id="{993FB6A1-8B16-E2D8-7FD6-47C63FFEFC44}"/>
              </a:ext>
            </a:extLst>
          </p:cNvPr>
          <p:cNvSpPr txBox="1"/>
          <p:nvPr/>
        </p:nvSpPr>
        <p:spPr>
          <a:xfrm>
            <a:off x="3312000" y="694578"/>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P2</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邮件服务器 </a:t>
            </a:r>
            <a:r>
              <a:rPr lang="en-US" altLang="zh-CN" sz="1200" dirty="0">
                <a:latin typeface="Montserrat" panose="00000500000000000000" pitchFamily="2" charset="0"/>
                <a:ea typeface="微软雅黑 Light" panose="020B0502040204020203" pitchFamily="34" charset="-122"/>
              </a:rPr>
              <a:t>Mail Server</a:t>
            </a:r>
          </a:p>
          <a:p>
            <a:pPr algn="just"/>
            <a:r>
              <a:rPr lang="zh-CN" altLang="en-US" sz="1200" dirty="0">
                <a:latin typeface="Montserrat" panose="00000500000000000000" pitchFamily="2" charset="0"/>
                <a:ea typeface="微软雅黑 Light" panose="020B0502040204020203" pitchFamily="34" charset="-122"/>
              </a:rPr>
              <a:t>又被称为邮件传输代理</a:t>
            </a:r>
          </a:p>
          <a:p>
            <a:pPr algn="just"/>
            <a:r>
              <a:rPr lang="zh-CN" altLang="en-US" sz="1200" dirty="0">
                <a:latin typeface="Montserrat" panose="00000500000000000000" pitchFamily="2" charset="0"/>
                <a:ea typeface="微软雅黑 Light" panose="020B0502040204020203" pitchFamily="34" charset="-122"/>
              </a:rPr>
              <a:t>按照客户服务器方式工作</a:t>
            </a:r>
          </a:p>
          <a:p>
            <a:pPr algn="just"/>
            <a:r>
              <a:rPr lang="zh-CN" altLang="en-US" sz="1200" dirty="0">
                <a:latin typeface="Montserrat" panose="00000500000000000000" pitchFamily="2" charset="0"/>
                <a:ea typeface="微软雅黑 Light" panose="020B0502040204020203" pitchFamily="34" charset="-122"/>
              </a:rPr>
              <a:t>功能：</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发送和接收邮件</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能够同时充当客户和服务器</a:t>
            </a:r>
            <a:endParaRPr lang="en-US" altLang="zh-CN" sz="1200" dirty="0">
              <a:latin typeface="Montserrat" panose="00000500000000000000" pitchFamily="2" charset="0"/>
              <a:ea typeface="微软雅黑 Light" panose="020B0502040204020203" pitchFamily="34" charset="-122"/>
            </a:endParaRPr>
          </a:p>
          <a:p>
            <a:pPr marL="171450" indent="-171450" algn="just">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向发信人报告邮件传送情况</a:t>
            </a:r>
          </a:p>
          <a:p>
            <a:pPr algn="just"/>
            <a:endParaRPr lang="zh-CN" altLang="en-US" sz="1200" dirty="0">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5D67661F-DA99-4EC2-A789-0953F24D7C1C}"/>
              </a:ext>
            </a:extLst>
          </p:cNvPr>
          <p:cNvSpPr txBox="1"/>
          <p:nvPr/>
        </p:nvSpPr>
        <p:spPr>
          <a:xfrm>
            <a:off x="6138225" y="694579"/>
            <a:ext cx="2520000" cy="1800000"/>
          </a:xfrm>
          <a:prstGeom prst="rect">
            <a:avLst/>
          </a:prstGeom>
          <a:solidFill>
            <a:schemeClr val="bg1">
              <a:lumMod val="95000"/>
            </a:schemeClr>
          </a:solidFill>
        </p:spPr>
        <p:txBody>
          <a:bodyPr wrap="square" rtlCol="0">
            <a:noAutofit/>
          </a:bodyPr>
          <a:lstStyle/>
          <a:p>
            <a:pPr algn="just">
              <a:spcAft>
                <a:spcPts val="600"/>
              </a:spcAft>
            </a:pPr>
            <a:r>
              <a:rPr lang="en-US" altLang="zh-CN" sz="1200" dirty="0">
                <a:solidFill>
                  <a:srgbClr val="C00000"/>
                </a:solidFill>
                <a:latin typeface="Montserrat" panose="00000500000000000000" pitchFamily="2" charset="0"/>
                <a:ea typeface="微软雅黑 Light" panose="020B0502040204020203" pitchFamily="34" charset="-122"/>
              </a:rPr>
              <a:t>P3</a:t>
            </a:r>
            <a:r>
              <a:rPr lang="en-US" altLang="zh-CN" sz="1200" dirty="0">
                <a:latin typeface="Montserrat" panose="00000500000000000000" pitchFamily="2" charset="0"/>
                <a:ea typeface="微软雅黑 Light" panose="020B0502040204020203" pitchFamily="34" charset="-122"/>
              </a:rPr>
              <a:t> </a:t>
            </a:r>
            <a:r>
              <a:rPr lang="zh-CN" altLang="en-US" sz="1200" dirty="0">
                <a:latin typeface="Montserrat" panose="00000500000000000000" pitchFamily="2" charset="0"/>
                <a:ea typeface="微软雅黑 Light" panose="020B0502040204020203" pitchFamily="34" charset="-122"/>
              </a:rPr>
              <a:t>邮件发送和邮件读取协议</a:t>
            </a:r>
          </a:p>
          <a:p>
            <a:pPr algn="just"/>
            <a:r>
              <a:rPr lang="zh-CN" altLang="en-US" sz="1200" dirty="0">
                <a:latin typeface="Montserrat" panose="00000500000000000000" pitchFamily="2" charset="0"/>
                <a:ea typeface="微软雅黑 Light" panose="020B0502040204020203" pitchFamily="34" charset="-122"/>
              </a:rPr>
              <a:t>邮件发送和读取使用不同的协议</a:t>
            </a:r>
          </a:p>
          <a:p>
            <a:pPr algn="just"/>
            <a:r>
              <a:rPr lang="zh-CN" altLang="en-US" sz="1200" dirty="0">
                <a:latin typeface="Montserrat" panose="00000500000000000000" pitchFamily="2" charset="0"/>
                <a:ea typeface="微软雅黑 Light" panose="020B0502040204020203" pitchFamily="34" charset="-122"/>
              </a:rPr>
              <a:t>简单邮件发送协议 </a:t>
            </a:r>
            <a:r>
              <a:rPr lang="en-US" altLang="zh-CN" sz="1200" dirty="0">
                <a:latin typeface="Montserrat" panose="00000500000000000000" pitchFamily="2" charset="0"/>
                <a:ea typeface="微软雅黑 Light" panose="020B0502040204020203" pitchFamily="34" charset="-122"/>
              </a:rPr>
              <a:t>SMTP</a:t>
            </a:r>
            <a:r>
              <a:rPr lang="zh-CN" altLang="en-US" sz="1200" dirty="0">
                <a:latin typeface="Montserrat" panose="00000500000000000000" pitchFamily="2" charset="0"/>
                <a:ea typeface="微软雅黑 Light" panose="020B0502040204020203" pitchFamily="34" charset="-122"/>
              </a:rPr>
              <a:t>：用于在用户代理向邮件服务器或邮件服务器之间发送邮件</a:t>
            </a:r>
          </a:p>
          <a:p>
            <a:pPr algn="just"/>
            <a:r>
              <a:rPr lang="zh-CN" altLang="en-US" sz="1200" dirty="0">
                <a:latin typeface="Montserrat" panose="00000500000000000000" pitchFamily="2" charset="0"/>
                <a:ea typeface="微软雅黑 Light" panose="020B0502040204020203" pitchFamily="34" charset="-122"/>
              </a:rPr>
              <a:t>邮局协议 </a:t>
            </a:r>
            <a:r>
              <a:rPr lang="en-US" altLang="zh-CN" sz="1200" dirty="0">
                <a:latin typeface="Montserrat" panose="00000500000000000000" pitchFamily="2" charset="0"/>
                <a:ea typeface="微软雅黑 Light" panose="020B0502040204020203" pitchFamily="34" charset="-122"/>
              </a:rPr>
              <a:t>POP3</a:t>
            </a:r>
            <a:r>
              <a:rPr lang="zh-CN" altLang="en-US" sz="1200" dirty="0">
                <a:latin typeface="Montserrat" panose="00000500000000000000" pitchFamily="2" charset="0"/>
                <a:ea typeface="微软雅黑 Light" panose="020B0502040204020203" pitchFamily="34" charset="-122"/>
              </a:rPr>
              <a:t>：用于用户代理从邮件服务器读取邮件</a:t>
            </a:r>
          </a:p>
        </p:txBody>
      </p:sp>
      <p:sp>
        <p:nvSpPr>
          <p:cNvPr id="3" name="Rectangle 386">
            <a:extLst>
              <a:ext uri="{FF2B5EF4-FFF2-40B4-BE49-F238E27FC236}">
                <a16:creationId xmlns:a16="http://schemas.microsoft.com/office/drawing/2014/main" id="{B4AF4B12-668F-96B7-6EC5-F934A7CE813C}"/>
              </a:ext>
            </a:extLst>
          </p:cNvPr>
          <p:cNvSpPr>
            <a:spLocks noChangeArrowheads="1"/>
          </p:cNvSpPr>
          <p:nvPr/>
        </p:nvSpPr>
        <p:spPr bwMode="auto">
          <a:xfrm>
            <a:off x="3019580" y="3173543"/>
            <a:ext cx="680437" cy="13465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 name="Rectangle 387">
            <a:extLst>
              <a:ext uri="{FF2B5EF4-FFF2-40B4-BE49-F238E27FC236}">
                <a16:creationId xmlns:a16="http://schemas.microsoft.com/office/drawing/2014/main" id="{D7F4C0A2-6ECC-BDA3-9465-2498A26EB72C}"/>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6" name="Line 388">
            <a:extLst>
              <a:ext uri="{FF2B5EF4-FFF2-40B4-BE49-F238E27FC236}">
                <a16:creationId xmlns:a16="http://schemas.microsoft.com/office/drawing/2014/main" id="{BAE1A7F6-2F58-092E-59D7-5B119C33EF1B}"/>
              </a:ext>
            </a:extLst>
          </p:cNvPr>
          <p:cNvSpPr>
            <a:spLocks noChangeShapeType="1"/>
          </p:cNvSpPr>
          <p:nvPr/>
        </p:nvSpPr>
        <p:spPr bwMode="auto">
          <a:xfrm>
            <a:off x="2134011" y="3516315"/>
            <a:ext cx="941856"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8" name="Oval 397">
            <a:extLst>
              <a:ext uri="{FF2B5EF4-FFF2-40B4-BE49-F238E27FC236}">
                <a16:creationId xmlns:a16="http://schemas.microsoft.com/office/drawing/2014/main" id="{4300F4D4-164E-0605-B946-76DD019F95FF}"/>
              </a:ext>
            </a:extLst>
          </p:cNvPr>
          <p:cNvSpPr>
            <a:spLocks noChangeArrowheads="1"/>
          </p:cNvSpPr>
          <p:nvPr/>
        </p:nvSpPr>
        <p:spPr bwMode="auto">
          <a:xfrm>
            <a:off x="1713742" y="3237429"/>
            <a:ext cx="566615" cy="556545"/>
          </a:xfrm>
          <a:prstGeom prst="ellipse">
            <a:avLst/>
          </a:prstGeom>
          <a:solidFill>
            <a:srgbClr val="4BACC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5">
            <a:extLst>
              <a:ext uri="{FF2B5EF4-FFF2-40B4-BE49-F238E27FC236}">
                <a16:creationId xmlns:a16="http://schemas.microsoft.com/office/drawing/2014/main" id="{CC19B658-60BA-F86B-E76A-D5660FB34994}"/>
              </a:ext>
            </a:extLst>
          </p:cNvPr>
          <p:cNvSpPr>
            <a:spLocks noChangeArrowheads="1"/>
          </p:cNvSpPr>
          <p:nvPr/>
        </p:nvSpPr>
        <p:spPr bwMode="auto">
          <a:xfrm>
            <a:off x="3077118" y="3237429"/>
            <a:ext cx="566615" cy="556545"/>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Oval 406">
            <a:extLst>
              <a:ext uri="{FF2B5EF4-FFF2-40B4-BE49-F238E27FC236}">
                <a16:creationId xmlns:a16="http://schemas.microsoft.com/office/drawing/2014/main" id="{06198F72-6114-702B-7DA6-00C0385D1131}"/>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1" name="Text Box 399">
            <a:extLst>
              <a:ext uri="{FF2B5EF4-FFF2-40B4-BE49-F238E27FC236}">
                <a16:creationId xmlns:a16="http://schemas.microsoft.com/office/drawing/2014/main" id="{C6CC29F8-26FC-24E1-C4C7-F92689CB5FB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2" name="对象 11">
            <a:extLst>
              <a:ext uri="{FF2B5EF4-FFF2-40B4-BE49-F238E27FC236}">
                <a16:creationId xmlns:a16="http://schemas.microsoft.com/office/drawing/2014/main" id="{26D63AB6-223E-1B9B-2F0C-29DB8FC3FE15}"/>
              </a:ext>
            </a:extLst>
          </p:cNvPr>
          <p:cNvGraphicFramePr>
            <a:graphicFrameLocks noChangeAspect="1"/>
          </p:cNvGraphicFramePr>
          <p:nvPr>
            <p:extLst>
              <p:ext uri="{D42A27DB-BD31-4B8C-83A1-F6EECF244321}">
                <p14:modId xmlns:p14="http://schemas.microsoft.com/office/powerpoint/2010/main" val="2714346310"/>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3" name="Rectangle 385">
            <a:extLst>
              <a:ext uri="{FF2B5EF4-FFF2-40B4-BE49-F238E27FC236}">
                <a16:creationId xmlns:a16="http://schemas.microsoft.com/office/drawing/2014/main" id="{2A198617-A97D-9362-0D69-A68D1F2D3959}"/>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4" name="Text Box 395">
            <a:extLst>
              <a:ext uri="{FF2B5EF4-FFF2-40B4-BE49-F238E27FC236}">
                <a16:creationId xmlns:a16="http://schemas.microsoft.com/office/drawing/2014/main" id="{34A6429C-19B5-FDDF-2869-9C0E1DCD48A5}"/>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15" name="Oval 398">
            <a:extLst>
              <a:ext uri="{FF2B5EF4-FFF2-40B4-BE49-F238E27FC236}">
                <a16:creationId xmlns:a16="http://schemas.microsoft.com/office/drawing/2014/main" id="{ACD1954C-B87B-B236-A75E-388109B3A054}"/>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6" name="Rectangle 401">
            <a:extLst>
              <a:ext uri="{FF2B5EF4-FFF2-40B4-BE49-F238E27FC236}">
                <a16:creationId xmlns:a16="http://schemas.microsoft.com/office/drawing/2014/main" id="{FA9C653A-9A68-0218-555C-D2DA8AF2D575}"/>
              </a:ext>
            </a:extLst>
          </p:cNvPr>
          <p:cNvSpPr>
            <a:spLocks noChangeArrowheads="1"/>
          </p:cNvSpPr>
          <p:nvPr/>
        </p:nvSpPr>
        <p:spPr bwMode="auto">
          <a:xfrm>
            <a:off x="5475048" y="3182144"/>
            <a:ext cx="680437" cy="1337917"/>
          </a:xfrm>
          <a:prstGeom prst="rect">
            <a:avLst/>
          </a:prstGeom>
          <a:noFill/>
          <a:ln w="12700"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7" name="Oval 402">
            <a:extLst>
              <a:ext uri="{FF2B5EF4-FFF2-40B4-BE49-F238E27FC236}">
                <a16:creationId xmlns:a16="http://schemas.microsoft.com/office/drawing/2014/main" id="{F7C7D95E-07BB-825F-95CF-91C85174456E}"/>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eaLnBrk="1" hangingPunct="1"/>
            <a:r>
              <a:rPr kumimoji="1" lang="en-US" altLang="zh-CN" sz="1100" dirty="0">
                <a:latin typeface="Montserrat" panose="00000500000000000000" pitchFamily="2" charset="0"/>
                <a:ea typeface="微软雅黑 Light" panose="020B0502040204020203" pitchFamily="34" charset="-122"/>
              </a:rPr>
              <a:t>SMTP</a:t>
            </a:r>
          </a:p>
          <a:p>
            <a:pPr algn="ctr" eaLnBrk="1" hangingPunct="1"/>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Oval 403">
            <a:extLst>
              <a:ext uri="{FF2B5EF4-FFF2-40B4-BE49-F238E27FC236}">
                <a16:creationId xmlns:a16="http://schemas.microsoft.com/office/drawing/2014/main" id="{2BBD1304-75CB-3F27-CBC8-DEE5D1EF6186}"/>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9" name="Line 408">
            <a:extLst>
              <a:ext uri="{FF2B5EF4-FFF2-40B4-BE49-F238E27FC236}">
                <a16:creationId xmlns:a16="http://schemas.microsoft.com/office/drawing/2014/main" id="{4341523B-CD04-2889-DCB7-DD12D87A1590}"/>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20" name="对象 19">
            <a:extLst>
              <a:ext uri="{FF2B5EF4-FFF2-40B4-BE49-F238E27FC236}">
                <a16:creationId xmlns:a16="http://schemas.microsoft.com/office/drawing/2014/main" id="{5004E330-1D13-F202-541A-87200755BAE1}"/>
              </a:ext>
            </a:extLst>
          </p:cNvPr>
          <p:cNvGraphicFramePr>
            <a:graphicFrameLocks noChangeAspect="1"/>
          </p:cNvGraphicFramePr>
          <p:nvPr>
            <p:extLst>
              <p:ext uri="{D42A27DB-BD31-4B8C-83A1-F6EECF244321}">
                <p14:modId xmlns:p14="http://schemas.microsoft.com/office/powerpoint/2010/main" val="2873666838"/>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1" name="Text Box 399">
            <a:extLst>
              <a:ext uri="{FF2B5EF4-FFF2-40B4-BE49-F238E27FC236}">
                <a16:creationId xmlns:a16="http://schemas.microsoft.com/office/drawing/2014/main" id="{A105E5C7-52A6-59A1-4C56-694205DE218E}"/>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2" name="Line 404">
            <a:extLst>
              <a:ext uri="{FF2B5EF4-FFF2-40B4-BE49-F238E27FC236}">
                <a16:creationId xmlns:a16="http://schemas.microsoft.com/office/drawing/2014/main" id="{0C64FA0F-A3B3-A796-CA8E-0634158C1167}"/>
              </a:ext>
            </a:extLst>
          </p:cNvPr>
          <p:cNvSpPr>
            <a:spLocks noChangeShapeType="1"/>
          </p:cNvSpPr>
          <p:nvPr/>
        </p:nvSpPr>
        <p:spPr bwMode="auto">
          <a:xfrm flipV="1">
            <a:off x="3628236" y="4129374"/>
            <a:ext cx="1928643" cy="0"/>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3" name="Text Box 409">
            <a:extLst>
              <a:ext uri="{FF2B5EF4-FFF2-40B4-BE49-F238E27FC236}">
                <a16:creationId xmlns:a16="http://schemas.microsoft.com/office/drawing/2014/main" id="{7261FD8A-4993-B38E-BD5A-2719BF0E9030}"/>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24" name="圆角矩形 418">
            <a:extLst>
              <a:ext uri="{FF2B5EF4-FFF2-40B4-BE49-F238E27FC236}">
                <a16:creationId xmlns:a16="http://schemas.microsoft.com/office/drawing/2014/main" id="{AB341327-300D-1F5D-9D95-6E922526459B}"/>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6" name="Text Box 396">
            <a:extLst>
              <a:ext uri="{FF2B5EF4-FFF2-40B4-BE49-F238E27FC236}">
                <a16:creationId xmlns:a16="http://schemas.microsoft.com/office/drawing/2014/main" id="{CAB1D031-FE36-7527-BAB1-544086CA0D8C}"/>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0" name="Text Box 399">
            <a:extLst>
              <a:ext uri="{FF2B5EF4-FFF2-40B4-BE49-F238E27FC236}">
                <a16:creationId xmlns:a16="http://schemas.microsoft.com/office/drawing/2014/main" id="{A4C6F1F2-3DB6-4C44-306A-EED2EA71156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1" name="Text Box 390">
            <a:extLst>
              <a:ext uri="{FF2B5EF4-FFF2-40B4-BE49-F238E27FC236}">
                <a16:creationId xmlns:a16="http://schemas.microsoft.com/office/drawing/2014/main" id="{96C2E3EB-226A-A5BF-9209-1CB0D859EF9C}"/>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32" name="Text Box 400">
            <a:extLst>
              <a:ext uri="{FF2B5EF4-FFF2-40B4-BE49-F238E27FC236}">
                <a16:creationId xmlns:a16="http://schemas.microsoft.com/office/drawing/2014/main" id="{74C29A35-EFE1-1232-5958-6407D628450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33" name="Text Box 407">
            <a:extLst>
              <a:ext uri="{FF2B5EF4-FFF2-40B4-BE49-F238E27FC236}">
                <a16:creationId xmlns:a16="http://schemas.microsoft.com/office/drawing/2014/main" id="{835E3FA8-712E-AB30-6107-DDFA7E65F980}"/>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4" name="Text Box 392">
            <a:extLst>
              <a:ext uri="{FF2B5EF4-FFF2-40B4-BE49-F238E27FC236}">
                <a16:creationId xmlns:a16="http://schemas.microsoft.com/office/drawing/2014/main" id="{44A77F5C-BC04-FB28-5AE5-087DADD10FBE}"/>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
        <p:nvSpPr>
          <p:cNvPr id="35" name="Text Box 394">
            <a:extLst>
              <a:ext uri="{FF2B5EF4-FFF2-40B4-BE49-F238E27FC236}">
                <a16:creationId xmlns:a16="http://schemas.microsoft.com/office/drawing/2014/main" id="{FE4845AF-B0AA-8A8D-A5C5-592E1C390946}"/>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TCP</a:t>
            </a:r>
            <a:endParaRPr kumimoji="1" lang="zh-CN" altLang="en-US" sz="1100" dirty="0">
              <a:solidFill>
                <a:srgbClr val="4BACC6"/>
              </a:solidFill>
              <a:latin typeface="Montserrat" panose="00000500000000000000" pitchFamily="2" charset="0"/>
              <a:ea typeface="微软雅黑 Light" panose="020B0502040204020203" pitchFamily="34" charset="-122"/>
            </a:endParaRPr>
          </a:p>
        </p:txBody>
      </p:sp>
      <p:sp>
        <p:nvSpPr>
          <p:cNvPr id="36" name="Text Box 389">
            <a:extLst>
              <a:ext uri="{FF2B5EF4-FFF2-40B4-BE49-F238E27FC236}">
                <a16:creationId xmlns:a16="http://schemas.microsoft.com/office/drawing/2014/main" id="{638F2722-BBE6-8D82-8A53-566CC67C4AA9}"/>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4BACC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5766395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515248841"/>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54114348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3" name="组合 2"/>
          <p:cNvGrpSpPr/>
          <p:nvPr/>
        </p:nvGrpSpPr>
        <p:grpSpPr>
          <a:xfrm>
            <a:off x="1700784" y="2860589"/>
            <a:ext cx="760001" cy="1209725"/>
            <a:chOff x="1700784" y="2878345"/>
            <a:chExt cx="760001" cy="1209725"/>
          </a:xfrm>
        </p:grpSpPr>
        <p:sp>
          <p:nvSpPr>
            <p:cNvPr id="14" name="Text Box 7"/>
            <p:cNvSpPr txBox="1">
              <a:spLocks noChangeArrowheads="1"/>
            </p:cNvSpPr>
            <p:nvPr/>
          </p:nvSpPr>
          <p:spPr bwMode="auto">
            <a:xfrm>
              <a:off x="1700784" y="2878345"/>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grpSp>
          <p:nvGrpSpPr>
            <p:cNvPr id="52" name="Group 45"/>
            <p:cNvGrpSpPr>
              <a:grpSpLocks/>
            </p:cNvGrpSpPr>
            <p:nvPr/>
          </p:nvGrpSpPr>
          <p:grpSpPr bwMode="auto">
            <a:xfrm>
              <a:off x="1900095" y="3171970"/>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69534"/>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211925"/>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81166"/>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65947"/>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99750"/>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700679"/>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80814"/>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28780"/>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53514"/>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63736"/>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504620"/>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94399"/>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88824"/>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31567"/>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50598"/>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215641"/>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211925"/>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98916"/>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90553"/>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80333"/>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89625"/>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85908"/>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216571"/>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35731"/>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36660"/>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53162"/>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28651"/>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97763"/>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74309"/>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76168"/>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36084"/>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1" name="Oval 194"/>
            <p:cNvSpPr>
              <a:spLocks noChangeArrowheads="1"/>
            </p:cNvSpPr>
            <p:nvPr/>
          </p:nvSpPr>
          <p:spPr bwMode="auto">
            <a:xfrm>
              <a:off x="2135645" y="3298340"/>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48516"/>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572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gr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442658117"/>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737935738"/>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C553C3C0-7A6A-8A85-382F-875B173271C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401" name="内容占位符 400">
            <a:extLst>
              <a:ext uri="{FF2B5EF4-FFF2-40B4-BE49-F238E27FC236}">
                <a16:creationId xmlns:a16="http://schemas.microsoft.com/office/drawing/2014/main" id="{ACF493DB-03A8-4953-E874-A44AA54A545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11634547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3960807443"/>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01165261"/>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094640158"/>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15988722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4F08B12A-1C96-21B7-FD76-E3EB8914456F}"/>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A95DA27F-1BAF-3092-11C0-B39B82A2391F}"/>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974766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1"/>
                                        </p:tgtEl>
                                        <p:attrNameLst>
                                          <p:attrName>style.visibility</p:attrName>
                                        </p:attrNameLst>
                                      </p:cBhvr>
                                      <p:to>
                                        <p:strVal val="visible"/>
                                      </p:to>
                                    </p:set>
                                    <p:animEffect transition="in" filter="wipe(left)">
                                      <p:cBhvr>
                                        <p:cTn id="7" dur="1000"/>
                                        <p:tgtEl>
                                          <p:spTgt spid="3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Lst>
  </p:timing>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418956408"/>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292360898"/>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78213399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1618396809"/>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9D5F3AB-34A3-3B35-66A1-5CC813BD54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76D24BEB-BCAB-2885-2E2C-D20844A31D46}"/>
              </a:ext>
            </a:extLst>
          </p:cNvPr>
          <p:cNvSpPr>
            <a:spLocks noGrp="1"/>
          </p:cNvSpPr>
          <p:nvPr>
            <p:ph sz="quarter" idx="11"/>
          </p:nvPr>
        </p:nvSpPr>
        <p:spPr/>
        <p:txBody>
          <a:bodyPr/>
          <a:lstStyle/>
          <a:p>
            <a:endParaRPr lang="zh-CN" altLang="en-US" dirty="0"/>
          </a:p>
        </p:txBody>
      </p:sp>
    </p:spTree>
    <p:extLst>
      <p:ext uri="{BB962C8B-B14F-4D97-AF65-F5344CB8AC3E}">
        <p14:creationId xmlns:p14="http://schemas.microsoft.com/office/powerpoint/2010/main" val="39843132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2"/>
                                        </p:tgtEl>
                                        <p:attrNameLst>
                                          <p:attrName>style.visibility</p:attrName>
                                        </p:attrNameLst>
                                      </p:cBhvr>
                                      <p:to>
                                        <p:strVal val="visible"/>
                                      </p:to>
                                    </p:set>
                                    <p:animEffect transition="in" filter="wipe(left)">
                                      <p:cBhvr>
                                        <p:cTn id="7" dur="1000"/>
                                        <p:tgtEl>
                                          <p:spTgt spid="3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2" grpId="0" animBg="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1676268534"/>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3049604450"/>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3456766184"/>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4"/>
                      <p:cNvPicPr>
                        <a:picLocks noChangeAspect="1" noChangeArrowheads="1"/>
                      </p:cNvPicPr>
                      <p:nvPr/>
                    </p:nvPicPr>
                    <p:blipFill>
                      <a:blip r:embed="rId7">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3318777676"/>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8" imgW="3561172" imgH="4347469" progId="">
                  <p:embed/>
                </p:oleObj>
              </mc:Choice>
              <mc:Fallback>
                <p:oleObj name="Visio" r:id="rId8" imgW="3561172" imgH="4347469" progId="">
                  <p:embed/>
                  <p:pic>
                    <p:nvPicPr>
                      <p:cNvPr id="0" name="Picture 305"/>
                      <p:cNvPicPr>
                        <a:picLocks noChangeAspect="1" noChangeArrowheads="1"/>
                      </p:cNvPicPr>
                      <p:nvPr/>
                    </p:nvPicPr>
                    <p:blipFill>
                      <a:blip r:embed="rId9">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7554133" y="2754331"/>
            <a:ext cx="874666" cy="1323439"/>
          </a:xfrm>
          <a:prstGeom prst="rect">
            <a:avLst/>
          </a:prstGeom>
          <a:solidFill>
            <a:srgbClr val="FFFF99"/>
          </a:solidFill>
        </p:spPr>
        <p:txBody>
          <a:bodyPr wrap="square">
            <a:spAutoFit/>
          </a:bodyPr>
          <a:lstStyle/>
          <a:p>
            <a:pPr>
              <a:lnSpc>
                <a:spcPts val="1600"/>
              </a:lnSpc>
            </a:pPr>
            <a:r>
              <a:rPr lang="zh-CN" altLang="en-US" sz="1200" b="1" dirty="0">
                <a:solidFill>
                  <a:srgbClr val="C00000"/>
                </a:solidFill>
                <a:latin typeface="微软雅黑 Light" panose="020B0502040204020203" pitchFamily="34" charset="-122"/>
                <a:ea typeface="微软雅黑 Light" panose="020B0502040204020203" pitchFamily="34" charset="-122"/>
              </a:rPr>
              <a:t>注意：</a:t>
            </a:r>
            <a:r>
              <a:rPr lang="zh-CN" altLang="en-US" sz="1200" b="1" dirty="0">
                <a:latin typeface="微软雅黑 Light" panose="020B0502040204020203" pitchFamily="34" charset="-122"/>
                <a:ea typeface="微软雅黑 Light" panose="020B0502040204020203" pitchFamily="34" charset="-122"/>
              </a:rPr>
              <a:t>邮件不会在互联网中的某个中间邮件服务器落地。</a:t>
            </a:r>
          </a:p>
        </p:txBody>
      </p:sp>
      <p:sp>
        <p:nvSpPr>
          <p:cNvPr id="2" name="标题 1">
            <a:extLst>
              <a:ext uri="{FF2B5EF4-FFF2-40B4-BE49-F238E27FC236}">
                <a16:creationId xmlns:a16="http://schemas.microsoft.com/office/drawing/2014/main" id="{92D287C2-9856-FAD6-39BF-07A0919BF271}"/>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7" name="内容占位符 396">
            <a:extLst>
              <a:ext uri="{FF2B5EF4-FFF2-40B4-BE49-F238E27FC236}">
                <a16:creationId xmlns:a16="http://schemas.microsoft.com/office/drawing/2014/main" id="{9DB5BE38-6F9E-3E8E-B07A-8105B1400D59}"/>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469115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1000"/>
                                        <p:tgtEl>
                                          <p:spTgt spid="3"/>
                                        </p:tgtEl>
                                      </p:cBhvr>
                                    </p:animEffect>
                                  </p:childTnLst>
                                </p:cTn>
                              </p:par>
                            </p:childTnLst>
                          </p:cTn>
                        </p:par>
                        <p:par>
                          <p:cTn id="8" fill="hold">
                            <p:stCondLst>
                              <p:cond delay="1000"/>
                            </p:stCondLst>
                            <p:childTnLst>
                              <p:par>
                                <p:cTn id="9" presetID="35" presetClass="emph" presetSubtype="0" repeatCount="3000" fill="hold" grpId="1" nodeType="afterEffect">
                                  <p:stCondLst>
                                    <p:cond delay="0"/>
                                  </p:stCondLst>
                                  <p:childTnLst>
                                    <p:anim calcmode="discrete" valueType="str">
                                      <p:cBhvr>
                                        <p:cTn id="10"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970004572"/>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1901863615"/>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3" imgW="1687068" imgH="964692" progId="">
                  <p:embed/>
                </p:oleObj>
              </mc:Choice>
              <mc:Fallback>
                <p:oleObj name="VISIO" r:id="rId3" imgW="1687068" imgH="964692" progId="">
                  <p:embed/>
                  <p:pic>
                    <p:nvPicPr>
                      <p:cNvPr id="0" name="Picture 303"/>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2053129981"/>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0" name="Picture 304"/>
                      <p:cNvPicPr>
                        <a:picLocks noChangeAspect="1" noChangeArrowheads="1"/>
                      </p:cNvPicPr>
                      <p:nvPr/>
                    </p:nvPicPr>
                    <p:blipFill>
                      <a:blip r:embed="rId6">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2123150761"/>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7" imgW="3561172" imgH="4347469" progId="">
                  <p:embed/>
                </p:oleObj>
              </mc:Choice>
              <mc:Fallback>
                <p:oleObj name="Visio" r:id="rId7" imgW="3561172" imgH="4347469" progId="">
                  <p:embed/>
                  <p:pic>
                    <p:nvPicPr>
                      <p:cNvPr id="0" name="Picture 305"/>
                      <p:cNvPicPr>
                        <a:picLocks noChangeAspect="1" noChangeArrowheads="1"/>
                      </p:cNvPicPr>
                      <p:nvPr/>
                    </p:nvPicPr>
                    <p:blipFill>
                      <a:blip r:embed="rId8">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2" name="标题 1">
            <a:extLst>
              <a:ext uri="{FF2B5EF4-FFF2-40B4-BE49-F238E27FC236}">
                <a16:creationId xmlns:a16="http://schemas.microsoft.com/office/drawing/2014/main" id="{D303424F-5A44-EA1C-51FC-894E908E4782}"/>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5" name="内容占位符 4">
            <a:extLst>
              <a:ext uri="{FF2B5EF4-FFF2-40B4-BE49-F238E27FC236}">
                <a16:creationId xmlns:a16="http://schemas.microsoft.com/office/drawing/2014/main" id="{C0143DFD-D060-6BD8-92AC-01F96C058D48}"/>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0953283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3" grpId="0" animBg="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8" name="Object 383"/>
          <p:cNvGraphicFramePr>
            <a:graphicFrameLocks noChangeAspect="1"/>
          </p:cNvGraphicFramePr>
          <p:nvPr>
            <p:extLst>
              <p:ext uri="{D42A27DB-BD31-4B8C-83A1-F6EECF244321}">
                <p14:modId xmlns:p14="http://schemas.microsoft.com/office/powerpoint/2010/main" val="4134161399"/>
              </p:ext>
            </p:extLst>
          </p:nvPr>
        </p:nvGraphicFramePr>
        <p:xfrm>
          <a:off x="3846905" y="3043640"/>
          <a:ext cx="1597512"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46905" y="3043640"/>
                        <a:ext cx="1597512" cy="84277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9" name="Object 383"/>
          <p:cNvGraphicFramePr>
            <a:graphicFrameLocks noChangeAspect="1"/>
          </p:cNvGraphicFramePr>
          <p:nvPr>
            <p:extLst>
              <p:ext uri="{D42A27DB-BD31-4B8C-83A1-F6EECF244321}">
                <p14:modId xmlns:p14="http://schemas.microsoft.com/office/powerpoint/2010/main" val="2865704632"/>
              </p:ext>
            </p:extLst>
          </p:nvPr>
        </p:nvGraphicFramePr>
        <p:xfrm>
          <a:off x="5780655" y="2980580"/>
          <a:ext cx="1597279" cy="842777"/>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30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80655" y="2980580"/>
                        <a:ext cx="1597279" cy="842777"/>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0" name="Line 3"/>
          <p:cNvSpPr>
            <a:spLocks noChangeShapeType="1"/>
          </p:cNvSpPr>
          <p:nvPr/>
        </p:nvSpPr>
        <p:spPr bwMode="auto">
          <a:xfrm flipH="1" flipV="1">
            <a:off x="2328917" y="3340981"/>
            <a:ext cx="483179" cy="44601"/>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 name="Freeform 4"/>
          <p:cNvSpPr>
            <a:spLocks/>
          </p:cNvSpPr>
          <p:nvPr/>
        </p:nvSpPr>
        <p:spPr bwMode="auto">
          <a:xfrm>
            <a:off x="6375543" y="3302885"/>
            <a:ext cx="483179" cy="83627"/>
          </a:xfrm>
          <a:custGeom>
            <a:avLst/>
            <a:gdLst>
              <a:gd name="T0" fmla="*/ 2147483646 w 480"/>
              <a:gd name="T1" fmla="*/ 0 h 90"/>
              <a:gd name="T2" fmla="*/ 0 w 480"/>
              <a:gd name="T3" fmla="*/ 2147483646 h 90"/>
              <a:gd name="T4" fmla="*/ 0 60000 65536"/>
              <a:gd name="T5" fmla="*/ 0 60000 65536"/>
            </a:gdLst>
            <a:ahLst/>
            <a:cxnLst>
              <a:cxn ang="T4">
                <a:pos x="T0" y="T1"/>
              </a:cxn>
              <a:cxn ang="T5">
                <a:pos x="T2" y="T3"/>
              </a:cxn>
            </a:cxnLst>
            <a:rect l="0" t="0" r="r" b="b"/>
            <a:pathLst>
              <a:path w="480" h="90">
                <a:moveTo>
                  <a:pt x="480" y="0"/>
                </a:moveTo>
                <a:lnTo>
                  <a:pt x="0" y="90"/>
                </a:lnTo>
              </a:path>
            </a:pathLst>
          </a:custGeom>
          <a:noFill/>
          <a:ln w="38100" cmpd="sng">
            <a:solidFill>
              <a:srgbClr val="0000FF"/>
            </a:solidFill>
            <a:round/>
            <a:headEnd type="none" w="med" len="med"/>
            <a:tailEnd type="non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 name="Line 5"/>
          <p:cNvSpPr>
            <a:spLocks noChangeShapeType="1"/>
          </p:cNvSpPr>
          <p:nvPr/>
        </p:nvSpPr>
        <p:spPr bwMode="auto">
          <a:xfrm flipH="1" flipV="1">
            <a:off x="5360866" y="3430183"/>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 name="Line 6"/>
          <p:cNvSpPr>
            <a:spLocks noChangeShapeType="1"/>
          </p:cNvSpPr>
          <p:nvPr/>
        </p:nvSpPr>
        <p:spPr bwMode="auto">
          <a:xfrm flipH="1" flipV="1">
            <a:off x="3440229" y="3422750"/>
            <a:ext cx="495259" cy="0"/>
          </a:xfrm>
          <a:prstGeom prst="line">
            <a:avLst/>
          </a:prstGeom>
          <a:noFill/>
          <a:ln w="38100">
            <a:solidFill>
              <a:srgbClr val="0000FF"/>
            </a:solidFill>
            <a:round/>
            <a:headEnd/>
            <a:tailEnd type="non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 name="Text Box 7"/>
          <p:cNvSpPr txBox="1">
            <a:spLocks noChangeArrowheads="1"/>
          </p:cNvSpPr>
          <p:nvPr/>
        </p:nvSpPr>
        <p:spPr bwMode="auto">
          <a:xfrm>
            <a:off x="1700784" y="2860589"/>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p:txBody>
      </p:sp>
      <p:sp>
        <p:nvSpPr>
          <p:cNvPr id="15" name="Text Box 8"/>
          <p:cNvSpPr txBox="1">
            <a:spLocks noChangeArrowheads="1"/>
          </p:cNvSpPr>
          <p:nvPr/>
        </p:nvSpPr>
        <p:spPr bwMode="auto">
          <a:xfrm>
            <a:off x="2324891" y="3949601"/>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邮件缓存</a:t>
            </a:r>
          </a:p>
        </p:txBody>
      </p:sp>
      <p:sp>
        <p:nvSpPr>
          <p:cNvPr id="16" name="Text Box 9"/>
          <p:cNvSpPr txBox="1">
            <a:spLocks noChangeArrowheads="1"/>
          </p:cNvSpPr>
          <p:nvPr/>
        </p:nvSpPr>
        <p:spPr bwMode="auto">
          <a:xfrm>
            <a:off x="5131356"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17" name="Oval 10"/>
          <p:cNvSpPr>
            <a:spLocks noChangeArrowheads="1"/>
          </p:cNvSpPr>
          <p:nvPr/>
        </p:nvSpPr>
        <p:spPr bwMode="auto">
          <a:xfrm>
            <a:off x="5662853" y="3027844"/>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8" name="Group 11"/>
          <p:cNvGrpSpPr>
            <a:grpSpLocks/>
          </p:cNvGrpSpPr>
          <p:nvPr/>
        </p:nvGrpSpPr>
        <p:grpSpPr bwMode="auto">
          <a:xfrm>
            <a:off x="5905450" y="3091958"/>
            <a:ext cx="289908" cy="267607"/>
            <a:chOff x="2351" y="2975"/>
            <a:chExt cx="481" cy="433"/>
          </a:xfrm>
          <a:effectLst/>
        </p:grpSpPr>
        <p:sp>
          <p:nvSpPr>
            <p:cNvPr id="19" name="Rectangle 12"/>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20" name="Line 13"/>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 name="Line 14"/>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 name="Line 15"/>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 name="Line 16"/>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 name="Line 17"/>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 name="Line 18"/>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 name="Line 19"/>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 name="Line 20"/>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8" name="Group 21"/>
          <p:cNvGrpSpPr>
            <a:grpSpLocks/>
          </p:cNvGrpSpPr>
          <p:nvPr/>
        </p:nvGrpSpPr>
        <p:grpSpPr bwMode="auto">
          <a:xfrm>
            <a:off x="5839013" y="3415316"/>
            <a:ext cx="463047" cy="267607"/>
            <a:chOff x="1296" y="768"/>
            <a:chExt cx="556" cy="336"/>
          </a:xfrm>
          <a:effectLst/>
        </p:grpSpPr>
        <p:sp>
          <p:nvSpPr>
            <p:cNvPr id="29" name="Rectangle 22"/>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0" name="Group 23"/>
            <p:cNvGrpSpPr>
              <a:grpSpLocks/>
            </p:cNvGrpSpPr>
            <p:nvPr/>
          </p:nvGrpSpPr>
          <p:grpSpPr bwMode="auto">
            <a:xfrm>
              <a:off x="1367" y="829"/>
              <a:ext cx="393" cy="214"/>
              <a:chOff x="2928" y="3744"/>
              <a:chExt cx="528" cy="336"/>
            </a:xfrm>
          </p:grpSpPr>
          <p:grpSp>
            <p:nvGrpSpPr>
              <p:cNvPr id="31" name="Group 24"/>
              <p:cNvGrpSpPr>
                <a:grpSpLocks/>
              </p:cNvGrpSpPr>
              <p:nvPr/>
            </p:nvGrpSpPr>
            <p:grpSpPr bwMode="auto">
              <a:xfrm>
                <a:off x="3024" y="3744"/>
                <a:ext cx="432" cy="240"/>
                <a:chOff x="2736" y="3648"/>
                <a:chExt cx="432" cy="240"/>
              </a:xfrm>
            </p:grpSpPr>
            <p:grpSp>
              <p:nvGrpSpPr>
                <p:cNvPr id="46" name="Group 25"/>
                <p:cNvGrpSpPr>
                  <a:grpSpLocks/>
                </p:cNvGrpSpPr>
                <p:nvPr/>
              </p:nvGrpSpPr>
              <p:grpSpPr bwMode="auto">
                <a:xfrm>
                  <a:off x="2736" y="3648"/>
                  <a:ext cx="432" cy="240"/>
                  <a:chOff x="2592" y="3504"/>
                  <a:chExt cx="576" cy="384"/>
                </a:xfrm>
              </p:grpSpPr>
              <p:sp>
                <p:nvSpPr>
                  <p:cNvPr id="48" name="Rectangle 26"/>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Freeform 27"/>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0" name="Line 28"/>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51" name="Line 29"/>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7" name="Line 30"/>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 name="Group 31"/>
              <p:cNvGrpSpPr>
                <a:grpSpLocks/>
              </p:cNvGrpSpPr>
              <p:nvPr/>
            </p:nvGrpSpPr>
            <p:grpSpPr bwMode="auto">
              <a:xfrm>
                <a:off x="2976" y="3792"/>
                <a:ext cx="432" cy="240"/>
                <a:chOff x="2736" y="3648"/>
                <a:chExt cx="432" cy="240"/>
              </a:xfrm>
            </p:grpSpPr>
            <p:grpSp>
              <p:nvGrpSpPr>
                <p:cNvPr id="40" name="Group 32"/>
                <p:cNvGrpSpPr>
                  <a:grpSpLocks/>
                </p:cNvGrpSpPr>
                <p:nvPr/>
              </p:nvGrpSpPr>
              <p:grpSpPr bwMode="auto">
                <a:xfrm>
                  <a:off x="2736" y="3648"/>
                  <a:ext cx="432" cy="240"/>
                  <a:chOff x="2592" y="3504"/>
                  <a:chExt cx="576" cy="384"/>
                </a:xfrm>
              </p:grpSpPr>
              <p:sp>
                <p:nvSpPr>
                  <p:cNvPr id="42" name="Rectangle 33"/>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Freeform 34"/>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4" name="Line 35"/>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45" name="Line 36"/>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41" name="Line 37"/>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 name="Group 38"/>
              <p:cNvGrpSpPr>
                <a:grpSpLocks/>
              </p:cNvGrpSpPr>
              <p:nvPr/>
            </p:nvGrpSpPr>
            <p:grpSpPr bwMode="auto">
              <a:xfrm>
                <a:off x="2928" y="3840"/>
                <a:ext cx="432" cy="240"/>
                <a:chOff x="2736" y="3648"/>
                <a:chExt cx="432" cy="240"/>
              </a:xfrm>
            </p:grpSpPr>
            <p:grpSp>
              <p:nvGrpSpPr>
                <p:cNvPr id="34" name="Group 39"/>
                <p:cNvGrpSpPr>
                  <a:grpSpLocks/>
                </p:cNvGrpSpPr>
                <p:nvPr/>
              </p:nvGrpSpPr>
              <p:grpSpPr bwMode="auto">
                <a:xfrm>
                  <a:off x="2736" y="3648"/>
                  <a:ext cx="432" cy="240"/>
                  <a:chOff x="2592" y="3504"/>
                  <a:chExt cx="576" cy="384"/>
                </a:xfrm>
              </p:grpSpPr>
              <p:sp>
                <p:nvSpPr>
                  <p:cNvPr id="36" name="Rectangle 40"/>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Freeform 41"/>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8" name="Line 42"/>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 name="Line 43"/>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5" name="Line 44"/>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52" name="Group 45"/>
          <p:cNvGrpSpPr>
            <a:grpSpLocks/>
          </p:cNvGrpSpPr>
          <p:nvPr/>
        </p:nvGrpSpPr>
        <p:grpSpPr bwMode="auto">
          <a:xfrm>
            <a:off x="1900095" y="3154214"/>
            <a:ext cx="560690" cy="593753"/>
            <a:chOff x="246" y="1767"/>
            <a:chExt cx="557" cy="639"/>
          </a:xfrm>
        </p:grpSpPr>
        <p:grpSp>
          <p:nvGrpSpPr>
            <p:cNvPr id="53" name="Group 46"/>
            <p:cNvGrpSpPr>
              <a:grpSpLocks/>
            </p:cNvGrpSpPr>
            <p:nvPr/>
          </p:nvGrpSpPr>
          <p:grpSpPr bwMode="auto">
            <a:xfrm>
              <a:off x="246" y="1943"/>
              <a:ext cx="557" cy="463"/>
              <a:chOff x="246" y="1943"/>
              <a:chExt cx="557" cy="463"/>
            </a:xfrm>
          </p:grpSpPr>
          <p:sp>
            <p:nvSpPr>
              <p:cNvPr id="106" name="Freeform 47"/>
              <p:cNvSpPr>
                <a:spLocks/>
              </p:cNvSpPr>
              <p:nvPr/>
            </p:nvSpPr>
            <p:spPr bwMode="auto">
              <a:xfrm>
                <a:off x="373" y="2005"/>
                <a:ext cx="196" cy="295"/>
              </a:xfrm>
              <a:custGeom>
                <a:avLst/>
                <a:gdLst>
                  <a:gd name="T0" fmla="*/ 0 w 982"/>
                  <a:gd name="T1" fmla="*/ 0 h 1477"/>
                  <a:gd name="T2" fmla="*/ 0 w 982"/>
                  <a:gd name="T3" fmla="*/ 0 h 1477"/>
                  <a:gd name="T4" fmla="*/ 0 w 982"/>
                  <a:gd name="T5" fmla="*/ 0 h 1477"/>
                  <a:gd name="T6" fmla="*/ 0 w 982"/>
                  <a:gd name="T7" fmla="*/ 0 h 147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82" h="1477">
                    <a:moveTo>
                      <a:pt x="652" y="26"/>
                    </a:moveTo>
                    <a:lnTo>
                      <a:pt x="982" y="1347"/>
                    </a:lnTo>
                    <a:lnTo>
                      <a:pt x="0" y="1477"/>
                    </a:lnTo>
                    <a:lnTo>
                      <a:pt x="252" y="0"/>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07" name="Group 48"/>
              <p:cNvGrpSpPr>
                <a:grpSpLocks/>
              </p:cNvGrpSpPr>
              <p:nvPr/>
            </p:nvGrpSpPr>
            <p:grpSpPr bwMode="auto">
              <a:xfrm>
                <a:off x="246" y="1943"/>
                <a:ext cx="551" cy="121"/>
                <a:chOff x="246" y="1943"/>
                <a:chExt cx="551" cy="121"/>
              </a:xfrm>
            </p:grpSpPr>
            <p:sp>
              <p:nvSpPr>
                <p:cNvPr id="109" name="Freeform 49"/>
                <p:cNvSpPr>
                  <a:spLocks/>
                </p:cNvSpPr>
                <p:nvPr/>
              </p:nvSpPr>
              <p:spPr bwMode="auto">
                <a:xfrm>
                  <a:off x="246" y="1943"/>
                  <a:ext cx="551" cy="104"/>
                </a:xfrm>
                <a:custGeom>
                  <a:avLst/>
                  <a:gdLst>
                    <a:gd name="T0" fmla="*/ 0 w 2751"/>
                    <a:gd name="T1" fmla="*/ 0 h 522"/>
                    <a:gd name="T2" fmla="*/ 0 w 2751"/>
                    <a:gd name="T3" fmla="*/ 0 h 522"/>
                    <a:gd name="T4" fmla="*/ 0 w 2751"/>
                    <a:gd name="T5" fmla="*/ 0 h 522"/>
                    <a:gd name="T6" fmla="*/ 0 w 2751"/>
                    <a:gd name="T7" fmla="*/ 0 h 522"/>
                    <a:gd name="T8" fmla="*/ 0 w 2751"/>
                    <a:gd name="T9" fmla="*/ 0 h 52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751" h="522">
                      <a:moveTo>
                        <a:pt x="2751" y="270"/>
                      </a:moveTo>
                      <a:lnTo>
                        <a:pt x="1016" y="522"/>
                      </a:lnTo>
                      <a:lnTo>
                        <a:pt x="0" y="132"/>
                      </a:lnTo>
                      <a:lnTo>
                        <a:pt x="1302" y="0"/>
                      </a:lnTo>
                      <a:lnTo>
                        <a:pt x="2751" y="270"/>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0" name="Freeform 50"/>
                <p:cNvSpPr>
                  <a:spLocks/>
                </p:cNvSpPr>
                <p:nvPr/>
              </p:nvSpPr>
              <p:spPr bwMode="auto">
                <a:xfrm>
                  <a:off x="450" y="1997"/>
                  <a:ext cx="345" cy="67"/>
                </a:xfrm>
                <a:custGeom>
                  <a:avLst/>
                  <a:gdLst>
                    <a:gd name="T0" fmla="*/ 0 w 1728"/>
                    <a:gd name="T1" fmla="*/ 0 h 337"/>
                    <a:gd name="T2" fmla="*/ 0 w 1728"/>
                    <a:gd name="T3" fmla="*/ 0 h 337"/>
                    <a:gd name="T4" fmla="*/ 0 w 1728"/>
                    <a:gd name="T5" fmla="*/ 0 h 337"/>
                    <a:gd name="T6" fmla="*/ 0 w 1728"/>
                    <a:gd name="T7" fmla="*/ 0 h 337"/>
                    <a:gd name="T8" fmla="*/ 0 w 1728"/>
                    <a:gd name="T9" fmla="*/ 0 h 33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28" h="337">
                      <a:moveTo>
                        <a:pt x="1728" y="0"/>
                      </a:moveTo>
                      <a:lnTo>
                        <a:pt x="0" y="251"/>
                      </a:lnTo>
                      <a:lnTo>
                        <a:pt x="0" y="337"/>
                      </a:lnTo>
                      <a:lnTo>
                        <a:pt x="1728" y="88"/>
                      </a:lnTo>
                      <a:lnTo>
                        <a:pt x="1728" y="0"/>
                      </a:lnTo>
                      <a:close/>
                    </a:path>
                  </a:pathLst>
                </a:custGeom>
                <a:solidFill>
                  <a:srgbClr val="E0E0E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1" name="Freeform 51"/>
                <p:cNvSpPr>
                  <a:spLocks/>
                </p:cNvSpPr>
                <p:nvPr/>
              </p:nvSpPr>
              <p:spPr bwMode="auto">
                <a:xfrm>
                  <a:off x="246" y="1969"/>
                  <a:ext cx="204" cy="95"/>
                </a:xfrm>
                <a:custGeom>
                  <a:avLst/>
                  <a:gdLst>
                    <a:gd name="T0" fmla="*/ 0 w 1016"/>
                    <a:gd name="T1" fmla="*/ 0 h 476"/>
                    <a:gd name="T2" fmla="*/ 0 w 1016"/>
                    <a:gd name="T3" fmla="*/ 0 h 476"/>
                    <a:gd name="T4" fmla="*/ 0 w 1016"/>
                    <a:gd name="T5" fmla="*/ 0 h 476"/>
                    <a:gd name="T6" fmla="*/ 0 w 1016"/>
                    <a:gd name="T7" fmla="*/ 0 h 476"/>
                    <a:gd name="T8" fmla="*/ 0 w 1016"/>
                    <a:gd name="T9" fmla="*/ 0 h 4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16" h="476">
                      <a:moveTo>
                        <a:pt x="1016" y="476"/>
                      </a:moveTo>
                      <a:lnTo>
                        <a:pt x="1016" y="390"/>
                      </a:lnTo>
                      <a:lnTo>
                        <a:pt x="0" y="0"/>
                      </a:lnTo>
                      <a:lnTo>
                        <a:pt x="0" y="60"/>
                      </a:lnTo>
                      <a:lnTo>
                        <a:pt x="1016" y="47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08" name="Freeform 52"/>
              <p:cNvSpPr>
                <a:spLocks/>
              </p:cNvSpPr>
              <p:nvPr/>
            </p:nvSpPr>
            <p:spPr bwMode="auto">
              <a:xfrm>
                <a:off x="564" y="2028"/>
                <a:ext cx="239" cy="378"/>
              </a:xfrm>
              <a:custGeom>
                <a:avLst/>
                <a:gdLst>
                  <a:gd name="T0" fmla="*/ 0 w 1195"/>
                  <a:gd name="T1" fmla="*/ 0 h 1893"/>
                  <a:gd name="T2" fmla="*/ 0 w 1195"/>
                  <a:gd name="T3" fmla="*/ 0 h 1893"/>
                  <a:gd name="T4" fmla="*/ 0 w 1195"/>
                  <a:gd name="T5" fmla="*/ 0 h 1893"/>
                  <a:gd name="T6" fmla="*/ 0 w 1195"/>
                  <a:gd name="T7" fmla="*/ 0 h 18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95" h="1893">
                    <a:moveTo>
                      <a:pt x="660" y="0"/>
                    </a:moveTo>
                    <a:lnTo>
                      <a:pt x="1195" y="1747"/>
                    </a:lnTo>
                    <a:lnTo>
                      <a:pt x="0" y="1893"/>
                    </a:lnTo>
                    <a:lnTo>
                      <a:pt x="191" y="35"/>
                    </a:lnTo>
                  </a:path>
                </a:pathLst>
              </a:custGeom>
              <a:noFill/>
              <a:ln w="1746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4" name="Group 53"/>
            <p:cNvGrpSpPr>
              <a:grpSpLocks/>
            </p:cNvGrpSpPr>
            <p:nvPr/>
          </p:nvGrpSpPr>
          <p:grpSpPr bwMode="auto">
            <a:xfrm>
              <a:off x="325" y="1767"/>
              <a:ext cx="383" cy="268"/>
              <a:chOff x="325" y="1767"/>
              <a:chExt cx="383" cy="268"/>
            </a:xfrm>
          </p:grpSpPr>
          <p:grpSp>
            <p:nvGrpSpPr>
              <p:cNvPr id="55" name="Group 54"/>
              <p:cNvGrpSpPr>
                <a:grpSpLocks/>
              </p:cNvGrpSpPr>
              <p:nvPr/>
            </p:nvGrpSpPr>
            <p:grpSpPr bwMode="auto">
              <a:xfrm>
                <a:off x="412" y="1767"/>
                <a:ext cx="296" cy="243"/>
                <a:chOff x="412" y="1767"/>
                <a:chExt cx="296" cy="243"/>
              </a:xfrm>
            </p:grpSpPr>
            <p:grpSp>
              <p:nvGrpSpPr>
                <p:cNvPr id="88" name="Group 55"/>
                <p:cNvGrpSpPr>
                  <a:grpSpLocks/>
                </p:cNvGrpSpPr>
                <p:nvPr/>
              </p:nvGrpSpPr>
              <p:grpSpPr bwMode="auto">
                <a:xfrm>
                  <a:off x="412" y="1767"/>
                  <a:ext cx="296" cy="243"/>
                  <a:chOff x="412" y="1767"/>
                  <a:chExt cx="296" cy="243"/>
                </a:xfrm>
              </p:grpSpPr>
              <p:grpSp>
                <p:nvGrpSpPr>
                  <p:cNvPr id="97" name="Group 56"/>
                  <p:cNvGrpSpPr>
                    <a:grpSpLocks/>
                  </p:cNvGrpSpPr>
                  <p:nvPr/>
                </p:nvGrpSpPr>
                <p:grpSpPr bwMode="auto">
                  <a:xfrm>
                    <a:off x="412" y="1904"/>
                    <a:ext cx="296" cy="106"/>
                    <a:chOff x="412" y="1904"/>
                    <a:chExt cx="296" cy="106"/>
                  </a:xfrm>
                </p:grpSpPr>
                <p:sp>
                  <p:nvSpPr>
                    <p:cNvPr id="103" name="Freeform 57"/>
                    <p:cNvSpPr>
                      <a:spLocks/>
                    </p:cNvSpPr>
                    <p:nvPr/>
                  </p:nvSpPr>
                  <p:spPr bwMode="auto">
                    <a:xfrm>
                      <a:off x="412" y="1904"/>
                      <a:ext cx="170" cy="106"/>
                    </a:xfrm>
                    <a:custGeom>
                      <a:avLst/>
                      <a:gdLst>
                        <a:gd name="T0" fmla="*/ 0 w 848"/>
                        <a:gd name="T1" fmla="*/ 0 h 530"/>
                        <a:gd name="T2" fmla="*/ 0 w 848"/>
                        <a:gd name="T3" fmla="*/ 0 h 530"/>
                        <a:gd name="T4" fmla="*/ 0 w 848"/>
                        <a:gd name="T5" fmla="*/ 0 h 530"/>
                        <a:gd name="T6" fmla="*/ 0 w 848"/>
                        <a:gd name="T7" fmla="*/ 0 h 530"/>
                        <a:gd name="T8" fmla="*/ 0 w 848"/>
                        <a:gd name="T9" fmla="*/ 0 h 5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8" h="530">
                          <a:moveTo>
                            <a:pt x="848" y="162"/>
                          </a:moveTo>
                          <a:lnTo>
                            <a:pt x="848" y="530"/>
                          </a:lnTo>
                          <a:lnTo>
                            <a:pt x="0" y="258"/>
                          </a:lnTo>
                          <a:lnTo>
                            <a:pt x="0" y="0"/>
                          </a:lnTo>
                          <a:lnTo>
                            <a:pt x="848" y="162"/>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4" name="Freeform 58"/>
                    <p:cNvSpPr>
                      <a:spLocks/>
                    </p:cNvSpPr>
                    <p:nvPr/>
                  </p:nvSpPr>
                  <p:spPr bwMode="auto">
                    <a:xfrm>
                      <a:off x="582" y="1929"/>
                      <a:ext cx="126" cy="81"/>
                    </a:xfrm>
                    <a:custGeom>
                      <a:avLst/>
                      <a:gdLst>
                        <a:gd name="T0" fmla="*/ 0 w 631"/>
                        <a:gd name="T1" fmla="*/ 0 h 404"/>
                        <a:gd name="T2" fmla="*/ 0 w 631"/>
                        <a:gd name="T3" fmla="*/ 0 h 404"/>
                        <a:gd name="T4" fmla="*/ 0 w 631"/>
                        <a:gd name="T5" fmla="*/ 0 h 404"/>
                        <a:gd name="T6" fmla="*/ 0 w 631"/>
                        <a:gd name="T7" fmla="*/ 0 h 404"/>
                        <a:gd name="T8" fmla="*/ 0 w 631"/>
                        <a:gd name="T9" fmla="*/ 0 h 40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1" h="404">
                          <a:moveTo>
                            <a:pt x="0" y="36"/>
                          </a:moveTo>
                          <a:lnTo>
                            <a:pt x="0" y="404"/>
                          </a:lnTo>
                          <a:lnTo>
                            <a:pt x="631" y="312"/>
                          </a:lnTo>
                          <a:lnTo>
                            <a:pt x="631" y="0"/>
                          </a:lnTo>
                          <a:lnTo>
                            <a:pt x="0" y="36"/>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5" name="Freeform 59"/>
                    <p:cNvSpPr>
                      <a:spLocks/>
                    </p:cNvSpPr>
                    <p:nvPr/>
                  </p:nvSpPr>
                  <p:spPr bwMode="auto">
                    <a:xfrm>
                      <a:off x="412" y="1904"/>
                      <a:ext cx="296" cy="32"/>
                    </a:xfrm>
                    <a:custGeom>
                      <a:avLst/>
                      <a:gdLst>
                        <a:gd name="T0" fmla="*/ 0 w 1479"/>
                        <a:gd name="T1" fmla="*/ 0 h 162"/>
                        <a:gd name="T2" fmla="*/ 0 w 1479"/>
                        <a:gd name="T3" fmla="*/ 0 h 162"/>
                        <a:gd name="T4" fmla="*/ 0 w 1479"/>
                        <a:gd name="T5" fmla="*/ 0 h 162"/>
                        <a:gd name="T6" fmla="*/ 0 w 1479"/>
                        <a:gd name="T7" fmla="*/ 0 h 162"/>
                        <a:gd name="T8" fmla="*/ 0 w 1479"/>
                        <a:gd name="T9" fmla="*/ 0 h 1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479" h="162">
                          <a:moveTo>
                            <a:pt x="1479" y="126"/>
                          </a:moveTo>
                          <a:lnTo>
                            <a:pt x="842" y="162"/>
                          </a:lnTo>
                          <a:lnTo>
                            <a:pt x="0" y="0"/>
                          </a:lnTo>
                          <a:lnTo>
                            <a:pt x="619" y="0"/>
                          </a:lnTo>
                          <a:lnTo>
                            <a:pt x="1479" y="126"/>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98" name="Freeform 60"/>
                  <p:cNvSpPr>
                    <a:spLocks/>
                  </p:cNvSpPr>
                  <p:nvPr/>
                </p:nvSpPr>
                <p:spPr bwMode="auto">
                  <a:xfrm>
                    <a:off x="504" y="1895"/>
                    <a:ext cx="108" cy="30"/>
                  </a:xfrm>
                  <a:custGeom>
                    <a:avLst/>
                    <a:gdLst>
                      <a:gd name="T0" fmla="*/ 0 w 538"/>
                      <a:gd name="T1" fmla="*/ 0 h 151"/>
                      <a:gd name="T2" fmla="*/ 0 w 538"/>
                      <a:gd name="T3" fmla="*/ 0 h 151"/>
                      <a:gd name="T4" fmla="*/ 0 w 538"/>
                      <a:gd name="T5" fmla="*/ 0 h 151"/>
                      <a:gd name="T6" fmla="*/ 0 w 538"/>
                      <a:gd name="T7" fmla="*/ 0 h 151"/>
                      <a:gd name="T8" fmla="*/ 0 w 538"/>
                      <a:gd name="T9" fmla="*/ 0 h 151"/>
                      <a:gd name="T10" fmla="*/ 0 w 538"/>
                      <a:gd name="T11" fmla="*/ 0 h 15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38" h="151">
                        <a:moveTo>
                          <a:pt x="538" y="86"/>
                        </a:moveTo>
                        <a:lnTo>
                          <a:pt x="538" y="135"/>
                        </a:lnTo>
                        <a:lnTo>
                          <a:pt x="287" y="151"/>
                        </a:lnTo>
                        <a:lnTo>
                          <a:pt x="0" y="97"/>
                        </a:lnTo>
                        <a:lnTo>
                          <a:pt x="0" y="0"/>
                        </a:lnTo>
                        <a:lnTo>
                          <a:pt x="538" y="86"/>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99" name="Group 61"/>
                  <p:cNvGrpSpPr>
                    <a:grpSpLocks/>
                  </p:cNvGrpSpPr>
                  <p:nvPr/>
                </p:nvGrpSpPr>
                <p:grpSpPr bwMode="auto">
                  <a:xfrm>
                    <a:off x="446" y="1767"/>
                    <a:ext cx="239" cy="151"/>
                    <a:chOff x="446" y="1767"/>
                    <a:chExt cx="239" cy="151"/>
                  </a:xfrm>
                </p:grpSpPr>
                <p:sp>
                  <p:nvSpPr>
                    <p:cNvPr id="100" name="Freeform 62"/>
                    <p:cNvSpPr>
                      <a:spLocks/>
                    </p:cNvSpPr>
                    <p:nvPr/>
                  </p:nvSpPr>
                  <p:spPr bwMode="auto">
                    <a:xfrm>
                      <a:off x="446" y="1767"/>
                      <a:ext cx="137" cy="148"/>
                    </a:xfrm>
                    <a:custGeom>
                      <a:avLst/>
                      <a:gdLst>
                        <a:gd name="T0" fmla="*/ 0 w 686"/>
                        <a:gd name="T1" fmla="*/ 0 h 740"/>
                        <a:gd name="T2" fmla="*/ 0 w 686"/>
                        <a:gd name="T3" fmla="*/ 0 h 740"/>
                        <a:gd name="T4" fmla="*/ 0 w 686"/>
                        <a:gd name="T5" fmla="*/ 0 h 740"/>
                        <a:gd name="T6" fmla="*/ 0 w 686"/>
                        <a:gd name="T7" fmla="*/ 0 h 740"/>
                        <a:gd name="T8" fmla="*/ 0 w 686"/>
                        <a:gd name="T9" fmla="*/ 0 h 7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6" h="740">
                          <a:moveTo>
                            <a:pt x="589" y="740"/>
                          </a:moveTo>
                          <a:lnTo>
                            <a:pt x="686" y="24"/>
                          </a:lnTo>
                          <a:lnTo>
                            <a:pt x="95" y="0"/>
                          </a:lnTo>
                          <a:lnTo>
                            <a:pt x="0" y="638"/>
                          </a:lnTo>
                          <a:lnTo>
                            <a:pt x="589" y="740"/>
                          </a:lnTo>
                          <a:close/>
                        </a:path>
                      </a:pathLst>
                    </a:custGeom>
                    <a:solidFill>
                      <a:srgbClr val="A0A0A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1" name="Freeform 63"/>
                    <p:cNvSpPr>
                      <a:spLocks/>
                    </p:cNvSpPr>
                    <p:nvPr/>
                  </p:nvSpPr>
                  <p:spPr bwMode="auto">
                    <a:xfrm>
                      <a:off x="564" y="1771"/>
                      <a:ext cx="121" cy="147"/>
                    </a:xfrm>
                    <a:custGeom>
                      <a:avLst/>
                      <a:gdLst>
                        <a:gd name="T0" fmla="*/ 0 w 608"/>
                        <a:gd name="T1" fmla="*/ 0 h 735"/>
                        <a:gd name="T2" fmla="*/ 0 w 608"/>
                        <a:gd name="T3" fmla="*/ 0 h 735"/>
                        <a:gd name="T4" fmla="*/ 0 w 608"/>
                        <a:gd name="T5" fmla="*/ 0 h 735"/>
                        <a:gd name="T6" fmla="*/ 0 w 608"/>
                        <a:gd name="T7" fmla="*/ 0 h 735"/>
                        <a:gd name="T8" fmla="*/ 0 w 608"/>
                        <a:gd name="T9" fmla="*/ 0 h 73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8" h="735">
                          <a:moveTo>
                            <a:pt x="97" y="0"/>
                          </a:moveTo>
                          <a:lnTo>
                            <a:pt x="608" y="163"/>
                          </a:lnTo>
                          <a:lnTo>
                            <a:pt x="536" y="735"/>
                          </a:lnTo>
                          <a:lnTo>
                            <a:pt x="0" y="717"/>
                          </a:lnTo>
                          <a:lnTo>
                            <a:pt x="97" y="0"/>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02" name="Freeform 64"/>
                    <p:cNvSpPr>
                      <a:spLocks/>
                    </p:cNvSpPr>
                    <p:nvPr/>
                  </p:nvSpPr>
                  <p:spPr bwMode="auto">
                    <a:xfrm>
                      <a:off x="462" y="1781"/>
                      <a:ext cx="98" cy="112"/>
                    </a:xfrm>
                    <a:custGeom>
                      <a:avLst/>
                      <a:gdLst>
                        <a:gd name="T0" fmla="*/ 0 w 493"/>
                        <a:gd name="T1" fmla="*/ 0 h 557"/>
                        <a:gd name="T2" fmla="*/ 0 w 493"/>
                        <a:gd name="T3" fmla="*/ 0 h 557"/>
                        <a:gd name="T4" fmla="*/ 0 w 493"/>
                        <a:gd name="T5" fmla="*/ 0 h 557"/>
                        <a:gd name="T6" fmla="*/ 0 w 493"/>
                        <a:gd name="T7" fmla="*/ 0 h 557"/>
                        <a:gd name="T8" fmla="*/ 0 w 493"/>
                        <a:gd name="T9" fmla="*/ 0 h 5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93" h="557">
                          <a:moveTo>
                            <a:pt x="493" y="25"/>
                          </a:moveTo>
                          <a:lnTo>
                            <a:pt x="423" y="557"/>
                          </a:lnTo>
                          <a:lnTo>
                            <a:pt x="0" y="494"/>
                          </a:lnTo>
                          <a:lnTo>
                            <a:pt x="73" y="0"/>
                          </a:lnTo>
                          <a:lnTo>
                            <a:pt x="493" y="25"/>
                          </a:lnTo>
                          <a:close/>
                        </a:path>
                      </a:pathLst>
                    </a:custGeom>
                    <a:solidFill>
                      <a:srgbClr val="0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89" name="Group 65"/>
                <p:cNvGrpSpPr>
                  <a:grpSpLocks/>
                </p:cNvGrpSpPr>
                <p:nvPr/>
              </p:nvGrpSpPr>
              <p:grpSpPr bwMode="auto">
                <a:xfrm>
                  <a:off x="424" y="1915"/>
                  <a:ext cx="97" cy="69"/>
                  <a:chOff x="424" y="1915"/>
                  <a:chExt cx="97" cy="69"/>
                </a:xfrm>
              </p:grpSpPr>
              <p:sp>
                <p:nvSpPr>
                  <p:cNvPr id="90" name="Freeform 66"/>
                  <p:cNvSpPr>
                    <a:spLocks/>
                  </p:cNvSpPr>
                  <p:nvPr/>
                </p:nvSpPr>
                <p:spPr bwMode="auto">
                  <a:xfrm>
                    <a:off x="424" y="1915"/>
                    <a:ext cx="97" cy="69"/>
                  </a:xfrm>
                  <a:custGeom>
                    <a:avLst/>
                    <a:gdLst>
                      <a:gd name="T0" fmla="*/ 0 w 483"/>
                      <a:gd name="T1" fmla="*/ 0 h 346"/>
                      <a:gd name="T2" fmla="*/ 0 w 483"/>
                      <a:gd name="T3" fmla="*/ 0 h 346"/>
                      <a:gd name="T4" fmla="*/ 0 w 483"/>
                      <a:gd name="T5" fmla="*/ 0 h 346"/>
                      <a:gd name="T6" fmla="*/ 0 w 483"/>
                      <a:gd name="T7" fmla="*/ 0 h 346"/>
                      <a:gd name="T8" fmla="*/ 0 w 483"/>
                      <a:gd name="T9" fmla="*/ 0 h 3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3" h="346">
                        <a:moveTo>
                          <a:pt x="0" y="0"/>
                        </a:moveTo>
                        <a:lnTo>
                          <a:pt x="483" y="104"/>
                        </a:lnTo>
                        <a:lnTo>
                          <a:pt x="483" y="346"/>
                        </a:lnTo>
                        <a:lnTo>
                          <a:pt x="0" y="195"/>
                        </a:lnTo>
                        <a:lnTo>
                          <a:pt x="0" y="0"/>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1" name="Line 67"/>
                  <p:cNvSpPr>
                    <a:spLocks noChangeShapeType="1"/>
                  </p:cNvSpPr>
                  <p:nvPr/>
                </p:nvSpPr>
                <p:spPr bwMode="auto">
                  <a:xfrm flipH="1" flipV="1">
                    <a:off x="433" y="1933"/>
                    <a:ext cx="26" cy="6"/>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2" name="Line 68"/>
                  <p:cNvSpPr>
                    <a:spLocks noChangeShapeType="1"/>
                  </p:cNvSpPr>
                  <p:nvPr/>
                </p:nvSpPr>
                <p:spPr bwMode="auto">
                  <a:xfrm>
                    <a:off x="472" y="1941"/>
                    <a:ext cx="34" cy="7"/>
                  </a:xfrm>
                  <a:prstGeom prst="line">
                    <a:avLst/>
                  </a:prstGeom>
                  <a:noFill/>
                  <a:ln w="6350">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3" name="Line 69"/>
                  <p:cNvSpPr>
                    <a:spLocks noChangeShapeType="1"/>
                  </p:cNvSpPr>
                  <p:nvPr/>
                </p:nvSpPr>
                <p:spPr bwMode="auto">
                  <a:xfrm>
                    <a:off x="465" y="1924"/>
                    <a:ext cx="1" cy="4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4" name="Line 70"/>
                  <p:cNvSpPr>
                    <a:spLocks noChangeShapeType="1"/>
                  </p:cNvSpPr>
                  <p:nvPr/>
                </p:nvSpPr>
                <p:spPr bwMode="auto">
                  <a:xfrm>
                    <a:off x="511" y="1934"/>
                    <a:ext cx="1" cy="49"/>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5" name="Line 71"/>
                  <p:cNvSpPr>
                    <a:spLocks noChangeShapeType="1"/>
                  </p:cNvSpPr>
                  <p:nvPr/>
                </p:nvSpPr>
                <p:spPr bwMode="auto">
                  <a:xfrm>
                    <a:off x="425" y="1933"/>
                    <a:ext cx="88" cy="22"/>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96" name="Line 72"/>
                  <p:cNvSpPr>
                    <a:spLocks noChangeShapeType="1"/>
                  </p:cNvSpPr>
                  <p:nvPr/>
                </p:nvSpPr>
                <p:spPr bwMode="auto">
                  <a:xfrm flipH="1" flipV="1">
                    <a:off x="424" y="1926"/>
                    <a:ext cx="89" cy="21"/>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56" name="Group 73"/>
              <p:cNvGrpSpPr>
                <a:grpSpLocks/>
              </p:cNvGrpSpPr>
              <p:nvPr/>
            </p:nvGrpSpPr>
            <p:grpSpPr bwMode="auto">
              <a:xfrm>
                <a:off x="325" y="1917"/>
                <a:ext cx="231" cy="118"/>
                <a:chOff x="325" y="1917"/>
                <a:chExt cx="231" cy="118"/>
              </a:xfrm>
            </p:grpSpPr>
            <p:grpSp>
              <p:nvGrpSpPr>
                <p:cNvPr id="57" name="Group 74"/>
                <p:cNvGrpSpPr>
                  <a:grpSpLocks/>
                </p:cNvGrpSpPr>
                <p:nvPr/>
              </p:nvGrpSpPr>
              <p:grpSpPr bwMode="auto">
                <a:xfrm>
                  <a:off x="504" y="1981"/>
                  <a:ext cx="37" cy="28"/>
                  <a:chOff x="504" y="1981"/>
                  <a:chExt cx="37" cy="28"/>
                </a:xfrm>
              </p:grpSpPr>
              <p:sp>
                <p:nvSpPr>
                  <p:cNvPr id="86" name="Freeform 75"/>
                  <p:cNvSpPr>
                    <a:spLocks/>
                  </p:cNvSpPr>
                  <p:nvPr/>
                </p:nvSpPr>
                <p:spPr bwMode="auto">
                  <a:xfrm>
                    <a:off x="531" y="1981"/>
                    <a:ext cx="10" cy="28"/>
                  </a:xfrm>
                  <a:custGeom>
                    <a:avLst/>
                    <a:gdLst>
                      <a:gd name="T0" fmla="*/ 0 w 53"/>
                      <a:gd name="T1" fmla="*/ 0 h 140"/>
                      <a:gd name="T2" fmla="*/ 0 w 53"/>
                      <a:gd name="T3" fmla="*/ 0 h 140"/>
                      <a:gd name="T4" fmla="*/ 0 w 53"/>
                      <a:gd name="T5" fmla="*/ 0 h 140"/>
                      <a:gd name="T6" fmla="*/ 0 w 53"/>
                      <a:gd name="T7" fmla="*/ 0 h 140"/>
                      <a:gd name="T8" fmla="*/ 0 w 53"/>
                      <a:gd name="T9" fmla="*/ 0 h 1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3" h="140">
                        <a:moveTo>
                          <a:pt x="37" y="0"/>
                        </a:moveTo>
                        <a:lnTo>
                          <a:pt x="53" y="131"/>
                        </a:lnTo>
                        <a:lnTo>
                          <a:pt x="14" y="140"/>
                        </a:lnTo>
                        <a:lnTo>
                          <a:pt x="0" y="6"/>
                        </a:lnTo>
                        <a:lnTo>
                          <a:pt x="3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7" name="Freeform 76"/>
                  <p:cNvSpPr>
                    <a:spLocks/>
                  </p:cNvSpPr>
                  <p:nvPr/>
                </p:nvSpPr>
                <p:spPr bwMode="auto">
                  <a:xfrm>
                    <a:off x="504" y="1985"/>
                    <a:ext cx="29" cy="24"/>
                  </a:xfrm>
                  <a:custGeom>
                    <a:avLst/>
                    <a:gdLst>
                      <a:gd name="T0" fmla="*/ 0 w 148"/>
                      <a:gd name="T1" fmla="*/ 0 h 122"/>
                      <a:gd name="T2" fmla="*/ 0 w 148"/>
                      <a:gd name="T3" fmla="*/ 0 h 122"/>
                      <a:gd name="T4" fmla="*/ 0 w 148"/>
                      <a:gd name="T5" fmla="*/ 0 h 122"/>
                      <a:gd name="T6" fmla="*/ 0 w 148"/>
                      <a:gd name="T7" fmla="*/ 0 h 122"/>
                      <a:gd name="T8" fmla="*/ 0 w 148"/>
                      <a:gd name="T9" fmla="*/ 0 h 122"/>
                      <a:gd name="T10" fmla="*/ 0 w 148"/>
                      <a:gd name="T11" fmla="*/ 0 h 122"/>
                      <a:gd name="T12" fmla="*/ 0 w 148"/>
                      <a:gd name="T13" fmla="*/ 0 h 1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48" h="122">
                        <a:moveTo>
                          <a:pt x="136" y="5"/>
                        </a:moveTo>
                        <a:lnTo>
                          <a:pt x="148" y="122"/>
                        </a:lnTo>
                        <a:lnTo>
                          <a:pt x="0" y="61"/>
                        </a:lnTo>
                        <a:lnTo>
                          <a:pt x="58" y="43"/>
                        </a:lnTo>
                        <a:lnTo>
                          <a:pt x="111" y="70"/>
                        </a:lnTo>
                        <a:lnTo>
                          <a:pt x="94" y="0"/>
                        </a:lnTo>
                        <a:lnTo>
                          <a:pt x="136" y="5"/>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58" name="Group 77"/>
                <p:cNvGrpSpPr>
                  <a:grpSpLocks/>
                </p:cNvGrpSpPr>
                <p:nvPr/>
              </p:nvGrpSpPr>
              <p:grpSpPr bwMode="auto">
                <a:xfrm>
                  <a:off x="325" y="1917"/>
                  <a:ext cx="231" cy="118"/>
                  <a:chOff x="325" y="1917"/>
                  <a:chExt cx="231" cy="118"/>
                </a:xfrm>
              </p:grpSpPr>
              <p:sp>
                <p:nvSpPr>
                  <p:cNvPr id="59" name="Freeform 78"/>
                  <p:cNvSpPr>
                    <a:spLocks/>
                  </p:cNvSpPr>
                  <p:nvPr/>
                </p:nvSpPr>
                <p:spPr bwMode="auto">
                  <a:xfrm>
                    <a:off x="326" y="1917"/>
                    <a:ext cx="226" cy="105"/>
                  </a:xfrm>
                  <a:custGeom>
                    <a:avLst/>
                    <a:gdLst>
                      <a:gd name="T0" fmla="*/ 0 w 1132"/>
                      <a:gd name="T1" fmla="*/ 0 h 525"/>
                      <a:gd name="T2" fmla="*/ 0 w 1132"/>
                      <a:gd name="T3" fmla="*/ 0 h 525"/>
                      <a:gd name="T4" fmla="*/ 0 w 1132"/>
                      <a:gd name="T5" fmla="*/ 0 h 525"/>
                      <a:gd name="T6" fmla="*/ 0 w 1132"/>
                      <a:gd name="T7" fmla="*/ 0 h 525"/>
                      <a:gd name="T8" fmla="*/ 0 w 1132"/>
                      <a:gd name="T9" fmla="*/ 0 h 5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32" h="525">
                        <a:moveTo>
                          <a:pt x="1132" y="223"/>
                        </a:moveTo>
                        <a:lnTo>
                          <a:pt x="589" y="525"/>
                        </a:lnTo>
                        <a:lnTo>
                          <a:pt x="0" y="230"/>
                        </a:lnTo>
                        <a:lnTo>
                          <a:pt x="452" y="0"/>
                        </a:lnTo>
                        <a:lnTo>
                          <a:pt x="1132" y="223"/>
                        </a:lnTo>
                        <a:close/>
                      </a:path>
                    </a:pathLst>
                  </a:custGeom>
                  <a:solidFill>
                    <a:srgbClr val="80808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0" name="Freeform 79"/>
                  <p:cNvSpPr>
                    <a:spLocks/>
                  </p:cNvSpPr>
                  <p:nvPr/>
                </p:nvSpPr>
                <p:spPr bwMode="auto">
                  <a:xfrm>
                    <a:off x="443" y="1961"/>
                    <a:ext cx="113" cy="74"/>
                  </a:xfrm>
                  <a:custGeom>
                    <a:avLst/>
                    <a:gdLst>
                      <a:gd name="T0" fmla="*/ 0 w 566"/>
                      <a:gd name="T1" fmla="*/ 0 h 371"/>
                      <a:gd name="T2" fmla="*/ 0 w 566"/>
                      <a:gd name="T3" fmla="*/ 0 h 371"/>
                      <a:gd name="T4" fmla="*/ 0 w 566"/>
                      <a:gd name="T5" fmla="*/ 0 h 371"/>
                      <a:gd name="T6" fmla="*/ 0 w 566"/>
                      <a:gd name="T7" fmla="*/ 0 h 371"/>
                      <a:gd name="T8" fmla="*/ 0 w 566"/>
                      <a:gd name="T9" fmla="*/ 0 h 3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6" h="371">
                        <a:moveTo>
                          <a:pt x="547" y="0"/>
                        </a:moveTo>
                        <a:lnTo>
                          <a:pt x="0" y="307"/>
                        </a:lnTo>
                        <a:lnTo>
                          <a:pt x="16" y="371"/>
                        </a:lnTo>
                        <a:lnTo>
                          <a:pt x="566" y="60"/>
                        </a:lnTo>
                        <a:lnTo>
                          <a:pt x="547" y="0"/>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1" name="Freeform 80"/>
                  <p:cNvSpPr>
                    <a:spLocks/>
                  </p:cNvSpPr>
                  <p:nvPr/>
                </p:nvSpPr>
                <p:spPr bwMode="auto">
                  <a:xfrm>
                    <a:off x="325" y="1963"/>
                    <a:ext cx="121" cy="72"/>
                  </a:xfrm>
                  <a:custGeom>
                    <a:avLst/>
                    <a:gdLst>
                      <a:gd name="T0" fmla="*/ 0 w 605"/>
                      <a:gd name="T1" fmla="*/ 0 h 363"/>
                      <a:gd name="T2" fmla="*/ 0 w 605"/>
                      <a:gd name="T3" fmla="*/ 0 h 363"/>
                      <a:gd name="T4" fmla="*/ 0 w 605"/>
                      <a:gd name="T5" fmla="*/ 0 h 363"/>
                      <a:gd name="T6" fmla="*/ 0 w 605"/>
                      <a:gd name="T7" fmla="*/ 0 h 363"/>
                      <a:gd name="T8" fmla="*/ 0 w 605"/>
                      <a:gd name="T9" fmla="*/ 0 h 3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05" h="363">
                        <a:moveTo>
                          <a:pt x="605" y="363"/>
                        </a:moveTo>
                        <a:lnTo>
                          <a:pt x="587" y="295"/>
                        </a:lnTo>
                        <a:lnTo>
                          <a:pt x="0" y="0"/>
                        </a:lnTo>
                        <a:lnTo>
                          <a:pt x="21" y="53"/>
                        </a:lnTo>
                        <a:lnTo>
                          <a:pt x="605" y="36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2" name="Freeform 81"/>
                  <p:cNvSpPr>
                    <a:spLocks/>
                  </p:cNvSpPr>
                  <p:nvPr/>
                </p:nvSpPr>
                <p:spPr bwMode="auto">
                  <a:xfrm>
                    <a:off x="417" y="1966"/>
                    <a:ext cx="90" cy="46"/>
                  </a:xfrm>
                  <a:custGeom>
                    <a:avLst/>
                    <a:gdLst>
                      <a:gd name="T0" fmla="*/ 0 w 454"/>
                      <a:gd name="T1" fmla="*/ 0 h 230"/>
                      <a:gd name="T2" fmla="*/ 0 w 454"/>
                      <a:gd name="T3" fmla="*/ 0 h 230"/>
                      <a:gd name="T4" fmla="*/ 0 w 454"/>
                      <a:gd name="T5" fmla="*/ 0 h 230"/>
                      <a:gd name="T6" fmla="*/ 0 w 454"/>
                      <a:gd name="T7" fmla="*/ 0 h 230"/>
                      <a:gd name="T8" fmla="*/ 0 w 454"/>
                      <a:gd name="T9" fmla="*/ 0 h 2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54" h="230">
                        <a:moveTo>
                          <a:pt x="454" y="59"/>
                        </a:moveTo>
                        <a:lnTo>
                          <a:pt x="297" y="0"/>
                        </a:lnTo>
                        <a:lnTo>
                          <a:pt x="0" y="161"/>
                        </a:lnTo>
                        <a:lnTo>
                          <a:pt x="151" y="230"/>
                        </a:lnTo>
                        <a:lnTo>
                          <a:pt x="454" y="5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3" name="Freeform 82"/>
                  <p:cNvSpPr>
                    <a:spLocks/>
                  </p:cNvSpPr>
                  <p:nvPr/>
                </p:nvSpPr>
                <p:spPr bwMode="auto">
                  <a:xfrm>
                    <a:off x="336" y="1934"/>
                    <a:ext cx="134" cy="61"/>
                  </a:xfrm>
                  <a:custGeom>
                    <a:avLst/>
                    <a:gdLst>
                      <a:gd name="T0" fmla="*/ 0 w 669"/>
                      <a:gd name="T1" fmla="*/ 0 h 309"/>
                      <a:gd name="T2" fmla="*/ 0 w 669"/>
                      <a:gd name="T3" fmla="*/ 0 h 309"/>
                      <a:gd name="T4" fmla="*/ 0 w 669"/>
                      <a:gd name="T5" fmla="*/ 0 h 309"/>
                      <a:gd name="T6" fmla="*/ 0 w 669"/>
                      <a:gd name="T7" fmla="*/ 0 h 309"/>
                      <a:gd name="T8" fmla="*/ 0 w 669"/>
                      <a:gd name="T9" fmla="*/ 0 h 30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69" h="309">
                        <a:moveTo>
                          <a:pt x="669" y="150"/>
                        </a:moveTo>
                        <a:lnTo>
                          <a:pt x="377" y="309"/>
                        </a:lnTo>
                        <a:lnTo>
                          <a:pt x="0" y="132"/>
                        </a:lnTo>
                        <a:lnTo>
                          <a:pt x="273" y="0"/>
                        </a:lnTo>
                        <a:lnTo>
                          <a:pt x="669" y="15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4" name="Freeform 83"/>
                  <p:cNvSpPr>
                    <a:spLocks/>
                  </p:cNvSpPr>
                  <p:nvPr/>
                </p:nvSpPr>
                <p:spPr bwMode="auto">
                  <a:xfrm>
                    <a:off x="393" y="1920"/>
                    <a:ext cx="148" cy="57"/>
                  </a:xfrm>
                  <a:custGeom>
                    <a:avLst/>
                    <a:gdLst>
                      <a:gd name="T0" fmla="*/ 0 w 738"/>
                      <a:gd name="T1" fmla="*/ 0 h 283"/>
                      <a:gd name="T2" fmla="*/ 0 w 738"/>
                      <a:gd name="T3" fmla="*/ 0 h 283"/>
                      <a:gd name="T4" fmla="*/ 0 w 738"/>
                      <a:gd name="T5" fmla="*/ 0 h 283"/>
                      <a:gd name="T6" fmla="*/ 0 w 738"/>
                      <a:gd name="T7" fmla="*/ 0 h 283"/>
                      <a:gd name="T8" fmla="*/ 0 w 738"/>
                      <a:gd name="T9" fmla="*/ 0 h 28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38" h="283">
                        <a:moveTo>
                          <a:pt x="584" y="283"/>
                        </a:moveTo>
                        <a:lnTo>
                          <a:pt x="738" y="205"/>
                        </a:lnTo>
                        <a:lnTo>
                          <a:pt x="118" y="0"/>
                        </a:lnTo>
                        <a:lnTo>
                          <a:pt x="0" y="60"/>
                        </a:lnTo>
                        <a:lnTo>
                          <a:pt x="584" y="2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5" name="Line 84"/>
                  <p:cNvSpPr>
                    <a:spLocks noChangeShapeType="1"/>
                  </p:cNvSpPr>
                  <p:nvPr/>
                </p:nvSpPr>
                <p:spPr bwMode="auto">
                  <a:xfrm flipH="1" flipV="1">
                    <a:off x="411" y="1923"/>
                    <a:ext cx="128" cy="4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6" name="Line 85"/>
                  <p:cNvSpPr>
                    <a:spLocks noChangeShapeType="1"/>
                  </p:cNvSpPr>
                  <p:nvPr/>
                </p:nvSpPr>
                <p:spPr bwMode="auto">
                  <a:xfrm flipH="1" flipV="1">
                    <a:off x="404" y="1925"/>
                    <a:ext cx="124" cy="45"/>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7" name="Line 86"/>
                  <p:cNvSpPr>
                    <a:spLocks noChangeShapeType="1"/>
                  </p:cNvSpPr>
                  <p:nvPr/>
                </p:nvSpPr>
                <p:spPr bwMode="auto">
                  <a:xfrm flipH="1" flipV="1">
                    <a:off x="399" y="1930"/>
                    <a:ext cx="121" cy="46"/>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8" name="Line 87"/>
                  <p:cNvSpPr>
                    <a:spLocks noChangeShapeType="1"/>
                  </p:cNvSpPr>
                  <p:nvPr/>
                </p:nvSpPr>
                <p:spPr bwMode="auto">
                  <a:xfrm flipH="1" flipV="1">
                    <a:off x="384" y="1937"/>
                    <a:ext cx="119"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69" name="Line 88"/>
                  <p:cNvSpPr>
                    <a:spLocks noChangeShapeType="1"/>
                  </p:cNvSpPr>
                  <p:nvPr/>
                </p:nvSpPr>
                <p:spPr bwMode="auto">
                  <a:xfrm flipH="1" flipV="1">
                    <a:off x="375" y="1942"/>
                    <a:ext cx="118" cy="4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0" name="Line 89"/>
                  <p:cNvSpPr>
                    <a:spLocks noChangeShapeType="1"/>
                  </p:cNvSpPr>
                  <p:nvPr/>
                </p:nvSpPr>
                <p:spPr bwMode="auto">
                  <a:xfrm flipH="1" flipV="1">
                    <a:off x="365" y="1946"/>
                    <a:ext cx="119"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1" name="Line 90"/>
                  <p:cNvSpPr>
                    <a:spLocks noChangeShapeType="1"/>
                  </p:cNvSpPr>
                  <p:nvPr/>
                </p:nvSpPr>
                <p:spPr bwMode="auto">
                  <a:xfrm flipH="1" flipV="1">
                    <a:off x="358" y="1951"/>
                    <a:ext cx="114" cy="50"/>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2" name="Line 91"/>
                  <p:cNvSpPr>
                    <a:spLocks noChangeShapeType="1"/>
                  </p:cNvSpPr>
                  <p:nvPr/>
                </p:nvSpPr>
                <p:spPr bwMode="auto">
                  <a:xfrm flipH="1" flipV="1">
                    <a:off x="347" y="1956"/>
                    <a:ext cx="114" cy="5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3" name="Line 92"/>
                  <p:cNvSpPr>
                    <a:spLocks noChangeShapeType="1"/>
                  </p:cNvSpPr>
                  <p:nvPr/>
                </p:nvSpPr>
                <p:spPr bwMode="auto">
                  <a:xfrm flipH="1">
                    <a:off x="437" y="1974"/>
                    <a:ext cx="61" cy="3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4" name="Line 93"/>
                  <p:cNvSpPr>
                    <a:spLocks noChangeShapeType="1"/>
                  </p:cNvSpPr>
                  <p:nvPr/>
                </p:nvSpPr>
                <p:spPr bwMode="auto">
                  <a:xfrm flipH="1">
                    <a:off x="426" y="1970"/>
                    <a:ext cx="58" cy="32"/>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5" name="Line 94"/>
                  <p:cNvSpPr>
                    <a:spLocks noChangeShapeType="1"/>
                  </p:cNvSpPr>
                  <p:nvPr/>
                </p:nvSpPr>
                <p:spPr bwMode="auto">
                  <a:xfrm flipH="1">
                    <a:off x="401" y="1959"/>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6" name="Line 95"/>
                  <p:cNvSpPr>
                    <a:spLocks noChangeShapeType="1"/>
                  </p:cNvSpPr>
                  <p:nvPr/>
                </p:nvSpPr>
                <p:spPr bwMode="auto">
                  <a:xfrm flipH="1">
                    <a:off x="387" y="1954"/>
                    <a:ext cx="58"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7" name="Line 96"/>
                  <p:cNvSpPr>
                    <a:spLocks noChangeShapeType="1"/>
                  </p:cNvSpPr>
                  <p:nvPr/>
                </p:nvSpPr>
                <p:spPr bwMode="auto">
                  <a:xfrm flipH="1">
                    <a:off x="375" y="1949"/>
                    <a:ext cx="56" cy="31"/>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8" name="Line 97"/>
                  <p:cNvSpPr>
                    <a:spLocks noChangeShapeType="1"/>
                  </p:cNvSpPr>
                  <p:nvPr/>
                </p:nvSpPr>
                <p:spPr bwMode="auto">
                  <a:xfrm flipH="1">
                    <a:off x="364" y="1944"/>
                    <a:ext cx="53"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79" name="Line 98"/>
                  <p:cNvSpPr>
                    <a:spLocks noChangeShapeType="1"/>
                  </p:cNvSpPr>
                  <p:nvPr/>
                </p:nvSpPr>
                <p:spPr bwMode="auto">
                  <a:xfrm flipH="1">
                    <a:off x="352" y="1939"/>
                    <a:ext cx="55" cy="28"/>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0" name="Line 99"/>
                  <p:cNvSpPr>
                    <a:spLocks noChangeShapeType="1"/>
                  </p:cNvSpPr>
                  <p:nvPr/>
                </p:nvSpPr>
                <p:spPr bwMode="auto">
                  <a:xfrm flipH="1">
                    <a:off x="494" y="1955"/>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1" name="Line 100"/>
                  <p:cNvSpPr>
                    <a:spLocks noChangeShapeType="1"/>
                  </p:cNvSpPr>
                  <p:nvPr/>
                </p:nvSpPr>
                <p:spPr bwMode="auto">
                  <a:xfrm flipH="1">
                    <a:off x="477" y="1949"/>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2" name="Line 101"/>
                  <p:cNvSpPr>
                    <a:spLocks noChangeShapeType="1"/>
                  </p:cNvSpPr>
                  <p:nvPr/>
                </p:nvSpPr>
                <p:spPr bwMode="auto">
                  <a:xfrm flipH="1">
                    <a:off x="460" y="1943"/>
                    <a:ext cx="28"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3" name="Line 102"/>
                  <p:cNvSpPr>
                    <a:spLocks noChangeShapeType="1"/>
                  </p:cNvSpPr>
                  <p:nvPr/>
                </p:nvSpPr>
                <p:spPr bwMode="auto">
                  <a:xfrm flipH="1">
                    <a:off x="443" y="1937"/>
                    <a:ext cx="27"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4" name="Line 103"/>
                  <p:cNvSpPr>
                    <a:spLocks noChangeShapeType="1"/>
                  </p:cNvSpPr>
                  <p:nvPr/>
                </p:nvSpPr>
                <p:spPr bwMode="auto">
                  <a:xfrm flipH="1">
                    <a:off x="427" y="1931"/>
                    <a:ext cx="26" cy="14"/>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85" name="Line 104"/>
                  <p:cNvSpPr>
                    <a:spLocks noChangeShapeType="1"/>
                  </p:cNvSpPr>
                  <p:nvPr/>
                </p:nvSpPr>
                <p:spPr bwMode="auto">
                  <a:xfrm flipH="1">
                    <a:off x="408" y="1925"/>
                    <a:ext cx="24" cy="13"/>
                  </a:xfrm>
                  <a:prstGeom prst="line">
                    <a:avLst/>
                  </a:prstGeom>
                  <a:noFill/>
                  <a:ln w="6350">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grpSp>
        <p:nvGrpSpPr>
          <p:cNvPr id="112" name="Group 105"/>
          <p:cNvGrpSpPr>
            <a:grpSpLocks/>
          </p:cNvGrpSpPr>
          <p:nvPr/>
        </p:nvGrpSpPr>
        <p:grpSpPr bwMode="auto">
          <a:xfrm>
            <a:off x="1941367" y="3251778"/>
            <a:ext cx="55364" cy="100353"/>
            <a:chOff x="287" y="1872"/>
            <a:chExt cx="55" cy="108"/>
          </a:xfrm>
        </p:grpSpPr>
        <p:sp>
          <p:nvSpPr>
            <p:cNvPr id="113" name="Freeform 106"/>
            <p:cNvSpPr>
              <a:spLocks/>
            </p:cNvSpPr>
            <p:nvPr/>
          </p:nvSpPr>
          <p:spPr bwMode="auto">
            <a:xfrm>
              <a:off x="287" y="1872"/>
              <a:ext cx="55" cy="108"/>
            </a:xfrm>
            <a:custGeom>
              <a:avLst/>
              <a:gdLst>
                <a:gd name="T0" fmla="*/ 0 w 276"/>
                <a:gd name="T1" fmla="*/ 0 h 540"/>
                <a:gd name="T2" fmla="*/ 0 w 276"/>
                <a:gd name="T3" fmla="*/ 0 h 540"/>
                <a:gd name="T4" fmla="*/ 0 w 276"/>
                <a:gd name="T5" fmla="*/ 0 h 540"/>
                <a:gd name="T6" fmla="*/ 0 w 276"/>
                <a:gd name="T7" fmla="*/ 0 h 540"/>
                <a:gd name="T8" fmla="*/ 0 w 276"/>
                <a:gd name="T9" fmla="*/ 0 h 540"/>
                <a:gd name="T10" fmla="*/ 0 w 276"/>
                <a:gd name="T11" fmla="*/ 0 h 540"/>
                <a:gd name="T12" fmla="*/ 0 w 276"/>
                <a:gd name="T13" fmla="*/ 0 h 540"/>
                <a:gd name="T14" fmla="*/ 0 w 276"/>
                <a:gd name="T15" fmla="*/ 0 h 540"/>
                <a:gd name="T16" fmla="*/ 0 w 276"/>
                <a:gd name="T17" fmla="*/ 0 h 540"/>
                <a:gd name="T18" fmla="*/ 0 w 276"/>
                <a:gd name="T19" fmla="*/ 0 h 540"/>
                <a:gd name="T20" fmla="*/ 0 w 276"/>
                <a:gd name="T21" fmla="*/ 0 h 540"/>
                <a:gd name="T22" fmla="*/ 0 w 276"/>
                <a:gd name="T23" fmla="*/ 0 h 54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76" h="540">
                  <a:moveTo>
                    <a:pt x="0" y="192"/>
                  </a:moveTo>
                  <a:lnTo>
                    <a:pt x="53" y="121"/>
                  </a:lnTo>
                  <a:lnTo>
                    <a:pt x="104" y="84"/>
                  </a:lnTo>
                  <a:lnTo>
                    <a:pt x="125" y="30"/>
                  </a:lnTo>
                  <a:lnTo>
                    <a:pt x="137" y="6"/>
                  </a:lnTo>
                  <a:lnTo>
                    <a:pt x="195" y="0"/>
                  </a:lnTo>
                  <a:lnTo>
                    <a:pt x="276" y="45"/>
                  </a:lnTo>
                  <a:lnTo>
                    <a:pt x="255" y="143"/>
                  </a:lnTo>
                  <a:lnTo>
                    <a:pt x="232" y="198"/>
                  </a:lnTo>
                  <a:lnTo>
                    <a:pt x="179" y="365"/>
                  </a:lnTo>
                  <a:lnTo>
                    <a:pt x="92" y="540"/>
                  </a:lnTo>
                  <a:lnTo>
                    <a:pt x="0" y="192"/>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4" name="Freeform 107"/>
            <p:cNvSpPr>
              <a:spLocks/>
            </p:cNvSpPr>
            <p:nvPr/>
          </p:nvSpPr>
          <p:spPr bwMode="auto">
            <a:xfrm>
              <a:off x="296" y="1880"/>
              <a:ext cx="43" cy="77"/>
            </a:xfrm>
            <a:custGeom>
              <a:avLst/>
              <a:gdLst>
                <a:gd name="T0" fmla="*/ 0 w 216"/>
                <a:gd name="T1" fmla="*/ 0 h 385"/>
                <a:gd name="T2" fmla="*/ 0 w 216"/>
                <a:gd name="T3" fmla="*/ 0 h 385"/>
                <a:gd name="T4" fmla="*/ 0 w 216"/>
                <a:gd name="T5" fmla="*/ 0 h 385"/>
                <a:gd name="T6" fmla="*/ 0 w 216"/>
                <a:gd name="T7" fmla="*/ 0 h 385"/>
                <a:gd name="T8" fmla="*/ 0 w 216"/>
                <a:gd name="T9" fmla="*/ 0 h 385"/>
                <a:gd name="T10" fmla="*/ 0 w 216"/>
                <a:gd name="T11" fmla="*/ 0 h 385"/>
                <a:gd name="T12" fmla="*/ 0 w 216"/>
                <a:gd name="T13" fmla="*/ 0 h 385"/>
                <a:gd name="T14" fmla="*/ 0 w 216"/>
                <a:gd name="T15" fmla="*/ 0 h 385"/>
                <a:gd name="T16" fmla="*/ 0 w 216"/>
                <a:gd name="T17" fmla="*/ 0 h 385"/>
                <a:gd name="T18" fmla="*/ 0 w 216"/>
                <a:gd name="T19" fmla="*/ 0 h 385"/>
                <a:gd name="T20" fmla="*/ 0 w 216"/>
                <a:gd name="T21" fmla="*/ 0 h 385"/>
                <a:gd name="T22" fmla="*/ 0 w 216"/>
                <a:gd name="T23" fmla="*/ 0 h 385"/>
                <a:gd name="T24" fmla="*/ 0 w 216"/>
                <a:gd name="T25" fmla="*/ 0 h 385"/>
                <a:gd name="T26" fmla="*/ 0 w 216"/>
                <a:gd name="T27" fmla="*/ 0 h 385"/>
                <a:gd name="T28" fmla="*/ 0 w 216"/>
                <a:gd name="T29" fmla="*/ 0 h 385"/>
                <a:gd name="T30" fmla="*/ 0 w 216"/>
                <a:gd name="T31" fmla="*/ 0 h 385"/>
                <a:gd name="T32" fmla="*/ 0 w 216"/>
                <a:gd name="T33" fmla="*/ 0 h 385"/>
                <a:gd name="T34" fmla="*/ 0 w 216"/>
                <a:gd name="T35" fmla="*/ 0 h 385"/>
                <a:gd name="T36" fmla="*/ 0 w 216"/>
                <a:gd name="T37" fmla="*/ 0 h 385"/>
                <a:gd name="T38" fmla="*/ 0 w 216"/>
                <a:gd name="T39" fmla="*/ 0 h 385"/>
                <a:gd name="T40" fmla="*/ 0 w 216"/>
                <a:gd name="T41" fmla="*/ 0 h 385"/>
                <a:gd name="T42" fmla="*/ 0 w 216"/>
                <a:gd name="T43" fmla="*/ 0 h 385"/>
                <a:gd name="T44" fmla="*/ 0 w 216"/>
                <a:gd name="T45" fmla="*/ 0 h 385"/>
                <a:gd name="T46" fmla="*/ 0 w 216"/>
                <a:gd name="T47" fmla="*/ 0 h 385"/>
                <a:gd name="T48" fmla="*/ 0 w 216"/>
                <a:gd name="T49" fmla="*/ 0 h 385"/>
                <a:gd name="T50" fmla="*/ 0 w 216"/>
                <a:gd name="T51" fmla="*/ 0 h 385"/>
                <a:gd name="T52" fmla="*/ 0 w 216"/>
                <a:gd name="T53" fmla="*/ 0 h 385"/>
                <a:gd name="T54" fmla="*/ 0 w 216"/>
                <a:gd name="T55" fmla="*/ 0 h 385"/>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216" h="385">
                  <a:moveTo>
                    <a:pt x="91" y="0"/>
                  </a:moveTo>
                  <a:lnTo>
                    <a:pt x="115" y="25"/>
                  </a:lnTo>
                  <a:lnTo>
                    <a:pt x="165" y="46"/>
                  </a:lnTo>
                  <a:lnTo>
                    <a:pt x="216" y="44"/>
                  </a:lnTo>
                  <a:lnTo>
                    <a:pt x="185" y="132"/>
                  </a:lnTo>
                  <a:lnTo>
                    <a:pt x="147" y="128"/>
                  </a:lnTo>
                  <a:lnTo>
                    <a:pt x="118" y="112"/>
                  </a:lnTo>
                  <a:lnTo>
                    <a:pt x="134" y="138"/>
                  </a:lnTo>
                  <a:lnTo>
                    <a:pt x="177" y="146"/>
                  </a:lnTo>
                  <a:lnTo>
                    <a:pt x="145" y="242"/>
                  </a:lnTo>
                  <a:lnTo>
                    <a:pt x="124" y="312"/>
                  </a:lnTo>
                  <a:lnTo>
                    <a:pt x="115" y="271"/>
                  </a:lnTo>
                  <a:lnTo>
                    <a:pt x="103" y="197"/>
                  </a:lnTo>
                  <a:lnTo>
                    <a:pt x="102" y="155"/>
                  </a:lnTo>
                  <a:lnTo>
                    <a:pt x="94" y="173"/>
                  </a:lnTo>
                  <a:lnTo>
                    <a:pt x="94" y="222"/>
                  </a:lnTo>
                  <a:lnTo>
                    <a:pt x="103" y="290"/>
                  </a:lnTo>
                  <a:lnTo>
                    <a:pt x="110" y="333"/>
                  </a:lnTo>
                  <a:lnTo>
                    <a:pt x="91" y="385"/>
                  </a:lnTo>
                  <a:lnTo>
                    <a:pt x="55" y="250"/>
                  </a:lnTo>
                  <a:lnTo>
                    <a:pt x="39" y="204"/>
                  </a:lnTo>
                  <a:lnTo>
                    <a:pt x="12" y="135"/>
                  </a:lnTo>
                  <a:lnTo>
                    <a:pt x="0" y="115"/>
                  </a:lnTo>
                  <a:lnTo>
                    <a:pt x="16" y="88"/>
                  </a:lnTo>
                  <a:lnTo>
                    <a:pt x="64" y="64"/>
                  </a:lnTo>
                  <a:lnTo>
                    <a:pt x="81" y="87"/>
                  </a:lnTo>
                  <a:lnTo>
                    <a:pt x="71" y="46"/>
                  </a:lnTo>
                  <a:lnTo>
                    <a:pt x="9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15" name="Group 108"/>
          <p:cNvGrpSpPr>
            <a:grpSpLocks/>
          </p:cNvGrpSpPr>
          <p:nvPr/>
        </p:nvGrpSpPr>
        <p:grpSpPr bwMode="auto">
          <a:xfrm>
            <a:off x="1932308" y="3194169"/>
            <a:ext cx="70463" cy="70619"/>
            <a:chOff x="278" y="1810"/>
            <a:chExt cx="70" cy="76"/>
          </a:xfrm>
        </p:grpSpPr>
        <p:sp>
          <p:nvSpPr>
            <p:cNvPr id="116" name="Freeform 109"/>
            <p:cNvSpPr>
              <a:spLocks/>
            </p:cNvSpPr>
            <p:nvPr/>
          </p:nvSpPr>
          <p:spPr bwMode="auto">
            <a:xfrm>
              <a:off x="297" y="1815"/>
              <a:ext cx="51" cy="71"/>
            </a:xfrm>
            <a:custGeom>
              <a:avLst/>
              <a:gdLst>
                <a:gd name="T0" fmla="*/ 0 w 256"/>
                <a:gd name="T1" fmla="*/ 0 h 356"/>
                <a:gd name="T2" fmla="*/ 0 w 256"/>
                <a:gd name="T3" fmla="*/ 0 h 356"/>
                <a:gd name="T4" fmla="*/ 0 w 256"/>
                <a:gd name="T5" fmla="*/ 0 h 356"/>
                <a:gd name="T6" fmla="*/ 0 w 256"/>
                <a:gd name="T7" fmla="*/ 0 h 356"/>
                <a:gd name="T8" fmla="*/ 0 w 256"/>
                <a:gd name="T9" fmla="*/ 0 h 356"/>
                <a:gd name="T10" fmla="*/ 0 w 256"/>
                <a:gd name="T11" fmla="*/ 0 h 356"/>
                <a:gd name="T12" fmla="*/ 0 w 256"/>
                <a:gd name="T13" fmla="*/ 0 h 356"/>
                <a:gd name="T14" fmla="*/ 0 w 256"/>
                <a:gd name="T15" fmla="*/ 0 h 356"/>
                <a:gd name="T16" fmla="*/ 0 w 256"/>
                <a:gd name="T17" fmla="*/ 0 h 356"/>
                <a:gd name="T18" fmla="*/ 0 w 256"/>
                <a:gd name="T19" fmla="*/ 0 h 356"/>
                <a:gd name="T20" fmla="*/ 0 w 256"/>
                <a:gd name="T21" fmla="*/ 0 h 356"/>
                <a:gd name="T22" fmla="*/ 0 w 256"/>
                <a:gd name="T23" fmla="*/ 0 h 356"/>
                <a:gd name="T24" fmla="*/ 0 w 256"/>
                <a:gd name="T25" fmla="*/ 0 h 356"/>
                <a:gd name="T26" fmla="*/ 0 w 256"/>
                <a:gd name="T27" fmla="*/ 0 h 356"/>
                <a:gd name="T28" fmla="*/ 0 w 256"/>
                <a:gd name="T29" fmla="*/ 0 h 356"/>
                <a:gd name="T30" fmla="*/ 0 w 256"/>
                <a:gd name="T31" fmla="*/ 0 h 356"/>
                <a:gd name="T32" fmla="*/ 0 w 256"/>
                <a:gd name="T33" fmla="*/ 0 h 356"/>
                <a:gd name="T34" fmla="*/ 0 w 256"/>
                <a:gd name="T35" fmla="*/ 0 h 356"/>
                <a:gd name="T36" fmla="*/ 0 w 256"/>
                <a:gd name="T37" fmla="*/ 0 h 356"/>
                <a:gd name="T38" fmla="*/ 0 w 256"/>
                <a:gd name="T39" fmla="*/ 0 h 356"/>
                <a:gd name="T40" fmla="*/ 0 w 256"/>
                <a:gd name="T41" fmla="*/ 0 h 356"/>
                <a:gd name="T42" fmla="*/ 0 w 256"/>
                <a:gd name="T43" fmla="*/ 0 h 356"/>
                <a:gd name="T44" fmla="*/ 0 w 256"/>
                <a:gd name="T45" fmla="*/ 0 h 356"/>
                <a:gd name="T46" fmla="*/ 0 w 256"/>
                <a:gd name="T47" fmla="*/ 0 h 356"/>
                <a:gd name="T48" fmla="*/ 0 w 256"/>
                <a:gd name="T49" fmla="*/ 0 h 356"/>
                <a:gd name="T50" fmla="*/ 0 w 256"/>
                <a:gd name="T51" fmla="*/ 0 h 356"/>
                <a:gd name="T52" fmla="*/ 0 w 256"/>
                <a:gd name="T53" fmla="*/ 0 h 356"/>
                <a:gd name="T54" fmla="*/ 0 w 256"/>
                <a:gd name="T55" fmla="*/ 0 h 356"/>
                <a:gd name="T56" fmla="*/ 0 w 256"/>
                <a:gd name="T57" fmla="*/ 0 h 356"/>
                <a:gd name="T58" fmla="*/ 0 w 256"/>
                <a:gd name="T59" fmla="*/ 0 h 356"/>
                <a:gd name="T60" fmla="*/ 0 w 256"/>
                <a:gd name="T61" fmla="*/ 0 h 356"/>
                <a:gd name="T62" fmla="*/ 0 w 256"/>
                <a:gd name="T63" fmla="*/ 0 h 356"/>
                <a:gd name="T64" fmla="*/ 0 w 256"/>
                <a:gd name="T65" fmla="*/ 0 h 356"/>
                <a:gd name="T66" fmla="*/ 0 w 256"/>
                <a:gd name="T67" fmla="*/ 0 h 356"/>
                <a:gd name="T68" fmla="*/ 0 w 256"/>
                <a:gd name="T69" fmla="*/ 0 h 356"/>
                <a:gd name="T70" fmla="*/ 0 w 256"/>
                <a:gd name="T71" fmla="*/ 0 h 356"/>
                <a:gd name="T72" fmla="*/ 0 w 256"/>
                <a:gd name="T73" fmla="*/ 0 h 356"/>
                <a:gd name="T74" fmla="*/ 0 w 256"/>
                <a:gd name="T75" fmla="*/ 0 h 356"/>
                <a:gd name="T76" fmla="*/ 0 w 256"/>
                <a:gd name="T77" fmla="*/ 0 h 356"/>
                <a:gd name="T78" fmla="*/ 0 w 256"/>
                <a:gd name="T79" fmla="*/ 0 h 356"/>
                <a:gd name="T80" fmla="*/ 0 w 256"/>
                <a:gd name="T81" fmla="*/ 0 h 356"/>
                <a:gd name="T82" fmla="*/ 0 w 256"/>
                <a:gd name="T83" fmla="*/ 0 h 356"/>
                <a:gd name="T84" fmla="*/ 0 w 256"/>
                <a:gd name="T85" fmla="*/ 0 h 356"/>
                <a:gd name="T86" fmla="*/ 0 w 256"/>
                <a:gd name="T87" fmla="*/ 0 h 356"/>
                <a:gd name="T88" fmla="*/ 0 w 256"/>
                <a:gd name="T89" fmla="*/ 0 h 356"/>
                <a:gd name="T90" fmla="*/ 0 w 256"/>
                <a:gd name="T91" fmla="*/ 0 h 356"/>
                <a:gd name="T92" fmla="*/ 0 w 256"/>
                <a:gd name="T93" fmla="*/ 0 h 356"/>
                <a:gd name="T94" fmla="*/ 0 w 256"/>
                <a:gd name="T95" fmla="*/ 0 h 35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56" h="356">
                  <a:moveTo>
                    <a:pt x="3" y="130"/>
                  </a:moveTo>
                  <a:lnTo>
                    <a:pt x="11" y="155"/>
                  </a:lnTo>
                  <a:lnTo>
                    <a:pt x="26" y="167"/>
                  </a:lnTo>
                  <a:lnTo>
                    <a:pt x="35" y="187"/>
                  </a:lnTo>
                  <a:lnTo>
                    <a:pt x="45" y="203"/>
                  </a:lnTo>
                  <a:lnTo>
                    <a:pt x="61" y="218"/>
                  </a:lnTo>
                  <a:lnTo>
                    <a:pt x="73" y="227"/>
                  </a:lnTo>
                  <a:lnTo>
                    <a:pt x="93" y="238"/>
                  </a:lnTo>
                  <a:lnTo>
                    <a:pt x="96" y="252"/>
                  </a:lnTo>
                  <a:lnTo>
                    <a:pt x="96" y="270"/>
                  </a:lnTo>
                  <a:lnTo>
                    <a:pt x="91" y="315"/>
                  </a:lnTo>
                  <a:lnTo>
                    <a:pt x="127" y="341"/>
                  </a:lnTo>
                  <a:lnTo>
                    <a:pt x="157" y="354"/>
                  </a:lnTo>
                  <a:lnTo>
                    <a:pt x="182" y="356"/>
                  </a:lnTo>
                  <a:lnTo>
                    <a:pt x="207" y="354"/>
                  </a:lnTo>
                  <a:lnTo>
                    <a:pt x="216" y="325"/>
                  </a:lnTo>
                  <a:lnTo>
                    <a:pt x="222" y="260"/>
                  </a:lnTo>
                  <a:lnTo>
                    <a:pt x="237" y="237"/>
                  </a:lnTo>
                  <a:lnTo>
                    <a:pt x="248" y="204"/>
                  </a:lnTo>
                  <a:lnTo>
                    <a:pt x="250" y="173"/>
                  </a:lnTo>
                  <a:lnTo>
                    <a:pt x="255" y="131"/>
                  </a:lnTo>
                  <a:lnTo>
                    <a:pt x="256" y="107"/>
                  </a:lnTo>
                  <a:lnTo>
                    <a:pt x="255" y="92"/>
                  </a:lnTo>
                  <a:lnTo>
                    <a:pt x="248" y="66"/>
                  </a:lnTo>
                  <a:lnTo>
                    <a:pt x="234" y="52"/>
                  </a:lnTo>
                  <a:lnTo>
                    <a:pt x="215" y="48"/>
                  </a:lnTo>
                  <a:lnTo>
                    <a:pt x="208" y="33"/>
                  </a:lnTo>
                  <a:lnTo>
                    <a:pt x="191" y="23"/>
                  </a:lnTo>
                  <a:lnTo>
                    <a:pt x="173" y="33"/>
                  </a:lnTo>
                  <a:lnTo>
                    <a:pt x="160" y="12"/>
                  </a:lnTo>
                  <a:lnTo>
                    <a:pt x="140" y="5"/>
                  </a:lnTo>
                  <a:lnTo>
                    <a:pt x="118" y="24"/>
                  </a:lnTo>
                  <a:lnTo>
                    <a:pt x="108" y="0"/>
                  </a:lnTo>
                  <a:lnTo>
                    <a:pt x="78" y="3"/>
                  </a:lnTo>
                  <a:lnTo>
                    <a:pt x="63" y="42"/>
                  </a:lnTo>
                  <a:lnTo>
                    <a:pt x="60" y="64"/>
                  </a:lnTo>
                  <a:lnTo>
                    <a:pt x="57" y="93"/>
                  </a:lnTo>
                  <a:lnTo>
                    <a:pt x="51" y="131"/>
                  </a:lnTo>
                  <a:lnTo>
                    <a:pt x="43" y="116"/>
                  </a:lnTo>
                  <a:lnTo>
                    <a:pt x="39" y="89"/>
                  </a:lnTo>
                  <a:lnTo>
                    <a:pt x="34" y="70"/>
                  </a:lnTo>
                  <a:lnTo>
                    <a:pt x="27" y="61"/>
                  </a:lnTo>
                  <a:lnTo>
                    <a:pt x="12" y="54"/>
                  </a:lnTo>
                  <a:lnTo>
                    <a:pt x="4" y="57"/>
                  </a:lnTo>
                  <a:lnTo>
                    <a:pt x="0" y="66"/>
                  </a:lnTo>
                  <a:lnTo>
                    <a:pt x="5" y="80"/>
                  </a:lnTo>
                  <a:lnTo>
                    <a:pt x="7" y="107"/>
                  </a:lnTo>
                  <a:lnTo>
                    <a:pt x="3" y="13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7" name="Freeform 110"/>
            <p:cNvSpPr>
              <a:spLocks/>
            </p:cNvSpPr>
            <p:nvPr/>
          </p:nvSpPr>
          <p:spPr bwMode="auto">
            <a:xfrm>
              <a:off x="320" y="1820"/>
              <a:ext cx="26" cy="27"/>
            </a:xfrm>
            <a:custGeom>
              <a:avLst/>
              <a:gdLst>
                <a:gd name="T0" fmla="*/ 0 w 129"/>
                <a:gd name="T1" fmla="*/ 0 h 134"/>
                <a:gd name="T2" fmla="*/ 0 w 129"/>
                <a:gd name="T3" fmla="*/ 0 h 134"/>
                <a:gd name="T4" fmla="*/ 0 w 129"/>
                <a:gd name="T5" fmla="*/ 0 h 134"/>
                <a:gd name="T6" fmla="*/ 0 w 129"/>
                <a:gd name="T7" fmla="*/ 0 h 134"/>
                <a:gd name="T8" fmla="*/ 0 w 129"/>
                <a:gd name="T9" fmla="*/ 0 h 134"/>
                <a:gd name="T10" fmla="*/ 0 w 129"/>
                <a:gd name="T11" fmla="*/ 0 h 134"/>
                <a:gd name="T12" fmla="*/ 0 w 129"/>
                <a:gd name="T13" fmla="*/ 0 h 134"/>
                <a:gd name="T14" fmla="*/ 0 w 129"/>
                <a:gd name="T15" fmla="*/ 0 h 134"/>
                <a:gd name="T16" fmla="*/ 0 w 129"/>
                <a:gd name="T17" fmla="*/ 0 h 134"/>
                <a:gd name="T18" fmla="*/ 0 w 129"/>
                <a:gd name="T19" fmla="*/ 0 h 134"/>
                <a:gd name="T20" fmla="*/ 0 w 129"/>
                <a:gd name="T21" fmla="*/ 0 h 134"/>
                <a:gd name="T22" fmla="*/ 0 w 129"/>
                <a:gd name="T23" fmla="*/ 0 h 134"/>
                <a:gd name="T24" fmla="*/ 0 w 129"/>
                <a:gd name="T25" fmla="*/ 0 h 134"/>
                <a:gd name="T26" fmla="*/ 0 w 129"/>
                <a:gd name="T27" fmla="*/ 0 h 134"/>
                <a:gd name="T28" fmla="*/ 0 w 129"/>
                <a:gd name="T29" fmla="*/ 0 h 134"/>
                <a:gd name="T30" fmla="*/ 0 w 129"/>
                <a:gd name="T31" fmla="*/ 0 h 134"/>
                <a:gd name="T32" fmla="*/ 0 w 129"/>
                <a:gd name="T33" fmla="*/ 0 h 134"/>
                <a:gd name="T34" fmla="*/ 0 w 129"/>
                <a:gd name="T35" fmla="*/ 0 h 134"/>
                <a:gd name="T36" fmla="*/ 0 w 129"/>
                <a:gd name="T37" fmla="*/ 0 h 134"/>
                <a:gd name="T38" fmla="*/ 0 w 129"/>
                <a:gd name="T39" fmla="*/ 0 h 134"/>
                <a:gd name="T40" fmla="*/ 0 w 129"/>
                <a:gd name="T41" fmla="*/ 0 h 134"/>
                <a:gd name="T42" fmla="*/ 0 w 129"/>
                <a:gd name="T43" fmla="*/ 0 h 134"/>
                <a:gd name="T44" fmla="*/ 0 w 129"/>
                <a:gd name="T45" fmla="*/ 0 h 134"/>
                <a:gd name="T46" fmla="*/ 0 w 129"/>
                <a:gd name="T47" fmla="*/ 0 h 134"/>
                <a:gd name="T48" fmla="*/ 0 w 129"/>
                <a:gd name="T49" fmla="*/ 0 h 134"/>
                <a:gd name="T50" fmla="*/ 0 w 129"/>
                <a:gd name="T51" fmla="*/ 0 h 134"/>
                <a:gd name="T52" fmla="*/ 0 w 129"/>
                <a:gd name="T53" fmla="*/ 0 h 134"/>
                <a:gd name="T54" fmla="*/ 0 w 129"/>
                <a:gd name="T55" fmla="*/ 0 h 134"/>
                <a:gd name="T56" fmla="*/ 0 w 129"/>
                <a:gd name="T57" fmla="*/ 0 h 134"/>
                <a:gd name="T58" fmla="*/ 0 w 129"/>
                <a:gd name="T59" fmla="*/ 0 h 134"/>
                <a:gd name="T60" fmla="*/ 0 w 129"/>
                <a:gd name="T61" fmla="*/ 0 h 134"/>
                <a:gd name="T62" fmla="*/ 0 w 129"/>
                <a:gd name="T63" fmla="*/ 0 h 134"/>
                <a:gd name="T64" fmla="*/ 0 w 129"/>
                <a:gd name="T65" fmla="*/ 0 h 134"/>
                <a:gd name="T66" fmla="*/ 0 w 129"/>
                <a:gd name="T67" fmla="*/ 0 h 134"/>
                <a:gd name="T68" fmla="*/ 0 w 129"/>
                <a:gd name="T69" fmla="*/ 0 h 134"/>
                <a:gd name="T70" fmla="*/ 0 w 129"/>
                <a:gd name="T71" fmla="*/ 0 h 134"/>
                <a:gd name="T72" fmla="*/ 0 w 129"/>
                <a:gd name="T73" fmla="*/ 0 h 134"/>
                <a:gd name="T74" fmla="*/ 0 w 129"/>
                <a:gd name="T75" fmla="*/ 0 h 134"/>
                <a:gd name="T76" fmla="*/ 0 w 129"/>
                <a:gd name="T77" fmla="*/ 0 h 134"/>
                <a:gd name="T78" fmla="*/ 0 w 129"/>
                <a:gd name="T79" fmla="*/ 0 h 134"/>
                <a:gd name="T80" fmla="*/ 0 w 129"/>
                <a:gd name="T81" fmla="*/ 0 h 134"/>
                <a:gd name="T82" fmla="*/ 0 w 129"/>
                <a:gd name="T83" fmla="*/ 0 h 134"/>
                <a:gd name="T84" fmla="*/ 0 w 129"/>
                <a:gd name="T85" fmla="*/ 0 h 134"/>
                <a:gd name="T86" fmla="*/ 0 w 129"/>
                <a:gd name="T87" fmla="*/ 0 h 134"/>
                <a:gd name="T88" fmla="*/ 0 w 129"/>
                <a:gd name="T89" fmla="*/ 0 h 134"/>
                <a:gd name="T90" fmla="*/ 0 w 129"/>
                <a:gd name="T91" fmla="*/ 0 h 134"/>
                <a:gd name="T92" fmla="*/ 0 w 129"/>
                <a:gd name="T93" fmla="*/ 0 h 134"/>
                <a:gd name="T94" fmla="*/ 0 w 129"/>
                <a:gd name="T95" fmla="*/ 0 h 134"/>
                <a:gd name="T96" fmla="*/ 0 w 129"/>
                <a:gd name="T97" fmla="*/ 0 h 134"/>
                <a:gd name="T98" fmla="*/ 0 w 129"/>
                <a:gd name="T99" fmla="*/ 0 h 13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29" h="134">
                  <a:moveTo>
                    <a:pt x="6" y="2"/>
                  </a:moveTo>
                  <a:lnTo>
                    <a:pt x="13" y="30"/>
                  </a:lnTo>
                  <a:lnTo>
                    <a:pt x="22" y="49"/>
                  </a:lnTo>
                  <a:lnTo>
                    <a:pt x="11" y="91"/>
                  </a:lnTo>
                  <a:lnTo>
                    <a:pt x="18" y="100"/>
                  </a:lnTo>
                  <a:lnTo>
                    <a:pt x="28" y="104"/>
                  </a:lnTo>
                  <a:lnTo>
                    <a:pt x="41" y="102"/>
                  </a:lnTo>
                  <a:lnTo>
                    <a:pt x="51" y="79"/>
                  </a:lnTo>
                  <a:lnTo>
                    <a:pt x="60" y="61"/>
                  </a:lnTo>
                  <a:lnTo>
                    <a:pt x="55" y="36"/>
                  </a:lnTo>
                  <a:lnTo>
                    <a:pt x="53" y="9"/>
                  </a:lnTo>
                  <a:lnTo>
                    <a:pt x="60" y="12"/>
                  </a:lnTo>
                  <a:lnTo>
                    <a:pt x="62" y="37"/>
                  </a:lnTo>
                  <a:lnTo>
                    <a:pt x="65" y="54"/>
                  </a:lnTo>
                  <a:lnTo>
                    <a:pt x="65" y="68"/>
                  </a:lnTo>
                  <a:lnTo>
                    <a:pt x="56" y="83"/>
                  </a:lnTo>
                  <a:lnTo>
                    <a:pt x="47" y="100"/>
                  </a:lnTo>
                  <a:lnTo>
                    <a:pt x="46" y="116"/>
                  </a:lnTo>
                  <a:lnTo>
                    <a:pt x="56" y="123"/>
                  </a:lnTo>
                  <a:lnTo>
                    <a:pt x="75" y="120"/>
                  </a:lnTo>
                  <a:lnTo>
                    <a:pt x="86" y="106"/>
                  </a:lnTo>
                  <a:lnTo>
                    <a:pt x="104" y="84"/>
                  </a:lnTo>
                  <a:lnTo>
                    <a:pt x="103" y="70"/>
                  </a:lnTo>
                  <a:lnTo>
                    <a:pt x="101" y="45"/>
                  </a:lnTo>
                  <a:lnTo>
                    <a:pt x="107" y="65"/>
                  </a:lnTo>
                  <a:lnTo>
                    <a:pt x="108" y="84"/>
                  </a:lnTo>
                  <a:lnTo>
                    <a:pt x="94" y="103"/>
                  </a:lnTo>
                  <a:lnTo>
                    <a:pt x="93" y="117"/>
                  </a:lnTo>
                  <a:lnTo>
                    <a:pt x="96" y="128"/>
                  </a:lnTo>
                  <a:lnTo>
                    <a:pt x="104" y="131"/>
                  </a:lnTo>
                  <a:lnTo>
                    <a:pt x="113" y="125"/>
                  </a:lnTo>
                  <a:lnTo>
                    <a:pt x="129" y="109"/>
                  </a:lnTo>
                  <a:lnTo>
                    <a:pt x="116" y="127"/>
                  </a:lnTo>
                  <a:lnTo>
                    <a:pt x="111" y="134"/>
                  </a:lnTo>
                  <a:lnTo>
                    <a:pt x="97" y="134"/>
                  </a:lnTo>
                  <a:lnTo>
                    <a:pt x="91" y="126"/>
                  </a:lnTo>
                  <a:lnTo>
                    <a:pt x="87" y="114"/>
                  </a:lnTo>
                  <a:lnTo>
                    <a:pt x="79" y="125"/>
                  </a:lnTo>
                  <a:lnTo>
                    <a:pt x="63" y="127"/>
                  </a:lnTo>
                  <a:lnTo>
                    <a:pt x="49" y="127"/>
                  </a:lnTo>
                  <a:lnTo>
                    <a:pt x="43" y="116"/>
                  </a:lnTo>
                  <a:lnTo>
                    <a:pt x="41" y="106"/>
                  </a:lnTo>
                  <a:lnTo>
                    <a:pt x="35" y="109"/>
                  </a:lnTo>
                  <a:lnTo>
                    <a:pt x="24" y="109"/>
                  </a:lnTo>
                  <a:lnTo>
                    <a:pt x="11" y="101"/>
                  </a:lnTo>
                  <a:lnTo>
                    <a:pt x="8" y="86"/>
                  </a:lnTo>
                  <a:lnTo>
                    <a:pt x="18" y="51"/>
                  </a:lnTo>
                  <a:lnTo>
                    <a:pt x="7" y="29"/>
                  </a:lnTo>
                  <a:lnTo>
                    <a:pt x="0" y="0"/>
                  </a:lnTo>
                  <a:lnTo>
                    <a:pt x="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8" name="Freeform 111"/>
            <p:cNvSpPr>
              <a:spLocks/>
            </p:cNvSpPr>
            <p:nvPr/>
          </p:nvSpPr>
          <p:spPr bwMode="auto">
            <a:xfrm>
              <a:off x="325" y="1834"/>
              <a:ext cx="4" cy="1"/>
            </a:xfrm>
            <a:custGeom>
              <a:avLst/>
              <a:gdLst>
                <a:gd name="T0" fmla="*/ 0 w 20"/>
                <a:gd name="T1" fmla="*/ 0 h 5"/>
                <a:gd name="T2" fmla="*/ 0 w 20"/>
                <a:gd name="T3" fmla="*/ 0 h 5"/>
                <a:gd name="T4" fmla="*/ 0 w 20"/>
                <a:gd name="T5" fmla="*/ 0 h 5"/>
                <a:gd name="T6" fmla="*/ 0 w 20"/>
                <a:gd name="T7" fmla="*/ 0 h 5"/>
                <a:gd name="T8" fmla="*/ 0 w 20"/>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 h="5">
                  <a:moveTo>
                    <a:pt x="0" y="5"/>
                  </a:moveTo>
                  <a:lnTo>
                    <a:pt x="6" y="4"/>
                  </a:lnTo>
                  <a:lnTo>
                    <a:pt x="20"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19" name="Freeform 112"/>
            <p:cNvSpPr>
              <a:spLocks/>
            </p:cNvSpPr>
            <p:nvPr/>
          </p:nvSpPr>
          <p:spPr bwMode="auto">
            <a:xfrm>
              <a:off x="330" y="1838"/>
              <a:ext cx="6" cy="2"/>
            </a:xfrm>
            <a:custGeom>
              <a:avLst/>
              <a:gdLst>
                <a:gd name="T0" fmla="*/ 0 w 27"/>
                <a:gd name="T1" fmla="*/ 0 h 9"/>
                <a:gd name="T2" fmla="*/ 0 w 27"/>
                <a:gd name="T3" fmla="*/ 0 h 9"/>
                <a:gd name="T4" fmla="*/ 0 w 27"/>
                <a:gd name="T5" fmla="*/ 0 h 9"/>
                <a:gd name="T6" fmla="*/ 0 w 27"/>
                <a:gd name="T7" fmla="*/ 0 h 9"/>
                <a:gd name="T8" fmla="*/ 0 w 27"/>
                <a:gd name="T9" fmla="*/ 0 h 9"/>
                <a:gd name="T10" fmla="*/ 0 w 27"/>
                <a:gd name="T11" fmla="*/ 0 h 9"/>
                <a:gd name="T12" fmla="*/ 0 w 27"/>
                <a:gd name="T13" fmla="*/ 0 h 9"/>
                <a:gd name="T14" fmla="*/ 0 w 27"/>
                <a:gd name="T15" fmla="*/ 0 h 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7" h="9">
                  <a:moveTo>
                    <a:pt x="27" y="7"/>
                  </a:moveTo>
                  <a:lnTo>
                    <a:pt x="23" y="3"/>
                  </a:lnTo>
                  <a:lnTo>
                    <a:pt x="17" y="1"/>
                  </a:lnTo>
                  <a:lnTo>
                    <a:pt x="6" y="0"/>
                  </a:lnTo>
                  <a:lnTo>
                    <a:pt x="0" y="9"/>
                  </a:lnTo>
                  <a:lnTo>
                    <a:pt x="8" y="3"/>
                  </a:lnTo>
                  <a:lnTo>
                    <a:pt x="15" y="2"/>
                  </a:lnTo>
                  <a:lnTo>
                    <a:pt x="27" y="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0" name="Freeform 113"/>
            <p:cNvSpPr>
              <a:spLocks/>
            </p:cNvSpPr>
            <p:nvPr/>
          </p:nvSpPr>
          <p:spPr bwMode="auto">
            <a:xfrm>
              <a:off x="340" y="1841"/>
              <a:ext cx="4" cy="1"/>
            </a:xfrm>
            <a:custGeom>
              <a:avLst/>
              <a:gdLst>
                <a:gd name="T0" fmla="*/ 0 w 20"/>
                <a:gd name="T1" fmla="*/ 0 h 4"/>
                <a:gd name="T2" fmla="*/ 0 w 20"/>
                <a:gd name="T3" fmla="*/ 0 h 4"/>
                <a:gd name="T4" fmla="*/ 0 w 20"/>
                <a:gd name="T5" fmla="*/ 0 h 4"/>
                <a:gd name="T6" fmla="*/ 0 w 20"/>
                <a:gd name="T7" fmla="*/ 0 h 4"/>
                <a:gd name="T8" fmla="*/ 0 w 20"/>
                <a:gd name="T9" fmla="*/ 0 h 4"/>
                <a:gd name="T10" fmla="*/ 0 w 20"/>
                <a:gd name="T11" fmla="*/ 0 h 4"/>
                <a:gd name="T12" fmla="*/ 0 w 20"/>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4">
                  <a:moveTo>
                    <a:pt x="0" y="2"/>
                  </a:moveTo>
                  <a:lnTo>
                    <a:pt x="4" y="0"/>
                  </a:lnTo>
                  <a:lnTo>
                    <a:pt x="11" y="0"/>
                  </a:lnTo>
                  <a:lnTo>
                    <a:pt x="20" y="4"/>
                  </a:lnTo>
                  <a:lnTo>
                    <a:pt x="15" y="3"/>
                  </a:lnTo>
                  <a:lnTo>
                    <a:pt x="11"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1" name="Freeform 114"/>
            <p:cNvSpPr>
              <a:spLocks/>
            </p:cNvSpPr>
            <p:nvPr/>
          </p:nvSpPr>
          <p:spPr bwMode="auto">
            <a:xfrm>
              <a:off x="323" y="1845"/>
              <a:ext cx="6" cy="15"/>
            </a:xfrm>
            <a:custGeom>
              <a:avLst/>
              <a:gdLst>
                <a:gd name="T0" fmla="*/ 0 w 31"/>
                <a:gd name="T1" fmla="*/ 0 h 74"/>
                <a:gd name="T2" fmla="*/ 0 w 31"/>
                <a:gd name="T3" fmla="*/ 0 h 74"/>
                <a:gd name="T4" fmla="*/ 0 w 31"/>
                <a:gd name="T5" fmla="*/ 0 h 74"/>
                <a:gd name="T6" fmla="*/ 0 w 31"/>
                <a:gd name="T7" fmla="*/ 0 h 74"/>
                <a:gd name="T8" fmla="*/ 0 w 31"/>
                <a:gd name="T9" fmla="*/ 0 h 74"/>
                <a:gd name="T10" fmla="*/ 0 w 31"/>
                <a:gd name="T11" fmla="*/ 0 h 74"/>
                <a:gd name="T12" fmla="*/ 0 w 31"/>
                <a:gd name="T13" fmla="*/ 0 h 74"/>
                <a:gd name="T14" fmla="*/ 0 w 31"/>
                <a:gd name="T15" fmla="*/ 0 h 74"/>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1" h="74">
                  <a:moveTo>
                    <a:pt x="0" y="0"/>
                  </a:moveTo>
                  <a:lnTo>
                    <a:pt x="17" y="19"/>
                  </a:lnTo>
                  <a:lnTo>
                    <a:pt x="25" y="42"/>
                  </a:lnTo>
                  <a:lnTo>
                    <a:pt x="26" y="74"/>
                  </a:lnTo>
                  <a:lnTo>
                    <a:pt x="31" y="49"/>
                  </a:lnTo>
                  <a:lnTo>
                    <a:pt x="29" y="29"/>
                  </a:lnTo>
                  <a:lnTo>
                    <a:pt x="24" y="2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2" name="Freeform 115"/>
            <p:cNvSpPr>
              <a:spLocks/>
            </p:cNvSpPr>
            <p:nvPr/>
          </p:nvSpPr>
          <p:spPr bwMode="auto">
            <a:xfrm>
              <a:off x="308" y="1839"/>
              <a:ext cx="10" cy="5"/>
            </a:xfrm>
            <a:custGeom>
              <a:avLst/>
              <a:gdLst>
                <a:gd name="T0" fmla="*/ 0 w 50"/>
                <a:gd name="T1" fmla="*/ 0 h 25"/>
                <a:gd name="T2" fmla="*/ 0 w 50"/>
                <a:gd name="T3" fmla="*/ 0 h 25"/>
                <a:gd name="T4" fmla="*/ 0 w 50"/>
                <a:gd name="T5" fmla="*/ 0 h 25"/>
                <a:gd name="T6" fmla="*/ 0 w 50"/>
                <a:gd name="T7" fmla="*/ 0 h 25"/>
                <a:gd name="T8" fmla="*/ 0 w 50"/>
                <a:gd name="T9" fmla="*/ 0 h 25"/>
                <a:gd name="T10" fmla="*/ 0 w 50"/>
                <a:gd name="T11" fmla="*/ 0 h 25"/>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50" h="25">
                  <a:moveTo>
                    <a:pt x="0" y="11"/>
                  </a:moveTo>
                  <a:lnTo>
                    <a:pt x="19" y="13"/>
                  </a:lnTo>
                  <a:lnTo>
                    <a:pt x="50" y="25"/>
                  </a:lnTo>
                  <a:lnTo>
                    <a:pt x="28" y="9"/>
                  </a:lnTo>
                  <a:lnTo>
                    <a:pt x="1" y="0"/>
                  </a:lnTo>
                  <a:lnTo>
                    <a:pt x="0" y="1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3" name="Freeform 116"/>
            <p:cNvSpPr>
              <a:spLocks/>
            </p:cNvSpPr>
            <p:nvPr/>
          </p:nvSpPr>
          <p:spPr bwMode="auto">
            <a:xfrm>
              <a:off x="321" y="1862"/>
              <a:ext cx="7" cy="7"/>
            </a:xfrm>
            <a:custGeom>
              <a:avLst/>
              <a:gdLst>
                <a:gd name="T0" fmla="*/ 0 w 39"/>
                <a:gd name="T1" fmla="*/ 0 h 33"/>
                <a:gd name="T2" fmla="*/ 0 w 39"/>
                <a:gd name="T3" fmla="*/ 0 h 33"/>
                <a:gd name="T4" fmla="*/ 0 w 39"/>
                <a:gd name="T5" fmla="*/ 0 h 33"/>
                <a:gd name="T6" fmla="*/ 0 w 39"/>
                <a:gd name="T7" fmla="*/ 0 h 33"/>
                <a:gd name="T8" fmla="*/ 0 w 39"/>
                <a:gd name="T9" fmla="*/ 0 h 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9" h="33">
                  <a:moveTo>
                    <a:pt x="39" y="0"/>
                  </a:moveTo>
                  <a:lnTo>
                    <a:pt x="20" y="21"/>
                  </a:lnTo>
                  <a:lnTo>
                    <a:pt x="0" y="33"/>
                  </a:lnTo>
                  <a:lnTo>
                    <a:pt x="26" y="25"/>
                  </a:lnTo>
                  <a:lnTo>
                    <a:pt x="3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4" name="Freeform 117"/>
            <p:cNvSpPr>
              <a:spLocks/>
            </p:cNvSpPr>
            <p:nvPr/>
          </p:nvSpPr>
          <p:spPr bwMode="auto">
            <a:xfrm>
              <a:off x="332" y="1858"/>
              <a:ext cx="7" cy="7"/>
            </a:xfrm>
            <a:custGeom>
              <a:avLst/>
              <a:gdLst>
                <a:gd name="T0" fmla="*/ 0 w 38"/>
                <a:gd name="T1" fmla="*/ 0 h 35"/>
                <a:gd name="T2" fmla="*/ 0 w 38"/>
                <a:gd name="T3" fmla="*/ 0 h 35"/>
                <a:gd name="T4" fmla="*/ 0 w 38"/>
                <a:gd name="T5" fmla="*/ 0 h 35"/>
                <a:gd name="T6" fmla="*/ 0 w 38"/>
                <a:gd name="T7" fmla="*/ 0 h 35"/>
                <a:gd name="T8" fmla="*/ 0 w 38"/>
                <a:gd name="T9" fmla="*/ 0 h 35"/>
                <a:gd name="T10" fmla="*/ 0 w 38"/>
                <a:gd name="T11" fmla="*/ 0 h 35"/>
                <a:gd name="T12" fmla="*/ 0 w 38"/>
                <a:gd name="T13" fmla="*/ 0 h 35"/>
                <a:gd name="T14" fmla="*/ 0 w 38"/>
                <a:gd name="T15" fmla="*/ 0 h 3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8" h="35">
                  <a:moveTo>
                    <a:pt x="0" y="0"/>
                  </a:moveTo>
                  <a:lnTo>
                    <a:pt x="3" y="13"/>
                  </a:lnTo>
                  <a:lnTo>
                    <a:pt x="22" y="29"/>
                  </a:lnTo>
                  <a:lnTo>
                    <a:pt x="38" y="35"/>
                  </a:lnTo>
                  <a:lnTo>
                    <a:pt x="12" y="32"/>
                  </a:lnTo>
                  <a:lnTo>
                    <a:pt x="3" y="21"/>
                  </a:lnTo>
                  <a:lnTo>
                    <a:pt x="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5" name="Freeform 118"/>
            <p:cNvSpPr>
              <a:spLocks/>
            </p:cNvSpPr>
            <p:nvPr/>
          </p:nvSpPr>
          <p:spPr bwMode="auto">
            <a:xfrm>
              <a:off x="278" y="1810"/>
              <a:ext cx="41" cy="31"/>
            </a:xfrm>
            <a:custGeom>
              <a:avLst/>
              <a:gdLst>
                <a:gd name="T0" fmla="*/ 0 w 201"/>
                <a:gd name="T1" fmla="*/ 0 h 158"/>
                <a:gd name="T2" fmla="*/ 0 w 201"/>
                <a:gd name="T3" fmla="*/ 0 h 158"/>
                <a:gd name="T4" fmla="*/ 0 w 201"/>
                <a:gd name="T5" fmla="*/ 0 h 158"/>
                <a:gd name="T6" fmla="*/ 0 w 201"/>
                <a:gd name="T7" fmla="*/ 0 h 158"/>
                <a:gd name="T8" fmla="*/ 0 w 201"/>
                <a:gd name="T9" fmla="*/ 0 h 158"/>
                <a:gd name="T10" fmla="*/ 0 w 201"/>
                <a:gd name="T11" fmla="*/ 0 h 158"/>
                <a:gd name="T12" fmla="*/ 0 w 201"/>
                <a:gd name="T13" fmla="*/ 0 h 1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1" h="158">
                  <a:moveTo>
                    <a:pt x="165" y="158"/>
                  </a:moveTo>
                  <a:lnTo>
                    <a:pt x="201" y="76"/>
                  </a:lnTo>
                  <a:lnTo>
                    <a:pt x="132" y="31"/>
                  </a:lnTo>
                  <a:lnTo>
                    <a:pt x="29" y="0"/>
                  </a:lnTo>
                  <a:lnTo>
                    <a:pt x="0" y="87"/>
                  </a:lnTo>
                  <a:lnTo>
                    <a:pt x="94" y="114"/>
                  </a:lnTo>
                  <a:lnTo>
                    <a:pt x="165" y="158"/>
                  </a:lnTo>
                  <a:close/>
                </a:path>
              </a:pathLst>
            </a:custGeom>
            <a:solidFill>
              <a:srgbClr val="FFFFFF"/>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6" name="Oval 119"/>
            <p:cNvSpPr>
              <a:spLocks noChangeArrowheads="1"/>
            </p:cNvSpPr>
            <p:nvPr/>
          </p:nvSpPr>
          <p:spPr bwMode="auto">
            <a:xfrm>
              <a:off x="304" y="1824"/>
              <a:ext cx="7" cy="9"/>
            </a:xfrm>
            <a:prstGeom prst="ellipse">
              <a:avLst/>
            </a:prstGeom>
            <a:solidFill>
              <a:srgbClr val="FFFFFF"/>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7" name="Freeform 120"/>
            <p:cNvSpPr>
              <a:spLocks/>
            </p:cNvSpPr>
            <p:nvPr/>
          </p:nvSpPr>
          <p:spPr bwMode="auto">
            <a:xfrm>
              <a:off x="297" y="1826"/>
              <a:ext cx="10" cy="22"/>
            </a:xfrm>
            <a:custGeom>
              <a:avLst/>
              <a:gdLst>
                <a:gd name="T0" fmla="*/ 0 w 52"/>
                <a:gd name="T1" fmla="*/ 0 h 111"/>
                <a:gd name="T2" fmla="*/ 0 w 52"/>
                <a:gd name="T3" fmla="*/ 0 h 111"/>
                <a:gd name="T4" fmla="*/ 0 w 52"/>
                <a:gd name="T5" fmla="*/ 0 h 111"/>
                <a:gd name="T6" fmla="*/ 0 w 52"/>
                <a:gd name="T7" fmla="*/ 0 h 111"/>
                <a:gd name="T8" fmla="*/ 0 w 52"/>
                <a:gd name="T9" fmla="*/ 0 h 111"/>
                <a:gd name="T10" fmla="*/ 0 w 52"/>
                <a:gd name="T11" fmla="*/ 0 h 111"/>
                <a:gd name="T12" fmla="*/ 0 w 52"/>
                <a:gd name="T13" fmla="*/ 0 h 111"/>
                <a:gd name="T14" fmla="*/ 0 w 52"/>
                <a:gd name="T15" fmla="*/ 0 h 111"/>
                <a:gd name="T16" fmla="*/ 0 w 52"/>
                <a:gd name="T17" fmla="*/ 0 h 111"/>
                <a:gd name="T18" fmla="*/ 0 w 52"/>
                <a:gd name="T19" fmla="*/ 0 h 111"/>
                <a:gd name="T20" fmla="*/ 0 w 52"/>
                <a:gd name="T21" fmla="*/ 0 h 111"/>
                <a:gd name="T22" fmla="*/ 0 w 52"/>
                <a:gd name="T23" fmla="*/ 0 h 111"/>
                <a:gd name="T24" fmla="*/ 0 w 52"/>
                <a:gd name="T25" fmla="*/ 0 h 111"/>
                <a:gd name="T26" fmla="*/ 0 w 52"/>
                <a:gd name="T27" fmla="*/ 0 h 111"/>
                <a:gd name="T28" fmla="*/ 0 w 52"/>
                <a:gd name="T29" fmla="*/ 0 h 111"/>
                <a:gd name="T30" fmla="*/ 0 w 52"/>
                <a:gd name="T31" fmla="*/ 0 h 11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52" h="111">
                  <a:moveTo>
                    <a:pt x="4" y="74"/>
                  </a:moveTo>
                  <a:lnTo>
                    <a:pt x="7" y="55"/>
                  </a:lnTo>
                  <a:lnTo>
                    <a:pt x="5" y="36"/>
                  </a:lnTo>
                  <a:lnTo>
                    <a:pt x="4" y="23"/>
                  </a:lnTo>
                  <a:lnTo>
                    <a:pt x="0" y="13"/>
                  </a:lnTo>
                  <a:lnTo>
                    <a:pt x="4" y="4"/>
                  </a:lnTo>
                  <a:lnTo>
                    <a:pt x="11" y="0"/>
                  </a:lnTo>
                  <a:lnTo>
                    <a:pt x="27" y="6"/>
                  </a:lnTo>
                  <a:lnTo>
                    <a:pt x="33" y="16"/>
                  </a:lnTo>
                  <a:lnTo>
                    <a:pt x="37" y="27"/>
                  </a:lnTo>
                  <a:lnTo>
                    <a:pt x="39" y="39"/>
                  </a:lnTo>
                  <a:lnTo>
                    <a:pt x="40" y="59"/>
                  </a:lnTo>
                  <a:lnTo>
                    <a:pt x="52" y="79"/>
                  </a:lnTo>
                  <a:lnTo>
                    <a:pt x="23" y="111"/>
                  </a:lnTo>
                  <a:lnTo>
                    <a:pt x="11" y="103"/>
                  </a:lnTo>
                  <a:lnTo>
                    <a:pt x="4" y="74"/>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8" name="Freeform 121"/>
            <p:cNvSpPr>
              <a:spLocks/>
            </p:cNvSpPr>
            <p:nvPr/>
          </p:nvSpPr>
          <p:spPr bwMode="auto">
            <a:xfrm>
              <a:off x="301" y="1841"/>
              <a:ext cx="7" cy="7"/>
            </a:xfrm>
            <a:custGeom>
              <a:avLst/>
              <a:gdLst>
                <a:gd name="T0" fmla="*/ 0 w 35"/>
                <a:gd name="T1" fmla="*/ 0 h 34"/>
                <a:gd name="T2" fmla="*/ 0 w 35"/>
                <a:gd name="T3" fmla="*/ 0 h 34"/>
                <a:gd name="T4" fmla="*/ 0 w 35"/>
                <a:gd name="T5" fmla="*/ 0 h 34"/>
                <a:gd name="T6" fmla="*/ 0 w 35"/>
                <a:gd name="T7" fmla="*/ 0 h 34"/>
                <a:gd name="T8" fmla="*/ 0 w 35"/>
                <a:gd name="T9" fmla="*/ 0 h 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4">
                  <a:moveTo>
                    <a:pt x="24" y="0"/>
                  </a:moveTo>
                  <a:lnTo>
                    <a:pt x="35" y="4"/>
                  </a:lnTo>
                  <a:lnTo>
                    <a:pt x="9" y="34"/>
                  </a:lnTo>
                  <a:lnTo>
                    <a:pt x="0" y="26"/>
                  </a:lnTo>
                  <a:lnTo>
                    <a:pt x="24"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29" name="Freeform 122"/>
            <p:cNvSpPr>
              <a:spLocks/>
            </p:cNvSpPr>
            <p:nvPr/>
          </p:nvSpPr>
          <p:spPr bwMode="auto">
            <a:xfrm>
              <a:off x="312" y="1815"/>
              <a:ext cx="9" cy="20"/>
            </a:xfrm>
            <a:custGeom>
              <a:avLst/>
              <a:gdLst>
                <a:gd name="T0" fmla="*/ 0 w 48"/>
                <a:gd name="T1" fmla="*/ 0 h 97"/>
                <a:gd name="T2" fmla="*/ 0 w 48"/>
                <a:gd name="T3" fmla="*/ 0 h 97"/>
                <a:gd name="T4" fmla="*/ 0 w 48"/>
                <a:gd name="T5" fmla="*/ 0 h 97"/>
                <a:gd name="T6" fmla="*/ 0 w 48"/>
                <a:gd name="T7" fmla="*/ 0 h 97"/>
                <a:gd name="T8" fmla="*/ 0 w 48"/>
                <a:gd name="T9" fmla="*/ 0 h 97"/>
                <a:gd name="T10" fmla="*/ 0 w 48"/>
                <a:gd name="T11" fmla="*/ 0 h 97"/>
                <a:gd name="T12" fmla="*/ 0 w 48"/>
                <a:gd name="T13" fmla="*/ 0 h 97"/>
                <a:gd name="T14" fmla="*/ 0 w 48"/>
                <a:gd name="T15" fmla="*/ 0 h 97"/>
                <a:gd name="T16" fmla="*/ 0 w 48"/>
                <a:gd name="T17" fmla="*/ 0 h 97"/>
                <a:gd name="T18" fmla="*/ 0 w 48"/>
                <a:gd name="T19" fmla="*/ 0 h 97"/>
                <a:gd name="T20" fmla="*/ 0 w 48"/>
                <a:gd name="T21" fmla="*/ 0 h 97"/>
                <a:gd name="T22" fmla="*/ 0 w 48"/>
                <a:gd name="T23" fmla="*/ 0 h 97"/>
                <a:gd name="T24" fmla="*/ 0 w 48"/>
                <a:gd name="T25" fmla="*/ 0 h 97"/>
                <a:gd name="T26" fmla="*/ 0 w 48"/>
                <a:gd name="T27" fmla="*/ 0 h 97"/>
                <a:gd name="T28" fmla="*/ 0 w 48"/>
                <a:gd name="T29" fmla="*/ 0 h 97"/>
                <a:gd name="T30" fmla="*/ 0 w 48"/>
                <a:gd name="T31" fmla="*/ 0 h 97"/>
                <a:gd name="T32" fmla="*/ 0 w 48"/>
                <a:gd name="T33" fmla="*/ 0 h 97"/>
                <a:gd name="T34" fmla="*/ 0 w 48"/>
                <a:gd name="T35" fmla="*/ 0 h 97"/>
                <a:gd name="T36" fmla="*/ 0 w 48"/>
                <a:gd name="T37" fmla="*/ 0 h 9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8" h="97">
                  <a:moveTo>
                    <a:pt x="0" y="23"/>
                  </a:moveTo>
                  <a:lnTo>
                    <a:pt x="4" y="43"/>
                  </a:lnTo>
                  <a:lnTo>
                    <a:pt x="6" y="51"/>
                  </a:lnTo>
                  <a:lnTo>
                    <a:pt x="7" y="64"/>
                  </a:lnTo>
                  <a:lnTo>
                    <a:pt x="5" y="73"/>
                  </a:lnTo>
                  <a:lnTo>
                    <a:pt x="7" y="84"/>
                  </a:lnTo>
                  <a:lnTo>
                    <a:pt x="14" y="95"/>
                  </a:lnTo>
                  <a:lnTo>
                    <a:pt x="21" y="96"/>
                  </a:lnTo>
                  <a:lnTo>
                    <a:pt x="34" y="97"/>
                  </a:lnTo>
                  <a:lnTo>
                    <a:pt x="43" y="91"/>
                  </a:lnTo>
                  <a:lnTo>
                    <a:pt x="46" y="88"/>
                  </a:lnTo>
                  <a:lnTo>
                    <a:pt x="48" y="77"/>
                  </a:lnTo>
                  <a:lnTo>
                    <a:pt x="48" y="59"/>
                  </a:lnTo>
                  <a:lnTo>
                    <a:pt x="48" y="48"/>
                  </a:lnTo>
                  <a:lnTo>
                    <a:pt x="46" y="32"/>
                  </a:lnTo>
                  <a:lnTo>
                    <a:pt x="44" y="22"/>
                  </a:lnTo>
                  <a:lnTo>
                    <a:pt x="36" y="0"/>
                  </a:lnTo>
                  <a:lnTo>
                    <a:pt x="7" y="1"/>
                  </a:lnTo>
                  <a:lnTo>
                    <a:pt x="0" y="23"/>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0" name="Freeform 123"/>
            <p:cNvSpPr>
              <a:spLocks/>
            </p:cNvSpPr>
            <p:nvPr/>
          </p:nvSpPr>
          <p:spPr bwMode="auto">
            <a:xfrm>
              <a:off x="315" y="1828"/>
              <a:ext cx="5" cy="4"/>
            </a:xfrm>
            <a:custGeom>
              <a:avLst/>
              <a:gdLst>
                <a:gd name="T0" fmla="*/ 0 w 24"/>
                <a:gd name="T1" fmla="*/ 0 h 20"/>
                <a:gd name="T2" fmla="*/ 0 w 24"/>
                <a:gd name="T3" fmla="*/ 0 h 20"/>
                <a:gd name="T4" fmla="*/ 0 w 24"/>
                <a:gd name="T5" fmla="*/ 0 h 20"/>
                <a:gd name="T6" fmla="*/ 0 w 24"/>
                <a:gd name="T7" fmla="*/ 0 h 20"/>
                <a:gd name="T8" fmla="*/ 0 w 24"/>
                <a:gd name="T9" fmla="*/ 0 h 20"/>
                <a:gd name="T10" fmla="*/ 0 w 24"/>
                <a:gd name="T11" fmla="*/ 0 h 20"/>
                <a:gd name="T12" fmla="*/ 0 w 24"/>
                <a:gd name="T13" fmla="*/ 0 h 20"/>
                <a:gd name="T14" fmla="*/ 0 w 24"/>
                <a:gd name="T15" fmla="*/ 0 h 2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20">
                  <a:moveTo>
                    <a:pt x="24" y="5"/>
                  </a:moveTo>
                  <a:lnTo>
                    <a:pt x="12" y="0"/>
                  </a:lnTo>
                  <a:lnTo>
                    <a:pt x="3" y="1"/>
                  </a:lnTo>
                  <a:lnTo>
                    <a:pt x="0" y="5"/>
                  </a:lnTo>
                  <a:lnTo>
                    <a:pt x="1" y="20"/>
                  </a:lnTo>
                  <a:lnTo>
                    <a:pt x="3" y="8"/>
                  </a:lnTo>
                  <a:lnTo>
                    <a:pt x="5" y="4"/>
                  </a:lnTo>
                  <a:lnTo>
                    <a:pt x="24"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1" name="Group 124"/>
          <p:cNvGrpSpPr>
            <a:grpSpLocks/>
          </p:cNvGrpSpPr>
          <p:nvPr/>
        </p:nvGrpSpPr>
        <p:grpSpPr bwMode="auto">
          <a:xfrm>
            <a:off x="2029950" y="3663410"/>
            <a:ext cx="139921" cy="65972"/>
            <a:chOff x="375" y="2315"/>
            <a:chExt cx="139" cy="71"/>
          </a:xfrm>
        </p:grpSpPr>
        <p:sp>
          <p:nvSpPr>
            <p:cNvPr id="132" name="Freeform 125"/>
            <p:cNvSpPr>
              <a:spLocks/>
            </p:cNvSpPr>
            <p:nvPr/>
          </p:nvSpPr>
          <p:spPr bwMode="auto">
            <a:xfrm>
              <a:off x="375" y="2315"/>
              <a:ext cx="139" cy="71"/>
            </a:xfrm>
            <a:custGeom>
              <a:avLst/>
              <a:gdLst>
                <a:gd name="T0" fmla="*/ 0 w 691"/>
                <a:gd name="T1" fmla="*/ 0 h 355"/>
                <a:gd name="T2" fmla="*/ 0 w 691"/>
                <a:gd name="T3" fmla="*/ 0 h 355"/>
                <a:gd name="T4" fmla="*/ 0 w 691"/>
                <a:gd name="T5" fmla="*/ 0 h 355"/>
                <a:gd name="T6" fmla="*/ 0 w 691"/>
                <a:gd name="T7" fmla="*/ 0 h 355"/>
                <a:gd name="T8" fmla="*/ 0 w 691"/>
                <a:gd name="T9" fmla="*/ 0 h 355"/>
                <a:gd name="T10" fmla="*/ 0 w 691"/>
                <a:gd name="T11" fmla="*/ 0 h 355"/>
                <a:gd name="T12" fmla="*/ 0 w 691"/>
                <a:gd name="T13" fmla="*/ 0 h 355"/>
                <a:gd name="T14" fmla="*/ 0 w 691"/>
                <a:gd name="T15" fmla="*/ 0 h 355"/>
                <a:gd name="T16" fmla="*/ 0 w 691"/>
                <a:gd name="T17" fmla="*/ 0 h 355"/>
                <a:gd name="T18" fmla="*/ 0 w 691"/>
                <a:gd name="T19" fmla="*/ 0 h 355"/>
                <a:gd name="T20" fmla="*/ 0 w 691"/>
                <a:gd name="T21" fmla="*/ 0 h 355"/>
                <a:gd name="T22" fmla="*/ 0 w 691"/>
                <a:gd name="T23" fmla="*/ 0 h 355"/>
                <a:gd name="T24" fmla="*/ 0 w 691"/>
                <a:gd name="T25" fmla="*/ 0 h 355"/>
                <a:gd name="T26" fmla="*/ 0 w 691"/>
                <a:gd name="T27" fmla="*/ 0 h 355"/>
                <a:gd name="T28" fmla="*/ 0 w 691"/>
                <a:gd name="T29" fmla="*/ 0 h 355"/>
                <a:gd name="T30" fmla="*/ 0 w 691"/>
                <a:gd name="T31" fmla="*/ 0 h 355"/>
                <a:gd name="T32" fmla="*/ 0 w 691"/>
                <a:gd name="T33" fmla="*/ 0 h 355"/>
                <a:gd name="T34" fmla="*/ 0 w 691"/>
                <a:gd name="T35" fmla="*/ 0 h 355"/>
                <a:gd name="T36" fmla="*/ 0 w 691"/>
                <a:gd name="T37" fmla="*/ 0 h 355"/>
                <a:gd name="T38" fmla="*/ 0 w 691"/>
                <a:gd name="T39" fmla="*/ 0 h 355"/>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91" h="355">
                  <a:moveTo>
                    <a:pt x="279" y="11"/>
                  </a:moveTo>
                  <a:lnTo>
                    <a:pt x="274" y="104"/>
                  </a:lnTo>
                  <a:lnTo>
                    <a:pt x="455" y="189"/>
                  </a:lnTo>
                  <a:lnTo>
                    <a:pt x="607" y="226"/>
                  </a:lnTo>
                  <a:lnTo>
                    <a:pt x="691" y="263"/>
                  </a:lnTo>
                  <a:lnTo>
                    <a:pt x="687" y="313"/>
                  </a:lnTo>
                  <a:lnTo>
                    <a:pt x="577" y="343"/>
                  </a:lnTo>
                  <a:lnTo>
                    <a:pt x="413" y="355"/>
                  </a:lnTo>
                  <a:lnTo>
                    <a:pt x="274" y="331"/>
                  </a:lnTo>
                  <a:lnTo>
                    <a:pt x="188" y="307"/>
                  </a:lnTo>
                  <a:lnTo>
                    <a:pt x="183" y="334"/>
                  </a:lnTo>
                  <a:lnTo>
                    <a:pt x="74" y="331"/>
                  </a:lnTo>
                  <a:lnTo>
                    <a:pt x="7" y="318"/>
                  </a:lnTo>
                  <a:lnTo>
                    <a:pt x="7" y="270"/>
                  </a:lnTo>
                  <a:lnTo>
                    <a:pt x="0" y="242"/>
                  </a:lnTo>
                  <a:lnTo>
                    <a:pt x="0" y="173"/>
                  </a:lnTo>
                  <a:lnTo>
                    <a:pt x="18" y="135"/>
                  </a:lnTo>
                  <a:lnTo>
                    <a:pt x="53" y="91"/>
                  </a:lnTo>
                  <a:lnTo>
                    <a:pt x="60" y="0"/>
                  </a:lnTo>
                  <a:lnTo>
                    <a:pt x="279" y="11"/>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3" name="Freeform 126"/>
            <p:cNvSpPr>
              <a:spLocks/>
            </p:cNvSpPr>
            <p:nvPr/>
          </p:nvSpPr>
          <p:spPr bwMode="auto">
            <a:xfrm>
              <a:off x="421" y="2341"/>
              <a:ext cx="42" cy="22"/>
            </a:xfrm>
            <a:custGeom>
              <a:avLst/>
              <a:gdLst>
                <a:gd name="T0" fmla="*/ 0 w 208"/>
                <a:gd name="T1" fmla="*/ 0 h 110"/>
                <a:gd name="T2" fmla="*/ 0 w 208"/>
                <a:gd name="T3" fmla="*/ 0 h 110"/>
                <a:gd name="T4" fmla="*/ 0 w 208"/>
                <a:gd name="T5" fmla="*/ 0 h 110"/>
                <a:gd name="T6" fmla="*/ 0 w 208"/>
                <a:gd name="T7" fmla="*/ 0 h 110"/>
                <a:gd name="T8" fmla="*/ 0 w 208"/>
                <a:gd name="T9" fmla="*/ 0 h 11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 h="110">
                  <a:moveTo>
                    <a:pt x="53" y="0"/>
                  </a:moveTo>
                  <a:lnTo>
                    <a:pt x="0" y="58"/>
                  </a:lnTo>
                  <a:lnTo>
                    <a:pt x="186" y="110"/>
                  </a:lnTo>
                  <a:lnTo>
                    <a:pt x="208" y="70"/>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4" name="Freeform 127"/>
            <p:cNvSpPr>
              <a:spLocks/>
            </p:cNvSpPr>
            <p:nvPr/>
          </p:nvSpPr>
          <p:spPr bwMode="auto">
            <a:xfrm>
              <a:off x="463" y="2356"/>
              <a:ext cx="46" cy="13"/>
            </a:xfrm>
            <a:custGeom>
              <a:avLst/>
              <a:gdLst>
                <a:gd name="T0" fmla="*/ 0 w 233"/>
                <a:gd name="T1" fmla="*/ 0 h 67"/>
                <a:gd name="T2" fmla="*/ 0 w 233"/>
                <a:gd name="T3" fmla="*/ 0 h 67"/>
                <a:gd name="T4" fmla="*/ 0 w 233"/>
                <a:gd name="T5" fmla="*/ 0 h 67"/>
                <a:gd name="T6" fmla="*/ 0 w 233"/>
                <a:gd name="T7" fmla="*/ 0 h 67"/>
                <a:gd name="T8" fmla="*/ 0 w 233"/>
                <a:gd name="T9" fmla="*/ 0 h 67"/>
                <a:gd name="T10" fmla="*/ 0 w 233"/>
                <a:gd name="T11" fmla="*/ 0 h 67"/>
                <a:gd name="T12" fmla="*/ 0 w 233"/>
                <a:gd name="T13" fmla="*/ 0 h 6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3" h="67">
                  <a:moveTo>
                    <a:pt x="27" y="0"/>
                  </a:moveTo>
                  <a:lnTo>
                    <a:pt x="0" y="32"/>
                  </a:lnTo>
                  <a:lnTo>
                    <a:pt x="115" y="62"/>
                  </a:lnTo>
                  <a:lnTo>
                    <a:pt x="168" y="67"/>
                  </a:lnTo>
                  <a:lnTo>
                    <a:pt x="233" y="64"/>
                  </a:lnTo>
                  <a:lnTo>
                    <a:pt x="165" y="30"/>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5" name="Freeform 128"/>
            <p:cNvSpPr>
              <a:spLocks/>
            </p:cNvSpPr>
            <p:nvPr/>
          </p:nvSpPr>
          <p:spPr bwMode="auto">
            <a:xfrm>
              <a:off x="376" y="2341"/>
              <a:ext cx="134" cy="41"/>
            </a:xfrm>
            <a:custGeom>
              <a:avLst/>
              <a:gdLst>
                <a:gd name="T0" fmla="*/ 0 w 670"/>
                <a:gd name="T1" fmla="*/ 0 h 209"/>
                <a:gd name="T2" fmla="*/ 0 w 670"/>
                <a:gd name="T3" fmla="*/ 0 h 209"/>
                <a:gd name="T4" fmla="*/ 0 w 670"/>
                <a:gd name="T5" fmla="*/ 0 h 209"/>
                <a:gd name="T6" fmla="*/ 0 w 670"/>
                <a:gd name="T7" fmla="*/ 0 h 209"/>
                <a:gd name="T8" fmla="*/ 0 w 670"/>
                <a:gd name="T9" fmla="*/ 0 h 209"/>
                <a:gd name="T10" fmla="*/ 0 w 670"/>
                <a:gd name="T11" fmla="*/ 0 h 209"/>
                <a:gd name="T12" fmla="*/ 0 w 670"/>
                <a:gd name="T13" fmla="*/ 0 h 209"/>
                <a:gd name="T14" fmla="*/ 0 w 670"/>
                <a:gd name="T15" fmla="*/ 0 h 209"/>
                <a:gd name="T16" fmla="*/ 0 w 670"/>
                <a:gd name="T17" fmla="*/ 0 h 209"/>
                <a:gd name="T18" fmla="*/ 0 w 670"/>
                <a:gd name="T19" fmla="*/ 0 h 209"/>
                <a:gd name="T20" fmla="*/ 0 w 670"/>
                <a:gd name="T21" fmla="*/ 0 h 209"/>
                <a:gd name="T22" fmla="*/ 0 w 670"/>
                <a:gd name="T23" fmla="*/ 0 h 209"/>
                <a:gd name="T24" fmla="*/ 0 w 670"/>
                <a:gd name="T25" fmla="*/ 0 h 209"/>
                <a:gd name="T26" fmla="*/ 0 w 670"/>
                <a:gd name="T27" fmla="*/ 0 h 209"/>
                <a:gd name="T28" fmla="*/ 0 w 670"/>
                <a:gd name="T29" fmla="*/ 0 h 209"/>
                <a:gd name="T30" fmla="*/ 0 w 670"/>
                <a:gd name="T31" fmla="*/ 0 h 209"/>
                <a:gd name="T32" fmla="*/ 0 w 670"/>
                <a:gd name="T33" fmla="*/ 0 h 209"/>
                <a:gd name="T34" fmla="*/ 0 w 670"/>
                <a:gd name="T35" fmla="*/ 0 h 209"/>
                <a:gd name="T36" fmla="*/ 0 w 670"/>
                <a:gd name="T37" fmla="*/ 0 h 20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0" h="209">
                  <a:moveTo>
                    <a:pt x="670" y="178"/>
                  </a:moveTo>
                  <a:lnTo>
                    <a:pt x="670" y="146"/>
                  </a:lnTo>
                  <a:lnTo>
                    <a:pt x="582" y="155"/>
                  </a:lnTo>
                  <a:lnTo>
                    <a:pt x="442" y="134"/>
                  </a:lnTo>
                  <a:lnTo>
                    <a:pt x="361" y="116"/>
                  </a:lnTo>
                  <a:lnTo>
                    <a:pt x="206" y="66"/>
                  </a:lnTo>
                  <a:lnTo>
                    <a:pt x="140" y="58"/>
                  </a:lnTo>
                  <a:lnTo>
                    <a:pt x="73" y="34"/>
                  </a:lnTo>
                  <a:lnTo>
                    <a:pt x="40" y="0"/>
                  </a:lnTo>
                  <a:lnTo>
                    <a:pt x="0" y="43"/>
                  </a:lnTo>
                  <a:lnTo>
                    <a:pt x="0" y="132"/>
                  </a:lnTo>
                  <a:lnTo>
                    <a:pt x="49" y="146"/>
                  </a:lnTo>
                  <a:lnTo>
                    <a:pt x="170" y="162"/>
                  </a:lnTo>
                  <a:lnTo>
                    <a:pt x="218" y="167"/>
                  </a:lnTo>
                  <a:lnTo>
                    <a:pt x="298" y="196"/>
                  </a:lnTo>
                  <a:lnTo>
                    <a:pt x="388" y="209"/>
                  </a:lnTo>
                  <a:lnTo>
                    <a:pt x="452" y="209"/>
                  </a:lnTo>
                  <a:lnTo>
                    <a:pt x="553" y="209"/>
                  </a:lnTo>
                  <a:lnTo>
                    <a:pt x="670"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6" name="Freeform 129"/>
            <p:cNvSpPr>
              <a:spLocks/>
            </p:cNvSpPr>
            <p:nvPr/>
          </p:nvSpPr>
          <p:spPr bwMode="auto">
            <a:xfrm>
              <a:off x="386" y="2317"/>
              <a:ext cx="44" cy="34"/>
            </a:xfrm>
            <a:custGeom>
              <a:avLst/>
              <a:gdLst>
                <a:gd name="T0" fmla="*/ 0 w 219"/>
                <a:gd name="T1" fmla="*/ 0 h 171"/>
                <a:gd name="T2" fmla="*/ 0 w 219"/>
                <a:gd name="T3" fmla="*/ 0 h 171"/>
                <a:gd name="T4" fmla="*/ 0 w 219"/>
                <a:gd name="T5" fmla="*/ 0 h 171"/>
                <a:gd name="T6" fmla="*/ 0 w 219"/>
                <a:gd name="T7" fmla="*/ 0 h 171"/>
                <a:gd name="T8" fmla="*/ 0 w 219"/>
                <a:gd name="T9" fmla="*/ 0 h 171"/>
                <a:gd name="T10" fmla="*/ 0 w 219"/>
                <a:gd name="T11" fmla="*/ 0 h 171"/>
                <a:gd name="T12" fmla="*/ 0 w 219"/>
                <a:gd name="T13" fmla="*/ 0 h 171"/>
                <a:gd name="T14" fmla="*/ 0 w 219"/>
                <a:gd name="T15" fmla="*/ 0 h 171"/>
                <a:gd name="T16" fmla="*/ 0 w 219"/>
                <a:gd name="T17" fmla="*/ 0 h 171"/>
                <a:gd name="T18" fmla="*/ 0 w 219"/>
                <a:gd name="T19" fmla="*/ 0 h 17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171">
                  <a:moveTo>
                    <a:pt x="214" y="11"/>
                  </a:moveTo>
                  <a:lnTo>
                    <a:pt x="207" y="96"/>
                  </a:lnTo>
                  <a:lnTo>
                    <a:pt x="219" y="114"/>
                  </a:lnTo>
                  <a:lnTo>
                    <a:pt x="170" y="171"/>
                  </a:lnTo>
                  <a:lnTo>
                    <a:pt x="103" y="171"/>
                  </a:lnTo>
                  <a:lnTo>
                    <a:pt x="26" y="146"/>
                  </a:lnTo>
                  <a:lnTo>
                    <a:pt x="0" y="112"/>
                  </a:lnTo>
                  <a:lnTo>
                    <a:pt x="15" y="89"/>
                  </a:lnTo>
                  <a:lnTo>
                    <a:pt x="20" y="0"/>
                  </a:lnTo>
                  <a:lnTo>
                    <a:pt x="214"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37" name="Group 130"/>
          <p:cNvGrpSpPr>
            <a:grpSpLocks/>
          </p:cNvGrpSpPr>
          <p:nvPr/>
        </p:nvGrpSpPr>
        <p:grpSpPr bwMode="auto">
          <a:xfrm>
            <a:off x="2032970" y="3548191"/>
            <a:ext cx="58384" cy="131945"/>
            <a:chOff x="378" y="2191"/>
            <a:chExt cx="58" cy="142"/>
          </a:xfrm>
        </p:grpSpPr>
        <p:sp>
          <p:nvSpPr>
            <p:cNvPr id="138" name="Freeform 131"/>
            <p:cNvSpPr>
              <a:spLocks/>
            </p:cNvSpPr>
            <p:nvPr/>
          </p:nvSpPr>
          <p:spPr bwMode="auto">
            <a:xfrm>
              <a:off x="378" y="2191"/>
              <a:ext cx="58" cy="142"/>
            </a:xfrm>
            <a:custGeom>
              <a:avLst/>
              <a:gdLst>
                <a:gd name="T0" fmla="*/ 0 w 292"/>
                <a:gd name="T1" fmla="*/ 0 h 710"/>
                <a:gd name="T2" fmla="*/ 0 w 292"/>
                <a:gd name="T3" fmla="*/ 0 h 710"/>
                <a:gd name="T4" fmla="*/ 0 w 292"/>
                <a:gd name="T5" fmla="*/ 0 h 710"/>
                <a:gd name="T6" fmla="*/ 0 w 292"/>
                <a:gd name="T7" fmla="*/ 0 h 710"/>
                <a:gd name="T8" fmla="*/ 0 w 292"/>
                <a:gd name="T9" fmla="*/ 0 h 710"/>
                <a:gd name="T10" fmla="*/ 0 w 292"/>
                <a:gd name="T11" fmla="*/ 0 h 710"/>
                <a:gd name="T12" fmla="*/ 0 w 292"/>
                <a:gd name="T13" fmla="*/ 0 h 710"/>
                <a:gd name="T14" fmla="*/ 0 w 292"/>
                <a:gd name="T15" fmla="*/ 0 h 710"/>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92" h="710">
                  <a:moveTo>
                    <a:pt x="24" y="15"/>
                  </a:moveTo>
                  <a:lnTo>
                    <a:pt x="6" y="256"/>
                  </a:lnTo>
                  <a:lnTo>
                    <a:pt x="10" y="454"/>
                  </a:lnTo>
                  <a:lnTo>
                    <a:pt x="0" y="678"/>
                  </a:lnTo>
                  <a:lnTo>
                    <a:pt x="144" y="710"/>
                  </a:lnTo>
                  <a:lnTo>
                    <a:pt x="283" y="710"/>
                  </a:lnTo>
                  <a:lnTo>
                    <a:pt x="292" y="0"/>
                  </a:lnTo>
                  <a:lnTo>
                    <a:pt x="24" y="15"/>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39" name="Freeform 132"/>
            <p:cNvSpPr>
              <a:spLocks/>
            </p:cNvSpPr>
            <p:nvPr/>
          </p:nvSpPr>
          <p:spPr bwMode="auto">
            <a:xfrm>
              <a:off x="383" y="2193"/>
              <a:ext cx="50" cy="136"/>
            </a:xfrm>
            <a:custGeom>
              <a:avLst/>
              <a:gdLst>
                <a:gd name="T0" fmla="*/ 0 w 252"/>
                <a:gd name="T1" fmla="*/ 0 h 681"/>
                <a:gd name="T2" fmla="*/ 0 w 252"/>
                <a:gd name="T3" fmla="*/ 0 h 681"/>
                <a:gd name="T4" fmla="*/ 0 w 252"/>
                <a:gd name="T5" fmla="*/ 0 h 681"/>
                <a:gd name="T6" fmla="*/ 0 w 252"/>
                <a:gd name="T7" fmla="*/ 0 h 681"/>
                <a:gd name="T8" fmla="*/ 0 w 252"/>
                <a:gd name="T9" fmla="*/ 0 h 681"/>
                <a:gd name="T10" fmla="*/ 0 w 252"/>
                <a:gd name="T11" fmla="*/ 0 h 681"/>
                <a:gd name="T12" fmla="*/ 0 w 252"/>
                <a:gd name="T13" fmla="*/ 0 h 681"/>
                <a:gd name="T14" fmla="*/ 0 w 252"/>
                <a:gd name="T15" fmla="*/ 0 h 6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2" h="681">
                  <a:moveTo>
                    <a:pt x="23" y="21"/>
                  </a:moveTo>
                  <a:lnTo>
                    <a:pt x="0" y="223"/>
                  </a:lnTo>
                  <a:lnTo>
                    <a:pt x="5" y="385"/>
                  </a:lnTo>
                  <a:lnTo>
                    <a:pt x="5" y="633"/>
                  </a:lnTo>
                  <a:lnTo>
                    <a:pt x="128" y="681"/>
                  </a:lnTo>
                  <a:lnTo>
                    <a:pt x="238" y="681"/>
                  </a:lnTo>
                  <a:lnTo>
                    <a:pt x="252" y="0"/>
                  </a:lnTo>
                  <a:lnTo>
                    <a:pt x="23" y="2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40" name="Group 133"/>
          <p:cNvGrpSpPr>
            <a:grpSpLocks/>
          </p:cNvGrpSpPr>
          <p:nvPr/>
        </p:nvGrpSpPr>
        <p:grpSpPr bwMode="auto">
          <a:xfrm>
            <a:off x="2063168" y="3681994"/>
            <a:ext cx="141934" cy="65972"/>
            <a:chOff x="408" y="2335"/>
            <a:chExt cx="141" cy="71"/>
          </a:xfrm>
        </p:grpSpPr>
        <p:sp>
          <p:nvSpPr>
            <p:cNvPr id="141" name="Freeform 134"/>
            <p:cNvSpPr>
              <a:spLocks/>
            </p:cNvSpPr>
            <p:nvPr/>
          </p:nvSpPr>
          <p:spPr bwMode="auto">
            <a:xfrm>
              <a:off x="408" y="2335"/>
              <a:ext cx="141" cy="71"/>
            </a:xfrm>
            <a:custGeom>
              <a:avLst/>
              <a:gdLst>
                <a:gd name="T0" fmla="*/ 0 w 703"/>
                <a:gd name="T1" fmla="*/ 0 h 356"/>
                <a:gd name="T2" fmla="*/ 0 w 703"/>
                <a:gd name="T3" fmla="*/ 0 h 356"/>
                <a:gd name="T4" fmla="*/ 0 w 703"/>
                <a:gd name="T5" fmla="*/ 0 h 356"/>
                <a:gd name="T6" fmla="*/ 0 w 703"/>
                <a:gd name="T7" fmla="*/ 0 h 356"/>
                <a:gd name="T8" fmla="*/ 0 w 703"/>
                <a:gd name="T9" fmla="*/ 0 h 356"/>
                <a:gd name="T10" fmla="*/ 0 w 703"/>
                <a:gd name="T11" fmla="*/ 0 h 356"/>
                <a:gd name="T12" fmla="*/ 0 w 703"/>
                <a:gd name="T13" fmla="*/ 0 h 356"/>
                <a:gd name="T14" fmla="*/ 0 w 703"/>
                <a:gd name="T15" fmla="*/ 0 h 356"/>
                <a:gd name="T16" fmla="*/ 0 w 703"/>
                <a:gd name="T17" fmla="*/ 0 h 356"/>
                <a:gd name="T18" fmla="*/ 0 w 703"/>
                <a:gd name="T19" fmla="*/ 0 h 356"/>
                <a:gd name="T20" fmla="*/ 0 w 703"/>
                <a:gd name="T21" fmla="*/ 0 h 356"/>
                <a:gd name="T22" fmla="*/ 0 w 703"/>
                <a:gd name="T23" fmla="*/ 0 h 356"/>
                <a:gd name="T24" fmla="*/ 0 w 703"/>
                <a:gd name="T25" fmla="*/ 0 h 356"/>
                <a:gd name="T26" fmla="*/ 0 w 703"/>
                <a:gd name="T27" fmla="*/ 0 h 356"/>
                <a:gd name="T28" fmla="*/ 0 w 703"/>
                <a:gd name="T29" fmla="*/ 0 h 356"/>
                <a:gd name="T30" fmla="*/ 0 w 703"/>
                <a:gd name="T31" fmla="*/ 0 h 356"/>
                <a:gd name="T32" fmla="*/ 0 w 703"/>
                <a:gd name="T33" fmla="*/ 0 h 356"/>
                <a:gd name="T34" fmla="*/ 0 w 703"/>
                <a:gd name="T35" fmla="*/ 0 h 356"/>
                <a:gd name="T36" fmla="*/ 0 w 703"/>
                <a:gd name="T37" fmla="*/ 0 h 356"/>
                <a:gd name="T38" fmla="*/ 0 w 703"/>
                <a:gd name="T39" fmla="*/ 0 h 35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703" h="356">
                  <a:moveTo>
                    <a:pt x="285" y="13"/>
                  </a:moveTo>
                  <a:lnTo>
                    <a:pt x="280" y="104"/>
                  </a:lnTo>
                  <a:lnTo>
                    <a:pt x="463" y="191"/>
                  </a:lnTo>
                  <a:lnTo>
                    <a:pt x="617" y="227"/>
                  </a:lnTo>
                  <a:lnTo>
                    <a:pt x="703" y="264"/>
                  </a:lnTo>
                  <a:lnTo>
                    <a:pt x="698" y="314"/>
                  </a:lnTo>
                  <a:lnTo>
                    <a:pt x="588" y="345"/>
                  </a:lnTo>
                  <a:lnTo>
                    <a:pt x="420" y="356"/>
                  </a:lnTo>
                  <a:lnTo>
                    <a:pt x="280" y="332"/>
                  </a:lnTo>
                  <a:lnTo>
                    <a:pt x="194" y="307"/>
                  </a:lnTo>
                  <a:lnTo>
                    <a:pt x="188" y="335"/>
                  </a:lnTo>
                  <a:lnTo>
                    <a:pt x="76" y="332"/>
                  </a:lnTo>
                  <a:lnTo>
                    <a:pt x="8" y="320"/>
                  </a:lnTo>
                  <a:lnTo>
                    <a:pt x="8" y="271"/>
                  </a:lnTo>
                  <a:lnTo>
                    <a:pt x="0" y="243"/>
                  </a:lnTo>
                  <a:lnTo>
                    <a:pt x="0" y="174"/>
                  </a:lnTo>
                  <a:lnTo>
                    <a:pt x="22" y="136"/>
                  </a:lnTo>
                  <a:lnTo>
                    <a:pt x="56" y="94"/>
                  </a:lnTo>
                  <a:lnTo>
                    <a:pt x="64" y="0"/>
                  </a:lnTo>
                  <a:lnTo>
                    <a:pt x="285" y="13"/>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2" name="Freeform 135"/>
            <p:cNvSpPr>
              <a:spLocks/>
            </p:cNvSpPr>
            <p:nvPr/>
          </p:nvSpPr>
          <p:spPr bwMode="auto">
            <a:xfrm>
              <a:off x="455" y="2361"/>
              <a:ext cx="42" cy="22"/>
            </a:xfrm>
            <a:custGeom>
              <a:avLst/>
              <a:gdLst>
                <a:gd name="T0" fmla="*/ 0 w 210"/>
                <a:gd name="T1" fmla="*/ 0 h 111"/>
                <a:gd name="T2" fmla="*/ 0 w 210"/>
                <a:gd name="T3" fmla="*/ 0 h 111"/>
                <a:gd name="T4" fmla="*/ 0 w 210"/>
                <a:gd name="T5" fmla="*/ 0 h 111"/>
                <a:gd name="T6" fmla="*/ 0 w 210"/>
                <a:gd name="T7" fmla="*/ 0 h 111"/>
                <a:gd name="T8" fmla="*/ 0 w 210"/>
                <a:gd name="T9" fmla="*/ 0 h 1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10" h="111">
                  <a:moveTo>
                    <a:pt x="53" y="0"/>
                  </a:moveTo>
                  <a:lnTo>
                    <a:pt x="0" y="60"/>
                  </a:lnTo>
                  <a:lnTo>
                    <a:pt x="187" y="111"/>
                  </a:lnTo>
                  <a:lnTo>
                    <a:pt x="210" y="71"/>
                  </a:lnTo>
                  <a:lnTo>
                    <a:pt x="5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3" name="Freeform 136"/>
            <p:cNvSpPr>
              <a:spLocks/>
            </p:cNvSpPr>
            <p:nvPr/>
          </p:nvSpPr>
          <p:spPr bwMode="auto">
            <a:xfrm>
              <a:off x="497" y="2377"/>
              <a:ext cx="47" cy="13"/>
            </a:xfrm>
            <a:custGeom>
              <a:avLst/>
              <a:gdLst>
                <a:gd name="T0" fmla="*/ 0 w 237"/>
                <a:gd name="T1" fmla="*/ 0 h 66"/>
                <a:gd name="T2" fmla="*/ 0 w 237"/>
                <a:gd name="T3" fmla="*/ 0 h 66"/>
                <a:gd name="T4" fmla="*/ 0 w 237"/>
                <a:gd name="T5" fmla="*/ 0 h 66"/>
                <a:gd name="T6" fmla="*/ 0 w 237"/>
                <a:gd name="T7" fmla="*/ 0 h 66"/>
                <a:gd name="T8" fmla="*/ 0 w 237"/>
                <a:gd name="T9" fmla="*/ 0 h 66"/>
                <a:gd name="T10" fmla="*/ 0 w 237"/>
                <a:gd name="T11" fmla="*/ 0 h 66"/>
                <a:gd name="T12" fmla="*/ 0 w 237"/>
                <a:gd name="T13" fmla="*/ 0 h 6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37" h="66">
                  <a:moveTo>
                    <a:pt x="27" y="0"/>
                  </a:moveTo>
                  <a:lnTo>
                    <a:pt x="0" y="31"/>
                  </a:lnTo>
                  <a:lnTo>
                    <a:pt x="116" y="59"/>
                  </a:lnTo>
                  <a:lnTo>
                    <a:pt x="171" y="66"/>
                  </a:lnTo>
                  <a:lnTo>
                    <a:pt x="237" y="61"/>
                  </a:lnTo>
                  <a:lnTo>
                    <a:pt x="168" y="28"/>
                  </a:lnTo>
                  <a:lnTo>
                    <a:pt x="2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4" name="Freeform 137"/>
            <p:cNvSpPr>
              <a:spLocks/>
            </p:cNvSpPr>
            <p:nvPr/>
          </p:nvSpPr>
          <p:spPr bwMode="auto">
            <a:xfrm>
              <a:off x="410" y="2361"/>
              <a:ext cx="135" cy="42"/>
            </a:xfrm>
            <a:custGeom>
              <a:avLst/>
              <a:gdLst>
                <a:gd name="T0" fmla="*/ 0 w 678"/>
                <a:gd name="T1" fmla="*/ 0 h 211"/>
                <a:gd name="T2" fmla="*/ 0 w 678"/>
                <a:gd name="T3" fmla="*/ 0 h 211"/>
                <a:gd name="T4" fmla="*/ 0 w 678"/>
                <a:gd name="T5" fmla="*/ 0 h 211"/>
                <a:gd name="T6" fmla="*/ 0 w 678"/>
                <a:gd name="T7" fmla="*/ 0 h 211"/>
                <a:gd name="T8" fmla="*/ 0 w 678"/>
                <a:gd name="T9" fmla="*/ 0 h 211"/>
                <a:gd name="T10" fmla="*/ 0 w 678"/>
                <a:gd name="T11" fmla="*/ 0 h 211"/>
                <a:gd name="T12" fmla="*/ 0 w 678"/>
                <a:gd name="T13" fmla="*/ 0 h 211"/>
                <a:gd name="T14" fmla="*/ 0 w 678"/>
                <a:gd name="T15" fmla="*/ 0 h 211"/>
                <a:gd name="T16" fmla="*/ 0 w 678"/>
                <a:gd name="T17" fmla="*/ 0 h 211"/>
                <a:gd name="T18" fmla="*/ 0 w 678"/>
                <a:gd name="T19" fmla="*/ 0 h 211"/>
                <a:gd name="T20" fmla="*/ 0 w 678"/>
                <a:gd name="T21" fmla="*/ 0 h 211"/>
                <a:gd name="T22" fmla="*/ 0 w 678"/>
                <a:gd name="T23" fmla="*/ 0 h 211"/>
                <a:gd name="T24" fmla="*/ 0 w 678"/>
                <a:gd name="T25" fmla="*/ 0 h 211"/>
                <a:gd name="T26" fmla="*/ 0 w 678"/>
                <a:gd name="T27" fmla="*/ 0 h 211"/>
                <a:gd name="T28" fmla="*/ 0 w 678"/>
                <a:gd name="T29" fmla="*/ 0 h 211"/>
                <a:gd name="T30" fmla="*/ 0 w 678"/>
                <a:gd name="T31" fmla="*/ 0 h 211"/>
                <a:gd name="T32" fmla="*/ 0 w 678"/>
                <a:gd name="T33" fmla="*/ 0 h 211"/>
                <a:gd name="T34" fmla="*/ 0 w 678"/>
                <a:gd name="T35" fmla="*/ 0 h 211"/>
                <a:gd name="T36" fmla="*/ 0 w 678"/>
                <a:gd name="T37" fmla="*/ 0 h 21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78" h="211">
                  <a:moveTo>
                    <a:pt x="678" y="178"/>
                  </a:moveTo>
                  <a:lnTo>
                    <a:pt x="678" y="147"/>
                  </a:lnTo>
                  <a:lnTo>
                    <a:pt x="590" y="156"/>
                  </a:lnTo>
                  <a:lnTo>
                    <a:pt x="446" y="136"/>
                  </a:lnTo>
                  <a:lnTo>
                    <a:pt x="365" y="117"/>
                  </a:lnTo>
                  <a:lnTo>
                    <a:pt x="209" y="66"/>
                  </a:lnTo>
                  <a:lnTo>
                    <a:pt x="140" y="60"/>
                  </a:lnTo>
                  <a:lnTo>
                    <a:pt x="74" y="35"/>
                  </a:lnTo>
                  <a:lnTo>
                    <a:pt x="39" y="0"/>
                  </a:lnTo>
                  <a:lnTo>
                    <a:pt x="0" y="44"/>
                  </a:lnTo>
                  <a:lnTo>
                    <a:pt x="0" y="133"/>
                  </a:lnTo>
                  <a:lnTo>
                    <a:pt x="50" y="147"/>
                  </a:lnTo>
                  <a:lnTo>
                    <a:pt x="171" y="162"/>
                  </a:lnTo>
                  <a:lnTo>
                    <a:pt x="220" y="170"/>
                  </a:lnTo>
                  <a:lnTo>
                    <a:pt x="300" y="197"/>
                  </a:lnTo>
                  <a:lnTo>
                    <a:pt x="392" y="211"/>
                  </a:lnTo>
                  <a:lnTo>
                    <a:pt x="458" y="211"/>
                  </a:lnTo>
                  <a:lnTo>
                    <a:pt x="560" y="211"/>
                  </a:lnTo>
                  <a:lnTo>
                    <a:pt x="678" y="17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45" name="Freeform 138"/>
            <p:cNvSpPr>
              <a:spLocks/>
            </p:cNvSpPr>
            <p:nvPr/>
          </p:nvSpPr>
          <p:spPr bwMode="auto">
            <a:xfrm>
              <a:off x="419" y="2337"/>
              <a:ext cx="45" cy="34"/>
            </a:xfrm>
            <a:custGeom>
              <a:avLst/>
              <a:gdLst>
                <a:gd name="T0" fmla="*/ 0 w 224"/>
                <a:gd name="T1" fmla="*/ 0 h 170"/>
                <a:gd name="T2" fmla="*/ 0 w 224"/>
                <a:gd name="T3" fmla="*/ 0 h 170"/>
                <a:gd name="T4" fmla="*/ 0 w 224"/>
                <a:gd name="T5" fmla="*/ 0 h 170"/>
                <a:gd name="T6" fmla="*/ 0 w 224"/>
                <a:gd name="T7" fmla="*/ 0 h 170"/>
                <a:gd name="T8" fmla="*/ 0 w 224"/>
                <a:gd name="T9" fmla="*/ 0 h 170"/>
                <a:gd name="T10" fmla="*/ 0 w 224"/>
                <a:gd name="T11" fmla="*/ 0 h 170"/>
                <a:gd name="T12" fmla="*/ 0 w 224"/>
                <a:gd name="T13" fmla="*/ 0 h 170"/>
                <a:gd name="T14" fmla="*/ 0 w 224"/>
                <a:gd name="T15" fmla="*/ 0 h 170"/>
                <a:gd name="T16" fmla="*/ 0 w 224"/>
                <a:gd name="T17" fmla="*/ 0 h 170"/>
                <a:gd name="T18" fmla="*/ 0 w 224"/>
                <a:gd name="T19" fmla="*/ 0 h 17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24" h="170">
                  <a:moveTo>
                    <a:pt x="216" y="12"/>
                  </a:moveTo>
                  <a:lnTo>
                    <a:pt x="210" y="95"/>
                  </a:lnTo>
                  <a:lnTo>
                    <a:pt x="224" y="114"/>
                  </a:lnTo>
                  <a:lnTo>
                    <a:pt x="173" y="170"/>
                  </a:lnTo>
                  <a:lnTo>
                    <a:pt x="105" y="170"/>
                  </a:lnTo>
                  <a:lnTo>
                    <a:pt x="28" y="145"/>
                  </a:lnTo>
                  <a:lnTo>
                    <a:pt x="0" y="112"/>
                  </a:lnTo>
                  <a:lnTo>
                    <a:pt x="16" y="89"/>
                  </a:lnTo>
                  <a:lnTo>
                    <a:pt x="20" y="0"/>
                  </a:lnTo>
                  <a:lnTo>
                    <a:pt x="216" y="12"/>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46" name="Oval 139"/>
          <p:cNvSpPr>
            <a:spLocks noChangeArrowheads="1"/>
          </p:cNvSpPr>
          <p:nvPr/>
        </p:nvSpPr>
        <p:spPr bwMode="auto">
          <a:xfrm>
            <a:off x="1851777" y="3682923"/>
            <a:ext cx="168107" cy="60398"/>
          </a:xfrm>
          <a:prstGeom prst="ellipse">
            <a:avLst/>
          </a:prstGeom>
          <a:solidFill>
            <a:srgbClr val="606060"/>
          </a:solidFill>
          <a:ln w="3175">
            <a:solidFill>
              <a:srgbClr val="000000"/>
            </a:solidFill>
            <a:round/>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47" name="Rectangle 140"/>
          <p:cNvSpPr>
            <a:spLocks noChangeArrowheads="1"/>
          </p:cNvSpPr>
          <p:nvPr/>
        </p:nvSpPr>
        <p:spPr bwMode="auto">
          <a:xfrm>
            <a:off x="1913181" y="3563058"/>
            <a:ext cx="44292" cy="137520"/>
          </a:xfrm>
          <a:prstGeom prst="rect">
            <a:avLst/>
          </a:prstGeom>
          <a:solidFill>
            <a:srgbClr val="606060"/>
          </a:solidFill>
          <a:ln w="3175">
            <a:solidFill>
              <a:srgbClr val="000000"/>
            </a:solidFill>
            <a:miter lim="800000"/>
            <a:headEnd/>
            <a:tailEnd/>
          </a:ln>
        </p:spPr>
        <p:txBody>
          <a:bodyP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148" name="Group 141"/>
          <p:cNvGrpSpPr>
            <a:grpSpLocks/>
          </p:cNvGrpSpPr>
          <p:nvPr/>
        </p:nvGrpSpPr>
        <p:grpSpPr bwMode="auto">
          <a:xfrm>
            <a:off x="1835671" y="3511024"/>
            <a:ext cx="222464" cy="71547"/>
            <a:chOff x="182" y="2151"/>
            <a:chExt cx="221" cy="77"/>
          </a:xfrm>
        </p:grpSpPr>
        <p:sp>
          <p:nvSpPr>
            <p:cNvPr id="149" name="Freeform 142"/>
            <p:cNvSpPr>
              <a:spLocks/>
            </p:cNvSpPr>
            <p:nvPr/>
          </p:nvSpPr>
          <p:spPr bwMode="auto">
            <a:xfrm>
              <a:off x="182" y="2151"/>
              <a:ext cx="221" cy="77"/>
            </a:xfrm>
            <a:custGeom>
              <a:avLst/>
              <a:gdLst>
                <a:gd name="T0" fmla="*/ 0 w 1106"/>
                <a:gd name="T1" fmla="*/ 0 h 386"/>
                <a:gd name="T2" fmla="*/ 0 w 1106"/>
                <a:gd name="T3" fmla="*/ 0 h 386"/>
                <a:gd name="T4" fmla="*/ 0 w 1106"/>
                <a:gd name="T5" fmla="*/ 0 h 386"/>
                <a:gd name="T6" fmla="*/ 0 w 1106"/>
                <a:gd name="T7" fmla="*/ 0 h 386"/>
                <a:gd name="T8" fmla="*/ 0 w 1106"/>
                <a:gd name="T9" fmla="*/ 0 h 386"/>
                <a:gd name="T10" fmla="*/ 0 w 1106"/>
                <a:gd name="T11" fmla="*/ 0 h 386"/>
                <a:gd name="T12" fmla="*/ 0 w 1106"/>
                <a:gd name="T13" fmla="*/ 0 h 386"/>
                <a:gd name="T14" fmla="*/ 0 w 1106"/>
                <a:gd name="T15" fmla="*/ 0 h 38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106" h="386">
                  <a:moveTo>
                    <a:pt x="1106" y="202"/>
                  </a:moveTo>
                  <a:lnTo>
                    <a:pt x="1099" y="321"/>
                  </a:lnTo>
                  <a:lnTo>
                    <a:pt x="735" y="386"/>
                  </a:lnTo>
                  <a:lnTo>
                    <a:pt x="334" y="386"/>
                  </a:lnTo>
                  <a:lnTo>
                    <a:pt x="19" y="288"/>
                  </a:lnTo>
                  <a:lnTo>
                    <a:pt x="0" y="10"/>
                  </a:lnTo>
                  <a:lnTo>
                    <a:pt x="625" y="0"/>
                  </a:lnTo>
                  <a:lnTo>
                    <a:pt x="1106" y="202"/>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0" name="Freeform 143"/>
            <p:cNvSpPr>
              <a:spLocks/>
            </p:cNvSpPr>
            <p:nvPr/>
          </p:nvSpPr>
          <p:spPr bwMode="auto">
            <a:xfrm>
              <a:off x="187" y="2180"/>
              <a:ext cx="211" cy="45"/>
            </a:xfrm>
            <a:custGeom>
              <a:avLst/>
              <a:gdLst>
                <a:gd name="T0" fmla="*/ 0 w 1055"/>
                <a:gd name="T1" fmla="*/ 0 h 221"/>
                <a:gd name="T2" fmla="*/ 0 w 1055"/>
                <a:gd name="T3" fmla="*/ 0 h 221"/>
                <a:gd name="T4" fmla="*/ 0 w 1055"/>
                <a:gd name="T5" fmla="*/ 0 h 221"/>
                <a:gd name="T6" fmla="*/ 0 w 1055"/>
                <a:gd name="T7" fmla="*/ 0 h 221"/>
                <a:gd name="T8" fmla="*/ 0 w 1055"/>
                <a:gd name="T9" fmla="*/ 0 h 221"/>
                <a:gd name="T10" fmla="*/ 0 w 1055"/>
                <a:gd name="T11" fmla="*/ 0 h 221"/>
                <a:gd name="T12" fmla="*/ 0 w 1055"/>
                <a:gd name="T13" fmla="*/ 0 h 221"/>
                <a:gd name="T14" fmla="*/ 0 w 1055"/>
                <a:gd name="T15" fmla="*/ 0 h 221"/>
                <a:gd name="T16" fmla="*/ 0 w 1055"/>
                <a:gd name="T17" fmla="*/ 0 h 22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 h="221">
                  <a:moveTo>
                    <a:pt x="1055" y="75"/>
                  </a:moveTo>
                  <a:lnTo>
                    <a:pt x="1049" y="162"/>
                  </a:lnTo>
                  <a:lnTo>
                    <a:pt x="721" y="221"/>
                  </a:lnTo>
                  <a:lnTo>
                    <a:pt x="296" y="221"/>
                  </a:lnTo>
                  <a:lnTo>
                    <a:pt x="0" y="119"/>
                  </a:lnTo>
                  <a:lnTo>
                    <a:pt x="0" y="0"/>
                  </a:lnTo>
                  <a:lnTo>
                    <a:pt x="283" y="119"/>
                  </a:lnTo>
                  <a:lnTo>
                    <a:pt x="716" y="124"/>
                  </a:lnTo>
                  <a:lnTo>
                    <a:pt x="1055" y="7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51" name="Freeform 144"/>
          <p:cNvSpPr>
            <a:spLocks/>
          </p:cNvSpPr>
          <p:nvPr/>
        </p:nvSpPr>
        <p:spPr bwMode="auto">
          <a:xfrm>
            <a:off x="1828626" y="3435758"/>
            <a:ext cx="304000" cy="260174"/>
          </a:xfrm>
          <a:custGeom>
            <a:avLst/>
            <a:gdLst>
              <a:gd name="T0" fmla="*/ 2147483646 w 1507"/>
              <a:gd name="T1" fmla="*/ 2147483646 h 1401"/>
              <a:gd name="T2" fmla="*/ 2147483646 w 1507"/>
              <a:gd name="T3" fmla="*/ 2147483646 h 1401"/>
              <a:gd name="T4" fmla="*/ 2147483646 w 1507"/>
              <a:gd name="T5" fmla="*/ 2147483646 h 1401"/>
              <a:gd name="T6" fmla="*/ 2147483646 w 1507"/>
              <a:gd name="T7" fmla="*/ 2147483646 h 1401"/>
              <a:gd name="T8" fmla="*/ 2147483646 w 1507"/>
              <a:gd name="T9" fmla="*/ 2147483646 h 1401"/>
              <a:gd name="T10" fmla="*/ 2147483646 w 1507"/>
              <a:gd name="T11" fmla="*/ 2147483646 h 1401"/>
              <a:gd name="T12" fmla="*/ 2147483646 w 1507"/>
              <a:gd name="T13" fmla="*/ 2147483646 h 1401"/>
              <a:gd name="T14" fmla="*/ 2147483646 w 1507"/>
              <a:gd name="T15" fmla="*/ 2147483646 h 1401"/>
              <a:gd name="T16" fmla="*/ 2147483646 w 1507"/>
              <a:gd name="T17" fmla="*/ 2147483646 h 1401"/>
              <a:gd name="T18" fmla="*/ 2147483646 w 1507"/>
              <a:gd name="T19" fmla="*/ 2147483646 h 1401"/>
              <a:gd name="T20" fmla="*/ 2147483646 w 1507"/>
              <a:gd name="T21" fmla="*/ 2147483646 h 1401"/>
              <a:gd name="T22" fmla="*/ 2147483646 w 1507"/>
              <a:gd name="T23" fmla="*/ 2147483646 h 1401"/>
              <a:gd name="T24" fmla="*/ 2147483646 w 1507"/>
              <a:gd name="T25" fmla="*/ 2147483646 h 1401"/>
              <a:gd name="T26" fmla="*/ 2147483646 w 1507"/>
              <a:gd name="T27" fmla="*/ 2147483646 h 1401"/>
              <a:gd name="T28" fmla="*/ 2147483646 w 1507"/>
              <a:gd name="T29" fmla="*/ 2147483646 h 1401"/>
              <a:gd name="T30" fmla="*/ 2147483646 w 1507"/>
              <a:gd name="T31" fmla="*/ 2147483646 h 1401"/>
              <a:gd name="T32" fmla="*/ 2147483646 w 1507"/>
              <a:gd name="T33" fmla="*/ 2147483646 h 1401"/>
              <a:gd name="T34" fmla="*/ 2147483646 w 1507"/>
              <a:gd name="T35" fmla="*/ 2147483646 h 1401"/>
              <a:gd name="T36" fmla="*/ 2147483646 w 1507"/>
              <a:gd name="T37" fmla="*/ 2147483646 h 1401"/>
              <a:gd name="T38" fmla="*/ 2147483646 w 1507"/>
              <a:gd name="T39" fmla="*/ 0 h 1401"/>
              <a:gd name="T40" fmla="*/ 2147483646 w 1507"/>
              <a:gd name="T41" fmla="*/ 2147483646 h 1401"/>
              <a:gd name="T42" fmla="*/ 2147483646 w 1507"/>
              <a:gd name="T43" fmla="*/ 2147483646 h 1401"/>
              <a:gd name="T44" fmla="*/ 2147483646 w 1507"/>
              <a:gd name="T45" fmla="*/ 2147483646 h 1401"/>
              <a:gd name="T46" fmla="*/ 2147483646 w 1507"/>
              <a:gd name="T47" fmla="*/ 2147483646 h 1401"/>
              <a:gd name="T48" fmla="*/ 2147483646 w 1507"/>
              <a:gd name="T49" fmla="*/ 2147483646 h 1401"/>
              <a:gd name="T50" fmla="*/ 0 w 1507"/>
              <a:gd name="T51" fmla="*/ 2147483646 h 1401"/>
              <a:gd name="T52" fmla="*/ 2147483646 w 1507"/>
              <a:gd name="T53" fmla="*/ 2147483646 h 1401"/>
              <a:gd name="T54" fmla="*/ 2147483646 w 1507"/>
              <a:gd name="T55" fmla="*/ 2147483646 h 1401"/>
              <a:gd name="T56" fmla="*/ 2147483646 w 1507"/>
              <a:gd name="T57" fmla="*/ 2147483646 h 1401"/>
              <a:gd name="T58" fmla="*/ 2147483646 w 1507"/>
              <a:gd name="T59" fmla="*/ 2147483646 h 1401"/>
              <a:gd name="T60" fmla="*/ 2147483646 w 1507"/>
              <a:gd name="T61" fmla="*/ 2147483646 h 1401"/>
              <a:gd name="T62" fmla="*/ 2147483646 w 1507"/>
              <a:gd name="T63" fmla="*/ 2147483646 h 1401"/>
              <a:gd name="T64" fmla="*/ 2147483646 w 1507"/>
              <a:gd name="T65" fmla="*/ 2147483646 h 1401"/>
              <a:gd name="T66" fmla="*/ 2147483646 w 1507"/>
              <a:gd name="T67" fmla="*/ 2147483646 h 1401"/>
              <a:gd name="T68" fmla="*/ 2147483646 w 1507"/>
              <a:gd name="T69" fmla="*/ 2147483646 h 1401"/>
              <a:gd name="T70" fmla="*/ 2147483646 w 1507"/>
              <a:gd name="T71" fmla="*/ 2147483646 h 1401"/>
              <a:gd name="T72" fmla="*/ 2147483646 w 1507"/>
              <a:gd name="T73" fmla="*/ 2147483646 h 1401"/>
              <a:gd name="T74" fmla="*/ 2147483646 w 1507"/>
              <a:gd name="T75" fmla="*/ 2147483646 h 1401"/>
              <a:gd name="T76" fmla="*/ 2147483646 w 1507"/>
              <a:gd name="T77" fmla="*/ 2147483646 h 1401"/>
              <a:gd name="T78" fmla="*/ 2147483646 w 1507"/>
              <a:gd name="T79" fmla="*/ 2147483646 h 1401"/>
              <a:gd name="T80" fmla="*/ 2147483646 w 1507"/>
              <a:gd name="T81" fmla="*/ 2147483646 h 1401"/>
              <a:gd name="T82" fmla="*/ 2147483646 w 1507"/>
              <a:gd name="T83" fmla="*/ 2147483646 h 1401"/>
              <a:gd name="T84" fmla="*/ 2147483646 w 1507"/>
              <a:gd name="T85" fmla="*/ 2147483646 h 1401"/>
              <a:gd name="T86" fmla="*/ 2147483646 w 1507"/>
              <a:gd name="T87" fmla="*/ 2147483646 h 1401"/>
              <a:gd name="T88" fmla="*/ 2147483646 w 1507"/>
              <a:gd name="T89" fmla="*/ 2147483646 h 1401"/>
              <a:gd name="T90" fmla="*/ 2147483646 w 1507"/>
              <a:gd name="T91" fmla="*/ 2147483646 h 1401"/>
              <a:gd name="T92" fmla="*/ 2147483646 w 1507"/>
              <a:gd name="T93" fmla="*/ 2147483646 h 1401"/>
              <a:gd name="T94" fmla="*/ 2147483646 w 1507"/>
              <a:gd name="T95" fmla="*/ 2147483646 h 1401"/>
              <a:gd name="T96" fmla="*/ 2147483646 w 1507"/>
              <a:gd name="T97" fmla="*/ 2147483646 h 1401"/>
              <a:gd name="T98" fmla="*/ 2147483646 w 1507"/>
              <a:gd name="T99" fmla="*/ 2147483646 h 1401"/>
              <a:gd name="T100" fmla="*/ 2147483646 w 1507"/>
              <a:gd name="T101" fmla="*/ 2147483646 h 1401"/>
              <a:gd name="T102" fmla="*/ 2147483646 w 1507"/>
              <a:gd name="T103" fmla="*/ 2147483646 h 1401"/>
              <a:gd name="T104" fmla="*/ 2147483646 w 1507"/>
              <a:gd name="T105" fmla="*/ 2147483646 h 1401"/>
              <a:gd name="T106" fmla="*/ 2147483646 w 1507"/>
              <a:gd name="T107" fmla="*/ 2147483646 h 1401"/>
              <a:gd name="T108" fmla="*/ 2147483646 w 1507"/>
              <a:gd name="T109" fmla="*/ 2147483646 h 1401"/>
              <a:gd name="T110" fmla="*/ 2147483646 w 1507"/>
              <a:gd name="T111" fmla="*/ 2147483646 h 1401"/>
              <a:gd name="T112" fmla="*/ 2147483646 w 1507"/>
              <a:gd name="T113" fmla="*/ 2147483646 h 1401"/>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507" h="1401">
                <a:moveTo>
                  <a:pt x="1501" y="789"/>
                </a:moveTo>
                <a:lnTo>
                  <a:pt x="1493" y="649"/>
                </a:lnTo>
                <a:lnTo>
                  <a:pt x="1495" y="499"/>
                </a:lnTo>
                <a:lnTo>
                  <a:pt x="1489" y="385"/>
                </a:lnTo>
                <a:lnTo>
                  <a:pt x="1424" y="317"/>
                </a:lnTo>
                <a:lnTo>
                  <a:pt x="1345" y="278"/>
                </a:lnTo>
                <a:lnTo>
                  <a:pt x="1166" y="213"/>
                </a:lnTo>
                <a:lnTo>
                  <a:pt x="903" y="149"/>
                </a:lnTo>
                <a:lnTo>
                  <a:pt x="852" y="144"/>
                </a:lnTo>
                <a:lnTo>
                  <a:pt x="817" y="149"/>
                </a:lnTo>
                <a:lnTo>
                  <a:pt x="809" y="135"/>
                </a:lnTo>
                <a:lnTo>
                  <a:pt x="794" y="122"/>
                </a:lnTo>
                <a:lnTo>
                  <a:pt x="777" y="125"/>
                </a:lnTo>
                <a:lnTo>
                  <a:pt x="754" y="126"/>
                </a:lnTo>
                <a:lnTo>
                  <a:pt x="745" y="100"/>
                </a:lnTo>
                <a:lnTo>
                  <a:pt x="726" y="85"/>
                </a:lnTo>
                <a:lnTo>
                  <a:pt x="704" y="82"/>
                </a:lnTo>
                <a:lnTo>
                  <a:pt x="678" y="82"/>
                </a:lnTo>
                <a:lnTo>
                  <a:pt x="681" y="59"/>
                </a:lnTo>
                <a:lnTo>
                  <a:pt x="651" y="0"/>
                </a:lnTo>
                <a:lnTo>
                  <a:pt x="37" y="16"/>
                </a:lnTo>
                <a:lnTo>
                  <a:pt x="39" y="79"/>
                </a:lnTo>
                <a:lnTo>
                  <a:pt x="28" y="135"/>
                </a:lnTo>
                <a:lnTo>
                  <a:pt x="18" y="175"/>
                </a:lnTo>
                <a:lnTo>
                  <a:pt x="8" y="225"/>
                </a:lnTo>
                <a:lnTo>
                  <a:pt x="0" y="306"/>
                </a:lnTo>
                <a:lnTo>
                  <a:pt x="9" y="354"/>
                </a:lnTo>
                <a:lnTo>
                  <a:pt x="28" y="399"/>
                </a:lnTo>
                <a:lnTo>
                  <a:pt x="49" y="438"/>
                </a:lnTo>
                <a:lnTo>
                  <a:pt x="78" y="451"/>
                </a:lnTo>
                <a:lnTo>
                  <a:pt x="122" y="464"/>
                </a:lnTo>
                <a:lnTo>
                  <a:pt x="180" y="483"/>
                </a:lnTo>
                <a:lnTo>
                  <a:pt x="208" y="514"/>
                </a:lnTo>
                <a:lnTo>
                  <a:pt x="240" y="541"/>
                </a:lnTo>
                <a:lnTo>
                  <a:pt x="289" y="564"/>
                </a:lnTo>
                <a:lnTo>
                  <a:pt x="348" y="582"/>
                </a:lnTo>
                <a:lnTo>
                  <a:pt x="441" y="594"/>
                </a:lnTo>
                <a:lnTo>
                  <a:pt x="520" y="594"/>
                </a:lnTo>
                <a:lnTo>
                  <a:pt x="581" y="587"/>
                </a:lnTo>
                <a:lnTo>
                  <a:pt x="637" y="582"/>
                </a:lnTo>
                <a:lnTo>
                  <a:pt x="678" y="604"/>
                </a:lnTo>
                <a:lnTo>
                  <a:pt x="758" y="600"/>
                </a:lnTo>
                <a:lnTo>
                  <a:pt x="1078" y="645"/>
                </a:lnTo>
                <a:lnTo>
                  <a:pt x="1165" y="655"/>
                </a:lnTo>
                <a:lnTo>
                  <a:pt x="1133" y="845"/>
                </a:lnTo>
                <a:lnTo>
                  <a:pt x="1130" y="942"/>
                </a:lnTo>
                <a:lnTo>
                  <a:pt x="1149" y="1066"/>
                </a:lnTo>
                <a:lnTo>
                  <a:pt x="1169" y="1212"/>
                </a:lnTo>
                <a:lnTo>
                  <a:pt x="1169" y="1363"/>
                </a:lnTo>
                <a:lnTo>
                  <a:pt x="1244" y="1385"/>
                </a:lnTo>
                <a:lnTo>
                  <a:pt x="1339" y="1395"/>
                </a:lnTo>
                <a:lnTo>
                  <a:pt x="1420" y="1401"/>
                </a:lnTo>
                <a:lnTo>
                  <a:pt x="1507" y="1391"/>
                </a:lnTo>
                <a:lnTo>
                  <a:pt x="1501" y="1252"/>
                </a:lnTo>
                <a:lnTo>
                  <a:pt x="1501" y="1024"/>
                </a:lnTo>
                <a:lnTo>
                  <a:pt x="1501" y="824"/>
                </a:lnTo>
                <a:lnTo>
                  <a:pt x="1501" y="789"/>
                </a:lnTo>
                <a:close/>
              </a:path>
            </a:pathLst>
          </a:custGeom>
          <a:solidFill>
            <a:srgbClr val="60606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2" name="Freeform 145"/>
          <p:cNvSpPr>
            <a:spLocks/>
          </p:cNvSpPr>
          <p:nvPr/>
        </p:nvSpPr>
        <p:spPr bwMode="auto">
          <a:xfrm>
            <a:off x="1832652" y="3445980"/>
            <a:ext cx="296954" cy="246235"/>
          </a:xfrm>
          <a:custGeom>
            <a:avLst/>
            <a:gdLst>
              <a:gd name="T0" fmla="*/ 2147483646 w 1473"/>
              <a:gd name="T1" fmla="*/ 2147483646 h 1324"/>
              <a:gd name="T2" fmla="*/ 2147483646 w 1473"/>
              <a:gd name="T3" fmla="*/ 2147483646 h 1324"/>
              <a:gd name="T4" fmla="*/ 2147483646 w 1473"/>
              <a:gd name="T5" fmla="*/ 2147483646 h 1324"/>
              <a:gd name="T6" fmla="*/ 2147483646 w 1473"/>
              <a:gd name="T7" fmla="*/ 2147483646 h 1324"/>
              <a:gd name="T8" fmla="*/ 2147483646 w 1473"/>
              <a:gd name="T9" fmla="*/ 2147483646 h 1324"/>
              <a:gd name="T10" fmla="*/ 2147483646 w 1473"/>
              <a:gd name="T11" fmla="*/ 2147483646 h 1324"/>
              <a:gd name="T12" fmla="*/ 2147483646 w 1473"/>
              <a:gd name="T13" fmla="*/ 2147483646 h 1324"/>
              <a:gd name="T14" fmla="*/ 2147483646 w 1473"/>
              <a:gd name="T15" fmla="*/ 2147483646 h 1324"/>
              <a:gd name="T16" fmla="*/ 2147483646 w 1473"/>
              <a:gd name="T17" fmla="*/ 2147483646 h 1324"/>
              <a:gd name="T18" fmla="*/ 2147483646 w 1473"/>
              <a:gd name="T19" fmla="*/ 2147483646 h 1324"/>
              <a:gd name="T20" fmla="*/ 2147483646 w 1473"/>
              <a:gd name="T21" fmla="*/ 2147483646 h 1324"/>
              <a:gd name="T22" fmla="*/ 2147483646 w 1473"/>
              <a:gd name="T23" fmla="*/ 2147483646 h 1324"/>
              <a:gd name="T24" fmla="*/ 2147483646 w 1473"/>
              <a:gd name="T25" fmla="*/ 2147483646 h 1324"/>
              <a:gd name="T26" fmla="*/ 2147483646 w 1473"/>
              <a:gd name="T27" fmla="*/ 2147483646 h 1324"/>
              <a:gd name="T28" fmla="*/ 2147483646 w 1473"/>
              <a:gd name="T29" fmla="*/ 2147483646 h 1324"/>
              <a:gd name="T30" fmla="*/ 2147483646 w 1473"/>
              <a:gd name="T31" fmla="*/ 2147483646 h 1324"/>
              <a:gd name="T32" fmla="*/ 2147483646 w 1473"/>
              <a:gd name="T33" fmla="*/ 2147483646 h 1324"/>
              <a:gd name="T34" fmla="*/ 2147483646 w 1473"/>
              <a:gd name="T35" fmla="*/ 2147483646 h 1324"/>
              <a:gd name="T36" fmla="*/ 2147483646 w 1473"/>
              <a:gd name="T37" fmla="*/ 2147483646 h 1324"/>
              <a:gd name="T38" fmla="*/ 2147483646 w 1473"/>
              <a:gd name="T39" fmla="*/ 2147483646 h 1324"/>
              <a:gd name="T40" fmla="*/ 2147483646 w 1473"/>
              <a:gd name="T41" fmla="*/ 2147483646 h 1324"/>
              <a:gd name="T42" fmla="*/ 2147483646 w 1473"/>
              <a:gd name="T43" fmla="*/ 2147483646 h 1324"/>
              <a:gd name="T44" fmla="*/ 2147483646 w 1473"/>
              <a:gd name="T45" fmla="*/ 2147483646 h 1324"/>
              <a:gd name="T46" fmla="*/ 2147483646 w 1473"/>
              <a:gd name="T47" fmla="*/ 2147483646 h 1324"/>
              <a:gd name="T48" fmla="*/ 2147483646 w 1473"/>
              <a:gd name="T49" fmla="*/ 2147483646 h 1324"/>
              <a:gd name="T50" fmla="*/ 2147483646 w 1473"/>
              <a:gd name="T51" fmla="*/ 2147483646 h 1324"/>
              <a:gd name="T52" fmla="*/ 2147483646 w 1473"/>
              <a:gd name="T53" fmla="*/ 2147483646 h 1324"/>
              <a:gd name="T54" fmla="*/ 2147483646 w 1473"/>
              <a:gd name="T55" fmla="*/ 2147483646 h 1324"/>
              <a:gd name="T56" fmla="*/ 2147483646 w 1473"/>
              <a:gd name="T57" fmla="*/ 2147483646 h 1324"/>
              <a:gd name="T58" fmla="*/ 2147483646 w 1473"/>
              <a:gd name="T59" fmla="*/ 2147483646 h 1324"/>
              <a:gd name="T60" fmla="*/ 2147483646 w 1473"/>
              <a:gd name="T61" fmla="*/ 2147483646 h 1324"/>
              <a:gd name="T62" fmla="*/ 2147483646 w 1473"/>
              <a:gd name="T63" fmla="*/ 2147483646 h 1324"/>
              <a:gd name="T64" fmla="*/ 2147483646 w 1473"/>
              <a:gd name="T65" fmla="*/ 2147483646 h 1324"/>
              <a:gd name="T66" fmla="*/ 2147483646 w 1473"/>
              <a:gd name="T67" fmla="*/ 2147483646 h 1324"/>
              <a:gd name="T68" fmla="*/ 2147483646 w 1473"/>
              <a:gd name="T69" fmla="*/ 2147483646 h 1324"/>
              <a:gd name="T70" fmla="*/ 2147483646 w 1473"/>
              <a:gd name="T71" fmla="*/ 2147483646 h 1324"/>
              <a:gd name="T72" fmla="*/ 2147483646 w 1473"/>
              <a:gd name="T73" fmla="*/ 2147483646 h 1324"/>
              <a:gd name="T74" fmla="*/ 2147483646 w 1473"/>
              <a:gd name="T75" fmla="*/ 2147483646 h 1324"/>
              <a:gd name="T76" fmla="*/ 2147483646 w 1473"/>
              <a:gd name="T77" fmla="*/ 2147483646 h 1324"/>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473" h="1324">
                <a:moveTo>
                  <a:pt x="49" y="23"/>
                </a:moveTo>
                <a:lnTo>
                  <a:pt x="46" y="66"/>
                </a:lnTo>
                <a:lnTo>
                  <a:pt x="29" y="49"/>
                </a:lnTo>
                <a:lnTo>
                  <a:pt x="10" y="144"/>
                </a:lnTo>
                <a:lnTo>
                  <a:pt x="0" y="254"/>
                </a:lnTo>
                <a:lnTo>
                  <a:pt x="39" y="367"/>
                </a:lnTo>
                <a:lnTo>
                  <a:pt x="130" y="393"/>
                </a:lnTo>
                <a:lnTo>
                  <a:pt x="120" y="367"/>
                </a:lnTo>
                <a:lnTo>
                  <a:pt x="169" y="406"/>
                </a:lnTo>
                <a:lnTo>
                  <a:pt x="211" y="449"/>
                </a:lnTo>
                <a:lnTo>
                  <a:pt x="306" y="494"/>
                </a:lnTo>
                <a:lnTo>
                  <a:pt x="421" y="504"/>
                </a:lnTo>
                <a:lnTo>
                  <a:pt x="562" y="511"/>
                </a:lnTo>
                <a:lnTo>
                  <a:pt x="620" y="504"/>
                </a:lnTo>
                <a:lnTo>
                  <a:pt x="569" y="481"/>
                </a:lnTo>
                <a:lnTo>
                  <a:pt x="546" y="423"/>
                </a:lnTo>
                <a:lnTo>
                  <a:pt x="588" y="471"/>
                </a:lnTo>
                <a:lnTo>
                  <a:pt x="641" y="501"/>
                </a:lnTo>
                <a:lnTo>
                  <a:pt x="688" y="527"/>
                </a:lnTo>
                <a:lnTo>
                  <a:pt x="737" y="520"/>
                </a:lnTo>
                <a:lnTo>
                  <a:pt x="706" y="497"/>
                </a:lnTo>
                <a:lnTo>
                  <a:pt x="672" y="469"/>
                </a:lnTo>
                <a:lnTo>
                  <a:pt x="725" y="488"/>
                </a:lnTo>
                <a:lnTo>
                  <a:pt x="776" y="527"/>
                </a:lnTo>
                <a:lnTo>
                  <a:pt x="946" y="546"/>
                </a:lnTo>
                <a:lnTo>
                  <a:pt x="1114" y="572"/>
                </a:lnTo>
                <a:lnTo>
                  <a:pt x="1165" y="585"/>
                </a:lnTo>
                <a:lnTo>
                  <a:pt x="1122" y="833"/>
                </a:lnTo>
                <a:lnTo>
                  <a:pt x="1155" y="1063"/>
                </a:lnTo>
                <a:lnTo>
                  <a:pt x="1159" y="1288"/>
                </a:lnTo>
                <a:lnTo>
                  <a:pt x="1266" y="1310"/>
                </a:lnTo>
                <a:lnTo>
                  <a:pt x="1360" y="1324"/>
                </a:lnTo>
                <a:lnTo>
                  <a:pt x="1473" y="1321"/>
                </a:lnTo>
                <a:lnTo>
                  <a:pt x="1468" y="998"/>
                </a:lnTo>
                <a:lnTo>
                  <a:pt x="1468" y="729"/>
                </a:lnTo>
                <a:lnTo>
                  <a:pt x="1451" y="579"/>
                </a:lnTo>
                <a:lnTo>
                  <a:pt x="1465" y="485"/>
                </a:lnTo>
                <a:lnTo>
                  <a:pt x="1455" y="381"/>
                </a:lnTo>
                <a:lnTo>
                  <a:pt x="1436" y="314"/>
                </a:lnTo>
                <a:lnTo>
                  <a:pt x="1355" y="261"/>
                </a:lnTo>
                <a:lnTo>
                  <a:pt x="1253" y="215"/>
                </a:lnTo>
                <a:lnTo>
                  <a:pt x="1057" y="150"/>
                </a:lnTo>
                <a:lnTo>
                  <a:pt x="897" y="105"/>
                </a:lnTo>
                <a:lnTo>
                  <a:pt x="809" y="98"/>
                </a:lnTo>
                <a:lnTo>
                  <a:pt x="773" y="150"/>
                </a:lnTo>
                <a:lnTo>
                  <a:pt x="662" y="205"/>
                </a:lnTo>
                <a:lnTo>
                  <a:pt x="722" y="157"/>
                </a:lnTo>
                <a:lnTo>
                  <a:pt x="767" y="131"/>
                </a:lnTo>
                <a:lnTo>
                  <a:pt x="783" y="95"/>
                </a:lnTo>
                <a:lnTo>
                  <a:pt x="776" y="79"/>
                </a:lnTo>
                <a:lnTo>
                  <a:pt x="744" y="79"/>
                </a:lnTo>
                <a:lnTo>
                  <a:pt x="725" y="98"/>
                </a:lnTo>
                <a:lnTo>
                  <a:pt x="706" y="117"/>
                </a:lnTo>
                <a:lnTo>
                  <a:pt x="656" y="137"/>
                </a:lnTo>
                <a:lnTo>
                  <a:pt x="702" y="98"/>
                </a:lnTo>
                <a:lnTo>
                  <a:pt x="722" y="68"/>
                </a:lnTo>
                <a:lnTo>
                  <a:pt x="708" y="49"/>
                </a:lnTo>
                <a:lnTo>
                  <a:pt x="669" y="36"/>
                </a:lnTo>
                <a:lnTo>
                  <a:pt x="618" y="82"/>
                </a:lnTo>
                <a:lnTo>
                  <a:pt x="569" y="112"/>
                </a:lnTo>
                <a:lnTo>
                  <a:pt x="627" y="45"/>
                </a:lnTo>
                <a:lnTo>
                  <a:pt x="646" y="20"/>
                </a:lnTo>
                <a:lnTo>
                  <a:pt x="646" y="0"/>
                </a:lnTo>
                <a:lnTo>
                  <a:pt x="597" y="7"/>
                </a:lnTo>
                <a:lnTo>
                  <a:pt x="553" y="40"/>
                </a:lnTo>
                <a:lnTo>
                  <a:pt x="523" y="63"/>
                </a:lnTo>
                <a:lnTo>
                  <a:pt x="383" y="75"/>
                </a:lnTo>
                <a:lnTo>
                  <a:pt x="386" y="40"/>
                </a:lnTo>
                <a:lnTo>
                  <a:pt x="345" y="26"/>
                </a:lnTo>
                <a:lnTo>
                  <a:pt x="345" y="72"/>
                </a:lnTo>
                <a:lnTo>
                  <a:pt x="303" y="82"/>
                </a:lnTo>
                <a:lnTo>
                  <a:pt x="211" y="95"/>
                </a:lnTo>
                <a:lnTo>
                  <a:pt x="218" y="45"/>
                </a:lnTo>
                <a:lnTo>
                  <a:pt x="185" y="45"/>
                </a:lnTo>
                <a:lnTo>
                  <a:pt x="182" y="95"/>
                </a:lnTo>
                <a:lnTo>
                  <a:pt x="130" y="91"/>
                </a:lnTo>
                <a:lnTo>
                  <a:pt x="75" y="79"/>
                </a:lnTo>
                <a:lnTo>
                  <a:pt x="72" y="40"/>
                </a:lnTo>
                <a:lnTo>
                  <a:pt x="49" y="23"/>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3" name="Freeform 146"/>
          <p:cNvSpPr>
            <a:spLocks/>
          </p:cNvSpPr>
          <p:nvPr/>
        </p:nvSpPr>
        <p:spPr bwMode="auto">
          <a:xfrm>
            <a:off x="1873923" y="3486864"/>
            <a:ext cx="40265" cy="6504"/>
          </a:xfrm>
          <a:custGeom>
            <a:avLst/>
            <a:gdLst>
              <a:gd name="T0" fmla="*/ 0 w 199"/>
              <a:gd name="T1" fmla="*/ 0 h 33"/>
              <a:gd name="T2" fmla="*/ 2147483646 w 199"/>
              <a:gd name="T3" fmla="*/ 2147483646 h 33"/>
              <a:gd name="T4" fmla="*/ 2147483646 w 199"/>
              <a:gd name="T5" fmla="*/ 2147483646 h 33"/>
              <a:gd name="T6" fmla="*/ 0 w 199"/>
              <a:gd name="T7" fmla="*/ 0 h 3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99" h="33">
                <a:moveTo>
                  <a:pt x="0" y="0"/>
                </a:moveTo>
                <a:lnTo>
                  <a:pt x="93" y="33"/>
                </a:lnTo>
                <a:lnTo>
                  <a:pt x="199" y="2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4" name="Freeform 147"/>
          <p:cNvSpPr>
            <a:spLocks/>
          </p:cNvSpPr>
          <p:nvPr/>
        </p:nvSpPr>
        <p:spPr bwMode="auto">
          <a:xfrm>
            <a:off x="1833658" y="3476643"/>
            <a:ext cx="25166" cy="7434"/>
          </a:xfrm>
          <a:custGeom>
            <a:avLst/>
            <a:gdLst>
              <a:gd name="T0" fmla="*/ 0 w 122"/>
              <a:gd name="T1" fmla="*/ 0 h 40"/>
              <a:gd name="T2" fmla="*/ 2147483646 w 122"/>
              <a:gd name="T3" fmla="*/ 2147483646 h 40"/>
              <a:gd name="T4" fmla="*/ 2147483646 w 122"/>
              <a:gd name="T5" fmla="*/ 2147483646 h 40"/>
              <a:gd name="T6" fmla="*/ 2147483646 w 122"/>
              <a:gd name="T7" fmla="*/ 2147483646 h 40"/>
              <a:gd name="T8" fmla="*/ 0 w 122"/>
              <a:gd name="T9" fmla="*/ 0 h 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22" h="40">
                <a:moveTo>
                  <a:pt x="0" y="0"/>
                </a:moveTo>
                <a:lnTo>
                  <a:pt x="32" y="25"/>
                </a:lnTo>
                <a:lnTo>
                  <a:pt x="122" y="38"/>
                </a:lnTo>
                <a:lnTo>
                  <a:pt x="30" y="4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5" name="Freeform 148"/>
          <p:cNvSpPr>
            <a:spLocks/>
          </p:cNvSpPr>
          <p:nvPr/>
        </p:nvSpPr>
        <p:spPr bwMode="auto">
          <a:xfrm>
            <a:off x="1936334" y="3471068"/>
            <a:ext cx="38252" cy="18584"/>
          </a:xfrm>
          <a:custGeom>
            <a:avLst/>
            <a:gdLst>
              <a:gd name="T0" fmla="*/ 0 w 187"/>
              <a:gd name="T1" fmla="*/ 0 h 102"/>
              <a:gd name="T2" fmla="*/ 2147483646 w 187"/>
              <a:gd name="T3" fmla="*/ 2147483646 h 102"/>
              <a:gd name="T4" fmla="*/ 2147483646 w 187"/>
              <a:gd name="T5" fmla="*/ 2147483646 h 102"/>
              <a:gd name="T6" fmla="*/ 2147483646 w 187"/>
              <a:gd name="T7" fmla="*/ 2147483646 h 102"/>
              <a:gd name="T8" fmla="*/ 2147483646 w 187"/>
              <a:gd name="T9" fmla="*/ 2147483646 h 102"/>
              <a:gd name="T10" fmla="*/ 2147483646 w 187"/>
              <a:gd name="T11" fmla="*/ 2147483646 h 102"/>
              <a:gd name="T12" fmla="*/ 2147483646 w 187"/>
              <a:gd name="T13" fmla="*/ 2147483646 h 102"/>
              <a:gd name="T14" fmla="*/ 2147483646 w 187"/>
              <a:gd name="T15" fmla="*/ 2147483646 h 102"/>
              <a:gd name="T16" fmla="*/ 0 w 187"/>
              <a:gd name="T17" fmla="*/ 0 h 10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87" h="102">
                <a:moveTo>
                  <a:pt x="0" y="0"/>
                </a:moveTo>
                <a:lnTo>
                  <a:pt x="84" y="9"/>
                </a:lnTo>
                <a:lnTo>
                  <a:pt x="101" y="23"/>
                </a:lnTo>
                <a:lnTo>
                  <a:pt x="101" y="54"/>
                </a:lnTo>
                <a:lnTo>
                  <a:pt x="106" y="89"/>
                </a:lnTo>
                <a:lnTo>
                  <a:pt x="187" y="102"/>
                </a:lnTo>
                <a:lnTo>
                  <a:pt x="90" y="98"/>
                </a:lnTo>
                <a:lnTo>
                  <a:pt x="7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6" name="Freeform 149"/>
          <p:cNvSpPr>
            <a:spLocks/>
          </p:cNvSpPr>
          <p:nvPr/>
        </p:nvSpPr>
        <p:spPr bwMode="auto">
          <a:xfrm>
            <a:off x="1974586" y="3513811"/>
            <a:ext cx="122808" cy="27876"/>
          </a:xfrm>
          <a:custGeom>
            <a:avLst/>
            <a:gdLst>
              <a:gd name="T0" fmla="*/ 0 w 609"/>
              <a:gd name="T1" fmla="*/ 0 h 150"/>
              <a:gd name="T2" fmla="*/ 2147483646 w 609"/>
              <a:gd name="T3" fmla="*/ 2147483646 h 150"/>
              <a:gd name="T4" fmla="*/ 2147483646 w 609"/>
              <a:gd name="T5" fmla="*/ 2147483646 h 150"/>
              <a:gd name="T6" fmla="*/ 2147483646 w 609"/>
              <a:gd name="T7" fmla="*/ 2147483646 h 150"/>
              <a:gd name="T8" fmla="*/ 2147483646 w 609"/>
              <a:gd name="T9" fmla="*/ 2147483646 h 150"/>
              <a:gd name="T10" fmla="*/ 2147483646 w 609"/>
              <a:gd name="T11" fmla="*/ 2147483646 h 150"/>
              <a:gd name="T12" fmla="*/ 2147483646 w 609"/>
              <a:gd name="T13" fmla="*/ 2147483646 h 150"/>
              <a:gd name="T14" fmla="*/ 2147483646 w 609"/>
              <a:gd name="T15" fmla="*/ 2147483646 h 150"/>
              <a:gd name="T16" fmla="*/ 2147483646 w 609"/>
              <a:gd name="T17" fmla="*/ 2147483646 h 150"/>
              <a:gd name="T18" fmla="*/ 2147483646 w 609"/>
              <a:gd name="T19" fmla="*/ 2147483646 h 150"/>
              <a:gd name="T20" fmla="*/ 2147483646 w 609"/>
              <a:gd name="T21" fmla="*/ 2147483646 h 150"/>
              <a:gd name="T22" fmla="*/ 2147483646 w 609"/>
              <a:gd name="T23" fmla="*/ 2147483646 h 150"/>
              <a:gd name="T24" fmla="*/ 2147483646 w 609"/>
              <a:gd name="T25" fmla="*/ 2147483646 h 150"/>
              <a:gd name="T26" fmla="*/ 0 w 609"/>
              <a:gd name="T27" fmla="*/ 0 h 150"/>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609" h="150">
                <a:moveTo>
                  <a:pt x="0" y="0"/>
                </a:moveTo>
                <a:lnTo>
                  <a:pt x="154" y="7"/>
                </a:lnTo>
                <a:lnTo>
                  <a:pt x="313" y="44"/>
                </a:lnTo>
                <a:lnTo>
                  <a:pt x="431" y="51"/>
                </a:lnTo>
                <a:lnTo>
                  <a:pt x="527" y="71"/>
                </a:lnTo>
                <a:lnTo>
                  <a:pt x="563" y="122"/>
                </a:lnTo>
                <a:lnTo>
                  <a:pt x="609" y="150"/>
                </a:lnTo>
                <a:lnTo>
                  <a:pt x="563" y="141"/>
                </a:lnTo>
                <a:lnTo>
                  <a:pt x="521" y="84"/>
                </a:lnTo>
                <a:lnTo>
                  <a:pt x="392" y="58"/>
                </a:lnTo>
                <a:lnTo>
                  <a:pt x="313" y="58"/>
                </a:lnTo>
                <a:lnTo>
                  <a:pt x="252" y="44"/>
                </a:lnTo>
                <a:lnTo>
                  <a:pt x="146" y="17"/>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7" name="Freeform 150"/>
          <p:cNvSpPr>
            <a:spLocks/>
          </p:cNvSpPr>
          <p:nvPr/>
        </p:nvSpPr>
        <p:spPr bwMode="auto">
          <a:xfrm>
            <a:off x="1851777" y="3132842"/>
            <a:ext cx="106702" cy="107786"/>
          </a:xfrm>
          <a:custGeom>
            <a:avLst/>
            <a:gdLst>
              <a:gd name="T0" fmla="*/ 2147483646 w 529"/>
              <a:gd name="T1" fmla="*/ 2147483646 h 580"/>
              <a:gd name="T2" fmla="*/ 2147483646 w 529"/>
              <a:gd name="T3" fmla="*/ 2147483646 h 580"/>
              <a:gd name="T4" fmla="*/ 2147483646 w 529"/>
              <a:gd name="T5" fmla="*/ 2147483646 h 580"/>
              <a:gd name="T6" fmla="*/ 2147483646 w 529"/>
              <a:gd name="T7" fmla="*/ 2147483646 h 580"/>
              <a:gd name="T8" fmla="*/ 2147483646 w 529"/>
              <a:gd name="T9" fmla="*/ 2147483646 h 580"/>
              <a:gd name="T10" fmla="*/ 2147483646 w 529"/>
              <a:gd name="T11" fmla="*/ 2147483646 h 580"/>
              <a:gd name="T12" fmla="*/ 2147483646 w 529"/>
              <a:gd name="T13" fmla="*/ 2147483646 h 580"/>
              <a:gd name="T14" fmla="*/ 2147483646 w 529"/>
              <a:gd name="T15" fmla="*/ 2147483646 h 580"/>
              <a:gd name="T16" fmla="*/ 2147483646 w 529"/>
              <a:gd name="T17" fmla="*/ 2147483646 h 580"/>
              <a:gd name="T18" fmla="*/ 2147483646 w 529"/>
              <a:gd name="T19" fmla="*/ 2147483646 h 580"/>
              <a:gd name="T20" fmla="*/ 2147483646 w 529"/>
              <a:gd name="T21" fmla="*/ 2147483646 h 580"/>
              <a:gd name="T22" fmla="*/ 2147483646 w 529"/>
              <a:gd name="T23" fmla="*/ 2147483646 h 580"/>
              <a:gd name="T24" fmla="*/ 2147483646 w 529"/>
              <a:gd name="T25" fmla="*/ 2147483646 h 580"/>
              <a:gd name="T26" fmla="*/ 2147483646 w 529"/>
              <a:gd name="T27" fmla="*/ 2147483646 h 580"/>
              <a:gd name="T28" fmla="*/ 2147483646 w 529"/>
              <a:gd name="T29" fmla="*/ 2147483646 h 580"/>
              <a:gd name="T30" fmla="*/ 2147483646 w 529"/>
              <a:gd name="T31" fmla="*/ 2147483646 h 580"/>
              <a:gd name="T32" fmla="*/ 2147483646 w 529"/>
              <a:gd name="T33" fmla="*/ 2147483646 h 580"/>
              <a:gd name="T34" fmla="*/ 2147483646 w 529"/>
              <a:gd name="T35" fmla="*/ 2147483646 h 580"/>
              <a:gd name="T36" fmla="*/ 2147483646 w 529"/>
              <a:gd name="T37" fmla="*/ 2147483646 h 580"/>
              <a:gd name="T38" fmla="*/ 2147483646 w 529"/>
              <a:gd name="T39" fmla="*/ 2147483646 h 580"/>
              <a:gd name="T40" fmla="*/ 2147483646 w 529"/>
              <a:gd name="T41" fmla="*/ 2147483646 h 580"/>
              <a:gd name="T42" fmla="*/ 2147483646 w 529"/>
              <a:gd name="T43" fmla="*/ 2147483646 h 580"/>
              <a:gd name="T44" fmla="*/ 2147483646 w 529"/>
              <a:gd name="T45" fmla="*/ 2147483646 h 580"/>
              <a:gd name="T46" fmla="*/ 2147483646 w 529"/>
              <a:gd name="T47" fmla="*/ 2147483646 h 580"/>
              <a:gd name="T48" fmla="*/ 2147483646 w 529"/>
              <a:gd name="T49" fmla="*/ 2147483646 h 580"/>
              <a:gd name="T50" fmla="*/ 2147483646 w 529"/>
              <a:gd name="T51" fmla="*/ 2147483646 h 580"/>
              <a:gd name="T52" fmla="*/ 2147483646 w 529"/>
              <a:gd name="T53" fmla="*/ 2147483646 h 580"/>
              <a:gd name="T54" fmla="*/ 2147483646 w 529"/>
              <a:gd name="T55" fmla="*/ 2147483646 h 580"/>
              <a:gd name="T56" fmla="*/ 2147483646 w 529"/>
              <a:gd name="T57" fmla="*/ 2147483646 h 580"/>
              <a:gd name="T58" fmla="*/ 0 w 529"/>
              <a:gd name="T59" fmla="*/ 2147483646 h 580"/>
              <a:gd name="T60" fmla="*/ 0 w 529"/>
              <a:gd name="T61" fmla="*/ 2147483646 h 580"/>
              <a:gd name="T62" fmla="*/ 2147483646 w 529"/>
              <a:gd name="T63" fmla="*/ 2147483646 h 580"/>
              <a:gd name="T64" fmla="*/ 2147483646 w 529"/>
              <a:gd name="T65" fmla="*/ 2147483646 h 580"/>
              <a:gd name="T66" fmla="*/ 2147483646 w 529"/>
              <a:gd name="T67" fmla="*/ 0 h 580"/>
              <a:gd name="T68" fmla="*/ 2147483646 w 529"/>
              <a:gd name="T69" fmla="*/ 2147483646 h 580"/>
              <a:gd name="T70" fmla="*/ 2147483646 w 529"/>
              <a:gd name="T71" fmla="*/ 2147483646 h 58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529" h="580">
                <a:moveTo>
                  <a:pt x="357" y="20"/>
                </a:moveTo>
                <a:lnTo>
                  <a:pt x="403" y="53"/>
                </a:lnTo>
                <a:lnTo>
                  <a:pt x="428" y="94"/>
                </a:lnTo>
                <a:lnTo>
                  <a:pt x="451" y="138"/>
                </a:lnTo>
                <a:lnTo>
                  <a:pt x="464" y="161"/>
                </a:lnTo>
                <a:lnTo>
                  <a:pt x="464" y="186"/>
                </a:lnTo>
                <a:lnTo>
                  <a:pt x="453" y="216"/>
                </a:lnTo>
                <a:lnTo>
                  <a:pt x="476" y="239"/>
                </a:lnTo>
                <a:lnTo>
                  <a:pt x="511" y="301"/>
                </a:lnTo>
                <a:lnTo>
                  <a:pt x="529" y="334"/>
                </a:lnTo>
                <a:lnTo>
                  <a:pt x="529" y="346"/>
                </a:lnTo>
                <a:lnTo>
                  <a:pt x="526" y="357"/>
                </a:lnTo>
                <a:lnTo>
                  <a:pt x="510" y="361"/>
                </a:lnTo>
                <a:lnTo>
                  <a:pt x="487" y="362"/>
                </a:lnTo>
                <a:lnTo>
                  <a:pt x="475" y="366"/>
                </a:lnTo>
                <a:lnTo>
                  <a:pt x="476" y="391"/>
                </a:lnTo>
                <a:lnTo>
                  <a:pt x="483" y="421"/>
                </a:lnTo>
                <a:lnTo>
                  <a:pt x="469" y="437"/>
                </a:lnTo>
                <a:lnTo>
                  <a:pt x="473" y="459"/>
                </a:lnTo>
                <a:lnTo>
                  <a:pt x="462" y="472"/>
                </a:lnTo>
                <a:lnTo>
                  <a:pt x="452" y="511"/>
                </a:lnTo>
                <a:lnTo>
                  <a:pt x="436" y="523"/>
                </a:lnTo>
                <a:lnTo>
                  <a:pt x="411" y="523"/>
                </a:lnTo>
                <a:lnTo>
                  <a:pt x="375" y="517"/>
                </a:lnTo>
                <a:lnTo>
                  <a:pt x="339" y="511"/>
                </a:lnTo>
                <a:lnTo>
                  <a:pt x="342" y="580"/>
                </a:lnTo>
                <a:lnTo>
                  <a:pt x="60" y="488"/>
                </a:lnTo>
                <a:lnTo>
                  <a:pt x="83" y="435"/>
                </a:lnTo>
                <a:lnTo>
                  <a:pt x="78" y="394"/>
                </a:lnTo>
                <a:lnTo>
                  <a:pt x="0" y="316"/>
                </a:lnTo>
                <a:lnTo>
                  <a:pt x="0" y="111"/>
                </a:lnTo>
                <a:lnTo>
                  <a:pt x="52" y="55"/>
                </a:lnTo>
                <a:lnTo>
                  <a:pt x="117" y="25"/>
                </a:lnTo>
                <a:lnTo>
                  <a:pt x="186" y="0"/>
                </a:lnTo>
                <a:lnTo>
                  <a:pt x="276" y="13"/>
                </a:lnTo>
                <a:lnTo>
                  <a:pt x="357" y="20"/>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8" name="Freeform 151"/>
          <p:cNvSpPr>
            <a:spLocks/>
          </p:cNvSpPr>
          <p:nvPr/>
        </p:nvSpPr>
        <p:spPr bwMode="auto">
          <a:xfrm>
            <a:off x="1946400" y="3197885"/>
            <a:ext cx="6040" cy="929"/>
          </a:xfrm>
          <a:custGeom>
            <a:avLst/>
            <a:gdLst>
              <a:gd name="T0" fmla="*/ 2147483646 w 30"/>
              <a:gd name="T1" fmla="*/ 2147483646 h 6"/>
              <a:gd name="T2" fmla="*/ 2147483646 w 30"/>
              <a:gd name="T3" fmla="*/ 2147483646 h 6"/>
              <a:gd name="T4" fmla="*/ 2147483646 w 30"/>
              <a:gd name="T5" fmla="*/ 2147483646 h 6"/>
              <a:gd name="T6" fmla="*/ 2147483646 w 30"/>
              <a:gd name="T7" fmla="*/ 2147483646 h 6"/>
              <a:gd name="T8" fmla="*/ 0 w 30"/>
              <a:gd name="T9" fmla="*/ 2147483646 h 6"/>
              <a:gd name="T10" fmla="*/ 2147483646 w 30"/>
              <a:gd name="T11" fmla="*/ 0 h 6"/>
              <a:gd name="T12" fmla="*/ 2147483646 w 30"/>
              <a:gd name="T13" fmla="*/ 2147483646 h 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30" h="6">
                <a:moveTo>
                  <a:pt x="30" y="2"/>
                </a:moveTo>
                <a:lnTo>
                  <a:pt x="23" y="6"/>
                </a:lnTo>
                <a:lnTo>
                  <a:pt x="8" y="5"/>
                </a:lnTo>
                <a:lnTo>
                  <a:pt x="2" y="6"/>
                </a:lnTo>
                <a:lnTo>
                  <a:pt x="0" y="1"/>
                </a:lnTo>
                <a:lnTo>
                  <a:pt x="9" y="0"/>
                </a:lnTo>
                <a:lnTo>
                  <a:pt x="3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59" name="Freeform 152"/>
          <p:cNvSpPr>
            <a:spLocks/>
          </p:cNvSpPr>
          <p:nvPr/>
        </p:nvSpPr>
        <p:spPr bwMode="auto">
          <a:xfrm>
            <a:off x="1944387" y="3194169"/>
            <a:ext cx="2013" cy="3717"/>
          </a:xfrm>
          <a:custGeom>
            <a:avLst/>
            <a:gdLst>
              <a:gd name="T0" fmla="*/ 2147483646 w 11"/>
              <a:gd name="T1" fmla="*/ 0 h 22"/>
              <a:gd name="T2" fmla="*/ 2147483646 w 11"/>
              <a:gd name="T3" fmla="*/ 2147483646 h 22"/>
              <a:gd name="T4" fmla="*/ 2147483646 w 11"/>
              <a:gd name="T5" fmla="*/ 2147483646 h 22"/>
              <a:gd name="T6" fmla="*/ 2147483646 w 11"/>
              <a:gd name="T7" fmla="*/ 2147483646 h 22"/>
              <a:gd name="T8" fmla="*/ 0 w 11"/>
              <a:gd name="T9" fmla="*/ 2147483646 h 22"/>
              <a:gd name="T10" fmla="*/ 0 w 11"/>
              <a:gd name="T11" fmla="*/ 2147483646 h 22"/>
              <a:gd name="T12" fmla="*/ 2147483646 w 11"/>
              <a:gd name="T13" fmla="*/ 0 h 2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1" h="22">
                <a:moveTo>
                  <a:pt x="11" y="0"/>
                </a:moveTo>
                <a:lnTo>
                  <a:pt x="3" y="6"/>
                </a:lnTo>
                <a:lnTo>
                  <a:pt x="3" y="12"/>
                </a:lnTo>
                <a:lnTo>
                  <a:pt x="2" y="22"/>
                </a:lnTo>
                <a:lnTo>
                  <a:pt x="0" y="8"/>
                </a:lnTo>
                <a:lnTo>
                  <a:pt x="0" y="1"/>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0" name="Freeform 153"/>
          <p:cNvSpPr>
            <a:spLocks/>
          </p:cNvSpPr>
          <p:nvPr/>
        </p:nvSpPr>
        <p:spPr bwMode="auto">
          <a:xfrm>
            <a:off x="1939354" y="3181160"/>
            <a:ext cx="3020" cy="7434"/>
          </a:xfrm>
          <a:custGeom>
            <a:avLst/>
            <a:gdLst>
              <a:gd name="T0" fmla="*/ 0 w 13"/>
              <a:gd name="T1" fmla="*/ 0 h 42"/>
              <a:gd name="T2" fmla="*/ 2147483646 w 13"/>
              <a:gd name="T3" fmla="*/ 2147483646 h 42"/>
              <a:gd name="T4" fmla="*/ 2147483646 w 13"/>
              <a:gd name="T5" fmla="*/ 2147483646 h 42"/>
              <a:gd name="T6" fmla="*/ 2147483646 w 13"/>
              <a:gd name="T7" fmla="*/ 2147483646 h 42"/>
              <a:gd name="T8" fmla="*/ 0 w 13"/>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 h="42">
                <a:moveTo>
                  <a:pt x="0" y="0"/>
                </a:moveTo>
                <a:lnTo>
                  <a:pt x="9" y="24"/>
                </a:lnTo>
                <a:lnTo>
                  <a:pt x="13" y="42"/>
                </a:lnTo>
                <a:lnTo>
                  <a:pt x="6" y="30"/>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1" name="Freeform 154"/>
          <p:cNvSpPr>
            <a:spLocks/>
          </p:cNvSpPr>
          <p:nvPr/>
        </p:nvSpPr>
        <p:spPr bwMode="auto">
          <a:xfrm>
            <a:off x="1928281" y="3172797"/>
            <a:ext cx="12080" cy="6504"/>
          </a:xfrm>
          <a:custGeom>
            <a:avLst/>
            <a:gdLst>
              <a:gd name="T0" fmla="*/ 2147483646 w 56"/>
              <a:gd name="T1" fmla="*/ 0 h 36"/>
              <a:gd name="T2" fmla="*/ 2147483646 w 56"/>
              <a:gd name="T3" fmla="*/ 2147483646 h 36"/>
              <a:gd name="T4" fmla="*/ 2147483646 w 56"/>
              <a:gd name="T5" fmla="*/ 2147483646 h 36"/>
              <a:gd name="T6" fmla="*/ 2147483646 w 56"/>
              <a:gd name="T7" fmla="*/ 2147483646 h 36"/>
              <a:gd name="T8" fmla="*/ 2147483646 w 56"/>
              <a:gd name="T9" fmla="*/ 2147483646 h 36"/>
              <a:gd name="T10" fmla="*/ 2147483646 w 56"/>
              <a:gd name="T11" fmla="*/ 2147483646 h 36"/>
              <a:gd name="T12" fmla="*/ 2147483646 w 56"/>
              <a:gd name="T13" fmla="*/ 2147483646 h 36"/>
              <a:gd name="T14" fmla="*/ 2147483646 w 56"/>
              <a:gd name="T15" fmla="*/ 2147483646 h 36"/>
              <a:gd name="T16" fmla="*/ 0 w 56"/>
              <a:gd name="T17" fmla="*/ 2147483646 h 36"/>
              <a:gd name="T18" fmla="*/ 2147483646 w 56"/>
              <a:gd name="T19" fmla="*/ 2147483646 h 36"/>
              <a:gd name="T20" fmla="*/ 2147483646 w 56"/>
              <a:gd name="T21" fmla="*/ 0 h 36"/>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6" h="36">
                <a:moveTo>
                  <a:pt x="56" y="0"/>
                </a:moveTo>
                <a:lnTo>
                  <a:pt x="45" y="20"/>
                </a:lnTo>
                <a:lnTo>
                  <a:pt x="47" y="26"/>
                </a:lnTo>
                <a:lnTo>
                  <a:pt x="47" y="29"/>
                </a:lnTo>
                <a:lnTo>
                  <a:pt x="51" y="36"/>
                </a:lnTo>
                <a:lnTo>
                  <a:pt x="43" y="24"/>
                </a:lnTo>
                <a:lnTo>
                  <a:pt x="32" y="24"/>
                </a:lnTo>
                <a:lnTo>
                  <a:pt x="20" y="20"/>
                </a:lnTo>
                <a:lnTo>
                  <a:pt x="0" y="19"/>
                </a:lnTo>
                <a:lnTo>
                  <a:pt x="20" y="7"/>
                </a:lnTo>
                <a:lnTo>
                  <a:pt x="5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2" name="Freeform 155"/>
          <p:cNvSpPr>
            <a:spLocks/>
          </p:cNvSpPr>
          <p:nvPr/>
        </p:nvSpPr>
        <p:spPr bwMode="auto">
          <a:xfrm>
            <a:off x="1923247" y="3162577"/>
            <a:ext cx="20133" cy="6505"/>
          </a:xfrm>
          <a:custGeom>
            <a:avLst/>
            <a:gdLst>
              <a:gd name="T0" fmla="*/ 2147483646 w 96"/>
              <a:gd name="T1" fmla="*/ 2147483646 h 34"/>
              <a:gd name="T2" fmla="*/ 2147483646 w 96"/>
              <a:gd name="T3" fmla="*/ 2147483646 h 34"/>
              <a:gd name="T4" fmla="*/ 2147483646 w 96"/>
              <a:gd name="T5" fmla="*/ 2147483646 h 34"/>
              <a:gd name="T6" fmla="*/ 2147483646 w 96"/>
              <a:gd name="T7" fmla="*/ 2147483646 h 34"/>
              <a:gd name="T8" fmla="*/ 2147483646 w 96"/>
              <a:gd name="T9" fmla="*/ 2147483646 h 34"/>
              <a:gd name="T10" fmla="*/ 2147483646 w 96"/>
              <a:gd name="T11" fmla="*/ 2147483646 h 34"/>
              <a:gd name="T12" fmla="*/ 0 w 96"/>
              <a:gd name="T13" fmla="*/ 2147483646 h 34"/>
              <a:gd name="T14" fmla="*/ 2147483646 w 96"/>
              <a:gd name="T15" fmla="*/ 2147483646 h 34"/>
              <a:gd name="T16" fmla="*/ 2147483646 w 96"/>
              <a:gd name="T17" fmla="*/ 2147483646 h 34"/>
              <a:gd name="T18" fmla="*/ 2147483646 w 96"/>
              <a:gd name="T19" fmla="*/ 0 h 34"/>
              <a:gd name="T20" fmla="*/ 2147483646 w 96"/>
              <a:gd name="T21" fmla="*/ 2147483646 h 34"/>
              <a:gd name="T22" fmla="*/ 2147483646 w 96"/>
              <a:gd name="T23" fmla="*/ 2147483646 h 34"/>
              <a:gd name="T24" fmla="*/ 2147483646 w 96"/>
              <a:gd name="T25" fmla="*/ 2147483646 h 34"/>
              <a:gd name="T26" fmla="*/ 2147483646 w 96"/>
              <a:gd name="T27" fmla="*/ 2147483646 h 34"/>
              <a:gd name="T28" fmla="*/ 2147483646 w 96"/>
              <a:gd name="T29" fmla="*/ 2147483646 h 34"/>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96" h="34">
                <a:moveTo>
                  <a:pt x="96" y="17"/>
                </a:moveTo>
                <a:lnTo>
                  <a:pt x="92" y="29"/>
                </a:lnTo>
                <a:lnTo>
                  <a:pt x="81" y="34"/>
                </a:lnTo>
                <a:lnTo>
                  <a:pt x="66" y="24"/>
                </a:lnTo>
                <a:lnTo>
                  <a:pt x="47" y="17"/>
                </a:lnTo>
                <a:lnTo>
                  <a:pt x="15" y="17"/>
                </a:lnTo>
                <a:lnTo>
                  <a:pt x="0" y="18"/>
                </a:lnTo>
                <a:lnTo>
                  <a:pt x="24" y="9"/>
                </a:lnTo>
                <a:lnTo>
                  <a:pt x="41" y="4"/>
                </a:lnTo>
                <a:lnTo>
                  <a:pt x="39" y="0"/>
                </a:lnTo>
                <a:lnTo>
                  <a:pt x="56" y="7"/>
                </a:lnTo>
                <a:lnTo>
                  <a:pt x="54" y="2"/>
                </a:lnTo>
                <a:lnTo>
                  <a:pt x="68" y="9"/>
                </a:lnTo>
                <a:lnTo>
                  <a:pt x="79" y="9"/>
                </a:lnTo>
                <a:lnTo>
                  <a:pt x="96" y="1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3" name="Freeform 156"/>
          <p:cNvSpPr>
            <a:spLocks/>
          </p:cNvSpPr>
          <p:nvPr/>
        </p:nvSpPr>
        <p:spPr bwMode="auto">
          <a:xfrm>
            <a:off x="1888016" y="3171869"/>
            <a:ext cx="11073" cy="20442"/>
          </a:xfrm>
          <a:custGeom>
            <a:avLst/>
            <a:gdLst>
              <a:gd name="T0" fmla="*/ 2147483646 w 56"/>
              <a:gd name="T1" fmla="*/ 2147483646 h 113"/>
              <a:gd name="T2" fmla="*/ 2147483646 w 56"/>
              <a:gd name="T3" fmla="*/ 2147483646 h 113"/>
              <a:gd name="T4" fmla="*/ 2147483646 w 56"/>
              <a:gd name="T5" fmla="*/ 2147483646 h 113"/>
              <a:gd name="T6" fmla="*/ 2147483646 w 56"/>
              <a:gd name="T7" fmla="*/ 2147483646 h 113"/>
              <a:gd name="T8" fmla="*/ 2147483646 w 56"/>
              <a:gd name="T9" fmla="*/ 2147483646 h 113"/>
              <a:gd name="T10" fmla="*/ 2147483646 w 56"/>
              <a:gd name="T11" fmla="*/ 2147483646 h 113"/>
              <a:gd name="T12" fmla="*/ 2147483646 w 56"/>
              <a:gd name="T13" fmla="*/ 2147483646 h 113"/>
              <a:gd name="T14" fmla="*/ 2147483646 w 56"/>
              <a:gd name="T15" fmla="*/ 2147483646 h 113"/>
              <a:gd name="T16" fmla="*/ 2147483646 w 56"/>
              <a:gd name="T17" fmla="*/ 2147483646 h 113"/>
              <a:gd name="T18" fmla="*/ 2147483646 w 56"/>
              <a:gd name="T19" fmla="*/ 2147483646 h 113"/>
              <a:gd name="T20" fmla="*/ 2147483646 w 56"/>
              <a:gd name="T21" fmla="*/ 2147483646 h 113"/>
              <a:gd name="T22" fmla="*/ 2147483646 w 56"/>
              <a:gd name="T23" fmla="*/ 2147483646 h 113"/>
              <a:gd name="T24" fmla="*/ 2147483646 w 56"/>
              <a:gd name="T25" fmla="*/ 2147483646 h 113"/>
              <a:gd name="T26" fmla="*/ 2147483646 w 56"/>
              <a:gd name="T27" fmla="*/ 2147483646 h 113"/>
              <a:gd name="T28" fmla="*/ 2147483646 w 56"/>
              <a:gd name="T29" fmla="*/ 2147483646 h 113"/>
              <a:gd name="T30" fmla="*/ 2147483646 w 56"/>
              <a:gd name="T31" fmla="*/ 2147483646 h 113"/>
              <a:gd name="T32" fmla="*/ 2147483646 w 56"/>
              <a:gd name="T33" fmla="*/ 2147483646 h 113"/>
              <a:gd name="T34" fmla="*/ 0 w 56"/>
              <a:gd name="T35" fmla="*/ 2147483646 h 113"/>
              <a:gd name="T36" fmla="*/ 2147483646 w 56"/>
              <a:gd name="T37" fmla="*/ 2147483646 h 113"/>
              <a:gd name="T38" fmla="*/ 2147483646 w 56"/>
              <a:gd name="T39" fmla="*/ 2147483646 h 113"/>
              <a:gd name="T40" fmla="*/ 2147483646 w 56"/>
              <a:gd name="T41" fmla="*/ 0 h 113"/>
              <a:gd name="T42" fmla="*/ 2147483646 w 56"/>
              <a:gd name="T43" fmla="*/ 2147483646 h 113"/>
              <a:gd name="T44" fmla="*/ 2147483646 w 56"/>
              <a:gd name="T45" fmla="*/ 2147483646 h 11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56" h="113">
                <a:moveTo>
                  <a:pt x="56" y="21"/>
                </a:moveTo>
                <a:lnTo>
                  <a:pt x="39" y="8"/>
                </a:lnTo>
                <a:lnTo>
                  <a:pt x="19" y="11"/>
                </a:lnTo>
                <a:lnTo>
                  <a:pt x="8" y="29"/>
                </a:lnTo>
                <a:lnTo>
                  <a:pt x="6" y="55"/>
                </a:lnTo>
                <a:lnTo>
                  <a:pt x="8" y="75"/>
                </a:lnTo>
                <a:lnTo>
                  <a:pt x="15" y="91"/>
                </a:lnTo>
                <a:lnTo>
                  <a:pt x="24" y="66"/>
                </a:lnTo>
                <a:lnTo>
                  <a:pt x="35" y="52"/>
                </a:lnTo>
                <a:lnTo>
                  <a:pt x="53" y="42"/>
                </a:lnTo>
                <a:lnTo>
                  <a:pt x="38" y="62"/>
                </a:lnTo>
                <a:lnTo>
                  <a:pt x="22" y="79"/>
                </a:lnTo>
                <a:lnTo>
                  <a:pt x="21" y="95"/>
                </a:lnTo>
                <a:lnTo>
                  <a:pt x="28" y="110"/>
                </a:lnTo>
                <a:lnTo>
                  <a:pt x="37" y="113"/>
                </a:lnTo>
                <a:lnTo>
                  <a:pt x="14" y="107"/>
                </a:lnTo>
                <a:lnTo>
                  <a:pt x="2" y="83"/>
                </a:lnTo>
                <a:lnTo>
                  <a:pt x="0" y="52"/>
                </a:lnTo>
                <a:lnTo>
                  <a:pt x="2" y="24"/>
                </a:lnTo>
                <a:lnTo>
                  <a:pt x="15" y="5"/>
                </a:lnTo>
                <a:lnTo>
                  <a:pt x="32" y="0"/>
                </a:lnTo>
                <a:lnTo>
                  <a:pt x="48" y="3"/>
                </a:lnTo>
                <a:lnTo>
                  <a:pt x="56" y="21"/>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4" name="Freeform 157"/>
          <p:cNvSpPr>
            <a:spLocks/>
          </p:cNvSpPr>
          <p:nvPr/>
        </p:nvSpPr>
        <p:spPr bwMode="auto">
          <a:xfrm>
            <a:off x="1883990" y="3168152"/>
            <a:ext cx="18119" cy="28805"/>
          </a:xfrm>
          <a:custGeom>
            <a:avLst/>
            <a:gdLst>
              <a:gd name="T0" fmla="*/ 2147483646 w 91"/>
              <a:gd name="T1" fmla="*/ 2147483646 h 153"/>
              <a:gd name="T2" fmla="*/ 2147483646 w 91"/>
              <a:gd name="T3" fmla="*/ 2147483646 h 153"/>
              <a:gd name="T4" fmla="*/ 2147483646 w 91"/>
              <a:gd name="T5" fmla="*/ 2147483646 h 153"/>
              <a:gd name="T6" fmla="*/ 2147483646 w 91"/>
              <a:gd name="T7" fmla="*/ 2147483646 h 153"/>
              <a:gd name="T8" fmla="*/ 2147483646 w 91"/>
              <a:gd name="T9" fmla="*/ 2147483646 h 153"/>
              <a:gd name="T10" fmla="*/ 2147483646 w 91"/>
              <a:gd name="T11" fmla="*/ 2147483646 h 153"/>
              <a:gd name="T12" fmla="*/ 2147483646 w 91"/>
              <a:gd name="T13" fmla="*/ 2147483646 h 153"/>
              <a:gd name="T14" fmla="*/ 2147483646 w 91"/>
              <a:gd name="T15" fmla="*/ 2147483646 h 153"/>
              <a:gd name="T16" fmla="*/ 2147483646 w 91"/>
              <a:gd name="T17" fmla="*/ 2147483646 h 153"/>
              <a:gd name="T18" fmla="*/ 2147483646 w 91"/>
              <a:gd name="T19" fmla="*/ 2147483646 h 153"/>
              <a:gd name="T20" fmla="*/ 2147483646 w 91"/>
              <a:gd name="T21" fmla="*/ 2147483646 h 153"/>
              <a:gd name="T22" fmla="*/ 2147483646 w 91"/>
              <a:gd name="T23" fmla="*/ 2147483646 h 153"/>
              <a:gd name="T24" fmla="*/ 2147483646 w 91"/>
              <a:gd name="T25" fmla="*/ 2147483646 h 153"/>
              <a:gd name="T26" fmla="*/ 2147483646 w 91"/>
              <a:gd name="T27" fmla="*/ 2147483646 h 153"/>
              <a:gd name="T28" fmla="*/ 2147483646 w 91"/>
              <a:gd name="T29" fmla="*/ 2147483646 h 153"/>
              <a:gd name="T30" fmla="*/ 2147483646 w 91"/>
              <a:gd name="T31" fmla="*/ 2147483646 h 153"/>
              <a:gd name="T32" fmla="*/ 2147483646 w 91"/>
              <a:gd name="T33" fmla="*/ 2147483646 h 153"/>
              <a:gd name="T34" fmla="*/ 2147483646 w 91"/>
              <a:gd name="T35" fmla="*/ 2147483646 h 153"/>
              <a:gd name="T36" fmla="*/ 2147483646 w 91"/>
              <a:gd name="T37" fmla="*/ 2147483646 h 153"/>
              <a:gd name="T38" fmla="*/ 0 w 91"/>
              <a:gd name="T39" fmla="*/ 2147483646 h 153"/>
              <a:gd name="T40" fmla="*/ 0 w 91"/>
              <a:gd name="T41" fmla="*/ 2147483646 h 153"/>
              <a:gd name="T42" fmla="*/ 2147483646 w 91"/>
              <a:gd name="T43" fmla="*/ 2147483646 h 153"/>
              <a:gd name="T44" fmla="*/ 2147483646 w 91"/>
              <a:gd name="T45" fmla="*/ 2147483646 h 153"/>
              <a:gd name="T46" fmla="*/ 2147483646 w 91"/>
              <a:gd name="T47" fmla="*/ 0 h 153"/>
              <a:gd name="T48" fmla="*/ 2147483646 w 91"/>
              <a:gd name="T49" fmla="*/ 2147483646 h 153"/>
              <a:gd name="T50" fmla="*/ 2147483646 w 91"/>
              <a:gd name="T51" fmla="*/ 2147483646 h 153"/>
              <a:gd name="T52" fmla="*/ 2147483646 w 91"/>
              <a:gd name="T53" fmla="*/ 2147483646 h 153"/>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91" h="153">
                <a:moveTo>
                  <a:pt x="91" y="38"/>
                </a:moveTo>
                <a:lnTo>
                  <a:pt x="76" y="13"/>
                </a:lnTo>
                <a:lnTo>
                  <a:pt x="54" y="7"/>
                </a:lnTo>
                <a:lnTo>
                  <a:pt x="24" y="12"/>
                </a:lnTo>
                <a:lnTo>
                  <a:pt x="14" y="25"/>
                </a:lnTo>
                <a:lnTo>
                  <a:pt x="7" y="48"/>
                </a:lnTo>
                <a:lnTo>
                  <a:pt x="7" y="66"/>
                </a:lnTo>
                <a:lnTo>
                  <a:pt x="11" y="79"/>
                </a:lnTo>
                <a:lnTo>
                  <a:pt x="11" y="98"/>
                </a:lnTo>
                <a:lnTo>
                  <a:pt x="15" y="120"/>
                </a:lnTo>
                <a:lnTo>
                  <a:pt x="34" y="142"/>
                </a:lnTo>
                <a:lnTo>
                  <a:pt x="47" y="142"/>
                </a:lnTo>
                <a:lnTo>
                  <a:pt x="63" y="142"/>
                </a:lnTo>
                <a:lnTo>
                  <a:pt x="63" y="144"/>
                </a:lnTo>
                <a:lnTo>
                  <a:pt x="51" y="153"/>
                </a:lnTo>
                <a:lnTo>
                  <a:pt x="36" y="151"/>
                </a:lnTo>
                <a:lnTo>
                  <a:pt x="19" y="144"/>
                </a:lnTo>
                <a:lnTo>
                  <a:pt x="6" y="121"/>
                </a:lnTo>
                <a:lnTo>
                  <a:pt x="5" y="86"/>
                </a:lnTo>
                <a:lnTo>
                  <a:pt x="0" y="62"/>
                </a:lnTo>
                <a:lnTo>
                  <a:pt x="0" y="41"/>
                </a:lnTo>
                <a:lnTo>
                  <a:pt x="9" y="23"/>
                </a:lnTo>
                <a:lnTo>
                  <a:pt x="18" y="7"/>
                </a:lnTo>
                <a:lnTo>
                  <a:pt x="42" y="0"/>
                </a:lnTo>
                <a:lnTo>
                  <a:pt x="76" y="5"/>
                </a:lnTo>
                <a:lnTo>
                  <a:pt x="89" y="13"/>
                </a:lnTo>
                <a:lnTo>
                  <a:pt x="91" y="3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5" name="Freeform 158"/>
          <p:cNvSpPr>
            <a:spLocks/>
          </p:cNvSpPr>
          <p:nvPr/>
        </p:nvSpPr>
        <p:spPr bwMode="auto">
          <a:xfrm>
            <a:off x="1895063" y="3198815"/>
            <a:ext cx="17112" cy="24159"/>
          </a:xfrm>
          <a:custGeom>
            <a:avLst/>
            <a:gdLst>
              <a:gd name="T0" fmla="*/ 0 w 83"/>
              <a:gd name="T1" fmla="*/ 0 h 127"/>
              <a:gd name="T2" fmla="*/ 2147483646 w 83"/>
              <a:gd name="T3" fmla="*/ 2147483646 h 127"/>
              <a:gd name="T4" fmla="*/ 2147483646 w 83"/>
              <a:gd name="T5" fmla="*/ 2147483646 h 127"/>
              <a:gd name="T6" fmla="*/ 2147483646 w 83"/>
              <a:gd name="T7" fmla="*/ 2147483646 h 127"/>
              <a:gd name="T8" fmla="*/ 2147483646 w 83"/>
              <a:gd name="T9" fmla="*/ 2147483646 h 127"/>
              <a:gd name="T10" fmla="*/ 2147483646 w 83"/>
              <a:gd name="T11" fmla="*/ 2147483646 h 127"/>
              <a:gd name="T12" fmla="*/ 2147483646 w 83"/>
              <a:gd name="T13" fmla="*/ 2147483646 h 127"/>
              <a:gd name="T14" fmla="*/ 2147483646 w 83"/>
              <a:gd name="T15" fmla="*/ 2147483646 h 127"/>
              <a:gd name="T16" fmla="*/ 2147483646 w 83"/>
              <a:gd name="T17" fmla="*/ 2147483646 h 127"/>
              <a:gd name="T18" fmla="*/ 0 w 83"/>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83" h="127">
                <a:moveTo>
                  <a:pt x="0" y="0"/>
                </a:moveTo>
                <a:lnTo>
                  <a:pt x="10" y="27"/>
                </a:lnTo>
                <a:lnTo>
                  <a:pt x="27" y="57"/>
                </a:lnTo>
                <a:lnTo>
                  <a:pt x="45" y="83"/>
                </a:lnTo>
                <a:lnTo>
                  <a:pt x="70" y="116"/>
                </a:lnTo>
                <a:lnTo>
                  <a:pt x="83" y="127"/>
                </a:lnTo>
                <a:lnTo>
                  <a:pt x="55" y="113"/>
                </a:lnTo>
                <a:lnTo>
                  <a:pt x="33" y="82"/>
                </a:lnTo>
                <a:lnTo>
                  <a:pt x="12" y="46"/>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6" name="Freeform 159"/>
          <p:cNvSpPr>
            <a:spLocks/>
          </p:cNvSpPr>
          <p:nvPr/>
        </p:nvSpPr>
        <p:spPr bwMode="auto">
          <a:xfrm>
            <a:off x="1843725" y="3117975"/>
            <a:ext cx="95630" cy="89202"/>
          </a:xfrm>
          <a:custGeom>
            <a:avLst/>
            <a:gdLst>
              <a:gd name="T0" fmla="*/ 2147483646 w 478"/>
              <a:gd name="T1" fmla="*/ 2147483646 h 480"/>
              <a:gd name="T2" fmla="*/ 2147483646 w 478"/>
              <a:gd name="T3" fmla="*/ 2147483646 h 480"/>
              <a:gd name="T4" fmla="*/ 2147483646 w 478"/>
              <a:gd name="T5" fmla="*/ 2147483646 h 480"/>
              <a:gd name="T6" fmla="*/ 2147483646 w 478"/>
              <a:gd name="T7" fmla="*/ 2147483646 h 480"/>
              <a:gd name="T8" fmla="*/ 2147483646 w 478"/>
              <a:gd name="T9" fmla="*/ 2147483646 h 480"/>
              <a:gd name="T10" fmla="*/ 2147483646 w 478"/>
              <a:gd name="T11" fmla="*/ 2147483646 h 480"/>
              <a:gd name="T12" fmla="*/ 2147483646 w 478"/>
              <a:gd name="T13" fmla="*/ 2147483646 h 480"/>
              <a:gd name="T14" fmla="*/ 2147483646 w 478"/>
              <a:gd name="T15" fmla="*/ 2147483646 h 480"/>
              <a:gd name="T16" fmla="*/ 2147483646 w 478"/>
              <a:gd name="T17" fmla="*/ 2147483646 h 480"/>
              <a:gd name="T18" fmla="*/ 2147483646 w 478"/>
              <a:gd name="T19" fmla="*/ 2147483646 h 480"/>
              <a:gd name="T20" fmla="*/ 2147483646 w 478"/>
              <a:gd name="T21" fmla="*/ 2147483646 h 480"/>
              <a:gd name="T22" fmla="*/ 2147483646 w 478"/>
              <a:gd name="T23" fmla="*/ 2147483646 h 480"/>
              <a:gd name="T24" fmla="*/ 2147483646 w 478"/>
              <a:gd name="T25" fmla="*/ 2147483646 h 480"/>
              <a:gd name="T26" fmla="*/ 2147483646 w 478"/>
              <a:gd name="T27" fmla="*/ 2147483646 h 480"/>
              <a:gd name="T28" fmla="*/ 2147483646 w 478"/>
              <a:gd name="T29" fmla="*/ 2147483646 h 480"/>
              <a:gd name="T30" fmla="*/ 2147483646 w 478"/>
              <a:gd name="T31" fmla="*/ 2147483646 h 480"/>
              <a:gd name="T32" fmla="*/ 2147483646 w 478"/>
              <a:gd name="T33" fmla="*/ 2147483646 h 480"/>
              <a:gd name="T34" fmla="*/ 2147483646 w 478"/>
              <a:gd name="T35" fmla="*/ 2147483646 h 480"/>
              <a:gd name="T36" fmla="*/ 2147483646 w 478"/>
              <a:gd name="T37" fmla="*/ 2147483646 h 480"/>
              <a:gd name="T38" fmla="*/ 2147483646 w 478"/>
              <a:gd name="T39" fmla="*/ 2147483646 h 480"/>
              <a:gd name="T40" fmla="*/ 2147483646 w 478"/>
              <a:gd name="T41" fmla="*/ 2147483646 h 480"/>
              <a:gd name="T42" fmla="*/ 2147483646 w 478"/>
              <a:gd name="T43" fmla="*/ 2147483646 h 480"/>
              <a:gd name="T44" fmla="*/ 2147483646 w 478"/>
              <a:gd name="T45" fmla="*/ 2147483646 h 480"/>
              <a:gd name="T46" fmla="*/ 2147483646 w 478"/>
              <a:gd name="T47" fmla="*/ 2147483646 h 480"/>
              <a:gd name="T48" fmla="*/ 2147483646 w 478"/>
              <a:gd name="T49" fmla="*/ 2147483646 h 480"/>
              <a:gd name="T50" fmla="*/ 0 w 478"/>
              <a:gd name="T51" fmla="*/ 2147483646 h 480"/>
              <a:gd name="T52" fmla="*/ 2147483646 w 478"/>
              <a:gd name="T53" fmla="*/ 2147483646 h 480"/>
              <a:gd name="T54" fmla="*/ 2147483646 w 478"/>
              <a:gd name="T55" fmla="*/ 2147483646 h 480"/>
              <a:gd name="T56" fmla="*/ 2147483646 w 478"/>
              <a:gd name="T57" fmla="*/ 2147483646 h 480"/>
              <a:gd name="T58" fmla="*/ 2147483646 w 478"/>
              <a:gd name="T59" fmla="*/ 2147483646 h 480"/>
              <a:gd name="T60" fmla="*/ 2147483646 w 478"/>
              <a:gd name="T61" fmla="*/ 0 h 480"/>
              <a:gd name="T62" fmla="*/ 2147483646 w 478"/>
              <a:gd name="T63" fmla="*/ 2147483646 h 480"/>
              <a:gd name="T64" fmla="*/ 2147483646 w 478"/>
              <a:gd name="T65" fmla="*/ 2147483646 h 480"/>
              <a:gd name="T66" fmla="*/ 2147483646 w 478"/>
              <a:gd name="T67" fmla="*/ 2147483646 h 480"/>
              <a:gd name="T68" fmla="*/ 2147483646 w 478"/>
              <a:gd name="T69" fmla="*/ 2147483646 h 480"/>
              <a:gd name="T70" fmla="*/ 2147483646 w 478"/>
              <a:gd name="T71" fmla="*/ 2147483646 h 480"/>
              <a:gd name="T72" fmla="*/ 2147483646 w 478"/>
              <a:gd name="T73" fmla="*/ 2147483646 h 480"/>
              <a:gd name="T74" fmla="*/ 2147483646 w 478"/>
              <a:gd name="T75" fmla="*/ 2147483646 h 48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78" h="480">
                <a:moveTo>
                  <a:pt x="440" y="138"/>
                </a:moveTo>
                <a:lnTo>
                  <a:pt x="367" y="127"/>
                </a:lnTo>
                <a:lnTo>
                  <a:pt x="320" y="133"/>
                </a:lnTo>
                <a:lnTo>
                  <a:pt x="290" y="168"/>
                </a:lnTo>
                <a:lnTo>
                  <a:pt x="308" y="209"/>
                </a:lnTo>
                <a:lnTo>
                  <a:pt x="331" y="224"/>
                </a:lnTo>
                <a:lnTo>
                  <a:pt x="338" y="262"/>
                </a:lnTo>
                <a:lnTo>
                  <a:pt x="324" y="287"/>
                </a:lnTo>
                <a:lnTo>
                  <a:pt x="335" y="325"/>
                </a:lnTo>
                <a:lnTo>
                  <a:pt x="306" y="325"/>
                </a:lnTo>
                <a:lnTo>
                  <a:pt x="298" y="282"/>
                </a:lnTo>
                <a:lnTo>
                  <a:pt x="280" y="262"/>
                </a:lnTo>
                <a:lnTo>
                  <a:pt x="243" y="262"/>
                </a:lnTo>
                <a:lnTo>
                  <a:pt x="209" y="271"/>
                </a:lnTo>
                <a:lnTo>
                  <a:pt x="197" y="301"/>
                </a:lnTo>
                <a:lnTo>
                  <a:pt x="193" y="341"/>
                </a:lnTo>
                <a:lnTo>
                  <a:pt x="197" y="370"/>
                </a:lnTo>
                <a:lnTo>
                  <a:pt x="197" y="391"/>
                </a:lnTo>
                <a:lnTo>
                  <a:pt x="195" y="416"/>
                </a:lnTo>
                <a:lnTo>
                  <a:pt x="172" y="439"/>
                </a:lnTo>
                <a:lnTo>
                  <a:pt x="156" y="453"/>
                </a:lnTo>
                <a:lnTo>
                  <a:pt x="115" y="480"/>
                </a:lnTo>
                <a:lnTo>
                  <a:pt x="37" y="399"/>
                </a:lnTo>
                <a:lnTo>
                  <a:pt x="14" y="334"/>
                </a:lnTo>
                <a:lnTo>
                  <a:pt x="5" y="229"/>
                </a:lnTo>
                <a:lnTo>
                  <a:pt x="0" y="154"/>
                </a:lnTo>
                <a:lnTo>
                  <a:pt x="9" y="82"/>
                </a:lnTo>
                <a:lnTo>
                  <a:pt x="30" y="42"/>
                </a:lnTo>
                <a:lnTo>
                  <a:pt x="78" y="15"/>
                </a:lnTo>
                <a:lnTo>
                  <a:pt x="121" y="7"/>
                </a:lnTo>
                <a:lnTo>
                  <a:pt x="204" y="0"/>
                </a:lnTo>
                <a:lnTo>
                  <a:pt x="285" y="5"/>
                </a:lnTo>
                <a:lnTo>
                  <a:pt x="387" y="22"/>
                </a:lnTo>
                <a:lnTo>
                  <a:pt x="432" y="44"/>
                </a:lnTo>
                <a:lnTo>
                  <a:pt x="455" y="67"/>
                </a:lnTo>
                <a:lnTo>
                  <a:pt x="478" y="102"/>
                </a:lnTo>
                <a:lnTo>
                  <a:pt x="475" y="120"/>
                </a:lnTo>
                <a:lnTo>
                  <a:pt x="440" y="138"/>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67" name="Freeform 160"/>
          <p:cNvSpPr>
            <a:spLocks/>
          </p:cNvSpPr>
          <p:nvPr/>
        </p:nvSpPr>
        <p:spPr bwMode="auto">
          <a:xfrm>
            <a:off x="1845737" y="3118904"/>
            <a:ext cx="91603" cy="85486"/>
          </a:xfrm>
          <a:custGeom>
            <a:avLst/>
            <a:gdLst>
              <a:gd name="T0" fmla="*/ 2147483646 w 455"/>
              <a:gd name="T1" fmla="*/ 2147483646 h 460"/>
              <a:gd name="T2" fmla="*/ 2147483646 w 455"/>
              <a:gd name="T3" fmla="*/ 2147483646 h 460"/>
              <a:gd name="T4" fmla="*/ 2147483646 w 455"/>
              <a:gd name="T5" fmla="*/ 2147483646 h 460"/>
              <a:gd name="T6" fmla="*/ 2147483646 w 455"/>
              <a:gd name="T7" fmla="*/ 2147483646 h 460"/>
              <a:gd name="T8" fmla="*/ 2147483646 w 455"/>
              <a:gd name="T9" fmla="*/ 2147483646 h 460"/>
              <a:gd name="T10" fmla="*/ 2147483646 w 455"/>
              <a:gd name="T11" fmla="*/ 2147483646 h 460"/>
              <a:gd name="T12" fmla="*/ 2147483646 w 455"/>
              <a:gd name="T13" fmla="*/ 2147483646 h 460"/>
              <a:gd name="T14" fmla="*/ 2147483646 w 455"/>
              <a:gd name="T15" fmla="*/ 2147483646 h 460"/>
              <a:gd name="T16" fmla="*/ 2147483646 w 455"/>
              <a:gd name="T17" fmla="*/ 2147483646 h 460"/>
              <a:gd name="T18" fmla="*/ 2147483646 w 455"/>
              <a:gd name="T19" fmla="*/ 2147483646 h 460"/>
              <a:gd name="T20" fmla="*/ 2147483646 w 455"/>
              <a:gd name="T21" fmla="*/ 2147483646 h 460"/>
              <a:gd name="T22" fmla="*/ 2147483646 w 455"/>
              <a:gd name="T23" fmla="*/ 2147483646 h 460"/>
              <a:gd name="T24" fmla="*/ 2147483646 w 455"/>
              <a:gd name="T25" fmla="*/ 2147483646 h 460"/>
              <a:gd name="T26" fmla="*/ 2147483646 w 455"/>
              <a:gd name="T27" fmla="*/ 2147483646 h 460"/>
              <a:gd name="T28" fmla="*/ 2147483646 w 455"/>
              <a:gd name="T29" fmla="*/ 2147483646 h 460"/>
              <a:gd name="T30" fmla="*/ 2147483646 w 455"/>
              <a:gd name="T31" fmla="*/ 2147483646 h 460"/>
              <a:gd name="T32" fmla="*/ 2147483646 w 455"/>
              <a:gd name="T33" fmla="*/ 2147483646 h 460"/>
              <a:gd name="T34" fmla="*/ 2147483646 w 455"/>
              <a:gd name="T35" fmla="*/ 2147483646 h 460"/>
              <a:gd name="T36" fmla="*/ 2147483646 w 455"/>
              <a:gd name="T37" fmla="*/ 2147483646 h 460"/>
              <a:gd name="T38" fmla="*/ 2147483646 w 455"/>
              <a:gd name="T39" fmla="*/ 2147483646 h 460"/>
              <a:gd name="T40" fmla="*/ 2147483646 w 455"/>
              <a:gd name="T41" fmla="*/ 2147483646 h 460"/>
              <a:gd name="T42" fmla="*/ 2147483646 w 455"/>
              <a:gd name="T43" fmla="*/ 2147483646 h 460"/>
              <a:gd name="T44" fmla="*/ 2147483646 w 455"/>
              <a:gd name="T45" fmla="*/ 2147483646 h 460"/>
              <a:gd name="T46" fmla="*/ 2147483646 w 455"/>
              <a:gd name="T47" fmla="*/ 2147483646 h 460"/>
              <a:gd name="T48" fmla="*/ 2147483646 w 455"/>
              <a:gd name="T49" fmla="*/ 2147483646 h 460"/>
              <a:gd name="T50" fmla="*/ 2147483646 w 455"/>
              <a:gd name="T51" fmla="*/ 2147483646 h 460"/>
              <a:gd name="T52" fmla="*/ 2147483646 w 455"/>
              <a:gd name="T53" fmla="*/ 2147483646 h 460"/>
              <a:gd name="T54" fmla="*/ 2147483646 w 455"/>
              <a:gd name="T55" fmla="*/ 2147483646 h 460"/>
              <a:gd name="T56" fmla="*/ 2147483646 w 455"/>
              <a:gd name="T57" fmla="*/ 2147483646 h 460"/>
              <a:gd name="T58" fmla="*/ 2147483646 w 455"/>
              <a:gd name="T59" fmla="*/ 2147483646 h 460"/>
              <a:gd name="T60" fmla="*/ 2147483646 w 455"/>
              <a:gd name="T61" fmla="*/ 2147483646 h 460"/>
              <a:gd name="T62" fmla="*/ 2147483646 w 455"/>
              <a:gd name="T63" fmla="*/ 2147483646 h 460"/>
              <a:gd name="T64" fmla="*/ 2147483646 w 455"/>
              <a:gd name="T65" fmla="*/ 2147483646 h 460"/>
              <a:gd name="T66" fmla="*/ 2147483646 w 455"/>
              <a:gd name="T67" fmla="*/ 2147483646 h 460"/>
              <a:gd name="T68" fmla="*/ 2147483646 w 455"/>
              <a:gd name="T69" fmla="*/ 2147483646 h 460"/>
              <a:gd name="T70" fmla="*/ 2147483646 w 455"/>
              <a:gd name="T71" fmla="*/ 2147483646 h 460"/>
              <a:gd name="T72" fmla="*/ 2147483646 w 455"/>
              <a:gd name="T73" fmla="*/ 2147483646 h 460"/>
              <a:gd name="T74" fmla="*/ 2147483646 w 455"/>
              <a:gd name="T75" fmla="*/ 2147483646 h 460"/>
              <a:gd name="T76" fmla="*/ 2147483646 w 455"/>
              <a:gd name="T77" fmla="*/ 2147483646 h 460"/>
              <a:gd name="T78" fmla="*/ 2147483646 w 455"/>
              <a:gd name="T79" fmla="*/ 2147483646 h 460"/>
              <a:gd name="T80" fmla="*/ 2147483646 w 455"/>
              <a:gd name="T81" fmla="*/ 2147483646 h 460"/>
              <a:gd name="T82" fmla="*/ 2147483646 w 455"/>
              <a:gd name="T83" fmla="*/ 2147483646 h 460"/>
              <a:gd name="T84" fmla="*/ 2147483646 w 455"/>
              <a:gd name="T85" fmla="*/ 2147483646 h 460"/>
              <a:gd name="T86" fmla="*/ 2147483646 w 455"/>
              <a:gd name="T87" fmla="*/ 2147483646 h 460"/>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55" h="460">
                <a:moveTo>
                  <a:pt x="379" y="28"/>
                </a:moveTo>
                <a:lnTo>
                  <a:pt x="418" y="44"/>
                </a:lnTo>
                <a:lnTo>
                  <a:pt x="436" y="69"/>
                </a:lnTo>
                <a:lnTo>
                  <a:pt x="447" y="85"/>
                </a:lnTo>
                <a:lnTo>
                  <a:pt x="455" y="98"/>
                </a:lnTo>
                <a:lnTo>
                  <a:pt x="444" y="108"/>
                </a:lnTo>
                <a:lnTo>
                  <a:pt x="425" y="120"/>
                </a:lnTo>
                <a:lnTo>
                  <a:pt x="376" y="113"/>
                </a:lnTo>
                <a:lnTo>
                  <a:pt x="339" y="113"/>
                </a:lnTo>
                <a:lnTo>
                  <a:pt x="315" y="100"/>
                </a:lnTo>
                <a:lnTo>
                  <a:pt x="279" y="92"/>
                </a:lnTo>
                <a:lnTo>
                  <a:pt x="247" y="90"/>
                </a:lnTo>
                <a:lnTo>
                  <a:pt x="209" y="92"/>
                </a:lnTo>
                <a:lnTo>
                  <a:pt x="264" y="98"/>
                </a:lnTo>
                <a:lnTo>
                  <a:pt x="291" y="105"/>
                </a:lnTo>
                <a:lnTo>
                  <a:pt x="311" y="113"/>
                </a:lnTo>
                <a:lnTo>
                  <a:pt x="315" y="115"/>
                </a:lnTo>
                <a:lnTo>
                  <a:pt x="302" y="120"/>
                </a:lnTo>
                <a:lnTo>
                  <a:pt x="291" y="131"/>
                </a:lnTo>
                <a:lnTo>
                  <a:pt x="272" y="120"/>
                </a:lnTo>
                <a:lnTo>
                  <a:pt x="256" y="116"/>
                </a:lnTo>
                <a:lnTo>
                  <a:pt x="223" y="110"/>
                </a:lnTo>
                <a:lnTo>
                  <a:pt x="212" y="110"/>
                </a:lnTo>
                <a:lnTo>
                  <a:pt x="246" y="122"/>
                </a:lnTo>
                <a:lnTo>
                  <a:pt x="270" y="133"/>
                </a:lnTo>
                <a:lnTo>
                  <a:pt x="283" y="142"/>
                </a:lnTo>
                <a:lnTo>
                  <a:pt x="272" y="154"/>
                </a:lnTo>
                <a:lnTo>
                  <a:pt x="246" y="145"/>
                </a:lnTo>
                <a:lnTo>
                  <a:pt x="223" y="140"/>
                </a:lnTo>
                <a:lnTo>
                  <a:pt x="264" y="161"/>
                </a:lnTo>
                <a:lnTo>
                  <a:pt x="277" y="170"/>
                </a:lnTo>
                <a:lnTo>
                  <a:pt x="281" y="189"/>
                </a:lnTo>
                <a:lnTo>
                  <a:pt x="289" y="199"/>
                </a:lnTo>
                <a:lnTo>
                  <a:pt x="264" y="187"/>
                </a:lnTo>
                <a:lnTo>
                  <a:pt x="241" y="183"/>
                </a:lnTo>
                <a:lnTo>
                  <a:pt x="205" y="181"/>
                </a:lnTo>
                <a:lnTo>
                  <a:pt x="259" y="197"/>
                </a:lnTo>
                <a:lnTo>
                  <a:pt x="293" y="210"/>
                </a:lnTo>
                <a:lnTo>
                  <a:pt x="315" y="222"/>
                </a:lnTo>
                <a:lnTo>
                  <a:pt x="318" y="239"/>
                </a:lnTo>
                <a:lnTo>
                  <a:pt x="291" y="227"/>
                </a:lnTo>
                <a:lnTo>
                  <a:pt x="254" y="214"/>
                </a:lnTo>
                <a:lnTo>
                  <a:pt x="237" y="214"/>
                </a:lnTo>
                <a:lnTo>
                  <a:pt x="277" y="228"/>
                </a:lnTo>
                <a:lnTo>
                  <a:pt x="309" y="242"/>
                </a:lnTo>
                <a:lnTo>
                  <a:pt x="320" y="253"/>
                </a:lnTo>
                <a:lnTo>
                  <a:pt x="315" y="264"/>
                </a:lnTo>
                <a:lnTo>
                  <a:pt x="291" y="255"/>
                </a:lnTo>
                <a:lnTo>
                  <a:pt x="269" y="246"/>
                </a:lnTo>
                <a:lnTo>
                  <a:pt x="221" y="244"/>
                </a:lnTo>
                <a:lnTo>
                  <a:pt x="202" y="246"/>
                </a:lnTo>
                <a:lnTo>
                  <a:pt x="158" y="249"/>
                </a:lnTo>
                <a:lnTo>
                  <a:pt x="107" y="242"/>
                </a:lnTo>
                <a:lnTo>
                  <a:pt x="137" y="253"/>
                </a:lnTo>
                <a:lnTo>
                  <a:pt x="191" y="262"/>
                </a:lnTo>
                <a:lnTo>
                  <a:pt x="181" y="280"/>
                </a:lnTo>
                <a:lnTo>
                  <a:pt x="141" y="271"/>
                </a:lnTo>
                <a:lnTo>
                  <a:pt x="104" y="258"/>
                </a:lnTo>
                <a:lnTo>
                  <a:pt x="79" y="246"/>
                </a:lnTo>
                <a:lnTo>
                  <a:pt x="126" y="280"/>
                </a:lnTo>
                <a:lnTo>
                  <a:pt x="156" y="290"/>
                </a:lnTo>
                <a:lnTo>
                  <a:pt x="181" y="298"/>
                </a:lnTo>
                <a:lnTo>
                  <a:pt x="178" y="317"/>
                </a:lnTo>
                <a:lnTo>
                  <a:pt x="141" y="310"/>
                </a:lnTo>
                <a:lnTo>
                  <a:pt x="113" y="302"/>
                </a:lnTo>
                <a:lnTo>
                  <a:pt x="131" y="315"/>
                </a:lnTo>
                <a:lnTo>
                  <a:pt x="161" y="323"/>
                </a:lnTo>
                <a:lnTo>
                  <a:pt x="178" y="325"/>
                </a:lnTo>
                <a:lnTo>
                  <a:pt x="178" y="365"/>
                </a:lnTo>
                <a:lnTo>
                  <a:pt x="143" y="351"/>
                </a:lnTo>
                <a:lnTo>
                  <a:pt x="116" y="341"/>
                </a:lnTo>
                <a:lnTo>
                  <a:pt x="145" y="363"/>
                </a:lnTo>
                <a:lnTo>
                  <a:pt x="182" y="379"/>
                </a:lnTo>
                <a:lnTo>
                  <a:pt x="181" y="397"/>
                </a:lnTo>
                <a:lnTo>
                  <a:pt x="159" y="418"/>
                </a:lnTo>
                <a:lnTo>
                  <a:pt x="141" y="395"/>
                </a:lnTo>
                <a:lnTo>
                  <a:pt x="116" y="365"/>
                </a:lnTo>
                <a:lnTo>
                  <a:pt x="100" y="337"/>
                </a:lnTo>
                <a:lnTo>
                  <a:pt x="116" y="381"/>
                </a:lnTo>
                <a:lnTo>
                  <a:pt x="131" y="397"/>
                </a:lnTo>
                <a:lnTo>
                  <a:pt x="156" y="429"/>
                </a:lnTo>
                <a:lnTo>
                  <a:pt x="137" y="449"/>
                </a:lnTo>
                <a:lnTo>
                  <a:pt x="109" y="424"/>
                </a:lnTo>
                <a:lnTo>
                  <a:pt x="88" y="395"/>
                </a:lnTo>
                <a:lnTo>
                  <a:pt x="69" y="363"/>
                </a:lnTo>
                <a:lnTo>
                  <a:pt x="86" y="409"/>
                </a:lnTo>
                <a:lnTo>
                  <a:pt x="104" y="430"/>
                </a:lnTo>
                <a:lnTo>
                  <a:pt x="121" y="452"/>
                </a:lnTo>
                <a:lnTo>
                  <a:pt x="107" y="460"/>
                </a:lnTo>
                <a:lnTo>
                  <a:pt x="69" y="429"/>
                </a:lnTo>
                <a:lnTo>
                  <a:pt x="34" y="379"/>
                </a:lnTo>
                <a:lnTo>
                  <a:pt x="21" y="341"/>
                </a:lnTo>
                <a:lnTo>
                  <a:pt x="12" y="275"/>
                </a:lnTo>
                <a:lnTo>
                  <a:pt x="7" y="227"/>
                </a:lnTo>
                <a:lnTo>
                  <a:pt x="0" y="170"/>
                </a:lnTo>
                <a:lnTo>
                  <a:pt x="39" y="181"/>
                </a:lnTo>
                <a:lnTo>
                  <a:pt x="81" y="197"/>
                </a:lnTo>
                <a:lnTo>
                  <a:pt x="145" y="212"/>
                </a:lnTo>
                <a:lnTo>
                  <a:pt x="88" y="189"/>
                </a:lnTo>
                <a:lnTo>
                  <a:pt x="67" y="177"/>
                </a:lnTo>
                <a:lnTo>
                  <a:pt x="26" y="162"/>
                </a:lnTo>
                <a:lnTo>
                  <a:pt x="5" y="158"/>
                </a:lnTo>
                <a:lnTo>
                  <a:pt x="5" y="129"/>
                </a:lnTo>
                <a:lnTo>
                  <a:pt x="10" y="92"/>
                </a:lnTo>
                <a:lnTo>
                  <a:pt x="61" y="100"/>
                </a:lnTo>
                <a:lnTo>
                  <a:pt x="94" y="110"/>
                </a:lnTo>
                <a:lnTo>
                  <a:pt x="135" y="129"/>
                </a:lnTo>
                <a:lnTo>
                  <a:pt x="97" y="100"/>
                </a:lnTo>
                <a:lnTo>
                  <a:pt x="54" y="88"/>
                </a:lnTo>
                <a:lnTo>
                  <a:pt x="12" y="77"/>
                </a:lnTo>
                <a:lnTo>
                  <a:pt x="21" y="49"/>
                </a:lnTo>
                <a:lnTo>
                  <a:pt x="34" y="31"/>
                </a:lnTo>
                <a:lnTo>
                  <a:pt x="73" y="19"/>
                </a:lnTo>
                <a:lnTo>
                  <a:pt x="111" y="28"/>
                </a:lnTo>
                <a:lnTo>
                  <a:pt x="145" y="53"/>
                </a:lnTo>
                <a:lnTo>
                  <a:pt x="121" y="25"/>
                </a:lnTo>
                <a:lnTo>
                  <a:pt x="86" y="10"/>
                </a:lnTo>
                <a:lnTo>
                  <a:pt x="126" y="4"/>
                </a:lnTo>
                <a:lnTo>
                  <a:pt x="156" y="2"/>
                </a:lnTo>
                <a:lnTo>
                  <a:pt x="198" y="8"/>
                </a:lnTo>
                <a:lnTo>
                  <a:pt x="226" y="27"/>
                </a:lnTo>
                <a:lnTo>
                  <a:pt x="272" y="35"/>
                </a:lnTo>
                <a:lnTo>
                  <a:pt x="241" y="23"/>
                </a:lnTo>
                <a:lnTo>
                  <a:pt x="218" y="8"/>
                </a:lnTo>
                <a:lnTo>
                  <a:pt x="205" y="0"/>
                </a:lnTo>
                <a:lnTo>
                  <a:pt x="249" y="2"/>
                </a:lnTo>
                <a:lnTo>
                  <a:pt x="289" y="4"/>
                </a:lnTo>
                <a:lnTo>
                  <a:pt x="313" y="15"/>
                </a:lnTo>
                <a:lnTo>
                  <a:pt x="337" y="37"/>
                </a:lnTo>
                <a:lnTo>
                  <a:pt x="356" y="67"/>
                </a:lnTo>
                <a:lnTo>
                  <a:pt x="346" y="33"/>
                </a:lnTo>
                <a:lnTo>
                  <a:pt x="322" y="10"/>
                </a:lnTo>
                <a:lnTo>
                  <a:pt x="379" y="28"/>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168" name="Group 161"/>
          <p:cNvGrpSpPr>
            <a:grpSpLocks/>
          </p:cNvGrpSpPr>
          <p:nvPr/>
        </p:nvGrpSpPr>
        <p:grpSpPr bwMode="auto">
          <a:xfrm>
            <a:off x="2031963" y="3335406"/>
            <a:ext cx="99655" cy="56681"/>
            <a:chOff x="377" y="1962"/>
            <a:chExt cx="99" cy="61"/>
          </a:xfrm>
        </p:grpSpPr>
        <p:sp>
          <p:nvSpPr>
            <p:cNvPr id="169" name="Freeform 162"/>
            <p:cNvSpPr>
              <a:spLocks/>
            </p:cNvSpPr>
            <p:nvPr/>
          </p:nvSpPr>
          <p:spPr bwMode="auto">
            <a:xfrm>
              <a:off x="377" y="1962"/>
              <a:ext cx="99" cy="61"/>
            </a:xfrm>
            <a:custGeom>
              <a:avLst/>
              <a:gdLst>
                <a:gd name="T0" fmla="*/ 0 w 497"/>
                <a:gd name="T1" fmla="*/ 0 h 305"/>
                <a:gd name="T2" fmla="*/ 0 w 497"/>
                <a:gd name="T3" fmla="*/ 0 h 305"/>
                <a:gd name="T4" fmla="*/ 0 w 497"/>
                <a:gd name="T5" fmla="*/ 0 h 305"/>
                <a:gd name="T6" fmla="*/ 0 w 497"/>
                <a:gd name="T7" fmla="*/ 0 h 305"/>
                <a:gd name="T8" fmla="*/ 0 w 497"/>
                <a:gd name="T9" fmla="*/ 0 h 305"/>
                <a:gd name="T10" fmla="*/ 0 w 497"/>
                <a:gd name="T11" fmla="*/ 0 h 305"/>
                <a:gd name="T12" fmla="*/ 0 w 497"/>
                <a:gd name="T13" fmla="*/ 0 h 305"/>
                <a:gd name="T14" fmla="*/ 0 w 497"/>
                <a:gd name="T15" fmla="*/ 0 h 305"/>
                <a:gd name="T16" fmla="*/ 0 w 497"/>
                <a:gd name="T17" fmla="*/ 0 h 305"/>
                <a:gd name="T18" fmla="*/ 0 w 497"/>
                <a:gd name="T19" fmla="*/ 0 h 305"/>
                <a:gd name="T20" fmla="*/ 0 w 497"/>
                <a:gd name="T21" fmla="*/ 0 h 305"/>
                <a:gd name="T22" fmla="*/ 0 w 497"/>
                <a:gd name="T23" fmla="*/ 0 h 305"/>
                <a:gd name="T24" fmla="*/ 0 w 497"/>
                <a:gd name="T25" fmla="*/ 0 h 305"/>
                <a:gd name="T26" fmla="*/ 0 w 497"/>
                <a:gd name="T27" fmla="*/ 0 h 305"/>
                <a:gd name="T28" fmla="*/ 0 w 497"/>
                <a:gd name="T29" fmla="*/ 0 h 305"/>
                <a:gd name="T30" fmla="*/ 0 w 497"/>
                <a:gd name="T31" fmla="*/ 0 h 305"/>
                <a:gd name="T32" fmla="*/ 0 w 497"/>
                <a:gd name="T33" fmla="*/ 0 h 305"/>
                <a:gd name="T34" fmla="*/ 0 w 497"/>
                <a:gd name="T35" fmla="*/ 0 h 305"/>
                <a:gd name="T36" fmla="*/ 0 w 497"/>
                <a:gd name="T37" fmla="*/ 0 h 305"/>
                <a:gd name="T38" fmla="*/ 0 w 497"/>
                <a:gd name="T39" fmla="*/ 0 h 305"/>
                <a:gd name="T40" fmla="*/ 0 w 497"/>
                <a:gd name="T41" fmla="*/ 0 h 305"/>
                <a:gd name="T42" fmla="*/ 0 w 497"/>
                <a:gd name="T43" fmla="*/ 0 h 305"/>
                <a:gd name="T44" fmla="*/ 0 w 497"/>
                <a:gd name="T45" fmla="*/ 0 h 305"/>
                <a:gd name="T46" fmla="*/ 0 w 497"/>
                <a:gd name="T47" fmla="*/ 0 h 305"/>
                <a:gd name="T48" fmla="*/ 0 w 497"/>
                <a:gd name="T49" fmla="*/ 0 h 305"/>
                <a:gd name="T50" fmla="*/ 0 w 497"/>
                <a:gd name="T51" fmla="*/ 0 h 305"/>
                <a:gd name="T52" fmla="*/ 0 w 497"/>
                <a:gd name="T53" fmla="*/ 0 h 305"/>
                <a:gd name="T54" fmla="*/ 0 w 497"/>
                <a:gd name="T55" fmla="*/ 0 h 305"/>
                <a:gd name="T56" fmla="*/ 0 w 497"/>
                <a:gd name="T57" fmla="*/ 0 h 305"/>
                <a:gd name="T58" fmla="*/ 0 w 497"/>
                <a:gd name="T59" fmla="*/ 0 h 305"/>
                <a:gd name="T60" fmla="*/ 0 w 497"/>
                <a:gd name="T61" fmla="*/ 0 h 305"/>
                <a:gd name="T62" fmla="*/ 0 w 497"/>
                <a:gd name="T63" fmla="*/ 0 h 305"/>
                <a:gd name="T64" fmla="*/ 0 w 497"/>
                <a:gd name="T65" fmla="*/ 0 h 305"/>
                <a:gd name="T66" fmla="*/ 0 w 497"/>
                <a:gd name="T67" fmla="*/ 0 h 305"/>
                <a:gd name="T68" fmla="*/ 0 w 497"/>
                <a:gd name="T69" fmla="*/ 0 h 305"/>
                <a:gd name="T70" fmla="*/ 0 w 497"/>
                <a:gd name="T71" fmla="*/ 0 h 305"/>
                <a:gd name="T72" fmla="*/ 0 w 497"/>
                <a:gd name="T73" fmla="*/ 0 h 305"/>
                <a:gd name="T74" fmla="*/ 0 w 497"/>
                <a:gd name="T75" fmla="*/ 0 h 305"/>
                <a:gd name="T76" fmla="*/ 0 w 497"/>
                <a:gd name="T77" fmla="*/ 0 h 305"/>
                <a:gd name="T78" fmla="*/ 0 w 497"/>
                <a:gd name="T79" fmla="*/ 0 h 305"/>
                <a:gd name="T80" fmla="*/ 0 w 497"/>
                <a:gd name="T81" fmla="*/ 0 h 305"/>
                <a:gd name="T82" fmla="*/ 0 w 497"/>
                <a:gd name="T83" fmla="*/ 0 h 305"/>
                <a:gd name="T84" fmla="*/ 0 w 497"/>
                <a:gd name="T85" fmla="*/ 0 h 305"/>
                <a:gd name="T86" fmla="*/ 0 w 497"/>
                <a:gd name="T87" fmla="*/ 0 h 305"/>
                <a:gd name="T88" fmla="*/ 0 w 497"/>
                <a:gd name="T89" fmla="*/ 0 h 305"/>
                <a:gd name="T90" fmla="*/ 0 w 497"/>
                <a:gd name="T91" fmla="*/ 0 h 305"/>
                <a:gd name="T92" fmla="*/ 0 w 497"/>
                <a:gd name="T93" fmla="*/ 0 h 305"/>
                <a:gd name="T94" fmla="*/ 0 w 497"/>
                <a:gd name="T95" fmla="*/ 0 h 305"/>
                <a:gd name="T96" fmla="*/ 0 w 497"/>
                <a:gd name="T97" fmla="*/ 0 h 305"/>
                <a:gd name="T98" fmla="*/ 0 w 497"/>
                <a:gd name="T99" fmla="*/ 0 h 30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97" h="305">
                  <a:moveTo>
                    <a:pt x="0" y="182"/>
                  </a:moveTo>
                  <a:lnTo>
                    <a:pt x="61" y="168"/>
                  </a:lnTo>
                  <a:lnTo>
                    <a:pt x="84" y="163"/>
                  </a:lnTo>
                  <a:lnTo>
                    <a:pt x="98" y="150"/>
                  </a:lnTo>
                  <a:lnTo>
                    <a:pt x="112" y="130"/>
                  </a:lnTo>
                  <a:lnTo>
                    <a:pt x="142" y="102"/>
                  </a:lnTo>
                  <a:lnTo>
                    <a:pt x="197" y="56"/>
                  </a:lnTo>
                  <a:lnTo>
                    <a:pt x="206" y="41"/>
                  </a:lnTo>
                  <a:lnTo>
                    <a:pt x="221" y="28"/>
                  </a:lnTo>
                  <a:lnTo>
                    <a:pt x="249" y="23"/>
                  </a:lnTo>
                  <a:lnTo>
                    <a:pt x="336" y="8"/>
                  </a:lnTo>
                  <a:lnTo>
                    <a:pt x="360" y="0"/>
                  </a:lnTo>
                  <a:lnTo>
                    <a:pt x="382" y="11"/>
                  </a:lnTo>
                  <a:lnTo>
                    <a:pt x="393" y="20"/>
                  </a:lnTo>
                  <a:lnTo>
                    <a:pt x="443" y="37"/>
                  </a:lnTo>
                  <a:lnTo>
                    <a:pt x="464" y="45"/>
                  </a:lnTo>
                  <a:lnTo>
                    <a:pt x="471" y="53"/>
                  </a:lnTo>
                  <a:lnTo>
                    <a:pt x="481" y="81"/>
                  </a:lnTo>
                  <a:lnTo>
                    <a:pt x="486" y="96"/>
                  </a:lnTo>
                  <a:lnTo>
                    <a:pt x="490" y="104"/>
                  </a:lnTo>
                  <a:lnTo>
                    <a:pt x="497" y="119"/>
                  </a:lnTo>
                  <a:lnTo>
                    <a:pt x="497" y="129"/>
                  </a:lnTo>
                  <a:lnTo>
                    <a:pt x="487" y="137"/>
                  </a:lnTo>
                  <a:lnTo>
                    <a:pt x="466" y="136"/>
                  </a:lnTo>
                  <a:lnTo>
                    <a:pt x="434" y="121"/>
                  </a:lnTo>
                  <a:lnTo>
                    <a:pt x="393" y="113"/>
                  </a:lnTo>
                  <a:lnTo>
                    <a:pt x="356" y="119"/>
                  </a:lnTo>
                  <a:lnTo>
                    <a:pt x="395" y="128"/>
                  </a:lnTo>
                  <a:lnTo>
                    <a:pt x="422" y="137"/>
                  </a:lnTo>
                  <a:lnTo>
                    <a:pt x="454" y="150"/>
                  </a:lnTo>
                  <a:lnTo>
                    <a:pt x="462" y="161"/>
                  </a:lnTo>
                  <a:lnTo>
                    <a:pt x="462" y="173"/>
                  </a:lnTo>
                  <a:lnTo>
                    <a:pt x="449" y="182"/>
                  </a:lnTo>
                  <a:lnTo>
                    <a:pt x="435" y="179"/>
                  </a:lnTo>
                  <a:lnTo>
                    <a:pt x="391" y="168"/>
                  </a:lnTo>
                  <a:lnTo>
                    <a:pt x="351" y="166"/>
                  </a:lnTo>
                  <a:lnTo>
                    <a:pt x="320" y="168"/>
                  </a:lnTo>
                  <a:lnTo>
                    <a:pt x="303" y="179"/>
                  </a:lnTo>
                  <a:lnTo>
                    <a:pt x="282" y="200"/>
                  </a:lnTo>
                  <a:lnTo>
                    <a:pt x="267" y="223"/>
                  </a:lnTo>
                  <a:lnTo>
                    <a:pt x="251" y="246"/>
                  </a:lnTo>
                  <a:lnTo>
                    <a:pt x="237" y="263"/>
                  </a:lnTo>
                  <a:lnTo>
                    <a:pt x="213" y="280"/>
                  </a:lnTo>
                  <a:lnTo>
                    <a:pt x="190" y="284"/>
                  </a:lnTo>
                  <a:lnTo>
                    <a:pt x="165" y="287"/>
                  </a:lnTo>
                  <a:lnTo>
                    <a:pt x="135" y="284"/>
                  </a:lnTo>
                  <a:lnTo>
                    <a:pt x="112" y="282"/>
                  </a:lnTo>
                  <a:lnTo>
                    <a:pt x="82" y="290"/>
                  </a:lnTo>
                  <a:lnTo>
                    <a:pt x="0" y="305"/>
                  </a:lnTo>
                  <a:lnTo>
                    <a:pt x="0" y="182"/>
                  </a:lnTo>
                  <a:close/>
                </a:path>
              </a:pathLst>
            </a:custGeom>
            <a:solidFill>
              <a:srgbClr val="FFC080"/>
            </a:solidFill>
            <a:ln w="3175">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0" name="Freeform 163"/>
            <p:cNvSpPr>
              <a:spLocks/>
            </p:cNvSpPr>
            <p:nvPr/>
          </p:nvSpPr>
          <p:spPr bwMode="auto">
            <a:xfrm>
              <a:off x="439" y="1973"/>
              <a:ext cx="32" cy="7"/>
            </a:xfrm>
            <a:custGeom>
              <a:avLst/>
              <a:gdLst>
                <a:gd name="T0" fmla="*/ 0 w 159"/>
                <a:gd name="T1" fmla="*/ 0 h 37"/>
                <a:gd name="T2" fmla="*/ 0 w 159"/>
                <a:gd name="T3" fmla="*/ 0 h 37"/>
                <a:gd name="T4" fmla="*/ 0 w 159"/>
                <a:gd name="T5" fmla="*/ 0 h 37"/>
                <a:gd name="T6" fmla="*/ 0 w 159"/>
                <a:gd name="T7" fmla="*/ 0 h 37"/>
                <a:gd name="T8" fmla="*/ 0 w 159"/>
                <a:gd name="T9" fmla="*/ 0 h 37"/>
                <a:gd name="T10" fmla="*/ 0 w 159"/>
                <a:gd name="T11" fmla="*/ 0 h 37"/>
                <a:gd name="T12" fmla="*/ 0 w 159"/>
                <a:gd name="T13" fmla="*/ 0 h 37"/>
                <a:gd name="T14" fmla="*/ 0 w 159"/>
                <a:gd name="T15" fmla="*/ 0 h 37"/>
                <a:gd name="T16" fmla="*/ 0 w 159"/>
                <a:gd name="T17" fmla="*/ 0 h 37"/>
                <a:gd name="T18" fmla="*/ 0 w 159"/>
                <a:gd name="T19" fmla="*/ 0 h 37"/>
                <a:gd name="T20" fmla="*/ 0 w 159"/>
                <a:gd name="T21" fmla="*/ 0 h 37"/>
                <a:gd name="T22" fmla="*/ 0 w 159"/>
                <a:gd name="T23" fmla="*/ 0 h 37"/>
                <a:gd name="T24" fmla="*/ 0 w 159"/>
                <a:gd name="T25" fmla="*/ 0 h 37"/>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59" h="37">
                  <a:moveTo>
                    <a:pt x="159" y="37"/>
                  </a:moveTo>
                  <a:lnTo>
                    <a:pt x="132" y="24"/>
                  </a:lnTo>
                  <a:lnTo>
                    <a:pt x="110" y="21"/>
                  </a:lnTo>
                  <a:lnTo>
                    <a:pt x="84" y="13"/>
                  </a:lnTo>
                  <a:lnTo>
                    <a:pt x="61" y="7"/>
                  </a:lnTo>
                  <a:lnTo>
                    <a:pt x="25" y="10"/>
                  </a:lnTo>
                  <a:lnTo>
                    <a:pt x="0" y="13"/>
                  </a:lnTo>
                  <a:lnTo>
                    <a:pt x="38" y="5"/>
                  </a:lnTo>
                  <a:lnTo>
                    <a:pt x="69" y="0"/>
                  </a:lnTo>
                  <a:lnTo>
                    <a:pt x="110" y="17"/>
                  </a:lnTo>
                  <a:lnTo>
                    <a:pt x="132" y="19"/>
                  </a:lnTo>
                  <a:lnTo>
                    <a:pt x="157" y="31"/>
                  </a:lnTo>
                  <a:lnTo>
                    <a:pt x="159" y="37"/>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1" name="Freeform 164"/>
            <p:cNvSpPr>
              <a:spLocks/>
            </p:cNvSpPr>
            <p:nvPr/>
          </p:nvSpPr>
          <p:spPr bwMode="auto">
            <a:xfrm>
              <a:off x="427" y="1965"/>
              <a:ext cx="27" cy="5"/>
            </a:xfrm>
            <a:custGeom>
              <a:avLst/>
              <a:gdLst>
                <a:gd name="T0" fmla="*/ 0 w 133"/>
                <a:gd name="T1" fmla="*/ 0 h 25"/>
                <a:gd name="T2" fmla="*/ 0 w 133"/>
                <a:gd name="T3" fmla="*/ 0 h 25"/>
                <a:gd name="T4" fmla="*/ 0 w 133"/>
                <a:gd name="T5" fmla="*/ 0 h 25"/>
                <a:gd name="T6" fmla="*/ 0 w 133"/>
                <a:gd name="T7" fmla="*/ 0 h 25"/>
                <a:gd name="T8" fmla="*/ 0 w 133"/>
                <a:gd name="T9" fmla="*/ 0 h 25"/>
                <a:gd name="T10" fmla="*/ 0 w 133"/>
                <a:gd name="T11" fmla="*/ 0 h 25"/>
                <a:gd name="T12" fmla="*/ 0 w 133"/>
                <a:gd name="T13" fmla="*/ 0 h 25"/>
                <a:gd name="T14" fmla="*/ 0 w 133"/>
                <a:gd name="T15" fmla="*/ 0 h 25"/>
                <a:gd name="T16" fmla="*/ 0 w 133"/>
                <a:gd name="T17" fmla="*/ 0 h 25"/>
                <a:gd name="T18" fmla="*/ 0 w 133"/>
                <a:gd name="T19" fmla="*/ 0 h 25"/>
                <a:gd name="T20" fmla="*/ 0 w 133"/>
                <a:gd name="T21" fmla="*/ 0 h 25"/>
                <a:gd name="T22" fmla="*/ 0 w 133"/>
                <a:gd name="T23" fmla="*/ 0 h 2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33" h="25">
                  <a:moveTo>
                    <a:pt x="97" y="0"/>
                  </a:moveTo>
                  <a:lnTo>
                    <a:pt x="113" y="1"/>
                  </a:lnTo>
                  <a:lnTo>
                    <a:pt x="133" y="8"/>
                  </a:lnTo>
                  <a:lnTo>
                    <a:pt x="120" y="7"/>
                  </a:lnTo>
                  <a:lnTo>
                    <a:pt x="99" y="3"/>
                  </a:lnTo>
                  <a:lnTo>
                    <a:pt x="56" y="15"/>
                  </a:lnTo>
                  <a:lnTo>
                    <a:pt x="32" y="21"/>
                  </a:lnTo>
                  <a:lnTo>
                    <a:pt x="4" y="25"/>
                  </a:lnTo>
                  <a:lnTo>
                    <a:pt x="0" y="21"/>
                  </a:lnTo>
                  <a:lnTo>
                    <a:pt x="29" y="16"/>
                  </a:lnTo>
                  <a:lnTo>
                    <a:pt x="64" y="8"/>
                  </a:lnTo>
                  <a:lnTo>
                    <a:pt x="9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2" name="Freeform 165"/>
            <p:cNvSpPr>
              <a:spLocks/>
            </p:cNvSpPr>
            <p:nvPr/>
          </p:nvSpPr>
          <p:spPr bwMode="auto">
            <a:xfrm>
              <a:off x="438" y="1984"/>
              <a:ext cx="11" cy="2"/>
            </a:xfrm>
            <a:custGeom>
              <a:avLst/>
              <a:gdLst>
                <a:gd name="T0" fmla="*/ 0 w 53"/>
                <a:gd name="T1" fmla="*/ 0 h 12"/>
                <a:gd name="T2" fmla="*/ 0 w 53"/>
                <a:gd name="T3" fmla="*/ 0 h 12"/>
                <a:gd name="T4" fmla="*/ 0 w 53"/>
                <a:gd name="T5" fmla="*/ 0 h 12"/>
                <a:gd name="T6" fmla="*/ 0 w 53"/>
                <a:gd name="T7" fmla="*/ 0 h 12"/>
                <a:gd name="T8" fmla="*/ 0 w 53"/>
                <a:gd name="T9" fmla="*/ 0 h 12"/>
                <a:gd name="T10" fmla="*/ 0 w 53"/>
                <a:gd name="T11" fmla="*/ 0 h 12"/>
                <a:gd name="T12" fmla="*/ 0 w 53"/>
                <a:gd name="T13" fmla="*/ 0 h 1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53" h="12">
                  <a:moveTo>
                    <a:pt x="53" y="5"/>
                  </a:moveTo>
                  <a:lnTo>
                    <a:pt x="46" y="12"/>
                  </a:lnTo>
                  <a:lnTo>
                    <a:pt x="27" y="9"/>
                  </a:lnTo>
                  <a:lnTo>
                    <a:pt x="5" y="9"/>
                  </a:lnTo>
                  <a:lnTo>
                    <a:pt x="0" y="0"/>
                  </a:lnTo>
                  <a:lnTo>
                    <a:pt x="14" y="3"/>
                  </a:lnTo>
                  <a:lnTo>
                    <a:pt x="53"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3" name="Freeform 166"/>
            <p:cNvSpPr>
              <a:spLocks/>
            </p:cNvSpPr>
            <p:nvPr/>
          </p:nvSpPr>
          <p:spPr bwMode="auto">
            <a:xfrm>
              <a:off x="469" y="1982"/>
              <a:ext cx="3" cy="4"/>
            </a:xfrm>
            <a:custGeom>
              <a:avLst/>
              <a:gdLst>
                <a:gd name="T0" fmla="*/ 0 w 11"/>
                <a:gd name="T1" fmla="*/ 0 h 23"/>
                <a:gd name="T2" fmla="*/ 0 w 11"/>
                <a:gd name="T3" fmla="*/ 0 h 23"/>
                <a:gd name="T4" fmla="*/ 0 w 11"/>
                <a:gd name="T5" fmla="*/ 0 h 23"/>
                <a:gd name="T6" fmla="*/ 0 w 11"/>
                <a:gd name="T7" fmla="*/ 0 h 23"/>
                <a:gd name="T8" fmla="*/ 0 w 11"/>
                <a:gd name="T9" fmla="*/ 0 h 2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23">
                  <a:moveTo>
                    <a:pt x="0" y="0"/>
                  </a:moveTo>
                  <a:lnTo>
                    <a:pt x="0" y="6"/>
                  </a:lnTo>
                  <a:lnTo>
                    <a:pt x="2" y="18"/>
                  </a:lnTo>
                  <a:lnTo>
                    <a:pt x="11" y="2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4" name="Freeform 167"/>
            <p:cNvSpPr>
              <a:spLocks/>
            </p:cNvSpPr>
            <p:nvPr/>
          </p:nvSpPr>
          <p:spPr bwMode="auto">
            <a:xfrm>
              <a:off x="462" y="1993"/>
              <a:ext cx="2" cy="2"/>
            </a:xfrm>
            <a:custGeom>
              <a:avLst/>
              <a:gdLst>
                <a:gd name="T0" fmla="*/ 0 w 11"/>
                <a:gd name="T1" fmla="*/ 0 h 13"/>
                <a:gd name="T2" fmla="*/ 0 w 11"/>
                <a:gd name="T3" fmla="*/ 0 h 13"/>
                <a:gd name="T4" fmla="*/ 0 w 11"/>
                <a:gd name="T5" fmla="*/ 0 h 13"/>
                <a:gd name="T6" fmla="*/ 0 w 11"/>
                <a:gd name="T7" fmla="*/ 0 h 1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1" h="13">
                  <a:moveTo>
                    <a:pt x="0" y="0"/>
                  </a:moveTo>
                  <a:lnTo>
                    <a:pt x="3" y="7"/>
                  </a:lnTo>
                  <a:lnTo>
                    <a:pt x="11" y="1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5" name="Freeform 168"/>
            <p:cNvSpPr>
              <a:spLocks/>
            </p:cNvSpPr>
            <p:nvPr/>
          </p:nvSpPr>
          <p:spPr bwMode="auto">
            <a:xfrm>
              <a:off x="423" y="1977"/>
              <a:ext cx="5" cy="6"/>
            </a:xfrm>
            <a:custGeom>
              <a:avLst/>
              <a:gdLst>
                <a:gd name="T0" fmla="*/ 0 w 25"/>
                <a:gd name="T1" fmla="*/ 0 h 29"/>
                <a:gd name="T2" fmla="*/ 0 w 25"/>
                <a:gd name="T3" fmla="*/ 0 h 29"/>
                <a:gd name="T4" fmla="*/ 0 w 25"/>
                <a:gd name="T5" fmla="*/ 0 h 29"/>
                <a:gd name="T6" fmla="*/ 0 w 25"/>
                <a:gd name="T7" fmla="*/ 0 h 29"/>
                <a:gd name="T8" fmla="*/ 0 w 25"/>
                <a:gd name="T9" fmla="*/ 0 h 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 h="29">
                  <a:moveTo>
                    <a:pt x="25" y="0"/>
                  </a:moveTo>
                  <a:lnTo>
                    <a:pt x="21" y="9"/>
                  </a:lnTo>
                  <a:lnTo>
                    <a:pt x="21" y="17"/>
                  </a:lnTo>
                  <a:lnTo>
                    <a:pt x="0" y="29"/>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6" name="Freeform 169"/>
            <p:cNvSpPr>
              <a:spLocks/>
            </p:cNvSpPr>
            <p:nvPr/>
          </p:nvSpPr>
          <p:spPr bwMode="auto">
            <a:xfrm>
              <a:off x="403" y="1977"/>
              <a:ext cx="16" cy="16"/>
            </a:xfrm>
            <a:custGeom>
              <a:avLst/>
              <a:gdLst>
                <a:gd name="T0" fmla="*/ 0 w 80"/>
                <a:gd name="T1" fmla="*/ 0 h 81"/>
                <a:gd name="T2" fmla="*/ 0 w 80"/>
                <a:gd name="T3" fmla="*/ 0 h 81"/>
                <a:gd name="T4" fmla="*/ 0 w 80"/>
                <a:gd name="T5" fmla="*/ 0 h 81"/>
                <a:gd name="T6" fmla="*/ 0 w 80"/>
                <a:gd name="T7" fmla="*/ 0 h 81"/>
                <a:gd name="T8" fmla="*/ 0 w 80"/>
                <a:gd name="T9" fmla="*/ 0 h 81"/>
                <a:gd name="T10" fmla="*/ 0 w 80"/>
                <a:gd name="T11" fmla="*/ 0 h 81"/>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80" h="81">
                  <a:moveTo>
                    <a:pt x="80" y="0"/>
                  </a:moveTo>
                  <a:lnTo>
                    <a:pt x="66" y="26"/>
                  </a:lnTo>
                  <a:lnTo>
                    <a:pt x="50" y="46"/>
                  </a:lnTo>
                  <a:lnTo>
                    <a:pt x="0" y="81"/>
                  </a:lnTo>
                  <a:lnTo>
                    <a:pt x="47" y="38"/>
                  </a:lnTo>
                  <a:lnTo>
                    <a:pt x="8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7" name="Freeform 170"/>
            <p:cNvSpPr>
              <a:spLocks/>
            </p:cNvSpPr>
            <p:nvPr/>
          </p:nvSpPr>
          <p:spPr bwMode="auto">
            <a:xfrm>
              <a:off x="395" y="2000"/>
              <a:ext cx="4" cy="12"/>
            </a:xfrm>
            <a:custGeom>
              <a:avLst/>
              <a:gdLst>
                <a:gd name="T0" fmla="*/ 0 w 18"/>
                <a:gd name="T1" fmla="*/ 0 h 58"/>
                <a:gd name="T2" fmla="*/ 0 w 18"/>
                <a:gd name="T3" fmla="*/ 0 h 58"/>
                <a:gd name="T4" fmla="*/ 0 w 18"/>
                <a:gd name="T5" fmla="*/ 0 h 58"/>
                <a:gd name="T6" fmla="*/ 0 w 18"/>
                <a:gd name="T7" fmla="*/ 0 h 58"/>
                <a:gd name="T8" fmla="*/ 0 w 18"/>
                <a:gd name="T9" fmla="*/ 0 h 58"/>
                <a:gd name="T10" fmla="*/ 0 w 18"/>
                <a:gd name="T11" fmla="*/ 0 h 58"/>
                <a:gd name="T12" fmla="*/ 0 w 18"/>
                <a:gd name="T13" fmla="*/ 0 h 5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58">
                  <a:moveTo>
                    <a:pt x="0" y="0"/>
                  </a:moveTo>
                  <a:lnTo>
                    <a:pt x="11" y="20"/>
                  </a:lnTo>
                  <a:lnTo>
                    <a:pt x="15" y="41"/>
                  </a:lnTo>
                  <a:lnTo>
                    <a:pt x="16" y="58"/>
                  </a:lnTo>
                  <a:lnTo>
                    <a:pt x="18" y="33"/>
                  </a:lnTo>
                  <a:lnTo>
                    <a:pt x="16"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78" name="Freeform 171"/>
            <p:cNvSpPr>
              <a:spLocks/>
            </p:cNvSpPr>
            <p:nvPr/>
          </p:nvSpPr>
          <p:spPr bwMode="auto">
            <a:xfrm>
              <a:off x="432" y="1988"/>
              <a:ext cx="2" cy="4"/>
            </a:xfrm>
            <a:custGeom>
              <a:avLst/>
              <a:gdLst>
                <a:gd name="T0" fmla="*/ 0 w 9"/>
                <a:gd name="T1" fmla="*/ 0 h 21"/>
                <a:gd name="T2" fmla="*/ 0 w 9"/>
                <a:gd name="T3" fmla="*/ 0 h 21"/>
                <a:gd name="T4" fmla="*/ 0 w 9"/>
                <a:gd name="T5" fmla="*/ 0 h 21"/>
                <a:gd name="T6" fmla="*/ 0 w 9"/>
                <a:gd name="T7" fmla="*/ 0 h 2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21">
                  <a:moveTo>
                    <a:pt x="2" y="0"/>
                  </a:moveTo>
                  <a:lnTo>
                    <a:pt x="0" y="9"/>
                  </a:lnTo>
                  <a:lnTo>
                    <a:pt x="9" y="21"/>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79" name="Group 172"/>
          <p:cNvGrpSpPr>
            <a:grpSpLocks/>
          </p:cNvGrpSpPr>
          <p:nvPr/>
        </p:nvGrpSpPr>
        <p:grpSpPr bwMode="auto">
          <a:xfrm>
            <a:off x="1815539" y="3210895"/>
            <a:ext cx="230517" cy="243448"/>
            <a:chOff x="162" y="1828"/>
            <a:chExt cx="229" cy="262"/>
          </a:xfrm>
        </p:grpSpPr>
        <p:sp>
          <p:nvSpPr>
            <p:cNvPr id="180" name="Freeform 173"/>
            <p:cNvSpPr>
              <a:spLocks/>
            </p:cNvSpPr>
            <p:nvPr/>
          </p:nvSpPr>
          <p:spPr bwMode="auto">
            <a:xfrm>
              <a:off x="286" y="1828"/>
              <a:ext cx="7" cy="5"/>
            </a:xfrm>
            <a:custGeom>
              <a:avLst/>
              <a:gdLst>
                <a:gd name="T0" fmla="*/ 0 w 37"/>
                <a:gd name="T1" fmla="*/ 0 h 25"/>
                <a:gd name="T2" fmla="*/ 0 w 37"/>
                <a:gd name="T3" fmla="*/ 0 h 25"/>
                <a:gd name="T4" fmla="*/ 0 w 37"/>
                <a:gd name="T5" fmla="*/ 0 h 25"/>
                <a:gd name="T6" fmla="*/ 0 w 37"/>
                <a:gd name="T7" fmla="*/ 0 h 25"/>
                <a:gd name="T8" fmla="*/ 0 w 37"/>
                <a:gd name="T9" fmla="*/ 0 h 25"/>
                <a:gd name="T10" fmla="*/ 0 w 37"/>
                <a:gd name="T11" fmla="*/ 0 h 25"/>
                <a:gd name="T12" fmla="*/ 0 w 37"/>
                <a:gd name="T13" fmla="*/ 0 h 25"/>
                <a:gd name="T14" fmla="*/ 0 w 37"/>
                <a:gd name="T15" fmla="*/ 0 h 2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7" h="25">
                  <a:moveTo>
                    <a:pt x="37" y="0"/>
                  </a:moveTo>
                  <a:lnTo>
                    <a:pt x="26" y="7"/>
                  </a:lnTo>
                  <a:lnTo>
                    <a:pt x="16" y="10"/>
                  </a:lnTo>
                  <a:lnTo>
                    <a:pt x="6" y="16"/>
                  </a:lnTo>
                  <a:lnTo>
                    <a:pt x="0" y="25"/>
                  </a:lnTo>
                  <a:lnTo>
                    <a:pt x="9" y="22"/>
                  </a:lnTo>
                  <a:lnTo>
                    <a:pt x="26" y="17"/>
                  </a:lnTo>
                  <a:lnTo>
                    <a:pt x="3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1" name="Freeform 174"/>
            <p:cNvSpPr>
              <a:spLocks/>
            </p:cNvSpPr>
            <p:nvPr/>
          </p:nvSpPr>
          <p:spPr bwMode="auto">
            <a:xfrm>
              <a:off x="289" y="1837"/>
              <a:ext cx="2" cy="3"/>
            </a:xfrm>
            <a:custGeom>
              <a:avLst/>
              <a:gdLst>
                <a:gd name="T0" fmla="*/ 0 w 9"/>
                <a:gd name="T1" fmla="*/ 0 h 16"/>
                <a:gd name="T2" fmla="*/ 0 w 9"/>
                <a:gd name="T3" fmla="*/ 0 h 16"/>
                <a:gd name="T4" fmla="*/ 0 w 9"/>
                <a:gd name="T5" fmla="*/ 0 h 16"/>
                <a:gd name="T6" fmla="*/ 0 w 9"/>
                <a:gd name="T7" fmla="*/ 0 h 1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6">
                  <a:moveTo>
                    <a:pt x="9" y="0"/>
                  </a:moveTo>
                  <a:lnTo>
                    <a:pt x="0" y="0"/>
                  </a:lnTo>
                  <a:lnTo>
                    <a:pt x="0" y="16"/>
                  </a:lnTo>
                  <a:lnTo>
                    <a:pt x="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2" name="Freeform 175"/>
            <p:cNvSpPr>
              <a:spLocks/>
            </p:cNvSpPr>
            <p:nvPr/>
          </p:nvSpPr>
          <p:spPr bwMode="auto">
            <a:xfrm>
              <a:off x="260" y="1863"/>
              <a:ext cx="62" cy="154"/>
            </a:xfrm>
            <a:custGeom>
              <a:avLst/>
              <a:gdLst>
                <a:gd name="T0" fmla="*/ 0 w 309"/>
                <a:gd name="T1" fmla="*/ 0 h 772"/>
                <a:gd name="T2" fmla="*/ 0 w 309"/>
                <a:gd name="T3" fmla="*/ 0 h 772"/>
                <a:gd name="T4" fmla="*/ 0 w 309"/>
                <a:gd name="T5" fmla="*/ 0 h 772"/>
                <a:gd name="T6" fmla="*/ 0 w 309"/>
                <a:gd name="T7" fmla="*/ 0 h 772"/>
                <a:gd name="T8" fmla="*/ 0 w 309"/>
                <a:gd name="T9" fmla="*/ 0 h 772"/>
                <a:gd name="T10" fmla="*/ 0 w 309"/>
                <a:gd name="T11" fmla="*/ 0 h 772"/>
                <a:gd name="T12" fmla="*/ 0 w 309"/>
                <a:gd name="T13" fmla="*/ 0 h 772"/>
                <a:gd name="T14" fmla="*/ 0 w 309"/>
                <a:gd name="T15" fmla="*/ 0 h 772"/>
                <a:gd name="T16" fmla="*/ 0 w 309"/>
                <a:gd name="T17" fmla="*/ 0 h 772"/>
                <a:gd name="T18" fmla="*/ 0 w 309"/>
                <a:gd name="T19" fmla="*/ 0 h 77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309" h="772">
                  <a:moveTo>
                    <a:pt x="46" y="0"/>
                  </a:moveTo>
                  <a:lnTo>
                    <a:pt x="75" y="32"/>
                  </a:lnTo>
                  <a:lnTo>
                    <a:pt x="84" y="78"/>
                  </a:lnTo>
                  <a:lnTo>
                    <a:pt x="127" y="122"/>
                  </a:lnTo>
                  <a:lnTo>
                    <a:pt x="218" y="330"/>
                  </a:lnTo>
                  <a:lnTo>
                    <a:pt x="269" y="519"/>
                  </a:lnTo>
                  <a:lnTo>
                    <a:pt x="309" y="772"/>
                  </a:lnTo>
                  <a:lnTo>
                    <a:pt x="182" y="659"/>
                  </a:lnTo>
                  <a:lnTo>
                    <a:pt x="0" y="100"/>
                  </a:lnTo>
                  <a:lnTo>
                    <a:pt x="46" y="0"/>
                  </a:lnTo>
                  <a:close/>
                </a:path>
              </a:pathLst>
            </a:custGeom>
            <a:solidFill>
              <a:srgbClr val="40000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3" name="Freeform 176"/>
            <p:cNvSpPr>
              <a:spLocks/>
            </p:cNvSpPr>
            <p:nvPr/>
          </p:nvSpPr>
          <p:spPr bwMode="auto">
            <a:xfrm>
              <a:off x="162" y="1833"/>
              <a:ext cx="229" cy="257"/>
            </a:xfrm>
            <a:custGeom>
              <a:avLst/>
              <a:gdLst>
                <a:gd name="T0" fmla="*/ 0 w 1147"/>
                <a:gd name="T1" fmla="*/ 0 h 1285"/>
                <a:gd name="T2" fmla="*/ 0 w 1147"/>
                <a:gd name="T3" fmla="*/ 0 h 1285"/>
                <a:gd name="T4" fmla="*/ 0 w 1147"/>
                <a:gd name="T5" fmla="*/ 0 h 1285"/>
                <a:gd name="T6" fmla="*/ 0 w 1147"/>
                <a:gd name="T7" fmla="*/ 0 h 1285"/>
                <a:gd name="T8" fmla="*/ 0 w 1147"/>
                <a:gd name="T9" fmla="*/ 0 h 1285"/>
                <a:gd name="T10" fmla="*/ 0 w 1147"/>
                <a:gd name="T11" fmla="*/ 0 h 1285"/>
                <a:gd name="T12" fmla="*/ 0 w 1147"/>
                <a:gd name="T13" fmla="*/ 0 h 1285"/>
                <a:gd name="T14" fmla="*/ 0 w 1147"/>
                <a:gd name="T15" fmla="*/ 0 h 1285"/>
                <a:gd name="T16" fmla="*/ 0 w 1147"/>
                <a:gd name="T17" fmla="*/ 0 h 1285"/>
                <a:gd name="T18" fmla="*/ 0 w 1147"/>
                <a:gd name="T19" fmla="*/ 0 h 1285"/>
                <a:gd name="T20" fmla="*/ 0 w 1147"/>
                <a:gd name="T21" fmla="*/ 0 h 1285"/>
                <a:gd name="T22" fmla="*/ 0 w 1147"/>
                <a:gd name="T23" fmla="*/ 0 h 1285"/>
                <a:gd name="T24" fmla="*/ 0 w 1147"/>
                <a:gd name="T25" fmla="*/ 0 h 1285"/>
                <a:gd name="T26" fmla="*/ 0 w 1147"/>
                <a:gd name="T27" fmla="*/ 0 h 1285"/>
                <a:gd name="T28" fmla="*/ 0 w 1147"/>
                <a:gd name="T29" fmla="*/ 0 h 1285"/>
                <a:gd name="T30" fmla="*/ 0 w 1147"/>
                <a:gd name="T31" fmla="*/ 0 h 1285"/>
                <a:gd name="T32" fmla="*/ 0 w 1147"/>
                <a:gd name="T33" fmla="*/ 0 h 1285"/>
                <a:gd name="T34" fmla="*/ 0 w 1147"/>
                <a:gd name="T35" fmla="*/ 0 h 1285"/>
                <a:gd name="T36" fmla="*/ 0 w 1147"/>
                <a:gd name="T37" fmla="*/ 0 h 1285"/>
                <a:gd name="T38" fmla="*/ 0 w 1147"/>
                <a:gd name="T39" fmla="*/ 0 h 1285"/>
                <a:gd name="T40" fmla="*/ 0 w 1147"/>
                <a:gd name="T41" fmla="*/ 0 h 1285"/>
                <a:gd name="T42" fmla="*/ 0 w 1147"/>
                <a:gd name="T43" fmla="*/ 0 h 1285"/>
                <a:gd name="T44" fmla="*/ 0 w 1147"/>
                <a:gd name="T45" fmla="*/ 0 h 1285"/>
                <a:gd name="T46" fmla="*/ 0 w 1147"/>
                <a:gd name="T47" fmla="*/ 0 h 1285"/>
                <a:gd name="T48" fmla="*/ 0 w 1147"/>
                <a:gd name="T49" fmla="*/ 0 h 1285"/>
                <a:gd name="T50" fmla="*/ 0 w 1147"/>
                <a:gd name="T51" fmla="*/ 0 h 1285"/>
                <a:gd name="T52" fmla="*/ 0 w 1147"/>
                <a:gd name="T53" fmla="*/ 0 h 1285"/>
                <a:gd name="T54" fmla="*/ 0 w 1147"/>
                <a:gd name="T55" fmla="*/ 0 h 1285"/>
                <a:gd name="T56" fmla="*/ 0 w 1147"/>
                <a:gd name="T57" fmla="*/ 0 h 1285"/>
                <a:gd name="T58" fmla="*/ 0 w 1147"/>
                <a:gd name="T59" fmla="*/ 0 h 1285"/>
                <a:gd name="T60" fmla="*/ 0 w 1147"/>
                <a:gd name="T61" fmla="*/ 0 h 1285"/>
                <a:gd name="T62" fmla="*/ 0 w 1147"/>
                <a:gd name="T63" fmla="*/ 0 h 1285"/>
                <a:gd name="T64" fmla="*/ 0 w 1147"/>
                <a:gd name="T65" fmla="*/ 0 h 1285"/>
                <a:gd name="T66" fmla="*/ 0 w 1147"/>
                <a:gd name="T67" fmla="*/ 0 h 1285"/>
                <a:gd name="T68" fmla="*/ 0 w 1147"/>
                <a:gd name="T69" fmla="*/ 0 h 1285"/>
                <a:gd name="T70" fmla="*/ 0 w 1147"/>
                <a:gd name="T71" fmla="*/ 0 h 1285"/>
                <a:gd name="T72" fmla="*/ 0 w 1147"/>
                <a:gd name="T73" fmla="*/ 0 h 1285"/>
                <a:gd name="T74" fmla="*/ 0 w 1147"/>
                <a:gd name="T75" fmla="*/ 0 h 1285"/>
                <a:gd name="T76" fmla="*/ 0 w 1147"/>
                <a:gd name="T77" fmla="*/ 0 h 1285"/>
                <a:gd name="T78" fmla="*/ 0 w 1147"/>
                <a:gd name="T79" fmla="*/ 0 h 1285"/>
                <a:gd name="T80" fmla="*/ 0 w 1147"/>
                <a:gd name="T81" fmla="*/ 0 h 1285"/>
                <a:gd name="T82" fmla="*/ 0 w 1147"/>
                <a:gd name="T83" fmla="*/ 0 h 1285"/>
                <a:gd name="T84" fmla="*/ 0 w 1147"/>
                <a:gd name="T85" fmla="*/ 0 h 1285"/>
                <a:gd name="T86" fmla="*/ 0 w 1147"/>
                <a:gd name="T87" fmla="*/ 0 h 1285"/>
                <a:gd name="T88" fmla="*/ 0 w 1147"/>
                <a:gd name="T89" fmla="*/ 0 h 1285"/>
                <a:gd name="T90" fmla="*/ 0 w 1147"/>
                <a:gd name="T91" fmla="*/ 0 h 1285"/>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147" h="1285">
                  <a:moveTo>
                    <a:pt x="212" y="67"/>
                  </a:moveTo>
                  <a:lnTo>
                    <a:pt x="247" y="0"/>
                  </a:lnTo>
                  <a:lnTo>
                    <a:pt x="528" y="116"/>
                  </a:lnTo>
                  <a:lnTo>
                    <a:pt x="541" y="206"/>
                  </a:lnTo>
                  <a:lnTo>
                    <a:pt x="563" y="238"/>
                  </a:lnTo>
                  <a:lnTo>
                    <a:pt x="595" y="274"/>
                  </a:lnTo>
                  <a:lnTo>
                    <a:pt x="614" y="339"/>
                  </a:lnTo>
                  <a:lnTo>
                    <a:pt x="676" y="487"/>
                  </a:lnTo>
                  <a:lnTo>
                    <a:pt x="727" y="663"/>
                  </a:lnTo>
                  <a:lnTo>
                    <a:pt x="748" y="780"/>
                  </a:lnTo>
                  <a:lnTo>
                    <a:pt x="974" y="785"/>
                  </a:lnTo>
                  <a:lnTo>
                    <a:pt x="1011" y="807"/>
                  </a:lnTo>
                  <a:lnTo>
                    <a:pt x="1115" y="807"/>
                  </a:lnTo>
                  <a:lnTo>
                    <a:pt x="1143" y="853"/>
                  </a:lnTo>
                  <a:lnTo>
                    <a:pt x="1147" y="907"/>
                  </a:lnTo>
                  <a:lnTo>
                    <a:pt x="1137" y="956"/>
                  </a:lnTo>
                  <a:lnTo>
                    <a:pt x="1042" y="974"/>
                  </a:lnTo>
                  <a:lnTo>
                    <a:pt x="997" y="1041"/>
                  </a:lnTo>
                  <a:lnTo>
                    <a:pt x="907" y="1064"/>
                  </a:lnTo>
                  <a:lnTo>
                    <a:pt x="840" y="1064"/>
                  </a:lnTo>
                  <a:lnTo>
                    <a:pt x="763" y="1079"/>
                  </a:lnTo>
                  <a:lnTo>
                    <a:pt x="759" y="1110"/>
                  </a:lnTo>
                  <a:lnTo>
                    <a:pt x="763" y="1177"/>
                  </a:lnTo>
                  <a:lnTo>
                    <a:pt x="754" y="1223"/>
                  </a:lnTo>
                  <a:lnTo>
                    <a:pt x="713" y="1227"/>
                  </a:lnTo>
                  <a:lnTo>
                    <a:pt x="663" y="1236"/>
                  </a:lnTo>
                  <a:lnTo>
                    <a:pt x="614" y="1282"/>
                  </a:lnTo>
                  <a:lnTo>
                    <a:pt x="554" y="1282"/>
                  </a:lnTo>
                  <a:lnTo>
                    <a:pt x="501" y="1276"/>
                  </a:lnTo>
                  <a:lnTo>
                    <a:pt x="420" y="1250"/>
                  </a:lnTo>
                  <a:lnTo>
                    <a:pt x="330" y="1259"/>
                  </a:lnTo>
                  <a:lnTo>
                    <a:pt x="238" y="1285"/>
                  </a:lnTo>
                  <a:lnTo>
                    <a:pt x="153" y="1267"/>
                  </a:lnTo>
                  <a:lnTo>
                    <a:pt x="95" y="1200"/>
                  </a:lnTo>
                  <a:lnTo>
                    <a:pt x="99" y="1128"/>
                  </a:lnTo>
                  <a:lnTo>
                    <a:pt x="76" y="1038"/>
                  </a:lnTo>
                  <a:lnTo>
                    <a:pt x="64" y="920"/>
                  </a:lnTo>
                  <a:lnTo>
                    <a:pt x="36" y="812"/>
                  </a:lnTo>
                  <a:lnTo>
                    <a:pt x="0" y="650"/>
                  </a:lnTo>
                  <a:lnTo>
                    <a:pt x="4" y="487"/>
                  </a:lnTo>
                  <a:lnTo>
                    <a:pt x="4" y="342"/>
                  </a:lnTo>
                  <a:lnTo>
                    <a:pt x="14" y="243"/>
                  </a:lnTo>
                  <a:lnTo>
                    <a:pt x="36" y="198"/>
                  </a:lnTo>
                  <a:lnTo>
                    <a:pt x="87" y="162"/>
                  </a:lnTo>
                  <a:lnTo>
                    <a:pt x="145" y="102"/>
                  </a:lnTo>
                  <a:lnTo>
                    <a:pt x="212" y="67"/>
                  </a:lnTo>
                  <a:close/>
                </a:path>
              </a:pathLst>
            </a:custGeom>
            <a:solidFill>
              <a:srgbClr val="C0C0C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4" name="Freeform 177"/>
            <p:cNvSpPr>
              <a:spLocks/>
            </p:cNvSpPr>
            <p:nvPr/>
          </p:nvSpPr>
          <p:spPr bwMode="auto">
            <a:xfrm>
              <a:off x="166" y="1848"/>
              <a:ext cx="145" cy="240"/>
            </a:xfrm>
            <a:custGeom>
              <a:avLst/>
              <a:gdLst>
                <a:gd name="T0" fmla="*/ 0 w 725"/>
                <a:gd name="T1" fmla="*/ 0 h 1198"/>
                <a:gd name="T2" fmla="*/ 0 w 725"/>
                <a:gd name="T3" fmla="*/ 0 h 1198"/>
                <a:gd name="T4" fmla="*/ 0 w 725"/>
                <a:gd name="T5" fmla="*/ 0 h 1198"/>
                <a:gd name="T6" fmla="*/ 0 w 725"/>
                <a:gd name="T7" fmla="*/ 0 h 1198"/>
                <a:gd name="T8" fmla="*/ 0 w 725"/>
                <a:gd name="T9" fmla="*/ 0 h 1198"/>
                <a:gd name="T10" fmla="*/ 0 w 725"/>
                <a:gd name="T11" fmla="*/ 0 h 1198"/>
                <a:gd name="T12" fmla="*/ 0 w 725"/>
                <a:gd name="T13" fmla="*/ 0 h 1198"/>
                <a:gd name="T14" fmla="*/ 0 w 725"/>
                <a:gd name="T15" fmla="*/ 0 h 1198"/>
                <a:gd name="T16" fmla="*/ 0 w 725"/>
                <a:gd name="T17" fmla="*/ 0 h 1198"/>
                <a:gd name="T18" fmla="*/ 0 w 725"/>
                <a:gd name="T19" fmla="*/ 0 h 1198"/>
                <a:gd name="T20" fmla="*/ 0 w 725"/>
                <a:gd name="T21" fmla="*/ 0 h 1198"/>
                <a:gd name="T22" fmla="*/ 0 w 725"/>
                <a:gd name="T23" fmla="*/ 0 h 1198"/>
                <a:gd name="T24" fmla="*/ 0 w 725"/>
                <a:gd name="T25" fmla="*/ 0 h 1198"/>
                <a:gd name="T26" fmla="*/ 0 w 725"/>
                <a:gd name="T27" fmla="*/ 0 h 1198"/>
                <a:gd name="T28" fmla="*/ 0 w 725"/>
                <a:gd name="T29" fmla="*/ 0 h 1198"/>
                <a:gd name="T30" fmla="*/ 0 w 725"/>
                <a:gd name="T31" fmla="*/ 0 h 1198"/>
                <a:gd name="T32" fmla="*/ 0 w 725"/>
                <a:gd name="T33" fmla="*/ 0 h 1198"/>
                <a:gd name="T34" fmla="*/ 0 w 725"/>
                <a:gd name="T35" fmla="*/ 0 h 1198"/>
                <a:gd name="T36" fmla="*/ 0 w 725"/>
                <a:gd name="T37" fmla="*/ 0 h 1198"/>
                <a:gd name="T38" fmla="*/ 0 w 725"/>
                <a:gd name="T39" fmla="*/ 0 h 1198"/>
                <a:gd name="T40" fmla="*/ 0 w 725"/>
                <a:gd name="T41" fmla="*/ 0 h 1198"/>
                <a:gd name="T42" fmla="*/ 0 w 725"/>
                <a:gd name="T43" fmla="*/ 0 h 1198"/>
                <a:gd name="T44" fmla="*/ 0 w 725"/>
                <a:gd name="T45" fmla="*/ 0 h 1198"/>
                <a:gd name="T46" fmla="*/ 0 w 725"/>
                <a:gd name="T47" fmla="*/ 0 h 1198"/>
                <a:gd name="T48" fmla="*/ 0 w 725"/>
                <a:gd name="T49" fmla="*/ 0 h 1198"/>
                <a:gd name="T50" fmla="*/ 0 w 725"/>
                <a:gd name="T51" fmla="*/ 0 h 1198"/>
                <a:gd name="T52" fmla="*/ 0 w 725"/>
                <a:gd name="T53" fmla="*/ 0 h 1198"/>
                <a:gd name="T54" fmla="*/ 0 w 725"/>
                <a:gd name="T55" fmla="*/ 0 h 1198"/>
                <a:gd name="T56" fmla="*/ 0 w 725"/>
                <a:gd name="T57" fmla="*/ 0 h 1198"/>
                <a:gd name="T58" fmla="*/ 0 w 725"/>
                <a:gd name="T59" fmla="*/ 0 h 1198"/>
                <a:gd name="T60" fmla="*/ 0 w 725"/>
                <a:gd name="T61" fmla="*/ 0 h 1198"/>
                <a:gd name="T62" fmla="*/ 0 w 725"/>
                <a:gd name="T63" fmla="*/ 0 h 1198"/>
                <a:gd name="T64" fmla="*/ 0 w 725"/>
                <a:gd name="T65" fmla="*/ 0 h 1198"/>
                <a:gd name="T66" fmla="*/ 0 w 725"/>
                <a:gd name="T67" fmla="*/ 0 h 1198"/>
                <a:gd name="T68" fmla="*/ 0 w 725"/>
                <a:gd name="T69" fmla="*/ 0 h 1198"/>
                <a:gd name="T70" fmla="*/ 0 w 725"/>
                <a:gd name="T71" fmla="*/ 0 h 1198"/>
                <a:gd name="T72" fmla="*/ 0 w 725"/>
                <a:gd name="T73" fmla="*/ 0 h 1198"/>
                <a:gd name="T74" fmla="*/ 0 w 725"/>
                <a:gd name="T75" fmla="*/ 0 h 1198"/>
                <a:gd name="T76" fmla="*/ 0 w 725"/>
                <a:gd name="T77" fmla="*/ 0 h 119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725" h="1198">
                  <a:moveTo>
                    <a:pt x="725" y="1005"/>
                  </a:moveTo>
                  <a:lnTo>
                    <a:pt x="630" y="990"/>
                  </a:lnTo>
                  <a:lnTo>
                    <a:pt x="549" y="986"/>
                  </a:lnTo>
                  <a:lnTo>
                    <a:pt x="460" y="978"/>
                  </a:lnTo>
                  <a:lnTo>
                    <a:pt x="359" y="963"/>
                  </a:lnTo>
                  <a:lnTo>
                    <a:pt x="314" y="932"/>
                  </a:lnTo>
                  <a:lnTo>
                    <a:pt x="193" y="780"/>
                  </a:lnTo>
                  <a:lnTo>
                    <a:pt x="256" y="825"/>
                  </a:lnTo>
                  <a:lnTo>
                    <a:pt x="297" y="861"/>
                  </a:lnTo>
                  <a:lnTo>
                    <a:pt x="274" y="753"/>
                  </a:lnTo>
                  <a:lnTo>
                    <a:pt x="228" y="712"/>
                  </a:lnTo>
                  <a:lnTo>
                    <a:pt x="162" y="600"/>
                  </a:lnTo>
                  <a:lnTo>
                    <a:pt x="225" y="653"/>
                  </a:lnTo>
                  <a:lnTo>
                    <a:pt x="266" y="668"/>
                  </a:lnTo>
                  <a:lnTo>
                    <a:pt x="256" y="590"/>
                  </a:lnTo>
                  <a:lnTo>
                    <a:pt x="211" y="532"/>
                  </a:lnTo>
                  <a:lnTo>
                    <a:pt x="167" y="487"/>
                  </a:lnTo>
                  <a:lnTo>
                    <a:pt x="121" y="355"/>
                  </a:lnTo>
                  <a:lnTo>
                    <a:pt x="207" y="464"/>
                  </a:lnTo>
                  <a:lnTo>
                    <a:pt x="256" y="504"/>
                  </a:lnTo>
                  <a:lnTo>
                    <a:pt x="261" y="337"/>
                  </a:lnTo>
                  <a:lnTo>
                    <a:pt x="274" y="271"/>
                  </a:lnTo>
                  <a:lnTo>
                    <a:pt x="301" y="240"/>
                  </a:lnTo>
                  <a:lnTo>
                    <a:pt x="341" y="190"/>
                  </a:lnTo>
                  <a:lnTo>
                    <a:pt x="405" y="167"/>
                  </a:lnTo>
                  <a:lnTo>
                    <a:pt x="437" y="153"/>
                  </a:lnTo>
                  <a:lnTo>
                    <a:pt x="347" y="68"/>
                  </a:lnTo>
                  <a:lnTo>
                    <a:pt x="251" y="90"/>
                  </a:lnTo>
                  <a:lnTo>
                    <a:pt x="188" y="127"/>
                  </a:lnTo>
                  <a:lnTo>
                    <a:pt x="167" y="162"/>
                  </a:lnTo>
                  <a:lnTo>
                    <a:pt x="184" y="107"/>
                  </a:lnTo>
                  <a:lnTo>
                    <a:pt x="220" y="90"/>
                  </a:lnTo>
                  <a:lnTo>
                    <a:pt x="278" y="68"/>
                  </a:lnTo>
                  <a:lnTo>
                    <a:pt x="324" y="60"/>
                  </a:lnTo>
                  <a:lnTo>
                    <a:pt x="297" y="45"/>
                  </a:lnTo>
                  <a:lnTo>
                    <a:pt x="251" y="32"/>
                  </a:lnTo>
                  <a:lnTo>
                    <a:pt x="211" y="17"/>
                  </a:lnTo>
                  <a:lnTo>
                    <a:pt x="188" y="0"/>
                  </a:lnTo>
                  <a:lnTo>
                    <a:pt x="136" y="37"/>
                  </a:lnTo>
                  <a:lnTo>
                    <a:pt x="104" y="68"/>
                  </a:lnTo>
                  <a:lnTo>
                    <a:pt x="73" y="107"/>
                  </a:lnTo>
                  <a:lnTo>
                    <a:pt x="27" y="130"/>
                  </a:lnTo>
                  <a:lnTo>
                    <a:pt x="18" y="172"/>
                  </a:lnTo>
                  <a:lnTo>
                    <a:pt x="0" y="240"/>
                  </a:lnTo>
                  <a:lnTo>
                    <a:pt x="0" y="342"/>
                  </a:lnTo>
                  <a:lnTo>
                    <a:pt x="5" y="450"/>
                  </a:lnTo>
                  <a:lnTo>
                    <a:pt x="8" y="573"/>
                  </a:lnTo>
                  <a:lnTo>
                    <a:pt x="31" y="698"/>
                  </a:lnTo>
                  <a:lnTo>
                    <a:pt x="58" y="830"/>
                  </a:lnTo>
                  <a:lnTo>
                    <a:pt x="73" y="941"/>
                  </a:lnTo>
                  <a:lnTo>
                    <a:pt x="95" y="1022"/>
                  </a:lnTo>
                  <a:lnTo>
                    <a:pt x="90" y="1095"/>
                  </a:lnTo>
                  <a:lnTo>
                    <a:pt x="99" y="1135"/>
                  </a:lnTo>
                  <a:lnTo>
                    <a:pt x="131" y="1166"/>
                  </a:lnTo>
                  <a:lnTo>
                    <a:pt x="171" y="1193"/>
                  </a:lnTo>
                  <a:lnTo>
                    <a:pt x="225" y="1198"/>
                  </a:lnTo>
                  <a:lnTo>
                    <a:pt x="251" y="1185"/>
                  </a:lnTo>
                  <a:lnTo>
                    <a:pt x="288" y="1181"/>
                  </a:lnTo>
                  <a:lnTo>
                    <a:pt x="374" y="1163"/>
                  </a:lnTo>
                  <a:lnTo>
                    <a:pt x="337" y="1118"/>
                  </a:lnTo>
                  <a:lnTo>
                    <a:pt x="297" y="1053"/>
                  </a:lnTo>
                  <a:lnTo>
                    <a:pt x="356" y="1099"/>
                  </a:lnTo>
                  <a:lnTo>
                    <a:pt x="401" y="1140"/>
                  </a:lnTo>
                  <a:lnTo>
                    <a:pt x="433" y="1163"/>
                  </a:lnTo>
                  <a:lnTo>
                    <a:pt x="477" y="1185"/>
                  </a:lnTo>
                  <a:lnTo>
                    <a:pt x="527" y="1185"/>
                  </a:lnTo>
                  <a:lnTo>
                    <a:pt x="575" y="1185"/>
                  </a:lnTo>
                  <a:lnTo>
                    <a:pt x="603" y="1172"/>
                  </a:lnTo>
                  <a:lnTo>
                    <a:pt x="616" y="1158"/>
                  </a:lnTo>
                  <a:lnTo>
                    <a:pt x="553" y="1122"/>
                  </a:lnTo>
                  <a:lnTo>
                    <a:pt x="491" y="1063"/>
                  </a:lnTo>
                  <a:lnTo>
                    <a:pt x="472" y="1036"/>
                  </a:lnTo>
                  <a:lnTo>
                    <a:pt x="523" y="1050"/>
                  </a:lnTo>
                  <a:lnTo>
                    <a:pt x="598" y="1108"/>
                  </a:lnTo>
                  <a:lnTo>
                    <a:pt x="630" y="1135"/>
                  </a:lnTo>
                  <a:lnTo>
                    <a:pt x="702" y="1140"/>
                  </a:lnTo>
                  <a:lnTo>
                    <a:pt x="725" y="1126"/>
                  </a:lnTo>
                  <a:lnTo>
                    <a:pt x="725" y="1095"/>
                  </a:lnTo>
                  <a:lnTo>
                    <a:pt x="725" y="1005"/>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5" name="Freeform 178"/>
            <p:cNvSpPr>
              <a:spLocks/>
            </p:cNvSpPr>
            <p:nvPr/>
          </p:nvSpPr>
          <p:spPr bwMode="auto">
            <a:xfrm>
              <a:off x="176" y="1968"/>
              <a:ext cx="43" cy="110"/>
            </a:xfrm>
            <a:custGeom>
              <a:avLst/>
              <a:gdLst>
                <a:gd name="T0" fmla="*/ 0 w 211"/>
                <a:gd name="T1" fmla="*/ 0 h 553"/>
                <a:gd name="T2" fmla="*/ 0 w 211"/>
                <a:gd name="T3" fmla="*/ 0 h 553"/>
                <a:gd name="T4" fmla="*/ 0 w 211"/>
                <a:gd name="T5" fmla="*/ 0 h 553"/>
                <a:gd name="T6" fmla="*/ 0 w 211"/>
                <a:gd name="T7" fmla="*/ 0 h 553"/>
                <a:gd name="T8" fmla="*/ 0 w 211"/>
                <a:gd name="T9" fmla="*/ 0 h 553"/>
                <a:gd name="T10" fmla="*/ 0 w 211"/>
                <a:gd name="T11" fmla="*/ 0 h 553"/>
                <a:gd name="T12" fmla="*/ 0 w 211"/>
                <a:gd name="T13" fmla="*/ 0 h 553"/>
                <a:gd name="T14" fmla="*/ 0 w 211"/>
                <a:gd name="T15" fmla="*/ 0 h 553"/>
                <a:gd name="T16" fmla="*/ 0 w 211"/>
                <a:gd name="T17" fmla="*/ 0 h 553"/>
                <a:gd name="T18" fmla="*/ 0 w 211"/>
                <a:gd name="T19" fmla="*/ 0 h 553"/>
                <a:gd name="T20" fmla="*/ 0 w 211"/>
                <a:gd name="T21" fmla="*/ 0 h 553"/>
                <a:gd name="T22" fmla="*/ 0 w 211"/>
                <a:gd name="T23" fmla="*/ 0 h 553"/>
                <a:gd name="T24" fmla="*/ 0 w 211"/>
                <a:gd name="T25" fmla="*/ 0 h 553"/>
                <a:gd name="T26" fmla="*/ 0 w 211"/>
                <a:gd name="T27" fmla="*/ 0 h 553"/>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11" h="553">
                  <a:moveTo>
                    <a:pt x="211" y="553"/>
                  </a:moveTo>
                  <a:lnTo>
                    <a:pt x="173" y="535"/>
                  </a:lnTo>
                  <a:lnTo>
                    <a:pt x="134" y="490"/>
                  </a:lnTo>
                  <a:lnTo>
                    <a:pt x="99" y="410"/>
                  </a:lnTo>
                  <a:lnTo>
                    <a:pt x="81" y="342"/>
                  </a:lnTo>
                  <a:lnTo>
                    <a:pt x="53" y="265"/>
                  </a:lnTo>
                  <a:lnTo>
                    <a:pt x="41" y="192"/>
                  </a:lnTo>
                  <a:lnTo>
                    <a:pt x="19" y="81"/>
                  </a:lnTo>
                  <a:lnTo>
                    <a:pt x="0" y="0"/>
                  </a:lnTo>
                  <a:lnTo>
                    <a:pt x="45" y="162"/>
                  </a:lnTo>
                  <a:lnTo>
                    <a:pt x="81" y="287"/>
                  </a:lnTo>
                  <a:lnTo>
                    <a:pt x="121" y="373"/>
                  </a:lnTo>
                  <a:lnTo>
                    <a:pt x="183" y="463"/>
                  </a:lnTo>
                  <a:lnTo>
                    <a:pt x="211" y="55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6" name="Freeform 179"/>
            <p:cNvSpPr>
              <a:spLocks/>
            </p:cNvSpPr>
            <p:nvPr/>
          </p:nvSpPr>
          <p:spPr bwMode="auto">
            <a:xfrm>
              <a:off x="220" y="1878"/>
              <a:ext cx="167" cy="167"/>
            </a:xfrm>
            <a:custGeom>
              <a:avLst/>
              <a:gdLst>
                <a:gd name="T0" fmla="*/ 0 w 838"/>
                <a:gd name="T1" fmla="*/ 0 h 832"/>
                <a:gd name="T2" fmla="*/ 0 w 838"/>
                <a:gd name="T3" fmla="*/ 0 h 832"/>
                <a:gd name="T4" fmla="*/ 0 w 838"/>
                <a:gd name="T5" fmla="*/ 0 h 832"/>
                <a:gd name="T6" fmla="*/ 0 w 838"/>
                <a:gd name="T7" fmla="*/ 0 h 832"/>
                <a:gd name="T8" fmla="*/ 0 w 838"/>
                <a:gd name="T9" fmla="*/ 0 h 832"/>
                <a:gd name="T10" fmla="*/ 0 w 838"/>
                <a:gd name="T11" fmla="*/ 0 h 832"/>
                <a:gd name="T12" fmla="*/ 0 w 838"/>
                <a:gd name="T13" fmla="*/ 0 h 832"/>
                <a:gd name="T14" fmla="*/ 0 w 838"/>
                <a:gd name="T15" fmla="*/ 0 h 832"/>
                <a:gd name="T16" fmla="*/ 0 w 838"/>
                <a:gd name="T17" fmla="*/ 0 h 832"/>
                <a:gd name="T18" fmla="*/ 0 w 838"/>
                <a:gd name="T19" fmla="*/ 0 h 832"/>
                <a:gd name="T20" fmla="*/ 0 w 838"/>
                <a:gd name="T21" fmla="*/ 0 h 832"/>
                <a:gd name="T22" fmla="*/ 0 w 838"/>
                <a:gd name="T23" fmla="*/ 0 h 832"/>
                <a:gd name="T24" fmla="*/ 0 w 838"/>
                <a:gd name="T25" fmla="*/ 0 h 832"/>
                <a:gd name="T26" fmla="*/ 0 w 838"/>
                <a:gd name="T27" fmla="*/ 0 h 832"/>
                <a:gd name="T28" fmla="*/ 0 w 838"/>
                <a:gd name="T29" fmla="*/ 0 h 832"/>
                <a:gd name="T30" fmla="*/ 0 w 838"/>
                <a:gd name="T31" fmla="*/ 0 h 832"/>
                <a:gd name="T32" fmla="*/ 0 w 838"/>
                <a:gd name="T33" fmla="*/ 0 h 832"/>
                <a:gd name="T34" fmla="*/ 0 w 838"/>
                <a:gd name="T35" fmla="*/ 0 h 832"/>
                <a:gd name="T36" fmla="*/ 0 w 838"/>
                <a:gd name="T37" fmla="*/ 0 h 832"/>
                <a:gd name="T38" fmla="*/ 0 w 838"/>
                <a:gd name="T39" fmla="*/ 0 h 832"/>
                <a:gd name="T40" fmla="*/ 0 w 838"/>
                <a:gd name="T41" fmla="*/ 0 h 832"/>
                <a:gd name="T42" fmla="*/ 0 w 838"/>
                <a:gd name="T43" fmla="*/ 0 h 832"/>
                <a:gd name="T44" fmla="*/ 0 w 838"/>
                <a:gd name="T45" fmla="*/ 0 h 832"/>
                <a:gd name="T46" fmla="*/ 0 w 838"/>
                <a:gd name="T47" fmla="*/ 0 h 832"/>
                <a:gd name="T48" fmla="*/ 0 w 838"/>
                <a:gd name="T49" fmla="*/ 0 h 832"/>
                <a:gd name="T50" fmla="*/ 0 w 838"/>
                <a:gd name="T51" fmla="*/ 0 h 832"/>
                <a:gd name="T52" fmla="*/ 0 w 838"/>
                <a:gd name="T53" fmla="*/ 0 h 832"/>
                <a:gd name="T54" fmla="*/ 0 w 838"/>
                <a:gd name="T55" fmla="*/ 0 h 832"/>
                <a:gd name="T56" fmla="*/ 0 w 838"/>
                <a:gd name="T57" fmla="*/ 0 h 832"/>
                <a:gd name="T58" fmla="*/ 0 w 838"/>
                <a:gd name="T59" fmla="*/ 0 h 832"/>
                <a:gd name="T60" fmla="*/ 0 w 838"/>
                <a:gd name="T61" fmla="*/ 0 h 832"/>
                <a:gd name="T62" fmla="*/ 0 w 838"/>
                <a:gd name="T63" fmla="*/ 0 h 832"/>
                <a:gd name="T64" fmla="*/ 0 w 838"/>
                <a:gd name="T65" fmla="*/ 0 h 832"/>
                <a:gd name="T66" fmla="*/ 0 w 838"/>
                <a:gd name="T67" fmla="*/ 0 h 832"/>
                <a:gd name="T68" fmla="*/ 0 w 838"/>
                <a:gd name="T69" fmla="*/ 0 h 832"/>
                <a:gd name="T70" fmla="*/ 0 w 838"/>
                <a:gd name="T71" fmla="*/ 0 h 832"/>
                <a:gd name="T72" fmla="*/ 0 w 838"/>
                <a:gd name="T73" fmla="*/ 0 h 832"/>
                <a:gd name="T74" fmla="*/ 0 w 838"/>
                <a:gd name="T75" fmla="*/ 0 h 832"/>
                <a:gd name="T76" fmla="*/ 0 w 838"/>
                <a:gd name="T77" fmla="*/ 0 h 832"/>
                <a:gd name="T78" fmla="*/ 0 w 838"/>
                <a:gd name="T79" fmla="*/ 0 h 832"/>
                <a:gd name="T80" fmla="*/ 0 w 838"/>
                <a:gd name="T81" fmla="*/ 0 h 832"/>
                <a:gd name="T82" fmla="*/ 0 w 838"/>
                <a:gd name="T83" fmla="*/ 0 h 832"/>
                <a:gd name="T84" fmla="*/ 0 w 838"/>
                <a:gd name="T85" fmla="*/ 0 h 832"/>
                <a:gd name="T86" fmla="*/ 0 w 838"/>
                <a:gd name="T87" fmla="*/ 0 h 832"/>
                <a:gd name="T88" fmla="*/ 0 w 838"/>
                <a:gd name="T89" fmla="*/ 0 h 832"/>
                <a:gd name="T90" fmla="*/ 0 w 838"/>
                <a:gd name="T91" fmla="*/ 0 h 832"/>
                <a:gd name="T92" fmla="*/ 0 w 838"/>
                <a:gd name="T93" fmla="*/ 0 h 832"/>
                <a:gd name="T94" fmla="*/ 0 w 838"/>
                <a:gd name="T95" fmla="*/ 0 h 832"/>
                <a:gd name="T96" fmla="*/ 0 w 838"/>
                <a:gd name="T97" fmla="*/ 0 h 832"/>
                <a:gd name="T98" fmla="*/ 0 w 838"/>
                <a:gd name="T99" fmla="*/ 0 h 832"/>
                <a:gd name="T100" fmla="*/ 0 w 838"/>
                <a:gd name="T101" fmla="*/ 0 h 832"/>
                <a:gd name="T102" fmla="*/ 0 w 838"/>
                <a:gd name="T103" fmla="*/ 0 h 832"/>
                <a:gd name="T104" fmla="*/ 0 w 838"/>
                <a:gd name="T105" fmla="*/ 0 h 832"/>
                <a:gd name="T106" fmla="*/ 0 w 838"/>
                <a:gd name="T107" fmla="*/ 0 h 832"/>
                <a:gd name="T108" fmla="*/ 0 w 838"/>
                <a:gd name="T109" fmla="*/ 0 h 832"/>
                <a:gd name="T110" fmla="*/ 0 w 838"/>
                <a:gd name="T111" fmla="*/ 0 h 83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838" h="832">
                  <a:moveTo>
                    <a:pt x="155" y="0"/>
                  </a:moveTo>
                  <a:lnTo>
                    <a:pt x="253" y="30"/>
                  </a:lnTo>
                  <a:lnTo>
                    <a:pt x="298" y="70"/>
                  </a:lnTo>
                  <a:lnTo>
                    <a:pt x="326" y="153"/>
                  </a:lnTo>
                  <a:lnTo>
                    <a:pt x="326" y="228"/>
                  </a:lnTo>
                  <a:lnTo>
                    <a:pt x="311" y="272"/>
                  </a:lnTo>
                  <a:lnTo>
                    <a:pt x="320" y="350"/>
                  </a:lnTo>
                  <a:lnTo>
                    <a:pt x="320" y="408"/>
                  </a:lnTo>
                  <a:lnTo>
                    <a:pt x="306" y="423"/>
                  </a:lnTo>
                  <a:lnTo>
                    <a:pt x="320" y="445"/>
                  </a:lnTo>
                  <a:lnTo>
                    <a:pt x="329" y="467"/>
                  </a:lnTo>
                  <a:lnTo>
                    <a:pt x="311" y="490"/>
                  </a:lnTo>
                  <a:lnTo>
                    <a:pt x="311" y="513"/>
                  </a:lnTo>
                  <a:lnTo>
                    <a:pt x="347" y="521"/>
                  </a:lnTo>
                  <a:lnTo>
                    <a:pt x="343" y="544"/>
                  </a:lnTo>
                  <a:lnTo>
                    <a:pt x="378" y="557"/>
                  </a:lnTo>
                  <a:lnTo>
                    <a:pt x="411" y="548"/>
                  </a:lnTo>
                  <a:lnTo>
                    <a:pt x="433" y="557"/>
                  </a:lnTo>
                  <a:lnTo>
                    <a:pt x="532" y="571"/>
                  </a:lnTo>
                  <a:lnTo>
                    <a:pt x="622" y="567"/>
                  </a:lnTo>
                  <a:lnTo>
                    <a:pt x="679" y="571"/>
                  </a:lnTo>
                  <a:lnTo>
                    <a:pt x="717" y="594"/>
                  </a:lnTo>
                  <a:lnTo>
                    <a:pt x="807" y="594"/>
                  </a:lnTo>
                  <a:lnTo>
                    <a:pt x="838" y="625"/>
                  </a:lnTo>
                  <a:lnTo>
                    <a:pt x="838" y="660"/>
                  </a:lnTo>
                  <a:lnTo>
                    <a:pt x="833" y="719"/>
                  </a:lnTo>
                  <a:lnTo>
                    <a:pt x="762" y="738"/>
                  </a:lnTo>
                  <a:lnTo>
                    <a:pt x="762" y="700"/>
                  </a:lnTo>
                  <a:lnTo>
                    <a:pt x="757" y="669"/>
                  </a:lnTo>
                  <a:lnTo>
                    <a:pt x="743" y="656"/>
                  </a:lnTo>
                  <a:lnTo>
                    <a:pt x="739" y="692"/>
                  </a:lnTo>
                  <a:lnTo>
                    <a:pt x="734" y="738"/>
                  </a:lnTo>
                  <a:lnTo>
                    <a:pt x="717" y="765"/>
                  </a:lnTo>
                  <a:lnTo>
                    <a:pt x="685" y="800"/>
                  </a:lnTo>
                  <a:lnTo>
                    <a:pt x="610" y="818"/>
                  </a:lnTo>
                  <a:lnTo>
                    <a:pt x="550" y="828"/>
                  </a:lnTo>
                  <a:lnTo>
                    <a:pt x="482" y="832"/>
                  </a:lnTo>
                  <a:lnTo>
                    <a:pt x="569" y="782"/>
                  </a:lnTo>
                  <a:lnTo>
                    <a:pt x="627" y="738"/>
                  </a:lnTo>
                  <a:lnTo>
                    <a:pt x="639" y="700"/>
                  </a:lnTo>
                  <a:lnTo>
                    <a:pt x="631" y="669"/>
                  </a:lnTo>
                  <a:lnTo>
                    <a:pt x="582" y="665"/>
                  </a:lnTo>
                  <a:lnTo>
                    <a:pt x="564" y="700"/>
                  </a:lnTo>
                  <a:lnTo>
                    <a:pt x="550" y="742"/>
                  </a:lnTo>
                  <a:lnTo>
                    <a:pt x="505" y="787"/>
                  </a:lnTo>
                  <a:lnTo>
                    <a:pt x="456" y="823"/>
                  </a:lnTo>
                  <a:lnTo>
                    <a:pt x="406" y="828"/>
                  </a:lnTo>
                  <a:lnTo>
                    <a:pt x="329" y="823"/>
                  </a:lnTo>
                  <a:lnTo>
                    <a:pt x="411" y="759"/>
                  </a:lnTo>
                  <a:lnTo>
                    <a:pt x="469" y="727"/>
                  </a:lnTo>
                  <a:lnTo>
                    <a:pt x="514" y="692"/>
                  </a:lnTo>
                  <a:lnTo>
                    <a:pt x="528" y="665"/>
                  </a:lnTo>
                  <a:lnTo>
                    <a:pt x="524" y="637"/>
                  </a:lnTo>
                  <a:lnTo>
                    <a:pt x="497" y="633"/>
                  </a:lnTo>
                  <a:lnTo>
                    <a:pt x="465" y="660"/>
                  </a:lnTo>
                  <a:lnTo>
                    <a:pt x="447" y="697"/>
                  </a:lnTo>
                  <a:lnTo>
                    <a:pt x="406" y="742"/>
                  </a:lnTo>
                  <a:lnTo>
                    <a:pt x="356" y="765"/>
                  </a:lnTo>
                  <a:lnTo>
                    <a:pt x="320" y="787"/>
                  </a:lnTo>
                  <a:lnTo>
                    <a:pt x="280" y="805"/>
                  </a:lnTo>
                  <a:lnTo>
                    <a:pt x="234" y="813"/>
                  </a:lnTo>
                  <a:lnTo>
                    <a:pt x="181" y="813"/>
                  </a:lnTo>
                  <a:lnTo>
                    <a:pt x="129" y="804"/>
                  </a:lnTo>
                  <a:lnTo>
                    <a:pt x="244" y="765"/>
                  </a:lnTo>
                  <a:lnTo>
                    <a:pt x="288" y="742"/>
                  </a:lnTo>
                  <a:lnTo>
                    <a:pt x="320" y="700"/>
                  </a:lnTo>
                  <a:lnTo>
                    <a:pt x="326" y="665"/>
                  </a:lnTo>
                  <a:lnTo>
                    <a:pt x="298" y="665"/>
                  </a:lnTo>
                  <a:lnTo>
                    <a:pt x="285" y="697"/>
                  </a:lnTo>
                  <a:lnTo>
                    <a:pt x="262" y="723"/>
                  </a:lnTo>
                  <a:lnTo>
                    <a:pt x="225" y="751"/>
                  </a:lnTo>
                  <a:lnTo>
                    <a:pt x="185" y="779"/>
                  </a:lnTo>
                  <a:lnTo>
                    <a:pt x="132" y="802"/>
                  </a:lnTo>
                  <a:lnTo>
                    <a:pt x="91" y="787"/>
                  </a:lnTo>
                  <a:lnTo>
                    <a:pt x="72" y="765"/>
                  </a:lnTo>
                  <a:lnTo>
                    <a:pt x="42" y="709"/>
                  </a:lnTo>
                  <a:lnTo>
                    <a:pt x="100" y="697"/>
                  </a:lnTo>
                  <a:lnTo>
                    <a:pt x="212" y="683"/>
                  </a:lnTo>
                  <a:lnTo>
                    <a:pt x="280" y="652"/>
                  </a:lnTo>
                  <a:lnTo>
                    <a:pt x="315" y="621"/>
                  </a:lnTo>
                  <a:lnTo>
                    <a:pt x="329" y="585"/>
                  </a:lnTo>
                  <a:lnTo>
                    <a:pt x="334" y="567"/>
                  </a:lnTo>
                  <a:lnTo>
                    <a:pt x="315" y="567"/>
                  </a:lnTo>
                  <a:lnTo>
                    <a:pt x="293" y="594"/>
                  </a:lnTo>
                  <a:lnTo>
                    <a:pt x="257" y="642"/>
                  </a:lnTo>
                  <a:lnTo>
                    <a:pt x="176" y="669"/>
                  </a:lnTo>
                  <a:lnTo>
                    <a:pt x="100" y="693"/>
                  </a:lnTo>
                  <a:lnTo>
                    <a:pt x="42" y="709"/>
                  </a:lnTo>
                  <a:lnTo>
                    <a:pt x="19" y="616"/>
                  </a:lnTo>
                  <a:lnTo>
                    <a:pt x="14" y="548"/>
                  </a:lnTo>
                  <a:lnTo>
                    <a:pt x="14" y="489"/>
                  </a:lnTo>
                  <a:lnTo>
                    <a:pt x="91" y="530"/>
                  </a:lnTo>
                  <a:lnTo>
                    <a:pt x="181" y="548"/>
                  </a:lnTo>
                  <a:lnTo>
                    <a:pt x="253" y="544"/>
                  </a:lnTo>
                  <a:lnTo>
                    <a:pt x="271" y="536"/>
                  </a:lnTo>
                  <a:lnTo>
                    <a:pt x="280" y="513"/>
                  </a:lnTo>
                  <a:lnTo>
                    <a:pt x="239" y="513"/>
                  </a:lnTo>
                  <a:lnTo>
                    <a:pt x="196" y="526"/>
                  </a:lnTo>
                  <a:lnTo>
                    <a:pt x="88" y="530"/>
                  </a:lnTo>
                  <a:lnTo>
                    <a:pt x="14" y="490"/>
                  </a:lnTo>
                  <a:lnTo>
                    <a:pt x="10" y="405"/>
                  </a:lnTo>
                  <a:lnTo>
                    <a:pt x="5" y="345"/>
                  </a:lnTo>
                  <a:lnTo>
                    <a:pt x="0" y="287"/>
                  </a:lnTo>
                  <a:lnTo>
                    <a:pt x="10" y="188"/>
                  </a:lnTo>
                  <a:lnTo>
                    <a:pt x="32" y="153"/>
                  </a:lnTo>
                  <a:lnTo>
                    <a:pt x="100" y="108"/>
                  </a:lnTo>
                  <a:lnTo>
                    <a:pt x="78" y="113"/>
                  </a:lnTo>
                  <a:lnTo>
                    <a:pt x="10" y="143"/>
                  </a:lnTo>
                  <a:lnTo>
                    <a:pt x="37" y="81"/>
                  </a:lnTo>
                  <a:lnTo>
                    <a:pt x="60" y="48"/>
                  </a:lnTo>
                  <a:lnTo>
                    <a:pt x="78" y="26"/>
                  </a:lnTo>
                  <a:lnTo>
                    <a:pt x="155"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7" name="Freeform 180"/>
            <p:cNvSpPr>
              <a:spLocks/>
            </p:cNvSpPr>
            <p:nvPr/>
          </p:nvSpPr>
          <p:spPr bwMode="auto">
            <a:xfrm>
              <a:off x="231" y="1940"/>
              <a:ext cx="42" cy="38"/>
            </a:xfrm>
            <a:custGeom>
              <a:avLst/>
              <a:gdLst>
                <a:gd name="T0" fmla="*/ 0 w 209"/>
                <a:gd name="T1" fmla="*/ 0 h 187"/>
                <a:gd name="T2" fmla="*/ 0 w 209"/>
                <a:gd name="T3" fmla="*/ 0 h 187"/>
                <a:gd name="T4" fmla="*/ 0 w 209"/>
                <a:gd name="T5" fmla="*/ 0 h 187"/>
                <a:gd name="T6" fmla="*/ 0 w 209"/>
                <a:gd name="T7" fmla="*/ 0 h 187"/>
                <a:gd name="T8" fmla="*/ 0 w 209"/>
                <a:gd name="T9" fmla="*/ 0 h 187"/>
                <a:gd name="T10" fmla="*/ 0 w 209"/>
                <a:gd name="T11" fmla="*/ 0 h 187"/>
                <a:gd name="T12" fmla="*/ 0 w 209"/>
                <a:gd name="T13" fmla="*/ 0 h 187"/>
                <a:gd name="T14" fmla="*/ 0 w 209"/>
                <a:gd name="T15" fmla="*/ 0 h 187"/>
                <a:gd name="T16" fmla="*/ 0 w 209"/>
                <a:gd name="T17" fmla="*/ 0 h 187"/>
                <a:gd name="T18" fmla="*/ 0 w 209"/>
                <a:gd name="T19" fmla="*/ 0 h 187"/>
                <a:gd name="T20" fmla="*/ 0 w 209"/>
                <a:gd name="T21" fmla="*/ 0 h 187"/>
                <a:gd name="T22" fmla="*/ 0 w 209"/>
                <a:gd name="T23" fmla="*/ 0 h 187"/>
                <a:gd name="T24" fmla="*/ 0 w 209"/>
                <a:gd name="T25" fmla="*/ 0 h 187"/>
                <a:gd name="T26" fmla="*/ 0 w 209"/>
                <a:gd name="T27" fmla="*/ 0 h 187"/>
                <a:gd name="T28" fmla="*/ 0 w 209"/>
                <a:gd name="T29" fmla="*/ 0 h 187"/>
                <a:gd name="T30" fmla="*/ 0 w 209"/>
                <a:gd name="T31" fmla="*/ 0 h 187"/>
                <a:gd name="T32" fmla="*/ 0 w 209"/>
                <a:gd name="T33" fmla="*/ 0 h 187"/>
                <a:gd name="T34" fmla="*/ 0 w 209"/>
                <a:gd name="T35" fmla="*/ 0 h 187"/>
                <a:gd name="T36" fmla="*/ 0 w 209"/>
                <a:gd name="T37" fmla="*/ 0 h 187"/>
                <a:gd name="T38" fmla="*/ 0 w 209"/>
                <a:gd name="T39" fmla="*/ 0 h 187"/>
                <a:gd name="T40" fmla="*/ 0 w 209"/>
                <a:gd name="T41" fmla="*/ 0 h 187"/>
                <a:gd name="T42" fmla="*/ 0 w 209"/>
                <a:gd name="T43" fmla="*/ 0 h 187"/>
                <a:gd name="T44" fmla="*/ 0 w 209"/>
                <a:gd name="T45" fmla="*/ 0 h 187"/>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09" h="187">
                  <a:moveTo>
                    <a:pt x="209" y="0"/>
                  </a:moveTo>
                  <a:lnTo>
                    <a:pt x="209" y="15"/>
                  </a:lnTo>
                  <a:lnTo>
                    <a:pt x="182" y="51"/>
                  </a:lnTo>
                  <a:lnTo>
                    <a:pt x="157" y="71"/>
                  </a:lnTo>
                  <a:lnTo>
                    <a:pt x="100" y="113"/>
                  </a:lnTo>
                  <a:lnTo>
                    <a:pt x="77" y="130"/>
                  </a:lnTo>
                  <a:lnTo>
                    <a:pt x="25" y="170"/>
                  </a:lnTo>
                  <a:lnTo>
                    <a:pt x="82" y="152"/>
                  </a:lnTo>
                  <a:lnTo>
                    <a:pt x="140" y="135"/>
                  </a:lnTo>
                  <a:lnTo>
                    <a:pt x="198" y="130"/>
                  </a:lnTo>
                  <a:lnTo>
                    <a:pt x="194" y="147"/>
                  </a:lnTo>
                  <a:lnTo>
                    <a:pt x="100" y="164"/>
                  </a:lnTo>
                  <a:lnTo>
                    <a:pt x="52" y="184"/>
                  </a:lnTo>
                  <a:lnTo>
                    <a:pt x="25" y="187"/>
                  </a:lnTo>
                  <a:lnTo>
                    <a:pt x="2" y="180"/>
                  </a:lnTo>
                  <a:lnTo>
                    <a:pt x="0" y="158"/>
                  </a:lnTo>
                  <a:lnTo>
                    <a:pt x="18" y="141"/>
                  </a:lnTo>
                  <a:lnTo>
                    <a:pt x="44" y="116"/>
                  </a:lnTo>
                  <a:lnTo>
                    <a:pt x="75" y="80"/>
                  </a:lnTo>
                  <a:lnTo>
                    <a:pt x="107" y="40"/>
                  </a:lnTo>
                  <a:lnTo>
                    <a:pt x="144" y="12"/>
                  </a:lnTo>
                  <a:lnTo>
                    <a:pt x="184" y="2"/>
                  </a:lnTo>
                  <a:lnTo>
                    <a:pt x="20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8" name="Freeform 181"/>
            <p:cNvSpPr>
              <a:spLocks/>
            </p:cNvSpPr>
            <p:nvPr/>
          </p:nvSpPr>
          <p:spPr bwMode="auto">
            <a:xfrm>
              <a:off x="232" y="1909"/>
              <a:ext cx="39" cy="49"/>
            </a:xfrm>
            <a:custGeom>
              <a:avLst/>
              <a:gdLst>
                <a:gd name="T0" fmla="*/ 0 w 192"/>
                <a:gd name="T1" fmla="*/ 0 h 246"/>
                <a:gd name="T2" fmla="*/ 0 w 192"/>
                <a:gd name="T3" fmla="*/ 0 h 246"/>
                <a:gd name="T4" fmla="*/ 0 w 192"/>
                <a:gd name="T5" fmla="*/ 0 h 246"/>
                <a:gd name="T6" fmla="*/ 0 w 192"/>
                <a:gd name="T7" fmla="*/ 0 h 246"/>
                <a:gd name="T8" fmla="*/ 0 w 192"/>
                <a:gd name="T9" fmla="*/ 0 h 246"/>
                <a:gd name="T10" fmla="*/ 0 w 192"/>
                <a:gd name="T11" fmla="*/ 0 h 246"/>
                <a:gd name="T12" fmla="*/ 0 w 192"/>
                <a:gd name="T13" fmla="*/ 0 h 246"/>
                <a:gd name="T14" fmla="*/ 0 w 192"/>
                <a:gd name="T15" fmla="*/ 0 h 246"/>
                <a:gd name="T16" fmla="*/ 0 w 192"/>
                <a:gd name="T17" fmla="*/ 0 h 246"/>
                <a:gd name="T18" fmla="*/ 0 w 192"/>
                <a:gd name="T19" fmla="*/ 0 h 246"/>
                <a:gd name="T20" fmla="*/ 0 w 192"/>
                <a:gd name="T21" fmla="*/ 0 h 246"/>
                <a:gd name="T22" fmla="*/ 0 w 192"/>
                <a:gd name="T23" fmla="*/ 0 h 246"/>
                <a:gd name="T24" fmla="*/ 0 w 192"/>
                <a:gd name="T25" fmla="*/ 0 h 246"/>
                <a:gd name="T26" fmla="*/ 0 w 192"/>
                <a:gd name="T27" fmla="*/ 0 h 246"/>
                <a:gd name="T28" fmla="*/ 0 w 192"/>
                <a:gd name="T29" fmla="*/ 0 h 246"/>
                <a:gd name="T30" fmla="*/ 0 w 192"/>
                <a:gd name="T31" fmla="*/ 0 h 246"/>
                <a:gd name="T32" fmla="*/ 0 w 192"/>
                <a:gd name="T33" fmla="*/ 0 h 24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92" h="246">
                  <a:moveTo>
                    <a:pt x="156" y="0"/>
                  </a:moveTo>
                  <a:lnTo>
                    <a:pt x="183" y="4"/>
                  </a:lnTo>
                  <a:lnTo>
                    <a:pt x="192" y="27"/>
                  </a:lnTo>
                  <a:lnTo>
                    <a:pt x="190" y="46"/>
                  </a:lnTo>
                  <a:lnTo>
                    <a:pt x="174" y="71"/>
                  </a:lnTo>
                  <a:lnTo>
                    <a:pt x="152" y="78"/>
                  </a:lnTo>
                  <a:lnTo>
                    <a:pt x="110" y="106"/>
                  </a:lnTo>
                  <a:lnTo>
                    <a:pt x="69" y="140"/>
                  </a:lnTo>
                  <a:lnTo>
                    <a:pt x="41" y="184"/>
                  </a:lnTo>
                  <a:lnTo>
                    <a:pt x="8" y="231"/>
                  </a:lnTo>
                  <a:lnTo>
                    <a:pt x="0" y="246"/>
                  </a:lnTo>
                  <a:lnTo>
                    <a:pt x="8" y="190"/>
                  </a:lnTo>
                  <a:lnTo>
                    <a:pt x="16" y="141"/>
                  </a:lnTo>
                  <a:lnTo>
                    <a:pt x="31" y="99"/>
                  </a:lnTo>
                  <a:lnTo>
                    <a:pt x="57" y="60"/>
                  </a:lnTo>
                  <a:lnTo>
                    <a:pt x="128" y="6"/>
                  </a:lnTo>
                  <a:lnTo>
                    <a:pt x="156"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89" name="Freeform 182"/>
            <p:cNvSpPr>
              <a:spLocks/>
            </p:cNvSpPr>
            <p:nvPr/>
          </p:nvSpPr>
          <p:spPr bwMode="auto">
            <a:xfrm>
              <a:off x="237" y="1860"/>
              <a:ext cx="41" cy="29"/>
            </a:xfrm>
            <a:custGeom>
              <a:avLst/>
              <a:gdLst>
                <a:gd name="T0" fmla="*/ 0 w 204"/>
                <a:gd name="T1" fmla="*/ 0 h 141"/>
                <a:gd name="T2" fmla="*/ 0 w 204"/>
                <a:gd name="T3" fmla="*/ 0 h 141"/>
                <a:gd name="T4" fmla="*/ 0 w 204"/>
                <a:gd name="T5" fmla="*/ 0 h 141"/>
                <a:gd name="T6" fmla="*/ 0 w 204"/>
                <a:gd name="T7" fmla="*/ 0 h 141"/>
                <a:gd name="T8" fmla="*/ 0 w 204"/>
                <a:gd name="T9" fmla="*/ 0 h 141"/>
                <a:gd name="T10" fmla="*/ 0 w 204"/>
                <a:gd name="T11" fmla="*/ 0 h 141"/>
                <a:gd name="T12" fmla="*/ 0 w 204"/>
                <a:gd name="T13" fmla="*/ 0 h 141"/>
                <a:gd name="T14" fmla="*/ 0 w 204"/>
                <a:gd name="T15" fmla="*/ 0 h 141"/>
                <a:gd name="T16" fmla="*/ 0 w 204"/>
                <a:gd name="T17" fmla="*/ 0 h 141"/>
                <a:gd name="T18" fmla="*/ 0 w 204"/>
                <a:gd name="T19" fmla="*/ 0 h 141"/>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4" h="141">
                  <a:moveTo>
                    <a:pt x="204" y="141"/>
                  </a:moveTo>
                  <a:lnTo>
                    <a:pt x="169" y="110"/>
                  </a:lnTo>
                  <a:lnTo>
                    <a:pt x="111" y="89"/>
                  </a:lnTo>
                  <a:lnTo>
                    <a:pt x="71" y="78"/>
                  </a:lnTo>
                  <a:lnTo>
                    <a:pt x="0" y="0"/>
                  </a:lnTo>
                  <a:lnTo>
                    <a:pt x="53" y="30"/>
                  </a:lnTo>
                  <a:lnTo>
                    <a:pt x="103" y="51"/>
                  </a:lnTo>
                  <a:lnTo>
                    <a:pt x="138" y="69"/>
                  </a:lnTo>
                  <a:lnTo>
                    <a:pt x="155" y="89"/>
                  </a:lnTo>
                  <a:lnTo>
                    <a:pt x="204" y="14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0" name="Freeform 183"/>
            <p:cNvSpPr>
              <a:spLocks/>
            </p:cNvSpPr>
            <p:nvPr/>
          </p:nvSpPr>
          <p:spPr bwMode="auto">
            <a:xfrm>
              <a:off x="286" y="1913"/>
              <a:ext cx="23" cy="73"/>
            </a:xfrm>
            <a:custGeom>
              <a:avLst/>
              <a:gdLst>
                <a:gd name="T0" fmla="*/ 0 w 115"/>
                <a:gd name="T1" fmla="*/ 0 h 368"/>
                <a:gd name="T2" fmla="*/ 0 w 115"/>
                <a:gd name="T3" fmla="*/ 0 h 368"/>
                <a:gd name="T4" fmla="*/ 0 w 115"/>
                <a:gd name="T5" fmla="*/ 0 h 368"/>
                <a:gd name="T6" fmla="*/ 0 w 115"/>
                <a:gd name="T7" fmla="*/ 0 h 368"/>
                <a:gd name="T8" fmla="*/ 0 w 115"/>
                <a:gd name="T9" fmla="*/ 0 h 368"/>
                <a:gd name="T10" fmla="*/ 0 w 115"/>
                <a:gd name="T11" fmla="*/ 0 h 368"/>
                <a:gd name="T12" fmla="*/ 0 w 115"/>
                <a:gd name="T13" fmla="*/ 0 h 368"/>
                <a:gd name="T14" fmla="*/ 0 w 115"/>
                <a:gd name="T15" fmla="*/ 0 h 368"/>
                <a:gd name="T16" fmla="*/ 0 w 115"/>
                <a:gd name="T17" fmla="*/ 0 h 368"/>
                <a:gd name="T18" fmla="*/ 0 w 115"/>
                <a:gd name="T19" fmla="*/ 0 h 368"/>
                <a:gd name="T20" fmla="*/ 0 w 115"/>
                <a:gd name="T21" fmla="*/ 0 h 368"/>
                <a:gd name="T22" fmla="*/ 0 w 115"/>
                <a:gd name="T23" fmla="*/ 0 h 368"/>
                <a:gd name="T24" fmla="*/ 0 w 115"/>
                <a:gd name="T25" fmla="*/ 0 h 368"/>
                <a:gd name="T26" fmla="*/ 0 w 115"/>
                <a:gd name="T27" fmla="*/ 0 h 368"/>
                <a:gd name="T28" fmla="*/ 0 w 115"/>
                <a:gd name="T29" fmla="*/ 0 h 368"/>
                <a:gd name="T30" fmla="*/ 0 w 115"/>
                <a:gd name="T31" fmla="*/ 0 h 368"/>
                <a:gd name="T32" fmla="*/ 0 w 115"/>
                <a:gd name="T33" fmla="*/ 0 h 368"/>
                <a:gd name="T34" fmla="*/ 0 w 115"/>
                <a:gd name="T35" fmla="*/ 0 h 368"/>
                <a:gd name="T36" fmla="*/ 0 w 115"/>
                <a:gd name="T37" fmla="*/ 0 h 36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15" h="368">
                  <a:moveTo>
                    <a:pt x="115" y="368"/>
                  </a:moveTo>
                  <a:lnTo>
                    <a:pt x="58" y="368"/>
                  </a:lnTo>
                  <a:lnTo>
                    <a:pt x="40" y="364"/>
                  </a:lnTo>
                  <a:lnTo>
                    <a:pt x="40" y="349"/>
                  </a:lnTo>
                  <a:lnTo>
                    <a:pt x="28" y="336"/>
                  </a:lnTo>
                  <a:lnTo>
                    <a:pt x="9" y="323"/>
                  </a:lnTo>
                  <a:lnTo>
                    <a:pt x="19" y="309"/>
                  </a:lnTo>
                  <a:lnTo>
                    <a:pt x="19" y="291"/>
                  </a:lnTo>
                  <a:lnTo>
                    <a:pt x="5" y="269"/>
                  </a:lnTo>
                  <a:lnTo>
                    <a:pt x="5" y="246"/>
                  </a:lnTo>
                  <a:lnTo>
                    <a:pt x="14" y="219"/>
                  </a:lnTo>
                  <a:lnTo>
                    <a:pt x="14" y="161"/>
                  </a:lnTo>
                  <a:lnTo>
                    <a:pt x="0" y="107"/>
                  </a:lnTo>
                  <a:lnTo>
                    <a:pt x="5" y="67"/>
                  </a:lnTo>
                  <a:lnTo>
                    <a:pt x="5" y="0"/>
                  </a:lnTo>
                  <a:lnTo>
                    <a:pt x="40" y="101"/>
                  </a:lnTo>
                  <a:lnTo>
                    <a:pt x="71" y="197"/>
                  </a:lnTo>
                  <a:lnTo>
                    <a:pt x="93" y="300"/>
                  </a:lnTo>
                  <a:lnTo>
                    <a:pt x="115" y="368"/>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1" name="Freeform 184"/>
            <p:cNvSpPr>
              <a:spLocks/>
            </p:cNvSpPr>
            <p:nvPr/>
          </p:nvSpPr>
          <p:spPr bwMode="auto">
            <a:xfrm>
              <a:off x="233" y="1992"/>
              <a:ext cx="41" cy="14"/>
            </a:xfrm>
            <a:custGeom>
              <a:avLst/>
              <a:gdLst>
                <a:gd name="T0" fmla="*/ 0 w 206"/>
                <a:gd name="T1" fmla="*/ 0 h 69"/>
                <a:gd name="T2" fmla="*/ 0 w 206"/>
                <a:gd name="T3" fmla="*/ 0 h 69"/>
                <a:gd name="T4" fmla="*/ 0 w 206"/>
                <a:gd name="T5" fmla="*/ 0 h 69"/>
                <a:gd name="T6" fmla="*/ 0 w 206"/>
                <a:gd name="T7" fmla="*/ 0 h 69"/>
                <a:gd name="T8" fmla="*/ 0 w 206"/>
                <a:gd name="T9" fmla="*/ 0 h 69"/>
                <a:gd name="T10" fmla="*/ 0 w 206"/>
                <a:gd name="T11" fmla="*/ 0 h 69"/>
                <a:gd name="T12" fmla="*/ 0 w 206"/>
                <a:gd name="T13" fmla="*/ 0 h 69"/>
                <a:gd name="T14" fmla="*/ 0 w 206"/>
                <a:gd name="T15" fmla="*/ 0 h 69"/>
                <a:gd name="T16" fmla="*/ 0 w 206"/>
                <a:gd name="T17" fmla="*/ 0 h 69"/>
                <a:gd name="T18" fmla="*/ 0 w 206"/>
                <a:gd name="T19" fmla="*/ 0 h 69"/>
                <a:gd name="T20" fmla="*/ 0 w 206"/>
                <a:gd name="T21" fmla="*/ 0 h 69"/>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06" h="69">
                  <a:moveTo>
                    <a:pt x="42" y="34"/>
                  </a:moveTo>
                  <a:lnTo>
                    <a:pt x="87" y="15"/>
                  </a:lnTo>
                  <a:lnTo>
                    <a:pt x="129" y="3"/>
                  </a:lnTo>
                  <a:lnTo>
                    <a:pt x="184" y="0"/>
                  </a:lnTo>
                  <a:lnTo>
                    <a:pt x="206" y="4"/>
                  </a:lnTo>
                  <a:lnTo>
                    <a:pt x="196" y="26"/>
                  </a:lnTo>
                  <a:lnTo>
                    <a:pt x="174" y="43"/>
                  </a:lnTo>
                  <a:lnTo>
                    <a:pt x="126" y="57"/>
                  </a:lnTo>
                  <a:lnTo>
                    <a:pt x="50" y="69"/>
                  </a:lnTo>
                  <a:lnTo>
                    <a:pt x="0" y="65"/>
                  </a:lnTo>
                  <a:lnTo>
                    <a:pt x="42" y="3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2" name="Freeform 185"/>
            <p:cNvSpPr>
              <a:spLocks/>
            </p:cNvSpPr>
            <p:nvPr/>
          </p:nvSpPr>
          <p:spPr bwMode="auto">
            <a:xfrm>
              <a:off x="284" y="1999"/>
              <a:ext cx="25" cy="31"/>
            </a:xfrm>
            <a:custGeom>
              <a:avLst/>
              <a:gdLst>
                <a:gd name="T0" fmla="*/ 0 w 124"/>
                <a:gd name="T1" fmla="*/ 0 h 154"/>
                <a:gd name="T2" fmla="*/ 0 w 124"/>
                <a:gd name="T3" fmla="*/ 0 h 154"/>
                <a:gd name="T4" fmla="*/ 0 w 124"/>
                <a:gd name="T5" fmla="*/ 0 h 154"/>
                <a:gd name="T6" fmla="*/ 0 w 124"/>
                <a:gd name="T7" fmla="*/ 0 h 154"/>
                <a:gd name="T8" fmla="*/ 0 w 124"/>
                <a:gd name="T9" fmla="*/ 0 h 154"/>
                <a:gd name="T10" fmla="*/ 0 w 124"/>
                <a:gd name="T11" fmla="*/ 0 h 154"/>
                <a:gd name="T12" fmla="*/ 0 w 124"/>
                <a:gd name="T13" fmla="*/ 0 h 154"/>
                <a:gd name="T14" fmla="*/ 0 w 124"/>
                <a:gd name="T15" fmla="*/ 0 h 154"/>
                <a:gd name="T16" fmla="*/ 0 w 124"/>
                <a:gd name="T17" fmla="*/ 0 h 154"/>
                <a:gd name="T18" fmla="*/ 0 w 124"/>
                <a:gd name="T19" fmla="*/ 0 h 154"/>
                <a:gd name="T20" fmla="*/ 0 w 124"/>
                <a:gd name="T21" fmla="*/ 0 h 154"/>
                <a:gd name="T22" fmla="*/ 0 w 124"/>
                <a:gd name="T23" fmla="*/ 0 h 154"/>
                <a:gd name="T24" fmla="*/ 0 w 124"/>
                <a:gd name="T25" fmla="*/ 0 h 154"/>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24" h="154">
                  <a:moveTo>
                    <a:pt x="67" y="43"/>
                  </a:moveTo>
                  <a:lnTo>
                    <a:pt x="82" y="9"/>
                  </a:lnTo>
                  <a:lnTo>
                    <a:pt x="106" y="0"/>
                  </a:lnTo>
                  <a:lnTo>
                    <a:pt x="122" y="7"/>
                  </a:lnTo>
                  <a:lnTo>
                    <a:pt x="124" y="25"/>
                  </a:lnTo>
                  <a:lnTo>
                    <a:pt x="114" y="55"/>
                  </a:lnTo>
                  <a:lnTo>
                    <a:pt x="95" y="82"/>
                  </a:lnTo>
                  <a:lnTo>
                    <a:pt x="73" y="108"/>
                  </a:lnTo>
                  <a:lnTo>
                    <a:pt x="45" y="133"/>
                  </a:lnTo>
                  <a:lnTo>
                    <a:pt x="0" y="154"/>
                  </a:lnTo>
                  <a:lnTo>
                    <a:pt x="40" y="110"/>
                  </a:lnTo>
                  <a:lnTo>
                    <a:pt x="53" y="78"/>
                  </a:lnTo>
                  <a:lnTo>
                    <a:pt x="67" y="43"/>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3" name="Freeform 186"/>
            <p:cNvSpPr>
              <a:spLocks/>
            </p:cNvSpPr>
            <p:nvPr/>
          </p:nvSpPr>
          <p:spPr bwMode="auto">
            <a:xfrm>
              <a:off x="208" y="1836"/>
              <a:ext cx="60" cy="37"/>
            </a:xfrm>
            <a:custGeom>
              <a:avLst/>
              <a:gdLst>
                <a:gd name="T0" fmla="*/ 0 w 298"/>
                <a:gd name="T1" fmla="*/ 0 h 186"/>
                <a:gd name="T2" fmla="*/ 0 w 298"/>
                <a:gd name="T3" fmla="*/ 0 h 186"/>
                <a:gd name="T4" fmla="*/ 0 w 298"/>
                <a:gd name="T5" fmla="*/ 0 h 186"/>
                <a:gd name="T6" fmla="*/ 0 w 298"/>
                <a:gd name="T7" fmla="*/ 0 h 186"/>
                <a:gd name="T8" fmla="*/ 0 w 298"/>
                <a:gd name="T9" fmla="*/ 0 h 186"/>
                <a:gd name="T10" fmla="*/ 0 w 298"/>
                <a:gd name="T11" fmla="*/ 0 h 186"/>
                <a:gd name="T12" fmla="*/ 0 w 298"/>
                <a:gd name="T13" fmla="*/ 0 h 186"/>
                <a:gd name="T14" fmla="*/ 0 w 298"/>
                <a:gd name="T15" fmla="*/ 0 h 186"/>
                <a:gd name="T16" fmla="*/ 0 w 298"/>
                <a:gd name="T17" fmla="*/ 0 h 186"/>
                <a:gd name="T18" fmla="*/ 0 w 298"/>
                <a:gd name="T19" fmla="*/ 0 h 186"/>
                <a:gd name="T20" fmla="*/ 0 w 298"/>
                <a:gd name="T21" fmla="*/ 0 h 186"/>
                <a:gd name="T22" fmla="*/ 0 w 298"/>
                <a:gd name="T23" fmla="*/ 0 h 18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98" h="186">
                  <a:moveTo>
                    <a:pt x="298" y="186"/>
                  </a:moveTo>
                  <a:lnTo>
                    <a:pt x="289" y="109"/>
                  </a:lnTo>
                  <a:lnTo>
                    <a:pt x="226" y="82"/>
                  </a:lnTo>
                  <a:lnTo>
                    <a:pt x="142" y="49"/>
                  </a:lnTo>
                  <a:lnTo>
                    <a:pt x="80" y="25"/>
                  </a:lnTo>
                  <a:lnTo>
                    <a:pt x="23" y="0"/>
                  </a:lnTo>
                  <a:lnTo>
                    <a:pt x="0" y="53"/>
                  </a:lnTo>
                  <a:lnTo>
                    <a:pt x="55" y="84"/>
                  </a:lnTo>
                  <a:lnTo>
                    <a:pt x="119" y="107"/>
                  </a:lnTo>
                  <a:lnTo>
                    <a:pt x="168" y="122"/>
                  </a:lnTo>
                  <a:lnTo>
                    <a:pt x="229" y="154"/>
                  </a:lnTo>
                  <a:lnTo>
                    <a:pt x="298" y="186"/>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194" name="Group 187"/>
          <p:cNvGrpSpPr>
            <a:grpSpLocks/>
          </p:cNvGrpSpPr>
          <p:nvPr/>
        </p:nvGrpSpPr>
        <p:grpSpPr bwMode="auto">
          <a:xfrm>
            <a:off x="1794400" y="3380007"/>
            <a:ext cx="123814" cy="155175"/>
            <a:chOff x="141" y="2010"/>
            <a:chExt cx="123" cy="167"/>
          </a:xfrm>
        </p:grpSpPr>
        <p:sp>
          <p:nvSpPr>
            <p:cNvPr id="195" name="Freeform 188"/>
            <p:cNvSpPr>
              <a:spLocks/>
            </p:cNvSpPr>
            <p:nvPr/>
          </p:nvSpPr>
          <p:spPr bwMode="auto">
            <a:xfrm>
              <a:off x="141" y="2010"/>
              <a:ext cx="123" cy="167"/>
            </a:xfrm>
            <a:custGeom>
              <a:avLst/>
              <a:gdLst>
                <a:gd name="T0" fmla="*/ 0 w 617"/>
                <a:gd name="T1" fmla="*/ 0 h 835"/>
                <a:gd name="T2" fmla="*/ 0 w 617"/>
                <a:gd name="T3" fmla="*/ 0 h 835"/>
                <a:gd name="T4" fmla="*/ 0 w 617"/>
                <a:gd name="T5" fmla="*/ 0 h 835"/>
                <a:gd name="T6" fmla="*/ 0 w 617"/>
                <a:gd name="T7" fmla="*/ 0 h 835"/>
                <a:gd name="T8" fmla="*/ 0 w 617"/>
                <a:gd name="T9" fmla="*/ 0 h 835"/>
                <a:gd name="T10" fmla="*/ 0 w 617"/>
                <a:gd name="T11" fmla="*/ 0 h 835"/>
                <a:gd name="T12" fmla="*/ 0 w 617"/>
                <a:gd name="T13" fmla="*/ 0 h 835"/>
                <a:gd name="T14" fmla="*/ 0 w 617"/>
                <a:gd name="T15" fmla="*/ 0 h 835"/>
                <a:gd name="T16" fmla="*/ 0 w 617"/>
                <a:gd name="T17" fmla="*/ 0 h 835"/>
                <a:gd name="T18" fmla="*/ 0 w 617"/>
                <a:gd name="T19" fmla="*/ 0 h 835"/>
                <a:gd name="T20" fmla="*/ 0 w 617"/>
                <a:gd name="T21" fmla="*/ 0 h 835"/>
                <a:gd name="T22" fmla="*/ 0 w 617"/>
                <a:gd name="T23" fmla="*/ 0 h 835"/>
                <a:gd name="T24" fmla="*/ 0 w 617"/>
                <a:gd name="T25" fmla="*/ 0 h 835"/>
                <a:gd name="T26" fmla="*/ 0 w 617"/>
                <a:gd name="T27" fmla="*/ 0 h 835"/>
                <a:gd name="T28" fmla="*/ 0 w 617"/>
                <a:gd name="T29" fmla="*/ 0 h 835"/>
                <a:gd name="T30" fmla="*/ 0 w 617"/>
                <a:gd name="T31" fmla="*/ 0 h 835"/>
                <a:gd name="T32" fmla="*/ 0 w 617"/>
                <a:gd name="T33" fmla="*/ 0 h 835"/>
                <a:gd name="T34" fmla="*/ 0 w 617"/>
                <a:gd name="T35" fmla="*/ 0 h 835"/>
                <a:gd name="T36" fmla="*/ 0 w 617"/>
                <a:gd name="T37" fmla="*/ 0 h 835"/>
                <a:gd name="T38" fmla="*/ 0 w 617"/>
                <a:gd name="T39" fmla="*/ 0 h 835"/>
                <a:gd name="T40" fmla="*/ 0 w 617"/>
                <a:gd name="T41" fmla="*/ 0 h 835"/>
                <a:gd name="T42" fmla="*/ 0 w 617"/>
                <a:gd name="T43" fmla="*/ 0 h 835"/>
                <a:gd name="T44" fmla="*/ 0 w 617"/>
                <a:gd name="T45" fmla="*/ 0 h 835"/>
                <a:gd name="T46" fmla="*/ 0 w 617"/>
                <a:gd name="T47" fmla="*/ 0 h 835"/>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617" h="835">
                  <a:moveTo>
                    <a:pt x="342" y="123"/>
                  </a:moveTo>
                  <a:lnTo>
                    <a:pt x="229" y="113"/>
                  </a:lnTo>
                  <a:lnTo>
                    <a:pt x="160" y="96"/>
                  </a:lnTo>
                  <a:lnTo>
                    <a:pt x="139" y="64"/>
                  </a:lnTo>
                  <a:lnTo>
                    <a:pt x="139" y="38"/>
                  </a:lnTo>
                  <a:lnTo>
                    <a:pt x="121" y="15"/>
                  </a:lnTo>
                  <a:lnTo>
                    <a:pt x="58" y="0"/>
                  </a:lnTo>
                  <a:lnTo>
                    <a:pt x="0" y="5"/>
                  </a:lnTo>
                  <a:lnTo>
                    <a:pt x="70" y="650"/>
                  </a:lnTo>
                  <a:lnTo>
                    <a:pt x="121" y="710"/>
                  </a:lnTo>
                  <a:lnTo>
                    <a:pt x="183" y="768"/>
                  </a:lnTo>
                  <a:lnTo>
                    <a:pt x="273" y="813"/>
                  </a:lnTo>
                  <a:lnTo>
                    <a:pt x="377" y="827"/>
                  </a:lnTo>
                  <a:lnTo>
                    <a:pt x="518" y="835"/>
                  </a:lnTo>
                  <a:lnTo>
                    <a:pt x="599" y="823"/>
                  </a:lnTo>
                  <a:lnTo>
                    <a:pt x="617" y="777"/>
                  </a:lnTo>
                  <a:lnTo>
                    <a:pt x="608" y="718"/>
                  </a:lnTo>
                  <a:lnTo>
                    <a:pt x="550" y="537"/>
                  </a:lnTo>
                  <a:lnTo>
                    <a:pt x="500" y="357"/>
                  </a:lnTo>
                  <a:lnTo>
                    <a:pt x="478" y="221"/>
                  </a:lnTo>
                  <a:lnTo>
                    <a:pt x="478" y="186"/>
                  </a:lnTo>
                  <a:lnTo>
                    <a:pt x="446" y="136"/>
                  </a:lnTo>
                  <a:lnTo>
                    <a:pt x="409" y="123"/>
                  </a:lnTo>
                  <a:lnTo>
                    <a:pt x="342" y="123"/>
                  </a:lnTo>
                  <a:close/>
                </a:path>
              </a:pathLst>
            </a:custGeom>
            <a:solidFill>
              <a:srgbClr val="404040"/>
            </a:solidFill>
            <a:ln w="3175">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6" name="Freeform 189"/>
            <p:cNvSpPr>
              <a:spLocks/>
            </p:cNvSpPr>
            <p:nvPr/>
          </p:nvSpPr>
          <p:spPr bwMode="auto">
            <a:xfrm>
              <a:off x="143" y="2019"/>
              <a:ext cx="106" cy="153"/>
            </a:xfrm>
            <a:custGeom>
              <a:avLst/>
              <a:gdLst>
                <a:gd name="T0" fmla="*/ 0 w 531"/>
                <a:gd name="T1" fmla="*/ 0 h 766"/>
                <a:gd name="T2" fmla="*/ 0 w 531"/>
                <a:gd name="T3" fmla="*/ 0 h 766"/>
                <a:gd name="T4" fmla="*/ 0 w 531"/>
                <a:gd name="T5" fmla="*/ 0 h 766"/>
                <a:gd name="T6" fmla="*/ 0 w 531"/>
                <a:gd name="T7" fmla="*/ 0 h 766"/>
                <a:gd name="T8" fmla="*/ 0 w 531"/>
                <a:gd name="T9" fmla="*/ 0 h 766"/>
                <a:gd name="T10" fmla="*/ 0 w 531"/>
                <a:gd name="T11" fmla="*/ 0 h 766"/>
                <a:gd name="T12" fmla="*/ 0 w 531"/>
                <a:gd name="T13" fmla="*/ 0 h 766"/>
                <a:gd name="T14" fmla="*/ 0 w 531"/>
                <a:gd name="T15" fmla="*/ 0 h 766"/>
                <a:gd name="T16" fmla="*/ 0 w 531"/>
                <a:gd name="T17" fmla="*/ 0 h 766"/>
                <a:gd name="T18" fmla="*/ 0 w 531"/>
                <a:gd name="T19" fmla="*/ 0 h 766"/>
                <a:gd name="T20" fmla="*/ 0 w 531"/>
                <a:gd name="T21" fmla="*/ 0 h 766"/>
                <a:gd name="T22" fmla="*/ 0 w 531"/>
                <a:gd name="T23" fmla="*/ 0 h 766"/>
                <a:gd name="T24" fmla="*/ 0 w 531"/>
                <a:gd name="T25" fmla="*/ 0 h 766"/>
                <a:gd name="T26" fmla="*/ 0 w 531"/>
                <a:gd name="T27" fmla="*/ 0 h 766"/>
                <a:gd name="T28" fmla="*/ 0 w 531"/>
                <a:gd name="T29" fmla="*/ 0 h 766"/>
                <a:gd name="T30" fmla="*/ 0 w 531"/>
                <a:gd name="T31" fmla="*/ 0 h 766"/>
                <a:gd name="T32" fmla="*/ 0 w 531"/>
                <a:gd name="T33" fmla="*/ 0 h 766"/>
                <a:gd name="T34" fmla="*/ 0 w 531"/>
                <a:gd name="T35" fmla="*/ 0 h 766"/>
                <a:gd name="T36" fmla="*/ 0 w 531"/>
                <a:gd name="T37" fmla="*/ 0 h 766"/>
                <a:gd name="T38" fmla="*/ 0 w 531"/>
                <a:gd name="T39" fmla="*/ 0 h 766"/>
                <a:gd name="T40" fmla="*/ 0 w 531"/>
                <a:gd name="T41" fmla="*/ 0 h 76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531" h="766">
                  <a:moveTo>
                    <a:pt x="347" y="154"/>
                  </a:moveTo>
                  <a:lnTo>
                    <a:pt x="248" y="150"/>
                  </a:lnTo>
                  <a:lnTo>
                    <a:pt x="143" y="131"/>
                  </a:lnTo>
                  <a:lnTo>
                    <a:pt x="81" y="99"/>
                  </a:lnTo>
                  <a:lnTo>
                    <a:pt x="46" y="72"/>
                  </a:lnTo>
                  <a:lnTo>
                    <a:pt x="0" y="0"/>
                  </a:lnTo>
                  <a:lnTo>
                    <a:pt x="67" y="589"/>
                  </a:lnTo>
                  <a:lnTo>
                    <a:pt x="113" y="643"/>
                  </a:lnTo>
                  <a:lnTo>
                    <a:pt x="162" y="694"/>
                  </a:lnTo>
                  <a:lnTo>
                    <a:pt x="225" y="729"/>
                  </a:lnTo>
                  <a:lnTo>
                    <a:pt x="279" y="747"/>
                  </a:lnTo>
                  <a:lnTo>
                    <a:pt x="347" y="756"/>
                  </a:lnTo>
                  <a:lnTo>
                    <a:pt x="409" y="766"/>
                  </a:lnTo>
                  <a:lnTo>
                    <a:pt x="480" y="766"/>
                  </a:lnTo>
                  <a:lnTo>
                    <a:pt x="512" y="756"/>
                  </a:lnTo>
                  <a:lnTo>
                    <a:pt x="531" y="729"/>
                  </a:lnTo>
                  <a:lnTo>
                    <a:pt x="522" y="685"/>
                  </a:lnTo>
                  <a:lnTo>
                    <a:pt x="476" y="581"/>
                  </a:lnTo>
                  <a:lnTo>
                    <a:pt x="399" y="229"/>
                  </a:lnTo>
                  <a:lnTo>
                    <a:pt x="387" y="180"/>
                  </a:lnTo>
                  <a:lnTo>
                    <a:pt x="347" y="15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197" name="Freeform 190"/>
          <p:cNvSpPr>
            <a:spLocks/>
          </p:cNvSpPr>
          <p:nvPr/>
        </p:nvSpPr>
        <p:spPr bwMode="auto">
          <a:xfrm>
            <a:off x="2098400" y="3556553"/>
            <a:ext cx="9060" cy="131016"/>
          </a:xfrm>
          <a:custGeom>
            <a:avLst/>
            <a:gdLst>
              <a:gd name="T0" fmla="*/ 2147483646 w 43"/>
              <a:gd name="T1" fmla="*/ 0 h 703"/>
              <a:gd name="T2" fmla="*/ 2147483646 w 43"/>
              <a:gd name="T3" fmla="*/ 2147483646 h 703"/>
              <a:gd name="T4" fmla="*/ 2147483646 w 43"/>
              <a:gd name="T5" fmla="*/ 2147483646 h 703"/>
              <a:gd name="T6" fmla="*/ 2147483646 w 43"/>
              <a:gd name="T7" fmla="*/ 2147483646 h 703"/>
              <a:gd name="T8" fmla="*/ 2147483646 w 43"/>
              <a:gd name="T9" fmla="*/ 2147483646 h 703"/>
              <a:gd name="T10" fmla="*/ 2147483646 w 43"/>
              <a:gd name="T11" fmla="*/ 2147483646 h 703"/>
              <a:gd name="T12" fmla="*/ 2147483646 w 43"/>
              <a:gd name="T13" fmla="*/ 2147483646 h 703"/>
              <a:gd name="T14" fmla="*/ 0 w 43"/>
              <a:gd name="T15" fmla="*/ 2147483646 h 703"/>
              <a:gd name="T16" fmla="*/ 2147483646 w 43"/>
              <a:gd name="T17" fmla="*/ 2147483646 h 703"/>
              <a:gd name="T18" fmla="*/ 2147483646 w 43"/>
              <a:gd name="T19" fmla="*/ 2147483646 h 703"/>
              <a:gd name="T20" fmla="*/ 2147483646 w 43"/>
              <a:gd name="T21" fmla="*/ 2147483646 h 703"/>
              <a:gd name="T22" fmla="*/ 2147483646 w 43"/>
              <a:gd name="T23" fmla="*/ 2147483646 h 703"/>
              <a:gd name="T24" fmla="*/ 2147483646 w 43"/>
              <a:gd name="T25" fmla="*/ 2147483646 h 703"/>
              <a:gd name="T26" fmla="*/ 2147483646 w 43"/>
              <a:gd name="T27" fmla="*/ 2147483646 h 703"/>
              <a:gd name="T28" fmla="*/ 2147483646 w 43"/>
              <a:gd name="T29" fmla="*/ 0 h 70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43" h="703">
                <a:moveTo>
                  <a:pt x="29" y="0"/>
                </a:moveTo>
                <a:lnTo>
                  <a:pt x="43" y="36"/>
                </a:lnTo>
                <a:lnTo>
                  <a:pt x="27" y="63"/>
                </a:lnTo>
                <a:lnTo>
                  <a:pt x="14" y="122"/>
                </a:lnTo>
                <a:lnTo>
                  <a:pt x="32" y="176"/>
                </a:lnTo>
                <a:lnTo>
                  <a:pt x="21" y="491"/>
                </a:lnTo>
                <a:lnTo>
                  <a:pt x="21" y="693"/>
                </a:lnTo>
                <a:lnTo>
                  <a:pt x="0" y="703"/>
                </a:lnTo>
                <a:lnTo>
                  <a:pt x="2" y="284"/>
                </a:lnTo>
                <a:lnTo>
                  <a:pt x="21" y="184"/>
                </a:lnTo>
                <a:lnTo>
                  <a:pt x="10" y="137"/>
                </a:lnTo>
                <a:lnTo>
                  <a:pt x="4" y="120"/>
                </a:lnTo>
                <a:lnTo>
                  <a:pt x="12" y="69"/>
                </a:lnTo>
                <a:lnTo>
                  <a:pt x="27" y="40"/>
                </a:lnTo>
                <a:lnTo>
                  <a:pt x="29"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8" name="Freeform 191"/>
          <p:cNvSpPr>
            <a:spLocks/>
          </p:cNvSpPr>
          <p:nvPr/>
        </p:nvSpPr>
        <p:spPr bwMode="auto">
          <a:xfrm>
            <a:off x="2062162" y="3558412"/>
            <a:ext cx="22145" cy="6505"/>
          </a:xfrm>
          <a:custGeom>
            <a:avLst/>
            <a:gdLst>
              <a:gd name="T0" fmla="*/ 2147483646 w 112"/>
              <a:gd name="T1" fmla="*/ 0 h 36"/>
              <a:gd name="T2" fmla="*/ 2147483646 w 112"/>
              <a:gd name="T3" fmla="*/ 2147483646 h 36"/>
              <a:gd name="T4" fmla="*/ 2147483646 w 112"/>
              <a:gd name="T5" fmla="*/ 2147483646 h 36"/>
              <a:gd name="T6" fmla="*/ 0 w 112"/>
              <a:gd name="T7" fmla="*/ 2147483646 h 36"/>
              <a:gd name="T8" fmla="*/ 2147483646 w 112"/>
              <a:gd name="T9" fmla="*/ 2147483646 h 36"/>
              <a:gd name="T10" fmla="*/ 2147483646 w 112"/>
              <a:gd name="T11" fmla="*/ 0 h 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2" h="36">
                <a:moveTo>
                  <a:pt x="112" y="0"/>
                </a:moveTo>
                <a:lnTo>
                  <a:pt x="57" y="26"/>
                </a:lnTo>
                <a:lnTo>
                  <a:pt x="9" y="36"/>
                </a:lnTo>
                <a:lnTo>
                  <a:pt x="0" y="36"/>
                </a:lnTo>
                <a:lnTo>
                  <a:pt x="29" y="11"/>
                </a:lnTo>
                <a:lnTo>
                  <a:pt x="112"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199" name="Freeform 192"/>
          <p:cNvSpPr>
            <a:spLocks/>
          </p:cNvSpPr>
          <p:nvPr/>
        </p:nvSpPr>
        <p:spPr bwMode="auto">
          <a:xfrm>
            <a:off x="1968546" y="3218328"/>
            <a:ext cx="30199" cy="75265"/>
          </a:xfrm>
          <a:custGeom>
            <a:avLst/>
            <a:gdLst>
              <a:gd name="T0" fmla="*/ 0 w 150"/>
              <a:gd name="T1" fmla="*/ 0 h 407"/>
              <a:gd name="T2" fmla="*/ 2147483646 w 150"/>
              <a:gd name="T3" fmla="*/ 2147483646 h 407"/>
              <a:gd name="T4" fmla="*/ 2147483646 w 150"/>
              <a:gd name="T5" fmla="*/ 2147483646 h 407"/>
              <a:gd name="T6" fmla="*/ 2147483646 w 150"/>
              <a:gd name="T7" fmla="*/ 2147483646 h 407"/>
              <a:gd name="T8" fmla="*/ 2147483646 w 150"/>
              <a:gd name="T9" fmla="*/ 2147483646 h 407"/>
              <a:gd name="T10" fmla="*/ 2147483646 w 150"/>
              <a:gd name="T11" fmla="*/ 2147483646 h 407"/>
              <a:gd name="T12" fmla="*/ 2147483646 w 150"/>
              <a:gd name="T13" fmla="*/ 2147483646 h 407"/>
              <a:gd name="T14" fmla="*/ 2147483646 w 150"/>
              <a:gd name="T15" fmla="*/ 2147483646 h 407"/>
              <a:gd name="T16" fmla="*/ 2147483646 w 150"/>
              <a:gd name="T17" fmla="*/ 2147483646 h 407"/>
              <a:gd name="T18" fmla="*/ 2147483646 w 150"/>
              <a:gd name="T19" fmla="*/ 2147483646 h 407"/>
              <a:gd name="T20" fmla="*/ 2147483646 w 150"/>
              <a:gd name="T21" fmla="*/ 2147483646 h 407"/>
              <a:gd name="T22" fmla="*/ 2147483646 w 150"/>
              <a:gd name="T23" fmla="*/ 2147483646 h 407"/>
              <a:gd name="T24" fmla="*/ 2147483646 w 150"/>
              <a:gd name="T25" fmla="*/ 2147483646 h 407"/>
              <a:gd name="T26" fmla="*/ 2147483646 w 150"/>
              <a:gd name="T27" fmla="*/ 2147483646 h 407"/>
              <a:gd name="T28" fmla="*/ 2147483646 w 150"/>
              <a:gd name="T29" fmla="*/ 2147483646 h 407"/>
              <a:gd name="T30" fmla="*/ 2147483646 w 150"/>
              <a:gd name="T31" fmla="*/ 2147483646 h 407"/>
              <a:gd name="T32" fmla="*/ 2147483646 w 150"/>
              <a:gd name="T33" fmla="*/ 2147483646 h 407"/>
              <a:gd name="T34" fmla="*/ 2147483646 w 150"/>
              <a:gd name="T35" fmla="*/ 2147483646 h 407"/>
              <a:gd name="T36" fmla="*/ 2147483646 w 150"/>
              <a:gd name="T37" fmla="*/ 2147483646 h 407"/>
              <a:gd name="T38" fmla="*/ 2147483646 w 150"/>
              <a:gd name="T39" fmla="*/ 2147483646 h 407"/>
              <a:gd name="T40" fmla="*/ 2147483646 w 150"/>
              <a:gd name="T41" fmla="*/ 2147483646 h 407"/>
              <a:gd name="T42" fmla="*/ 2147483646 w 150"/>
              <a:gd name="T43" fmla="*/ 2147483646 h 407"/>
              <a:gd name="T44" fmla="*/ 2147483646 w 150"/>
              <a:gd name="T45" fmla="*/ 2147483646 h 407"/>
              <a:gd name="T46" fmla="*/ 2147483646 w 150"/>
              <a:gd name="T47" fmla="*/ 2147483646 h 407"/>
              <a:gd name="T48" fmla="*/ 2147483646 w 150"/>
              <a:gd name="T49" fmla="*/ 2147483646 h 407"/>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50" h="407">
                <a:moveTo>
                  <a:pt x="0" y="0"/>
                </a:moveTo>
                <a:lnTo>
                  <a:pt x="20" y="10"/>
                </a:lnTo>
                <a:lnTo>
                  <a:pt x="17" y="34"/>
                </a:lnTo>
                <a:lnTo>
                  <a:pt x="36" y="22"/>
                </a:lnTo>
                <a:lnTo>
                  <a:pt x="33" y="50"/>
                </a:lnTo>
                <a:lnTo>
                  <a:pt x="58" y="46"/>
                </a:lnTo>
                <a:lnTo>
                  <a:pt x="39" y="69"/>
                </a:lnTo>
                <a:lnTo>
                  <a:pt x="91" y="73"/>
                </a:lnTo>
                <a:lnTo>
                  <a:pt x="61" y="101"/>
                </a:lnTo>
                <a:lnTo>
                  <a:pt x="105" y="101"/>
                </a:lnTo>
                <a:lnTo>
                  <a:pt x="75" y="130"/>
                </a:lnTo>
                <a:lnTo>
                  <a:pt x="121" y="127"/>
                </a:lnTo>
                <a:lnTo>
                  <a:pt x="92" y="167"/>
                </a:lnTo>
                <a:lnTo>
                  <a:pt x="133" y="164"/>
                </a:lnTo>
                <a:lnTo>
                  <a:pt x="98" y="199"/>
                </a:lnTo>
                <a:lnTo>
                  <a:pt x="150" y="205"/>
                </a:lnTo>
                <a:lnTo>
                  <a:pt x="105" y="237"/>
                </a:lnTo>
                <a:lnTo>
                  <a:pt x="150" y="250"/>
                </a:lnTo>
                <a:lnTo>
                  <a:pt x="101" y="266"/>
                </a:lnTo>
                <a:lnTo>
                  <a:pt x="146" y="293"/>
                </a:lnTo>
                <a:lnTo>
                  <a:pt x="98" y="312"/>
                </a:lnTo>
                <a:lnTo>
                  <a:pt x="140" y="343"/>
                </a:lnTo>
                <a:lnTo>
                  <a:pt x="98" y="355"/>
                </a:lnTo>
                <a:lnTo>
                  <a:pt x="121" y="382"/>
                </a:lnTo>
                <a:lnTo>
                  <a:pt x="88" y="407"/>
                </a:lnTo>
              </a:path>
            </a:pathLst>
          </a:custGeom>
          <a:noFill/>
          <a:ln w="3175">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0" name="Text Box 193"/>
          <p:cNvSpPr txBox="1">
            <a:spLocks noChangeArrowheads="1"/>
          </p:cNvSpPr>
          <p:nvPr/>
        </p:nvSpPr>
        <p:spPr bwMode="auto">
          <a:xfrm>
            <a:off x="6632191" y="3918638"/>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201" name="Oval 194"/>
          <p:cNvSpPr>
            <a:spLocks noChangeArrowheads="1"/>
          </p:cNvSpPr>
          <p:nvPr/>
        </p:nvSpPr>
        <p:spPr bwMode="auto">
          <a:xfrm>
            <a:off x="2135645" y="3280584"/>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202" name="Group 195"/>
          <p:cNvGrpSpPr>
            <a:grpSpLocks/>
          </p:cNvGrpSpPr>
          <p:nvPr/>
        </p:nvGrpSpPr>
        <p:grpSpPr bwMode="auto">
          <a:xfrm>
            <a:off x="6678537" y="3067799"/>
            <a:ext cx="449960" cy="289908"/>
            <a:chOff x="4993" y="1674"/>
            <a:chExt cx="447" cy="312"/>
          </a:xfrm>
        </p:grpSpPr>
        <p:grpSp>
          <p:nvGrpSpPr>
            <p:cNvPr id="203" name="Group 196"/>
            <p:cNvGrpSpPr>
              <a:grpSpLocks/>
            </p:cNvGrpSpPr>
            <p:nvPr/>
          </p:nvGrpSpPr>
          <p:grpSpPr bwMode="auto">
            <a:xfrm>
              <a:off x="4993" y="1674"/>
              <a:ext cx="345" cy="282"/>
              <a:chOff x="4993" y="1674"/>
              <a:chExt cx="345" cy="282"/>
            </a:xfrm>
          </p:grpSpPr>
          <p:grpSp>
            <p:nvGrpSpPr>
              <p:cNvPr id="236" name="Group 197"/>
              <p:cNvGrpSpPr>
                <a:grpSpLocks/>
              </p:cNvGrpSpPr>
              <p:nvPr/>
            </p:nvGrpSpPr>
            <p:grpSpPr bwMode="auto">
              <a:xfrm>
                <a:off x="4993" y="1674"/>
                <a:ext cx="345" cy="282"/>
                <a:chOff x="4993" y="1674"/>
                <a:chExt cx="345" cy="282"/>
              </a:xfrm>
            </p:grpSpPr>
            <p:grpSp>
              <p:nvGrpSpPr>
                <p:cNvPr id="245" name="Group 198"/>
                <p:cNvGrpSpPr>
                  <a:grpSpLocks/>
                </p:cNvGrpSpPr>
                <p:nvPr/>
              </p:nvGrpSpPr>
              <p:grpSpPr bwMode="auto">
                <a:xfrm>
                  <a:off x="4993" y="1833"/>
                  <a:ext cx="345" cy="123"/>
                  <a:chOff x="4993" y="1833"/>
                  <a:chExt cx="345" cy="123"/>
                </a:xfrm>
              </p:grpSpPr>
              <p:sp>
                <p:nvSpPr>
                  <p:cNvPr id="251" name="Freeform 199"/>
                  <p:cNvSpPr>
                    <a:spLocks/>
                  </p:cNvSpPr>
                  <p:nvPr/>
                </p:nvSpPr>
                <p:spPr bwMode="auto">
                  <a:xfrm>
                    <a:off x="5140" y="1833"/>
                    <a:ext cx="198" cy="123"/>
                  </a:xfrm>
                  <a:custGeom>
                    <a:avLst/>
                    <a:gdLst>
                      <a:gd name="T0" fmla="*/ 0 w 1188"/>
                      <a:gd name="T1" fmla="*/ 0 h 738"/>
                      <a:gd name="T2" fmla="*/ 0 w 1188"/>
                      <a:gd name="T3" fmla="*/ 0 h 738"/>
                      <a:gd name="T4" fmla="*/ 0 w 1188"/>
                      <a:gd name="T5" fmla="*/ 0 h 738"/>
                      <a:gd name="T6" fmla="*/ 0 w 1188"/>
                      <a:gd name="T7" fmla="*/ 0 h 738"/>
                      <a:gd name="T8" fmla="*/ 0 w 1188"/>
                      <a:gd name="T9" fmla="*/ 0 h 7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88" h="738">
                        <a:moveTo>
                          <a:pt x="0" y="225"/>
                        </a:moveTo>
                        <a:lnTo>
                          <a:pt x="0" y="738"/>
                        </a:lnTo>
                        <a:lnTo>
                          <a:pt x="1188" y="360"/>
                        </a:lnTo>
                        <a:lnTo>
                          <a:pt x="1188" y="0"/>
                        </a:lnTo>
                        <a:lnTo>
                          <a:pt x="0" y="225"/>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2" name="Freeform 200"/>
                  <p:cNvSpPr>
                    <a:spLocks/>
                  </p:cNvSpPr>
                  <p:nvPr/>
                </p:nvSpPr>
                <p:spPr bwMode="auto">
                  <a:xfrm>
                    <a:off x="4993" y="1862"/>
                    <a:ext cx="147" cy="94"/>
                  </a:xfrm>
                  <a:custGeom>
                    <a:avLst/>
                    <a:gdLst>
                      <a:gd name="T0" fmla="*/ 0 w 882"/>
                      <a:gd name="T1" fmla="*/ 0 h 563"/>
                      <a:gd name="T2" fmla="*/ 0 w 882"/>
                      <a:gd name="T3" fmla="*/ 0 h 563"/>
                      <a:gd name="T4" fmla="*/ 0 w 882"/>
                      <a:gd name="T5" fmla="*/ 0 h 563"/>
                      <a:gd name="T6" fmla="*/ 0 w 882"/>
                      <a:gd name="T7" fmla="*/ 0 h 563"/>
                      <a:gd name="T8" fmla="*/ 0 w 882"/>
                      <a:gd name="T9" fmla="*/ 0 h 56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82" h="563">
                        <a:moveTo>
                          <a:pt x="882" y="50"/>
                        </a:moveTo>
                        <a:lnTo>
                          <a:pt x="882" y="563"/>
                        </a:lnTo>
                        <a:lnTo>
                          <a:pt x="0" y="436"/>
                        </a:lnTo>
                        <a:lnTo>
                          <a:pt x="0" y="0"/>
                        </a:lnTo>
                        <a:lnTo>
                          <a:pt x="882" y="5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3" name="Freeform 201"/>
                  <p:cNvSpPr>
                    <a:spLocks/>
                  </p:cNvSpPr>
                  <p:nvPr/>
                </p:nvSpPr>
                <p:spPr bwMode="auto">
                  <a:xfrm>
                    <a:off x="4993" y="1833"/>
                    <a:ext cx="345" cy="38"/>
                  </a:xfrm>
                  <a:custGeom>
                    <a:avLst/>
                    <a:gdLst>
                      <a:gd name="T0" fmla="*/ 0 w 2070"/>
                      <a:gd name="T1" fmla="*/ 0 h 225"/>
                      <a:gd name="T2" fmla="*/ 0 w 2070"/>
                      <a:gd name="T3" fmla="*/ 0 h 225"/>
                      <a:gd name="T4" fmla="*/ 0 w 2070"/>
                      <a:gd name="T5" fmla="*/ 0 h 225"/>
                      <a:gd name="T6" fmla="*/ 0 w 2070"/>
                      <a:gd name="T7" fmla="*/ 0 h 225"/>
                      <a:gd name="T8" fmla="*/ 0 w 2070"/>
                      <a:gd name="T9" fmla="*/ 0 h 22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70" h="225">
                        <a:moveTo>
                          <a:pt x="0" y="175"/>
                        </a:moveTo>
                        <a:lnTo>
                          <a:pt x="892" y="225"/>
                        </a:lnTo>
                        <a:lnTo>
                          <a:pt x="2070" y="0"/>
                        </a:lnTo>
                        <a:lnTo>
                          <a:pt x="1202" y="0"/>
                        </a:lnTo>
                        <a:lnTo>
                          <a:pt x="0" y="175"/>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246" name="Freeform 202"/>
                <p:cNvSpPr>
                  <a:spLocks/>
                </p:cNvSpPr>
                <p:nvPr/>
              </p:nvSpPr>
              <p:spPr bwMode="auto">
                <a:xfrm>
                  <a:off x="5105" y="1823"/>
                  <a:ext cx="126" cy="35"/>
                </a:xfrm>
                <a:custGeom>
                  <a:avLst/>
                  <a:gdLst>
                    <a:gd name="T0" fmla="*/ 0 w 751"/>
                    <a:gd name="T1" fmla="*/ 0 h 210"/>
                    <a:gd name="T2" fmla="*/ 0 w 751"/>
                    <a:gd name="T3" fmla="*/ 0 h 210"/>
                    <a:gd name="T4" fmla="*/ 0 w 751"/>
                    <a:gd name="T5" fmla="*/ 0 h 210"/>
                    <a:gd name="T6" fmla="*/ 0 w 751"/>
                    <a:gd name="T7" fmla="*/ 0 h 210"/>
                    <a:gd name="T8" fmla="*/ 0 w 751"/>
                    <a:gd name="T9" fmla="*/ 0 h 210"/>
                    <a:gd name="T10" fmla="*/ 0 w 751"/>
                    <a:gd name="T11" fmla="*/ 0 h 21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51" h="210">
                      <a:moveTo>
                        <a:pt x="0" y="120"/>
                      </a:moveTo>
                      <a:lnTo>
                        <a:pt x="0" y="188"/>
                      </a:lnTo>
                      <a:lnTo>
                        <a:pt x="351" y="210"/>
                      </a:lnTo>
                      <a:lnTo>
                        <a:pt x="751" y="135"/>
                      </a:lnTo>
                      <a:lnTo>
                        <a:pt x="751" y="0"/>
                      </a:lnTo>
                      <a:lnTo>
                        <a:pt x="0" y="12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47" name="Group 203"/>
                <p:cNvGrpSpPr>
                  <a:grpSpLocks/>
                </p:cNvGrpSpPr>
                <p:nvPr/>
              </p:nvGrpSpPr>
              <p:grpSpPr bwMode="auto">
                <a:xfrm>
                  <a:off x="5020" y="1674"/>
                  <a:ext cx="279" cy="176"/>
                  <a:chOff x="5020" y="1674"/>
                  <a:chExt cx="279" cy="176"/>
                </a:xfrm>
              </p:grpSpPr>
              <p:sp>
                <p:nvSpPr>
                  <p:cNvPr id="248" name="Freeform 204"/>
                  <p:cNvSpPr>
                    <a:spLocks/>
                  </p:cNvSpPr>
                  <p:nvPr/>
                </p:nvSpPr>
                <p:spPr bwMode="auto">
                  <a:xfrm>
                    <a:off x="5139" y="1674"/>
                    <a:ext cx="160" cy="172"/>
                  </a:xfrm>
                  <a:custGeom>
                    <a:avLst/>
                    <a:gdLst>
                      <a:gd name="T0" fmla="*/ 0 w 960"/>
                      <a:gd name="T1" fmla="*/ 0 h 1031"/>
                      <a:gd name="T2" fmla="*/ 0 w 960"/>
                      <a:gd name="T3" fmla="*/ 0 h 1031"/>
                      <a:gd name="T4" fmla="*/ 0 w 960"/>
                      <a:gd name="T5" fmla="*/ 0 h 1031"/>
                      <a:gd name="T6" fmla="*/ 0 w 960"/>
                      <a:gd name="T7" fmla="*/ 0 h 1031"/>
                      <a:gd name="T8" fmla="*/ 0 w 960"/>
                      <a:gd name="T9" fmla="*/ 0 h 10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60" h="1031">
                        <a:moveTo>
                          <a:pt x="135" y="1031"/>
                        </a:moveTo>
                        <a:lnTo>
                          <a:pt x="0" y="33"/>
                        </a:lnTo>
                        <a:lnTo>
                          <a:pt x="827" y="0"/>
                        </a:lnTo>
                        <a:lnTo>
                          <a:pt x="960" y="889"/>
                        </a:lnTo>
                        <a:lnTo>
                          <a:pt x="135" y="1031"/>
                        </a:lnTo>
                        <a:close/>
                      </a:path>
                    </a:pathLst>
                  </a:custGeom>
                  <a:solidFill>
                    <a:srgbClr val="A0A0A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9" name="Freeform 205"/>
                  <p:cNvSpPr>
                    <a:spLocks/>
                  </p:cNvSpPr>
                  <p:nvPr/>
                </p:nvSpPr>
                <p:spPr bwMode="auto">
                  <a:xfrm>
                    <a:off x="5020" y="1679"/>
                    <a:ext cx="141" cy="171"/>
                  </a:xfrm>
                  <a:custGeom>
                    <a:avLst/>
                    <a:gdLst>
                      <a:gd name="T0" fmla="*/ 0 w 850"/>
                      <a:gd name="T1" fmla="*/ 0 h 1026"/>
                      <a:gd name="T2" fmla="*/ 0 w 850"/>
                      <a:gd name="T3" fmla="*/ 0 h 1026"/>
                      <a:gd name="T4" fmla="*/ 0 w 850"/>
                      <a:gd name="T5" fmla="*/ 0 h 1026"/>
                      <a:gd name="T6" fmla="*/ 0 w 850"/>
                      <a:gd name="T7" fmla="*/ 0 h 1026"/>
                      <a:gd name="T8" fmla="*/ 0 w 850"/>
                      <a:gd name="T9" fmla="*/ 0 h 10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50" h="1026">
                        <a:moveTo>
                          <a:pt x="715" y="0"/>
                        </a:moveTo>
                        <a:lnTo>
                          <a:pt x="0" y="228"/>
                        </a:lnTo>
                        <a:lnTo>
                          <a:pt x="102" y="1026"/>
                        </a:lnTo>
                        <a:lnTo>
                          <a:pt x="850" y="1000"/>
                        </a:lnTo>
                        <a:lnTo>
                          <a:pt x="715" y="0"/>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0" name="Freeform 206"/>
                  <p:cNvSpPr>
                    <a:spLocks/>
                  </p:cNvSpPr>
                  <p:nvPr/>
                </p:nvSpPr>
                <p:spPr bwMode="auto">
                  <a:xfrm>
                    <a:off x="5166" y="1691"/>
                    <a:ext cx="115" cy="129"/>
                  </a:xfrm>
                  <a:custGeom>
                    <a:avLst/>
                    <a:gdLst>
                      <a:gd name="T0" fmla="*/ 0 w 689"/>
                      <a:gd name="T1" fmla="*/ 0 h 778"/>
                      <a:gd name="T2" fmla="*/ 0 w 689"/>
                      <a:gd name="T3" fmla="*/ 0 h 778"/>
                      <a:gd name="T4" fmla="*/ 0 w 689"/>
                      <a:gd name="T5" fmla="*/ 0 h 778"/>
                      <a:gd name="T6" fmla="*/ 0 w 689"/>
                      <a:gd name="T7" fmla="*/ 0 h 778"/>
                      <a:gd name="T8" fmla="*/ 0 w 689"/>
                      <a:gd name="T9" fmla="*/ 0 h 7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89" h="778">
                        <a:moveTo>
                          <a:pt x="0" y="36"/>
                        </a:moveTo>
                        <a:lnTo>
                          <a:pt x="98" y="778"/>
                        </a:lnTo>
                        <a:lnTo>
                          <a:pt x="689" y="689"/>
                        </a:lnTo>
                        <a:lnTo>
                          <a:pt x="587" y="0"/>
                        </a:lnTo>
                        <a:lnTo>
                          <a:pt x="0" y="36"/>
                        </a:lnTo>
                        <a:close/>
                      </a:path>
                    </a:pathLst>
                  </a:custGeom>
                  <a:solidFill>
                    <a:srgbClr val="0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37" name="Group 207"/>
              <p:cNvGrpSpPr>
                <a:grpSpLocks/>
              </p:cNvGrpSpPr>
              <p:nvPr/>
            </p:nvGrpSpPr>
            <p:grpSpPr bwMode="auto">
              <a:xfrm>
                <a:off x="5212" y="1846"/>
                <a:ext cx="113" cy="80"/>
                <a:chOff x="5212" y="1846"/>
                <a:chExt cx="113" cy="80"/>
              </a:xfrm>
            </p:grpSpPr>
            <p:sp>
              <p:nvSpPr>
                <p:cNvPr id="238" name="Freeform 208"/>
                <p:cNvSpPr>
                  <a:spLocks/>
                </p:cNvSpPr>
                <p:nvPr/>
              </p:nvSpPr>
              <p:spPr bwMode="auto">
                <a:xfrm>
                  <a:off x="5212" y="1846"/>
                  <a:ext cx="112" cy="80"/>
                </a:xfrm>
                <a:custGeom>
                  <a:avLst/>
                  <a:gdLst>
                    <a:gd name="T0" fmla="*/ 0 w 674"/>
                    <a:gd name="T1" fmla="*/ 0 h 482"/>
                    <a:gd name="T2" fmla="*/ 0 w 674"/>
                    <a:gd name="T3" fmla="*/ 0 h 482"/>
                    <a:gd name="T4" fmla="*/ 0 w 674"/>
                    <a:gd name="T5" fmla="*/ 0 h 482"/>
                    <a:gd name="T6" fmla="*/ 0 w 674"/>
                    <a:gd name="T7" fmla="*/ 0 h 482"/>
                    <a:gd name="T8" fmla="*/ 0 w 674"/>
                    <a:gd name="T9" fmla="*/ 0 h 48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74" h="482">
                      <a:moveTo>
                        <a:pt x="674" y="0"/>
                      </a:moveTo>
                      <a:lnTo>
                        <a:pt x="0" y="143"/>
                      </a:lnTo>
                      <a:lnTo>
                        <a:pt x="0" y="482"/>
                      </a:lnTo>
                      <a:lnTo>
                        <a:pt x="674" y="271"/>
                      </a:lnTo>
                      <a:lnTo>
                        <a:pt x="674" y="0"/>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9" name="Line 209"/>
                <p:cNvSpPr>
                  <a:spLocks noChangeShapeType="1"/>
                </p:cNvSpPr>
                <p:nvPr/>
              </p:nvSpPr>
              <p:spPr bwMode="auto">
                <a:xfrm flipV="1">
                  <a:off x="5286" y="1866"/>
                  <a:ext cx="30" cy="7"/>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0" name="Line 210"/>
                <p:cNvSpPr>
                  <a:spLocks noChangeShapeType="1"/>
                </p:cNvSpPr>
                <p:nvPr/>
              </p:nvSpPr>
              <p:spPr bwMode="auto">
                <a:xfrm flipH="1">
                  <a:off x="5231" y="1876"/>
                  <a:ext cx="39" cy="9"/>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1" name="Line 211"/>
                <p:cNvSpPr>
                  <a:spLocks noChangeShapeType="1"/>
                </p:cNvSpPr>
                <p:nvPr/>
              </p:nvSpPr>
              <p:spPr bwMode="auto">
                <a:xfrm>
                  <a:off x="5277" y="1856"/>
                  <a:ext cx="1" cy="5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2" name="Line 212"/>
                <p:cNvSpPr>
                  <a:spLocks noChangeShapeType="1"/>
                </p:cNvSpPr>
                <p:nvPr/>
              </p:nvSpPr>
              <p:spPr bwMode="auto">
                <a:xfrm>
                  <a:off x="5223" y="1868"/>
                  <a:ext cx="1" cy="57"/>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3" name="Line 213"/>
                <p:cNvSpPr>
                  <a:spLocks noChangeShapeType="1"/>
                </p:cNvSpPr>
                <p:nvPr/>
              </p:nvSpPr>
              <p:spPr bwMode="auto">
                <a:xfrm flipH="1">
                  <a:off x="5223" y="1867"/>
                  <a:ext cx="102" cy="26"/>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44" name="Line 214"/>
                <p:cNvSpPr>
                  <a:spLocks noChangeShapeType="1"/>
                </p:cNvSpPr>
                <p:nvPr/>
              </p:nvSpPr>
              <p:spPr bwMode="auto">
                <a:xfrm flipV="1">
                  <a:off x="5223" y="1860"/>
                  <a:ext cx="102" cy="2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nvGrpSpPr>
            <p:cNvPr id="204" name="Group 215"/>
            <p:cNvGrpSpPr>
              <a:grpSpLocks/>
            </p:cNvGrpSpPr>
            <p:nvPr/>
          </p:nvGrpSpPr>
          <p:grpSpPr bwMode="auto">
            <a:xfrm>
              <a:off x="5170" y="1848"/>
              <a:ext cx="270" cy="138"/>
              <a:chOff x="5170" y="1848"/>
              <a:chExt cx="270" cy="138"/>
            </a:xfrm>
          </p:grpSpPr>
          <p:grpSp>
            <p:nvGrpSpPr>
              <p:cNvPr id="205" name="Group 216"/>
              <p:cNvGrpSpPr>
                <a:grpSpLocks/>
              </p:cNvGrpSpPr>
              <p:nvPr/>
            </p:nvGrpSpPr>
            <p:grpSpPr bwMode="auto">
              <a:xfrm>
                <a:off x="5188" y="1923"/>
                <a:ext cx="43" cy="32"/>
                <a:chOff x="5188" y="1923"/>
                <a:chExt cx="43" cy="32"/>
              </a:xfrm>
            </p:grpSpPr>
            <p:sp>
              <p:nvSpPr>
                <p:cNvPr id="234" name="Freeform 217"/>
                <p:cNvSpPr>
                  <a:spLocks/>
                </p:cNvSpPr>
                <p:nvPr/>
              </p:nvSpPr>
              <p:spPr bwMode="auto">
                <a:xfrm>
                  <a:off x="5188" y="1923"/>
                  <a:ext cx="12" cy="32"/>
                </a:xfrm>
                <a:custGeom>
                  <a:avLst/>
                  <a:gdLst>
                    <a:gd name="T0" fmla="*/ 0 w 75"/>
                    <a:gd name="T1" fmla="*/ 0 h 194"/>
                    <a:gd name="T2" fmla="*/ 0 w 75"/>
                    <a:gd name="T3" fmla="*/ 0 h 194"/>
                    <a:gd name="T4" fmla="*/ 0 w 75"/>
                    <a:gd name="T5" fmla="*/ 0 h 194"/>
                    <a:gd name="T6" fmla="*/ 0 w 75"/>
                    <a:gd name="T7" fmla="*/ 0 h 194"/>
                    <a:gd name="T8" fmla="*/ 0 w 75"/>
                    <a:gd name="T9" fmla="*/ 0 h 19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 h="194">
                      <a:moveTo>
                        <a:pt x="23" y="0"/>
                      </a:moveTo>
                      <a:lnTo>
                        <a:pt x="0" y="183"/>
                      </a:lnTo>
                      <a:lnTo>
                        <a:pt x="55" y="194"/>
                      </a:lnTo>
                      <a:lnTo>
                        <a:pt x="75" y="8"/>
                      </a:lnTo>
                      <a:lnTo>
                        <a:pt x="23"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5" name="Freeform 218"/>
                <p:cNvSpPr>
                  <a:spLocks/>
                </p:cNvSpPr>
                <p:nvPr/>
              </p:nvSpPr>
              <p:spPr bwMode="auto">
                <a:xfrm>
                  <a:off x="5197" y="1927"/>
                  <a:ext cx="34" cy="28"/>
                </a:xfrm>
                <a:custGeom>
                  <a:avLst/>
                  <a:gdLst>
                    <a:gd name="T0" fmla="*/ 0 w 206"/>
                    <a:gd name="T1" fmla="*/ 0 h 168"/>
                    <a:gd name="T2" fmla="*/ 0 w 206"/>
                    <a:gd name="T3" fmla="*/ 0 h 168"/>
                    <a:gd name="T4" fmla="*/ 0 w 206"/>
                    <a:gd name="T5" fmla="*/ 0 h 168"/>
                    <a:gd name="T6" fmla="*/ 0 w 206"/>
                    <a:gd name="T7" fmla="*/ 0 h 168"/>
                    <a:gd name="T8" fmla="*/ 0 w 206"/>
                    <a:gd name="T9" fmla="*/ 0 h 168"/>
                    <a:gd name="T10" fmla="*/ 0 w 206"/>
                    <a:gd name="T11" fmla="*/ 0 h 168"/>
                    <a:gd name="T12" fmla="*/ 0 w 206"/>
                    <a:gd name="T13" fmla="*/ 0 h 16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6" h="168">
                      <a:moveTo>
                        <a:pt x="17" y="5"/>
                      </a:moveTo>
                      <a:lnTo>
                        <a:pt x="0" y="168"/>
                      </a:lnTo>
                      <a:lnTo>
                        <a:pt x="206" y="84"/>
                      </a:lnTo>
                      <a:lnTo>
                        <a:pt x="126" y="58"/>
                      </a:lnTo>
                      <a:lnTo>
                        <a:pt x="52" y="97"/>
                      </a:lnTo>
                      <a:lnTo>
                        <a:pt x="75" y="0"/>
                      </a:lnTo>
                      <a:lnTo>
                        <a:pt x="17" y="5"/>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06" name="Group 219"/>
              <p:cNvGrpSpPr>
                <a:grpSpLocks/>
              </p:cNvGrpSpPr>
              <p:nvPr/>
            </p:nvGrpSpPr>
            <p:grpSpPr bwMode="auto">
              <a:xfrm>
                <a:off x="5170" y="1848"/>
                <a:ext cx="270" cy="138"/>
                <a:chOff x="5170" y="1848"/>
                <a:chExt cx="270" cy="138"/>
              </a:xfrm>
            </p:grpSpPr>
            <p:sp>
              <p:nvSpPr>
                <p:cNvPr id="207" name="Freeform 220"/>
                <p:cNvSpPr>
                  <a:spLocks/>
                </p:cNvSpPr>
                <p:nvPr/>
              </p:nvSpPr>
              <p:spPr bwMode="auto">
                <a:xfrm>
                  <a:off x="5175" y="1848"/>
                  <a:ext cx="264" cy="122"/>
                </a:xfrm>
                <a:custGeom>
                  <a:avLst/>
                  <a:gdLst>
                    <a:gd name="T0" fmla="*/ 0 w 1583"/>
                    <a:gd name="T1" fmla="*/ 0 h 729"/>
                    <a:gd name="T2" fmla="*/ 0 w 1583"/>
                    <a:gd name="T3" fmla="*/ 0 h 729"/>
                    <a:gd name="T4" fmla="*/ 0 w 1583"/>
                    <a:gd name="T5" fmla="*/ 0 h 729"/>
                    <a:gd name="T6" fmla="*/ 0 w 1583"/>
                    <a:gd name="T7" fmla="*/ 0 h 729"/>
                    <a:gd name="T8" fmla="*/ 0 w 1583"/>
                    <a:gd name="T9" fmla="*/ 0 h 72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83" h="729">
                      <a:moveTo>
                        <a:pt x="0" y="309"/>
                      </a:moveTo>
                      <a:lnTo>
                        <a:pt x="759" y="729"/>
                      </a:lnTo>
                      <a:lnTo>
                        <a:pt x="1583" y="318"/>
                      </a:lnTo>
                      <a:lnTo>
                        <a:pt x="951" y="0"/>
                      </a:lnTo>
                      <a:lnTo>
                        <a:pt x="0" y="309"/>
                      </a:lnTo>
                      <a:close/>
                    </a:path>
                  </a:pathLst>
                </a:custGeom>
                <a:solidFill>
                  <a:srgbClr val="80808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8" name="Freeform 221"/>
                <p:cNvSpPr>
                  <a:spLocks/>
                </p:cNvSpPr>
                <p:nvPr/>
              </p:nvSpPr>
              <p:spPr bwMode="auto">
                <a:xfrm>
                  <a:off x="5170" y="1899"/>
                  <a:ext cx="133" cy="86"/>
                </a:xfrm>
                <a:custGeom>
                  <a:avLst/>
                  <a:gdLst>
                    <a:gd name="T0" fmla="*/ 0 w 792"/>
                    <a:gd name="T1" fmla="*/ 0 h 516"/>
                    <a:gd name="T2" fmla="*/ 0 w 792"/>
                    <a:gd name="T3" fmla="*/ 0 h 516"/>
                    <a:gd name="T4" fmla="*/ 0 w 792"/>
                    <a:gd name="T5" fmla="*/ 0 h 516"/>
                    <a:gd name="T6" fmla="*/ 0 w 792"/>
                    <a:gd name="T7" fmla="*/ 0 h 516"/>
                    <a:gd name="T8" fmla="*/ 0 w 792"/>
                    <a:gd name="T9" fmla="*/ 0 h 51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92" h="516">
                      <a:moveTo>
                        <a:pt x="28" y="0"/>
                      </a:moveTo>
                      <a:lnTo>
                        <a:pt x="792" y="426"/>
                      </a:lnTo>
                      <a:lnTo>
                        <a:pt x="770" y="516"/>
                      </a:lnTo>
                      <a:lnTo>
                        <a:pt x="0" y="82"/>
                      </a:lnTo>
                      <a:lnTo>
                        <a:pt x="28" y="0"/>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09" name="Freeform 222"/>
                <p:cNvSpPr>
                  <a:spLocks/>
                </p:cNvSpPr>
                <p:nvPr/>
              </p:nvSpPr>
              <p:spPr bwMode="auto">
                <a:xfrm>
                  <a:off x="5299" y="1901"/>
                  <a:ext cx="141" cy="85"/>
                </a:xfrm>
                <a:custGeom>
                  <a:avLst/>
                  <a:gdLst>
                    <a:gd name="T0" fmla="*/ 0 w 846"/>
                    <a:gd name="T1" fmla="*/ 0 h 507"/>
                    <a:gd name="T2" fmla="*/ 0 w 846"/>
                    <a:gd name="T3" fmla="*/ 0 h 507"/>
                    <a:gd name="T4" fmla="*/ 0 w 846"/>
                    <a:gd name="T5" fmla="*/ 0 h 507"/>
                    <a:gd name="T6" fmla="*/ 0 w 846"/>
                    <a:gd name="T7" fmla="*/ 0 h 507"/>
                    <a:gd name="T8" fmla="*/ 0 w 846"/>
                    <a:gd name="T9" fmla="*/ 0 h 5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846" h="507">
                      <a:moveTo>
                        <a:pt x="0" y="507"/>
                      </a:moveTo>
                      <a:lnTo>
                        <a:pt x="25" y="411"/>
                      </a:lnTo>
                      <a:lnTo>
                        <a:pt x="846" y="0"/>
                      </a:lnTo>
                      <a:lnTo>
                        <a:pt x="817" y="76"/>
                      </a:lnTo>
                      <a:lnTo>
                        <a:pt x="0" y="507"/>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0" name="Freeform 223"/>
                <p:cNvSpPr>
                  <a:spLocks/>
                </p:cNvSpPr>
                <p:nvPr/>
              </p:nvSpPr>
              <p:spPr bwMode="auto">
                <a:xfrm>
                  <a:off x="5227" y="1905"/>
                  <a:ext cx="106" cy="54"/>
                </a:xfrm>
                <a:custGeom>
                  <a:avLst/>
                  <a:gdLst>
                    <a:gd name="T0" fmla="*/ 0 w 637"/>
                    <a:gd name="T1" fmla="*/ 0 h 321"/>
                    <a:gd name="T2" fmla="*/ 0 w 637"/>
                    <a:gd name="T3" fmla="*/ 0 h 321"/>
                    <a:gd name="T4" fmla="*/ 0 w 637"/>
                    <a:gd name="T5" fmla="*/ 0 h 321"/>
                    <a:gd name="T6" fmla="*/ 0 w 637"/>
                    <a:gd name="T7" fmla="*/ 0 h 321"/>
                    <a:gd name="T8" fmla="*/ 0 w 637"/>
                    <a:gd name="T9" fmla="*/ 0 h 3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37" h="321">
                      <a:moveTo>
                        <a:pt x="0" y="83"/>
                      </a:moveTo>
                      <a:lnTo>
                        <a:pt x="220" y="0"/>
                      </a:lnTo>
                      <a:lnTo>
                        <a:pt x="637" y="224"/>
                      </a:lnTo>
                      <a:lnTo>
                        <a:pt x="425" y="321"/>
                      </a:lnTo>
                      <a:lnTo>
                        <a:pt x="0" y="8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1" name="Freeform 224"/>
                <p:cNvSpPr>
                  <a:spLocks/>
                </p:cNvSpPr>
                <p:nvPr/>
              </p:nvSpPr>
              <p:spPr bwMode="auto">
                <a:xfrm>
                  <a:off x="5270" y="1868"/>
                  <a:ext cx="156" cy="72"/>
                </a:xfrm>
                <a:custGeom>
                  <a:avLst/>
                  <a:gdLst>
                    <a:gd name="T0" fmla="*/ 0 w 938"/>
                    <a:gd name="T1" fmla="*/ 0 h 434"/>
                    <a:gd name="T2" fmla="*/ 0 w 938"/>
                    <a:gd name="T3" fmla="*/ 0 h 434"/>
                    <a:gd name="T4" fmla="*/ 0 w 938"/>
                    <a:gd name="T5" fmla="*/ 0 h 434"/>
                    <a:gd name="T6" fmla="*/ 0 w 938"/>
                    <a:gd name="T7" fmla="*/ 0 h 434"/>
                    <a:gd name="T8" fmla="*/ 0 w 938"/>
                    <a:gd name="T9" fmla="*/ 0 h 43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38" h="434">
                      <a:moveTo>
                        <a:pt x="0" y="210"/>
                      </a:moveTo>
                      <a:lnTo>
                        <a:pt x="410" y="434"/>
                      </a:lnTo>
                      <a:lnTo>
                        <a:pt x="938" y="186"/>
                      </a:lnTo>
                      <a:lnTo>
                        <a:pt x="554" y="0"/>
                      </a:lnTo>
                      <a:lnTo>
                        <a:pt x="0" y="21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2" name="Freeform 225"/>
                <p:cNvSpPr>
                  <a:spLocks/>
                </p:cNvSpPr>
                <p:nvPr/>
              </p:nvSpPr>
              <p:spPr bwMode="auto">
                <a:xfrm>
                  <a:off x="5188" y="1852"/>
                  <a:ext cx="172" cy="66"/>
                </a:xfrm>
                <a:custGeom>
                  <a:avLst/>
                  <a:gdLst>
                    <a:gd name="T0" fmla="*/ 0 w 1034"/>
                    <a:gd name="T1" fmla="*/ 0 h 395"/>
                    <a:gd name="T2" fmla="*/ 0 w 1034"/>
                    <a:gd name="T3" fmla="*/ 0 h 395"/>
                    <a:gd name="T4" fmla="*/ 0 w 1034"/>
                    <a:gd name="T5" fmla="*/ 0 h 395"/>
                    <a:gd name="T6" fmla="*/ 0 w 1034"/>
                    <a:gd name="T7" fmla="*/ 0 h 395"/>
                    <a:gd name="T8" fmla="*/ 0 w 1034"/>
                    <a:gd name="T9" fmla="*/ 0 h 39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4" h="395">
                      <a:moveTo>
                        <a:pt x="216" y="395"/>
                      </a:moveTo>
                      <a:lnTo>
                        <a:pt x="0" y="285"/>
                      </a:lnTo>
                      <a:lnTo>
                        <a:pt x="867" y="0"/>
                      </a:lnTo>
                      <a:lnTo>
                        <a:pt x="1034" y="82"/>
                      </a:lnTo>
                      <a:lnTo>
                        <a:pt x="216" y="395"/>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3" name="Line 226"/>
                <p:cNvSpPr>
                  <a:spLocks noChangeShapeType="1"/>
                </p:cNvSpPr>
                <p:nvPr/>
              </p:nvSpPr>
              <p:spPr bwMode="auto">
                <a:xfrm flipV="1">
                  <a:off x="5193" y="1855"/>
                  <a:ext cx="148" cy="51"/>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4" name="Line 227"/>
                <p:cNvSpPr>
                  <a:spLocks noChangeShapeType="1"/>
                </p:cNvSpPr>
                <p:nvPr/>
              </p:nvSpPr>
              <p:spPr bwMode="auto">
                <a:xfrm flipV="1">
                  <a:off x="5205" y="1858"/>
                  <a:ext cx="14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5" name="Line 228"/>
                <p:cNvSpPr>
                  <a:spLocks noChangeShapeType="1"/>
                </p:cNvSpPr>
                <p:nvPr/>
              </p:nvSpPr>
              <p:spPr bwMode="auto">
                <a:xfrm flipV="1">
                  <a:off x="5214" y="1862"/>
                  <a:ext cx="141" cy="5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6" name="Line 229"/>
                <p:cNvSpPr>
                  <a:spLocks noChangeShapeType="1"/>
                </p:cNvSpPr>
                <p:nvPr/>
              </p:nvSpPr>
              <p:spPr bwMode="auto">
                <a:xfrm flipV="1">
                  <a:off x="5235" y="1871"/>
                  <a:ext cx="138" cy="5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7" name="Line 230"/>
                <p:cNvSpPr>
                  <a:spLocks noChangeShapeType="1"/>
                </p:cNvSpPr>
                <p:nvPr/>
              </p:nvSpPr>
              <p:spPr bwMode="auto">
                <a:xfrm flipV="1">
                  <a:off x="5246" y="1877"/>
                  <a:ext cx="137" cy="5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8" name="Line 231"/>
                <p:cNvSpPr>
                  <a:spLocks noChangeShapeType="1"/>
                </p:cNvSpPr>
                <p:nvPr/>
              </p:nvSpPr>
              <p:spPr bwMode="auto">
                <a:xfrm flipV="1">
                  <a:off x="5261" y="1885"/>
                  <a:ext cx="124"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19" name="Line 232"/>
                <p:cNvSpPr>
                  <a:spLocks noChangeShapeType="1"/>
                </p:cNvSpPr>
                <p:nvPr/>
              </p:nvSpPr>
              <p:spPr bwMode="auto">
                <a:xfrm flipV="1">
                  <a:off x="5274" y="1890"/>
                  <a:ext cx="119" cy="5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0" name="Line 233"/>
                <p:cNvSpPr>
                  <a:spLocks noChangeShapeType="1"/>
                </p:cNvSpPr>
                <p:nvPr/>
              </p:nvSpPr>
              <p:spPr bwMode="auto">
                <a:xfrm flipV="1">
                  <a:off x="5291" y="1897"/>
                  <a:ext cx="114" cy="52"/>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1" name="Line 234"/>
                <p:cNvSpPr>
                  <a:spLocks noChangeShapeType="1"/>
                </p:cNvSpPr>
                <p:nvPr/>
              </p:nvSpPr>
              <p:spPr bwMode="auto">
                <a:xfrm>
                  <a:off x="5239" y="1915"/>
                  <a:ext cx="71" cy="40"/>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2" name="Line 235"/>
                <p:cNvSpPr>
                  <a:spLocks noChangeShapeType="1"/>
                </p:cNvSpPr>
                <p:nvPr/>
              </p:nvSpPr>
              <p:spPr bwMode="auto">
                <a:xfrm>
                  <a:off x="5255" y="1910"/>
                  <a:ext cx="69" cy="3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3" name="Line 236"/>
                <p:cNvSpPr>
                  <a:spLocks noChangeShapeType="1"/>
                </p:cNvSpPr>
                <p:nvPr/>
              </p:nvSpPr>
              <p:spPr bwMode="auto">
                <a:xfrm>
                  <a:off x="5285" y="1897"/>
                  <a:ext cx="68" cy="3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4" name="Line 237"/>
                <p:cNvSpPr>
                  <a:spLocks noChangeShapeType="1"/>
                </p:cNvSpPr>
                <p:nvPr/>
              </p:nvSpPr>
              <p:spPr bwMode="auto">
                <a:xfrm>
                  <a:off x="5301" y="1891"/>
                  <a:ext cx="67"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5" name="Line 238"/>
                <p:cNvSpPr>
                  <a:spLocks noChangeShapeType="1"/>
                </p:cNvSpPr>
                <p:nvPr/>
              </p:nvSpPr>
              <p:spPr bwMode="auto">
                <a:xfrm>
                  <a:off x="5318" y="1886"/>
                  <a:ext cx="65" cy="3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6" name="Line 239"/>
                <p:cNvSpPr>
                  <a:spLocks noChangeShapeType="1"/>
                </p:cNvSpPr>
                <p:nvPr/>
              </p:nvSpPr>
              <p:spPr bwMode="auto">
                <a:xfrm>
                  <a:off x="5332" y="1880"/>
                  <a:ext cx="64" cy="34"/>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7" name="Line 240"/>
                <p:cNvSpPr>
                  <a:spLocks noChangeShapeType="1"/>
                </p:cNvSpPr>
                <p:nvPr/>
              </p:nvSpPr>
              <p:spPr bwMode="auto">
                <a:xfrm>
                  <a:off x="5346" y="1874"/>
                  <a:ext cx="64" cy="33"/>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8" name="Line 241"/>
                <p:cNvSpPr>
                  <a:spLocks noChangeShapeType="1"/>
                </p:cNvSpPr>
                <p:nvPr/>
              </p:nvSpPr>
              <p:spPr bwMode="auto">
                <a:xfrm>
                  <a:off x="5209" y="1892"/>
                  <a:ext cx="35" cy="18"/>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29" name="Line 242"/>
                <p:cNvSpPr>
                  <a:spLocks noChangeShapeType="1"/>
                </p:cNvSpPr>
                <p:nvPr/>
              </p:nvSpPr>
              <p:spPr bwMode="auto">
                <a:xfrm>
                  <a:off x="5232" y="1885"/>
                  <a:ext cx="32"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0" name="Line 243"/>
                <p:cNvSpPr>
                  <a:spLocks noChangeShapeType="1"/>
                </p:cNvSpPr>
                <p:nvPr/>
              </p:nvSpPr>
              <p:spPr bwMode="auto">
                <a:xfrm>
                  <a:off x="5252" y="1879"/>
                  <a:ext cx="33" cy="17"/>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1" name="Line 244"/>
                <p:cNvSpPr>
                  <a:spLocks noChangeShapeType="1"/>
                </p:cNvSpPr>
                <p:nvPr/>
              </p:nvSpPr>
              <p:spPr bwMode="auto">
                <a:xfrm>
                  <a:off x="5272" y="1872"/>
                  <a:ext cx="32"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2" name="Line 245"/>
                <p:cNvSpPr>
                  <a:spLocks noChangeShapeType="1"/>
                </p:cNvSpPr>
                <p:nvPr/>
              </p:nvSpPr>
              <p:spPr bwMode="auto">
                <a:xfrm>
                  <a:off x="5292" y="1865"/>
                  <a:ext cx="31" cy="16"/>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33" name="Line 246"/>
                <p:cNvSpPr>
                  <a:spLocks noChangeShapeType="1"/>
                </p:cNvSpPr>
                <p:nvPr/>
              </p:nvSpPr>
              <p:spPr bwMode="auto">
                <a:xfrm>
                  <a:off x="5315" y="1858"/>
                  <a:ext cx="29" cy="15"/>
                </a:xfrm>
                <a:prstGeom prst="line">
                  <a:avLst/>
                </a:prstGeom>
                <a:noFill/>
                <a:ln w="4763">
                  <a:solidFill>
                    <a:srgbClr val="808080"/>
                  </a:solidFill>
                  <a:round/>
                  <a:headEnd/>
                  <a:tailEnd/>
                </a:ln>
                <a:extLst>
                  <a:ext uri="{909E8E84-426E-40DD-AFC4-6F175D3DCCD1}">
                    <a14:hiddenFill xmlns:a14="http://schemas.microsoft.com/office/drawing/2010/main">
                      <a:noFill/>
                    </a14:hiddenFill>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grpSp>
        <p:nvGrpSpPr>
          <p:cNvPr id="261" name="Group 254"/>
          <p:cNvGrpSpPr>
            <a:grpSpLocks/>
          </p:cNvGrpSpPr>
          <p:nvPr/>
        </p:nvGrpSpPr>
        <p:grpSpPr bwMode="auto">
          <a:xfrm>
            <a:off x="7012736" y="3240629"/>
            <a:ext cx="144954" cy="73406"/>
            <a:chOff x="5325" y="1860"/>
            <a:chExt cx="144" cy="79"/>
          </a:xfrm>
        </p:grpSpPr>
        <p:grpSp>
          <p:nvGrpSpPr>
            <p:cNvPr id="262" name="Group 255"/>
            <p:cNvGrpSpPr>
              <a:grpSpLocks/>
            </p:cNvGrpSpPr>
            <p:nvPr/>
          </p:nvGrpSpPr>
          <p:grpSpPr bwMode="auto">
            <a:xfrm>
              <a:off x="5325" y="1860"/>
              <a:ext cx="125" cy="63"/>
              <a:chOff x="5325" y="1860"/>
              <a:chExt cx="125" cy="63"/>
            </a:xfrm>
          </p:grpSpPr>
          <p:sp>
            <p:nvSpPr>
              <p:cNvPr id="266" name="Freeform 256"/>
              <p:cNvSpPr>
                <a:spLocks/>
              </p:cNvSpPr>
              <p:nvPr/>
            </p:nvSpPr>
            <p:spPr bwMode="auto">
              <a:xfrm>
                <a:off x="5325" y="1860"/>
                <a:ext cx="125" cy="63"/>
              </a:xfrm>
              <a:custGeom>
                <a:avLst/>
                <a:gdLst>
                  <a:gd name="T0" fmla="*/ 0 w 751"/>
                  <a:gd name="T1" fmla="*/ 0 h 379"/>
                  <a:gd name="T2" fmla="*/ 0 w 751"/>
                  <a:gd name="T3" fmla="*/ 0 h 379"/>
                  <a:gd name="T4" fmla="*/ 0 w 751"/>
                  <a:gd name="T5" fmla="*/ 0 h 379"/>
                  <a:gd name="T6" fmla="*/ 0 w 751"/>
                  <a:gd name="T7" fmla="*/ 0 h 379"/>
                  <a:gd name="T8" fmla="*/ 0 w 751"/>
                  <a:gd name="T9" fmla="*/ 0 h 379"/>
                  <a:gd name="T10" fmla="*/ 0 w 751"/>
                  <a:gd name="T11" fmla="*/ 0 h 379"/>
                  <a:gd name="T12" fmla="*/ 0 w 751"/>
                  <a:gd name="T13" fmla="*/ 0 h 379"/>
                  <a:gd name="T14" fmla="*/ 0 w 751"/>
                  <a:gd name="T15" fmla="*/ 0 h 379"/>
                  <a:gd name="T16" fmla="*/ 0 w 751"/>
                  <a:gd name="T17" fmla="*/ 0 h 379"/>
                  <a:gd name="T18" fmla="*/ 0 w 751"/>
                  <a:gd name="T19" fmla="*/ 0 h 379"/>
                  <a:gd name="T20" fmla="*/ 0 w 751"/>
                  <a:gd name="T21" fmla="*/ 0 h 379"/>
                  <a:gd name="T22" fmla="*/ 0 w 751"/>
                  <a:gd name="T23" fmla="*/ 0 h 379"/>
                  <a:gd name="T24" fmla="*/ 0 w 751"/>
                  <a:gd name="T25" fmla="*/ 0 h 379"/>
                  <a:gd name="T26" fmla="*/ 0 w 751"/>
                  <a:gd name="T27" fmla="*/ 0 h 379"/>
                  <a:gd name="T28" fmla="*/ 0 w 751"/>
                  <a:gd name="T29" fmla="*/ 0 h 379"/>
                  <a:gd name="T30" fmla="*/ 0 w 751"/>
                  <a:gd name="T31" fmla="*/ 0 h 379"/>
                  <a:gd name="T32" fmla="*/ 0 w 751"/>
                  <a:gd name="T33" fmla="*/ 0 h 379"/>
                  <a:gd name="T34" fmla="*/ 0 w 751"/>
                  <a:gd name="T35" fmla="*/ 0 h 379"/>
                  <a:gd name="T36" fmla="*/ 0 w 751"/>
                  <a:gd name="T37" fmla="*/ 0 h 379"/>
                  <a:gd name="T38" fmla="*/ 0 w 751"/>
                  <a:gd name="T39" fmla="*/ 0 h 379"/>
                  <a:gd name="T40" fmla="*/ 0 w 751"/>
                  <a:gd name="T41" fmla="*/ 0 h 379"/>
                  <a:gd name="T42" fmla="*/ 0 w 751"/>
                  <a:gd name="T43" fmla="*/ 0 h 379"/>
                  <a:gd name="T44" fmla="*/ 0 w 751"/>
                  <a:gd name="T45" fmla="*/ 0 h 379"/>
                  <a:gd name="T46" fmla="*/ 0 w 751"/>
                  <a:gd name="T47" fmla="*/ 0 h 379"/>
                  <a:gd name="T48" fmla="*/ 0 w 751"/>
                  <a:gd name="T49" fmla="*/ 0 h 379"/>
                  <a:gd name="T50" fmla="*/ 0 w 751"/>
                  <a:gd name="T51" fmla="*/ 0 h 379"/>
                  <a:gd name="T52" fmla="*/ 0 w 751"/>
                  <a:gd name="T53" fmla="*/ 0 h 379"/>
                  <a:gd name="T54" fmla="*/ 0 w 751"/>
                  <a:gd name="T55" fmla="*/ 0 h 379"/>
                  <a:gd name="T56" fmla="*/ 0 w 751"/>
                  <a:gd name="T57" fmla="*/ 0 h 379"/>
                  <a:gd name="T58" fmla="*/ 0 w 751"/>
                  <a:gd name="T59" fmla="*/ 0 h 379"/>
                  <a:gd name="T60" fmla="*/ 0 w 751"/>
                  <a:gd name="T61" fmla="*/ 0 h 379"/>
                  <a:gd name="T62" fmla="*/ 0 w 751"/>
                  <a:gd name="T63" fmla="*/ 0 h 379"/>
                  <a:gd name="T64" fmla="*/ 0 w 751"/>
                  <a:gd name="T65" fmla="*/ 0 h 379"/>
                  <a:gd name="T66" fmla="*/ 0 w 751"/>
                  <a:gd name="T67" fmla="*/ 0 h 379"/>
                  <a:gd name="T68" fmla="*/ 0 w 751"/>
                  <a:gd name="T69" fmla="*/ 0 h 379"/>
                  <a:gd name="T70" fmla="*/ 0 w 751"/>
                  <a:gd name="T71" fmla="*/ 0 h 379"/>
                  <a:gd name="T72" fmla="*/ 0 w 751"/>
                  <a:gd name="T73" fmla="*/ 0 h 379"/>
                  <a:gd name="T74" fmla="*/ 0 w 751"/>
                  <a:gd name="T75" fmla="*/ 0 h 379"/>
                  <a:gd name="T76" fmla="*/ 0 w 751"/>
                  <a:gd name="T77" fmla="*/ 0 h 379"/>
                  <a:gd name="T78" fmla="*/ 0 w 751"/>
                  <a:gd name="T79" fmla="*/ 0 h 379"/>
                  <a:gd name="T80" fmla="*/ 0 w 751"/>
                  <a:gd name="T81" fmla="*/ 0 h 379"/>
                  <a:gd name="T82" fmla="*/ 0 w 751"/>
                  <a:gd name="T83" fmla="*/ 0 h 379"/>
                  <a:gd name="T84" fmla="*/ 0 w 751"/>
                  <a:gd name="T85" fmla="*/ 0 h 379"/>
                  <a:gd name="T86" fmla="*/ 0 w 751"/>
                  <a:gd name="T87" fmla="*/ 0 h 379"/>
                  <a:gd name="T88" fmla="*/ 0 w 751"/>
                  <a:gd name="T89" fmla="*/ 0 h 379"/>
                  <a:gd name="T90" fmla="*/ 0 w 751"/>
                  <a:gd name="T91" fmla="*/ 0 h 379"/>
                  <a:gd name="T92" fmla="*/ 0 w 751"/>
                  <a:gd name="T93" fmla="*/ 0 h 379"/>
                  <a:gd name="T94" fmla="*/ 0 w 751"/>
                  <a:gd name="T95" fmla="*/ 0 h 379"/>
                  <a:gd name="T96" fmla="*/ 0 w 751"/>
                  <a:gd name="T97" fmla="*/ 0 h 379"/>
                  <a:gd name="T98" fmla="*/ 0 w 751"/>
                  <a:gd name="T99" fmla="*/ 0 h 379"/>
                  <a:gd name="T100" fmla="*/ 0 w 751"/>
                  <a:gd name="T101" fmla="*/ 0 h 379"/>
                  <a:gd name="T102" fmla="*/ 0 w 751"/>
                  <a:gd name="T103" fmla="*/ 0 h 379"/>
                  <a:gd name="T104" fmla="*/ 0 w 751"/>
                  <a:gd name="T105" fmla="*/ 0 h 379"/>
                  <a:gd name="T106" fmla="*/ 0 w 751"/>
                  <a:gd name="T107" fmla="*/ 0 h 379"/>
                  <a:gd name="T108" fmla="*/ 0 w 751"/>
                  <a:gd name="T109" fmla="*/ 0 h 379"/>
                  <a:gd name="T110" fmla="*/ 0 w 751"/>
                  <a:gd name="T111" fmla="*/ 0 h 379"/>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51" h="379">
                    <a:moveTo>
                      <a:pt x="679" y="379"/>
                    </a:moveTo>
                    <a:lnTo>
                      <a:pt x="639" y="370"/>
                    </a:lnTo>
                    <a:lnTo>
                      <a:pt x="600" y="352"/>
                    </a:lnTo>
                    <a:lnTo>
                      <a:pt x="564" y="344"/>
                    </a:lnTo>
                    <a:lnTo>
                      <a:pt x="502" y="353"/>
                    </a:lnTo>
                    <a:lnTo>
                      <a:pt x="457" y="352"/>
                    </a:lnTo>
                    <a:lnTo>
                      <a:pt x="425" y="341"/>
                    </a:lnTo>
                    <a:lnTo>
                      <a:pt x="399" y="332"/>
                    </a:lnTo>
                    <a:lnTo>
                      <a:pt x="373" y="320"/>
                    </a:lnTo>
                    <a:lnTo>
                      <a:pt x="346" y="295"/>
                    </a:lnTo>
                    <a:lnTo>
                      <a:pt x="324" y="273"/>
                    </a:lnTo>
                    <a:lnTo>
                      <a:pt x="288" y="246"/>
                    </a:lnTo>
                    <a:lnTo>
                      <a:pt x="238" y="254"/>
                    </a:lnTo>
                    <a:lnTo>
                      <a:pt x="208" y="256"/>
                    </a:lnTo>
                    <a:lnTo>
                      <a:pt x="190" y="251"/>
                    </a:lnTo>
                    <a:lnTo>
                      <a:pt x="182" y="243"/>
                    </a:lnTo>
                    <a:lnTo>
                      <a:pt x="176" y="228"/>
                    </a:lnTo>
                    <a:lnTo>
                      <a:pt x="180" y="215"/>
                    </a:lnTo>
                    <a:lnTo>
                      <a:pt x="190" y="200"/>
                    </a:lnTo>
                    <a:lnTo>
                      <a:pt x="208" y="193"/>
                    </a:lnTo>
                    <a:lnTo>
                      <a:pt x="248" y="188"/>
                    </a:lnTo>
                    <a:lnTo>
                      <a:pt x="296" y="171"/>
                    </a:lnTo>
                    <a:lnTo>
                      <a:pt x="256" y="140"/>
                    </a:lnTo>
                    <a:lnTo>
                      <a:pt x="209" y="121"/>
                    </a:lnTo>
                    <a:lnTo>
                      <a:pt x="168" y="124"/>
                    </a:lnTo>
                    <a:lnTo>
                      <a:pt x="121" y="121"/>
                    </a:lnTo>
                    <a:lnTo>
                      <a:pt x="93" y="131"/>
                    </a:lnTo>
                    <a:lnTo>
                      <a:pt x="54" y="132"/>
                    </a:lnTo>
                    <a:lnTo>
                      <a:pt x="42" y="121"/>
                    </a:lnTo>
                    <a:lnTo>
                      <a:pt x="39" y="105"/>
                    </a:lnTo>
                    <a:lnTo>
                      <a:pt x="18" y="106"/>
                    </a:lnTo>
                    <a:lnTo>
                      <a:pt x="6" y="103"/>
                    </a:lnTo>
                    <a:lnTo>
                      <a:pt x="0" y="87"/>
                    </a:lnTo>
                    <a:lnTo>
                      <a:pt x="4" y="74"/>
                    </a:lnTo>
                    <a:lnTo>
                      <a:pt x="15" y="68"/>
                    </a:lnTo>
                    <a:lnTo>
                      <a:pt x="36" y="56"/>
                    </a:lnTo>
                    <a:lnTo>
                      <a:pt x="52" y="44"/>
                    </a:lnTo>
                    <a:lnTo>
                      <a:pt x="71" y="34"/>
                    </a:lnTo>
                    <a:lnTo>
                      <a:pt x="93" y="27"/>
                    </a:lnTo>
                    <a:lnTo>
                      <a:pt x="112" y="27"/>
                    </a:lnTo>
                    <a:lnTo>
                      <a:pt x="203" y="9"/>
                    </a:lnTo>
                    <a:lnTo>
                      <a:pt x="222" y="4"/>
                    </a:lnTo>
                    <a:lnTo>
                      <a:pt x="244" y="0"/>
                    </a:lnTo>
                    <a:lnTo>
                      <a:pt x="267" y="4"/>
                    </a:lnTo>
                    <a:lnTo>
                      <a:pt x="295" y="13"/>
                    </a:lnTo>
                    <a:lnTo>
                      <a:pt x="373" y="56"/>
                    </a:lnTo>
                    <a:lnTo>
                      <a:pt x="410" y="64"/>
                    </a:lnTo>
                    <a:lnTo>
                      <a:pt x="443" y="71"/>
                    </a:lnTo>
                    <a:lnTo>
                      <a:pt x="469" y="87"/>
                    </a:lnTo>
                    <a:lnTo>
                      <a:pt x="484" y="108"/>
                    </a:lnTo>
                    <a:lnTo>
                      <a:pt x="549" y="153"/>
                    </a:lnTo>
                    <a:lnTo>
                      <a:pt x="578" y="174"/>
                    </a:lnTo>
                    <a:lnTo>
                      <a:pt x="617" y="215"/>
                    </a:lnTo>
                    <a:lnTo>
                      <a:pt x="641" y="227"/>
                    </a:lnTo>
                    <a:lnTo>
                      <a:pt x="751" y="232"/>
                    </a:lnTo>
                    <a:lnTo>
                      <a:pt x="679" y="379"/>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7" name="Freeform 257"/>
              <p:cNvSpPr>
                <a:spLocks/>
              </p:cNvSpPr>
              <p:nvPr/>
            </p:nvSpPr>
            <p:spPr bwMode="auto">
              <a:xfrm>
                <a:off x="5374" y="1888"/>
                <a:ext cx="29" cy="7"/>
              </a:xfrm>
              <a:custGeom>
                <a:avLst/>
                <a:gdLst>
                  <a:gd name="T0" fmla="*/ 0 w 179"/>
                  <a:gd name="T1" fmla="*/ 0 h 43"/>
                  <a:gd name="T2" fmla="*/ 0 w 179"/>
                  <a:gd name="T3" fmla="*/ 0 h 43"/>
                  <a:gd name="T4" fmla="*/ 0 w 179"/>
                  <a:gd name="T5" fmla="*/ 0 h 43"/>
                  <a:gd name="T6" fmla="*/ 0 w 179"/>
                  <a:gd name="T7" fmla="*/ 0 h 43"/>
                  <a:gd name="T8" fmla="*/ 0 w 179"/>
                  <a:gd name="T9" fmla="*/ 0 h 43"/>
                  <a:gd name="T10" fmla="*/ 0 w 179"/>
                  <a:gd name="T11" fmla="*/ 0 h 43"/>
                  <a:gd name="T12" fmla="*/ 0 w 179"/>
                  <a:gd name="T13" fmla="*/ 0 h 43"/>
                  <a:gd name="T14" fmla="*/ 0 w 179"/>
                  <a:gd name="T15" fmla="*/ 0 h 43"/>
                  <a:gd name="T16" fmla="*/ 0 w 179"/>
                  <a:gd name="T17" fmla="*/ 0 h 43"/>
                  <a:gd name="T18" fmla="*/ 0 w 179"/>
                  <a:gd name="T19" fmla="*/ 0 h 43"/>
                  <a:gd name="T20" fmla="*/ 0 w 179"/>
                  <a:gd name="T21" fmla="*/ 0 h 43"/>
                  <a:gd name="T22" fmla="*/ 0 w 179"/>
                  <a:gd name="T23" fmla="*/ 0 h 43"/>
                  <a:gd name="T24" fmla="*/ 0 w 179"/>
                  <a:gd name="T25" fmla="*/ 0 h 43"/>
                  <a:gd name="T26" fmla="*/ 0 w 179"/>
                  <a:gd name="T27" fmla="*/ 0 h 43"/>
                  <a:gd name="T28" fmla="*/ 0 w 179"/>
                  <a:gd name="T29" fmla="*/ 0 h 43"/>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79" h="43">
                    <a:moveTo>
                      <a:pt x="0" y="0"/>
                    </a:moveTo>
                    <a:lnTo>
                      <a:pt x="6" y="11"/>
                    </a:lnTo>
                    <a:lnTo>
                      <a:pt x="38" y="10"/>
                    </a:lnTo>
                    <a:lnTo>
                      <a:pt x="50" y="16"/>
                    </a:lnTo>
                    <a:lnTo>
                      <a:pt x="76" y="29"/>
                    </a:lnTo>
                    <a:lnTo>
                      <a:pt x="112" y="37"/>
                    </a:lnTo>
                    <a:lnTo>
                      <a:pt x="150" y="38"/>
                    </a:lnTo>
                    <a:lnTo>
                      <a:pt x="179" y="43"/>
                    </a:lnTo>
                    <a:lnTo>
                      <a:pt x="155" y="34"/>
                    </a:lnTo>
                    <a:lnTo>
                      <a:pt x="125" y="29"/>
                    </a:lnTo>
                    <a:lnTo>
                      <a:pt x="105" y="29"/>
                    </a:lnTo>
                    <a:lnTo>
                      <a:pt x="76" y="21"/>
                    </a:lnTo>
                    <a:lnTo>
                      <a:pt x="53" y="8"/>
                    </a:lnTo>
                    <a:lnTo>
                      <a:pt x="43" y="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8" name="Freeform 258"/>
              <p:cNvSpPr>
                <a:spLocks/>
              </p:cNvSpPr>
              <p:nvPr/>
            </p:nvSpPr>
            <p:spPr bwMode="auto">
              <a:xfrm>
                <a:off x="5362" y="1894"/>
                <a:ext cx="4" cy="4"/>
              </a:xfrm>
              <a:custGeom>
                <a:avLst/>
                <a:gdLst>
                  <a:gd name="T0" fmla="*/ 0 w 20"/>
                  <a:gd name="T1" fmla="*/ 0 h 24"/>
                  <a:gd name="T2" fmla="*/ 0 w 20"/>
                  <a:gd name="T3" fmla="*/ 0 h 24"/>
                  <a:gd name="T4" fmla="*/ 0 w 20"/>
                  <a:gd name="T5" fmla="*/ 0 h 24"/>
                  <a:gd name="T6" fmla="*/ 0 w 20"/>
                  <a:gd name="T7" fmla="*/ 0 h 24"/>
                  <a:gd name="T8" fmla="*/ 0 w 20"/>
                  <a:gd name="T9" fmla="*/ 0 h 24"/>
                  <a:gd name="T10" fmla="*/ 0 w 20"/>
                  <a:gd name="T11" fmla="*/ 0 h 24"/>
                  <a:gd name="T12" fmla="*/ 0 w 20"/>
                  <a:gd name="T13" fmla="*/ 0 h 2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 h="24">
                    <a:moveTo>
                      <a:pt x="4" y="0"/>
                    </a:moveTo>
                    <a:lnTo>
                      <a:pt x="12" y="6"/>
                    </a:lnTo>
                    <a:lnTo>
                      <a:pt x="9" y="15"/>
                    </a:lnTo>
                    <a:lnTo>
                      <a:pt x="0" y="24"/>
                    </a:lnTo>
                    <a:lnTo>
                      <a:pt x="17" y="18"/>
                    </a:lnTo>
                    <a:lnTo>
                      <a:pt x="20" y="8"/>
                    </a:lnTo>
                    <a:lnTo>
                      <a:pt x="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9" name="Freeform 259"/>
              <p:cNvSpPr>
                <a:spLocks/>
              </p:cNvSpPr>
              <p:nvPr/>
            </p:nvSpPr>
            <p:spPr bwMode="auto">
              <a:xfrm>
                <a:off x="5331" y="1869"/>
                <a:ext cx="17" cy="8"/>
              </a:xfrm>
              <a:custGeom>
                <a:avLst/>
                <a:gdLst>
                  <a:gd name="T0" fmla="*/ 0 w 104"/>
                  <a:gd name="T1" fmla="*/ 0 h 48"/>
                  <a:gd name="T2" fmla="*/ 0 w 104"/>
                  <a:gd name="T3" fmla="*/ 0 h 48"/>
                  <a:gd name="T4" fmla="*/ 0 w 104"/>
                  <a:gd name="T5" fmla="*/ 0 h 48"/>
                  <a:gd name="T6" fmla="*/ 0 w 104"/>
                  <a:gd name="T7" fmla="*/ 0 h 48"/>
                  <a:gd name="T8" fmla="*/ 0 w 104"/>
                  <a:gd name="T9" fmla="*/ 0 h 48"/>
                  <a:gd name="T10" fmla="*/ 0 w 104"/>
                  <a:gd name="T11" fmla="*/ 0 h 48"/>
                  <a:gd name="T12" fmla="*/ 0 w 104"/>
                  <a:gd name="T13" fmla="*/ 0 h 48"/>
                  <a:gd name="T14" fmla="*/ 0 w 104"/>
                  <a:gd name="T15" fmla="*/ 0 h 48"/>
                  <a:gd name="T16" fmla="*/ 0 w 104"/>
                  <a:gd name="T17" fmla="*/ 0 h 48"/>
                  <a:gd name="T18" fmla="*/ 0 w 104"/>
                  <a:gd name="T19" fmla="*/ 0 h 48"/>
                  <a:gd name="T20" fmla="*/ 0 w 104"/>
                  <a:gd name="T21" fmla="*/ 0 h 48"/>
                  <a:gd name="T22" fmla="*/ 0 w 104"/>
                  <a:gd name="T23" fmla="*/ 0 h 48"/>
                  <a:gd name="T24" fmla="*/ 0 w 104"/>
                  <a:gd name="T25" fmla="*/ 0 h 4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04" h="48">
                    <a:moveTo>
                      <a:pt x="0" y="45"/>
                    </a:moveTo>
                    <a:lnTo>
                      <a:pt x="11" y="48"/>
                    </a:lnTo>
                    <a:lnTo>
                      <a:pt x="25" y="33"/>
                    </a:lnTo>
                    <a:lnTo>
                      <a:pt x="46" y="25"/>
                    </a:lnTo>
                    <a:lnTo>
                      <a:pt x="56" y="14"/>
                    </a:lnTo>
                    <a:lnTo>
                      <a:pt x="66" y="9"/>
                    </a:lnTo>
                    <a:lnTo>
                      <a:pt x="89" y="4"/>
                    </a:lnTo>
                    <a:lnTo>
                      <a:pt x="104" y="1"/>
                    </a:lnTo>
                    <a:lnTo>
                      <a:pt x="84" y="0"/>
                    </a:lnTo>
                    <a:lnTo>
                      <a:pt x="58" y="4"/>
                    </a:lnTo>
                    <a:lnTo>
                      <a:pt x="49" y="12"/>
                    </a:lnTo>
                    <a:lnTo>
                      <a:pt x="37" y="20"/>
                    </a:lnTo>
                    <a:lnTo>
                      <a:pt x="0" y="4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0" name="Freeform 260"/>
              <p:cNvSpPr>
                <a:spLocks/>
              </p:cNvSpPr>
              <p:nvPr/>
            </p:nvSpPr>
            <p:spPr bwMode="auto">
              <a:xfrm>
                <a:off x="5357" y="1866"/>
                <a:ext cx="27" cy="7"/>
              </a:xfrm>
              <a:custGeom>
                <a:avLst/>
                <a:gdLst>
                  <a:gd name="T0" fmla="*/ 0 w 166"/>
                  <a:gd name="T1" fmla="*/ 0 h 42"/>
                  <a:gd name="T2" fmla="*/ 0 w 166"/>
                  <a:gd name="T3" fmla="*/ 0 h 42"/>
                  <a:gd name="T4" fmla="*/ 0 w 166"/>
                  <a:gd name="T5" fmla="*/ 0 h 42"/>
                  <a:gd name="T6" fmla="*/ 0 w 166"/>
                  <a:gd name="T7" fmla="*/ 0 h 42"/>
                  <a:gd name="T8" fmla="*/ 0 w 166"/>
                  <a:gd name="T9" fmla="*/ 0 h 42"/>
                  <a:gd name="T10" fmla="*/ 0 w 166"/>
                  <a:gd name="T11" fmla="*/ 0 h 42"/>
                  <a:gd name="T12" fmla="*/ 0 w 166"/>
                  <a:gd name="T13" fmla="*/ 0 h 42"/>
                  <a:gd name="T14" fmla="*/ 0 w 166"/>
                  <a:gd name="T15" fmla="*/ 0 h 42"/>
                  <a:gd name="T16" fmla="*/ 0 w 166"/>
                  <a:gd name="T17" fmla="*/ 0 h 42"/>
                  <a:gd name="T18" fmla="*/ 0 w 166"/>
                  <a:gd name="T19" fmla="*/ 0 h 42"/>
                  <a:gd name="T20" fmla="*/ 0 w 166"/>
                  <a:gd name="T21" fmla="*/ 0 h 42"/>
                  <a:gd name="T22" fmla="*/ 0 w 166"/>
                  <a:gd name="T23" fmla="*/ 0 h 42"/>
                  <a:gd name="T24" fmla="*/ 0 w 166"/>
                  <a:gd name="T25" fmla="*/ 0 h 42"/>
                  <a:gd name="T26" fmla="*/ 0 w 166"/>
                  <a:gd name="T27" fmla="*/ 0 h 42"/>
                  <a:gd name="T28" fmla="*/ 0 w 166"/>
                  <a:gd name="T29" fmla="*/ 0 h 42"/>
                  <a:gd name="T30" fmla="*/ 0 w 166"/>
                  <a:gd name="T31" fmla="*/ 0 h 42"/>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66" h="42">
                    <a:moveTo>
                      <a:pt x="0" y="10"/>
                    </a:moveTo>
                    <a:lnTo>
                      <a:pt x="35" y="6"/>
                    </a:lnTo>
                    <a:lnTo>
                      <a:pt x="55" y="0"/>
                    </a:lnTo>
                    <a:lnTo>
                      <a:pt x="63" y="0"/>
                    </a:lnTo>
                    <a:lnTo>
                      <a:pt x="85" y="5"/>
                    </a:lnTo>
                    <a:lnTo>
                      <a:pt x="94" y="14"/>
                    </a:lnTo>
                    <a:lnTo>
                      <a:pt x="111" y="23"/>
                    </a:lnTo>
                    <a:lnTo>
                      <a:pt x="143" y="36"/>
                    </a:lnTo>
                    <a:lnTo>
                      <a:pt x="166" y="36"/>
                    </a:lnTo>
                    <a:lnTo>
                      <a:pt x="142" y="42"/>
                    </a:lnTo>
                    <a:lnTo>
                      <a:pt x="126" y="39"/>
                    </a:lnTo>
                    <a:lnTo>
                      <a:pt x="91" y="22"/>
                    </a:lnTo>
                    <a:lnTo>
                      <a:pt x="79" y="10"/>
                    </a:lnTo>
                    <a:lnTo>
                      <a:pt x="55" y="8"/>
                    </a:lnTo>
                    <a:lnTo>
                      <a:pt x="35" y="1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1" name="Freeform 261"/>
              <p:cNvSpPr>
                <a:spLocks/>
              </p:cNvSpPr>
              <p:nvPr/>
            </p:nvSpPr>
            <p:spPr bwMode="auto">
              <a:xfrm>
                <a:off x="5335" y="1874"/>
                <a:ext cx="6" cy="5"/>
              </a:xfrm>
              <a:custGeom>
                <a:avLst/>
                <a:gdLst>
                  <a:gd name="T0" fmla="*/ 0 w 33"/>
                  <a:gd name="T1" fmla="*/ 0 h 30"/>
                  <a:gd name="T2" fmla="*/ 0 w 33"/>
                  <a:gd name="T3" fmla="*/ 0 h 30"/>
                  <a:gd name="T4" fmla="*/ 0 w 33"/>
                  <a:gd name="T5" fmla="*/ 0 h 30"/>
                  <a:gd name="T6" fmla="*/ 0 w 33"/>
                  <a:gd name="T7" fmla="*/ 0 h 30"/>
                  <a:gd name="T8" fmla="*/ 0 w 33"/>
                  <a:gd name="T9" fmla="*/ 0 h 30"/>
                  <a:gd name="T10" fmla="*/ 0 w 33"/>
                  <a:gd name="T11" fmla="*/ 0 h 30"/>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30">
                    <a:moveTo>
                      <a:pt x="25" y="0"/>
                    </a:moveTo>
                    <a:lnTo>
                      <a:pt x="33" y="11"/>
                    </a:lnTo>
                    <a:lnTo>
                      <a:pt x="23" y="24"/>
                    </a:lnTo>
                    <a:lnTo>
                      <a:pt x="0" y="30"/>
                    </a:lnTo>
                    <a:lnTo>
                      <a:pt x="25" y="15"/>
                    </a:lnTo>
                    <a:lnTo>
                      <a:pt x="2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2" name="Freeform 262"/>
              <p:cNvSpPr>
                <a:spLocks/>
              </p:cNvSpPr>
              <p:nvPr/>
            </p:nvSpPr>
            <p:spPr bwMode="auto">
              <a:xfrm>
                <a:off x="5329" y="1870"/>
                <a:ext cx="6" cy="4"/>
              </a:xfrm>
              <a:custGeom>
                <a:avLst/>
                <a:gdLst>
                  <a:gd name="T0" fmla="*/ 0 w 33"/>
                  <a:gd name="T1" fmla="*/ 0 h 28"/>
                  <a:gd name="T2" fmla="*/ 0 w 33"/>
                  <a:gd name="T3" fmla="*/ 0 h 28"/>
                  <a:gd name="T4" fmla="*/ 0 w 33"/>
                  <a:gd name="T5" fmla="*/ 0 h 28"/>
                  <a:gd name="T6" fmla="*/ 0 w 33"/>
                  <a:gd name="T7" fmla="*/ 0 h 28"/>
                  <a:gd name="T8" fmla="*/ 0 w 33"/>
                  <a:gd name="T9" fmla="*/ 0 h 28"/>
                  <a:gd name="T10" fmla="*/ 0 w 33"/>
                  <a:gd name="T11" fmla="*/ 0 h 28"/>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33" h="28">
                    <a:moveTo>
                      <a:pt x="33" y="16"/>
                    </a:moveTo>
                    <a:lnTo>
                      <a:pt x="25" y="0"/>
                    </a:lnTo>
                    <a:lnTo>
                      <a:pt x="24" y="13"/>
                    </a:lnTo>
                    <a:lnTo>
                      <a:pt x="0" y="26"/>
                    </a:lnTo>
                    <a:lnTo>
                      <a:pt x="3" y="28"/>
                    </a:lnTo>
                    <a:lnTo>
                      <a:pt x="33" y="1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3" name="Freeform 263"/>
              <p:cNvSpPr>
                <a:spLocks/>
              </p:cNvSpPr>
              <p:nvPr/>
            </p:nvSpPr>
            <p:spPr bwMode="auto">
              <a:xfrm>
                <a:off x="5399" y="1876"/>
                <a:ext cx="6" cy="7"/>
              </a:xfrm>
              <a:custGeom>
                <a:avLst/>
                <a:gdLst>
                  <a:gd name="T0" fmla="*/ 0 w 37"/>
                  <a:gd name="T1" fmla="*/ 0 h 42"/>
                  <a:gd name="T2" fmla="*/ 0 w 37"/>
                  <a:gd name="T3" fmla="*/ 0 h 42"/>
                  <a:gd name="T4" fmla="*/ 0 w 37"/>
                  <a:gd name="T5" fmla="*/ 0 h 42"/>
                  <a:gd name="T6" fmla="*/ 0 w 37"/>
                  <a:gd name="T7" fmla="*/ 0 h 42"/>
                  <a:gd name="T8" fmla="*/ 0 w 37"/>
                  <a:gd name="T9" fmla="*/ 0 h 4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7" h="42">
                    <a:moveTo>
                      <a:pt x="0" y="0"/>
                    </a:moveTo>
                    <a:lnTo>
                      <a:pt x="8" y="21"/>
                    </a:lnTo>
                    <a:lnTo>
                      <a:pt x="23" y="39"/>
                    </a:lnTo>
                    <a:lnTo>
                      <a:pt x="37"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4" name="Freeform 264"/>
              <p:cNvSpPr>
                <a:spLocks/>
              </p:cNvSpPr>
              <p:nvPr/>
            </p:nvSpPr>
            <p:spPr bwMode="auto">
              <a:xfrm>
                <a:off x="5420" y="1907"/>
                <a:ext cx="9" cy="6"/>
              </a:xfrm>
              <a:custGeom>
                <a:avLst/>
                <a:gdLst>
                  <a:gd name="T0" fmla="*/ 0 w 50"/>
                  <a:gd name="T1" fmla="*/ 0 h 39"/>
                  <a:gd name="T2" fmla="*/ 0 w 50"/>
                  <a:gd name="T3" fmla="*/ 0 h 39"/>
                  <a:gd name="T4" fmla="*/ 0 w 50"/>
                  <a:gd name="T5" fmla="*/ 0 h 39"/>
                  <a:gd name="T6" fmla="*/ 0 w 50"/>
                  <a:gd name="T7" fmla="*/ 0 h 3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50" h="39">
                    <a:moveTo>
                      <a:pt x="50" y="0"/>
                    </a:moveTo>
                    <a:lnTo>
                      <a:pt x="17" y="14"/>
                    </a:lnTo>
                    <a:lnTo>
                      <a:pt x="0" y="39"/>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63" name="Group 265"/>
            <p:cNvGrpSpPr>
              <a:grpSpLocks/>
            </p:cNvGrpSpPr>
            <p:nvPr/>
          </p:nvGrpSpPr>
          <p:grpSpPr bwMode="auto">
            <a:xfrm>
              <a:off x="5432" y="1894"/>
              <a:ext cx="37" cy="45"/>
              <a:chOff x="5432" y="1894"/>
              <a:chExt cx="37" cy="45"/>
            </a:xfrm>
          </p:grpSpPr>
          <p:sp>
            <p:nvSpPr>
              <p:cNvPr id="264" name="Freeform 266"/>
              <p:cNvSpPr>
                <a:spLocks/>
              </p:cNvSpPr>
              <p:nvPr/>
            </p:nvSpPr>
            <p:spPr bwMode="auto">
              <a:xfrm>
                <a:off x="5432" y="1894"/>
                <a:ext cx="37" cy="45"/>
              </a:xfrm>
              <a:custGeom>
                <a:avLst/>
                <a:gdLst>
                  <a:gd name="T0" fmla="*/ 0 w 219"/>
                  <a:gd name="T1" fmla="*/ 0 h 267"/>
                  <a:gd name="T2" fmla="*/ 0 w 219"/>
                  <a:gd name="T3" fmla="*/ 0 h 267"/>
                  <a:gd name="T4" fmla="*/ 0 w 219"/>
                  <a:gd name="T5" fmla="*/ 0 h 267"/>
                  <a:gd name="T6" fmla="*/ 0 w 219"/>
                  <a:gd name="T7" fmla="*/ 0 h 267"/>
                  <a:gd name="T8" fmla="*/ 0 w 219"/>
                  <a:gd name="T9" fmla="*/ 0 h 267"/>
                  <a:gd name="T10" fmla="*/ 0 w 219"/>
                  <a:gd name="T11" fmla="*/ 0 h 267"/>
                  <a:gd name="T12" fmla="*/ 0 w 219"/>
                  <a:gd name="T13" fmla="*/ 0 h 267"/>
                  <a:gd name="T14" fmla="*/ 0 w 219"/>
                  <a:gd name="T15" fmla="*/ 0 h 267"/>
                  <a:gd name="T16" fmla="*/ 0 w 219"/>
                  <a:gd name="T17" fmla="*/ 0 h 267"/>
                  <a:gd name="T18" fmla="*/ 0 w 219"/>
                  <a:gd name="T19" fmla="*/ 0 h 26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19" h="267">
                    <a:moveTo>
                      <a:pt x="77" y="17"/>
                    </a:moveTo>
                    <a:lnTo>
                      <a:pt x="42" y="55"/>
                    </a:lnTo>
                    <a:lnTo>
                      <a:pt x="26" y="87"/>
                    </a:lnTo>
                    <a:lnTo>
                      <a:pt x="11" y="138"/>
                    </a:lnTo>
                    <a:lnTo>
                      <a:pt x="11" y="167"/>
                    </a:lnTo>
                    <a:lnTo>
                      <a:pt x="0" y="210"/>
                    </a:lnTo>
                    <a:lnTo>
                      <a:pt x="178" y="267"/>
                    </a:lnTo>
                    <a:lnTo>
                      <a:pt x="219" y="0"/>
                    </a:lnTo>
                    <a:lnTo>
                      <a:pt x="146" y="17"/>
                    </a:lnTo>
                    <a:lnTo>
                      <a:pt x="77" y="17"/>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5" name="Freeform 267"/>
              <p:cNvSpPr>
                <a:spLocks/>
              </p:cNvSpPr>
              <p:nvPr/>
            </p:nvSpPr>
            <p:spPr bwMode="auto">
              <a:xfrm>
                <a:off x="5436" y="1898"/>
                <a:ext cx="29" cy="37"/>
              </a:xfrm>
              <a:custGeom>
                <a:avLst/>
                <a:gdLst>
                  <a:gd name="T0" fmla="*/ 0 w 175"/>
                  <a:gd name="T1" fmla="*/ 0 h 220"/>
                  <a:gd name="T2" fmla="*/ 0 w 175"/>
                  <a:gd name="T3" fmla="*/ 0 h 220"/>
                  <a:gd name="T4" fmla="*/ 0 w 175"/>
                  <a:gd name="T5" fmla="*/ 0 h 220"/>
                  <a:gd name="T6" fmla="*/ 0 w 175"/>
                  <a:gd name="T7" fmla="*/ 0 h 220"/>
                  <a:gd name="T8" fmla="*/ 0 w 175"/>
                  <a:gd name="T9" fmla="*/ 0 h 220"/>
                  <a:gd name="T10" fmla="*/ 0 w 175"/>
                  <a:gd name="T11" fmla="*/ 0 h 220"/>
                  <a:gd name="T12" fmla="*/ 0 w 175"/>
                  <a:gd name="T13" fmla="*/ 0 h 220"/>
                  <a:gd name="T14" fmla="*/ 0 w 175"/>
                  <a:gd name="T15" fmla="*/ 0 h 220"/>
                  <a:gd name="T16" fmla="*/ 0 w 175"/>
                  <a:gd name="T17" fmla="*/ 0 h 22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75" h="220">
                    <a:moveTo>
                      <a:pt x="69" y="7"/>
                    </a:moveTo>
                    <a:lnTo>
                      <a:pt x="38" y="42"/>
                    </a:lnTo>
                    <a:lnTo>
                      <a:pt x="12" y="92"/>
                    </a:lnTo>
                    <a:lnTo>
                      <a:pt x="6" y="128"/>
                    </a:lnTo>
                    <a:lnTo>
                      <a:pt x="0" y="171"/>
                    </a:lnTo>
                    <a:lnTo>
                      <a:pt x="140" y="220"/>
                    </a:lnTo>
                    <a:lnTo>
                      <a:pt x="175" y="0"/>
                    </a:lnTo>
                    <a:lnTo>
                      <a:pt x="122" y="10"/>
                    </a:lnTo>
                    <a:lnTo>
                      <a:pt x="69" y="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sp>
        <p:nvSpPr>
          <p:cNvPr id="275" name="Freeform 268"/>
          <p:cNvSpPr>
            <a:spLocks/>
          </p:cNvSpPr>
          <p:nvPr/>
        </p:nvSpPr>
        <p:spPr bwMode="auto">
          <a:xfrm>
            <a:off x="7153663" y="3046428"/>
            <a:ext cx="123814" cy="124512"/>
          </a:xfrm>
          <a:custGeom>
            <a:avLst/>
            <a:gdLst>
              <a:gd name="T0" fmla="*/ 2147483646 w 741"/>
              <a:gd name="T1" fmla="*/ 2147483646 h 807"/>
              <a:gd name="T2" fmla="*/ 2147483646 w 741"/>
              <a:gd name="T3" fmla="*/ 2147483646 h 807"/>
              <a:gd name="T4" fmla="*/ 2147483646 w 741"/>
              <a:gd name="T5" fmla="*/ 2147483646 h 807"/>
              <a:gd name="T6" fmla="*/ 2147483646 w 741"/>
              <a:gd name="T7" fmla="*/ 2147483646 h 807"/>
              <a:gd name="T8" fmla="*/ 2147483646 w 741"/>
              <a:gd name="T9" fmla="*/ 2147483646 h 807"/>
              <a:gd name="T10" fmla="*/ 2147483646 w 741"/>
              <a:gd name="T11" fmla="*/ 2147483646 h 807"/>
              <a:gd name="T12" fmla="*/ 2147483646 w 741"/>
              <a:gd name="T13" fmla="*/ 2147483646 h 807"/>
              <a:gd name="T14" fmla="*/ 2147483646 w 741"/>
              <a:gd name="T15" fmla="*/ 2147483646 h 807"/>
              <a:gd name="T16" fmla="*/ 2147483646 w 741"/>
              <a:gd name="T17" fmla="*/ 2147483646 h 807"/>
              <a:gd name="T18" fmla="*/ 0 w 741"/>
              <a:gd name="T19" fmla="*/ 2147483646 h 807"/>
              <a:gd name="T20" fmla="*/ 0 w 741"/>
              <a:gd name="T21" fmla="*/ 2147483646 h 807"/>
              <a:gd name="T22" fmla="*/ 2147483646 w 741"/>
              <a:gd name="T23" fmla="*/ 2147483646 h 807"/>
              <a:gd name="T24" fmla="*/ 2147483646 w 741"/>
              <a:gd name="T25" fmla="*/ 2147483646 h 807"/>
              <a:gd name="T26" fmla="*/ 2147483646 w 741"/>
              <a:gd name="T27" fmla="*/ 2147483646 h 807"/>
              <a:gd name="T28" fmla="*/ 2147483646 w 741"/>
              <a:gd name="T29" fmla="*/ 2147483646 h 807"/>
              <a:gd name="T30" fmla="*/ 2147483646 w 741"/>
              <a:gd name="T31" fmla="*/ 2147483646 h 807"/>
              <a:gd name="T32" fmla="*/ 2147483646 w 741"/>
              <a:gd name="T33" fmla="*/ 2147483646 h 807"/>
              <a:gd name="T34" fmla="*/ 2147483646 w 741"/>
              <a:gd name="T35" fmla="*/ 2147483646 h 807"/>
              <a:gd name="T36" fmla="*/ 2147483646 w 741"/>
              <a:gd name="T37" fmla="*/ 2147483646 h 807"/>
              <a:gd name="T38" fmla="*/ 2147483646 w 741"/>
              <a:gd name="T39" fmla="*/ 2147483646 h 807"/>
              <a:gd name="T40" fmla="*/ 2147483646 w 741"/>
              <a:gd name="T41" fmla="*/ 2147483646 h 807"/>
              <a:gd name="T42" fmla="*/ 2147483646 w 741"/>
              <a:gd name="T43" fmla="*/ 2147483646 h 807"/>
              <a:gd name="T44" fmla="*/ 2147483646 w 741"/>
              <a:gd name="T45" fmla="*/ 2147483646 h 807"/>
              <a:gd name="T46" fmla="*/ 2147483646 w 741"/>
              <a:gd name="T47" fmla="*/ 2147483646 h 807"/>
              <a:gd name="T48" fmla="*/ 2147483646 w 741"/>
              <a:gd name="T49" fmla="*/ 2147483646 h 807"/>
              <a:gd name="T50" fmla="*/ 2147483646 w 741"/>
              <a:gd name="T51" fmla="*/ 2147483646 h 807"/>
              <a:gd name="T52" fmla="*/ 2147483646 w 741"/>
              <a:gd name="T53" fmla="*/ 2147483646 h 807"/>
              <a:gd name="T54" fmla="*/ 2147483646 w 741"/>
              <a:gd name="T55" fmla="*/ 2147483646 h 807"/>
              <a:gd name="T56" fmla="*/ 2147483646 w 741"/>
              <a:gd name="T57" fmla="*/ 2147483646 h 807"/>
              <a:gd name="T58" fmla="*/ 2147483646 w 741"/>
              <a:gd name="T59" fmla="*/ 2147483646 h 807"/>
              <a:gd name="T60" fmla="*/ 2147483646 w 741"/>
              <a:gd name="T61" fmla="*/ 2147483646 h 807"/>
              <a:gd name="T62" fmla="*/ 2147483646 w 741"/>
              <a:gd name="T63" fmla="*/ 2147483646 h 807"/>
              <a:gd name="T64" fmla="*/ 2147483646 w 741"/>
              <a:gd name="T65" fmla="*/ 2147483646 h 807"/>
              <a:gd name="T66" fmla="*/ 2147483646 w 741"/>
              <a:gd name="T67" fmla="*/ 0 h 807"/>
              <a:gd name="T68" fmla="*/ 2147483646 w 741"/>
              <a:gd name="T69" fmla="*/ 2147483646 h 807"/>
              <a:gd name="T70" fmla="*/ 2147483646 w 741"/>
              <a:gd name="T71" fmla="*/ 2147483646 h 807"/>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741" h="807">
                <a:moveTo>
                  <a:pt x="243" y="26"/>
                </a:moveTo>
                <a:lnTo>
                  <a:pt x="179" y="74"/>
                </a:lnTo>
                <a:lnTo>
                  <a:pt x="144" y="131"/>
                </a:lnTo>
                <a:lnTo>
                  <a:pt x="112" y="192"/>
                </a:lnTo>
                <a:lnTo>
                  <a:pt x="92" y="224"/>
                </a:lnTo>
                <a:lnTo>
                  <a:pt x="92" y="259"/>
                </a:lnTo>
                <a:lnTo>
                  <a:pt x="109" y="300"/>
                </a:lnTo>
                <a:lnTo>
                  <a:pt x="77" y="332"/>
                </a:lnTo>
                <a:lnTo>
                  <a:pt x="26" y="420"/>
                </a:lnTo>
                <a:lnTo>
                  <a:pt x="0" y="467"/>
                </a:lnTo>
                <a:lnTo>
                  <a:pt x="0" y="482"/>
                </a:lnTo>
                <a:lnTo>
                  <a:pt x="6" y="498"/>
                </a:lnTo>
                <a:lnTo>
                  <a:pt x="28" y="503"/>
                </a:lnTo>
                <a:lnTo>
                  <a:pt x="60" y="504"/>
                </a:lnTo>
                <a:lnTo>
                  <a:pt x="79" y="511"/>
                </a:lnTo>
                <a:lnTo>
                  <a:pt x="77" y="546"/>
                </a:lnTo>
                <a:lnTo>
                  <a:pt x="67" y="587"/>
                </a:lnTo>
                <a:lnTo>
                  <a:pt x="86" y="609"/>
                </a:lnTo>
                <a:lnTo>
                  <a:pt x="80" y="639"/>
                </a:lnTo>
                <a:lnTo>
                  <a:pt x="95" y="659"/>
                </a:lnTo>
                <a:lnTo>
                  <a:pt x="110" y="713"/>
                </a:lnTo>
                <a:lnTo>
                  <a:pt x="133" y="728"/>
                </a:lnTo>
                <a:lnTo>
                  <a:pt x="167" y="728"/>
                </a:lnTo>
                <a:lnTo>
                  <a:pt x="217" y="721"/>
                </a:lnTo>
                <a:lnTo>
                  <a:pt x="269" y="713"/>
                </a:lnTo>
                <a:lnTo>
                  <a:pt x="263" y="807"/>
                </a:lnTo>
                <a:lnTo>
                  <a:pt x="658" y="681"/>
                </a:lnTo>
                <a:lnTo>
                  <a:pt x="626" y="606"/>
                </a:lnTo>
                <a:lnTo>
                  <a:pt x="634" y="549"/>
                </a:lnTo>
                <a:lnTo>
                  <a:pt x="741" y="441"/>
                </a:lnTo>
                <a:lnTo>
                  <a:pt x="741" y="155"/>
                </a:lnTo>
                <a:lnTo>
                  <a:pt x="668" y="77"/>
                </a:lnTo>
                <a:lnTo>
                  <a:pt x="577" y="35"/>
                </a:lnTo>
                <a:lnTo>
                  <a:pt x="481" y="0"/>
                </a:lnTo>
                <a:lnTo>
                  <a:pt x="355" y="18"/>
                </a:lnTo>
                <a:lnTo>
                  <a:pt x="243" y="26"/>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6" name="Freeform 269"/>
          <p:cNvSpPr>
            <a:spLocks/>
          </p:cNvSpPr>
          <p:nvPr/>
        </p:nvSpPr>
        <p:spPr bwMode="auto">
          <a:xfrm>
            <a:off x="7159703" y="3121692"/>
            <a:ext cx="7046" cy="1858"/>
          </a:xfrm>
          <a:custGeom>
            <a:avLst/>
            <a:gdLst>
              <a:gd name="T0" fmla="*/ 0 w 42"/>
              <a:gd name="T1" fmla="*/ 2147483646 h 9"/>
              <a:gd name="T2" fmla="*/ 2147483646 w 42"/>
              <a:gd name="T3" fmla="*/ 2147483646 h 9"/>
              <a:gd name="T4" fmla="*/ 2147483646 w 42"/>
              <a:gd name="T5" fmla="*/ 2147483646 h 9"/>
              <a:gd name="T6" fmla="*/ 2147483646 w 42"/>
              <a:gd name="T7" fmla="*/ 2147483646 h 9"/>
              <a:gd name="T8" fmla="*/ 2147483646 w 42"/>
              <a:gd name="T9" fmla="*/ 2147483646 h 9"/>
              <a:gd name="T10" fmla="*/ 2147483646 w 42"/>
              <a:gd name="T11" fmla="*/ 0 h 9"/>
              <a:gd name="T12" fmla="*/ 0 w 42"/>
              <a:gd name="T13" fmla="*/ 2147483646 h 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2" h="9">
                <a:moveTo>
                  <a:pt x="0" y="3"/>
                </a:moveTo>
                <a:lnTo>
                  <a:pt x="9" y="8"/>
                </a:lnTo>
                <a:lnTo>
                  <a:pt x="30" y="6"/>
                </a:lnTo>
                <a:lnTo>
                  <a:pt x="39" y="9"/>
                </a:lnTo>
                <a:lnTo>
                  <a:pt x="42" y="2"/>
                </a:lnTo>
                <a:lnTo>
                  <a:pt x="29" y="0"/>
                </a:lnTo>
                <a:lnTo>
                  <a:pt x="0" y="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7" name="Freeform 270"/>
          <p:cNvSpPr>
            <a:spLocks/>
          </p:cNvSpPr>
          <p:nvPr/>
        </p:nvSpPr>
        <p:spPr bwMode="auto">
          <a:xfrm>
            <a:off x="7166749" y="3117047"/>
            <a:ext cx="3020" cy="4646"/>
          </a:xfrm>
          <a:custGeom>
            <a:avLst/>
            <a:gdLst>
              <a:gd name="T0" fmla="*/ 0 w 17"/>
              <a:gd name="T1" fmla="*/ 0 h 31"/>
              <a:gd name="T2" fmla="*/ 2147483646 w 17"/>
              <a:gd name="T3" fmla="*/ 2147483646 h 31"/>
              <a:gd name="T4" fmla="*/ 2147483646 w 17"/>
              <a:gd name="T5" fmla="*/ 2147483646 h 31"/>
              <a:gd name="T6" fmla="*/ 2147483646 w 17"/>
              <a:gd name="T7" fmla="*/ 2147483646 h 31"/>
              <a:gd name="T8" fmla="*/ 2147483646 w 17"/>
              <a:gd name="T9" fmla="*/ 2147483646 h 31"/>
              <a:gd name="T10" fmla="*/ 2147483646 w 17"/>
              <a:gd name="T11" fmla="*/ 2147483646 h 31"/>
              <a:gd name="T12" fmla="*/ 0 w 17"/>
              <a:gd name="T13" fmla="*/ 0 h 3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 h="31">
                <a:moveTo>
                  <a:pt x="0" y="0"/>
                </a:moveTo>
                <a:lnTo>
                  <a:pt x="11" y="7"/>
                </a:lnTo>
                <a:lnTo>
                  <a:pt x="11" y="16"/>
                </a:lnTo>
                <a:lnTo>
                  <a:pt x="13" y="31"/>
                </a:lnTo>
                <a:lnTo>
                  <a:pt x="17" y="12"/>
                </a:lnTo>
                <a:lnTo>
                  <a:pt x="17" y="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8" name="Freeform 271"/>
          <p:cNvSpPr>
            <a:spLocks/>
          </p:cNvSpPr>
          <p:nvPr/>
        </p:nvSpPr>
        <p:spPr bwMode="auto">
          <a:xfrm>
            <a:off x="7171782" y="3101250"/>
            <a:ext cx="3020" cy="9292"/>
          </a:xfrm>
          <a:custGeom>
            <a:avLst/>
            <a:gdLst>
              <a:gd name="T0" fmla="*/ 2147483646 w 19"/>
              <a:gd name="T1" fmla="*/ 0 h 60"/>
              <a:gd name="T2" fmla="*/ 2147483646 w 19"/>
              <a:gd name="T3" fmla="*/ 2147483646 h 60"/>
              <a:gd name="T4" fmla="*/ 0 w 19"/>
              <a:gd name="T5" fmla="*/ 2147483646 h 60"/>
              <a:gd name="T6" fmla="*/ 2147483646 w 19"/>
              <a:gd name="T7" fmla="*/ 2147483646 h 60"/>
              <a:gd name="T8" fmla="*/ 2147483646 w 19"/>
              <a:gd name="T9" fmla="*/ 0 h 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60">
                <a:moveTo>
                  <a:pt x="19" y="0"/>
                </a:moveTo>
                <a:lnTo>
                  <a:pt x="5" y="34"/>
                </a:lnTo>
                <a:lnTo>
                  <a:pt x="0" y="60"/>
                </a:lnTo>
                <a:lnTo>
                  <a:pt x="9" y="43"/>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79" name="Freeform 272"/>
          <p:cNvSpPr>
            <a:spLocks/>
          </p:cNvSpPr>
          <p:nvPr/>
        </p:nvSpPr>
        <p:spPr bwMode="auto">
          <a:xfrm>
            <a:off x="7173796" y="3091958"/>
            <a:ext cx="13086" cy="8363"/>
          </a:xfrm>
          <a:custGeom>
            <a:avLst/>
            <a:gdLst>
              <a:gd name="T0" fmla="*/ 0 w 80"/>
              <a:gd name="T1" fmla="*/ 0 h 51"/>
              <a:gd name="T2" fmla="*/ 2147483646 w 80"/>
              <a:gd name="T3" fmla="*/ 2147483646 h 51"/>
              <a:gd name="T4" fmla="*/ 2147483646 w 80"/>
              <a:gd name="T5" fmla="*/ 2147483646 h 51"/>
              <a:gd name="T6" fmla="*/ 2147483646 w 80"/>
              <a:gd name="T7" fmla="*/ 2147483646 h 51"/>
              <a:gd name="T8" fmla="*/ 2147483646 w 80"/>
              <a:gd name="T9" fmla="*/ 2147483646 h 51"/>
              <a:gd name="T10" fmla="*/ 2147483646 w 80"/>
              <a:gd name="T11" fmla="*/ 2147483646 h 51"/>
              <a:gd name="T12" fmla="*/ 2147483646 w 80"/>
              <a:gd name="T13" fmla="*/ 2147483646 h 51"/>
              <a:gd name="T14" fmla="*/ 2147483646 w 80"/>
              <a:gd name="T15" fmla="*/ 2147483646 h 51"/>
              <a:gd name="T16" fmla="*/ 2147483646 w 80"/>
              <a:gd name="T17" fmla="*/ 2147483646 h 51"/>
              <a:gd name="T18" fmla="*/ 2147483646 w 80"/>
              <a:gd name="T19" fmla="*/ 2147483646 h 51"/>
              <a:gd name="T20" fmla="*/ 0 w 80"/>
              <a:gd name="T21" fmla="*/ 0 h 51"/>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80" h="51">
                <a:moveTo>
                  <a:pt x="0" y="0"/>
                </a:moveTo>
                <a:lnTo>
                  <a:pt x="17" y="28"/>
                </a:lnTo>
                <a:lnTo>
                  <a:pt x="13" y="35"/>
                </a:lnTo>
                <a:lnTo>
                  <a:pt x="13" y="40"/>
                </a:lnTo>
                <a:lnTo>
                  <a:pt x="9" y="51"/>
                </a:lnTo>
                <a:lnTo>
                  <a:pt x="20" y="34"/>
                </a:lnTo>
                <a:lnTo>
                  <a:pt x="35" y="34"/>
                </a:lnTo>
                <a:lnTo>
                  <a:pt x="52" y="28"/>
                </a:lnTo>
                <a:lnTo>
                  <a:pt x="80" y="26"/>
                </a:lnTo>
                <a:lnTo>
                  <a:pt x="52" y="9"/>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0" name="Freeform 273"/>
          <p:cNvSpPr>
            <a:spLocks/>
          </p:cNvSpPr>
          <p:nvPr/>
        </p:nvSpPr>
        <p:spPr bwMode="auto">
          <a:xfrm>
            <a:off x="7170776" y="3080807"/>
            <a:ext cx="22145" cy="7434"/>
          </a:xfrm>
          <a:custGeom>
            <a:avLst/>
            <a:gdLst>
              <a:gd name="T0" fmla="*/ 0 w 135"/>
              <a:gd name="T1" fmla="*/ 2147483646 h 48"/>
              <a:gd name="T2" fmla="*/ 2147483646 w 135"/>
              <a:gd name="T3" fmla="*/ 2147483646 h 48"/>
              <a:gd name="T4" fmla="*/ 2147483646 w 135"/>
              <a:gd name="T5" fmla="*/ 2147483646 h 48"/>
              <a:gd name="T6" fmla="*/ 2147483646 w 135"/>
              <a:gd name="T7" fmla="*/ 2147483646 h 48"/>
              <a:gd name="T8" fmla="*/ 2147483646 w 135"/>
              <a:gd name="T9" fmla="*/ 2147483646 h 48"/>
              <a:gd name="T10" fmla="*/ 2147483646 w 135"/>
              <a:gd name="T11" fmla="*/ 2147483646 h 48"/>
              <a:gd name="T12" fmla="*/ 2147483646 w 135"/>
              <a:gd name="T13" fmla="*/ 2147483646 h 48"/>
              <a:gd name="T14" fmla="*/ 2147483646 w 135"/>
              <a:gd name="T15" fmla="*/ 2147483646 h 48"/>
              <a:gd name="T16" fmla="*/ 2147483646 w 135"/>
              <a:gd name="T17" fmla="*/ 2147483646 h 48"/>
              <a:gd name="T18" fmla="*/ 2147483646 w 135"/>
              <a:gd name="T19" fmla="*/ 0 h 48"/>
              <a:gd name="T20" fmla="*/ 2147483646 w 135"/>
              <a:gd name="T21" fmla="*/ 2147483646 h 48"/>
              <a:gd name="T22" fmla="*/ 2147483646 w 135"/>
              <a:gd name="T23" fmla="*/ 2147483646 h 48"/>
              <a:gd name="T24" fmla="*/ 2147483646 w 135"/>
              <a:gd name="T25" fmla="*/ 2147483646 h 48"/>
              <a:gd name="T26" fmla="*/ 2147483646 w 135"/>
              <a:gd name="T27" fmla="*/ 2147483646 h 48"/>
              <a:gd name="T28" fmla="*/ 0 w 135"/>
              <a:gd name="T29" fmla="*/ 2147483646 h 48"/>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35" h="48">
                <a:moveTo>
                  <a:pt x="0" y="25"/>
                </a:moveTo>
                <a:lnTo>
                  <a:pt x="6" y="42"/>
                </a:lnTo>
                <a:lnTo>
                  <a:pt x="20" y="48"/>
                </a:lnTo>
                <a:lnTo>
                  <a:pt x="42" y="34"/>
                </a:lnTo>
                <a:lnTo>
                  <a:pt x="69" y="25"/>
                </a:lnTo>
                <a:lnTo>
                  <a:pt x="113" y="24"/>
                </a:lnTo>
                <a:lnTo>
                  <a:pt x="135" y="27"/>
                </a:lnTo>
                <a:lnTo>
                  <a:pt x="101" y="12"/>
                </a:lnTo>
                <a:lnTo>
                  <a:pt x="77" y="6"/>
                </a:lnTo>
                <a:lnTo>
                  <a:pt x="80" y="0"/>
                </a:lnTo>
                <a:lnTo>
                  <a:pt x="57" y="9"/>
                </a:lnTo>
                <a:lnTo>
                  <a:pt x="59" y="3"/>
                </a:lnTo>
                <a:lnTo>
                  <a:pt x="40" y="12"/>
                </a:lnTo>
                <a:lnTo>
                  <a:pt x="23" y="12"/>
                </a:lnTo>
                <a:lnTo>
                  <a:pt x="0" y="2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1" name="Freeform 274"/>
          <p:cNvSpPr>
            <a:spLocks/>
          </p:cNvSpPr>
          <p:nvPr/>
        </p:nvSpPr>
        <p:spPr bwMode="auto">
          <a:xfrm>
            <a:off x="7221106" y="3091029"/>
            <a:ext cx="13087" cy="24159"/>
          </a:xfrm>
          <a:custGeom>
            <a:avLst/>
            <a:gdLst>
              <a:gd name="T0" fmla="*/ 0 w 78"/>
              <a:gd name="T1" fmla="*/ 2147483646 h 159"/>
              <a:gd name="T2" fmla="*/ 2147483646 w 78"/>
              <a:gd name="T3" fmla="*/ 2147483646 h 159"/>
              <a:gd name="T4" fmla="*/ 2147483646 w 78"/>
              <a:gd name="T5" fmla="*/ 2147483646 h 159"/>
              <a:gd name="T6" fmla="*/ 2147483646 w 78"/>
              <a:gd name="T7" fmla="*/ 2147483646 h 159"/>
              <a:gd name="T8" fmla="*/ 2147483646 w 78"/>
              <a:gd name="T9" fmla="*/ 2147483646 h 159"/>
              <a:gd name="T10" fmla="*/ 2147483646 w 78"/>
              <a:gd name="T11" fmla="*/ 2147483646 h 159"/>
              <a:gd name="T12" fmla="*/ 2147483646 w 78"/>
              <a:gd name="T13" fmla="*/ 2147483646 h 159"/>
              <a:gd name="T14" fmla="*/ 2147483646 w 78"/>
              <a:gd name="T15" fmla="*/ 2147483646 h 159"/>
              <a:gd name="T16" fmla="*/ 2147483646 w 78"/>
              <a:gd name="T17" fmla="*/ 2147483646 h 159"/>
              <a:gd name="T18" fmla="*/ 2147483646 w 78"/>
              <a:gd name="T19" fmla="*/ 2147483646 h 159"/>
              <a:gd name="T20" fmla="*/ 2147483646 w 78"/>
              <a:gd name="T21" fmla="*/ 2147483646 h 159"/>
              <a:gd name="T22" fmla="*/ 2147483646 w 78"/>
              <a:gd name="T23" fmla="*/ 2147483646 h 159"/>
              <a:gd name="T24" fmla="*/ 2147483646 w 78"/>
              <a:gd name="T25" fmla="*/ 2147483646 h 159"/>
              <a:gd name="T26" fmla="*/ 2147483646 w 78"/>
              <a:gd name="T27" fmla="*/ 2147483646 h 159"/>
              <a:gd name="T28" fmla="*/ 2147483646 w 78"/>
              <a:gd name="T29" fmla="*/ 2147483646 h 159"/>
              <a:gd name="T30" fmla="*/ 2147483646 w 78"/>
              <a:gd name="T31" fmla="*/ 2147483646 h 159"/>
              <a:gd name="T32" fmla="*/ 2147483646 w 78"/>
              <a:gd name="T33" fmla="*/ 2147483646 h 159"/>
              <a:gd name="T34" fmla="*/ 2147483646 w 78"/>
              <a:gd name="T35" fmla="*/ 2147483646 h 159"/>
              <a:gd name="T36" fmla="*/ 2147483646 w 78"/>
              <a:gd name="T37" fmla="*/ 2147483646 h 159"/>
              <a:gd name="T38" fmla="*/ 2147483646 w 78"/>
              <a:gd name="T39" fmla="*/ 2147483646 h 159"/>
              <a:gd name="T40" fmla="*/ 2147483646 w 78"/>
              <a:gd name="T41" fmla="*/ 0 h 159"/>
              <a:gd name="T42" fmla="*/ 2147483646 w 78"/>
              <a:gd name="T43" fmla="*/ 2147483646 h 159"/>
              <a:gd name="T44" fmla="*/ 0 w 78"/>
              <a:gd name="T45" fmla="*/ 2147483646 h 159"/>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78" h="159">
                <a:moveTo>
                  <a:pt x="0" y="30"/>
                </a:moveTo>
                <a:lnTo>
                  <a:pt x="24" y="10"/>
                </a:lnTo>
                <a:lnTo>
                  <a:pt x="52" y="15"/>
                </a:lnTo>
                <a:lnTo>
                  <a:pt x="68" y="41"/>
                </a:lnTo>
                <a:lnTo>
                  <a:pt x="71" y="77"/>
                </a:lnTo>
                <a:lnTo>
                  <a:pt x="68" y="105"/>
                </a:lnTo>
                <a:lnTo>
                  <a:pt x="59" y="128"/>
                </a:lnTo>
                <a:lnTo>
                  <a:pt x="44" y="93"/>
                </a:lnTo>
                <a:lnTo>
                  <a:pt x="31" y="73"/>
                </a:lnTo>
                <a:lnTo>
                  <a:pt x="5" y="60"/>
                </a:lnTo>
                <a:lnTo>
                  <a:pt x="25" y="89"/>
                </a:lnTo>
                <a:lnTo>
                  <a:pt x="47" y="111"/>
                </a:lnTo>
                <a:lnTo>
                  <a:pt x="49" y="134"/>
                </a:lnTo>
                <a:lnTo>
                  <a:pt x="40" y="156"/>
                </a:lnTo>
                <a:lnTo>
                  <a:pt x="28" y="159"/>
                </a:lnTo>
                <a:lnTo>
                  <a:pt x="61" y="151"/>
                </a:lnTo>
                <a:lnTo>
                  <a:pt x="77" y="117"/>
                </a:lnTo>
                <a:lnTo>
                  <a:pt x="78" y="73"/>
                </a:lnTo>
                <a:lnTo>
                  <a:pt x="77" y="33"/>
                </a:lnTo>
                <a:lnTo>
                  <a:pt x="59" y="7"/>
                </a:lnTo>
                <a:lnTo>
                  <a:pt x="34" y="0"/>
                </a:lnTo>
                <a:lnTo>
                  <a:pt x="10" y="4"/>
                </a:lnTo>
                <a:lnTo>
                  <a:pt x="0" y="3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2" name="Freeform 275"/>
          <p:cNvSpPr>
            <a:spLocks/>
          </p:cNvSpPr>
          <p:nvPr/>
        </p:nvSpPr>
        <p:spPr bwMode="auto">
          <a:xfrm>
            <a:off x="7218087" y="3087312"/>
            <a:ext cx="21139" cy="32521"/>
          </a:xfrm>
          <a:custGeom>
            <a:avLst/>
            <a:gdLst>
              <a:gd name="T0" fmla="*/ 0 w 129"/>
              <a:gd name="T1" fmla="*/ 2147483646 h 215"/>
              <a:gd name="T2" fmla="*/ 2147483646 w 129"/>
              <a:gd name="T3" fmla="*/ 2147483646 h 215"/>
              <a:gd name="T4" fmla="*/ 2147483646 w 129"/>
              <a:gd name="T5" fmla="*/ 2147483646 h 215"/>
              <a:gd name="T6" fmla="*/ 2147483646 w 129"/>
              <a:gd name="T7" fmla="*/ 2147483646 h 215"/>
              <a:gd name="T8" fmla="*/ 2147483646 w 129"/>
              <a:gd name="T9" fmla="*/ 2147483646 h 215"/>
              <a:gd name="T10" fmla="*/ 2147483646 w 129"/>
              <a:gd name="T11" fmla="*/ 2147483646 h 215"/>
              <a:gd name="T12" fmla="*/ 2147483646 w 129"/>
              <a:gd name="T13" fmla="*/ 2147483646 h 215"/>
              <a:gd name="T14" fmla="*/ 2147483646 w 129"/>
              <a:gd name="T15" fmla="*/ 2147483646 h 215"/>
              <a:gd name="T16" fmla="*/ 2147483646 w 129"/>
              <a:gd name="T17" fmla="*/ 2147483646 h 215"/>
              <a:gd name="T18" fmla="*/ 2147483646 w 129"/>
              <a:gd name="T19" fmla="*/ 2147483646 h 215"/>
              <a:gd name="T20" fmla="*/ 2147483646 w 129"/>
              <a:gd name="T21" fmla="*/ 2147483646 h 215"/>
              <a:gd name="T22" fmla="*/ 2147483646 w 129"/>
              <a:gd name="T23" fmla="*/ 2147483646 h 215"/>
              <a:gd name="T24" fmla="*/ 2147483646 w 129"/>
              <a:gd name="T25" fmla="*/ 2147483646 h 215"/>
              <a:gd name="T26" fmla="*/ 2147483646 w 129"/>
              <a:gd name="T27" fmla="*/ 2147483646 h 215"/>
              <a:gd name="T28" fmla="*/ 2147483646 w 129"/>
              <a:gd name="T29" fmla="*/ 2147483646 h 215"/>
              <a:gd name="T30" fmla="*/ 2147483646 w 129"/>
              <a:gd name="T31" fmla="*/ 2147483646 h 215"/>
              <a:gd name="T32" fmla="*/ 2147483646 w 129"/>
              <a:gd name="T33" fmla="*/ 2147483646 h 215"/>
              <a:gd name="T34" fmla="*/ 2147483646 w 129"/>
              <a:gd name="T35" fmla="*/ 2147483646 h 215"/>
              <a:gd name="T36" fmla="*/ 2147483646 w 129"/>
              <a:gd name="T37" fmla="*/ 2147483646 h 215"/>
              <a:gd name="T38" fmla="*/ 2147483646 w 129"/>
              <a:gd name="T39" fmla="*/ 2147483646 h 215"/>
              <a:gd name="T40" fmla="*/ 2147483646 w 129"/>
              <a:gd name="T41" fmla="*/ 2147483646 h 215"/>
              <a:gd name="T42" fmla="*/ 2147483646 w 129"/>
              <a:gd name="T43" fmla="*/ 2147483646 h 215"/>
              <a:gd name="T44" fmla="*/ 2147483646 w 129"/>
              <a:gd name="T45" fmla="*/ 2147483646 h 215"/>
              <a:gd name="T46" fmla="*/ 2147483646 w 129"/>
              <a:gd name="T47" fmla="*/ 0 h 215"/>
              <a:gd name="T48" fmla="*/ 2147483646 w 129"/>
              <a:gd name="T49" fmla="*/ 2147483646 h 215"/>
              <a:gd name="T50" fmla="*/ 2147483646 w 129"/>
              <a:gd name="T51" fmla="*/ 2147483646 h 215"/>
              <a:gd name="T52" fmla="*/ 0 w 129"/>
              <a:gd name="T53" fmla="*/ 2147483646 h 215"/>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129" h="215">
                <a:moveTo>
                  <a:pt x="0" y="53"/>
                </a:moveTo>
                <a:lnTo>
                  <a:pt x="20" y="19"/>
                </a:lnTo>
                <a:lnTo>
                  <a:pt x="54" y="9"/>
                </a:lnTo>
                <a:lnTo>
                  <a:pt x="95" y="16"/>
                </a:lnTo>
                <a:lnTo>
                  <a:pt x="109" y="35"/>
                </a:lnTo>
                <a:lnTo>
                  <a:pt x="120" y="67"/>
                </a:lnTo>
                <a:lnTo>
                  <a:pt x="120" y="93"/>
                </a:lnTo>
                <a:lnTo>
                  <a:pt x="114" y="111"/>
                </a:lnTo>
                <a:lnTo>
                  <a:pt x="114" y="137"/>
                </a:lnTo>
                <a:lnTo>
                  <a:pt x="107" y="168"/>
                </a:lnTo>
                <a:lnTo>
                  <a:pt x="80" y="198"/>
                </a:lnTo>
                <a:lnTo>
                  <a:pt x="63" y="198"/>
                </a:lnTo>
                <a:lnTo>
                  <a:pt x="40" y="198"/>
                </a:lnTo>
                <a:lnTo>
                  <a:pt x="40" y="203"/>
                </a:lnTo>
                <a:lnTo>
                  <a:pt x="57" y="215"/>
                </a:lnTo>
                <a:lnTo>
                  <a:pt x="76" y="211"/>
                </a:lnTo>
                <a:lnTo>
                  <a:pt x="101" y="201"/>
                </a:lnTo>
                <a:lnTo>
                  <a:pt x="121" y="171"/>
                </a:lnTo>
                <a:lnTo>
                  <a:pt x="123" y="121"/>
                </a:lnTo>
                <a:lnTo>
                  <a:pt x="129" y="87"/>
                </a:lnTo>
                <a:lnTo>
                  <a:pt x="129" y="58"/>
                </a:lnTo>
                <a:lnTo>
                  <a:pt x="117" y="32"/>
                </a:lnTo>
                <a:lnTo>
                  <a:pt x="103" y="9"/>
                </a:lnTo>
                <a:lnTo>
                  <a:pt x="69" y="0"/>
                </a:lnTo>
                <a:lnTo>
                  <a:pt x="20" y="6"/>
                </a:lnTo>
                <a:lnTo>
                  <a:pt x="3" y="19"/>
                </a:lnTo>
                <a:lnTo>
                  <a:pt x="0" y="5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3" name="Freeform 276"/>
          <p:cNvSpPr>
            <a:spLocks/>
          </p:cNvSpPr>
          <p:nvPr/>
        </p:nvSpPr>
        <p:spPr bwMode="auto">
          <a:xfrm>
            <a:off x="7207014" y="3122622"/>
            <a:ext cx="19126" cy="27876"/>
          </a:xfrm>
          <a:custGeom>
            <a:avLst/>
            <a:gdLst>
              <a:gd name="T0" fmla="*/ 2147483646 w 118"/>
              <a:gd name="T1" fmla="*/ 0 h 179"/>
              <a:gd name="T2" fmla="*/ 2147483646 w 118"/>
              <a:gd name="T3" fmla="*/ 2147483646 h 179"/>
              <a:gd name="T4" fmla="*/ 2147483646 w 118"/>
              <a:gd name="T5" fmla="*/ 2147483646 h 179"/>
              <a:gd name="T6" fmla="*/ 2147483646 w 118"/>
              <a:gd name="T7" fmla="*/ 2147483646 h 179"/>
              <a:gd name="T8" fmla="*/ 2147483646 w 118"/>
              <a:gd name="T9" fmla="*/ 2147483646 h 179"/>
              <a:gd name="T10" fmla="*/ 0 w 118"/>
              <a:gd name="T11" fmla="*/ 2147483646 h 179"/>
              <a:gd name="T12" fmla="*/ 2147483646 w 118"/>
              <a:gd name="T13" fmla="*/ 2147483646 h 179"/>
              <a:gd name="T14" fmla="*/ 2147483646 w 118"/>
              <a:gd name="T15" fmla="*/ 2147483646 h 179"/>
              <a:gd name="T16" fmla="*/ 2147483646 w 118"/>
              <a:gd name="T17" fmla="*/ 2147483646 h 179"/>
              <a:gd name="T18" fmla="*/ 2147483646 w 118"/>
              <a:gd name="T19" fmla="*/ 0 h 17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18" h="179">
                <a:moveTo>
                  <a:pt x="118" y="0"/>
                </a:moveTo>
                <a:lnTo>
                  <a:pt x="102" y="39"/>
                </a:lnTo>
                <a:lnTo>
                  <a:pt x="77" y="80"/>
                </a:lnTo>
                <a:lnTo>
                  <a:pt x="52" y="116"/>
                </a:lnTo>
                <a:lnTo>
                  <a:pt x="17" y="164"/>
                </a:lnTo>
                <a:lnTo>
                  <a:pt x="0" y="179"/>
                </a:lnTo>
                <a:lnTo>
                  <a:pt x="39" y="159"/>
                </a:lnTo>
                <a:lnTo>
                  <a:pt x="70" y="115"/>
                </a:lnTo>
                <a:lnTo>
                  <a:pt x="99" y="67"/>
                </a:lnTo>
                <a:lnTo>
                  <a:pt x="11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4" name="Freeform 277"/>
          <p:cNvSpPr>
            <a:spLocks/>
          </p:cNvSpPr>
          <p:nvPr/>
        </p:nvSpPr>
        <p:spPr bwMode="auto">
          <a:xfrm>
            <a:off x="7173796" y="3028773"/>
            <a:ext cx="112742" cy="103141"/>
          </a:xfrm>
          <a:custGeom>
            <a:avLst/>
            <a:gdLst>
              <a:gd name="T0" fmla="*/ 2147483646 w 671"/>
              <a:gd name="T1" fmla="*/ 2147483646 h 670"/>
              <a:gd name="T2" fmla="*/ 2147483646 w 671"/>
              <a:gd name="T3" fmla="*/ 2147483646 h 670"/>
              <a:gd name="T4" fmla="*/ 2147483646 w 671"/>
              <a:gd name="T5" fmla="*/ 2147483646 h 670"/>
              <a:gd name="T6" fmla="*/ 2147483646 w 671"/>
              <a:gd name="T7" fmla="*/ 2147483646 h 670"/>
              <a:gd name="T8" fmla="*/ 2147483646 w 671"/>
              <a:gd name="T9" fmla="*/ 2147483646 h 670"/>
              <a:gd name="T10" fmla="*/ 2147483646 w 671"/>
              <a:gd name="T11" fmla="*/ 2147483646 h 670"/>
              <a:gd name="T12" fmla="*/ 2147483646 w 671"/>
              <a:gd name="T13" fmla="*/ 2147483646 h 670"/>
              <a:gd name="T14" fmla="*/ 2147483646 w 671"/>
              <a:gd name="T15" fmla="*/ 2147483646 h 670"/>
              <a:gd name="T16" fmla="*/ 2147483646 w 671"/>
              <a:gd name="T17" fmla="*/ 2147483646 h 670"/>
              <a:gd name="T18" fmla="*/ 2147483646 w 671"/>
              <a:gd name="T19" fmla="*/ 2147483646 h 670"/>
              <a:gd name="T20" fmla="*/ 2147483646 w 671"/>
              <a:gd name="T21" fmla="*/ 2147483646 h 670"/>
              <a:gd name="T22" fmla="*/ 2147483646 w 671"/>
              <a:gd name="T23" fmla="*/ 2147483646 h 670"/>
              <a:gd name="T24" fmla="*/ 2147483646 w 671"/>
              <a:gd name="T25" fmla="*/ 2147483646 h 670"/>
              <a:gd name="T26" fmla="*/ 2147483646 w 671"/>
              <a:gd name="T27" fmla="*/ 2147483646 h 670"/>
              <a:gd name="T28" fmla="*/ 2147483646 w 671"/>
              <a:gd name="T29" fmla="*/ 2147483646 h 670"/>
              <a:gd name="T30" fmla="*/ 2147483646 w 671"/>
              <a:gd name="T31" fmla="*/ 2147483646 h 670"/>
              <a:gd name="T32" fmla="*/ 2147483646 w 671"/>
              <a:gd name="T33" fmla="*/ 2147483646 h 670"/>
              <a:gd name="T34" fmla="*/ 2147483646 w 671"/>
              <a:gd name="T35" fmla="*/ 2147483646 h 670"/>
              <a:gd name="T36" fmla="*/ 2147483646 w 671"/>
              <a:gd name="T37" fmla="*/ 2147483646 h 670"/>
              <a:gd name="T38" fmla="*/ 2147483646 w 671"/>
              <a:gd name="T39" fmla="*/ 2147483646 h 670"/>
              <a:gd name="T40" fmla="*/ 2147483646 w 671"/>
              <a:gd name="T41" fmla="*/ 2147483646 h 670"/>
              <a:gd name="T42" fmla="*/ 2147483646 w 671"/>
              <a:gd name="T43" fmla="*/ 2147483646 h 670"/>
              <a:gd name="T44" fmla="*/ 2147483646 w 671"/>
              <a:gd name="T45" fmla="*/ 2147483646 h 670"/>
              <a:gd name="T46" fmla="*/ 2147483646 w 671"/>
              <a:gd name="T47" fmla="*/ 2147483646 h 670"/>
              <a:gd name="T48" fmla="*/ 2147483646 w 671"/>
              <a:gd name="T49" fmla="*/ 2147483646 h 670"/>
              <a:gd name="T50" fmla="*/ 2147483646 w 671"/>
              <a:gd name="T51" fmla="*/ 2147483646 h 670"/>
              <a:gd name="T52" fmla="*/ 2147483646 w 671"/>
              <a:gd name="T53" fmla="*/ 2147483646 h 670"/>
              <a:gd name="T54" fmla="*/ 2147483646 w 671"/>
              <a:gd name="T55" fmla="*/ 2147483646 h 670"/>
              <a:gd name="T56" fmla="*/ 2147483646 w 671"/>
              <a:gd name="T57" fmla="*/ 2147483646 h 670"/>
              <a:gd name="T58" fmla="*/ 2147483646 w 671"/>
              <a:gd name="T59" fmla="*/ 2147483646 h 670"/>
              <a:gd name="T60" fmla="*/ 2147483646 w 671"/>
              <a:gd name="T61" fmla="*/ 0 h 670"/>
              <a:gd name="T62" fmla="*/ 2147483646 w 671"/>
              <a:gd name="T63" fmla="*/ 2147483646 h 670"/>
              <a:gd name="T64" fmla="*/ 2147483646 w 671"/>
              <a:gd name="T65" fmla="*/ 2147483646 h 670"/>
              <a:gd name="T66" fmla="*/ 2147483646 w 671"/>
              <a:gd name="T67" fmla="*/ 2147483646 h 670"/>
              <a:gd name="T68" fmla="*/ 2147483646 w 671"/>
              <a:gd name="T69" fmla="*/ 2147483646 h 670"/>
              <a:gd name="T70" fmla="*/ 0 w 671"/>
              <a:gd name="T71" fmla="*/ 2147483646 h 670"/>
              <a:gd name="T72" fmla="*/ 2147483646 w 671"/>
              <a:gd name="T73" fmla="*/ 2147483646 h 670"/>
              <a:gd name="T74" fmla="*/ 2147483646 w 671"/>
              <a:gd name="T75" fmla="*/ 2147483646 h 670"/>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671" h="670">
                <a:moveTo>
                  <a:pt x="54" y="193"/>
                </a:moveTo>
                <a:lnTo>
                  <a:pt x="155" y="177"/>
                </a:lnTo>
                <a:lnTo>
                  <a:pt x="223" y="187"/>
                </a:lnTo>
                <a:lnTo>
                  <a:pt x="264" y="234"/>
                </a:lnTo>
                <a:lnTo>
                  <a:pt x="238" y="290"/>
                </a:lnTo>
                <a:lnTo>
                  <a:pt x="206" y="311"/>
                </a:lnTo>
                <a:lnTo>
                  <a:pt x="197" y="366"/>
                </a:lnTo>
                <a:lnTo>
                  <a:pt x="217" y="401"/>
                </a:lnTo>
                <a:lnTo>
                  <a:pt x="200" y="453"/>
                </a:lnTo>
                <a:lnTo>
                  <a:pt x="242" y="453"/>
                </a:lnTo>
                <a:lnTo>
                  <a:pt x="254" y="394"/>
                </a:lnTo>
                <a:lnTo>
                  <a:pt x="280" y="366"/>
                </a:lnTo>
                <a:lnTo>
                  <a:pt x="329" y="366"/>
                </a:lnTo>
                <a:lnTo>
                  <a:pt x="378" y="378"/>
                </a:lnTo>
                <a:lnTo>
                  <a:pt x="393" y="419"/>
                </a:lnTo>
                <a:lnTo>
                  <a:pt x="399" y="475"/>
                </a:lnTo>
                <a:lnTo>
                  <a:pt x="393" y="516"/>
                </a:lnTo>
                <a:lnTo>
                  <a:pt x="393" y="547"/>
                </a:lnTo>
                <a:lnTo>
                  <a:pt x="396" y="581"/>
                </a:lnTo>
                <a:lnTo>
                  <a:pt x="428" y="613"/>
                </a:lnTo>
                <a:lnTo>
                  <a:pt x="451" y="632"/>
                </a:lnTo>
                <a:lnTo>
                  <a:pt x="510" y="670"/>
                </a:lnTo>
                <a:lnTo>
                  <a:pt x="620" y="558"/>
                </a:lnTo>
                <a:lnTo>
                  <a:pt x="652" y="466"/>
                </a:lnTo>
                <a:lnTo>
                  <a:pt x="665" y="318"/>
                </a:lnTo>
                <a:lnTo>
                  <a:pt x="671" y="215"/>
                </a:lnTo>
                <a:lnTo>
                  <a:pt x="658" y="114"/>
                </a:lnTo>
                <a:lnTo>
                  <a:pt x="629" y="59"/>
                </a:lnTo>
                <a:lnTo>
                  <a:pt x="562" y="21"/>
                </a:lnTo>
                <a:lnTo>
                  <a:pt x="502" y="8"/>
                </a:lnTo>
                <a:lnTo>
                  <a:pt x="384" y="0"/>
                </a:lnTo>
                <a:lnTo>
                  <a:pt x="270" y="5"/>
                </a:lnTo>
                <a:lnTo>
                  <a:pt x="129" y="30"/>
                </a:lnTo>
                <a:lnTo>
                  <a:pt x="64" y="62"/>
                </a:lnTo>
                <a:lnTo>
                  <a:pt x="32" y="94"/>
                </a:lnTo>
                <a:lnTo>
                  <a:pt x="0" y="140"/>
                </a:lnTo>
                <a:lnTo>
                  <a:pt x="6" y="166"/>
                </a:lnTo>
                <a:lnTo>
                  <a:pt x="54" y="193"/>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5" name="Freeform 278"/>
          <p:cNvSpPr>
            <a:spLocks/>
          </p:cNvSpPr>
          <p:nvPr/>
        </p:nvSpPr>
        <p:spPr bwMode="auto">
          <a:xfrm>
            <a:off x="7176815" y="3029702"/>
            <a:ext cx="107709" cy="99423"/>
          </a:xfrm>
          <a:custGeom>
            <a:avLst/>
            <a:gdLst>
              <a:gd name="T0" fmla="*/ 2147483646 w 636"/>
              <a:gd name="T1" fmla="*/ 2147483646 h 643"/>
              <a:gd name="T2" fmla="*/ 2147483646 w 636"/>
              <a:gd name="T3" fmla="*/ 2147483646 h 643"/>
              <a:gd name="T4" fmla="*/ 2147483646 w 636"/>
              <a:gd name="T5" fmla="*/ 2147483646 h 643"/>
              <a:gd name="T6" fmla="*/ 2147483646 w 636"/>
              <a:gd name="T7" fmla="*/ 2147483646 h 643"/>
              <a:gd name="T8" fmla="*/ 2147483646 w 636"/>
              <a:gd name="T9" fmla="*/ 2147483646 h 643"/>
              <a:gd name="T10" fmla="*/ 2147483646 w 636"/>
              <a:gd name="T11" fmla="*/ 2147483646 h 643"/>
              <a:gd name="T12" fmla="*/ 2147483646 w 636"/>
              <a:gd name="T13" fmla="*/ 2147483646 h 643"/>
              <a:gd name="T14" fmla="*/ 2147483646 w 636"/>
              <a:gd name="T15" fmla="*/ 2147483646 h 643"/>
              <a:gd name="T16" fmla="*/ 2147483646 w 636"/>
              <a:gd name="T17" fmla="*/ 2147483646 h 643"/>
              <a:gd name="T18" fmla="*/ 2147483646 w 636"/>
              <a:gd name="T19" fmla="*/ 2147483646 h 643"/>
              <a:gd name="T20" fmla="*/ 2147483646 w 636"/>
              <a:gd name="T21" fmla="*/ 2147483646 h 643"/>
              <a:gd name="T22" fmla="*/ 2147483646 w 636"/>
              <a:gd name="T23" fmla="*/ 2147483646 h 643"/>
              <a:gd name="T24" fmla="*/ 2147483646 w 636"/>
              <a:gd name="T25" fmla="*/ 2147483646 h 643"/>
              <a:gd name="T26" fmla="*/ 2147483646 w 636"/>
              <a:gd name="T27" fmla="*/ 2147483646 h 643"/>
              <a:gd name="T28" fmla="*/ 2147483646 w 636"/>
              <a:gd name="T29" fmla="*/ 2147483646 h 643"/>
              <a:gd name="T30" fmla="*/ 2147483646 w 636"/>
              <a:gd name="T31" fmla="*/ 2147483646 h 643"/>
              <a:gd name="T32" fmla="*/ 2147483646 w 636"/>
              <a:gd name="T33" fmla="*/ 2147483646 h 643"/>
              <a:gd name="T34" fmla="*/ 2147483646 w 636"/>
              <a:gd name="T35" fmla="*/ 2147483646 h 643"/>
              <a:gd name="T36" fmla="*/ 2147483646 w 636"/>
              <a:gd name="T37" fmla="*/ 2147483646 h 643"/>
              <a:gd name="T38" fmla="*/ 2147483646 w 636"/>
              <a:gd name="T39" fmla="*/ 2147483646 h 643"/>
              <a:gd name="T40" fmla="*/ 2147483646 w 636"/>
              <a:gd name="T41" fmla="*/ 2147483646 h 643"/>
              <a:gd name="T42" fmla="*/ 2147483646 w 636"/>
              <a:gd name="T43" fmla="*/ 2147483646 h 643"/>
              <a:gd name="T44" fmla="*/ 2147483646 w 636"/>
              <a:gd name="T45" fmla="*/ 2147483646 h 643"/>
              <a:gd name="T46" fmla="*/ 2147483646 w 636"/>
              <a:gd name="T47" fmla="*/ 2147483646 h 643"/>
              <a:gd name="T48" fmla="*/ 2147483646 w 636"/>
              <a:gd name="T49" fmla="*/ 2147483646 h 643"/>
              <a:gd name="T50" fmla="*/ 2147483646 w 636"/>
              <a:gd name="T51" fmla="*/ 2147483646 h 643"/>
              <a:gd name="T52" fmla="*/ 2147483646 w 636"/>
              <a:gd name="T53" fmla="*/ 2147483646 h 643"/>
              <a:gd name="T54" fmla="*/ 2147483646 w 636"/>
              <a:gd name="T55" fmla="*/ 2147483646 h 643"/>
              <a:gd name="T56" fmla="*/ 2147483646 w 636"/>
              <a:gd name="T57" fmla="*/ 2147483646 h 643"/>
              <a:gd name="T58" fmla="*/ 2147483646 w 636"/>
              <a:gd name="T59" fmla="*/ 2147483646 h 643"/>
              <a:gd name="T60" fmla="*/ 2147483646 w 636"/>
              <a:gd name="T61" fmla="*/ 2147483646 h 643"/>
              <a:gd name="T62" fmla="*/ 2147483646 w 636"/>
              <a:gd name="T63" fmla="*/ 2147483646 h 643"/>
              <a:gd name="T64" fmla="*/ 2147483646 w 636"/>
              <a:gd name="T65" fmla="*/ 2147483646 h 643"/>
              <a:gd name="T66" fmla="*/ 2147483646 w 636"/>
              <a:gd name="T67" fmla="*/ 2147483646 h 643"/>
              <a:gd name="T68" fmla="*/ 2147483646 w 636"/>
              <a:gd name="T69" fmla="*/ 2147483646 h 643"/>
              <a:gd name="T70" fmla="*/ 2147483646 w 636"/>
              <a:gd name="T71" fmla="*/ 2147483646 h 643"/>
              <a:gd name="T72" fmla="*/ 2147483646 w 636"/>
              <a:gd name="T73" fmla="*/ 2147483646 h 643"/>
              <a:gd name="T74" fmla="*/ 2147483646 w 636"/>
              <a:gd name="T75" fmla="*/ 2147483646 h 643"/>
              <a:gd name="T76" fmla="*/ 2147483646 w 636"/>
              <a:gd name="T77" fmla="*/ 2147483646 h 643"/>
              <a:gd name="T78" fmla="*/ 2147483646 w 636"/>
              <a:gd name="T79" fmla="*/ 2147483646 h 643"/>
              <a:gd name="T80" fmla="*/ 2147483646 w 636"/>
              <a:gd name="T81" fmla="*/ 2147483646 h 643"/>
              <a:gd name="T82" fmla="*/ 2147483646 w 636"/>
              <a:gd name="T83" fmla="*/ 2147483646 h 643"/>
              <a:gd name="T84" fmla="*/ 2147483646 w 636"/>
              <a:gd name="T85" fmla="*/ 2147483646 h 643"/>
              <a:gd name="T86" fmla="*/ 2147483646 w 636"/>
              <a:gd name="T87" fmla="*/ 2147483646 h 64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636" h="643">
                <a:moveTo>
                  <a:pt x="104" y="41"/>
                </a:moveTo>
                <a:lnTo>
                  <a:pt x="51" y="63"/>
                </a:lnTo>
                <a:lnTo>
                  <a:pt x="25" y="98"/>
                </a:lnTo>
                <a:lnTo>
                  <a:pt x="10" y="121"/>
                </a:lnTo>
                <a:lnTo>
                  <a:pt x="0" y="138"/>
                </a:lnTo>
                <a:lnTo>
                  <a:pt x="13" y="152"/>
                </a:lnTo>
                <a:lnTo>
                  <a:pt x="41" y="169"/>
                </a:lnTo>
                <a:lnTo>
                  <a:pt x="110" y="158"/>
                </a:lnTo>
                <a:lnTo>
                  <a:pt x="160" y="158"/>
                </a:lnTo>
                <a:lnTo>
                  <a:pt x="194" y="141"/>
                </a:lnTo>
                <a:lnTo>
                  <a:pt x="245" y="129"/>
                </a:lnTo>
                <a:lnTo>
                  <a:pt x="290" y="126"/>
                </a:lnTo>
                <a:lnTo>
                  <a:pt x="342" y="129"/>
                </a:lnTo>
                <a:lnTo>
                  <a:pt x="267" y="138"/>
                </a:lnTo>
                <a:lnTo>
                  <a:pt x="229" y="148"/>
                </a:lnTo>
                <a:lnTo>
                  <a:pt x="201" y="158"/>
                </a:lnTo>
                <a:lnTo>
                  <a:pt x="194" y="161"/>
                </a:lnTo>
                <a:lnTo>
                  <a:pt x="213" y="169"/>
                </a:lnTo>
                <a:lnTo>
                  <a:pt x="229" y="185"/>
                </a:lnTo>
                <a:lnTo>
                  <a:pt x="255" y="169"/>
                </a:lnTo>
                <a:lnTo>
                  <a:pt x="277" y="163"/>
                </a:lnTo>
                <a:lnTo>
                  <a:pt x="325" y="155"/>
                </a:lnTo>
                <a:lnTo>
                  <a:pt x="339" y="155"/>
                </a:lnTo>
                <a:lnTo>
                  <a:pt x="293" y="172"/>
                </a:lnTo>
                <a:lnTo>
                  <a:pt x="258" y="188"/>
                </a:lnTo>
                <a:lnTo>
                  <a:pt x="239" y="201"/>
                </a:lnTo>
                <a:lnTo>
                  <a:pt x="255" y="217"/>
                </a:lnTo>
                <a:lnTo>
                  <a:pt x="293" y="204"/>
                </a:lnTo>
                <a:lnTo>
                  <a:pt x="325" y="198"/>
                </a:lnTo>
                <a:lnTo>
                  <a:pt x="267" y="226"/>
                </a:lnTo>
                <a:lnTo>
                  <a:pt x="248" y="239"/>
                </a:lnTo>
                <a:lnTo>
                  <a:pt x="242" y="266"/>
                </a:lnTo>
                <a:lnTo>
                  <a:pt x="232" y="280"/>
                </a:lnTo>
                <a:lnTo>
                  <a:pt x="267" y="263"/>
                </a:lnTo>
                <a:lnTo>
                  <a:pt x="298" y="257"/>
                </a:lnTo>
                <a:lnTo>
                  <a:pt x="348" y="255"/>
                </a:lnTo>
                <a:lnTo>
                  <a:pt x="272" y="276"/>
                </a:lnTo>
                <a:lnTo>
                  <a:pt x="226" y="294"/>
                </a:lnTo>
                <a:lnTo>
                  <a:pt x="194" y="310"/>
                </a:lnTo>
                <a:lnTo>
                  <a:pt x="191" y="335"/>
                </a:lnTo>
                <a:lnTo>
                  <a:pt x="229" y="317"/>
                </a:lnTo>
                <a:lnTo>
                  <a:pt x="280" y="300"/>
                </a:lnTo>
                <a:lnTo>
                  <a:pt x="304" y="300"/>
                </a:lnTo>
                <a:lnTo>
                  <a:pt x="248" y="320"/>
                </a:lnTo>
                <a:lnTo>
                  <a:pt x="204" y="338"/>
                </a:lnTo>
                <a:lnTo>
                  <a:pt x="187" y="355"/>
                </a:lnTo>
                <a:lnTo>
                  <a:pt x="194" y="370"/>
                </a:lnTo>
                <a:lnTo>
                  <a:pt x="229" y="358"/>
                </a:lnTo>
                <a:lnTo>
                  <a:pt x="261" y="344"/>
                </a:lnTo>
                <a:lnTo>
                  <a:pt x="327" y="341"/>
                </a:lnTo>
                <a:lnTo>
                  <a:pt x="354" y="344"/>
                </a:lnTo>
                <a:lnTo>
                  <a:pt x="415" y="348"/>
                </a:lnTo>
                <a:lnTo>
                  <a:pt x="488" y="338"/>
                </a:lnTo>
                <a:lnTo>
                  <a:pt x="444" y="355"/>
                </a:lnTo>
                <a:lnTo>
                  <a:pt x="368" y="367"/>
                </a:lnTo>
                <a:lnTo>
                  <a:pt x="384" y="393"/>
                </a:lnTo>
                <a:lnTo>
                  <a:pt x="438" y="379"/>
                </a:lnTo>
                <a:lnTo>
                  <a:pt x="491" y="361"/>
                </a:lnTo>
                <a:lnTo>
                  <a:pt x="525" y="344"/>
                </a:lnTo>
                <a:lnTo>
                  <a:pt x="460" y="393"/>
                </a:lnTo>
                <a:lnTo>
                  <a:pt x="419" y="405"/>
                </a:lnTo>
                <a:lnTo>
                  <a:pt x="384" y="417"/>
                </a:lnTo>
                <a:lnTo>
                  <a:pt x="387" y="442"/>
                </a:lnTo>
                <a:lnTo>
                  <a:pt x="438" y="434"/>
                </a:lnTo>
                <a:lnTo>
                  <a:pt x="478" y="423"/>
                </a:lnTo>
                <a:lnTo>
                  <a:pt x="454" y="440"/>
                </a:lnTo>
                <a:lnTo>
                  <a:pt x="409" y="452"/>
                </a:lnTo>
                <a:lnTo>
                  <a:pt x="387" y="455"/>
                </a:lnTo>
                <a:lnTo>
                  <a:pt x="387" y="511"/>
                </a:lnTo>
                <a:lnTo>
                  <a:pt x="435" y="492"/>
                </a:lnTo>
                <a:lnTo>
                  <a:pt x="473" y="477"/>
                </a:lnTo>
                <a:lnTo>
                  <a:pt x="432" y="508"/>
                </a:lnTo>
                <a:lnTo>
                  <a:pt x="380" y="530"/>
                </a:lnTo>
                <a:lnTo>
                  <a:pt x="384" y="556"/>
                </a:lnTo>
                <a:lnTo>
                  <a:pt x="412" y="586"/>
                </a:lnTo>
                <a:lnTo>
                  <a:pt x="438" y="553"/>
                </a:lnTo>
                <a:lnTo>
                  <a:pt x="473" y="511"/>
                </a:lnTo>
                <a:lnTo>
                  <a:pt x="496" y="471"/>
                </a:lnTo>
                <a:lnTo>
                  <a:pt x="473" y="533"/>
                </a:lnTo>
                <a:lnTo>
                  <a:pt x="454" y="556"/>
                </a:lnTo>
                <a:lnTo>
                  <a:pt x="419" y="599"/>
                </a:lnTo>
                <a:lnTo>
                  <a:pt x="444" y="628"/>
                </a:lnTo>
                <a:lnTo>
                  <a:pt x="485" y="594"/>
                </a:lnTo>
                <a:lnTo>
                  <a:pt x="514" y="553"/>
                </a:lnTo>
                <a:lnTo>
                  <a:pt x="540" y="508"/>
                </a:lnTo>
                <a:lnTo>
                  <a:pt x="517" y="573"/>
                </a:lnTo>
                <a:lnTo>
                  <a:pt x="491" y="602"/>
                </a:lnTo>
                <a:lnTo>
                  <a:pt x="465" y="631"/>
                </a:lnTo>
                <a:lnTo>
                  <a:pt x="488" y="643"/>
                </a:lnTo>
                <a:lnTo>
                  <a:pt x="540" y="599"/>
                </a:lnTo>
                <a:lnTo>
                  <a:pt x="589" y="530"/>
                </a:lnTo>
                <a:lnTo>
                  <a:pt x="607" y="477"/>
                </a:lnTo>
                <a:lnTo>
                  <a:pt x="620" y="386"/>
                </a:lnTo>
                <a:lnTo>
                  <a:pt x="627" y="317"/>
                </a:lnTo>
                <a:lnTo>
                  <a:pt x="636" y="239"/>
                </a:lnTo>
                <a:lnTo>
                  <a:pt x="582" y="255"/>
                </a:lnTo>
                <a:lnTo>
                  <a:pt x="522" y="276"/>
                </a:lnTo>
                <a:lnTo>
                  <a:pt x="432" y="297"/>
                </a:lnTo>
                <a:lnTo>
                  <a:pt x="514" y="266"/>
                </a:lnTo>
                <a:lnTo>
                  <a:pt x="543" y="249"/>
                </a:lnTo>
                <a:lnTo>
                  <a:pt x="601" y="229"/>
                </a:lnTo>
                <a:lnTo>
                  <a:pt x="630" y="223"/>
                </a:lnTo>
                <a:lnTo>
                  <a:pt x="630" y="182"/>
                </a:lnTo>
                <a:lnTo>
                  <a:pt x="623" y="129"/>
                </a:lnTo>
                <a:lnTo>
                  <a:pt x="551" y="141"/>
                </a:lnTo>
                <a:lnTo>
                  <a:pt x="505" y="155"/>
                </a:lnTo>
                <a:lnTo>
                  <a:pt x="447" y="182"/>
                </a:lnTo>
                <a:lnTo>
                  <a:pt x="499" y="141"/>
                </a:lnTo>
                <a:lnTo>
                  <a:pt x="560" y="124"/>
                </a:lnTo>
                <a:lnTo>
                  <a:pt x="620" y="109"/>
                </a:lnTo>
                <a:lnTo>
                  <a:pt x="607" y="69"/>
                </a:lnTo>
                <a:lnTo>
                  <a:pt x="589" y="45"/>
                </a:lnTo>
                <a:lnTo>
                  <a:pt x="534" y="28"/>
                </a:lnTo>
                <a:lnTo>
                  <a:pt x="482" y="41"/>
                </a:lnTo>
                <a:lnTo>
                  <a:pt x="432" y="76"/>
                </a:lnTo>
                <a:lnTo>
                  <a:pt x="465" y="35"/>
                </a:lnTo>
                <a:lnTo>
                  <a:pt x="517" y="16"/>
                </a:lnTo>
                <a:lnTo>
                  <a:pt x="460" y="6"/>
                </a:lnTo>
                <a:lnTo>
                  <a:pt x="419" y="3"/>
                </a:lnTo>
                <a:lnTo>
                  <a:pt x="359" y="13"/>
                </a:lnTo>
                <a:lnTo>
                  <a:pt x="318" y="38"/>
                </a:lnTo>
                <a:lnTo>
                  <a:pt x="255" y="51"/>
                </a:lnTo>
                <a:lnTo>
                  <a:pt x="298" y="32"/>
                </a:lnTo>
                <a:lnTo>
                  <a:pt x="330" y="13"/>
                </a:lnTo>
                <a:lnTo>
                  <a:pt x="348" y="0"/>
                </a:lnTo>
                <a:lnTo>
                  <a:pt x="287" y="3"/>
                </a:lnTo>
                <a:lnTo>
                  <a:pt x="232" y="6"/>
                </a:lnTo>
                <a:lnTo>
                  <a:pt x="198" y="22"/>
                </a:lnTo>
                <a:lnTo>
                  <a:pt x="163" y="54"/>
                </a:lnTo>
                <a:lnTo>
                  <a:pt x="136" y="95"/>
                </a:lnTo>
                <a:lnTo>
                  <a:pt x="151" y="48"/>
                </a:lnTo>
                <a:lnTo>
                  <a:pt x="184" y="16"/>
                </a:lnTo>
                <a:lnTo>
                  <a:pt x="104" y="41"/>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nvGrpSpPr>
          <p:cNvPr id="286" name="Group 279"/>
          <p:cNvGrpSpPr>
            <a:grpSpLocks/>
          </p:cNvGrpSpPr>
          <p:nvPr/>
        </p:nvGrpSpPr>
        <p:grpSpPr bwMode="auto">
          <a:xfrm>
            <a:off x="6951331" y="3281513"/>
            <a:ext cx="116768" cy="65973"/>
            <a:chOff x="5264" y="1904"/>
            <a:chExt cx="116" cy="71"/>
          </a:xfrm>
        </p:grpSpPr>
        <p:sp>
          <p:nvSpPr>
            <p:cNvPr id="287" name="Freeform 280"/>
            <p:cNvSpPr>
              <a:spLocks/>
            </p:cNvSpPr>
            <p:nvPr/>
          </p:nvSpPr>
          <p:spPr bwMode="auto">
            <a:xfrm>
              <a:off x="5264" y="1904"/>
              <a:ext cx="116" cy="71"/>
            </a:xfrm>
            <a:custGeom>
              <a:avLst/>
              <a:gdLst>
                <a:gd name="T0" fmla="*/ 0 w 698"/>
                <a:gd name="T1" fmla="*/ 0 h 425"/>
                <a:gd name="T2" fmla="*/ 0 w 698"/>
                <a:gd name="T3" fmla="*/ 0 h 425"/>
                <a:gd name="T4" fmla="*/ 0 w 698"/>
                <a:gd name="T5" fmla="*/ 0 h 425"/>
                <a:gd name="T6" fmla="*/ 0 w 698"/>
                <a:gd name="T7" fmla="*/ 0 h 425"/>
                <a:gd name="T8" fmla="*/ 0 w 698"/>
                <a:gd name="T9" fmla="*/ 0 h 425"/>
                <a:gd name="T10" fmla="*/ 0 w 698"/>
                <a:gd name="T11" fmla="*/ 0 h 425"/>
                <a:gd name="T12" fmla="*/ 0 w 698"/>
                <a:gd name="T13" fmla="*/ 0 h 425"/>
                <a:gd name="T14" fmla="*/ 0 w 698"/>
                <a:gd name="T15" fmla="*/ 0 h 425"/>
                <a:gd name="T16" fmla="*/ 0 w 698"/>
                <a:gd name="T17" fmla="*/ 0 h 425"/>
                <a:gd name="T18" fmla="*/ 0 w 698"/>
                <a:gd name="T19" fmla="*/ 0 h 425"/>
                <a:gd name="T20" fmla="*/ 0 w 698"/>
                <a:gd name="T21" fmla="*/ 0 h 425"/>
                <a:gd name="T22" fmla="*/ 0 w 698"/>
                <a:gd name="T23" fmla="*/ 0 h 425"/>
                <a:gd name="T24" fmla="*/ 0 w 698"/>
                <a:gd name="T25" fmla="*/ 0 h 425"/>
                <a:gd name="T26" fmla="*/ 0 w 698"/>
                <a:gd name="T27" fmla="*/ 0 h 425"/>
                <a:gd name="T28" fmla="*/ 0 w 698"/>
                <a:gd name="T29" fmla="*/ 0 h 425"/>
                <a:gd name="T30" fmla="*/ 0 w 698"/>
                <a:gd name="T31" fmla="*/ 0 h 425"/>
                <a:gd name="T32" fmla="*/ 0 w 698"/>
                <a:gd name="T33" fmla="*/ 0 h 425"/>
                <a:gd name="T34" fmla="*/ 0 w 698"/>
                <a:gd name="T35" fmla="*/ 0 h 425"/>
                <a:gd name="T36" fmla="*/ 0 w 698"/>
                <a:gd name="T37" fmla="*/ 0 h 425"/>
                <a:gd name="T38" fmla="*/ 0 w 698"/>
                <a:gd name="T39" fmla="*/ 0 h 425"/>
                <a:gd name="T40" fmla="*/ 0 w 698"/>
                <a:gd name="T41" fmla="*/ 0 h 425"/>
                <a:gd name="T42" fmla="*/ 0 w 698"/>
                <a:gd name="T43" fmla="*/ 0 h 425"/>
                <a:gd name="T44" fmla="*/ 0 w 698"/>
                <a:gd name="T45" fmla="*/ 0 h 425"/>
                <a:gd name="T46" fmla="*/ 0 w 698"/>
                <a:gd name="T47" fmla="*/ 0 h 425"/>
                <a:gd name="T48" fmla="*/ 0 w 698"/>
                <a:gd name="T49" fmla="*/ 0 h 425"/>
                <a:gd name="T50" fmla="*/ 0 w 698"/>
                <a:gd name="T51" fmla="*/ 0 h 425"/>
                <a:gd name="T52" fmla="*/ 0 w 698"/>
                <a:gd name="T53" fmla="*/ 0 h 425"/>
                <a:gd name="T54" fmla="*/ 0 w 698"/>
                <a:gd name="T55" fmla="*/ 0 h 425"/>
                <a:gd name="T56" fmla="*/ 0 w 698"/>
                <a:gd name="T57" fmla="*/ 0 h 425"/>
                <a:gd name="T58" fmla="*/ 0 w 698"/>
                <a:gd name="T59" fmla="*/ 0 h 425"/>
                <a:gd name="T60" fmla="*/ 0 w 698"/>
                <a:gd name="T61" fmla="*/ 0 h 425"/>
                <a:gd name="T62" fmla="*/ 0 w 698"/>
                <a:gd name="T63" fmla="*/ 0 h 425"/>
                <a:gd name="T64" fmla="*/ 0 w 698"/>
                <a:gd name="T65" fmla="*/ 0 h 425"/>
                <a:gd name="T66" fmla="*/ 0 w 698"/>
                <a:gd name="T67" fmla="*/ 0 h 425"/>
                <a:gd name="T68" fmla="*/ 0 w 698"/>
                <a:gd name="T69" fmla="*/ 0 h 425"/>
                <a:gd name="T70" fmla="*/ 0 w 698"/>
                <a:gd name="T71" fmla="*/ 0 h 425"/>
                <a:gd name="T72" fmla="*/ 0 w 698"/>
                <a:gd name="T73" fmla="*/ 0 h 425"/>
                <a:gd name="T74" fmla="*/ 0 w 698"/>
                <a:gd name="T75" fmla="*/ 0 h 425"/>
                <a:gd name="T76" fmla="*/ 0 w 698"/>
                <a:gd name="T77" fmla="*/ 0 h 425"/>
                <a:gd name="T78" fmla="*/ 0 w 698"/>
                <a:gd name="T79" fmla="*/ 0 h 425"/>
                <a:gd name="T80" fmla="*/ 0 w 698"/>
                <a:gd name="T81" fmla="*/ 0 h 425"/>
                <a:gd name="T82" fmla="*/ 0 w 698"/>
                <a:gd name="T83" fmla="*/ 0 h 425"/>
                <a:gd name="T84" fmla="*/ 0 w 698"/>
                <a:gd name="T85" fmla="*/ 0 h 425"/>
                <a:gd name="T86" fmla="*/ 0 w 698"/>
                <a:gd name="T87" fmla="*/ 0 h 425"/>
                <a:gd name="T88" fmla="*/ 0 w 698"/>
                <a:gd name="T89" fmla="*/ 0 h 425"/>
                <a:gd name="T90" fmla="*/ 0 w 698"/>
                <a:gd name="T91" fmla="*/ 0 h 425"/>
                <a:gd name="T92" fmla="*/ 0 w 698"/>
                <a:gd name="T93" fmla="*/ 0 h 425"/>
                <a:gd name="T94" fmla="*/ 0 w 698"/>
                <a:gd name="T95" fmla="*/ 0 h 425"/>
                <a:gd name="T96" fmla="*/ 0 w 698"/>
                <a:gd name="T97" fmla="*/ 0 h 425"/>
                <a:gd name="T98" fmla="*/ 0 w 698"/>
                <a:gd name="T99" fmla="*/ 0 h 425"/>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698" h="425">
                  <a:moveTo>
                    <a:pt x="698" y="253"/>
                  </a:moveTo>
                  <a:lnTo>
                    <a:pt x="611" y="233"/>
                  </a:lnTo>
                  <a:lnTo>
                    <a:pt x="579" y="227"/>
                  </a:lnTo>
                  <a:lnTo>
                    <a:pt x="558" y="210"/>
                  </a:lnTo>
                  <a:lnTo>
                    <a:pt x="538" y="182"/>
                  </a:lnTo>
                  <a:lnTo>
                    <a:pt x="496" y="143"/>
                  </a:lnTo>
                  <a:lnTo>
                    <a:pt x="420" y="79"/>
                  </a:lnTo>
                  <a:lnTo>
                    <a:pt x="407" y="58"/>
                  </a:lnTo>
                  <a:lnTo>
                    <a:pt x="387" y="38"/>
                  </a:lnTo>
                  <a:lnTo>
                    <a:pt x="347" y="32"/>
                  </a:lnTo>
                  <a:lnTo>
                    <a:pt x="225" y="11"/>
                  </a:lnTo>
                  <a:lnTo>
                    <a:pt x="192" y="0"/>
                  </a:lnTo>
                  <a:lnTo>
                    <a:pt x="162" y="14"/>
                  </a:lnTo>
                  <a:lnTo>
                    <a:pt x="147" y="27"/>
                  </a:lnTo>
                  <a:lnTo>
                    <a:pt x="75" y="52"/>
                  </a:lnTo>
                  <a:lnTo>
                    <a:pt x="48" y="62"/>
                  </a:lnTo>
                  <a:lnTo>
                    <a:pt x="37" y="73"/>
                  </a:lnTo>
                  <a:lnTo>
                    <a:pt x="24" y="114"/>
                  </a:lnTo>
                  <a:lnTo>
                    <a:pt x="16" y="133"/>
                  </a:lnTo>
                  <a:lnTo>
                    <a:pt x="9" y="146"/>
                  </a:lnTo>
                  <a:lnTo>
                    <a:pt x="0" y="165"/>
                  </a:lnTo>
                  <a:lnTo>
                    <a:pt x="0" y="181"/>
                  </a:lnTo>
                  <a:lnTo>
                    <a:pt x="15" y="191"/>
                  </a:lnTo>
                  <a:lnTo>
                    <a:pt x="43" y="190"/>
                  </a:lnTo>
                  <a:lnTo>
                    <a:pt x="89" y="168"/>
                  </a:lnTo>
                  <a:lnTo>
                    <a:pt x="147" y="158"/>
                  </a:lnTo>
                  <a:lnTo>
                    <a:pt x="198" y="165"/>
                  </a:lnTo>
                  <a:lnTo>
                    <a:pt x="144" y="179"/>
                  </a:lnTo>
                  <a:lnTo>
                    <a:pt x="105" y="191"/>
                  </a:lnTo>
                  <a:lnTo>
                    <a:pt x="61" y="210"/>
                  </a:lnTo>
                  <a:lnTo>
                    <a:pt x="51" y="224"/>
                  </a:lnTo>
                  <a:lnTo>
                    <a:pt x="51" y="242"/>
                  </a:lnTo>
                  <a:lnTo>
                    <a:pt x="67" y="253"/>
                  </a:lnTo>
                  <a:lnTo>
                    <a:pt x="87" y="250"/>
                  </a:lnTo>
                  <a:lnTo>
                    <a:pt x="150" y="233"/>
                  </a:lnTo>
                  <a:lnTo>
                    <a:pt x="205" y="230"/>
                  </a:lnTo>
                  <a:lnTo>
                    <a:pt x="249" y="233"/>
                  </a:lnTo>
                  <a:lnTo>
                    <a:pt x="273" y="250"/>
                  </a:lnTo>
                  <a:lnTo>
                    <a:pt x="301" y="279"/>
                  </a:lnTo>
                  <a:lnTo>
                    <a:pt x="323" y="310"/>
                  </a:lnTo>
                  <a:lnTo>
                    <a:pt x="346" y="342"/>
                  </a:lnTo>
                  <a:lnTo>
                    <a:pt x="364" y="366"/>
                  </a:lnTo>
                  <a:lnTo>
                    <a:pt x="397" y="389"/>
                  </a:lnTo>
                  <a:lnTo>
                    <a:pt x="429" y="396"/>
                  </a:lnTo>
                  <a:lnTo>
                    <a:pt x="464" y="399"/>
                  </a:lnTo>
                  <a:lnTo>
                    <a:pt x="507" y="396"/>
                  </a:lnTo>
                  <a:lnTo>
                    <a:pt x="539" y="393"/>
                  </a:lnTo>
                  <a:lnTo>
                    <a:pt x="582" y="404"/>
                  </a:lnTo>
                  <a:lnTo>
                    <a:pt x="698" y="425"/>
                  </a:lnTo>
                  <a:lnTo>
                    <a:pt x="698" y="253"/>
                  </a:lnTo>
                  <a:close/>
                </a:path>
              </a:pathLst>
            </a:custGeom>
            <a:solidFill>
              <a:srgbClr val="FFC080"/>
            </a:solidFill>
            <a:ln w="1588">
              <a:solidFill>
                <a:srgbClr val="402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8" name="Freeform 281"/>
            <p:cNvSpPr>
              <a:spLocks/>
            </p:cNvSpPr>
            <p:nvPr/>
          </p:nvSpPr>
          <p:spPr bwMode="auto">
            <a:xfrm>
              <a:off x="5269" y="1916"/>
              <a:ext cx="37" cy="9"/>
            </a:xfrm>
            <a:custGeom>
              <a:avLst/>
              <a:gdLst>
                <a:gd name="T0" fmla="*/ 0 w 223"/>
                <a:gd name="T1" fmla="*/ 0 h 52"/>
                <a:gd name="T2" fmla="*/ 0 w 223"/>
                <a:gd name="T3" fmla="*/ 0 h 52"/>
                <a:gd name="T4" fmla="*/ 0 w 223"/>
                <a:gd name="T5" fmla="*/ 0 h 52"/>
                <a:gd name="T6" fmla="*/ 0 w 223"/>
                <a:gd name="T7" fmla="*/ 0 h 52"/>
                <a:gd name="T8" fmla="*/ 0 w 223"/>
                <a:gd name="T9" fmla="*/ 0 h 52"/>
                <a:gd name="T10" fmla="*/ 0 w 223"/>
                <a:gd name="T11" fmla="*/ 0 h 52"/>
                <a:gd name="T12" fmla="*/ 0 w 223"/>
                <a:gd name="T13" fmla="*/ 0 h 52"/>
                <a:gd name="T14" fmla="*/ 0 w 223"/>
                <a:gd name="T15" fmla="*/ 0 h 52"/>
                <a:gd name="T16" fmla="*/ 0 w 223"/>
                <a:gd name="T17" fmla="*/ 0 h 52"/>
                <a:gd name="T18" fmla="*/ 0 w 223"/>
                <a:gd name="T19" fmla="*/ 0 h 52"/>
                <a:gd name="T20" fmla="*/ 0 w 223"/>
                <a:gd name="T21" fmla="*/ 0 h 52"/>
                <a:gd name="T22" fmla="*/ 0 w 223"/>
                <a:gd name="T23" fmla="*/ 0 h 52"/>
                <a:gd name="T24" fmla="*/ 0 w 223"/>
                <a:gd name="T25" fmla="*/ 0 h 5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223" h="52">
                  <a:moveTo>
                    <a:pt x="0" y="52"/>
                  </a:moveTo>
                  <a:lnTo>
                    <a:pt x="38" y="36"/>
                  </a:lnTo>
                  <a:lnTo>
                    <a:pt x="69" y="30"/>
                  </a:lnTo>
                  <a:lnTo>
                    <a:pt x="107" y="18"/>
                  </a:lnTo>
                  <a:lnTo>
                    <a:pt x="139" y="11"/>
                  </a:lnTo>
                  <a:lnTo>
                    <a:pt x="189" y="15"/>
                  </a:lnTo>
                  <a:lnTo>
                    <a:pt x="223" y="18"/>
                  </a:lnTo>
                  <a:lnTo>
                    <a:pt x="171" y="8"/>
                  </a:lnTo>
                  <a:lnTo>
                    <a:pt x="127" y="0"/>
                  </a:lnTo>
                  <a:lnTo>
                    <a:pt x="69" y="24"/>
                  </a:lnTo>
                  <a:lnTo>
                    <a:pt x="38" y="28"/>
                  </a:lnTo>
                  <a:lnTo>
                    <a:pt x="3" y="45"/>
                  </a:lnTo>
                  <a:lnTo>
                    <a:pt x="0" y="5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89" name="Freeform 282"/>
            <p:cNvSpPr>
              <a:spLocks/>
            </p:cNvSpPr>
            <p:nvPr/>
          </p:nvSpPr>
          <p:spPr bwMode="auto">
            <a:xfrm>
              <a:off x="5289" y="1907"/>
              <a:ext cx="31" cy="6"/>
            </a:xfrm>
            <a:custGeom>
              <a:avLst/>
              <a:gdLst>
                <a:gd name="T0" fmla="*/ 0 w 188"/>
                <a:gd name="T1" fmla="*/ 0 h 36"/>
                <a:gd name="T2" fmla="*/ 0 w 188"/>
                <a:gd name="T3" fmla="*/ 0 h 36"/>
                <a:gd name="T4" fmla="*/ 0 w 188"/>
                <a:gd name="T5" fmla="*/ 0 h 36"/>
                <a:gd name="T6" fmla="*/ 0 w 188"/>
                <a:gd name="T7" fmla="*/ 0 h 36"/>
                <a:gd name="T8" fmla="*/ 0 w 188"/>
                <a:gd name="T9" fmla="*/ 0 h 36"/>
                <a:gd name="T10" fmla="*/ 0 w 188"/>
                <a:gd name="T11" fmla="*/ 0 h 36"/>
                <a:gd name="T12" fmla="*/ 0 w 188"/>
                <a:gd name="T13" fmla="*/ 0 h 36"/>
                <a:gd name="T14" fmla="*/ 0 w 188"/>
                <a:gd name="T15" fmla="*/ 0 h 36"/>
                <a:gd name="T16" fmla="*/ 0 w 188"/>
                <a:gd name="T17" fmla="*/ 0 h 36"/>
                <a:gd name="T18" fmla="*/ 0 w 188"/>
                <a:gd name="T19" fmla="*/ 0 h 36"/>
                <a:gd name="T20" fmla="*/ 0 w 188"/>
                <a:gd name="T21" fmla="*/ 0 h 36"/>
                <a:gd name="T22" fmla="*/ 0 w 188"/>
                <a:gd name="T23" fmla="*/ 0 h 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88" h="36">
                  <a:moveTo>
                    <a:pt x="51" y="0"/>
                  </a:moveTo>
                  <a:lnTo>
                    <a:pt x="29" y="1"/>
                  </a:lnTo>
                  <a:lnTo>
                    <a:pt x="0" y="11"/>
                  </a:lnTo>
                  <a:lnTo>
                    <a:pt x="19" y="9"/>
                  </a:lnTo>
                  <a:lnTo>
                    <a:pt x="48" y="4"/>
                  </a:lnTo>
                  <a:lnTo>
                    <a:pt x="109" y="20"/>
                  </a:lnTo>
                  <a:lnTo>
                    <a:pt x="143" y="30"/>
                  </a:lnTo>
                  <a:lnTo>
                    <a:pt x="181" y="36"/>
                  </a:lnTo>
                  <a:lnTo>
                    <a:pt x="188" y="30"/>
                  </a:lnTo>
                  <a:lnTo>
                    <a:pt x="146" y="22"/>
                  </a:lnTo>
                  <a:lnTo>
                    <a:pt x="97" y="11"/>
                  </a:lnTo>
                  <a:lnTo>
                    <a:pt x="5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0" name="Freeform 283"/>
            <p:cNvSpPr>
              <a:spLocks/>
            </p:cNvSpPr>
            <p:nvPr/>
          </p:nvSpPr>
          <p:spPr bwMode="auto">
            <a:xfrm>
              <a:off x="5295" y="1929"/>
              <a:ext cx="13" cy="3"/>
            </a:xfrm>
            <a:custGeom>
              <a:avLst/>
              <a:gdLst>
                <a:gd name="T0" fmla="*/ 0 w 76"/>
                <a:gd name="T1" fmla="*/ 0 h 17"/>
                <a:gd name="T2" fmla="*/ 0 w 76"/>
                <a:gd name="T3" fmla="*/ 0 h 17"/>
                <a:gd name="T4" fmla="*/ 0 w 76"/>
                <a:gd name="T5" fmla="*/ 0 h 17"/>
                <a:gd name="T6" fmla="*/ 0 w 76"/>
                <a:gd name="T7" fmla="*/ 0 h 17"/>
                <a:gd name="T8" fmla="*/ 0 w 76"/>
                <a:gd name="T9" fmla="*/ 0 h 17"/>
                <a:gd name="T10" fmla="*/ 0 w 76"/>
                <a:gd name="T11" fmla="*/ 0 h 17"/>
                <a:gd name="T12" fmla="*/ 0 w 76"/>
                <a:gd name="T13" fmla="*/ 0 h 17"/>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6" h="17">
                  <a:moveTo>
                    <a:pt x="0" y="8"/>
                  </a:moveTo>
                  <a:lnTo>
                    <a:pt x="8" y="17"/>
                  </a:lnTo>
                  <a:lnTo>
                    <a:pt x="36" y="12"/>
                  </a:lnTo>
                  <a:lnTo>
                    <a:pt x="67" y="12"/>
                  </a:lnTo>
                  <a:lnTo>
                    <a:pt x="76" y="0"/>
                  </a:lnTo>
                  <a:lnTo>
                    <a:pt x="55" y="4"/>
                  </a:lnTo>
                  <a:lnTo>
                    <a:pt x="0" y="8"/>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1" name="Freeform 284"/>
            <p:cNvSpPr>
              <a:spLocks/>
            </p:cNvSpPr>
            <p:nvPr/>
          </p:nvSpPr>
          <p:spPr bwMode="auto">
            <a:xfrm>
              <a:off x="5268" y="1926"/>
              <a:ext cx="3" cy="6"/>
            </a:xfrm>
            <a:custGeom>
              <a:avLst/>
              <a:gdLst>
                <a:gd name="T0" fmla="*/ 0 w 19"/>
                <a:gd name="T1" fmla="*/ 0 h 32"/>
                <a:gd name="T2" fmla="*/ 0 w 19"/>
                <a:gd name="T3" fmla="*/ 0 h 32"/>
                <a:gd name="T4" fmla="*/ 0 w 19"/>
                <a:gd name="T5" fmla="*/ 0 h 32"/>
                <a:gd name="T6" fmla="*/ 0 w 19"/>
                <a:gd name="T7" fmla="*/ 0 h 32"/>
                <a:gd name="T8" fmla="*/ 0 w 19"/>
                <a:gd name="T9" fmla="*/ 0 h 3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9" h="32">
                  <a:moveTo>
                    <a:pt x="19" y="0"/>
                  </a:moveTo>
                  <a:lnTo>
                    <a:pt x="19" y="9"/>
                  </a:lnTo>
                  <a:lnTo>
                    <a:pt x="14" y="24"/>
                  </a:lnTo>
                  <a:lnTo>
                    <a:pt x="0" y="32"/>
                  </a:lnTo>
                  <a:lnTo>
                    <a:pt x="19"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2" name="Freeform 285"/>
            <p:cNvSpPr>
              <a:spLocks/>
            </p:cNvSpPr>
            <p:nvPr/>
          </p:nvSpPr>
          <p:spPr bwMode="auto">
            <a:xfrm>
              <a:off x="5277" y="1940"/>
              <a:ext cx="3" cy="3"/>
            </a:xfrm>
            <a:custGeom>
              <a:avLst/>
              <a:gdLst>
                <a:gd name="T0" fmla="*/ 0 w 14"/>
                <a:gd name="T1" fmla="*/ 0 h 18"/>
                <a:gd name="T2" fmla="*/ 0 w 14"/>
                <a:gd name="T3" fmla="*/ 0 h 18"/>
                <a:gd name="T4" fmla="*/ 0 w 14"/>
                <a:gd name="T5" fmla="*/ 0 h 18"/>
                <a:gd name="T6" fmla="*/ 0 w 14"/>
                <a:gd name="T7" fmla="*/ 0 h 1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18">
                  <a:moveTo>
                    <a:pt x="14" y="0"/>
                  </a:moveTo>
                  <a:lnTo>
                    <a:pt x="11" y="9"/>
                  </a:lnTo>
                  <a:lnTo>
                    <a:pt x="0" y="18"/>
                  </a:lnTo>
                  <a:lnTo>
                    <a:pt x="14"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3" name="Freeform 286"/>
            <p:cNvSpPr>
              <a:spLocks/>
            </p:cNvSpPr>
            <p:nvPr/>
          </p:nvSpPr>
          <p:spPr bwMode="auto">
            <a:xfrm>
              <a:off x="5319" y="1921"/>
              <a:ext cx="6" cy="7"/>
            </a:xfrm>
            <a:custGeom>
              <a:avLst/>
              <a:gdLst>
                <a:gd name="T0" fmla="*/ 0 w 35"/>
                <a:gd name="T1" fmla="*/ 0 h 43"/>
                <a:gd name="T2" fmla="*/ 0 w 35"/>
                <a:gd name="T3" fmla="*/ 0 h 43"/>
                <a:gd name="T4" fmla="*/ 0 w 35"/>
                <a:gd name="T5" fmla="*/ 0 h 43"/>
                <a:gd name="T6" fmla="*/ 0 w 35"/>
                <a:gd name="T7" fmla="*/ 0 h 43"/>
                <a:gd name="T8" fmla="*/ 0 w 35"/>
                <a:gd name="T9" fmla="*/ 0 h 4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43">
                  <a:moveTo>
                    <a:pt x="0" y="0"/>
                  </a:moveTo>
                  <a:lnTo>
                    <a:pt x="7" y="14"/>
                  </a:lnTo>
                  <a:lnTo>
                    <a:pt x="7" y="24"/>
                  </a:lnTo>
                  <a:lnTo>
                    <a:pt x="35" y="4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4" name="Freeform 287"/>
            <p:cNvSpPr>
              <a:spLocks/>
            </p:cNvSpPr>
            <p:nvPr/>
          </p:nvSpPr>
          <p:spPr bwMode="auto">
            <a:xfrm>
              <a:off x="5330" y="1921"/>
              <a:ext cx="19" cy="19"/>
            </a:xfrm>
            <a:custGeom>
              <a:avLst/>
              <a:gdLst>
                <a:gd name="T0" fmla="*/ 0 w 114"/>
                <a:gd name="T1" fmla="*/ 0 h 114"/>
                <a:gd name="T2" fmla="*/ 0 w 114"/>
                <a:gd name="T3" fmla="*/ 0 h 114"/>
                <a:gd name="T4" fmla="*/ 0 w 114"/>
                <a:gd name="T5" fmla="*/ 0 h 114"/>
                <a:gd name="T6" fmla="*/ 0 w 114"/>
                <a:gd name="T7" fmla="*/ 0 h 114"/>
                <a:gd name="T8" fmla="*/ 0 w 114"/>
                <a:gd name="T9" fmla="*/ 0 h 114"/>
                <a:gd name="T10" fmla="*/ 0 w 114"/>
                <a:gd name="T11" fmla="*/ 0 h 114"/>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14" h="114">
                  <a:moveTo>
                    <a:pt x="0" y="0"/>
                  </a:moveTo>
                  <a:lnTo>
                    <a:pt x="21" y="35"/>
                  </a:lnTo>
                  <a:lnTo>
                    <a:pt x="43" y="63"/>
                  </a:lnTo>
                  <a:lnTo>
                    <a:pt x="114" y="114"/>
                  </a:lnTo>
                  <a:lnTo>
                    <a:pt x="47" y="53"/>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5" name="Freeform 288"/>
            <p:cNvSpPr>
              <a:spLocks/>
            </p:cNvSpPr>
            <p:nvPr/>
          </p:nvSpPr>
          <p:spPr bwMode="auto">
            <a:xfrm>
              <a:off x="5354" y="1948"/>
              <a:ext cx="4" cy="13"/>
            </a:xfrm>
            <a:custGeom>
              <a:avLst/>
              <a:gdLst>
                <a:gd name="T0" fmla="*/ 0 w 27"/>
                <a:gd name="T1" fmla="*/ 0 h 82"/>
                <a:gd name="T2" fmla="*/ 0 w 27"/>
                <a:gd name="T3" fmla="*/ 0 h 82"/>
                <a:gd name="T4" fmla="*/ 0 w 27"/>
                <a:gd name="T5" fmla="*/ 0 h 82"/>
                <a:gd name="T6" fmla="*/ 0 w 27"/>
                <a:gd name="T7" fmla="*/ 0 h 82"/>
                <a:gd name="T8" fmla="*/ 0 w 27"/>
                <a:gd name="T9" fmla="*/ 0 h 82"/>
                <a:gd name="T10" fmla="*/ 0 w 27"/>
                <a:gd name="T11" fmla="*/ 0 h 82"/>
                <a:gd name="T12" fmla="*/ 0 w 27"/>
                <a:gd name="T13" fmla="*/ 0 h 8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7" h="82">
                  <a:moveTo>
                    <a:pt x="27" y="0"/>
                  </a:moveTo>
                  <a:lnTo>
                    <a:pt x="9" y="29"/>
                  </a:lnTo>
                  <a:lnTo>
                    <a:pt x="4" y="57"/>
                  </a:lnTo>
                  <a:lnTo>
                    <a:pt x="3" y="82"/>
                  </a:lnTo>
                  <a:lnTo>
                    <a:pt x="0" y="47"/>
                  </a:lnTo>
                  <a:lnTo>
                    <a:pt x="3" y="21"/>
                  </a:lnTo>
                  <a:lnTo>
                    <a:pt x="27"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6" name="Freeform 289"/>
            <p:cNvSpPr>
              <a:spLocks/>
            </p:cNvSpPr>
            <p:nvPr/>
          </p:nvSpPr>
          <p:spPr bwMode="auto">
            <a:xfrm>
              <a:off x="5312" y="1934"/>
              <a:ext cx="2" cy="5"/>
            </a:xfrm>
            <a:custGeom>
              <a:avLst/>
              <a:gdLst>
                <a:gd name="T0" fmla="*/ 0 w 15"/>
                <a:gd name="T1" fmla="*/ 0 h 30"/>
                <a:gd name="T2" fmla="*/ 0 w 15"/>
                <a:gd name="T3" fmla="*/ 0 h 30"/>
                <a:gd name="T4" fmla="*/ 0 w 15"/>
                <a:gd name="T5" fmla="*/ 0 h 30"/>
                <a:gd name="T6" fmla="*/ 0 w 15"/>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5" h="30">
                  <a:moveTo>
                    <a:pt x="11" y="0"/>
                  </a:moveTo>
                  <a:lnTo>
                    <a:pt x="15" y="12"/>
                  </a:lnTo>
                  <a:lnTo>
                    <a:pt x="0" y="30"/>
                  </a:lnTo>
                  <a:lnTo>
                    <a:pt x="1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297" name="Group 290"/>
          <p:cNvGrpSpPr>
            <a:grpSpLocks/>
          </p:cNvGrpSpPr>
          <p:nvPr/>
        </p:nvGrpSpPr>
        <p:grpSpPr bwMode="auto">
          <a:xfrm>
            <a:off x="7049981" y="3136559"/>
            <a:ext cx="269775" cy="283404"/>
            <a:chOff x="5362" y="1748"/>
            <a:chExt cx="268" cy="305"/>
          </a:xfrm>
        </p:grpSpPr>
        <p:sp>
          <p:nvSpPr>
            <p:cNvPr id="298" name="Freeform 291"/>
            <p:cNvSpPr>
              <a:spLocks/>
            </p:cNvSpPr>
            <p:nvPr/>
          </p:nvSpPr>
          <p:spPr bwMode="auto">
            <a:xfrm>
              <a:off x="5477" y="1748"/>
              <a:ext cx="8" cy="6"/>
            </a:xfrm>
            <a:custGeom>
              <a:avLst/>
              <a:gdLst>
                <a:gd name="T0" fmla="*/ 0 w 51"/>
                <a:gd name="T1" fmla="*/ 0 h 36"/>
                <a:gd name="T2" fmla="*/ 0 w 51"/>
                <a:gd name="T3" fmla="*/ 0 h 36"/>
                <a:gd name="T4" fmla="*/ 0 w 51"/>
                <a:gd name="T5" fmla="*/ 0 h 36"/>
                <a:gd name="T6" fmla="*/ 0 w 51"/>
                <a:gd name="T7" fmla="*/ 0 h 36"/>
                <a:gd name="T8" fmla="*/ 0 w 51"/>
                <a:gd name="T9" fmla="*/ 0 h 36"/>
                <a:gd name="T10" fmla="*/ 0 w 51"/>
                <a:gd name="T11" fmla="*/ 0 h 36"/>
                <a:gd name="T12" fmla="*/ 0 w 51"/>
                <a:gd name="T13" fmla="*/ 0 h 36"/>
                <a:gd name="T14" fmla="*/ 0 w 51"/>
                <a:gd name="T15" fmla="*/ 0 h 3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51" h="36">
                  <a:moveTo>
                    <a:pt x="0" y="0"/>
                  </a:moveTo>
                  <a:lnTo>
                    <a:pt x="14" y="10"/>
                  </a:lnTo>
                  <a:lnTo>
                    <a:pt x="29" y="15"/>
                  </a:lnTo>
                  <a:lnTo>
                    <a:pt x="43" y="23"/>
                  </a:lnTo>
                  <a:lnTo>
                    <a:pt x="51" y="36"/>
                  </a:lnTo>
                  <a:lnTo>
                    <a:pt x="39" y="32"/>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99" name="Freeform 292"/>
            <p:cNvSpPr>
              <a:spLocks/>
            </p:cNvSpPr>
            <p:nvPr/>
          </p:nvSpPr>
          <p:spPr bwMode="auto">
            <a:xfrm>
              <a:off x="5479" y="1758"/>
              <a:ext cx="2" cy="4"/>
            </a:xfrm>
            <a:custGeom>
              <a:avLst/>
              <a:gdLst>
                <a:gd name="T0" fmla="*/ 0 w 14"/>
                <a:gd name="T1" fmla="*/ 0 h 24"/>
                <a:gd name="T2" fmla="*/ 0 w 14"/>
                <a:gd name="T3" fmla="*/ 0 h 24"/>
                <a:gd name="T4" fmla="*/ 0 w 14"/>
                <a:gd name="T5" fmla="*/ 0 h 24"/>
                <a:gd name="T6" fmla="*/ 0 w 14"/>
                <a:gd name="T7" fmla="*/ 0 h 2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4" h="24">
                  <a:moveTo>
                    <a:pt x="0" y="0"/>
                  </a:moveTo>
                  <a:lnTo>
                    <a:pt x="14" y="0"/>
                  </a:lnTo>
                  <a:lnTo>
                    <a:pt x="14" y="2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0" name="Freeform 293"/>
            <p:cNvSpPr>
              <a:spLocks/>
            </p:cNvSpPr>
            <p:nvPr/>
          </p:nvSpPr>
          <p:spPr bwMode="auto">
            <a:xfrm>
              <a:off x="5444" y="1788"/>
              <a:ext cx="71" cy="180"/>
            </a:xfrm>
            <a:custGeom>
              <a:avLst/>
              <a:gdLst>
                <a:gd name="T0" fmla="*/ 0 w 431"/>
                <a:gd name="T1" fmla="*/ 0 h 1076"/>
                <a:gd name="T2" fmla="*/ 0 w 431"/>
                <a:gd name="T3" fmla="*/ 0 h 1076"/>
                <a:gd name="T4" fmla="*/ 0 w 431"/>
                <a:gd name="T5" fmla="*/ 0 h 1076"/>
                <a:gd name="T6" fmla="*/ 0 w 431"/>
                <a:gd name="T7" fmla="*/ 0 h 1076"/>
                <a:gd name="T8" fmla="*/ 0 w 431"/>
                <a:gd name="T9" fmla="*/ 0 h 1076"/>
                <a:gd name="T10" fmla="*/ 0 w 431"/>
                <a:gd name="T11" fmla="*/ 0 h 1076"/>
                <a:gd name="T12" fmla="*/ 0 w 431"/>
                <a:gd name="T13" fmla="*/ 0 h 1076"/>
                <a:gd name="T14" fmla="*/ 0 w 431"/>
                <a:gd name="T15" fmla="*/ 0 h 1076"/>
                <a:gd name="T16" fmla="*/ 0 w 431"/>
                <a:gd name="T17" fmla="*/ 0 h 1076"/>
                <a:gd name="T18" fmla="*/ 0 w 431"/>
                <a:gd name="T19" fmla="*/ 0 h 1076"/>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431" h="1076">
                  <a:moveTo>
                    <a:pt x="369" y="0"/>
                  </a:moveTo>
                  <a:lnTo>
                    <a:pt x="328" y="44"/>
                  </a:lnTo>
                  <a:lnTo>
                    <a:pt x="317" y="108"/>
                  </a:lnTo>
                  <a:lnTo>
                    <a:pt x="254" y="170"/>
                  </a:lnTo>
                  <a:lnTo>
                    <a:pt x="126" y="461"/>
                  </a:lnTo>
                  <a:lnTo>
                    <a:pt x="57" y="724"/>
                  </a:lnTo>
                  <a:lnTo>
                    <a:pt x="0" y="1076"/>
                  </a:lnTo>
                  <a:lnTo>
                    <a:pt x="178" y="919"/>
                  </a:lnTo>
                  <a:lnTo>
                    <a:pt x="431" y="140"/>
                  </a:lnTo>
                  <a:lnTo>
                    <a:pt x="369" y="0"/>
                  </a:lnTo>
                  <a:close/>
                </a:path>
              </a:pathLst>
            </a:custGeom>
            <a:solidFill>
              <a:srgbClr val="40000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1" name="Freeform 294"/>
            <p:cNvSpPr>
              <a:spLocks/>
            </p:cNvSpPr>
            <p:nvPr/>
          </p:nvSpPr>
          <p:spPr bwMode="auto">
            <a:xfrm>
              <a:off x="5362" y="1754"/>
              <a:ext cx="268" cy="299"/>
            </a:xfrm>
            <a:custGeom>
              <a:avLst/>
              <a:gdLst>
                <a:gd name="T0" fmla="*/ 0 w 1606"/>
                <a:gd name="T1" fmla="*/ 0 h 1792"/>
                <a:gd name="T2" fmla="*/ 0 w 1606"/>
                <a:gd name="T3" fmla="*/ 0 h 1792"/>
                <a:gd name="T4" fmla="*/ 0 w 1606"/>
                <a:gd name="T5" fmla="*/ 0 h 1792"/>
                <a:gd name="T6" fmla="*/ 0 w 1606"/>
                <a:gd name="T7" fmla="*/ 0 h 1792"/>
                <a:gd name="T8" fmla="*/ 0 w 1606"/>
                <a:gd name="T9" fmla="*/ 0 h 1792"/>
                <a:gd name="T10" fmla="*/ 0 w 1606"/>
                <a:gd name="T11" fmla="*/ 0 h 1792"/>
                <a:gd name="T12" fmla="*/ 0 w 1606"/>
                <a:gd name="T13" fmla="*/ 0 h 1792"/>
                <a:gd name="T14" fmla="*/ 0 w 1606"/>
                <a:gd name="T15" fmla="*/ 0 h 1792"/>
                <a:gd name="T16" fmla="*/ 0 w 1606"/>
                <a:gd name="T17" fmla="*/ 0 h 1792"/>
                <a:gd name="T18" fmla="*/ 0 w 1606"/>
                <a:gd name="T19" fmla="*/ 0 h 1792"/>
                <a:gd name="T20" fmla="*/ 0 w 1606"/>
                <a:gd name="T21" fmla="*/ 0 h 1792"/>
                <a:gd name="T22" fmla="*/ 0 w 1606"/>
                <a:gd name="T23" fmla="*/ 0 h 1792"/>
                <a:gd name="T24" fmla="*/ 0 w 1606"/>
                <a:gd name="T25" fmla="*/ 0 h 1792"/>
                <a:gd name="T26" fmla="*/ 0 w 1606"/>
                <a:gd name="T27" fmla="*/ 0 h 1792"/>
                <a:gd name="T28" fmla="*/ 0 w 1606"/>
                <a:gd name="T29" fmla="*/ 0 h 1792"/>
                <a:gd name="T30" fmla="*/ 0 w 1606"/>
                <a:gd name="T31" fmla="*/ 0 h 1792"/>
                <a:gd name="T32" fmla="*/ 0 w 1606"/>
                <a:gd name="T33" fmla="*/ 0 h 1792"/>
                <a:gd name="T34" fmla="*/ 0 w 1606"/>
                <a:gd name="T35" fmla="*/ 0 h 1792"/>
                <a:gd name="T36" fmla="*/ 0 w 1606"/>
                <a:gd name="T37" fmla="*/ 0 h 1792"/>
                <a:gd name="T38" fmla="*/ 0 w 1606"/>
                <a:gd name="T39" fmla="*/ 0 h 1792"/>
                <a:gd name="T40" fmla="*/ 0 w 1606"/>
                <a:gd name="T41" fmla="*/ 0 h 1792"/>
                <a:gd name="T42" fmla="*/ 0 w 1606"/>
                <a:gd name="T43" fmla="*/ 0 h 1792"/>
                <a:gd name="T44" fmla="*/ 0 w 1606"/>
                <a:gd name="T45" fmla="*/ 0 h 1792"/>
                <a:gd name="T46" fmla="*/ 0 w 1606"/>
                <a:gd name="T47" fmla="*/ 0 h 1792"/>
                <a:gd name="T48" fmla="*/ 0 w 1606"/>
                <a:gd name="T49" fmla="*/ 0 h 1792"/>
                <a:gd name="T50" fmla="*/ 0 w 1606"/>
                <a:gd name="T51" fmla="*/ 0 h 1792"/>
                <a:gd name="T52" fmla="*/ 0 w 1606"/>
                <a:gd name="T53" fmla="*/ 0 h 1792"/>
                <a:gd name="T54" fmla="*/ 0 w 1606"/>
                <a:gd name="T55" fmla="*/ 0 h 1792"/>
                <a:gd name="T56" fmla="*/ 0 w 1606"/>
                <a:gd name="T57" fmla="*/ 0 h 1792"/>
                <a:gd name="T58" fmla="*/ 0 w 1606"/>
                <a:gd name="T59" fmla="*/ 0 h 1792"/>
                <a:gd name="T60" fmla="*/ 0 w 1606"/>
                <a:gd name="T61" fmla="*/ 0 h 1792"/>
                <a:gd name="T62" fmla="*/ 0 w 1606"/>
                <a:gd name="T63" fmla="*/ 0 h 1792"/>
                <a:gd name="T64" fmla="*/ 0 w 1606"/>
                <a:gd name="T65" fmla="*/ 0 h 1792"/>
                <a:gd name="T66" fmla="*/ 0 w 1606"/>
                <a:gd name="T67" fmla="*/ 0 h 1792"/>
                <a:gd name="T68" fmla="*/ 0 w 1606"/>
                <a:gd name="T69" fmla="*/ 0 h 1792"/>
                <a:gd name="T70" fmla="*/ 0 w 1606"/>
                <a:gd name="T71" fmla="*/ 0 h 1792"/>
                <a:gd name="T72" fmla="*/ 0 w 1606"/>
                <a:gd name="T73" fmla="*/ 0 h 1792"/>
                <a:gd name="T74" fmla="*/ 0 w 1606"/>
                <a:gd name="T75" fmla="*/ 0 h 1792"/>
                <a:gd name="T76" fmla="*/ 0 w 1606"/>
                <a:gd name="T77" fmla="*/ 0 h 1792"/>
                <a:gd name="T78" fmla="*/ 0 w 1606"/>
                <a:gd name="T79" fmla="*/ 0 h 1792"/>
                <a:gd name="T80" fmla="*/ 0 w 1606"/>
                <a:gd name="T81" fmla="*/ 0 h 1792"/>
                <a:gd name="T82" fmla="*/ 0 w 1606"/>
                <a:gd name="T83" fmla="*/ 0 h 1792"/>
                <a:gd name="T84" fmla="*/ 0 w 1606"/>
                <a:gd name="T85" fmla="*/ 0 h 1792"/>
                <a:gd name="T86" fmla="*/ 0 w 1606"/>
                <a:gd name="T87" fmla="*/ 0 h 1792"/>
                <a:gd name="T88" fmla="*/ 0 w 1606"/>
                <a:gd name="T89" fmla="*/ 0 h 1792"/>
                <a:gd name="T90" fmla="*/ 0 w 1606"/>
                <a:gd name="T91" fmla="*/ 0 h 1792"/>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606" h="1792">
                  <a:moveTo>
                    <a:pt x="1309" y="94"/>
                  </a:moveTo>
                  <a:lnTo>
                    <a:pt x="1258" y="0"/>
                  </a:lnTo>
                  <a:lnTo>
                    <a:pt x="867" y="163"/>
                  </a:lnTo>
                  <a:lnTo>
                    <a:pt x="850" y="288"/>
                  </a:lnTo>
                  <a:lnTo>
                    <a:pt x="818" y="332"/>
                  </a:lnTo>
                  <a:lnTo>
                    <a:pt x="773" y="382"/>
                  </a:lnTo>
                  <a:lnTo>
                    <a:pt x="747" y="472"/>
                  </a:lnTo>
                  <a:lnTo>
                    <a:pt x="660" y="678"/>
                  </a:lnTo>
                  <a:lnTo>
                    <a:pt x="590" y="924"/>
                  </a:lnTo>
                  <a:lnTo>
                    <a:pt x="558" y="1088"/>
                  </a:lnTo>
                  <a:lnTo>
                    <a:pt x="243" y="1094"/>
                  </a:lnTo>
                  <a:lnTo>
                    <a:pt x="192" y="1125"/>
                  </a:lnTo>
                  <a:lnTo>
                    <a:pt x="47" y="1125"/>
                  </a:lnTo>
                  <a:lnTo>
                    <a:pt x="7" y="1189"/>
                  </a:lnTo>
                  <a:lnTo>
                    <a:pt x="0" y="1264"/>
                  </a:lnTo>
                  <a:lnTo>
                    <a:pt x="15" y="1332"/>
                  </a:lnTo>
                  <a:lnTo>
                    <a:pt x="148" y="1358"/>
                  </a:lnTo>
                  <a:lnTo>
                    <a:pt x="211" y="1452"/>
                  </a:lnTo>
                  <a:lnTo>
                    <a:pt x="337" y="1484"/>
                  </a:lnTo>
                  <a:lnTo>
                    <a:pt x="430" y="1484"/>
                  </a:lnTo>
                  <a:lnTo>
                    <a:pt x="538" y="1503"/>
                  </a:lnTo>
                  <a:lnTo>
                    <a:pt x="544" y="1548"/>
                  </a:lnTo>
                  <a:lnTo>
                    <a:pt x="538" y="1642"/>
                  </a:lnTo>
                  <a:lnTo>
                    <a:pt x="550" y="1705"/>
                  </a:lnTo>
                  <a:lnTo>
                    <a:pt x="608" y="1712"/>
                  </a:lnTo>
                  <a:lnTo>
                    <a:pt x="677" y="1724"/>
                  </a:lnTo>
                  <a:lnTo>
                    <a:pt x="747" y="1786"/>
                  </a:lnTo>
                  <a:lnTo>
                    <a:pt x="830" y="1786"/>
                  </a:lnTo>
                  <a:lnTo>
                    <a:pt x="905" y="1779"/>
                  </a:lnTo>
                  <a:lnTo>
                    <a:pt x="1019" y="1744"/>
                  </a:lnTo>
                  <a:lnTo>
                    <a:pt x="1145" y="1756"/>
                  </a:lnTo>
                  <a:lnTo>
                    <a:pt x="1273" y="1792"/>
                  </a:lnTo>
                  <a:lnTo>
                    <a:pt x="1392" y="1766"/>
                  </a:lnTo>
                  <a:lnTo>
                    <a:pt x="1473" y="1674"/>
                  </a:lnTo>
                  <a:lnTo>
                    <a:pt x="1467" y="1571"/>
                  </a:lnTo>
                  <a:lnTo>
                    <a:pt x="1497" y="1446"/>
                  </a:lnTo>
                  <a:lnTo>
                    <a:pt x="1516" y="1282"/>
                  </a:lnTo>
                  <a:lnTo>
                    <a:pt x="1554" y="1131"/>
                  </a:lnTo>
                  <a:lnTo>
                    <a:pt x="1606" y="906"/>
                  </a:lnTo>
                  <a:lnTo>
                    <a:pt x="1598" y="678"/>
                  </a:lnTo>
                  <a:lnTo>
                    <a:pt x="1598" y="478"/>
                  </a:lnTo>
                  <a:lnTo>
                    <a:pt x="1586" y="338"/>
                  </a:lnTo>
                  <a:lnTo>
                    <a:pt x="1554" y="276"/>
                  </a:lnTo>
                  <a:lnTo>
                    <a:pt x="1484" y="225"/>
                  </a:lnTo>
                  <a:lnTo>
                    <a:pt x="1403" y="142"/>
                  </a:lnTo>
                  <a:lnTo>
                    <a:pt x="1309" y="94"/>
                  </a:lnTo>
                  <a:close/>
                </a:path>
              </a:pathLst>
            </a:custGeom>
            <a:solidFill>
              <a:srgbClr val="C0C0C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2" name="Freeform 295"/>
            <p:cNvSpPr>
              <a:spLocks/>
            </p:cNvSpPr>
            <p:nvPr/>
          </p:nvSpPr>
          <p:spPr bwMode="auto">
            <a:xfrm>
              <a:off x="5456" y="1772"/>
              <a:ext cx="169" cy="278"/>
            </a:xfrm>
            <a:custGeom>
              <a:avLst/>
              <a:gdLst>
                <a:gd name="T0" fmla="*/ 0 w 1014"/>
                <a:gd name="T1" fmla="*/ 0 h 1671"/>
                <a:gd name="T2" fmla="*/ 0 w 1014"/>
                <a:gd name="T3" fmla="*/ 0 h 1671"/>
                <a:gd name="T4" fmla="*/ 0 w 1014"/>
                <a:gd name="T5" fmla="*/ 0 h 1671"/>
                <a:gd name="T6" fmla="*/ 0 w 1014"/>
                <a:gd name="T7" fmla="*/ 0 h 1671"/>
                <a:gd name="T8" fmla="*/ 0 w 1014"/>
                <a:gd name="T9" fmla="*/ 0 h 1671"/>
                <a:gd name="T10" fmla="*/ 0 w 1014"/>
                <a:gd name="T11" fmla="*/ 0 h 1671"/>
                <a:gd name="T12" fmla="*/ 0 w 1014"/>
                <a:gd name="T13" fmla="*/ 0 h 1671"/>
                <a:gd name="T14" fmla="*/ 0 w 1014"/>
                <a:gd name="T15" fmla="*/ 0 h 1671"/>
                <a:gd name="T16" fmla="*/ 0 w 1014"/>
                <a:gd name="T17" fmla="*/ 0 h 1671"/>
                <a:gd name="T18" fmla="*/ 0 w 1014"/>
                <a:gd name="T19" fmla="*/ 0 h 1671"/>
                <a:gd name="T20" fmla="*/ 0 w 1014"/>
                <a:gd name="T21" fmla="*/ 0 h 1671"/>
                <a:gd name="T22" fmla="*/ 0 w 1014"/>
                <a:gd name="T23" fmla="*/ 0 h 1671"/>
                <a:gd name="T24" fmla="*/ 0 w 1014"/>
                <a:gd name="T25" fmla="*/ 0 h 1671"/>
                <a:gd name="T26" fmla="*/ 0 w 1014"/>
                <a:gd name="T27" fmla="*/ 0 h 1671"/>
                <a:gd name="T28" fmla="*/ 0 w 1014"/>
                <a:gd name="T29" fmla="*/ 0 h 1671"/>
                <a:gd name="T30" fmla="*/ 0 w 1014"/>
                <a:gd name="T31" fmla="*/ 0 h 1671"/>
                <a:gd name="T32" fmla="*/ 0 w 1014"/>
                <a:gd name="T33" fmla="*/ 0 h 1671"/>
                <a:gd name="T34" fmla="*/ 0 w 1014"/>
                <a:gd name="T35" fmla="*/ 0 h 1671"/>
                <a:gd name="T36" fmla="*/ 0 w 1014"/>
                <a:gd name="T37" fmla="*/ 0 h 1671"/>
                <a:gd name="T38" fmla="*/ 0 w 1014"/>
                <a:gd name="T39" fmla="*/ 0 h 1671"/>
                <a:gd name="T40" fmla="*/ 0 w 1014"/>
                <a:gd name="T41" fmla="*/ 0 h 1671"/>
                <a:gd name="T42" fmla="*/ 0 w 1014"/>
                <a:gd name="T43" fmla="*/ 0 h 1671"/>
                <a:gd name="T44" fmla="*/ 0 w 1014"/>
                <a:gd name="T45" fmla="*/ 0 h 1671"/>
                <a:gd name="T46" fmla="*/ 0 w 1014"/>
                <a:gd name="T47" fmla="*/ 0 h 1671"/>
                <a:gd name="T48" fmla="*/ 0 w 1014"/>
                <a:gd name="T49" fmla="*/ 0 h 1671"/>
                <a:gd name="T50" fmla="*/ 0 w 1014"/>
                <a:gd name="T51" fmla="*/ 0 h 1671"/>
                <a:gd name="T52" fmla="*/ 0 w 1014"/>
                <a:gd name="T53" fmla="*/ 0 h 1671"/>
                <a:gd name="T54" fmla="*/ 0 w 1014"/>
                <a:gd name="T55" fmla="*/ 0 h 1671"/>
                <a:gd name="T56" fmla="*/ 0 w 1014"/>
                <a:gd name="T57" fmla="*/ 0 h 1671"/>
                <a:gd name="T58" fmla="*/ 0 w 1014"/>
                <a:gd name="T59" fmla="*/ 0 h 1671"/>
                <a:gd name="T60" fmla="*/ 0 w 1014"/>
                <a:gd name="T61" fmla="*/ 0 h 1671"/>
                <a:gd name="T62" fmla="*/ 0 w 1014"/>
                <a:gd name="T63" fmla="*/ 0 h 1671"/>
                <a:gd name="T64" fmla="*/ 0 w 1014"/>
                <a:gd name="T65" fmla="*/ 0 h 1671"/>
                <a:gd name="T66" fmla="*/ 0 w 1014"/>
                <a:gd name="T67" fmla="*/ 0 h 1671"/>
                <a:gd name="T68" fmla="*/ 0 w 1014"/>
                <a:gd name="T69" fmla="*/ 0 h 1671"/>
                <a:gd name="T70" fmla="*/ 0 w 1014"/>
                <a:gd name="T71" fmla="*/ 0 h 1671"/>
                <a:gd name="T72" fmla="*/ 0 w 1014"/>
                <a:gd name="T73" fmla="*/ 0 h 1671"/>
                <a:gd name="T74" fmla="*/ 0 w 1014"/>
                <a:gd name="T75" fmla="*/ 0 h 1671"/>
                <a:gd name="T76" fmla="*/ 0 w 1014"/>
                <a:gd name="T77" fmla="*/ 0 h 1671"/>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014" h="1671">
                  <a:moveTo>
                    <a:pt x="0" y="1402"/>
                  </a:moveTo>
                  <a:lnTo>
                    <a:pt x="132" y="1382"/>
                  </a:lnTo>
                  <a:lnTo>
                    <a:pt x="245" y="1376"/>
                  </a:lnTo>
                  <a:lnTo>
                    <a:pt x="370" y="1363"/>
                  </a:lnTo>
                  <a:lnTo>
                    <a:pt x="509" y="1344"/>
                  </a:lnTo>
                  <a:lnTo>
                    <a:pt x="573" y="1301"/>
                  </a:lnTo>
                  <a:lnTo>
                    <a:pt x="744" y="1088"/>
                  </a:lnTo>
                  <a:lnTo>
                    <a:pt x="656" y="1149"/>
                  </a:lnTo>
                  <a:lnTo>
                    <a:pt x="598" y="1201"/>
                  </a:lnTo>
                  <a:lnTo>
                    <a:pt x="630" y="1050"/>
                  </a:lnTo>
                  <a:lnTo>
                    <a:pt x="693" y="992"/>
                  </a:lnTo>
                  <a:lnTo>
                    <a:pt x="787" y="837"/>
                  </a:lnTo>
                  <a:lnTo>
                    <a:pt x="699" y="911"/>
                  </a:lnTo>
                  <a:lnTo>
                    <a:pt x="642" y="931"/>
                  </a:lnTo>
                  <a:lnTo>
                    <a:pt x="656" y="823"/>
                  </a:lnTo>
                  <a:lnTo>
                    <a:pt x="718" y="741"/>
                  </a:lnTo>
                  <a:lnTo>
                    <a:pt x="781" y="679"/>
                  </a:lnTo>
                  <a:lnTo>
                    <a:pt x="845" y="497"/>
                  </a:lnTo>
                  <a:lnTo>
                    <a:pt x="724" y="647"/>
                  </a:lnTo>
                  <a:lnTo>
                    <a:pt x="656" y="703"/>
                  </a:lnTo>
                  <a:lnTo>
                    <a:pt x="648" y="471"/>
                  </a:lnTo>
                  <a:lnTo>
                    <a:pt x="630" y="378"/>
                  </a:lnTo>
                  <a:lnTo>
                    <a:pt x="592" y="334"/>
                  </a:lnTo>
                  <a:lnTo>
                    <a:pt x="535" y="264"/>
                  </a:lnTo>
                  <a:lnTo>
                    <a:pt x="445" y="232"/>
                  </a:lnTo>
                  <a:lnTo>
                    <a:pt x="402" y="214"/>
                  </a:lnTo>
                  <a:lnTo>
                    <a:pt x="528" y="94"/>
                  </a:lnTo>
                  <a:lnTo>
                    <a:pt x="661" y="126"/>
                  </a:lnTo>
                  <a:lnTo>
                    <a:pt x="750" y="176"/>
                  </a:lnTo>
                  <a:lnTo>
                    <a:pt x="781" y="226"/>
                  </a:lnTo>
                  <a:lnTo>
                    <a:pt x="756" y="150"/>
                  </a:lnTo>
                  <a:lnTo>
                    <a:pt x="705" y="126"/>
                  </a:lnTo>
                  <a:lnTo>
                    <a:pt x="624" y="94"/>
                  </a:lnTo>
                  <a:lnTo>
                    <a:pt x="560" y="82"/>
                  </a:lnTo>
                  <a:lnTo>
                    <a:pt x="598" y="62"/>
                  </a:lnTo>
                  <a:lnTo>
                    <a:pt x="661" y="44"/>
                  </a:lnTo>
                  <a:lnTo>
                    <a:pt x="718" y="25"/>
                  </a:lnTo>
                  <a:lnTo>
                    <a:pt x="750" y="0"/>
                  </a:lnTo>
                  <a:lnTo>
                    <a:pt x="825" y="50"/>
                  </a:lnTo>
                  <a:lnTo>
                    <a:pt x="868" y="94"/>
                  </a:lnTo>
                  <a:lnTo>
                    <a:pt x="913" y="150"/>
                  </a:lnTo>
                  <a:lnTo>
                    <a:pt x="976" y="182"/>
                  </a:lnTo>
                  <a:lnTo>
                    <a:pt x="988" y="240"/>
                  </a:lnTo>
                  <a:lnTo>
                    <a:pt x="1014" y="334"/>
                  </a:lnTo>
                  <a:lnTo>
                    <a:pt x="1014" y="478"/>
                  </a:lnTo>
                  <a:lnTo>
                    <a:pt x="1008" y="628"/>
                  </a:lnTo>
                  <a:lnTo>
                    <a:pt x="1002" y="799"/>
                  </a:lnTo>
                  <a:lnTo>
                    <a:pt x="970" y="975"/>
                  </a:lnTo>
                  <a:lnTo>
                    <a:pt x="931" y="1157"/>
                  </a:lnTo>
                  <a:lnTo>
                    <a:pt x="913" y="1314"/>
                  </a:lnTo>
                  <a:lnTo>
                    <a:pt x="882" y="1426"/>
                  </a:lnTo>
                  <a:lnTo>
                    <a:pt x="888" y="1527"/>
                  </a:lnTo>
                  <a:lnTo>
                    <a:pt x="875" y="1584"/>
                  </a:lnTo>
                  <a:lnTo>
                    <a:pt x="830" y="1627"/>
                  </a:lnTo>
                  <a:lnTo>
                    <a:pt x="775" y="1664"/>
                  </a:lnTo>
                  <a:lnTo>
                    <a:pt x="699" y="1671"/>
                  </a:lnTo>
                  <a:lnTo>
                    <a:pt x="661" y="1652"/>
                  </a:lnTo>
                  <a:lnTo>
                    <a:pt x="612" y="1648"/>
                  </a:lnTo>
                  <a:lnTo>
                    <a:pt x="490" y="1622"/>
                  </a:lnTo>
                  <a:lnTo>
                    <a:pt x="541" y="1559"/>
                  </a:lnTo>
                  <a:lnTo>
                    <a:pt x="598" y="1470"/>
                  </a:lnTo>
                  <a:lnTo>
                    <a:pt x="516" y="1534"/>
                  </a:lnTo>
                  <a:lnTo>
                    <a:pt x="452" y="1590"/>
                  </a:lnTo>
                  <a:lnTo>
                    <a:pt x="407" y="1622"/>
                  </a:lnTo>
                  <a:lnTo>
                    <a:pt x="345" y="1652"/>
                  </a:lnTo>
                  <a:lnTo>
                    <a:pt x="276" y="1652"/>
                  </a:lnTo>
                  <a:lnTo>
                    <a:pt x="208" y="1652"/>
                  </a:lnTo>
                  <a:lnTo>
                    <a:pt x="170" y="1636"/>
                  </a:lnTo>
                  <a:lnTo>
                    <a:pt x="151" y="1616"/>
                  </a:lnTo>
                  <a:lnTo>
                    <a:pt x="240" y="1565"/>
                  </a:lnTo>
                  <a:lnTo>
                    <a:pt x="327" y="1484"/>
                  </a:lnTo>
                  <a:lnTo>
                    <a:pt x="352" y="1446"/>
                  </a:lnTo>
                  <a:lnTo>
                    <a:pt x="282" y="1463"/>
                  </a:lnTo>
                  <a:lnTo>
                    <a:pt x="176" y="1546"/>
                  </a:lnTo>
                  <a:lnTo>
                    <a:pt x="132" y="1584"/>
                  </a:lnTo>
                  <a:lnTo>
                    <a:pt x="32" y="1590"/>
                  </a:lnTo>
                  <a:lnTo>
                    <a:pt x="0" y="1572"/>
                  </a:lnTo>
                  <a:lnTo>
                    <a:pt x="0" y="1527"/>
                  </a:lnTo>
                  <a:lnTo>
                    <a:pt x="0" y="1402"/>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3" name="Freeform 296"/>
            <p:cNvSpPr>
              <a:spLocks/>
            </p:cNvSpPr>
            <p:nvPr/>
          </p:nvSpPr>
          <p:spPr bwMode="auto">
            <a:xfrm>
              <a:off x="5563" y="1910"/>
              <a:ext cx="50" cy="129"/>
            </a:xfrm>
            <a:custGeom>
              <a:avLst/>
              <a:gdLst>
                <a:gd name="T0" fmla="*/ 0 w 295"/>
                <a:gd name="T1" fmla="*/ 0 h 774"/>
                <a:gd name="T2" fmla="*/ 0 w 295"/>
                <a:gd name="T3" fmla="*/ 0 h 774"/>
                <a:gd name="T4" fmla="*/ 0 w 295"/>
                <a:gd name="T5" fmla="*/ 0 h 774"/>
                <a:gd name="T6" fmla="*/ 0 w 295"/>
                <a:gd name="T7" fmla="*/ 0 h 774"/>
                <a:gd name="T8" fmla="*/ 0 w 295"/>
                <a:gd name="T9" fmla="*/ 0 h 774"/>
                <a:gd name="T10" fmla="*/ 0 w 295"/>
                <a:gd name="T11" fmla="*/ 0 h 774"/>
                <a:gd name="T12" fmla="*/ 0 w 295"/>
                <a:gd name="T13" fmla="*/ 0 h 774"/>
                <a:gd name="T14" fmla="*/ 0 w 295"/>
                <a:gd name="T15" fmla="*/ 0 h 774"/>
                <a:gd name="T16" fmla="*/ 0 w 295"/>
                <a:gd name="T17" fmla="*/ 0 h 774"/>
                <a:gd name="T18" fmla="*/ 0 w 295"/>
                <a:gd name="T19" fmla="*/ 0 h 774"/>
                <a:gd name="T20" fmla="*/ 0 w 295"/>
                <a:gd name="T21" fmla="*/ 0 h 774"/>
                <a:gd name="T22" fmla="*/ 0 w 295"/>
                <a:gd name="T23" fmla="*/ 0 h 774"/>
                <a:gd name="T24" fmla="*/ 0 w 295"/>
                <a:gd name="T25" fmla="*/ 0 h 774"/>
                <a:gd name="T26" fmla="*/ 0 w 295"/>
                <a:gd name="T27" fmla="*/ 0 h 774"/>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295" h="774">
                  <a:moveTo>
                    <a:pt x="0" y="774"/>
                  </a:moveTo>
                  <a:lnTo>
                    <a:pt x="51" y="748"/>
                  </a:lnTo>
                  <a:lnTo>
                    <a:pt x="107" y="686"/>
                  </a:lnTo>
                  <a:lnTo>
                    <a:pt x="156" y="573"/>
                  </a:lnTo>
                  <a:lnTo>
                    <a:pt x="183" y="477"/>
                  </a:lnTo>
                  <a:lnTo>
                    <a:pt x="220" y="371"/>
                  </a:lnTo>
                  <a:lnTo>
                    <a:pt x="239" y="270"/>
                  </a:lnTo>
                  <a:lnTo>
                    <a:pt x="270" y="114"/>
                  </a:lnTo>
                  <a:lnTo>
                    <a:pt x="295" y="0"/>
                  </a:lnTo>
                  <a:lnTo>
                    <a:pt x="232" y="226"/>
                  </a:lnTo>
                  <a:lnTo>
                    <a:pt x="183" y="402"/>
                  </a:lnTo>
                  <a:lnTo>
                    <a:pt x="126" y="521"/>
                  </a:lnTo>
                  <a:lnTo>
                    <a:pt x="38" y="648"/>
                  </a:lnTo>
                  <a:lnTo>
                    <a:pt x="0" y="774"/>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4" name="Freeform 297"/>
            <p:cNvSpPr>
              <a:spLocks/>
            </p:cNvSpPr>
            <p:nvPr/>
          </p:nvSpPr>
          <p:spPr bwMode="auto">
            <a:xfrm>
              <a:off x="5367" y="1806"/>
              <a:ext cx="195" cy="194"/>
            </a:xfrm>
            <a:custGeom>
              <a:avLst/>
              <a:gdLst>
                <a:gd name="T0" fmla="*/ 0 w 1172"/>
                <a:gd name="T1" fmla="*/ 0 h 1162"/>
                <a:gd name="T2" fmla="*/ 0 w 1172"/>
                <a:gd name="T3" fmla="*/ 0 h 1162"/>
                <a:gd name="T4" fmla="*/ 0 w 1172"/>
                <a:gd name="T5" fmla="*/ 0 h 1162"/>
                <a:gd name="T6" fmla="*/ 0 w 1172"/>
                <a:gd name="T7" fmla="*/ 0 h 1162"/>
                <a:gd name="T8" fmla="*/ 0 w 1172"/>
                <a:gd name="T9" fmla="*/ 0 h 1162"/>
                <a:gd name="T10" fmla="*/ 0 w 1172"/>
                <a:gd name="T11" fmla="*/ 0 h 1162"/>
                <a:gd name="T12" fmla="*/ 0 w 1172"/>
                <a:gd name="T13" fmla="*/ 0 h 1162"/>
                <a:gd name="T14" fmla="*/ 0 w 1172"/>
                <a:gd name="T15" fmla="*/ 0 h 1162"/>
                <a:gd name="T16" fmla="*/ 0 w 1172"/>
                <a:gd name="T17" fmla="*/ 0 h 1162"/>
                <a:gd name="T18" fmla="*/ 0 w 1172"/>
                <a:gd name="T19" fmla="*/ 0 h 1162"/>
                <a:gd name="T20" fmla="*/ 0 w 1172"/>
                <a:gd name="T21" fmla="*/ 0 h 1162"/>
                <a:gd name="T22" fmla="*/ 0 w 1172"/>
                <a:gd name="T23" fmla="*/ 0 h 1162"/>
                <a:gd name="T24" fmla="*/ 0 w 1172"/>
                <a:gd name="T25" fmla="*/ 0 h 1162"/>
                <a:gd name="T26" fmla="*/ 0 w 1172"/>
                <a:gd name="T27" fmla="*/ 0 h 1162"/>
                <a:gd name="T28" fmla="*/ 0 w 1172"/>
                <a:gd name="T29" fmla="*/ 0 h 1162"/>
                <a:gd name="T30" fmla="*/ 0 w 1172"/>
                <a:gd name="T31" fmla="*/ 0 h 1162"/>
                <a:gd name="T32" fmla="*/ 0 w 1172"/>
                <a:gd name="T33" fmla="*/ 0 h 1162"/>
                <a:gd name="T34" fmla="*/ 0 w 1172"/>
                <a:gd name="T35" fmla="*/ 0 h 1162"/>
                <a:gd name="T36" fmla="*/ 0 w 1172"/>
                <a:gd name="T37" fmla="*/ 0 h 1162"/>
                <a:gd name="T38" fmla="*/ 0 w 1172"/>
                <a:gd name="T39" fmla="*/ 0 h 1162"/>
                <a:gd name="T40" fmla="*/ 0 w 1172"/>
                <a:gd name="T41" fmla="*/ 0 h 1162"/>
                <a:gd name="T42" fmla="*/ 0 w 1172"/>
                <a:gd name="T43" fmla="*/ 0 h 1162"/>
                <a:gd name="T44" fmla="*/ 0 w 1172"/>
                <a:gd name="T45" fmla="*/ 0 h 1162"/>
                <a:gd name="T46" fmla="*/ 0 w 1172"/>
                <a:gd name="T47" fmla="*/ 0 h 1162"/>
                <a:gd name="T48" fmla="*/ 0 w 1172"/>
                <a:gd name="T49" fmla="*/ 0 h 1162"/>
                <a:gd name="T50" fmla="*/ 0 w 1172"/>
                <a:gd name="T51" fmla="*/ 0 h 1162"/>
                <a:gd name="T52" fmla="*/ 0 w 1172"/>
                <a:gd name="T53" fmla="*/ 0 h 1162"/>
                <a:gd name="T54" fmla="*/ 0 w 1172"/>
                <a:gd name="T55" fmla="*/ 0 h 1162"/>
                <a:gd name="T56" fmla="*/ 0 w 1172"/>
                <a:gd name="T57" fmla="*/ 0 h 1162"/>
                <a:gd name="T58" fmla="*/ 0 w 1172"/>
                <a:gd name="T59" fmla="*/ 0 h 1162"/>
                <a:gd name="T60" fmla="*/ 0 w 1172"/>
                <a:gd name="T61" fmla="*/ 0 h 1162"/>
                <a:gd name="T62" fmla="*/ 0 w 1172"/>
                <a:gd name="T63" fmla="*/ 0 h 1162"/>
                <a:gd name="T64" fmla="*/ 0 w 1172"/>
                <a:gd name="T65" fmla="*/ 0 h 1162"/>
                <a:gd name="T66" fmla="*/ 0 w 1172"/>
                <a:gd name="T67" fmla="*/ 0 h 1162"/>
                <a:gd name="T68" fmla="*/ 0 w 1172"/>
                <a:gd name="T69" fmla="*/ 0 h 1162"/>
                <a:gd name="T70" fmla="*/ 0 w 1172"/>
                <a:gd name="T71" fmla="*/ 0 h 1162"/>
                <a:gd name="T72" fmla="*/ 0 w 1172"/>
                <a:gd name="T73" fmla="*/ 0 h 1162"/>
                <a:gd name="T74" fmla="*/ 0 w 1172"/>
                <a:gd name="T75" fmla="*/ 0 h 1162"/>
                <a:gd name="T76" fmla="*/ 0 w 1172"/>
                <a:gd name="T77" fmla="*/ 0 h 1162"/>
                <a:gd name="T78" fmla="*/ 0 w 1172"/>
                <a:gd name="T79" fmla="*/ 0 h 1162"/>
                <a:gd name="T80" fmla="*/ 0 w 1172"/>
                <a:gd name="T81" fmla="*/ 0 h 1162"/>
                <a:gd name="T82" fmla="*/ 0 w 1172"/>
                <a:gd name="T83" fmla="*/ 0 h 1162"/>
                <a:gd name="T84" fmla="*/ 0 w 1172"/>
                <a:gd name="T85" fmla="*/ 0 h 1162"/>
                <a:gd name="T86" fmla="*/ 0 w 1172"/>
                <a:gd name="T87" fmla="*/ 0 h 1162"/>
                <a:gd name="T88" fmla="*/ 0 w 1172"/>
                <a:gd name="T89" fmla="*/ 0 h 1162"/>
                <a:gd name="T90" fmla="*/ 0 w 1172"/>
                <a:gd name="T91" fmla="*/ 0 h 1162"/>
                <a:gd name="T92" fmla="*/ 0 w 1172"/>
                <a:gd name="T93" fmla="*/ 0 h 1162"/>
                <a:gd name="T94" fmla="*/ 0 w 1172"/>
                <a:gd name="T95" fmla="*/ 0 h 1162"/>
                <a:gd name="T96" fmla="*/ 0 w 1172"/>
                <a:gd name="T97" fmla="*/ 0 h 1162"/>
                <a:gd name="T98" fmla="*/ 0 w 1172"/>
                <a:gd name="T99" fmla="*/ 0 h 1162"/>
                <a:gd name="T100" fmla="*/ 0 w 1172"/>
                <a:gd name="T101" fmla="*/ 0 h 1162"/>
                <a:gd name="T102" fmla="*/ 0 w 1172"/>
                <a:gd name="T103" fmla="*/ 0 h 1162"/>
                <a:gd name="T104" fmla="*/ 0 w 1172"/>
                <a:gd name="T105" fmla="*/ 0 h 1162"/>
                <a:gd name="T106" fmla="*/ 0 w 1172"/>
                <a:gd name="T107" fmla="*/ 0 h 1162"/>
                <a:gd name="T108" fmla="*/ 0 w 1172"/>
                <a:gd name="T109" fmla="*/ 0 h 1162"/>
                <a:gd name="T110" fmla="*/ 0 w 1172"/>
                <a:gd name="T111" fmla="*/ 0 h 1162"/>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1172" h="1162">
                  <a:moveTo>
                    <a:pt x="959" y="0"/>
                  </a:moveTo>
                  <a:lnTo>
                    <a:pt x="820" y="43"/>
                  </a:lnTo>
                  <a:lnTo>
                    <a:pt x="756" y="100"/>
                  </a:lnTo>
                  <a:lnTo>
                    <a:pt x="719" y="213"/>
                  </a:lnTo>
                  <a:lnTo>
                    <a:pt x="719" y="321"/>
                  </a:lnTo>
                  <a:lnTo>
                    <a:pt x="739" y="381"/>
                  </a:lnTo>
                  <a:lnTo>
                    <a:pt x="727" y="489"/>
                  </a:lnTo>
                  <a:lnTo>
                    <a:pt x="727" y="571"/>
                  </a:lnTo>
                  <a:lnTo>
                    <a:pt x="745" y="591"/>
                  </a:lnTo>
                  <a:lnTo>
                    <a:pt x="727" y="621"/>
                  </a:lnTo>
                  <a:lnTo>
                    <a:pt x="713" y="652"/>
                  </a:lnTo>
                  <a:lnTo>
                    <a:pt x="739" y="684"/>
                  </a:lnTo>
                  <a:lnTo>
                    <a:pt x="739" y="716"/>
                  </a:lnTo>
                  <a:lnTo>
                    <a:pt x="688" y="729"/>
                  </a:lnTo>
                  <a:lnTo>
                    <a:pt x="695" y="761"/>
                  </a:lnTo>
                  <a:lnTo>
                    <a:pt x="644" y="779"/>
                  </a:lnTo>
                  <a:lnTo>
                    <a:pt x="599" y="767"/>
                  </a:lnTo>
                  <a:lnTo>
                    <a:pt x="569" y="779"/>
                  </a:lnTo>
                  <a:lnTo>
                    <a:pt x="428" y="799"/>
                  </a:lnTo>
                  <a:lnTo>
                    <a:pt x="304" y="793"/>
                  </a:lnTo>
                  <a:lnTo>
                    <a:pt x="222" y="799"/>
                  </a:lnTo>
                  <a:lnTo>
                    <a:pt x="170" y="831"/>
                  </a:lnTo>
                  <a:lnTo>
                    <a:pt x="45" y="831"/>
                  </a:lnTo>
                  <a:lnTo>
                    <a:pt x="0" y="873"/>
                  </a:lnTo>
                  <a:lnTo>
                    <a:pt x="0" y="923"/>
                  </a:lnTo>
                  <a:lnTo>
                    <a:pt x="6" y="1004"/>
                  </a:lnTo>
                  <a:lnTo>
                    <a:pt x="109" y="1030"/>
                  </a:lnTo>
                  <a:lnTo>
                    <a:pt x="109" y="978"/>
                  </a:lnTo>
                  <a:lnTo>
                    <a:pt x="115" y="935"/>
                  </a:lnTo>
                  <a:lnTo>
                    <a:pt x="133" y="916"/>
                  </a:lnTo>
                  <a:lnTo>
                    <a:pt x="141" y="966"/>
                  </a:lnTo>
                  <a:lnTo>
                    <a:pt x="147" y="1030"/>
                  </a:lnTo>
                  <a:lnTo>
                    <a:pt x="170" y="1068"/>
                  </a:lnTo>
                  <a:lnTo>
                    <a:pt x="215" y="1118"/>
                  </a:lnTo>
                  <a:lnTo>
                    <a:pt x="321" y="1142"/>
                  </a:lnTo>
                  <a:lnTo>
                    <a:pt x="403" y="1155"/>
                  </a:lnTo>
                  <a:lnTo>
                    <a:pt x="499" y="1162"/>
                  </a:lnTo>
                  <a:lnTo>
                    <a:pt x="379" y="1093"/>
                  </a:lnTo>
                  <a:lnTo>
                    <a:pt x="297" y="1030"/>
                  </a:lnTo>
                  <a:lnTo>
                    <a:pt x="279" y="978"/>
                  </a:lnTo>
                  <a:lnTo>
                    <a:pt x="291" y="935"/>
                  </a:lnTo>
                  <a:lnTo>
                    <a:pt x="358" y="929"/>
                  </a:lnTo>
                  <a:lnTo>
                    <a:pt x="385" y="978"/>
                  </a:lnTo>
                  <a:lnTo>
                    <a:pt x="403" y="1036"/>
                  </a:lnTo>
                  <a:lnTo>
                    <a:pt x="467" y="1098"/>
                  </a:lnTo>
                  <a:lnTo>
                    <a:pt x="537" y="1149"/>
                  </a:lnTo>
                  <a:lnTo>
                    <a:pt x="607" y="1155"/>
                  </a:lnTo>
                  <a:lnTo>
                    <a:pt x="713" y="1149"/>
                  </a:lnTo>
                  <a:lnTo>
                    <a:pt x="599" y="1061"/>
                  </a:lnTo>
                  <a:lnTo>
                    <a:pt x="517" y="1016"/>
                  </a:lnTo>
                  <a:lnTo>
                    <a:pt x="454" y="966"/>
                  </a:lnTo>
                  <a:lnTo>
                    <a:pt x="435" y="929"/>
                  </a:lnTo>
                  <a:lnTo>
                    <a:pt x="441" y="891"/>
                  </a:lnTo>
                  <a:lnTo>
                    <a:pt x="479" y="885"/>
                  </a:lnTo>
                  <a:lnTo>
                    <a:pt x="523" y="923"/>
                  </a:lnTo>
                  <a:lnTo>
                    <a:pt x="549" y="972"/>
                  </a:lnTo>
                  <a:lnTo>
                    <a:pt x="607" y="1036"/>
                  </a:lnTo>
                  <a:lnTo>
                    <a:pt x="675" y="1068"/>
                  </a:lnTo>
                  <a:lnTo>
                    <a:pt x="727" y="1098"/>
                  </a:lnTo>
                  <a:lnTo>
                    <a:pt x="782" y="1123"/>
                  </a:lnTo>
                  <a:lnTo>
                    <a:pt x="846" y="1136"/>
                  </a:lnTo>
                  <a:lnTo>
                    <a:pt x="921" y="1136"/>
                  </a:lnTo>
                  <a:lnTo>
                    <a:pt x="994" y="1122"/>
                  </a:lnTo>
                  <a:lnTo>
                    <a:pt x="833" y="1068"/>
                  </a:lnTo>
                  <a:lnTo>
                    <a:pt x="771" y="1036"/>
                  </a:lnTo>
                  <a:lnTo>
                    <a:pt x="727" y="978"/>
                  </a:lnTo>
                  <a:lnTo>
                    <a:pt x="719" y="929"/>
                  </a:lnTo>
                  <a:lnTo>
                    <a:pt x="756" y="929"/>
                  </a:lnTo>
                  <a:lnTo>
                    <a:pt x="777" y="972"/>
                  </a:lnTo>
                  <a:lnTo>
                    <a:pt x="808" y="1010"/>
                  </a:lnTo>
                  <a:lnTo>
                    <a:pt x="859" y="1049"/>
                  </a:lnTo>
                  <a:lnTo>
                    <a:pt x="914" y="1087"/>
                  </a:lnTo>
                  <a:lnTo>
                    <a:pt x="989" y="1119"/>
                  </a:lnTo>
                  <a:lnTo>
                    <a:pt x="1046" y="1098"/>
                  </a:lnTo>
                  <a:lnTo>
                    <a:pt x="1072" y="1068"/>
                  </a:lnTo>
                  <a:lnTo>
                    <a:pt x="1117" y="991"/>
                  </a:lnTo>
                  <a:lnTo>
                    <a:pt x="1034" y="972"/>
                  </a:lnTo>
                  <a:lnTo>
                    <a:pt x="878" y="954"/>
                  </a:lnTo>
                  <a:lnTo>
                    <a:pt x="782" y="910"/>
                  </a:lnTo>
                  <a:lnTo>
                    <a:pt x="733" y="868"/>
                  </a:lnTo>
                  <a:lnTo>
                    <a:pt x="713" y="816"/>
                  </a:lnTo>
                  <a:lnTo>
                    <a:pt x="707" y="793"/>
                  </a:lnTo>
                  <a:lnTo>
                    <a:pt x="733" y="793"/>
                  </a:lnTo>
                  <a:lnTo>
                    <a:pt x="765" y="831"/>
                  </a:lnTo>
                  <a:lnTo>
                    <a:pt x="814" y="897"/>
                  </a:lnTo>
                  <a:lnTo>
                    <a:pt x="927" y="935"/>
                  </a:lnTo>
                  <a:lnTo>
                    <a:pt x="1034" y="968"/>
                  </a:lnTo>
                  <a:lnTo>
                    <a:pt x="1117" y="991"/>
                  </a:lnTo>
                  <a:lnTo>
                    <a:pt x="1149" y="861"/>
                  </a:lnTo>
                  <a:lnTo>
                    <a:pt x="1155" y="767"/>
                  </a:lnTo>
                  <a:lnTo>
                    <a:pt x="1155" y="683"/>
                  </a:lnTo>
                  <a:lnTo>
                    <a:pt x="1046" y="741"/>
                  </a:lnTo>
                  <a:lnTo>
                    <a:pt x="921" y="767"/>
                  </a:lnTo>
                  <a:lnTo>
                    <a:pt x="820" y="761"/>
                  </a:lnTo>
                  <a:lnTo>
                    <a:pt x="795" y="748"/>
                  </a:lnTo>
                  <a:lnTo>
                    <a:pt x="782" y="716"/>
                  </a:lnTo>
                  <a:lnTo>
                    <a:pt x="840" y="716"/>
                  </a:lnTo>
                  <a:lnTo>
                    <a:pt x="901" y="735"/>
                  </a:lnTo>
                  <a:lnTo>
                    <a:pt x="1049" y="741"/>
                  </a:lnTo>
                  <a:lnTo>
                    <a:pt x="1155" y="684"/>
                  </a:lnTo>
                  <a:lnTo>
                    <a:pt x="1161" y="565"/>
                  </a:lnTo>
                  <a:lnTo>
                    <a:pt x="1167" y="483"/>
                  </a:lnTo>
                  <a:lnTo>
                    <a:pt x="1172" y="401"/>
                  </a:lnTo>
                  <a:lnTo>
                    <a:pt x="1161" y="264"/>
                  </a:lnTo>
                  <a:lnTo>
                    <a:pt x="1129" y="213"/>
                  </a:lnTo>
                  <a:lnTo>
                    <a:pt x="1034" y="152"/>
                  </a:lnTo>
                  <a:lnTo>
                    <a:pt x="1065" y="158"/>
                  </a:lnTo>
                  <a:lnTo>
                    <a:pt x="1161" y="201"/>
                  </a:lnTo>
                  <a:lnTo>
                    <a:pt x="1123" y="113"/>
                  </a:lnTo>
                  <a:lnTo>
                    <a:pt x="1091" y="68"/>
                  </a:lnTo>
                  <a:lnTo>
                    <a:pt x="1065" y="38"/>
                  </a:lnTo>
                  <a:lnTo>
                    <a:pt x="959"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5" name="Freeform 298"/>
            <p:cNvSpPr>
              <a:spLocks/>
            </p:cNvSpPr>
            <p:nvPr/>
          </p:nvSpPr>
          <p:spPr bwMode="auto">
            <a:xfrm>
              <a:off x="5500" y="1878"/>
              <a:ext cx="49" cy="44"/>
            </a:xfrm>
            <a:custGeom>
              <a:avLst/>
              <a:gdLst>
                <a:gd name="T0" fmla="*/ 0 w 295"/>
                <a:gd name="T1" fmla="*/ 0 h 263"/>
                <a:gd name="T2" fmla="*/ 0 w 295"/>
                <a:gd name="T3" fmla="*/ 0 h 263"/>
                <a:gd name="T4" fmla="*/ 0 w 295"/>
                <a:gd name="T5" fmla="*/ 0 h 263"/>
                <a:gd name="T6" fmla="*/ 0 w 295"/>
                <a:gd name="T7" fmla="*/ 0 h 263"/>
                <a:gd name="T8" fmla="*/ 0 w 295"/>
                <a:gd name="T9" fmla="*/ 0 h 263"/>
                <a:gd name="T10" fmla="*/ 0 w 295"/>
                <a:gd name="T11" fmla="*/ 0 h 263"/>
                <a:gd name="T12" fmla="*/ 0 w 295"/>
                <a:gd name="T13" fmla="*/ 0 h 263"/>
                <a:gd name="T14" fmla="*/ 0 w 295"/>
                <a:gd name="T15" fmla="*/ 0 h 263"/>
                <a:gd name="T16" fmla="*/ 0 w 295"/>
                <a:gd name="T17" fmla="*/ 0 h 263"/>
                <a:gd name="T18" fmla="*/ 0 w 295"/>
                <a:gd name="T19" fmla="*/ 0 h 263"/>
                <a:gd name="T20" fmla="*/ 0 w 295"/>
                <a:gd name="T21" fmla="*/ 0 h 263"/>
                <a:gd name="T22" fmla="*/ 0 w 295"/>
                <a:gd name="T23" fmla="*/ 0 h 263"/>
                <a:gd name="T24" fmla="*/ 0 w 295"/>
                <a:gd name="T25" fmla="*/ 0 h 263"/>
                <a:gd name="T26" fmla="*/ 0 w 295"/>
                <a:gd name="T27" fmla="*/ 0 h 263"/>
                <a:gd name="T28" fmla="*/ 0 w 295"/>
                <a:gd name="T29" fmla="*/ 0 h 263"/>
                <a:gd name="T30" fmla="*/ 0 w 295"/>
                <a:gd name="T31" fmla="*/ 0 h 263"/>
                <a:gd name="T32" fmla="*/ 0 w 295"/>
                <a:gd name="T33" fmla="*/ 0 h 263"/>
                <a:gd name="T34" fmla="*/ 0 w 295"/>
                <a:gd name="T35" fmla="*/ 0 h 263"/>
                <a:gd name="T36" fmla="*/ 0 w 295"/>
                <a:gd name="T37" fmla="*/ 0 h 263"/>
                <a:gd name="T38" fmla="*/ 0 w 295"/>
                <a:gd name="T39" fmla="*/ 0 h 263"/>
                <a:gd name="T40" fmla="*/ 0 w 295"/>
                <a:gd name="T41" fmla="*/ 0 h 263"/>
                <a:gd name="T42" fmla="*/ 0 w 295"/>
                <a:gd name="T43" fmla="*/ 0 h 263"/>
                <a:gd name="T44" fmla="*/ 0 w 295"/>
                <a:gd name="T45" fmla="*/ 0 h 263"/>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295" h="263">
                  <a:moveTo>
                    <a:pt x="0" y="0"/>
                  </a:moveTo>
                  <a:lnTo>
                    <a:pt x="0" y="21"/>
                  </a:lnTo>
                  <a:lnTo>
                    <a:pt x="38" y="71"/>
                  </a:lnTo>
                  <a:lnTo>
                    <a:pt x="75" y="99"/>
                  </a:lnTo>
                  <a:lnTo>
                    <a:pt x="152" y="158"/>
                  </a:lnTo>
                  <a:lnTo>
                    <a:pt x="184" y="182"/>
                  </a:lnTo>
                  <a:lnTo>
                    <a:pt x="260" y="239"/>
                  </a:lnTo>
                  <a:lnTo>
                    <a:pt x="178" y="213"/>
                  </a:lnTo>
                  <a:lnTo>
                    <a:pt x="97" y="188"/>
                  </a:lnTo>
                  <a:lnTo>
                    <a:pt x="16" y="182"/>
                  </a:lnTo>
                  <a:lnTo>
                    <a:pt x="22" y="207"/>
                  </a:lnTo>
                  <a:lnTo>
                    <a:pt x="152" y="231"/>
                  </a:lnTo>
                  <a:lnTo>
                    <a:pt x="222" y="257"/>
                  </a:lnTo>
                  <a:lnTo>
                    <a:pt x="260" y="263"/>
                  </a:lnTo>
                  <a:lnTo>
                    <a:pt x="292" y="252"/>
                  </a:lnTo>
                  <a:lnTo>
                    <a:pt x="295" y="222"/>
                  </a:lnTo>
                  <a:lnTo>
                    <a:pt x="269" y="199"/>
                  </a:lnTo>
                  <a:lnTo>
                    <a:pt x="232" y="162"/>
                  </a:lnTo>
                  <a:lnTo>
                    <a:pt x="188" y="112"/>
                  </a:lnTo>
                  <a:lnTo>
                    <a:pt x="144" y="56"/>
                  </a:lnTo>
                  <a:lnTo>
                    <a:pt x="91" y="17"/>
                  </a:lnTo>
                  <a:lnTo>
                    <a:pt x="35" y="3"/>
                  </a:lnTo>
                  <a:lnTo>
                    <a:pt x="0"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6" name="Freeform 299"/>
            <p:cNvSpPr>
              <a:spLocks/>
            </p:cNvSpPr>
            <p:nvPr/>
          </p:nvSpPr>
          <p:spPr bwMode="auto">
            <a:xfrm>
              <a:off x="5503" y="1842"/>
              <a:ext cx="44" cy="57"/>
            </a:xfrm>
            <a:custGeom>
              <a:avLst/>
              <a:gdLst>
                <a:gd name="T0" fmla="*/ 0 w 270"/>
                <a:gd name="T1" fmla="*/ 0 h 345"/>
                <a:gd name="T2" fmla="*/ 0 w 270"/>
                <a:gd name="T3" fmla="*/ 0 h 345"/>
                <a:gd name="T4" fmla="*/ 0 w 270"/>
                <a:gd name="T5" fmla="*/ 0 h 345"/>
                <a:gd name="T6" fmla="*/ 0 w 270"/>
                <a:gd name="T7" fmla="*/ 0 h 345"/>
                <a:gd name="T8" fmla="*/ 0 w 270"/>
                <a:gd name="T9" fmla="*/ 0 h 345"/>
                <a:gd name="T10" fmla="*/ 0 w 270"/>
                <a:gd name="T11" fmla="*/ 0 h 345"/>
                <a:gd name="T12" fmla="*/ 0 w 270"/>
                <a:gd name="T13" fmla="*/ 0 h 345"/>
                <a:gd name="T14" fmla="*/ 0 w 270"/>
                <a:gd name="T15" fmla="*/ 0 h 345"/>
                <a:gd name="T16" fmla="*/ 0 w 270"/>
                <a:gd name="T17" fmla="*/ 0 h 345"/>
                <a:gd name="T18" fmla="*/ 0 w 270"/>
                <a:gd name="T19" fmla="*/ 0 h 345"/>
                <a:gd name="T20" fmla="*/ 0 w 270"/>
                <a:gd name="T21" fmla="*/ 0 h 345"/>
                <a:gd name="T22" fmla="*/ 0 w 270"/>
                <a:gd name="T23" fmla="*/ 0 h 345"/>
                <a:gd name="T24" fmla="*/ 0 w 270"/>
                <a:gd name="T25" fmla="*/ 0 h 345"/>
                <a:gd name="T26" fmla="*/ 0 w 270"/>
                <a:gd name="T27" fmla="*/ 0 h 345"/>
                <a:gd name="T28" fmla="*/ 0 w 270"/>
                <a:gd name="T29" fmla="*/ 0 h 345"/>
                <a:gd name="T30" fmla="*/ 0 w 270"/>
                <a:gd name="T31" fmla="*/ 0 h 345"/>
                <a:gd name="T32" fmla="*/ 0 w 270"/>
                <a:gd name="T33" fmla="*/ 0 h 345"/>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270" h="345">
                  <a:moveTo>
                    <a:pt x="51" y="0"/>
                  </a:moveTo>
                  <a:lnTo>
                    <a:pt x="13" y="7"/>
                  </a:lnTo>
                  <a:lnTo>
                    <a:pt x="0" y="39"/>
                  </a:lnTo>
                  <a:lnTo>
                    <a:pt x="3" y="65"/>
                  </a:lnTo>
                  <a:lnTo>
                    <a:pt x="26" y="101"/>
                  </a:lnTo>
                  <a:lnTo>
                    <a:pt x="57" y="112"/>
                  </a:lnTo>
                  <a:lnTo>
                    <a:pt x="116" y="149"/>
                  </a:lnTo>
                  <a:lnTo>
                    <a:pt x="172" y="195"/>
                  </a:lnTo>
                  <a:lnTo>
                    <a:pt x="212" y="259"/>
                  </a:lnTo>
                  <a:lnTo>
                    <a:pt x="257" y="325"/>
                  </a:lnTo>
                  <a:lnTo>
                    <a:pt x="270" y="345"/>
                  </a:lnTo>
                  <a:lnTo>
                    <a:pt x="257" y="267"/>
                  </a:lnTo>
                  <a:lnTo>
                    <a:pt x="247" y="198"/>
                  </a:lnTo>
                  <a:lnTo>
                    <a:pt x="225" y="140"/>
                  </a:lnTo>
                  <a:lnTo>
                    <a:pt x="188" y="86"/>
                  </a:lnTo>
                  <a:lnTo>
                    <a:pt x="90" y="10"/>
                  </a:lnTo>
                  <a:lnTo>
                    <a:pt x="51"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7" name="Freeform 300"/>
            <p:cNvSpPr>
              <a:spLocks/>
            </p:cNvSpPr>
            <p:nvPr/>
          </p:nvSpPr>
          <p:spPr bwMode="auto">
            <a:xfrm>
              <a:off x="5494" y="1785"/>
              <a:ext cx="48" cy="34"/>
            </a:xfrm>
            <a:custGeom>
              <a:avLst/>
              <a:gdLst>
                <a:gd name="T0" fmla="*/ 0 w 287"/>
                <a:gd name="T1" fmla="*/ 0 h 199"/>
                <a:gd name="T2" fmla="*/ 0 w 287"/>
                <a:gd name="T3" fmla="*/ 0 h 199"/>
                <a:gd name="T4" fmla="*/ 0 w 287"/>
                <a:gd name="T5" fmla="*/ 0 h 199"/>
                <a:gd name="T6" fmla="*/ 0 w 287"/>
                <a:gd name="T7" fmla="*/ 0 h 199"/>
                <a:gd name="T8" fmla="*/ 0 w 287"/>
                <a:gd name="T9" fmla="*/ 0 h 199"/>
                <a:gd name="T10" fmla="*/ 0 w 287"/>
                <a:gd name="T11" fmla="*/ 0 h 199"/>
                <a:gd name="T12" fmla="*/ 0 w 287"/>
                <a:gd name="T13" fmla="*/ 0 h 199"/>
                <a:gd name="T14" fmla="*/ 0 w 287"/>
                <a:gd name="T15" fmla="*/ 0 h 199"/>
                <a:gd name="T16" fmla="*/ 0 w 287"/>
                <a:gd name="T17" fmla="*/ 0 h 199"/>
                <a:gd name="T18" fmla="*/ 0 w 287"/>
                <a:gd name="T19" fmla="*/ 0 h 199"/>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87" h="199">
                  <a:moveTo>
                    <a:pt x="0" y="199"/>
                  </a:moveTo>
                  <a:lnTo>
                    <a:pt x="49" y="156"/>
                  </a:lnTo>
                  <a:lnTo>
                    <a:pt x="130" y="125"/>
                  </a:lnTo>
                  <a:lnTo>
                    <a:pt x="185" y="111"/>
                  </a:lnTo>
                  <a:lnTo>
                    <a:pt x="287" y="0"/>
                  </a:lnTo>
                  <a:lnTo>
                    <a:pt x="211" y="44"/>
                  </a:lnTo>
                  <a:lnTo>
                    <a:pt x="142" y="74"/>
                  </a:lnTo>
                  <a:lnTo>
                    <a:pt x="93" y="99"/>
                  </a:lnTo>
                  <a:lnTo>
                    <a:pt x="68" y="125"/>
                  </a:lnTo>
                  <a:lnTo>
                    <a:pt x="0" y="199"/>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8" name="Freeform 301"/>
            <p:cNvSpPr>
              <a:spLocks/>
            </p:cNvSpPr>
            <p:nvPr/>
          </p:nvSpPr>
          <p:spPr bwMode="auto">
            <a:xfrm>
              <a:off x="5458" y="1846"/>
              <a:ext cx="27" cy="86"/>
            </a:xfrm>
            <a:custGeom>
              <a:avLst/>
              <a:gdLst>
                <a:gd name="T0" fmla="*/ 0 w 162"/>
                <a:gd name="T1" fmla="*/ 0 h 514"/>
                <a:gd name="T2" fmla="*/ 0 w 162"/>
                <a:gd name="T3" fmla="*/ 0 h 514"/>
                <a:gd name="T4" fmla="*/ 0 w 162"/>
                <a:gd name="T5" fmla="*/ 0 h 514"/>
                <a:gd name="T6" fmla="*/ 0 w 162"/>
                <a:gd name="T7" fmla="*/ 0 h 514"/>
                <a:gd name="T8" fmla="*/ 0 w 162"/>
                <a:gd name="T9" fmla="*/ 0 h 514"/>
                <a:gd name="T10" fmla="*/ 0 w 162"/>
                <a:gd name="T11" fmla="*/ 0 h 514"/>
                <a:gd name="T12" fmla="*/ 0 w 162"/>
                <a:gd name="T13" fmla="*/ 0 h 514"/>
                <a:gd name="T14" fmla="*/ 0 w 162"/>
                <a:gd name="T15" fmla="*/ 0 h 514"/>
                <a:gd name="T16" fmla="*/ 0 w 162"/>
                <a:gd name="T17" fmla="*/ 0 h 514"/>
                <a:gd name="T18" fmla="*/ 0 w 162"/>
                <a:gd name="T19" fmla="*/ 0 h 514"/>
                <a:gd name="T20" fmla="*/ 0 w 162"/>
                <a:gd name="T21" fmla="*/ 0 h 514"/>
                <a:gd name="T22" fmla="*/ 0 w 162"/>
                <a:gd name="T23" fmla="*/ 0 h 514"/>
                <a:gd name="T24" fmla="*/ 0 w 162"/>
                <a:gd name="T25" fmla="*/ 0 h 514"/>
                <a:gd name="T26" fmla="*/ 0 w 162"/>
                <a:gd name="T27" fmla="*/ 0 h 514"/>
                <a:gd name="T28" fmla="*/ 0 w 162"/>
                <a:gd name="T29" fmla="*/ 0 h 514"/>
                <a:gd name="T30" fmla="*/ 0 w 162"/>
                <a:gd name="T31" fmla="*/ 0 h 514"/>
                <a:gd name="T32" fmla="*/ 0 w 162"/>
                <a:gd name="T33" fmla="*/ 0 h 514"/>
                <a:gd name="T34" fmla="*/ 0 w 162"/>
                <a:gd name="T35" fmla="*/ 0 h 514"/>
                <a:gd name="T36" fmla="*/ 0 w 162"/>
                <a:gd name="T37" fmla="*/ 0 h 514"/>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62" h="514">
                  <a:moveTo>
                    <a:pt x="0" y="514"/>
                  </a:moveTo>
                  <a:lnTo>
                    <a:pt x="81" y="514"/>
                  </a:lnTo>
                  <a:lnTo>
                    <a:pt x="106" y="508"/>
                  </a:lnTo>
                  <a:lnTo>
                    <a:pt x="106" y="489"/>
                  </a:lnTo>
                  <a:lnTo>
                    <a:pt x="124" y="470"/>
                  </a:lnTo>
                  <a:lnTo>
                    <a:pt x="150" y="451"/>
                  </a:lnTo>
                  <a:lnTo>
                    <a:pt x="137" y="433"/>
                  </a:lnTo>
                  <a:lnTo>
                    <a:pt x="137" y="407"/>
                  </a:lnTo>
                  <a:lnTo>
                    <a:pt x="156" y="376"/>
                  </a:lnTo>
                  <a:lnTo>
                    <a:pt x="156" y="344"/>
                  </a:lnTo>
                  <a:lnTo>
                    <a:pt x="144" y="306"/>
                  </a:lnTo>
                  <a:lnTo>
                    <a:pt x="144" y="224"/>
                  </a:lnTo>
                  <a:lnTo>
                    <a:pt x="162" y="150"/>
                  </a:lnTo>
                  <a:lnTo>
                    <a:pt x="156" y="94"/>
                  </a:lnTo>
                  <a:lnTo>
                    <a:pt x="156" y="0"/>
                  </a:lnTo>
                  <a:lnTo>
                    <a:pt x="106" y="142"/>
                  </a:lnTo>
                  <a:lnTo>
                    <a:pt x="62" y="275"/>
                  </a:lnTo>
                  <a:lnTo>
                    <a:pt x="32" y="419"/>
                  </a:lnTo>
                  <a:lnTo>
                    <a:pt x="0" y="514"/>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09" name="Freeform 302"/>
            <p:cNvSpPr>
              <a:spLocks/>
            </p:cNvSpPr>
            <p:nvPr/>
          </p:nvSpPr>
          <p:spPr bwMode="auto">
            <a:xfrm>
              <a:off x="5498" y="1939"/>
              <a:ext cx="48" cy="16"/>
            </a:xfrm>
            <a:custGeom>
              <a:avLst/>
              <a:gdLst>
                <a:gd name="T0" fmla="*/ 0 w 289"/>
                <a:gd name="T1" fmla="*/ 0 h 97"/>
                <a:gd name="T2" fmla="*/ 0 w 289"/>
                <a:gd name="T3" fmla="*/ 0 h 97"/>
                <a:gd name="T4" fmla="*/ 0 w 289"/>
                <a:gd name="T5" fmla="*/ 0 h 97"/>
                <a:gd name="T6" fmla="*/ 0 w 289"/>
                <a:gd name="T7" fmla="*/ 0 h 97"/>
                <a:gd name="T8" fmla="*/ 0 w 289"/>
                <a:gd name="T9" fmla="*/ 0 h 97"/>
                <a:gd name="T10" fmla="*/ 0 w 289"/>
                <a:gd name="T11" fmla="*/ 0 h 97"/>
                <a:gd name="T12" fmla="*/ 0 w 289"/>
                <a:gd name="T13" fmla="*/ 0 h 97"/>
                <a:gd name="T14" fmla="*/ 0 w 289"/>
                <a:gd name="T15" fmla="*/ 0 h 97"/>
                <a:gd name="T16" fmla="*/ 0 w 289"/>
                <a:gd name="T17" fmla="*/ 0 h 97"/>
                <a:gd name="T18" fmla="*/ 0 w 289"/>
                <a:gd name="T19" fmla="*/ 0 h 97"/>
                <a:gd name="T20" fmla="*/ 0 w 289"/>
                <a:gd name="T21" fmla="*/ 0 h 97"/>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289" h="97">
                  <a:moveTo>
                    <a:pt x="232" y="47"/>
                  </a:moveTo>
                  <a:lnTo>
                    <a:pt x="168" y="19"/>
                  </a:lnTo>
                  <a:lnTo>
                    <a:pt x="110" y="4"/>
                  </a:lnTo>
                  <a:lnTo>
                    <a:pt x="32" y="0"/>
                  </a:lnTo>
                  <a:lnTo>
                    <a:pt x="0" y="6"/>
                  </a:lnTo>
                  <a:lnTo>
                    <a:pt x="15" y="37"/>
                  </a:lnTo>
                  <a:lnTo>
                    <a:pt x="45" y="61"/>
                  </a:lnTo>
                  <a:lnTo>
                    <a:pt x="113" y="79"/>
                  </a:lnTo>
                  <a:lnTo>
                    <a:pt x="219" y="97"/>
                  </a:lnTo>
                  <a:lnTo>
                    <a:pt x="289" y="91"/>
                  </a:lnTo>
                  <a:lnTo>
                    <a:pt x="232" y="4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0" name="Freeform 303"/>
            <p:cNvSpPr>
              <a:spLocks/>
            </p:cNvSpPr>
            <p:nvPr/>
          </p:nvSpPr>
          <p:spPr bwMode="auto">
            <a:xfrm>
              <a:off x="5458" y="1947"/>
              <a:ext cx="30" cy="36"/>
            </a:xfrm>
            <a:custGeom>
              <a:avLst/>
              <a:gdLst>
                <a:gd name="T0" fmla="*/ 0 w 176"/>
                <a:gd name="T1" fmla="*/ 0 h 216"/>
                <a:gd name="T2" fmla="*/ 0 w 176"/>
                <a:gd name="T3" fmla="*/ 0 h 216"/>
                <a:gd name="T4" fmla="*/ 0 w 176"/>
                <a:gd name="T5" fmla="*/ 0 h 216"/>
                <a:gd name="T6" fmla="*/ 0 w 176"/>
                <a:gd name="T7" fmla="*/ 0 h 216"/>
                <a:gd name="T8" fmla="*/ 0 w 176"/>
                <a:gd name="T9" fmla="*/ 0 h 216"/>
                <a:gd name="T10" fmla="*/ 0 w 176"/>
                <a:gd name="T11" fmla="*/ 0 h 216"/>
                <a:gd name="T12" fmla="*/ 0 w 176"/>
                <a:gd name="T13" fmla="*/ 0 h 216"/>
                <a:gd name="T14" fmla="*/ 0 w 176"/>
                <a:gd name="T15" fmla="*/ 0 h 216"/>
                <a:gd name="T16" fmla="*/ 0 w 176"/>
                <a:gd name="T17" fmla="*/ 0 h 216"/>
                <a:gd name="T18" fmla="*/ 0 w 176"/>
                <a:gd name="T19" fmla="*/ 0 h 216"/>
                <a:gd name="T20" fmla="*/ 0 w 176"/>
                <a:gd name="T21" fmla="*/ 0 h 216"/>
                <a:gd name="T22" fmla="*/ 0 w 176"/>
                <a:gd name="T23" fmla="*/ 0 h 216"/>
                <a:gd name="T24" fmla="*/ 0 w 176"/>
                <a:gd name="T25" fmla="*/ 0 h 21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76" h="216">
                  <a:moveTo>
                    <a:pt x="81" y="59"/>
                  </a:moveTo>
                  <a:lnTo>
                    <a:pt x="59" y="14"/>
                  </a:lnTo>
                  <a:lnTo>
                    <a:pt x="26" y="0"/>
                  </a:lnTo>
                  <a:lnTo>
                    <a:pt x="3" y="11"/>
                  </a:lnTo>
                  <a:lnTo>
                    <a:pt x="0" y="35"/>
                  </a:lnTo>
                  <a:lnTo>
                    <a:pt x="15" y="76"/>
                  </a:lnTo>
                  <a:lnTo>
                    <a:pt x="40" y="115"/>
                  </a:lnTo>
                  <a:lnTo>
                    <a:pt x="71" y="150"/>
                  </a:lnTo>
                  <a:lnTo>
                    <a:pt x="113" y="185"/>
                  </a:lnTo>
                  <a:lnTo>
                    <a:pt x="176" y="216"/>
                  </a:lnTo>
                  <a:lnTo>
                    <a:pt x="119" y="153"/>
                  </a:lnTo>
                  <a:lnTo>
                    <a:pt x="100" y="108"/>
                  </a:lnTo>
                  <a:lnTo>
                    <a:pt x="81" y="59"/>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1" name="Freeform 304"/>
            <p:cNvSpPr>
              <a:spLocks/>
            </p:cNvSpPr>
            <p:nvPr/>
          </p:nvSpPr>
          <p:spPr bwMode="auto">
            <a:xfrm>
              <a:off x="5506" y="1757"/>
              <a:ext cx="70" cy="44"/>
            </a:xfrm>
            <a:custGeom>
              <a:avLst/>
              <a:gdLst>
                <a:gd name="T0" fmla="*/ 0 w 418"/>
                <a:gd name="T1" fmla="*/ 0 h 260"/>
                <a:gd name="T2" fmla="*/ 0 w 418"/>
                <a:gd name="T3" fmla="*/ 0 h 260"/>
                <a:gd name="T4" fmla="*/ 0 w 418"/>
                <a:gd name="T5" fmla="*/ 0 h 260"/>
                <a:gd name="T6" fmla="*/ 0 w 418"/>
                <a:gd name="T7" fmla="*/ 0 h 260"/>
                <a:gd name="T8" fmla="*/ 0 w 418"/>
                <a:gd name="T9" fmla="*/ 0 h 260"/>
                <a:gd name="T10" fmla="*/ 0 w 418"/>
                <a:gd name="T11" fmla="*/ 0 h 260"/>
                <a:gd name="T12" fmla="*/ 0 w 418"/>
                <a:gd name="T13" fmla="*/ 0 h 260"/>
                <a:gd name="T14" fmla="*/ 0 w 418"/>
                <a:gd name="T15" fmla="*/ 0 h 260"/>
                <a:gd name="T16" fmla="*/ 0 w 418"/>
                <a:gd name="T17" fmla="*/ 0 h 260"/>
                <a:gd name="T18" fmla="*/ 0 w 418"/>
                <a:gd name="T19" fmla="*/ 0 h 260"/>
                <a:gd name="T20" fmla="*/ 0 w 418"/>
                <a:gd name="T21" fmla="*/ 0 h 260"/>
                <a:gd name="T22" fmla="*/ 0 w 418"/>
                <a:gd name="T23" fmla="*/ 0 h 26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418" h="260">
                  <a:moveTo>
                    <a:pt x="0" y="260"/>
                  </a:moveTo>
                  <a:lnTo>
                    <a:pt x="13" y="153"/>
                  </a:lnTo>
                  <a:lnTo>
                    <a:pt x="101" y="116"/>
                  </a:lnTo>
                  <a:lnTo>
                    <a:pt x="220" y="69"/>
                  </a:lnTo>
                  <a:lnTo>
                    <a:pt x="304" y="35"/>
                  </a:lnTo>
                  <a:lnTo>
                    <a:pt x="386" y="0"/>
                  </a:lnTo>
                  <a:lnTo>
                    <a:pt x="418" y="76"/>
                  </a:lnTo>
                  <a:lnTo>
                    <a:pt x="341" y="119"/>
                  </a:lnTo>
                  <a:lnTo>
                    <a:pt x="252" y="150"/>
                  </a:lnTo>
                  <a:lnTo>
                    <a:pt x="182" y="170"/>
                  </a:lnTo>
                  <a:lnTo>
                    <a:pt x="98" y="216"/>
                  </a:lnTo>
                  <a:lnTo>
                    <a:pt x="0" y="26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12" name="Group 305"/>
          <p:cNvGrpSpPr>
            <a:grpSpLocks/>
          </p:cNvGrpSpPr>
          <p:nvPr/>
        </p:nvGrpSpPr>
        <p:grpSpPr bwMode="auto">
          <a:xfrm>
            <a:off x="7199967" y="3333548"/>
            <a:ext cx="144954" cy="180263"/>
            <a:chOff x="5511" y="1960"/>
            <a:chExt cx="144" cy="194"/>
          </a:xfrm>
        </p:grpSpPr>
        <p:sp>
          <p:nvSpPr>
            <p:cNvPr id="313" name="Freeform 306"/>
            <p:cNvSpPr>
              <a:spLocks/>
            </p:cNvSpPr>
            <p:nvPr/>
          </p:nvSpPr>
          <p:spPr bwMode="auto">
            <a:xfrm>
              <a:off x="5511" y="1960"/>
              <a:ext cx="144" cy="194"/>
            </a:xfrm>
            <a:custGeom>
              <a:avLst/>
              <a:gdLst>
                <a:gd name="T0" fmla="*/ 0 w 863"/>
                <a:gd name="T1" fmla="*/ 0 h 1164"/>
                <a:gd name="T2" fmla="*/ 0 w 863"/>
                <a:gd name="T3" fmla="*/ 0 h 1164"/>
                <a:gd name="T4" fmla="*/ 0 w 863"/>
                <a:gd name="T5" fmla="*/ 0 h 1164"/>
                <a:gd name="T6" fmla="*/ 0 w 863"/>
                <a:gd name="T7" fmla="*/ 0 h 1164"/>
                <a:gd name="T8" fmla="*/ 0 w 863"/>
                <a:gd name="T9" fmla="*/ 0 h 1164"/>
                <a:gd name="T10" fmla="*/ 0 w 863"/>
                <a:gd name="T11" fmla="*/ 0 h 1164"/>
                <a:gd name="T12" fmla="*/ 0 w 863"/>
                <a:gd name="T13" fmla="*/ 0 h 1164"/>
                <a:gd name="T14" fmla="*/ 0 w 863"/>
                <a:gd name="T15" fmla="*/ 0 h 1164"/>
                <a:gd name="T16" fmla="*/ 0 w 863"/>
                <a:gd name="T17" fmla="*/ 0 h 1164"/>
                <a:gd name="T18" fmla="*/ 0 w 863"/>
                <a:gd name="T19" fmla="*/ 0 h 1164"/>
                <a:gd name="T20" fmla="*/ 0 w 863"/>
                <a:gd name="T21" fmla="*/ 0 h 1164"/>
                <a:gd name="T22" fmla="*/ 0 w 863"/>
                <a:gd name="T23" fmla="*/ 0 h 1164"/>
                <a:gd name="T24" fmla="*/ 0 w 863"/>
                <a:gd name="T25" fmla="*/ 0 h 1164"/>
                <a:gd name="T26" fmla="*/ 0 w 863"/>
                <a:gd name="T27" fmla="*/ 0 h 1164"/>
                <a:gd name="T28" fmla="*/ 0 w 863"/>
                <a:gd name="T29" fmla="*/ 0 h 1164"/>
                <a:gd name="T30" fmla="*/ 0 w 863"/>
                <a:gd name="T31" fmla="*/ 0 h 1164"/>
                <a:gd name="T32" fmla="*/ 0 w 863"/>
                <a:gd name="T33" fmla="*/ 0 h 1164"/>
                <a:gd name="T34" fmla="*/ 0 w 863"/>
                <a:gd name="T35" fmla="*/ 0 h 1164"/>
                <a:gd name="T36" fmla="*/ 0 w 863"/>
                <a:gd name="T37" fmla="*/ 0 h 1164"/>
                <a:gd name="T38" fmla="*/ 0 w 863"/>
                <a:gd name="T39" fmla="*/ 0 h 1164"/>
                <a:gd name="T40" fmla="*/ 0 w 863"/>
                <a:gd name="T41" fmla="*/ 0 h 1164"/>
                <a:gd name="T42" fmla="*/ 0 w 863"/>
                <a:gd name="T43" fmla="*/ 0 h 1164"/>
                <a:gd name="T44" fmla="*/ 0 w 863"/>
                <a:gd name="T45" fmla="*/ 0 h 1164"/>
                <a:gd name="T46" fmla="*/ 0 w 863"/>
                <a:gd name="T47" fmla="*/ 0 h 1164"/>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863" h="1164">
                  <a:moveTo>
                    <a:pt x="385" y="172"/>
                  </a:moveTo>
                  <a:lnTo>
                    <a:pt x="543" y="158"/>
                  </a:lnTo>
                  <a:lnTo>
                    <a:pt x="637" y="133"/>
                  </a:lnTo>
                  <a:lnTo>
                    <a:pt x="667" y="90"/>
                  </a:lnTo>
                  <a:lnTo>
                    <a:pt x="667" y="52"/>
                  </a:lnTo>
                  <a:lnTo>
                    <a:pt x="694" y="20"/>
                  </a:lnTo>
                  <a:lnTo>
                    <a:pt x="782" y="0"/>
                  </a:lnTo>
                  <a:lnTo>
                    <a:pt x="863" y="7"/>
                  </a:lnTo>
                  <a:lnTo>
                    <a:pt x="763" y="907"/>
                  </a:lnTo>
                  <a:lnTo>
                    <a:pt x="694" y="990"/>
                  </a:lnTo>
                  <a:lnTo>
                    <a:pt x="605" y="1071"/>
                  </a:lnTo>
                  <a:lnTo>
                    <a:pt x="481" y="1134"/>
                  </a:lnTo>
                  <a:lnTo>
                    <a:pt x="334" y="1153"/>
                  </a:lnTo>
                  <a:lnTo>
                    <a:pt x="138" y="1164"/>
                  </a:lnTo>
                  <a:lnTo>
                    <a:pt x="25" y="1147"/>
                  </a:lnTo>
                  <a:lnTo>
                    <a:pt x="0" y="1083"/>
                  </a:lnTo>
                  <a:lnTo>
                    <a:pt x="13" y="1001"/>
                  </a:lnTo>
                  <a:lnTo>
                    <a:pt x="95" y="750"/>
                  </a:lnTo>
                  <a:lnTo>
                    <a:pt x="163" y="499"/>
                  </a:lnTo>
                  <a:lnTo>
                    <a:pt x="195" y="310"/>
                  </a:lnTo>
                  <a:lnTo>
                    <a:pt x="195" y="259"/>
                  </a:lnTo>
                  <a:lnTo>
                    <a:pt x="239" y="190"/>
                  </a:lnTo>
                  <a:lnTo>
                    <a:pt x="291" y="172"/>
                  </a:lnTo>
                  <a:lnTo>
                    <a:pt x="385" y="172"/>
                  </a:lnTo>
                  <a:close/>
                </a:path>
              </a:pathLst>
            </a:custGeom>
            <a:solidFill>
              <a:srgbClr val="40404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14" name="Freeform 307"/>
            <p:cNvSpPr>
              <a:spLocks/>
            </p:cNvSpPr>
            <p:nvPr/>
          </p:nvSpPr>
          <p:spPr bwMode="auto">
            <a:xfrm>
              <a:off x="5528" y="1970"/>
              <a:ext cx="124" cy="177"/>
            </a:xfrm>
            <a:custGeom>
              <a:avLst/>
              <a:gdLst>
                <a:gd name="T0" fmla="*/ 0 w 743"/>
                <a:gd name="T1" fmla="*/ 0 h 1068"/>
                <a:gd name="T2" fmla="*/ 0 w 743"/>
                <a:gd name="T3" fmla="*/ 0 h 1068"/>
                <a:gd name="T4" fmla="*/ 0 w 743"/>
                <a:gd name="T5" fmla="*/ 0 h 1068"/>
                <a:gd name="T6" fmla="*/ 0 w 743"/>
                <a:gd name="T7" fmla="*/ 0 h 1068"/>
                <a:gd name="T8" fmla="*/ 0 w 743"/>
                <a:gd name="T9" fmla="*/ 0 h 1068"/>
                <a:gd name="T10" fmla="*/ 0 w 743"/>
                <a:gd name="T11" fmla="*/ 0 h 1068"/>
                <a:gd name="T12" fmla="*/ 0 w 743"/>
                <a:gd name="T13" fmla="*/ 0 h 1068"/>
                <a:gd name="T14" fmla="*/ 0 w 743"/>
                <a:gd name="T15" fmla="*/ 0 h 1068"/>
                <a:gd name="T16" fmla="*/ 0 w 743"/>
                <a:gd name="T17" fmla="*/ 0 h 1068"/>
                <a:gd name="T18" fmla="*/ 0 w 743"/>
                <a:gd name="T19" fmla="*/ 0 h 1068"/>
                <a:gd name="T20" fmla="*/ 0 w 743"/>
                <a:gd name="T21" fmla="*/ 0 h 1068"/>
                <a:gd name="T22" fmla="*/ 0 w 743"/>
                <a:gd name="T23" fmla="*/ 0 h 1068"/>
                <a:gd name="T24" fmla="*/ 0 w 743"/>
                <a:gd name="T25" fmla="*/ 0 h 1068"/>
                <a:gd name="T26" fmla="*/ 0 w 743"/>
                <a:gd name="T27" fmla="*/ 0 h 1068"/>
                <a:gd name="T28" fmla="*/ 0 w 743"/>
                <a:gd name="T29" fmla="*/ 0 h 1068"/>
                <a:gd name="T30" fmla="*/ 0 w 743"/>
                <a:gd name="T31" fmla="*/ 0 h 1068"/>
                <a:gd name="T32" fmla="*/ 0 w 743"/>
                <a:gd name="T33" fmla="*/ 0 h 1068"/>
                <a:gd name="T34" fmla="*/ 0 w 743"/>
                <a:gd name="T35" fmla="*/ 0 h 1068"/>
                <a:gd name="T36" fmla="*/ 0 w 743"/>
                <a:gd name="T37" fmla="*/ 0 h 1068"/>
                <a:gd name="T38" fmla="*/ 0 w 743"/>
                <a:gd name="T39" fmla="*/ 0 h 1068"/>
                <a:gd name="T40" fmla="*/ 0 w 743"/>
                <a:gd name="T41" fmla="*/ 0 h 1068"/>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743" h="1068">
                  <a:moveTo>
                    <a:pt x="257" y="214"/>
                  </a:moveTo>
                  <a:lnTo>
                    <a:pt x="397" y="207"/>
                  </a:lnTo>
                  <a:lnTo>
                    <a:pt x="542" y="182"/>
                  </a:lnTo>
                  <a:lnTo>
                    <a:pt x="628" y="138"/>
                  </a:lnTo>
                  <a:lnTo>
                    <a:pt x="679" y="100"/>
                  </a:lnTo>
                  <a:lnTo>
                    <a:pt x="743" y="0"/>
                  </a:lnTo>
                  <a:lnTo>
                    <a:pt x="648" y="822"/>
                  </a:lnTo>
                  <a:lnTo>
                    <a:pt x="585" y="898"/>
                  </a:lnTo>
                  <a:lnTo>
                    <a:pt x="516" y="967"/>
                  </a:lnTo>
                  <a:lnTo>
                    <a:pt x="428" y="1016"/>
                  </a:lnTo>
                  <a:lnTo>
                    <a:pt x="353" y="1042"/>
                  </a:lnTo>
                  <a:lnTo>
                    <a:pt x="257" y="1055"/>
                  </a:lnTo>
                  <a:lnTo>
                    <a:pt x="170" y="1068"/>
                  </a:lnTo>
                  <a:lnTo>
                    <a:pt x="69" y="1068"/>
                  </a:lnTo>
                  <a:lnTo>
                    <a:pt x="24" y="1055"/>
                  </a:lnTo>
                  <a:lnTo>
                    <a:pt x="0" y="1016"/>
                  </a:lnTo>
                  <a:lnTo>
                    <a:pt x="11" y="956"/>
                  </a:lnTo>
                  <a:lnTo>
                    <a:pt x="75" y="809"/>
                  </a:lnTo>
                  <a:lnTo>
                    <a:pt x="184" y="321"/>
                  </a:lnTo>
                  <a:lnTo>
                    <a:pt x="201" y="252"/>
                  </a:lnTo>
                  <a:lnTo>
                    <a:pt x="257" y="214"/>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15" name="Oval 308"/>
          <p:cNvSpPr>
            <a:spLocks noChangeArrowheads="1"/>
          </p:cNvSpPr>
          <p:nvPr/>
        </p:nvSpPr>
        <p:spPr bwMode="auto">
          <a:xfrm>
            <a:off x="6729874" y="3187665"/>
            <a:ext cx="189245" cy="94777"/>
          </a:xfrm>
          <a:prstGeom prst="ellipse">
            <a:avLst/>
          </a:prstGeom>
          <a:solidFill>
            <a:schemeClr val="bg1"/>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6" name="Oval 309"/>
          <p:cNvSpPr>
            <a:spLocks noChangeArrowheads="1"/>
          </p:cNvSpPr>
          <p:nvPr/>
        </p:nvSpPr>
        <p:spPr bwMode="auto">
          <a:xfrm>
            <a:off x="2763778" y="3028773"/>
            <a:ext cx="822411" cy="759149"/>
          </a:xfrm>
          <a:prstGeom prst="ellipse">
            <a:avLst/>
          </a:prstGeom>
          <a:solidFill>
            <a:srgbClr val="00FFCC"/>
          </a:solidFill>
          <a:ln w="9525">
            <a:solidFill>
              <a:schemeClr val="tx1"/>
            </a:solidFill>
            <a:round/>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grpSp>
        <p:nvGrpSpPr>
          <p:cNvPr id="317" name="Group 310"/>
          <p:cNvGrpSpPr>
            <a:grpSpLocks/>
          </p:cNvGrpSpPr>
          <p:nvPr/>
        </p:nvGrpSpPr>
        <p:grpSpPr bwMode="auto">
          <a:xfrm>
            <a:off x="3006374" y="3092887"/>
            <a:ext cx="289908" cy="267607"/>
            <a:chOff x="2351" y="2975"/>
            <a:chExt cx="481" cy="433"/>
          </a:xfrm>
          <a:effectLst/>
        </p:grpSpPr>
        <p:sp>
          <p:nvSpPr>
            <p:cNvPr id="318" name="Rectangle 311"/>
            <p:cNvSpPr>
              <a:spLocks noChangeArrowheads="1"/>
            </p:cNvSpPr>
            <p:nvPr/>
          </p:nvSpPr>
          <p:spPr bwMode="auto">
            <a:xfrm rot="-5400000">
              <a:off x="2376" y="2952"/>
              <a:ext cx="432" cy="480"/>
            </a:xfrm>
            <a:prstGeom prst="rect">
              <a:avLst/>
            </a:prstGeom>
            <a:solidFill>
              <a:srgbClr val="CCECFF"/>
            </a:solidFill>
            <a:ln w="1905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19" name="Line 312"/>
            <p:cNvSpPr>
              <a:spLocks noChangeShapeType="1"/>
            </p:cNvSpPr>
            <p:nvPr/>
          </p:nvSpPr>
          <p:spPr bwMode="auto">
            <a:xfrm rot="10800000">
              <a:off x="2351" y="332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0" name="Line 313"/>
            <p:cNvSpPr>
              <a:spLocks noChangeShapeType="1"/>
            </p:cNvSpPr>
            <p:nvPr/>
          </p:nvSpPr>
          <p:spPr bwMode="auto">
            <a:xfrm rot="10800000">
              <a:off x="2351" y="3234"/>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1" name="Line 314"/>
            <p:cNvSpPr>
              <a:spLocks noChangeShapeType="1"/>
            </p:cNvSpPr>
            <p:nvPr/>
          </p:nvSpPr>
          <p:spPr bwMode="auto">
            <a:xfrm rot="10800000">
              <a:off x="2351" y="3148"/>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2" name="Line 315"/>
            <p:cNvSpPr>
              <a:spLocks noChangeShapeType="1"/>
            </p:cNvSpPr>
            <p:nvPr/>
          </p:nvSpPr>
          <p:spPr bwMode="auto">
            <a:xfrm rot="10800000">
              <a:off x="2351" y="3061"/>
              <a:ext cx="4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3" name="Line 316"/>
            <p:cNvSpPr>
              <a:spLocks noChangeShapeType="1"/>
            </p:cNvSpPr>
            <p:nvPr/>
          </p:nvSpPr>
          <p:spPr bwMode="auto">
            <a:xfrm rot="5400000">
              <a:off x="2519"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4" name="Line 317"/>
            <p:cNvSpPr>
              <a:spLocks noChangeShapeType="1"/>
            </p:cNvSpPr>
            <p:nvPr/>
          </p:nvSpPr>
          <p:spPr bwMode="auto">
            <a:xfrm rot="5400000">
              <a:off x="2423"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5" name="Line 318"/>
            <p:cNvSpPr>
              <a:spLocks noChangeShapeType="1"/>
            </p:cNvSpPr>
            <p:nvPr/>
          </p:nvSpPr>
          <p:spPr bwMode="auto">
            <a:xfrm rot="5400000">
              <a:off x="2327"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26" name="Line 319"/>
            <p:cNvSpPr>
              <a:spLocks noChangeShapeType="1"/>
            </p:cNvSpPr>
            <p:nvPr/>
          </p:nvSpPr>
          <p:spPr bwMode="auto">
            <a:xfrm rot="5400000">
              <a:off x="2231" y="3191"/>
              <a:ext cx="43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27" name="Group 320"/>
          <p:cNvGrpSpPr>
            <a:grpSpLocks/>
          </p:cNvGrpSpPr>
          <p:nvPr/>
        </p:nvGrpSpPr>
        <p:grpSpPr bwMode="auto">
          <a:xfrm>
            <a:off x="2939937" y="3416246"/>
            <a:ext cx="463047" cy="267607"/>
            <a:chOff x="1296" y="768"/>
            <a:chExt cx="556" cy="336"/>
          </a:xfrm>
          <a:effectLst/>
        </p:grpSpPr>
        <p:sp>
          <p:nvSpPr>
            <p:cNvPr id="328" name="Rectangle 321"/>
            <p:cNvSpPr>
              <a:spLocks noChangeArrowheads="1"/>
            </p:cNvSpPr>
            <p:nvPr/>
          </p:nvSpPr>
          <p:spPr bwMode="auto">
            <a:xfrm>
              <a:off x="1296" y="768"/>
              <a:ext cx="556" cy="336"/>
            </a:xfrm>
            <a:prstGeom prst="rect">
              <a:avLst/>
            </a:prstGeom>
            <a:solidFill>
              <a:srgbClr val="FFFF99"/>
            </a:solidFill>
            <a:ln w="12700">
              <a:solidFill>
                <a:schemeClr val="tx1"/>
              </a:solidFill>
              <a:miter lim="800000"/>
              <a:headEnd/>
              <a:tailEnd/>
            </a:ln>
            <a:effectLst>
              <a:outerShdw dist="35921" dir="2700000" algn="ctr" rotWithShape="0">
                <a:schemeClr val="bg2"/>
              </a:outerShdw>
            </a:effectLst>
          </p:spPr>
          <p:txBody>
            <a:bodyPr wrap="none" anchor="ctr"/>
            <a:lstStyle/>
            <a:p>
              <a:pPr algn="ctr" eaLnBrk="1" hangingPunct="1"/>
              <a:endParaRPr kumimoji="1" lang="zh-CN" altLang="zh-CN" sz="900" b="1" dirty="0">
                <a:latin typeface="微软雅黑 Light" panose="020B0502040204020203" pitchFamily="34" charset="-122"/>
                <a:ea typeface="微软雅黑 Light" panose="020B0502040204020203" pitchFamily="34" charset="-122"/>
              </a:endParaRPr>
            </a:p>
          </p:txBody>
        </p:sp>
        <p:grpSp>
          <p:nvGrpSpPr>
            <p:cNvPr id="329" name="Group 322"/>
            <p:cNvGrpSpPr>
              <a:grpSpLocks/>
            </p:cNvGrpSpPr>
            <p:nvPr/>
          </p:nvGrpSpPr>
          <p:grpSpPr bwMode="auto">
            <a:xfrm>
              <a:off x="1367" y="829"/>
              <a:ext cx="393" cy="214"/>
              <a:chOff x="2928" y="3744"/>
              <a:chExt cx="528" cy="336"/>
            </a:xfrm>
          </p:grpSpPr>
          <p:grpSp>
            <p:nvGrpSpPr>
              <p:cNvPr id="330" name="Group 323"/>
              <p:cNvGrpSpPr>
                <a:grpSpLocks/>
              </p:cNvGrpSpPr>
              <p:nvPr/>
            </p:nvGrpSpPr>
            <p:grpSpPr bwMode="auto">
              <a:xfrm>
                <a:off x="3024" y="3744"/>
                <a:ext cx="432" cy="240"/>
                <a:chOff x="2736" y="3648"/>
                <a:chExt cx="432" cy="240"/>
              </a:xfrm>
            </p:grpSpPr>
            <p:grpSp>
              <p:nvGrpSpPr>
                <p:cNvPr id="345" name="Group 324"/>
                <p:cNvGrpSpPr>
                  <a:grpSpLocks/>
                </p:cNvGrpSpPr>
                <p:nvPr/>
              </p:nvGrpSpPr>
              <p:grpSpPr bwMode="auto">
                <a:xfrm>
                  <a:off x="2736" y="3648"/>
                  <a:ext cx="432" cy="240"/>
                  <a:chOff x="2592" y="3504"/>
                  <a:chExt cx="576" cy="384"/>
                </a:xfrm>
              </p:grpSpPr>
              <p:sp>
                <p:nvSpPr>
                  <p:cNvPr id="347" name="Rectangle 325"/>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8" name="Freeform 326"/>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9" name="Line 327"/>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0" name="Line 328"/>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6" name="Line 329"/>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1" name="Group 330"/>
              <p:cNvGrpSpPr>
                <a:grpSpLocks/>
              </p:cNvGrpSpPr>
              <p:nvPr/>
            </p:nvGrpSpPr>
            <p:grpSpPr bwMode="auto">
              <a:xfrm>
                <a:off x="2976" y="3792"/>
                <a:ext cx="432" cy="240"/>
                <a:chOff x="2736" y="3648"/>
                <a:chExt cx="432" cy="240"/>
              </a:xfrm>
            </p:grpSpPr>
            <p:grpSp>
              <p:nvGrpSpPr>
                <p:cNvPr id="339" name="Group 331"/>
                <p:cNvGrpSpPr>
                  <a:grpSpLocks/>
                </p:cNvGrpSpPr>
                <p:nvPr/>
              </p:nvGrpSpPr>
              <p:grpSpPr bwMode="auto">
                <a:xfrm>
                  <a:off x="2736" y="3648"/>
                  <a:ext cx="432" cy="240"/>
                  <a:chOff x="2592" y="3504"/>
                  <a:chExt cx="576" cy="384"/>
                </a:xfrm>
              </p:grpSpPr>
              <p:sp>
                <p:nvSpPr>
                  <p:cNvPr id="341" name="Rectangle 332"/>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2" name="Freeform 333"/>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3" name="Line 334"/>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44" name="Line 335"/>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40" name="Line 336"/>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nvGrpSpPr>
              <p:cNvPr id="332" name="Group 337"/>
              <p:cNvGrpSpPr>
                <a:grpSpLocks/>
              </p:cNvGrpSpPr>
              <p:nvPr/>
            </p:nvGrpSpPr>
            <p:grpSpPr bwMode="auto">
              <a:xfrm>
                <a:off x="2928" y="3840"/>
                <a:ext cx="432" cy="240"/>
                <a:chOff x="2736" y="3648"/>
                <a:chExt cx="432" cy="240"/>
              </a:xfrm>
            </p:grpSpPr>
            <p:grpSp>
              <p:nvGrpSpPr>
                <p:cNvPr id="333" name="Group 338"/>
                <p:cNvGrpSpPr>
                  <a:grpSpLocks/>
                </p:cNvGrpSpPr>
                <p:nvPr/>
              </p:nvGrpSpPr>
              <p:grpSpPr bwMode="auto">
                <a:xfrm>
                  <a:off x="2736" y="3648"/>
                  <a:ext cx="432" cy="240"/>
                  <a:chOff x="2592" y="3504"/>
                  <a:chExt cx="576" cy="384"/>
                </a:xfrm>
              </p:grpSpPr>
              <p:sp>
                <p:nvSpPr>
                  <p:cNvPr id="335" name="Rectangle 339"/>
                  <p:cNvSpPr>
                    <a:spLocks noChangeArrowheads="1"/>
                  </p:cNvSpPr>
                  <p:nvPr/>
                </p:nvSpPr>
                <p:spPr bwMode="auto">
                  <a:xfrm>
                    <a:off x="2592" y="3504"/>
                    <a:ext cx="576" cy="384"/>
                  </a:xfrm>
                  <a:prstGeom prst="rect">
                    <a:avLst/>
                  </a:prstGeom>
                  <a:solidFill>
                    <a:srgbClr val="FF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6" name="Freeform 340"/>
                  <p:cNvSpPr>
                    <a:spLocks/>
                  </p:cNvSpPr>
                  <p:nvPr/>
                </p:nvSpPr>
                <p:spPr bwMode="auto">
                  <a:xfrm>
                    <a:off x="2592" y="3504"/>
                    <a:ext cx="576" cy="240"/>
                  </a:xfrm>
                  <a:custGeom>
                    <a:avLst/>
                    <a:gdLst>
                      <a:gd name="T0" fmla="*/ 0 w 576"/>
                      <a:gd name="T1" fmla="*/ 0 h 240"/>
                      <a:gd name="T2" fmla="*/ 288 w 576"/>
                      <a:gd name="T3" fmla="*/ 240 h 240"/>
                      <a:gd name="T4" fmla="*/ 576 w 576"/>
                      <a:gd name="T5" fmla="*/ 0 h 240"/>
                      <a:gd name="T6" fmla="*/ 0 60000 65536"/>
                      <a:gd name="T7" fmla="*/ 0 60000 65536"/>
                      <a:gd name="T8" fmla="*/ 0 60000 65536"/>
                    </a:gdLst>
                    <a:ahLst/>
                    <a:cxnLst>
                      <a:cxn ang="T6">
                        <a:pos x="T0" y="T1"/>
                      </a:cxn>
                      <a:cxn ang="T7">
                        <a:pos x="T2" y="T3"/>
                      </a:cxn>
                      <a:cxn ang="T8">
                        <a:pos x="T4" y="T5"/>
                      </a:cxn>
                    </a:cxnLst>
                    <a:rect l="0" t="0" r="r" b="b"/>
                    <a:pathLst>
                      <a:path w="576" h="240">
                        <a:moveTo>
                          <a:pt x="0" y="0"/>
                        </a:moveTo>
                        <a:lnTo>
                          <a:pt x="288" y="240"/>
                        </a:lnTo>
                        <a:lnTo>
                          <a:pt x="576" y="0"/>
                        </a:lnTo>
                      </a:path>
                    </a:pathLst>
                  </a:custGeom>
                  <a:solidFill>
                    <a:srgbClr val="FFFF99"/>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7" name="Line 341"/>
                  <p:cNvSpPr>
                    <a:spLocks noChangeShapeType="1"/>
                  </p:cNvSpPr>
                  <p:nvPr/>
                </p:nvSpPr>
                <p:spPr bwMode="auto">
                  <a:xfrm flipV="1">
                    <a:off x="2592"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38" name="Line 342"/>
                  <p:cNvSpPr>
                    <a:spLocks noChangeShapeType="1"/>
                  </p:cNvSpPr>
                  <p:nvPr/>
                </p:nvSpPr>
                <p:spPr bwMode="auto">
                  <a:xfrm flipH="1" flipV="1">
                    <a:off x="2936" y="3704"/>
                    <a:ext cx="232" cy="18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sp>
              <p:nvSpPr>
                <p:cNvPr id="334" name="Line 343"/>
                <p:cNvSpPr>
                  <a:spLocks noChangeShapeType="1"/>
                </p:cNvSpPr>
                <p:nvPr/>
              </p:nvSpPr>
              <p:spPr bwMode="auto">
                <a:xfrm>
                  <a:off x="2736" y="3648"/>
                  <a:ext cx="4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pSp>
      </p:grpSp>
      <p:sp>
        <p:nvSpPr>
          <p:cNvPr id="351" name="Freeform 344"/>
          <p:cNvSpPr>
            <a:spLocks/>
          </p:cNvSpPr>
          <p:nvPr/>
        </p:nvSpPr>
        <p:spPr bwMode="auto">
          <a:xfrm>
            <a:off x="2220201" y="3228550"/>
            <a:ext cx="785167" cy="290837"/>
          </a:xfrm>
          <a:custGeom>
            <a:avLst/>
            <a:gdLst>
              <a:gd name="T0" fmla="*/ 0 w 780"/>
              <a:gd name="T1" fmla="*/ 2147483646 h 313"/>
              <a:gd name="T2" fmla="*/ 2147483646 w 780"/>
              <a:gd name="T3" fmla="*/ 2147483646 h 313"/>
              <a:gd name="T4" fmla="*/ 2147483646 w 780"/>
              <a:gd name="T5" fmla="*/ 2147483646 h 313"/>
              <a:gd name="T6" fmla="*/ 2147483646 w 780"/>
              <a:gd name="T7" fmla="*/ 2147483646 h 313"/>
              <a:gd name="T8" fmla="*/ 2147483646 w 780"/>
              <a:gd name="T9" fmla="*/ 2147483646 h 313"/>
              <a:gd name="T10" fmla="*/ 2147483646 w 780"/>
              <a:gd name="T11" fmla="*/ 2147483646 h 31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80" h="313">
                <a:moveTo>
                  <a:pt x="0" y="99"/>
                </a:moveTo>
                <a:cubicBezTo>
                  <a:pt x="38" y="85"/>
                  <a:pt x="154" y="26"/>
                  <a:pt x="228" y="13"/>
                </a:cubicBezTo>
                <a:cubicBezTo>
                  <a:pt x="302" y="0"/>
                  <a:pt x="385" y="10"/>
                  <a:pt x="444" y="19"/>
                </a:cubicBezTo>
                <a:cubicBezTo>
                  <a:pt x="503" y="28"/>
                  <a:pt x="534" y="34"/>
                  <a:pt x="582" y="67"/>
                </a:cubicBezTo>
                <a:cubicBezTo>
                  <a:pt x="630" y="100"/>
                  <a:pt x="699" y="176"/>
                  <a:pt x="732" y="217"/>
                </a:cubicBezTo>
                <a:cubicBezTo>
                  <a:pt x="765" y="258"/>
                  <a:pt x="768" y="289"/>
                  <a:pt x="780" y="313"/>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2" name="Freeform 345"/>
          <p:cNvSpPr>
            <a:spLocks/>
          </p:cNvSpPr>
          <p:nvPr/>
        </p:nvSpPr>
        <p:spPr bwMode="auto">
          <a:xfrm>
            <a:off x="3198639" y="2876385"/>
            <a:ext cx="2829619" cy="598399"/>
          </a:xfrm>
          <a:custGeom>
            <a:avLst/>
            <a:gdLst>
              <a:gd name="T0" fmla="*/ 0 w 2811"/>
              <a:gd name="T1" fmla="*/ 2147483646 h 644"/>
              <a:gd name="T2" fmla="*/ 2147483646 w 2811"/>
              <a:gd name="T3" fmla="*/ 2147483646 h 644"/>
              <a:gd name="T4" fmla="*/ 2147483646 w 2811"/>
              <a:gd name="T5" fmla="*/ 2147483646 h 644"/>
              <a:gd name="T6" fmla="*/ 2147483646 w 2811"/>
              <a:gd name="T7" fmla="*/ 2147483646 h 644"/>
              <a:gd name="T8" fmla="*/ 2147483646 w 2811"/>
              <a:gd name="T9" fmla="*/ 2147483646 h 644"/>
              <a:gd name="T10" fmla="*/ 2147483646 w 2811"/>
              <a:gd name="T11" fmla="*/ 2147483646 h 644"/>
              <a:gd name="T12" fmla="*/ 2147483646 w 2811"/>
              <a:gd name="T13" fmla="*/ 2147483646 h 64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811" h="644">
                <a:moveTo>
                  <a:pt x="0" y="644"/>
                </a:moveTo>
                <a:cubicBezTo>
                  <a:pt x="81" y="585"/>
                  <a:pt x="354" y="376"/>
                  <a:pt x="488" y="292"/>
                </a:cubicBezTo>
                <a:cubicBezTo>
                  <a:pt x="622" y="208"/>
                  <a:pt x="688" y="181"/>
                  <a:pt x="807" y="137"/>
                </a:cubicBezTo>
                <a:cubicBezTo>
                  <a:pt x="926" y="93"/>
                  <a:pt x="1051" y="49"/>
                  <a:pt x="1200" y="28"/>
                </a:cubicBezTo>
                <a:cubicBezTo>
                  <a:pt x="1349" y="7"/>
                  <a:pt x="1533" y="0"/>
                  <a:pt x="1704" y="12"/>
                </a:cubicBezTo>
                <a:cubicBezTo>
                  <a:pt x="1875" y="24"/>
                  <a:pt x="2042" y="45"/>
                  <a:pt x="2226" y="98"/>
                </a:cubicBezTo>
                <a:cubicBezTo>
                  <a:pt x="2410" y="151"/>
                  <a:pt x="2689" y="281"/>
                  <a:pt x="2811" y="32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3" name="Freeform 346"/>
          <p:cNvSpPr>
            <a:spLocks/>
          </p:cNvSpPr>
          <p:nvPr/>
        </p:nvSpPr>
        <p:spPr bwMode="auto">
          <a:xfrm>
            <a:off x="6090669" y="3048286"/>
            <a:ext cx="731815" cy="203493"/>
          </a:xfrm>
          <a:custGeom>
            <a:avLst/>
            <a:gdLst>
              <a:gd name="T0" fmla="*/ 0 w 727"/>
              <a:gd name="T1" fmla="*/ 2147483646 h 219"/>
              <a:gd name="T2" fmla="*/ 2147483646 w 727"/>
              <a:gd name="T3" fmla="*/ 2147483646 h 219"/>
              <a:gd name="T4" fmla="*/ 2147483646 w 727"/>
              <a:gd name="T5" fmla="*/ 2147483646 h 219"/>
              <a:gd name="T6" fmla="*/ 2147483646 w 727"/>
              <a:gd name="T7" fmla="*/ 2147483646 h 219"/>
              <a:gd name="T8" fmla="*/ 2147483646 w 727"/>
              <a:gd name="T9" fmla="*/ 2147483646 h 219"/>
              <a:gd name="T10" fmla="*/ 2147483646 w 727"/>
              <a:gd name="T11" fmla="*/ 2147483646 h 219"/>
              <a:gd name="T12" fmla="*/ 2147483646 w 727"/>
              <a:gd name="T13" fmla="*/ 2147483646 h 2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727" h="219">
                <a:moveTo>
                  <a:pt x="0" y="129"/>
                </a:moveTo>
                <a:cubicBezTo>
                  <a:pt x="24" y="114"/>
                  <a:pt x="107" y="58"/>
                  <a:pt x="145" y="38"/>
                </a:cubicBezTo>
                <a:cubicBezTo>
                  <a:pt x="183" y="18"/>
                  <a:pt x="202" y="15"/>
                  <a:pt x="229" y="9"/>
                </a:cubicBezTo>
                <a:cubicBezTo>
                  <a:pt x="256" y="3"/>
                  <a:pt x="282" y="3"/>
                  <a:pt x="307" y="3"/>
                </a:cubicBezTo>
                <a:cubicBezTo>
                  <a:pt x="332" y="3"/>
                  <a:pt x="353" y="0"/>
                  <a:pt x="382" y="6"/>
                </a:cubicBezTo>
                <a:cubicBezTo>
                  <a:pt x="411" y="12"/>
                  <a:pt x="423" y="3"/>
                  <a:pt x="481" y="39"/>
                </a:cubicBezTo>
                <a:cubicBezTo>
                  <a:pt x="539" y="75"/>
                  <a:pt x="676" y="182"/>
                  <a:pt x="727" y="219"/>
                </a:cubicBezTo>
              </a:path>
            </a:pathLst>
          </a:custGeom>
          <a:noFill/>
          <a:ln w="38100" cap="flat" cmpd="sng">
            <a:solidFill>
              <a:srgbClr val="FF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4" name="Text Box 347"/>
          <p:cNvSpPr txBox="1">
            <a:spLocks noChangeArrowheads="1"/>
          </p:cNvSpPr>
          <p:nvPr/>
        </p:nvSpPr>
        <p:spPr bwMode="auto">
          <a:xfrm>
            <a:off x="4452133" y="268868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5" name="Text Box 348"/>
          <p:cNvSpPr txBox="1">
            <a:spLocks noChangeArrowheads="1"/>
          </p:cNvSpPr>
          <p:nvPr/>
        </p:nvSpPr>
        <p:spPr bwMode="auto">
          <a:xfrm>
            <a:off x="2363458" y="3021339"/>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SMTP</a:t>
            </a:r>
          </a:p>
        </p:txBody>
      </p:sp>
      <p:sp>
        <p:nvSpPr>
          <p:cNvPr id="356" name="Text Box 349"/>
          <p:cNvSpPr txBox="1">
            <a:spLocks noChangeArrowheads="1"/>
          </p:cNvSpPr>
          <p:nvPr/>
        </p:nvSpPr>
        <p:spPr bwMode="auto">
          <a:xfrm>
            <a:off x="6208592" y="281936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POP3</a:t>
            </a:r>
          </a:p>
        </p:txBody>
      </p:sp>
      <p:sp>
        <p:nvSpPr>
          <p:cNvPr id="357" name="Text Box 350"/>
          <p:cNvSpPr txBox="1">
            <a:spLocks noChangeArrowheads="1"/>
          </p:cNvSpPr>
          <p:nvPr/>
        </p:nvSpPr>
        <p:spPr bwMode="auto">
          <a:xfrm>
            <a:off x="3246958" y="3967255"/>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   </a:t>
            </a:r>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latin typeface="微软雅黑 Light" panose="020B0502040204020203" pitchFamily="34" charset="-122"/>
                <a:ea typeface="微软雅黑 Light" panose="020B0502040204020203" pitchFamily="34" charset="-122"/>
              </a:rPr>
              <a:t>邮件服务器</a:t>
            </a:r>
          </a:p>
        </p:txBody>
      </p:sp>
      <p:sp>
        <p:nvSpPr>
          <p:cNvPr id="358" name="Line 351"/>
          <p:cNvSpPr>
            <a:spLocks noChangeShapeType="1"/>
          </p:cNvSpPr>
          <p:nvPr/>
        </p:nvSpPr>
        <p:spPr bwMode="auto">
          <a:xfrm flipH="1" flipV="1">
            <a:off x="6849663" y="3219256"/>
            <a:ext cx="85563" cy="67645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59" name="Line 352"/>
          <p:cNvSpPr>
            <a:spLocks noChangeShapeType="1"/>
          </p:cNvSpPr>
          <p:nvPr/>
        </p:nvSpPr>
        <p:spPr bwMode="auto">
          <a:xfrm flipV="1">
            <a:off x="2715460" y="3608588"/>
            <a:ext cx="386543" cy="356809"/>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0" name="Line 353"/>
          <p:cNvSpPr>
            <a:spLocks noChangeShapeType="1"/>
          </p:cNvSpPr>
          <p:nvPr/>
        </p:nvSpPr>
        <p:spPr bwMode="auto">
          <a:xfrm flipV="1">
            <a:off x="2119539" y="3330760"/>
            <a:ext cx="109722" cy="5129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1" name="Text Box 354"/>
          <p:cNvSpPr txBox="1">
            <a:spLocks noChangeArrowheads="1"/>
          </p:cNvSpPr>
          <p:nvPr/>
        </p:nvSpPr>
        <p:spPr bwMode="auto">
          <a:xfrm>
            <a:off x="1797420" y="3839482"/>
            <a:ext cx="646331"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用户代理</a:t>
            </a:r>
          </a:p>
        </p:txBody>
      </p:sp>
      <p:sp>
        <p:nvSpPr>
          <p:cNvPr id="362" name="Text Box 355"/>
          <p:cNvSpPr txBox="1">
            <a:spLocks noChangeArrowheads="1"/>
          </p:cNvSpPr>
          <p:nvPr/>
        </p:nvSpPr>
        <p:spPr bwMode="auto">
          <a:xfrm>
            <a:off x="5421264" y="2611566"/>
            <a:ext cx="646331" cy="2308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用户邮箱</a:t>
            </a:r>
          </a:p>
        </p:txBody>
      </p:sp>
      <p:sp>
        <p:nvSpPr>
          <p:cNvPr id="363" name="Line 356"/>
          <p:cNvSpPr>
            <a:spLocks noChangeShapeType="1"/>
          </p:cNvSpPr>
          <p:nvPr/>
        </p:nvSpPr>
        <p:spPr bwMode="auto">
          <a:xfrm rot="10800000" flipH="1" flipV="1">
            <a:off x="5759489" y="2805767"/>
            <a:ext cx="278835" cy="26017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4" name="Text Box 357"/>
          <p:cNvSpPr txBox="1">
            <a:spLocks noChangeArrowheads="1"/>
          </p:cNvSpPr>
          <p:nvPr/>
        </p:nvSpPr>
        <p:spPr bwMode="auto">
          <a:xfrm>
            <a:off x="6898987" y="2789971"/>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p:txBody>
      </p:sp>
      <p:sp>
        <p:nvSpPr>
          <p:cNvPr id="365" name="Line 358"/>
          <p:cNvSpPr>
            <a:spLocks noChangeShapeType="1"/>
          </p:cNvSpPr>
          <p:nvPr/>
        </p:nvSpPr>
        <p:spPr bwMode="auto">
          <a:xfrm flipV="1">
            <a:off x="5517900" y="3761905"/>
            <a:ext cx="377484" cy="23601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6" name="Line 359"/>
          <p:cNvSpPr>
            <a:spLocks noChangeShapeType="1"/>
          </p:cNvSpPr>
          <p:nvPr/>
        </p:nvSpPr>
        <p:spPr bwMode="auto">
          <a:xfrm flipH="1" flipV="1">
            <a:off x="3295275" y="3786993"/>
            <a:ext cx="277828" cy="217431"/>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67" name="Text Box 375"/>
          <p:cNvSpPr txBox="1">
            <a:spLocks noChangeArrowheads="1"/>
          </p:cNvSpPr>
          <p:nvPr/>
        </p:nvSpPr>
        <p:spPr bwMode="auto">
          <a:xfrm>
            <a:off x="2238321" y="2864306"/>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68" name="Text Box 376"/>
          <p:cNvSpPr txBox="1">
            <a:spLocks noChangeArrowheads="1"/>
          </p:cNvSpPr>
          <p:nvPr/>
        </p:nvSpPr>
        <p:spPr bwMode="auto">
          <a:xfrm>
            <a:off x="4248816" y="2525725"/>
            <a:ext cx="877163"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（发送邮件）</a:t>
            </a:r>
          </a:p>
        </p:txBody>
      </p:sp>
      <p:sp>
        <p:nvSpPr>
          <p:cNvPr id="369" name="Text Box 379"/>
          <p:cNvSpPr txBox="1">
            <a:spLocks noChangeArrowheads="1"/>
          </p:cNvSpPr>
          <p:nvPr/>
        </p:nvSpPr>
        <p:spPr bwMode="auto">
          <a:xfrm>
            <a:off x="6083622" y="2674751"/>
            <a:ext cx="736099"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r>
              <a:rPr kumimoji="1" lang="zh-CN" altLang="en-US" sz="900" b="1" dirty="0">
                <a:solidFill>
                  <a:srgbClr val="0000FF"/>
                </a:solidFill>
                <a:latin typeface="微软雅黑 Light" panose="020B0502040204020203" pitchFamily="34" charset="-122"/>
                <a:ea typeface="微软雅黑 Light" panose="020B0502040204020203" pitchFamily="34" charset="-122"/>
              </a:rPr>
              <a:t>读取邮件</a:t>
            </a:r>
            <a:r>
              <a:rPr kumimoji="1" lang="en-US" altLang="zh-CN" sz="900" b="1" dirty="0">
                <a:solidFill>
                  <a:srgbClr val="0000FF"/>
                </a:solidFill>
                <a:latin typeface="微软雅黑 Light" panose="020B0502040204020203" pitchFamily="34" charset="-122"/>
                <a:ea typeface="微软雅黑 Light" panose="020B0502040204020203" pitchFamily="34" charset="-122"/>
              </a:rPr>
              <a:t>)</a:t>
            </a:r>
          </a:p>
        </p:txBody>
      </p:sp>
      <p:sp>
        <p:nvSpPr>
          <p:cNvPr id="370" name="Text Box 384"/>
          <p:cNvSpPr txBox="1">
            <a:spLocks noChangeArrowheads="1"/>
          </p:cNvSpPr>
          <p:nvPr/>
        </p:nvSpPr>
        <p:spPr bwMode="auto">
          <a:xfrm>
            <a:off x="4364242" y="3331097"/>
            <a:ext cx="530915"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互联网</a:t>
            </a:r>
          </a:p>
        </p:txBody>
      </p:sp>
      <p:sp>
        <p:nvSpPr>
          <p:cNvPr id="371" name="Rectangle 385"/>
          <p:cNvSpPr>
            <a:spLocks noChangeArrowheads="1"/>
          </p:cNvSpPr>
          <p:nvPr/>
        </p:nvSpPr>
        <p:spPr bwMode="auto">
          <a:xfrm>
            <a:off x="6814430" y="1445137"/>
            <a:ext cx="547603" cy="1011889"/>
          </a:xfrm>
          <a:prstGeom prst="rect">
            <a:avLst/>
          </a:prstGeom>
          <a:solidFill>
            <a:srgbClr val="00FFCC"/>
          </a:solidFill>
          <a:ln w="9525"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2" name="Rectangle 386"/>
          <p:cNvSpPr>
            <a:spLocks noChangeArrowheads="1"/>
          </p:cNvSpPr>
          <p:nvPr/>
        </p:nvSpPr>
        <p:spPr bwMode="auto">
          <a:xfrm>
            <a:off x="2842294" y="1438632"/>
            <a:ext cx="547603" cy="1018393"/>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3" name="Rectangle 387"/>
          <p:cNvSpPr>
            <a:spLocks noChangeArrowheads="1"/>
          </p:cNvSpPr>
          <p:nvPr/>
        </p:nvSpPr>
        <p:spPr bwMode="auto">
          <a:xfrm>
            <a:off x="1746082" y="1438632"/>
            <a:ext cx="547603" cy="1018393"/>
          </a:xfrm>
          <a:prstGeom prst="rect">
            <a:avLst/>
          </a:prstGeom>
          <a:solidFill>
            <a:srgbClr val="00FFCC"/>
          </a:solidFill>
          <a:ln w="9525">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4" name="Line 388"/>
          <p:cNvSpPr>
            <a:spLocks noChangeShapeType="1"/>
          </p:cNvSpPr>
          <p:nvPr/>
        </p:nvSpPr>
        <p:spPr bwMode="auto">
          <a:xfrm>
            <a:off x="2129605" y="1697876"/>
            <a:ext cx="757988"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75" name="Text Box 389"/>
          <p:cNvSpPr txBox="1">
            <a:spLocks noChangeArrowheads="1"/>
          </p:cNvSpPr>
          <p:nvPr/>
        </p:nvSpPr>
        <p:spPr bwMode="auto">
          <a:xfrm>
            <a:off x="2303061" y="1471491"/>
            <a:ext cx="482824"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SMTP</a:t>
            </a:r>
          </a:p>
        </p:txBody>
      </p:sp>
      <p:sp>
        <p:nvSpPr>
          <p:cNvPr id="376" name="Text Box 390"/>
          <p:cNvSpPr txBox="1">
            <a:spLocks noChangeArrowheads="1"/>
          </p:cNvSpPr>
          <p:nvPr/>
        </p:nvSpPr>
        <p:spPr bwMode="auto">
          <a:xfrm>
            <a:off x="6268517" y="1470698"/>
            <a:ext cx="478016" cy="2308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C00000"/>
                </a:solidFill>
                <a:latin typeface="微软雅黑 Light" panose="020B0502040204020203" pitchFamily="34" charset="-122"/>
                <a:ea typeface="微软雅黑 Light" panose="020B0502040204020203" pitchFamily="34" charset="-122"/>
              </a:rPr>
              <a:t>POP3</a:t>
            </a:r>
          </a:p>
        </p:txBody>
      </p:sp>
      <p:sp>
        <p:nvSpPr>
          <p:cNvPr id="377" name="Text Box 391"/>
          <p:cNvSpPr txBox="1">
            <a:spLocks noChangeArrowheads="1"/>
          </p:cNvSpPr>
          <p:nvPr/>
        </p:nvSpPr>
        <p:spPr bwMode="auto">
          <a:xfrm>
            <a:off x="2319473" y="1178330"/>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发送</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78" name="Text Box 392"/>
          <p:cNvSpPr txBox="1">
            <a:spLocks noChangeArrowheads="1"/>
          </p:cNvSpPr>
          <p:nvPr/>
        </p:nvSpPr>
        <p:spPr bwMode="auto">
          <a:xfrm>
            <a:off x="3916093" y="1896419"/>
            <a:ext cx="1241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b="1" dirty="0">
                <a:solidFill>
                  <a:srgbClr val="0000FF"/>
                </a:solidFill>
                <a:latin typeface="微软雅黑 Light" panose="020B0502040204020203" pitchFamily="34" charset="-122"/>
                <a:ea typeface="微软雅黑 Light" panose="020B0502040204020203" pitchFamily="34" charset="-122"/>
              </a:rPr>
              <a:t>发送邮件 </a:t>
            </a:r>
            <a:r>
              <a:rPr kumimoji="1" lang="en-US" altLang="zh-CN" sz="1200" b="1" dirty="0">
                <a:solidFill>
                  <a:srgbClr val="C00000"/>
                </a:solidFill>
                <a:latin typeface="微软雅黑 Light" panose="020B0502040204020203" pitchFamily="34" charset="-122"/>
                <a:ea typeface="微软雅黑 Light" panose="020B0502040204020203" pitchFamily="34" charset="-122"/>
              </a:rPr>
              <a:t>SMTP</a:t>
            </a:r>
          </a:p>
        </p:txBody>
      </p:sp>
      <p:sp>
        <p:nvSpPr>
          <p:cNvPr id="379" name="Text Box 393"/>
          <p:cNvSpPr txBox="1">
            <a:spLocks noChangeArrowheads="1"/>
          </p:cNvSpPr>
          <p:nvPr/>
        </p:nvSpPr>
        <p:spPr bwMode="auto">
          <a:xfrm>
            <a:off x="6284273" y="119239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读取</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邮件</a:t>
            </a:r>
          </a:p>
        </p:txBody>
      </p:sp>
      <p:sp>
        <p:nvSpPr>
          <p:cNvPr id="380" name="Text Box 394"/>
          <p:cNvSpPr txBox="1">
            <a:spLocks noChangeArrowheads="1"/>
          </p:cNvSpPr>
          <p:nvPr/>
        </p:nvSpPr>
        <p:spPr bwMode="auto">
          <a:xfrm>
            <a:off x="2330846" y="1717775"/>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1" name="Text Box 395"/>
          <p:cNvSpPr txBox="1">
            <a:spLocks noChangeArrowheads="1"/>
          </p:cNvSpPr>
          <p:nvPr/>
        </p:nvSpPr>
        <p:spPr bwMode="auto">
          <a:xfrm>
            <a:off x="6297159" y="1701257"/>
            <a:ext cx="41549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900" b="1" dirty="0">
                <a:solidFill>
                  <a:srgbClr val="0000FF"/>
                </a:solidFill>
                <a:latin typeface="微软雅黑 Light" panose="020B0502040204020203" pitchFamily="34" charset="-122"/>
                <a:ea typeface="微软雅黑 Light" panose="020B0502040204020203" pitchFamily="34" charset="-122"/>
              </a:rPr>
              <a:t>TCP</a:t>
            </a:r>
          </a:p>
          <a:p>
            <a:pPr algn="ctr" eaLnBrk="1" hangingPunct="1"/>
            <a:r>
              <a:rPr kumimoji="1" lang="zh-CN" altLang="en-US" sz="900" b="1" dirty="0">
                <a:solidFill>
                  <a:srgbClr val="0000FF"/>
                </a:solidFill>
                <a:latin typeface="微软雅黑 Light" panose="020B0502040204020203" pitchFamily="34" charset="-122"/>
                <a:ea typeface="微软雅黑 Light" panose="020B0502040204020203" pitchFamily="34" charset="-122"/>
              </a:rPr>
              <a:t>连接</a:t>
            </a:r>
          </a:p>
        </p:txBody>
      </p:sp>
      <p:sp>
        <p:nvSpPr>
          <p:cNvPr id="382" name="Text Box 396"/>
          <p:cNvSpPr txBox="1">
            <a:spLocks noChangeArrowheads="1"/>
          </p:cNvSpPr>
          <p:nvPr/>
        </p:nvSpPr>
        <p:spPr bwMode="auto">
          <a:xfrm>
            <a:off x="2736115"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发送方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3" name="Oval 397"/>
          <p:cNvSpPr>
            <a:spLocks noChangeArrowheads="1"/>
          </p:cNvSpPr>
          <p:nvPr/>
        </p:nvSpPr>
        <p:spPr bwMode="auto">
          <a:xfrm>
            <a:off x="1791380" y="1486950"/>
            <a:ext cx="456001"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4" name="Oval 398"/>
          <p:cNvSpPr>
            <a:spLocks noChangeArrowheads="1"/>
          </p:cNvSpPr>
          <p:nvPr/>
        </p:nvSpPr>
        <p:spPr bwMode="auto">
          <a:xfrm>
            <a:off x="6859729" y="1486950"/>
            <a:ext cx="456000" cy="420924"/>
          </a:xfrm>
          <a:prstGeom prst="ellipse">
            <a:avLst/>
          </a:prstGeom>
          <a:solidFill>
            <a:srgbClr val="FFFF00"/>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85" name="Text Box 399"/>
          <p:cNvSpPr txBox="1">
            <a:spLocks noChangeArrowheads="1"/>
          </p:cNvSpPr>
          <p:nvPr/>
        </p:nvSpPr>
        <p:spPr bwMode="auto">
          <a:xfrm>
            <a:off x="1695592"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发件方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86" name="Text Box 400"/>
          <p:cNvSpPr txBox="1">
            <a:spLocks noChangeArrowheads="1"/>
          </p:cNvSpPr>
          <p:nvPr/>
        </p:nvSpPr>
        <p:spPr bwMode="auto">
          <a:xfrm>
            <a:off x="5621097" y="1094349"/>
            <a:ext cx="7617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邮件服务器</a:t>
            </a:r>
          </a:p>
        </p:txBody>
      </p:sp>
      <p:sp>
        <p:nvSpPr>
          <p:cNvPr id="387" name="Rectangle 401"/>
          <p:cNvSpPr>
            <a:spLocks noChangeArrowheads="1"/>
          </p:cNvSpPr>
          <p:nvPr/>
        </p:nvSpPr>
        <p:spPr bwMode="auto">
          <a:xfrm>
            <a:off x="5719224" y="1445137"/>
            <a:ext cx="547603" cy="101188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8" name="Oval 402"/>
          <p:cNvSpPr>
            <a:spLocks noChangeArrowheads="1"/>
          </p:cNvSpPr>
          <p:nvPr/>
        </p:nvSpPr>
        <p:spPr bwMode="auto">
          <a:xfrm>
            <a:off x="5764523" y="1950617"/>
            <a:ext cx="456000" cy="420923"/>
          </a:xfrm>
          <a:prstGeom prst="ellipse">
            <a:avLst/>
          </a:prstGeom>
          <a:solidFill>
            <a:schemeClr val="bg1"/>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89" name="Oval 403"/>
          <p:cNvSpPr>
            <a:spLocks noChangeArrowheads="1"/>
          </p:cNvSpPr>
          <p:nvPr/>
        </p:nvSpPr>
        <p:spPr bwMode="auto">
          <a:xfrm>
            <a:off x="5764523" y="1486950"/>
            <a:ext cx="456000" cy="420924"/>
          </a:xfrm>
          <a:prstGeom prst="ellipse">
            <a:avLst/>
          </a:prstGeom>
          <a:solidFill>
            <a:srgbClr val="00FFCC"/>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POP3</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0" name="Line 404"/>
          <p:cNvSpPr>
            <a:spLocks noChangeShapeType="1"/>
          </p:cNvSpPr>
          <p:nvPr/>
        </p:nvSpPr>
        <p:spPr bwMode="auto">
          <a:xfrm flipV="1">
            <a:off x="3298295" y="2161543"/>
            <a:ext cx="2465220"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1" name="Oval 405"/>
          <p:cNvSpPr>
            <a:spLocks noChangeArrowheads="1"/>
          </p:cNvSpPr>
          <p:nvPr/>
        </p:nvSpPr>
        <p:spPr bwMode="auto">
          <a:xfrm>
            <a:off x="2888599" y="1486950"/>
            <a:ext cx="456001" cy="420924"/>
          </a:xfrm>
          <a:prstGeom prst="ellipse">
            <a:avLst/>
          </a:prstGeom>
          <a:solidFill>
            <a:schemeClr val="bg1"/>
          </a:solidFill>
          <a:ln w="9525">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服务器</a:t>
            </a:r>
          </a:p>
        </p:txBody>
      </p:sp>
      <p:sp>
        <p:nvSpPr>
          <p:cNvPr id="392" name="Oval 406"/>
          <p:cNvSpPr>
            <a:spLocks noChangeArrowheads="1"/>
          </p:cNvSpPr>
          <p:nvPr/>
        </p:nvSpPr>
        <p:spPr bwMode="auto">
          <a:xfrm>
            <a:off x="2888599" y="1950617"/>
            <a:ext cx="456001" cy="420923"/>
          </a:xfrm>
          <a:prstGeom prst="ellipse">
            <a:avLst/>
          </a:prstGeom>
          <a:solidFill>
            <a:srgbClr val="FFFF00"/>
          </a:solidFill>
          <a:ln w="9525" algn="ctr">
            <a:solidFill>
              <a:schemeClr val="tx1"/>
            </a:solidFill>
            <a:round/>
            <a:headEnd/>
            <a:tailEnd/>
          </a:ln>
          <a:effectLst/>
        </p:spPr>
        <p:txBody>
          <a:bodyPr wrap="none" anchor="ctr"/>
          <a:lstStyle/>
          <a:p>
            <a:pPr algn="ctr" eaLnBrk="1" hangingPunct="1"/>
            <a:r>
              <a:rPr kumimoji="1" lang="en-US" altLang="zh-CN" sz="900" b="1" dirty="0">
                <a:latin typeface="微软雅黑 Light" panose="020B0502040204020203" pitchFamily="34" charset="-122"/>
                <a:ea typeface="微软雅黑 Light" panose="020B0502040204020203" pitchFamily="34" charset="-122"/>
              </a:rPr>
              <a:t>SMTP</a:t>
            </a:r>
          </a:p>
          <a:p>
            <a:pPr algn="ctr" eaLnBrk="1" hangingPunct="1"/>
            <a:r>
              <a:rPr kumimoji="1" lang="zh-CN" altLang="en-US" sz="900" b="1" dirty="0">
                <a:latin typeface="微软雅黑 Light" panose="020B0502040204020203" pitchFamily="34" charset="-122"/>
                <a:ea typeface="微软雅黑 Light" panose="020B0502040204020203" pitchFamily="34" charset="-122"/>
              </a:rPr>
              <a:t>客户</a:t>
            </a:r>
          </a:p>
        </p:txBody>
      </p:sp>
      <p:sp>
        <p:nvSpPr>
          <p:cNvPr id="393" name="Text Box 407"/>
          <p:cNvSpPr txBox="1">
            <a:spLocks noChangeArrowheads="1"/>
          </p:cNvSpPr>
          <p:nvPr/>
        </p:nvSpPr>
        <p:spPr bwMode="auto">
          <a:xfrm>
            <a:off x="6770220" y="1081823"/>
            <a:ext cx="6463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接收方</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solidFill>
                  <a:srgbClr val="C00000"/>
                </a:solidFill>
                <a:latin typeface="微软雅黑 Light" panose="020B0502040204020203" pitchFamily="34" charset="-122"/>
                <a:ea typeface="微软雅黑 Light" panose="020B0502040204020203" pitchFamily="34" charset="-122"/>
              </a:rPr>
              <a:t>用户代理</a:t>
            </a:r>
          </a:p>
        </p:txBody>
      </p:sp>
      <p:sp>
        <p:nvSpPr>
          <p:cNvPr id="394" name="Line 408"/>
          <p:cNvSpPr>
            <a:spLocks noChangeShapeType="1"/>
          </p:cNvSpPr>
          <p:nvPr/>
        </p:nvSpPr>
        <p:spPr bwMode="auto">
          <a:xfrm flipV="1">
            <a:off x="6220523" y="1697876"/>
            <a:ext cx="639206" cy="0"/>
          </a:xfrm>
          <a:prstGeom prst="line">
            <a:avLst/>
          </a:prstGeom>
          <a:noFill/>
          <a:ln w="3810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395" name="Text Box 409"/>
          <p:cNvSpPr txBox="1">
            <a:spLocks noChangeArrowheads="1"/>
          </p:cNvSpPr>
          <p:nvPr/>
        </p:nvSpPr>
        <p:spPr bwMode="auto">
          <a:xfrm>
            <a:off x="4130961" y="2121283"/>
            <a:ext cx="83426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TCP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连接</a:t>
            </a:r>
          </a:p>
        </p:txBody>
      </p:sp>
      <p:sp>
        <p:nvSpPr>
          <p:cNvPr id="396" name="Text Box 399"/>
          <p:cNvSpPr txBox="1">
            <a:spLocks noChangeArrowheads="1"/>
          </p:cNvSpPr>
          <p:nvPr/>
        </p:nvSpPr>
        <p:spPr bwMode="auto">
          <a:xfrm>
            <a:off x="1096459" y="1081823"/>
            <a:ext cx="530915"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发件人</a:t>
            </a:r>
          </a:p>
        </p:txBody>
      </p:sp>
      <p:grpSp>
        <p:nvGrpSpPr>
          <p:cNvPr id="254" name="Group 247"/>
          <p:cNvGrpSpPr>
            <a:grpSpLocks/>
          </p:cNvGrpSpPr>
          <p:nvPr/>
        </p:nvGrpSpPr>
        <p:grpSpPr bwMode="auto">
          <a:xfrm>
            <a:off x="6953345" y="3397662"/>
            <a:ext cx="350305" cy="144024"/>
            <a:chOff x="5266" y="2029"/>
            <a:chExt cx="348" cy="155"/>
          </a:xfrm>
        </p:grpSpPr>
        <p:sp>
          <p:nvSpPr>
            <p:cNvPr id="255" name="Freeform 248"/>
            <p:cNvSpPr>
              <a:spLocks/>
            </p:cNvSpPr>
            <p:nvPr/>
          </p:nvSpPr>
          <p:spPr bwMode="auto">
            <a:xfrm>
              <a:off x="5266" y="2029"/>
              <a:ext cx="348" cy="155"/>
            </a:xfrm>
            <a:custGeom>
              <a:avLst/>
              <a:gdLst>
                <a:gd name="T0" fmla="*/ 0 w 2091"/>
                <a:gd name="T1" fmla="*/ 0 h 931"/>
                <a:gd name="T2" fmla="*/ 0 w 2091"/>
                <a:gd name="T3" fmla="*/ 0 h 931"/>
                <a:gd name="T4" fmla="*/ 0 w 2091"/>
                <a:gd name="T5" fmla="*/ 0 h 931"/>
                <a:gd name="T6" fmla="*/ 0 w 2091"/>
                <a:gd name="T7" fmla="*/ 0 h 931"/>
                <a:gd name="T8" fmla="*/ 0 w 2091"/>
                <a:gd name="T9" fmla="*/ 0 h 931"/>
                <a:gd name="T10" fmla="*/ 0 w 2091"/>
                <a:gd name="T11" fmla="*/ 0 h 931"/>
                <a:gd name="T12" fmla="*/ 0 w 2091"/>
                <a:gd name="T13" fmla="*/ 0 h 931"/>
                <a:gd name="T14" fmla="*/ 0 w 2091"/>
                <a:gd name="T15" fmla="*/ 0 h 931"/>
                <a:gd name="T16" fmla="*/ 0 w 2091"/>
                <a:gd name="T17" fmla="*/ 0 h 931"/>
                <a:gd name="T18" fmla="*/ 0 w 2091"/>
                <a:gd name="T19" fmla="*/ 0 h 931"/>
                <a:gd name="T20" fmla="*/ 0 w 2091"/>
                <a:gd name="T21" fmla="*/ 0 h 931"/>
                <a:gd name="T22" fmla="*/ 0 w 2091"/>
                <a:gd name="T23" fmla="*/ 0 h 931"/>
                <a:gd name="T24" fmla="*/ 0 w 2091"/>
                <a:gd name="T25" fmla="*/ 0 h 931"/>
                <a:gd name="T26" fmla="*/ 0 w 2091"/>
                <a:gd name="T27" fmla="*/ 0 h 931"/>
                <a:gd name="T28" fmla="*/ 0 w 2091"/>
                <a:gd name="T29" fmla="*/ 0 h 931"/>
                <a:gd name="T30" fmla="*/ 0 w 2091"/>
                <a:gd name="T31" fmla="*/ 0 h 931"/>
                <a:gd name="T32" fmla="*/ 0 w 2091"/>
                <a:gd name="T33" fmla="*/ 0 h 931"/>
                <a:gd name="T34" fmla="*/ 0 w 2091"/>
                <a:gd name="T35" fmla="*/ 0 h 931"/>
                <a:gd name="T36" fmla="*/ 0 w 2091"/>
                <a:gd name="T37" fmla="*/ 0 h 931"/>
                <a:gd name="T38" fmla="*/ 0 w 2091"/>
                <a:gd name="T39" fmla="*/ 0 h 931"/>
                <a:gd name="T40" fmla="*/ 0 w 2091"/>
                <a:gd name="T41" fmla="*/ 0 h 931"/>
                <a:gd name="T42" fmla="*/ 0 w 2091"/>
                <a:gd name="T43" fmla="*/ 0 h 931"/>
                <a:gd name="T44" fmla="*/ 0 w 2091"/>
                <a:gd name="T45" fmla="*/ 0 h 931"/>
                <a:gd name="T46" fmla="*/ 0 w 2091"/>
                <a:gd name="T47" fmla="*/ 0 h 931"/>
                <a:gd name="T48" fmla="*/ 0 w 2091"/>
                <a:gd name="T49" fmla="*/ 0 h 931"/>
                <a:gd name="T50" fmla="*/ 0 w 2091"/>
                <a:gd name="T51" fmla="*/ 0 h 931"/>
                <a:gd name="T52" fmla="*/ 0 w 2091"/>
                <a:gd name="T53" fmla="*/ 0 h 931"/>
                <a:gd name="T54" fmla="*/ 0 w 2091"/>
                <a:gd name="T55" fmla="*/ 0 h 931"/>
                <a:gd name="T56" fmla="*/ 0 w 2091"/>
                <a:gd name="T57" fmla="*/ 0 h 931"/>
                <a:gd name="T58" fmla="*/ 0 w 2091"/>
                <a:gd name="T59" fmla="*/ 0 h 931"/>
                <a:gd name="T60" fmla="*/ 0 w 2091"/>
                <a:gd name="T61" fmla="*/ 0 h 931"/>
                <a:gd name="T62" fmla="*/ 0 w 2091"/>
                <a:gd name="T63" fmla="*/ 0 h 931"/>
                <a:gd name="T64" fmla="*/ 0 w 2091"/>
                <a:gd name="T65" fmla="*/ 0 h 931"/>
                <a:gd name="T66" fmla="*/ 0 w 2091"/>
                <a:gd name="T67" fmla="*/ 0 h 931"/>
                <a:gd name="T68" fmla="*/ 0 w 2091"/>
                <a:gd name="T69" fmla="*/ 0 h 931"/>
                <a:gd name="T70" fmla="*/ 0 w 2091"/>
                <a:gd name="T71" fmla="*/ 0 h 931"/>
                <a:gd name="T72" fmla="*/ 0 w 2091"/>
                <a:gd name="T73" fmla="*/ 0 h 931"/>
                <a:gd name="T74" fmla="*/ 0 w 2091"/>
                <a:gd name="T75" fmla="*/ 0 h 931"/>
                <a:gd name="T76" fmla="*/ 0 w 2091"/>
                <a:gd name="T77" fmla="*/ 0 h 931"/>
                <a:gd name="T78" fmla="*/ 0 w 2091"/>
                <a:gd name="T79" fmla="*/ 0 h 931"/>
                <a:gd name="T80" fmla="*/ 0 w 2091"/>
                <a:gd name="T81" fmla="*/ 0 h 931"/>
                <a:gd name="T82" fmla="*/ 0 w 2091"/>
                <a:gd name="T83" fmla="*/ 0 h 931"/>
                <a:gd name="T84" fmla="*/ 0 w 2091"/>
                <a:gd name="T85" fmla="*/ 0 h 931"/>
                <a:gd name="T86" fmla="*/ 0 w 2091"/>
                <a:gd name="T87" fmla="*/ 0 h 931"/>
                <a:gd name="T88" fmla="*/ 0 w 2091"/>
                <a:gd name="T89" fmla="*/ 0 h 931"/>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Lst>
              <a:ahLst/>
              <a:cxnLst>
                <a:cxn ang="T90">
                  <a:pos x="T0" y="T1"/>
                </a:cxn>
                <a:cxn ang="T91">
                  <a:pos x="T2" y="T3"/>
                </a:cxn>
                <a:cxn ang="T92">
                  <a:pos x="T4" y="T5"/>
                </a:cxn>
                <a:cxn ang="T93">
                  <a:pos x="T6" y="T7"/>
                </a:cxn>
                <a:cxn ang="T94">
                  <a:pos x="T8" y="T9"/>
                </a:cxn>
                <a:cxn ang="T95">
                  <a:pos x="T10" y="T11"/>
                </a:cxn>
                <a:cxn ang="T96">
                  <a:pos x="T12" y="T13"/>
                </a:cxn>
                <a:cxn ang="T97">
                  <a:pos x="T14" y="T15"/>
                </a:cxn>
                <a:cxn ang="T98">
                  <a:pos x="T16" y="T17"/>
                </a:cxn>
                <a:cxn ang="T99">
                  <a:pos x="T18" y="T19"/>
                </a:cxn>
                <a:cxn ang="T100">
                  <a:pos x="T20" y="T21"/>
                </a:cxn>
                <a:cxn ang="T101">
                  <a:pos x="T22" y="T23"/>
                </a:cxn>
                <a:cxn ang="T102">
                  <a:pos x="T24" y="T25"/>
                </a:cxn>
                <a:cxn ang="T103">
                  <a:pos x="T26" y="T27"/>
                </a:cxn>
                <a:cxn ang="T104">
                  <a:pos x="T28" y="T29"/>
                </a:cxn>
                <a:cxn ang="T105">
                  <a:pos x="T30" y="T31"/>
                </a:cxn>
                <a:cxn ang="T106">
                  <a:pos x="T32" y="T33"/>
                </a:cxn>
                <a:cxn ang="T107">
                  <a:pos x="T34" y="T35"/>
                </a:cxn>
                <a:cxn ang="T108">
                  <a:pos x="T36" y="T37"/>
                </a:cxn>
                <a:cxn ang="T109">
                  <a:pos x="T38" y="T39"/>
                </a:cxn>
                <a:cxn ang="T110">
                  <a:pos x="T40" y="T41"/>
                </a:cxn>
                <a:cxn ang="T111">
                  <a:pos x="T42" y="T43"/>
                </a:cxn>
                <a:cxn ang="T112">
                  <a:pos x="T44" y="T45"/>
                </a:cxn>
                <a:cxn ang="T113">
                  <a:pos x="T46" y="T47"/>
                </a:cxn>
                <a:cxn ang="T114">
                  <a:pos x="T48" y="T49"/>
                </a:cxn>
                <a:cxn ang="T115">
                  <a:pos x="T50" y="T51"/>
                </a:cxn>
                <a:cxn ang="T116">
                  <a:pos x="T52" y="T53"/>
                </a:cxn>
                <a:cxn ang="T117">
                  <a:pos x="T54" y="T55"/>
                </a:cxn>
                <a:cxn ang="T118">
                  <a:pos x="T56" y="T57"/>
                </a:cxn>
                <a:cxn ang="T119">
                  <a:pos x="T58" y="T59"/>
                </a:cxn>
                <a:cxn ang="T120">
                  <a:pos x="T60" y="T61"/>
                </a:cxn>
                <a:cxn ang="T121">
                  <a:pos x="T62" y="T63"/>
                </a:cxn>
                <a:cxn ang="T122">
                  <a:pos x="T64" y="T65"/>
                </a:cxn>
                <a:cxn ang="T123">
                  <a:pos x="T66" y="T67"/>
                </a:cxn>
                <a:cxn ang="T124">
                  <a:pos x="T68" y="T69"/>
                </a:cxn>
                <a:cxn ang="T125">
                  <a:pos x="T70" y="T71"/>
                </a:cxn>
                <a:cxn ang="T126">
                  <a:pos x="T72" y="T73"/>
                </a:cxn>
                <a:cxn ang="T127">
                  <a:pos x="T74" y="T75"/>
                </a:cxn>
                <a:cxn ang="T128">
                  <a:pos x="T76" y="T77"/>
                </a:cxn>
                <a:cxn ang="T129">
                  <a:pos x="T78" y="T79"/>
                </a:cxn>
                <a:cxn ang="T130">
                  <a:pos x="T80" y="T81"/>
                </a:cxn>
                <a:cxn ang="T131">
                  <a:pos x="T82" y="T83"/>
                </a:cxn>
                <a:cxn ang="T132">
                  <a:pos x="T84" y="T85"/>
                </a:cxn>
                <a:cxn ang="T133">
                  <a:pos x="T86" y="T87"/>
                </a:cxn>
                <a:cxn ang="T134">
                  <a:pos x="T88" y="T89"/>
                </a:cxn>
              </a:cxnLst>
              <a:rect l="0" t="0" r="r" b="b"/>
              <a:pathLst>
                <a:path w="2091" h="931">
                  <a:moveTo>
                    <a:pt x="182" y="927"/>
                  </a:moveTo>
                  <a:lnTo>
                    <a:pt x="5" y="905"/>
                  </a:lnTo>
                  <a:lnTo>
                    <a:pt x="0" y="695"/>
                  </a:lnTo>
                  <a:lnTo>
                    <a:pt x="9" y="537"/>
                  </a:lnTo>
                  <a:lnTo>
                    <a:pt x="100" y="442"/>
                  </a:lnTo>
                  <a:lnTo>
                    <a:pt x="210" y="387"/>
                  </a:lnTo>
                  <a:lnTo>
                    <a:pt x="460" y="296"/>
                  </a:lnTo>
                  <a:lnTo>
                    <a:pt x="828" y="207"/>
                  </a:lnTo>
                  <a:lnTo>
                    <a:pt x="900" y="201"/>
                  </a:lnTo>
                  <a:lnTo>
                    <a:pt x="948" y="207"/>
                  </a:lnTo>
                  <a:lnTo>
                    <a:pt x="960" y="188"/>
                  </a:lnTo>
                  <a:lnTo>
                    <a:pt x="980" y="169"/>
                  </a:lnTo>
                  <a:lnTo>
                    <a:pt x="1003" y="173"/>
                  </a:lnTo>
                  <a:lnTo>
                    <a:pt x="1035" y="176"/>
                  </a:lnTo>
                  <a:lnTo>
                    <a:pt x="1049" y="138"/>
                  </a:lnTo>
                  <a:lnTo>
                    <a:pt x="1077" y="118"/>
                  </a:lnTo>
                  <a:lnTo>
                    <a:pt x="1106" y="112"/>
                  </a:lnTo>
                  <a:lnTo>
                    <a:pt x="1144" y="112"/>
                  </a:lnTo>
                  <a:lnTo>
                    <a:pt x="1138" y="82"/>
                  </a:lnTo>
                  <a:lnTo>
                    <a:pt x="1182" y="0"/>
                  </a:lnTo>
                  <a:lnTo>
                    <a:pt x="2040" y="22"/>
                  </a:lnTo>
                  <a:lnTo>
                    <a:pt x="2037" y="110"/>
                  </a:lnTo>
                  <a:lnTo>
                    <a:pt x="2053" y="188"/>
                  </a:lnTo>
                  <a:lnTo>
                    <a:pt x="2065" y="244"/>
                  </a:lnTo>
                  <a:lnTo>
                    <a:pt x="2080" y="314"/>
                  </a:lnTo>
                  <a:lnTo>
                    <a:pt x="2091" y="427"/>
                  </a:lnTo>
                  <a:lnTo>
                    <a:pt x="2077" y="494"/>
                  </a:lnTo>
                  <a:lnTo>
                    <a:pt x="2053" y="557"/>
                  </a:lnTo>
                  <a:lnTo>
                    <a:pt x="2023" y="610"/>
                  </a:lnTo>
                  <a:lnTo>
                    <a:pt x="1983" y="629"/>
                  </a:lnTo>
                  <a:lnTo>
                    <a:pt x="1921" y="648"/>
                  </a:lnTo>
                  <a:lnTo>
                    <a:pt x="1838" y="673"/>
                  </a:lnTo>
                  <a:lnTo>
                    <a:pt x="1801" y="717"/>
                  </a:lnTo>
                  <a:lnTo>
                    <a:pt x="1757" y="754"/>
                  </a:lnTo>
                  <a:lnTo>
                    <a:pt x="1686" y="786"/>
                  </a:lnTo>
                  <a:lnTo>
                    <a:pt x="1605" y="812"/>
                  </a:lnTo>
                  <a:lnTo>
                    <a:pt x="1475" y="827"/>
                  </a:lnTo>
                  <a:lnTo>
                    <a:pt x="1364" y="827"/>
                  </a:lnTo>
                  <a:lnTo>
                    <a:pt x="1279" y="818"/>
                  </a:lnTo>
                  <a:lnTo>
                    <a:pt x="1202" y="812"/>
                  </a:lnTo>
                  <a:lnTo>
                    <a:pt x="1144" y="843"/>
                  </a:lnTo>
                  <a:lnTo>
                    <a:pt x="1031" y="837"/>
                  </a:lnTo>
                  <a:lnTo>
                    <a:pt x="582" y="901"/>
                  </a:lnTo>
                  <a:lnTo>
                    <a:pt x="386" y="931"/>
                  </a:lnTo>
                  <a:lnTo>
                    <a:pt x="182" y="927"/>
                  </a:lnTo>
                  <a:close/>
                </a:path>
              </a:pathLst>
            </a:custGeom>
            <a:solidFill>
              <a:srgbClr val="606060"/>
            </a:solidFill>
            <a:ln w="1588">
              <a:solidFill>
                <a:srgbClr val="000000"/>
              </a:solidFill>
              <a:prstDash val="solid"/>
              <a:round/>
              <a:headEnd/>
              <a:tailEnd/>
            </a:ln>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6" name="Freeform 249"/>
            <p:cNvSpPr>
              <a:spLocks/>
            </p:cNvSpPr>
            <p:nvPr/>
          </p:nvSpPr>
          <p:spPr bwMode="auto">
            <a:xfrm>
              <a:off x="5268" y="2043"/>
              <a:ext cx="342" cy="138"/>
            </a:xfrm>
            <a:custGeom>
              <a:avLst/>
              <a:gdLst>
                <a:gd name="T0" fmla="*/ 0 w 2049"/>
                <a:gd name="T1" fmla="*/ 0 h 829"/>
                <a:gd name="T2" fmla="*/ 0 w 2049"/>
                <a:gd name="T3" fmla="*/ 0 h 829"/>
                <a:gd name="T4" fmla="*/ 0 w 2049"/>
                <a:gd name="T5" fmla="*/ 0 h 829"/>
                <a:gd name="T6" fmla="*/ 0 w 2049"/>
                <a:gd name="T7" fmla="*/ 0 h 829"/>
                <a:gd name="T8" fmla="*/ 0 w 2049"/>
                <a:gd name="T9" fmla="*/ 0 h 829"/>
                <a:gd name="T10" fmla="*/ 0 w 2049"/>
                <a:gd name="T11" fmla="*/ 0 h 829"/>
                <a:gd name="T12" fmla="*/ 0 w 2049"/>
                <a:gd name="T13" fmla="*/ 0 h 829"/>
                <a:gd name="T14" fmla="*/ 0 w 2049"/>
                <a:gd name="T15" fmla="*/ 0 h 829"/>
                <a:gd name="T16" fmla="*/ 0 w 2049"/>
                <a:gd name="T17" fmla="*/ 0 h 829"/>
                <a:gd name="T18" fmla="*/ 0 w 2049"/>
                <a:gd name="T19" fmla="*/ 0 h 829"/>
                <a:gd name="T20" fmla="*/ 0 w 2049"/>
                <a:gd name="T21" fmla="*/ 0 h 829"/>
                <a:gd name="T22" fmla="*/ 0 w 2049"/>
                <a:gd name="T23" fmla="*/ 0 h 829"/>
                <a:gd name="T24" fmla="*/ 0 w 2049"/>
                <a:gd name="T25" fmla="*/ 0 h 829"/>
                <a:gd name="T26" fmla="*/ 0 w 2049"/>
                <a:gd name="T27" fmla="*/ 0 h 829"/>
                <a:gd name="T28" fmla="*/ 0 w 2049"/>
                <a:gd name="T29" fmla="*/ 0 h 829"/>
                <a:gd name="T30" fmla="*/ 0 w 2049"/>
                <a:gd name="T31" fmla="*/ 0 h 829"/>
                <a:gd name="T32" fmla="*/ 0 w 2049"/>
                <a:gd name="T33" fmla="*/ 0 h 829"/>
                <a:gd name="T34" fmla="*/ 0 w 2049"/>
                <a:gd name="T35" fmla="*/ 0 h 829"/>
                <a:gd name="T36" fmla="*/ 0 w 2049"/>
                <a:gd name="T37" fmla="*/ 0 h 829"/>
                <a:gd name="T38" fmla="*/ 0 w 2049"/>
                <a:gd name="T39" fmla="*/ 0 h 829"/>
                <a:gd name="T40" fmla="*/ 0 w 2049"/>
                <a:gd name="T41" fmla="*/ 0 h 829"/>
                <a:gd name="T42" fmla="*/ 0 w 2049"/>
                <a:gd name="T43" fmla="*/ 0 h 829"/>
                <a:gd name="T44" fmla="*/ 0 w 2049"/>
                <a:gd name="T45" fmla="*/ 0 h 829"/>
                <a:gd name="T46" fmla="*/ 0 w 2049"/>
                <a:gd name="T47" fmla="*/ 0 h 829"/>
                <a:gd name="T48" fmla="*/ 0 w 2049"/>
                <a:gd name="T49" fmla="*/ 0 h 829"/>
                <a:gd name="T50" fmla="*/ 0 w 2049"/>
                <a:gd name="T51" fmla="*/ 0 h 829"/>
                <a:gd name="T52" fmla="*/ 0 w 2049"/>
                <a:gd name="T53" fmla="*/ 0 h 829"/>
                <a:gd name="T54" fmla="*/ 0 w 2049"/>
                <a:gd name="T55" fmla="*/ 0 h 829"/>
                <a:gd name="T56" fmla="*/ 0 w 2049"/>
                <a:gd name="T57" fmla="*/ 0 h 829"/>
                <a:gd name="T58" fmla="*/ 0 w 2049"/>
                <a:gd name="T59" fmla="*/ 0 h 829"/>
                <a:gd name="T60" fmla="*/ 0 w 2049"/>
                <a:gd name="T61" fmla="*/ 0 h 829"/>
                <a:gd name="T62" fmla="*/ 0 w 2049"/>
                <a:gd name="T63" fmla="*/ 0 h 829"/>
                <a:gd name="T64" fmla="*/ 0 w 2049"/>
                <a:gd name="T65" fmla="*/ 0 h 829"/>
                <a:gd name="T66" fmla="*/ 0 w 2049"/>
                <a:gd name="T67" fmla="*/ 0 h 829"/>
                <a:gd name="T68" fmla="*/ 0 w 2049"/>
                <a:gd name="T69" fmla="*/ 0 h 829"/>
                <a:gd name="T70" fmla="*/ 0 w 2049"/>
                <a:gd name="T71" fmla="*/ 0 h 829"/>
                <a:gd name="T72" fmla="*/ 0 w 2049"/>
                <a:gd name="T73" fmla="*/ 0 h 829"/>
                <a:gd name="T74" fmla="*/ 0 w 2049"/>
                <a:gd name="T75" fmla="*/ 0 h 829"/>
                <a:gd name="T76" fmla="*/ 0 w 2049"/>
                <a:gd name="T77" fmla="*/ 0 h 829"/>
                <a:gd name="T78" fmla="*/ 0 w 2049"/>
                <a:gd name="T79" fmla="*/ 0 h 829"/>
                <a:gd name="T80" fmla="*/ 0 w 2049"/>
                <a:gd name="T81" fmla="*/ 0 h 829"/>
                <a:gd name="T82" fmla="*/ 0 w 2049"/>
                <a:gd name="T83" fmla="*/ 0 h 829"/>
                <a:gd name="T84" fmla="*/ 0 w 2049"/>
                <a:gd name="T85" fmla="*/ 0 h 829"/>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Lst>
              <a:ahLst/>
              <a:cxnLst>
                <a:cxn ang="T86">
                  <a:pos x="T0" y="T1"/>
                </a:cxn>
                <a:cxn ang="T87">
                  <a:pos x="T2" y="T3"/>
                </a:cxn>
                <a:cxn ang="T88">
                  <a:pos x="T4" y="T5"/>
                </a:cxn>
                <a:cxn ang="T89">
                  <a:pos x="T6" y="T7"/>
                </a:cxn>
                <a:cxn ang="T90">
                  <a:pos x="T8" y="T9"/>
                </a:cxn>
                <a:cxn ang="T91">
                  <a:pos x="T10" y="T11"/>
                </a:cxn>
                <a:cxn ang="T92">
                  <a:pos x="T12" y="T13"/>
                </a:cxn>
                <a:cxn ang="T93">
                  <a:pos x="T14" y="T15"/>
                </a:cxn>
                <a:cxn ang="T94">
                  <a:pos x="T16" y="T17"/>
                </a:cxn>
                <a:cxn ang="T95">
                  <a:pos x="T18" y="T19"/>
                </a:cxn>
                <a:cxn ang="T96">
                  <a:pos x="T20" y="T21"/>
                </a:cxn>
                <a:cxn ang="T97">
                  <a:pos x="T22" y="T23"/>
                </a:cxn>
                <a:cxn ang="T98">
                  <a:pos x="T24" y="T25"/>
                </a:cxn>
                <a:cxn ang="T99">
                  <a:pos x="T26" y="T27"/>
                </a:cxn>
                <a:cxn ang="T100">
                  <a:pos x="T28" y="T29"/>
                </a:cxn>
                <a:cxn ang="T101">
                  <a:pos x="T30" y="T31"/>
                </a:cxn>
                <a:cxn ang="T102">
                  <a:pos x="T32" y="T33"/>
                </a:cxn>
                <a:cxn ang="T103">
                  <a:pos x="T34" y="T35"/>
                </a:cxn>
                <a:cxn ang="T104">
                  <a:pos x="T36" y="T37"/>
                </a:cxn>
                <a:cxn ang="T105">
                  <a:pos x="T38" y="T39"/>
                </a:cxn>
                <a:cxn ang="T106">
                  <a:pos x="T40" y="T41"/>
                </a:cxn>
                <a:cxn ang="T107">
                  <a:pos x="T42" y="T43"/>
                </a:cxn>
                <a:cxn ang="T108">
                  <a:pos x="T44" y="T45"/>
                </a:cxn>
                <a:cxn ang="T109">
                  <a:pos x="T46" y="T47"/>
                </a:cxn>
                <a:cxn ang="T110">
                  <a:pos x="T48" y="T49"/>
                </a:cxn>
                <a:cxn ang="T111">
                  <a:pos x="T50" y="T51"/>
                </a:cxn>
                <a:cxn ang="T112">
                  <a:pos x="T52" y="T53"/>
                </a:cxn>
                <a:cxn ang="T113">
                  <a:pos x="T54" y="T55"/>
                </a:cxn>
                <a:cxn ang="T114">
                  <a:pos x="T56" y="T57"/>
                </a:cxn>
                <a:cxn ang="T115">
                  <a:pos x="T58" y="T59"/>
                </a:cxn>
                <a:cxn ang="T116">
                  <a:pos x="T60" y="T61"/>
                </a:cxn>
                <a:cxn ang="T117">
                  <a:pos x="T62" y="T63"/>
                </a:cxn>
                <a:cxn ang="T118">
                  <a:pos x="T64" y="T65"/>
                </a:cxn>
                <a:cxn ang="T119">
                  <a:pos x="T66" y="T67"/>
                </a:cxn>
                <a:cxn ang="T120">
                  <a:pos x="T68" y="T69"/>
                </a:cxn>
                <a:cxn ang="T121">
                  <a:pos x="T70" y="T71"/>
                </a:cxn>
                <a:cxn ang="T122">
                  <a:pos x="T72" y="T73"/>
                </a:cxn>
                <a:cxn ang="T123">
                  <a:pos x="T74" y="T75"/>
                </a:cxn>
                <a:cxn ang="T124">
                  <a:pos x="T76" y="T77"/>
                </a:cxn>
                <a:cxn ang="T125">
                  <a:pos x="T78" y="T79"/>
                </a:cxn>
                <a:cxn ang="T126">
                  <a:pos x="T80" y="T81"/>
                </a:cxn>
                <a:cxn ang="T127">
                  <a:pos x="T82" y="T83"/>
                </a:cxn>
                <a:cxn ang="T128">
                  <a:pos x="T84" y="T85"/>
                </a:cxn>
              </a:cxnLst>
              <a:rect l="0" t="0" r="r" b="b"/>
              <a:pathLst>
                <a:path w="2049" h="829">
                  <a:moveTo>
                    <a:pt x="1982" y="31"/>
                  </a:moveTo>
                  <a:lnTo>
                    <a:pt x="1986" y="90"/>
                  </a:lnTo>
                  <a:lnTo>
                    <a:pt x="2010" y="67"/>
                  </a:lnTo>
                  <a:lnTo>
                    <a:pt x="2037" y="199"/>
                  </a:lnTo>
                  <a:lnTo>
                    <a:pt x="2049" y="353"/>
                  </a:lnTo>
                  <a:lnTo>
                    <a:pt x="1995" y="512"/>
                  </a:lnTo>
                  <a:lnTo>
                    <a:pt x="1868" y="549"/>
                  </a:lnTo>
                  <a:lnTo>
                    <a:pt x="1882" y="512"/>
                  </a:lnTo>
                  <a:lnTo>
                    <a:pt x="1814" y="567"/>
                  </a:lnTo>
                  <a:lnTo>
                    <a:pt x="1754" y="624"/>
                  </a:lnTo>
                  <a:lnTo>
                    <a:pt x="1622" y="688"/>
                  </a:lnTo>
                  <a:lnTo>
                    <a:pt x="1460" y="701"/>
                  </a:lnTo>
                  <a:lnTo>
                    <a:pt x="1264" y="710"/>
                  </a:lnTo>
                  <a:lnTo>
                    <a:pt x="1181" y="701"/>
                  </a:lnTo>
                  <a:lnTo>
                    <a:pt x="1255" y="669"/>
                  </a:lnTo>
                  <a:lnTo>
                    <a:pt x="1287" y="589"/>
                  </a:lnTo>
                  <a:lnTo>
                    <a:pt x="1228" y="656"/>
                  </a:lnTo>
                  <a:lnTo>
                    <a:pt x="1155" y="697"/>
                  </a:lnTo>
                  <a:lnTo>
                    <a:pt x="1086" y="733"/>
                  </a:lnTo>
                  <a:lnTo>
                    <a:pt x="1017" y="724"/>
                  </a:lnTo>
                  <a:lnTo>
                    <a:pt x="1063" y="692"/>
                  </a:lnTo>
                  <a:lnTo>
                    <a:pt x="1109" y="652"/>
                  </a:lnTo>
                  <a:lnTo>
                    <a:pt x="1036" y="678"/>
                  </a:lnTo>
                  <a:lnTo>
                    <a:pt x="963" y="733"/>
                  </a:lnTo>
                  <a:lnTo>
                    <a:pt x="726" y="761"/>
                  </a:lnTo>
                  <a:lnTo>
                    <a:pt x="491" y="797"/>
                  </a:lnTo>
                  <a:lnTo>
                    <a:pt x="409" y="793"/>
                  </a:lnTo>
                  <a:lnTo>
                    <a:pt x="495" y="742"/>
                  </a:lnTo>
                  <a:lnTo>
                    <a:pt x="581" y="724"/>
                  </a:lnTo>
                  <a:lnTo>
                    <a:pt x="486" y="720"/>
                  </a:lnTo>
                  <a:lnTo>
                    <a:pt x="414" y="752"/>
                  </a:lnTo>
                  <a:lnTo>
                    <a:pt x="319" y="815"/>
                  </a:lnTo>
                  <a:lnTo>
                    <a:pt x="386" y="720"/>
                  </a:lnTo>
                  <a:lnTo>
                    <a:pt x="473" y="669"/>
                  </a:lnTo>
                  <a:lnTo>
                    <a:pt x="359" y="692"/>
                  </a:lnTo>
                  <a:lnTo>
                    <a:pt x="300" y="765"/>
                  </a:lnTo>
                  <a:lnTo>
                    <a:pt x="287" y="829"/>
                  </a:lnTo>
                  <a:lnTo>
                    <a:pt x="214" y="742"/>
                  </a:lnTo>
                  <a:lnTo>
                    <a:pt x="140" y="701"/>
                  </a:lnTo>
                  <a:lnTo>
                    <a:pt x="182" y="746"/>
                  </a:lnTo>
                  <a:lnTo>
                    <a:pt x="241" y="829"/>
                  </a:lnTo>
                  <a:lnTo>
                    <a:pt x="59" y="793"/>
                  </a:lnTo>
                  <a:lnTo>
                    <a:pt x="23" y="778"/>
                  </a:lnTo>
                  <a:lnTo>
                    <a:pt x="0" y="674"/>
                  </a:lnTo>
                  <a:lnTo>
                    <a:pt x="13" y="530"/>
                  </a:lnTo>
                  <a:lnTo>
                    <a:pt x="40" y="435"/>
                  </a:lnTo>
                  <a:lnTo>
                    <a:pt x="155" y="362"/>
                  </a:lnTo>
                  <a:lnTo>
                    <a:pt x="296" y="298"/>
                  </a:lnTo>
                  <a:lnTo>
                    <a:pt x="572" y="207"/>
                  </a:lnTo>
                  <a:lnTo>
                    <a:pt x="795" y="145"/>
                  </a:lnTo>
                  <a:lnTo>
                    <a:pt x="917" y="135"/>
                  </a:lnTo>
                  <a:lnTo>
                    <a:pt x="968" y="207"/>
                  </a:lnTo>
                  <a:lnTo>
                    <a:pt x="1123" y="285"/>
                  </a:lnTo>
                  <a:lnTo>
                    <a:pt x="1040" y="217"/>
                  </a:lnTo>
                  <a:lnTo>
                    <a:pt x="977" y="182"/>
                  </a:lnTo>
                  <a:lnTo>
                    <a:pt x="953" y="131"/>
                  </a:lnTo>
                  <a:lnTo>
                    <a:pt x="963" y="108"/>
                  </a:lnTo>
                  <a:lnTo>
                    <a:pt x="1008" y="108"/>
                  </a:lnTo>
                  <a:lnTo>
                    <a:pt x="1036" y="135"/>
                  </a:lnTo>
                  <a:lnTo>
                    <a:pt x="1063" y="163"/>
                  </a:lnTo>
                  <a:lnTo>
                    <a:pt x="1132" y="190"/>
                  </a:lnTo>
                  <a:lnTo>
                    <a:pt x="1068" y="135"/>
                  </a:lnTo>
                  <a:lnTo>
                    <a:pt x="1040" y="95"/>
                  </a:lnTo>
                  <a:lnTo>
                    <a:pt x="1059" y="67"/>
                  </a:lnTo>
                  <a:lnTo>
                    <a:pt x="1113" y="50"/>
                  </a:lnTo>
                  <a:lnTo>
                    <a:pt x="1186" y="113"/>
                  </a:lnTo>
                  <a:lnTo>
                    <a:pt x="1255" y="154"/>
                  </a:lnTo>
                  <a:lnTo>
                    <a:pt x="1173" y="63"/>
                  </a:lnTo>
                  <a:lnTo>
                    <a:pt x="1145" y="27"/>
                  </a:lnTo>
                  <a:lnTo>
                    <a:pt x="1145" y="0"/>
                  </a:lnTo>
                  <a:lnTo>
                    <a:pt x="1213" y="10"/>
                  </a:lnTo>
                  <a:lnTo>
                    <a:pt x="1277" y="54"/>
                  </a:lnTo>
                  <a:lnTo>
                    <a:pt x="1319" y="86"/>
                  </a:lnTo>
                  <a:lnTo>
                    <a:pt x="1514" y="104"/>
                  </a:lnTo>
                  <a:lnTo>
                    <a:pt x="1508" y="54"/>
                  </a:lnTo>
                  <a:lnTo>
                    <a:pt x="1567" y="35"/>
                  </a:lnTo>
                  <a:lnTo>
                    <a:pt x="1567" y="99"/>
                  </a:lnTo>
                  <a:lnTo>
                    <a:pt x="1626" y="113"/>
                  </a:lnTo>
                  <a:lnTo>
                    <a:pt x="1754" y="131"/>
                  </a:lnTo>
                  <a:lnTo>
                    <a:pt x="1745" y="63"/>
                  </a:lnTo>
                  <a:lnTo>
                    <a:pt x="1790" y="63"/>
                  </a:lnTo>
                  <a:lnTo>
                    <a:pt x="1795" y="131"/>
                  </a:lnTo>
                  <a:lnTo>
                    <a:pt x="1868" y="127"/>
                  </a:lnTo>
                  <a:lnTo>
                    <a:pt x="1946" y="108"/>
                  </a:lnTo>
                  <a:lnTo>
                    <a:pt x="1950" y="54"/>
                  </a:lnTo>
                  <a:lnTo>
                    <a:pt x="1982"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7" name="Freeform 250"/>
            <p:cNvSpPr>
              <a:spLocks/>
            </p:cNvSpPr>
            <p:nvPr/>
          </p:nvSpPr>
          <p:spPr bwMode="auto">
            <a:xfrm>
              <a:off x="5515" y="2093"/>
              <a:ext cx="47" cy="8"/>
            </a:xfrm>
            <a:custGeom>
              <a:avLst/>
              <a:gdLst>
                <a:gd name="T0" fmla="*/ 0 w 280"/>
                <a:gd name="T1" fmla="*/ 0 h 48"/>
                <a:gd name="T2" fmla="*/ 0 w 280"/>
                <a:gd name="T3" fmla="*/ 0 h 48"/>
                <a:gd name="T4" fmla="*/ 0 w 280"/>
                <a:gd name="T5" fmla="*/ 0 h 48"/>
                <a:gd name="T6" fmla="*/ 0 w 280"/>
                <a:gd name="T7" fmla="*/ 0 h 48"/>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80" h="48">
                  <a:moveTo>
                    <a:pt x="280" y="0"/>
                  </a:moveTo>
                  <a:lnTo>
                    <a:pt x="149" y="48"/>
                  </a:lnTo>
                  <a:lnTo>
                    <a:pt x="0" y="35"/>
                  </a:lnTo>
                  <a:lnTo>
                    <a:pt x="28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8" name="Freeform 251"/>
            <p:cNvSpPr>
              <a:spLocks/>
            </p:cNvSpPr>
            <p:nvPr/>
          </p:nvSpPr>
          <p:spPr bwMode="auto">
            <a:xfrm>
              <a:off x="5580" y="2080"/>
              <a:ext cx="28" cy="10"/>
            </a:xfrm>
            <a:custGeom>
              <a:avLst/>
              <a:gdLst>
                <a:gd name="T0" fmla="*/ 0 w 170"/>
                <a:gd name="T1" fmla="*/ 0 h 57"/>
                <a:gd name="T2" fmla="*/ 0 w 170"/>
                <a:gd name="T3" fmla="*/ 0 h 57"/>
                <a:gd name="T4" fmla="*/ 0 w 170"/>
                <a:gd name="T5" fmla="*/ 0 h 57"/>
                <a:gd name="T6" fmla="*/ 0 w 170"/>
                <a:gd name="T7" fmla="*/ 0 h 57"/>
                <a:gd name="T8" fmla="*/ 0 w 170"/>
                <a:gd name="T9" fmla="*/ 0 h 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70" h="57">
                  <a:moveTo>
                    <a:pt x="170" y="0"/>
                  </a:moveTo>
                  <a:lnTo>
                    <a:pt x="125" y="35"/>
                  </a:lnTo>
                  <a:lnTo>
                    <a:pt x="0" y="53"/>
                  </a:lnTo>
                  <a:lnTo>
                    <a:pt x="130" y="57"/>
                  </a:lnTo>
                  <a:lnTo>
                    <a:pt x="17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59" name="Freeform 252"/>
            <p:cNvSpPr>
              <a:spLocks/>
            </p:cNvSpPr>
            <p:nvPr/>
          </p:nvSpPr>
          <p:spPr bwMode="auto">
            <a:xfrm>
              <a:off x="5445" y="2073"/>
              <a:ext cx="44" cy="24"/>
            </a:xfrm>
            <a:custGeom>
              <a:avLst/>
              <a:gdLst>
                <a:gd name="T0" fmla="*/ 0 w 263"/>
                <a:gd name="T1" fmla="*/ 0 h 143"/>
                <a:gd name="T2" fmla="*/ 0 w 263"/>
                <a:gd name="T3" fmla="*/ 0 h 143"/>
                <a:gd name="T4" fmla="*/ 0 w 263"/>
                <a:gd name="T5" fmla="*/ 0 h 143"/>
                <a:gd name="T6" fmla="*/ 0 w 263"/>
                <a:gd name="T7" fmla="*/ 0 h 143"/>
                <a:gd name="T8" fmla="*/ 0 w 263"/>
                <a:gd name="T9" fmla="*/ 0 h 143"/>
                <a:gd name="T10" fmla="*/ 0 w 263"/>
                <a:gd name="T11" fmla="*/ 0 h 143"/>
                <a:gd name="T12" fmla="*/ 0 w 263"/>
                <a:gd name="T13" fmla="*/ 0 h 143"/>
                <a:gd name="T14" fmla="*/ 0 w 263"/>
                <a:gd name="T15" fmla="*/ 0 h 143"/>
                <a:gd name="T16" fmla="*/ 0 w 263"/>
                <a:gd name="T17" fmla="*/ 0 h 143"/>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263" h="143">
                  <a:moveTo>
                    <a:pt x="263" y="0"/>
                  </a:moveTo>
                  <a:lnTo>
                    <a:pt x="145" y="13"/>
                  </a:lnTo>
                  <a:lnTo>
                    <a:pt x="122" y="31"/>
                  </a:lnTo>
                  <a:lnTo>
                    <a:pt x="122" y="76"/>
                  </a:lnTo>
                  <a:lnTo>
                    <a:pt x="113" y="124"/>
                  </a:lnTo>
                  <a:lnTo>
                    <a:pt x="0" y="143"/>
                  </a:lnTo>
                  <a:lnTo>
                    <a:pt x="136" y="138"/>
                  </a:lnTo>
                  <a:lnTo>
                    <a:pt x="159" y="48"/>
                  </a:lnTo>
                  <a:lnTo>
                    <a:pt x="26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sp>
          <p:nvSpPr>
            <p:cNvPr id="260" name="Freeform 253"/>
            <p:cNvSpPr>
              <a:spLocks/>
            </p:cNvSpPr>
            <p:nvPr/>
          </p:nvSpPr>
          <p:spPr bwMode="auto">
            <a:xfrm>
              <a:off x="5303" y="2127"/>
              <a:ext cx="142" cy="35"/>
            </a:xfrm>
            <a:custGeom>
              <a:avLst/>
              <a:gdLst>
                <a:gd name="T0" fmla="*/ 0 w 853"/>
                <a:gd name="T1" fmla="*/ 0 h 212"/>
                <a:gd name="T2" fmla="*/ 0 w 853"/>
                <a:gd name="T3" fmla="*/ 0 h 212"/>
                <a:gd name="T4" fmla="*/ 0 w 853"/>
                <a:gd name="T5" fmla="*/ 0 h 212"/>
                <a:gd name="T6" fmla="*/ 0 w 853"/>
                <a:gd name="T7" fmla="*/ 0 h 212"/>
                <a:gd name="T8" fmla="*/ 0 w 853"/>
                <a:gd name="T9" fmla="*/ 0 h 212"/>
                <a:gd name="T10" fmla="*/ 0 w 853"/>
                <a:gd name="T11" fmla="*/ 0 h 212"/>
                <a:gd name="T12" fmla="*/ 0 w 853"/>
                <a:gd name="T13" fmla="*/ 0 h 212"/>
                <a:gd name="T14" fmla="*/ 0 w 853"/>
                <a:gd name="T15" fmla="*/ 0 h 212"/>
                <a:gd name="T16" fmla="*/ 0 w 853"/>
                <a:gd name="T17" fmla="*/ 0 h 212"/>
                <a:gd name="T18" fmla="*/ 0 w 853"/>
                <a:gd name="T19" fmla="*/ 0 h 212"/>
                <a:gd name="T20" fmla="*/ 0 w 853"/>
                <a:gd name="T21" fmla="*/ 0 h 212"/>
                <a:gd name="T22" fmla="*/ 0 w 853"/>
                <a:gd name="T23" fmla="*/ 0 h 212"/>
                <a:gd name="T24" fmla="*/ 0 w 853"/>
                <a:gd name="T25" fmla="*/ 0 h 212"/>
                <a:gd name="T26" fmla="*/ 0 w 853"/>
                <a:gd name="T27" fmla="*/ 0 h 212"/>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853" h="212">
                  <a:moveTo>
                    <a:pt x="853" y="0"/>
                  </a:moveTo>
                  <a:lnTo>
                    <a:pt x="636" y="10"/>
                  </a:lnTo>
                  <a:lnTo>
                    <a:pt x="413" y="63"/>
                  </a:lnTo>
                  <a:lnTo>
                    <a:pt x="249" y="71"/>
                  </a:lnTo>
                  <a:lnTo>
                    <a:pt x="114" y="99"/>
                  </a:lnTo>
                  <a:lnTo>
                    <a:pt x="64" y="170"/>
                  </a:lnTo>
                  <a:lnTo>
                    <a:pt x="0" y="212"/>
                  </a:lnTo>
                  <a:lnTo>
                    <a:pt x="64" y="198"/>
                  </a:lnTo>
                  <a:lnTo>
                    <a:pt x="123" y="117"/>
                  </a:lnTo>
                  <a:lnTo>
                    <a:pt x="304" y="81"/>
                  </a:lnTo>
                  <a:lnTo>
                    <a:pt x="413" y="81"/>
                  </a:lnTo>
                  <a:lnTo>
                    <a:pt x="500" y="63"/>
                  </a:lnTo>
                  <a:lnTo>
                    <a:pt x="649" y="23"/>
                  </a:lnTo>
                  <a:lnTo>
                    <a:pt x="853"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pPr algn="ctr"/>
              <a:endParaRPr lang="zh-CN" altLang="en-US" sz="900" b="1" dirty="0">
                <a:latin typeface="微软雅黑 Light" panose="020B0502040204020203" pitchFamily="34" charset="-122"/>
                <a:ea typeface="微软雅黑 Light" panose="020B0502040204020203" pitchFamily="34" charset="-122"/>
              </a:endParaRPr>
            </a:p>
          </p:txBody>
        </p:sp>
      </p:grpSp>
      <p:graphicFrame>
        <p:nvGraphicFramePr>
          <p:cNvPr id="412" name="对象 411"/>
          <p:cNvGraphicFramePr>
            <a:graphicFrameLocks noChangeAspect="1"/>
          </p:cNvGraphicFramePr>
          <p:nvPr>
            <p:extLst>
              <p:ext uri="{D42A27DB-BD31-4B8C-83A1-F6EECF244321}">
                <p14:modId xmlns:p14="http://schemas.microsoft.com/office/powerpoint/2010/main" val="1928026070"/>
              </p:ext>
            </p:extLst>
          </p:nvPr>
        </p:nvGraphicFramePr>
        <p:xfrm>
          <a:off x="1234937" y="1468874"/>
          <a:ext cx="440021" cy="504000"/>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0" name="Picture 308"/>
                      <p:cNvPicPr>
                        <a:picLocks noChangeAspect="1" noChangeArrowheads="1"/>
                      </p:cNvPicPr>
                      <p:nvPr/>
                    </p:nvPicPr>
                    <p:blipFill>
                      <a:blip r:embed="rId5">
                        <a:extLst>
                          <a:ext uri="{28A0092B-C50C-407E-A947-70E740481C1C}">
                            <a14:useLocalDpi xmlns:a14="http://schemas.microsoft.com/office/drawing/2010/main" val="0"/>
                          </a:ext>
                        </a:extLst>
                      </a:blip>
                      <a:srcRect l="5348" t="4167" r="4546" b="11185"/>
                      <a:stretch>
                        <a:fillRect/>
                      </a:stretch>
                    </p:blipFill>
                    <p:spPr bwMode="auto">
                      <a:xfrm>
                        <a:off x="1234937" y="1468874"/>
                        <a:ext cx="440021"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graphicFrame>
        <p:nvGraphicFramePr>
          <p:cNvPr id="414" name="对象 413"/>
          <p:cNvGraphicFramePr>
            <a:graphicFrameLocks noChangeAspect="1"/>
          </p:cNvGraphicFramePr>
          <p:nvPr>
            <p:extLst>
              <p:ext uri="{D42A27DB-BD31-4B8C-83A1-F6EECF244321}">
                <p14:modId xmlns:p14="http://schemas.microsoft.com/office/powerpoint/2010/main" val="469826854"/>
              </p:ext>
            </p:extLst>
          </p:nvPr>
        </p:nvGraphicFramePr>
        <p:xfrm>
          <a:off x="7436052" y="1468874"/>
          <a:ext cx="443938" cy="504000"/>
        </p:xfrm>
        <a:graphic>
          <a:graphicData uri="http://schemas.openxmlformats.org/presentationml/2006/ole">
            <mc:AlternateContent xmlns:mc="http://schemas.openxmlformats.org/markup-compatibility/2006">
              <mc:Choice xmlns:v="urn:schemas-microsoft-com:vml" Requires="v">
                <p:oleObj name="Visio" r:id="rId6" imgW="3561172" imgH="4347469" progId="">
                  <p:embed/>
                </p:oleObj>
              </mc:Choice>
              <mc:Fallback>
                <p:oleObj name="Visio" r:id="rId6" imgW="3561172" imgH="4347469" progId="">
                  <p:embed/>
                  <p:pic>
                    <p:nvPicPr>
                      <p:cNvPr id="0" name="Picture 309"/>
                      <p:cNvPicPr>
                        <a:picLocks noChangeAspect="1" noChangeArrowheads="1"/>
                      </p:cNvPicPr>
                      <p:nvPr/>
                    </p:nvPicPr>
                    <p:blipFill>
                      <a:blip r:embed="rId7">
                        <a:extLst>
                          <a:ext uri="{28A0092B-C50C-407E-A947-70E740481C1C}">
                            <a14:useLocalDpi xmlns:a14="http://schemas.microsoft.com/office/drawing/2010/main" val="0"/>
                          </a:ext>
                        </a:extLst>
                      </a:blip>
                      <a:srcRect l="4546" t="3947" r="4546" b="11403"/>
                      <a:stretch>
                        <a:fillRect/>
                      </a:stretch>
                    </p:blipFill>
                    <p:spPr bwMode="auto">
                      <a:xfrm>
                        <a:off x="7436052" y="1468874"/>
                        <a:ext cx="443938" cy="504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422" name="Text Box 399"/>
          <p:cNvSpPr txBox="1">
            <a:spLocks noChangeArrowheads="1"/>
          </p:cNvSpPr>
          <p:nvPr/>
        </p:nvSpPr>
        <p:spPr bwMode="auto">
          <a:xfrm>
            <a:off x="7471795" y="1081823"/>
            <a:ext cx="53091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900" b="1" dirty="0">
                <a:latin typeface="微软雅黑 Light" panose="020B0502040204020203" pitchFamily="34" charset="-122"/>
                <a:ea typeface="微软雅黑 Light" panose="020B0502040204020203" pitchFamily="34" charset="-122"/>
              </a:rPr>
              <a:t>用户</a:t>
            </a:r>
            <a:endParaRPr kumimoji="1" lang="en-US" altLang="zh-CN" sz="900" b="1" dirty="0">
              <a:latin typeface="微软雅黑 Light" panose="020B0502040204020203" pitchFamily="34" charset="-122"/>
              <a:ea typeface="微软雅黑 Light" panose="020B0502040204020203" pitchFamily="34" charset="-122"/>
            </a:endParaRPr>
          </a:p>
          <a:p>
            <a:pPr algn="ctr" eaLnBrk="1" hangingPunct="1"/>
            <a:r>
              <a:rPr kumimoji="1" lang="zh-CN" altLang="en-US" sz="900" b="1" dirty="0">
                <a:latin typeface="微软雅黑 Light" panose="020B0502040204020203" pitchFamily="34" charset="-122"/>
                <a:ea typeface="微软雅黑 Light" panose="020B0502040204020203" pitchFamily="34" charset="-122"/>
              </a:rPr>
              <a:t>收件人</a:t>
            </a:r>
          </a:p>
        </p:txBody>
      </p:sp>
      <p:sp>
        <p:nvSpPr>
          <p:cNvPr id="3" name="矩形 2"/>
          <p:cNvSpPr/>
          <p:nvPr/>
        </p:nvSpPr>
        <p:spPr>
          <a:xfrm>
            <a:off x="825927" y="3114718"/>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“推”</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(push)</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401" name="矩形 400"/>
          <p:cNvSpPr/>
          <p:nvPr/>
        </p:nvSpPr>
        <p:spPr>
          <a:xfrm>
            <a:off x="7399348" y="3132925"/>
            <a:ext cx="801447" cy="502702"/>
          </a:xfrm>
          <a:prstGeom prst="rect">
            <a:avLst/>
          </a:prstGeom>
          <a:noFill/>
        </p:spPr>
        <p:txBody>
          <a:bodyPr wrap="square" anchor="ctr">
            <a:spAutoFit/>
          </a:bodyPr>
          <a:lstStyle/>
          <a:p>
            <a:pPr algn="ctr">
              <a:lnSpc>
                <a:spcPts val="1600"/>
              </a:lnSpc>
            </a:pPr>
            <a:r>
              <a:rPr lang="zh-CN" altLang="en-US" sz="1400" b="1" dirty="0">
                <a:solidFill>
                  <a:srgbClr val="C00000"/>
                </a:solidFill>
                <a:latin typeface="微软雅黑 Light" panose="020B0502040204020203" pitchFamily="34" charset="-122"/>
                <a:ea typeface="微软雅黑 Light" panose="020B0502040204020203" pitchFamily="34" charset="-122"/>
              </a:rPr>
              <a:t>“拉”</a:t>
            </a:r>
            <a:endParaRPr lang="en-US" altLang="zh-CN" sz="1400" b="1" dirty="0">
              <a:solidFill>
                <a:srgbClr val="C00000"/>
              </a:solidFill>
              <a:latin typeface="微软雅黑 Light" panose="020B0502040204020203" pitchFamily="34" charset="-122"/>
              <a:ea typeface="微软雅黑 Light" panose="020B0502040204020203" pitchFamily="34" charset="-122"/>
            </a:endParaRPr>
          </a:p>
          <a:p>
            <a:pPr algn="ctr">
              <a:lnSpc>
                <a:spcPts val="1600"/>
              </a:lnSpc>
            </a:pPr>
            <a:r>
              <a:rPr lang="en-US" altLang="zh-CN" sz="1400" b="1" dirty="0">
                <a:solidFill>
                  <a:srgbClr val="C00000"/>
                </a:solidFill>
                <a:latin typeface="微软雅黑 Light" panose="020B0502040204020203" pitchFamily="34" charset="-122"/>
                <a:ea typeface="微软雅黑 Light" panose="020B0502040204020203" pitchFamily="34" charset="-122"/>
              </a:rPr>
              <a:t>(pull)</a:t>
            </a:r>
            <a:endParaRPr lang="zh-CN" altLang="en-US" sz="1400" b="1" dirty="0">
              <a:solidFill>
                <a:srgbClr val="C00000"/>
              </a:solidFill>
              <a:latin typeface="微软雅黑 Light" panose="020B0502040204020203" pitchFamily="34" charset="-122"/>
              <a:ea typeface="微软雅黑 Light" panose="020B0502040204020203" pitchFamily="34" charset="-122"/>
            </a:endParaRPr>
          </a:p>
        </p:txBody>
      </p:sp>
      <p:sp>
        <p:nvSpPr>
          <p:cNvPr id="2" name="标题 1">
            <a:extLst>
              <a:ext uri="{FF2B5EF4-FFF2-40B4-BE49-F238E27FC236}">
                <a16:creationId xmlns:a16="http://schemas.microsoft.com/office/drawing/2014/main" id="{3748AB37-A5BB-66C1-9F45-FB48A97D9195}"/>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发送和接收</a:t>
            </a:r>
          </a:p>
        </p:txBody>
      </p:sp>
      <p:sp>
        <p:nvSpPr>
          <p:cNvPr id="399" name="内容占位符 398">
            <a:extLst>
              <a:ext uri="{FF2B5EF4-FFF2-40B4-BE49-F238E27FC236}">
                <a16:creationId xmlns:a16="http://schemas.microsoft.com/office/drawing/2014/main" id="{0A142075-BC1C-5C21-529B-1DF49D230E9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39602831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repeatCount="3000" fill="hold" grpId="0" nodeType="withEffect">
                                  <p:stCondLst>
                                    <p:cond delay="0"/>
                                  </p:stCondLst>
                                  <p:childTnLst>
                                    <p:set>
                                      <p:cBhvr>
                                        <p:cTn id="6" dur="1" fill="hold">
                                          <p:stCondLst>
                                            <p:cond delay="0"/>
                                          </p:stCondLst>
                                        </p:cTn>
                                        <p:tgtEl>
                                          <p:spTgt spid="353"/>
                                        </p:tgtEl>
                                        <p:attrNameLst>
                                          <p:attrName>style.visibility</p:attrName>
                                        </p:attrNameLst>
                                      </p:cBhvr>
                                      <p:to>
                                        <p:strVal val="visible"/>
                                      </p:to>
                                    </p:set>
                                    <p:animEffect transition="in" filter="wipe(left)">
                                      <p:cBhvr>
                                        <p:cTn id="7" dur="1000"/>
                                        <p:tgtEl>
                                          <p:spTgt spid="353"/>
                                        </p:tgtEl>
                                      </p:cBhvr>
                                    </p:animEffect>
                                  </p:childTnLst>
                                </p:cTn>
                              </p:par>
                              <p:par>
                                <p:cTn id="8" presetID="22" presetClass="entr" presetSubtype="8" repeatCount="3000" fill="hold" grpId="0" nodeType="withEffect">
                                  <p:stCondLst>
                                    <p:cond delay="0"/>
                                  </p:stCondLst>
                                  <p:childTnLst>
                                    <p:set>
                                      <p:cBhvr>
                                        <p:cTn id="9" dur="1" fill="hold">
                                          <p:stCondLst>
                                            <p:cond delay="0"/>
                                          </p:stCondLst>
                                        </p:cTn>
                                        <p:tgtEl>
                                          <p:spTgt spid="351"/>
                                        </p:tgtEl>
                                        <p:attrNameLst>
                                          <p:attrName>style.visibility</p:attrName>
                                        </p:attrNameLst>
                                      </p:cBhvr>
                                      <p:to>
                                        <p:strVal val="visible"/>
                                      </p:to>
                                    </p:set>
                                    <p:animEffect transition="in" filter="wipe(left)">
                                      <p:cBhvr>
                                        <p:cTn id="10" dur="1000"/>
                                        <p:tgtEl>
                                          <p:spTgt spid="351"/>
                                        </p:tgtEl>
                                      </p:cBhvr>
                                    </p:animEffect>
                                  </p:childTnLst>
                                </p:cTn>
                              </p:par>
                              <p:par>
                                <p:cTn id="11" presetID="35" presetClass="emph" presetSubtype="0" repeatCount="3000" fill="hold" grpId="0" nodeType="withEffect">
                                  <p:stCondLst>
                                    <p:cond delay="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40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1" grpId="0" animBg="1"/>
      <p:bldP spid="353" grpId="0" animBg="1"/>
      <p:bldP spid="3" grpId="0"/>
      <p:bldP spid="401" grpId="0"/>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F41DD8C-2E8B-C9E1-F9E6-6318E7447DAE}"/>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电子邮件的组成</a:t>
            </a:r>
          </a:p>
        </p:txBody>
      </p:sp>
      <p:sp>
        <p:nvSpPr>
          <p:cNvPr id="8" name="内容占位符 7">
            <a:extLst>
              <a:ext uri="{FF2B5EF4-FFF2-40B4-BE49-F238E27FC236}">
                <a16:creationId xmlns:a16="http://schemas.microsoft.com/office/drawing/2014/main" id="{6419A2E2-3324-212D-EC39-ED415BFC3911}"/>
              </a:ext>
            </a:extLst>
          </p:cNvPr>
          <p:cNvSpPr>
            <a:spLocks noGrp="1"/>
          </p:cNvSpPr>
          <p:nvPr>
            <p:ph sz="quarter" idx="11"/>
          </p:nvPr>
        </p:nvSpPr>
        <p:spPr>
          <a:xfrm>
            <a:off x="486000" y="687518"/>
            <a:ext cx="8172000" cy="4079035"/>
          </a:xfrm>
        </p:spPr>
        <p:txBody>
          <a:bodyPr/>
          <a:lstStyle/>
          <a:p>
            <a:r>
              <a:rPr lang="zh-CN" altLang="en-US" dirty="0"/>
              <a:t>电子邮件由信封 </a:t>
            </a:r>
            <a:r>
              <a:rPr lang="en-US" altLang="zh-CN" dirty="0"/>
              <a:t>envelope </a:t>
            </a:r>
            <a:r>
              <a:rPr lang="zh-CN" altLang="en-US" dirty="0"/>
              <a:t>和内容 </a:t>
            </a:r>
            <a:r>
              <a:rPr lang="en-US" altLang="zh-CN" dirty="0"/>
              <a:t>content </a:t>
            </a:r>
            <a:r>
              <a:rPr lang="zh-CN" altLang="en-US" dirty="0"/>
              <a:t>两部分组成</a:t>
            </a:r>
          </a:p>
          <a:p>
            <a:r>
              <a:rPr lang="zh-CN" altLang="en-US" dirty="0"/>
              <a:t>电子邮件的传输程序根据邮件信封上的信息来传送邮件</a:t>
            </a:r>
            <a:endParaRPr lang="en-US" altLang="zh-CN" dirty="0"/>
          </a:p>
          <a:p>
            <a:r>
              <a:rPr lang="zh-CN" altLang="en-US" dirty="0"/>
              <a:t>用户在从自己的邮箱中读取邮件时才能见到邮件的内容</a:t>
            </a:r>
          </a:p>
          <a:p>
            <a:endParaRPr lang="zh-CN" altLang="en-US" dirty="0"/>
          </a:p>
        </p:txBody>
      </p:sp>
    </p:spTree>
    <p:extLst>
      <p:ext uri="{BB962C8B-B14F-4D97-AF65-F5344CB8AC3E}">
        <p14:creationId xmlns:p14="http://schemas.microsoft.com/office/powerpoint/2010/main" val="2989273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435BA3A7-2170-1829-3FD4-E448895FD65A}"/>
              </a:ext>
            </a:extLst>
          </p:cNvPr>
          <p:cNvSpPr>
            <a:spLocks noGrp="1"/>
          </p:cNvSpPr>
          <p:nvPr>
            <p:ph type="title"/>
          </p:nvPr>
        </p:nvSpPr>
        <p:spPr>
          <a:xfrm>
            <a:off x="485999" y="174482"/>
            <a:ext cx="8171999" cy="338554"/>
          </a:xfrm>
        </p:spPr>
        <p:txBody>
          <a:bodyPr/>
          <a:lstStyle/>
          <a:p>
            <a:r>
              <a:rPr lang="en-US" altLang="zh-CN" dirty="0"/>
              <a:t>6.5.1 </a:t>
            </a:r>
            <a:r>
              <a:rPr lang="zh-CN" altLang="en-US" dirty="0"/>
              <a:t>电子邮件 </a:t>
            </a:r>
            <a:r>
              <a:rPr lang="en-US" altLang="zh-CN" dirty="0"/>
              <a:t>- </a:t>
            </a:r>
            <a:r>
              <a:rPr lang="zh-CN" altLang="en-US" dirty="0"/>
              <a:t>电子邮件地址的格式</a:t>
            </a:r>
          </a:p>
        </p:txBody>
      </p:sp>
      <p:sp>
        <p:nvSpPr>
          <p:cNvPr id="20" name="内容占位符 19">
            <a:extLst>
              <a:ext uri="{FF2B5EF4-FFF2-40B4-BE49-F238E27FC236}">
                <a16:creationId xmlns:a16="http://schemas.microsoft.com/office/drawing/2014/main" id="{96B3ECB5-533A-6838-6726-CB1C091B751E}"/>
              </a:ext>
            </a:extLst>
          </p:cNvPr>
          <p:cNvSpPr>
            <a:spLocks noGrp="1"/>
          </p:cNvSpPr>
          <p:nvPr>
            <p:ph sz="quarter" idx="11"/>
          </p:nvPr>
        </p:nvSpPr>
        <p:spPr>
          <a:xfrm>
            <a:off x="486000" y="687518"/>
            <a:ext cx="8172000" cy="4079035"/>
          </a:xfrm>
        </p:spPr>
        <p:txBody>
          <a:bodyPr/>
          <a:lstStyle/>
          <a:p>
            <a:r>
              <a:rPr lang="zh-CN" altLang="en-US" dirty="0"/>
              <a:t>在邮件的信封上，最重要的就是收件人的地址</a:t>
            </a:r>
            <a:endParaRPr lang="en-US" altLang="zh-CN" dirty="0"/>
          </a:p>
          <a:p>
            <a:r>
              <a:rPr lang="en-US" altLang="zh-CN" dirty="0"/>
              <a:t>TCP/IP </a:t>
            </a:r>
            <a:r>
              <a:rPr lang="zh-CN" altLang="en-US" dirty="0"/>
              <a:t>体系的电子邮件系统规定电子邮件地址的格式如下</a:t>
            </a:r>
            <a:endParaRPr lang="en-US" altLang="zh-CN" dirty="0"/>
          </a:p>
          <a:p>
            <a:pPr lvl="1"/>
            <a:r>
              <a:rPr lang="zh-CN" altLang="en-US" dirty="0"/>
              <a:t>收件人邮箱名：也叫用户名，在该域名的范围内应唯一；</a:t>
            </a:r>
            <a:r>
              <a:rPr lang="zh-CN" altLang="en-US" b="1" dirty="0">
                <a:solidFill>
                  <a:srgbClr val="FF0000"/>
                </a:solidFill>
              </a:rPr>
              <a:t>不能有同名用户</a:t>
            </a:r>
            <a:endParaRPr lang="en-US" altLang="zh-CN" b="1" dirty="0">
              <a:solidFill>
                <a:srgbClr val="FF0000"/>
              </a:solidFill>
            </a:endParaRPr>
          </a:p>
          <a:p>
            <a:pPr lvl="1"/>
            <a:r>
              <a:rPr lang="zh-CN" altLang="en-US" dirty="0"/>
              <a:t>邮箱所在的主机的域名，在全世界应唯一 ；</a:t>
            </a:r>
            <a:r>
              <a:rPr lang="zh-CN" altLang="en-US" b="1" dirty="0">
                <a:solidFill>
                  <a:srgbClr val="FF0000"/>
                </a:solidFill>
              </a:rPr>
              <a:t>不能有相同域名</a:t>
            </a:r>
          </a:p>
          <a:p>
            <a:pPr lvl="1"/>
            <a:endParaRPr lang="en-US" altLang="zh-CN" dirty="0"/>
          </a:p>
        </p:txBody>
      </p:sp>
      <p:sp>
        <p:nvSpPr>
          <p:cNvPr id="5" name="矩形 4"/>
          <p:cNvSpPr/>
          <p:nvPr/>
        </p:nvSpPr>
        <p:spPr>
          <a:xfrm>
            <a:off x="1047565" y="1992978"/>
            <a:ext cx="6880196" cy="409101"/>
          </a:xfrm>
          <a:prstGeom prst="rect">
            <a:avLst/>
          </a:prstGeom>
          <a:solidFill>
            <a:schemeClr val="bg1">
              <a:lumMod val="95000"/>
            </a:schemeClr>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Montserrat" panose="00000500000000000000" pitchFamily="2" charset="0"/>
                <a:ea typeface="微软雅黑 Light" panose="020B0502040204020203" pitchFamily="34" charset="-122"/>
              </a:rPr>
              <a:t>收件人邮箱名</a:t>
            </a:r>
            <a:r>
              <a:rPr lang="en-US" altLang="zh-CN" sz="1600" dirty="0">
                <a:solidFill>
                  <a:schemeClr val="tx1"/>
                </a:solidFill>
                <a:latin typeface="Montserrat" panose="00000500000000000000" pitchFamily="2" charset="0"/>
                <a:ea typeface="微软雅黑 Light" panose="020B0502040204020203" pitchFamily="34" charset="-122"/>
              </a:rPr>
              <a:t>@</a:t>
            </a:r>
            <a:r>
              <a:rPr lang="zh-CN" altLang="en-US" sz="1600" dirty="0">
                <a:solidFill>
                  <a:schemeClr val="tx1"/>
                </a:solidFill>
                <a:latin typeface="Montserrat" panose="00000500000000000000" pitchFamily="2" charset="0"/>
                <a:ea typeface="微软雅黑 Light" panose="020B0502040204020203" pitchFamily="34" charset="-122"/>
              </a:rPr>
              <a:t>邮箱所在主机的域名</a:t>
            </a:r>
            <a:endParaRPr lang="en-US" altLang="zh-CN" sz="1600" dirty="0">
              <a:solidFill>
                <a:schemeClr val="tx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581821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E2E2C3FA-D10D-C0D4-F31D-B25329C87C36}"/>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40" name="内容占位符 39">
            <a:extLst>
              <a:ext uri="{FF2B5EF4-FFF2-40B4-BE49-F238E27FC236}">
                <a16:creationId xmlns:a16="http://schemas.microsoft.com/office/drawing/2014/main" id="{42E32B24-FD1B-6FB5-8EF8-2DD65DD5E424}"/>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规定了在两个相互通信的 </a:t>
            </a:r>
            <a:r>
              <a:rPr lang="en-US" altLang="zh-CN" dirty="0"/>
              <a:t>SMTP </a:t>
            </a:r>
            <a:r>
              <a:rPr lang="zh-CN" altLang="en-US" dirty="0"/>
              <a:t>进程之间交换信息的方法</a:t>
            </a:r>
            <a:endParaRPr lang="en-US" altLang="zh-CN" dirty="0"/>
          </a:p>
          <a:p>
            <a:r>
              <a:rPr lang="en-US" altLang="zh-CN" dirty="0"/>
              <a:t>SMTP </a:t>
            </a:r>
            <a:r>
              <a:rPr lang="zh-CN" altLang="en-US" dirty="0"/>
              <a:t>使用客户</a:t>
            </a:r>
            <a:r>
              <a:rPr lang="en-US" altLang="zh-CN" dirty="0"/>
              <a:t>/</a:t>
            </a:r>
            <a:r>
              <a:rPr lang="zh-CN" altLang="en-US" dirty="0"/>
              <a:t>服务器方式 </a:t>
            </a:r>
            <a:r>
              <a:rPr lang="en-US" altLang="zh-CN" dirty="0"/>
              <a:t>– C/S</a:t>
            </a:r>
          </a:p>
          <a:p>
            <a:r>
              <a:rPr lang="en-US" altLang="zh-CN" dirty="0"/>
              <a:t>SMTP </a:t>
            </a:r>
            <a:r>
              <a:rPr lang="zh-CN" altLang="en-US" dirty="0"/>
              <a:t>基于 </a:t>
            </a:r>
            <a:r>
              <a:rPr lang="en-US" altLang="zh-CN" dirty="0"/>
              <a:t>TCP </a:t>
            </a:r>
            <a:r>
              <a:rPr lang="zh-CN" altLang="en-US" dirty="0"/>
              <a:t>实现客户与服务器的通信</a:t>
            </a:r>
            <a:endParaRPr lang="en-US" altLang="zh-CN" dirty="0"/>
          </a:p>
          <a:p>
            <a:endParaRPr lang="zh-CN" altLang="en-US" dirty="0"/>
          </a:p>
        </p:txBody>
      </p:sp>
      <p:sp>
        <p:nvSpPr>
          <p:cNvPr id="2" name="Rectangle 386">
            <a:extLst>
              <a:ext uri="{FF2B5EF4-FFF2-40B4-BE49-F238E27FC236}">
                <a16:creationId xmlns:a16="http://schemas.microsoft.com/office/drawing/2014/main" id="{A724A476-D0B0-00E3-8821-29862B6585B8}"/>
              </a:ext>
            </a:extLst>
          </p:cNvPr>
          <p:cNvSpPr>
            <a:spLocks noChangeArrowheads="1"/>
          </p:cNvSpPr>
          <p:nvPr/>
        </p:nvSpPr>
        <p:spPr bwMode="auto">
          <a:xfrm>
            <a:off x="3019580" y="2954468"/>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3" name="Rectangle 387">
            <a:extLst>
              <a:ext uri="{FF2B5EF4-FFF2-40B4-BE49-F238E27FC236}">
                <a16:creationId xmlns:a16="http://schemas.microsoft.com/office/drawing/2014/main" id="{123A4F9E-615D-001A-F832-230012021538}"/>
              </a:ext>
            </a:extLst>
          </p:cNvPr>
          <p:cNvSpPr>
            <a:spLocks noChangeArrowheads="1"/>
          </p:cNvSpPr>
          <p:nvPr/>
        </p:nvSpPr>
        <p:spPr bwMode="auto">
          <a:xfrm>
            <a:off x="1657456" y="2954468"/>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 name="Line 388">
            <a:extLst>
              <a:ext uri="{FF2B5EF4-FFF2-40B4-BE49-F238E27FC236}">
                <a16:creationId xmlns:a16="http://schemas.microsoft.com/office/drawing/2014/main" id="{0575DDC7-6BDC-2BBA-BCB5-8B68E63CE9D3}"/>
              </a:ext>
            </a:extLst>
          </p:cNvPr>
          <p:cNvSpPr>
            <a:spLocks noChangeShapeType="1"/>
          </p:cNvSpPr>
          <p:nvPr/>
        </p:nvSpPr>
        <p:spPr bwMode="auto">
          <a:xfrm>
            <a:off x="2134011" y="3297240"/>
            <a:ext cx="941856"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7" name="Oval 397">
            <a:extLst>
              <a:ext uri="{FF2B5EF4-FFF2-40B4-BE49-F238E27FC236}">
                <a16:creationId xmlns:a16="http://schemas.microsoft.com/office/drawing/2014/main" id="{06A82C93-0A2D-33BF-AF02-405AE3D7FE59}"/>
              </a:ext>
            </a:extLst>
          </p:cNvPr>
          <p:cNvSpPr>
            <a:spLocks noChangeArrowheads="1"/>
          </p:cNvSpPr>
          <p:nvPr/>
        </p:nvSpPr>
        <p:spPr bwMode="auto">
          <a:xfrm>
            <a:off x="1713742"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8" name="Oval 405">
            <a:extLst>
              <a:ext uri="{FF2B5EF4-FFF2-40B4-BE49-F238E27FC236}">
                <a16:creationId xmlns:a16="http://schemas.microsoft.com/office/drawing/2014/main" id="{2650CEEA-0E39-63BA-CBF6-DD7F96833C6E}"/>
              </a:ext>
            </a:extLst>
          </p:cNvPr>
          <p:cNvSpPr>
            <a:spLocks noChangeArrowheads="1"/>
          </p:cNvSpPr>
          <p:nvPr/>
        </p:nvSpPr>
        <p:spPr bwMode="auto">
          <a:xfrm>
            <a:off x="3077118" y="3018354"/>
            <a:ext cx="566615"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9" name="Oval 406">
            <a:extLst>
              <a:ext uri="{FF2B5EF4-FFF2-40B4-BE49-F238E27FC236}">
                <a16:creationId xmlns:a16="http://schemas.microsoft.com/office/drawing/2014/main" id="{B3120303-2C74-41E4-334E-169EE245A952}"/>
              </a:ext>
            </a:extLst>
          </p:cNvPr>
          <p:cNvSpPr>
            <a:spLocks noChangeArrowheads="1"/>
          </p:cNvSpPr>
          <p:nvPr/>
        </p:nvSpPr>
        <p:spPr bwMode="auto">
          <a:xfrm>
            <a:off x="3077118" y="3631413"/>
            <a:ext cx="566615"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0" name="Text Box 399">
            <a:extLst>
              <a:ext uri="{FF2B5EF4-FFF2-40B4-BE49-F238E27FC236}">
                <a16:creationId xmlns:a16="http://schemas.microsoft.com/office/drawing/2014/main" id="{D1BE9778-C628-C178-B667-AB307F3EECA0}"/>
              </a:ext>
            </a:extLst>
          </p:cNvPr>
          <p:cNvSpPr txBox="1">
            <a:spLocks noChangeArrowheads="1"/>
          </p:cNvSpPr>
          <p:nvPr/>
        </p:nvSpPr>
        <p:spPr bwMode="auto">
          <a:xfrm>
            <a:off x="729032"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11" name="对象 10">
            <a:extLst>
              <a:ext uri="{FF2B5EF4-FFF2-40B4-BE49-F238E27FC236}">
                <a16:creationId xmlns:a16="http://schemas.microsoft.com/office/drawing/2014/main" id="{E632E000-0A4E-EEE8-7CCA-2886336660CA}"/>
              </a:ext>
            </a:extLst>
          </p:cNvPr>
          <p:cNvGraphicFramePr>
            <a:graphicFrameLocks noChangeAspect="1"/>
          </p:cNvGraphicFramePr>
          <p:nvPr>
            <p:extLst>
              <p:ext uri="{D42A27DB-BD31-4B8C-83A1-F6EECF244321}">
                <p14:modId xmlns:p14="http://schemas.microsoft.com/office/powerpoint/2010/main" val="1200417157"/>
              </p:ext>
            </p:extLst>
          </p:nvPr>
        </p:nvGraphicFramePr>
        <p:xfrm>
          <a:off x="875180" y="2994454"/>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2994454"/>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12" name="Rectangle 385">
            <a:extLst>
              <a:ext uri="{FF2B5EF4-FFF2-40B4-BE49-F238E27FC236}">
                <a16:creationId xmlns:a16="http://schemas.microsoft.com/office/drawing/2014/main" id="{DEFECB9D-DC99-0CF2-8E4E-9A780993FD0F}"/>
              </a:ext>
            </a:extLst>
          </p:cNvPr>
          <p:cNvSpPr>
            <a:spLocks noChangeArrowheads="1"/>
          </p:cNvSpPr>
          <p:nvPr/>
        </p:nvSpPr>
        <p:spPr bwMode="auto">
          <a:xfrm>
            <a:off x="6835923"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3" name="Text Box 395">
            <a:extLst>
              <a:ext uri="{FF2B5EF4-FFF2-40B4-BE49-F238E27FC236}">
                <a16:creationId xmlns:a16="http://schemas.microsoft.com/office/drawing/2014/main" id="{498ADED1-C7FC-2248-CEEA-3CF1039F7D21}"/>
              </a:ext>
            </a:extLst>
          </p:cNvPr>
          <p:cNvSpPr txBox="1">
            <a:spLocks noChangeArrowheads="1"/>
          </p:cNvSpPr>
          <p:nvPr/>
        </p:nvSpPr>
        <p:spPr bwMode="auto">
          <a:xfrm>
            <a:off x="626088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14" name="Oval 398">
            <a:extLst>
              <a:ext uri="{FF2B5EF4-FFF2-40B4-BE49-F238E27FC236}">
                <a16:creationId xmlns:a16="http://schemas.microsoft.com/office/drawing/2014/main" id="{CFD06A13-40B3-CAA6-5A97-9E6716394690}"/>
              </a:ext>
            </a:extLst>
          </p:cNvPr>
          <p:cNvSpPr>
            <a:spLocks noChangeArrowheads="1"/>
          </p:cNvSpPr>
          <p:nvPr/>
        </p:nvSpPr>
        <p:spPr bwMode="auto">
          <a:xfrm>
            <a:off x="6892210"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15" name="Rectangle 401">
            <a:extLst>
              <a:ext uri="{FF2B5EF4-FFF2-40B4-BE49-F238E27FC236}">
                <a16:creationId xmlns:a16="http://schemas.microsoft.com/office/drawing/2014/main" id="{6ABFE8D1-D36E-AC98-2872-5847CBE27570}"/>
              </a:ext>
            </a:extLst>
          </p:cNvPr>
          <p:cNvSpPr>
            <a:spLocks noChangeArrowheads="1"/>
          </p:cNvSpPr>
          <p:nvPr/>
        </p:nvSpPr>
        <p:spPr bwMode="auto">
          <a:xfrm>
            <a:off x="5475048" y="2963069"/>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16" name="Oval 402">
            <a:extLst>
              <a:ext uri="{FF2B5EF4-FFF2-40B4-BE49-F238E27FC236}">
                <a16:creationId xmlns:a16="http://schemas.microsoft.com/office/drawing/2014/main" id="{C69D28E0-9DA6-B88D-7569-3A2E60F53A0E}"/>
              </a:ext>
            </a:extLst>
          </p:cNvPr>
          <p:cNvSpPr>
            <a:spLocks noChangeArrowheads="1"/>
          </p:cNvSpPr>
          <p:nvPr/>
        </p:nvSpPr>
        <p:spPr bwMode="auto">
          <a:xfrm>
            <a:off x="5531335" y="3631413"/>
            <a:ext cx="566614" cy="556543"/>
          </a:xfrm>
          <a:prstGeom prst="ellipse">
            <a:avLst/>
          </a:prstGeom>
          <a:solidFill>
            <a:srgbClr val="4BACC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SMTP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17" name="Oval 403">
            <a:extLst>
              <a:ext uri="{FF2B5EF4-FFF2-40B4-BE49-F238E27FC236}">
                <a16:creationId xmlns:a16="http://schemas.microsoft.com/office/drawing/2014/main" id="{443222C0-EA2E-5C34-D405-83703CD1A9B9}"/>
              </a:ext>
            </a:extLst>
          </p:cNvPr>
          <p:cNvSpPr>
            <a:spLocks noChangeArrowheads="1"/>
          </p:cNvSpPr>
          <p:nvPr/>
        </p:nvSpPr>
        <p:spPr bwMode="auto">
          <a:xfrm>
            <a:off x="5531335" y="3018354"/>
            <a:ext cx="566614"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POP3</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18" name="Line 408">
            <a:extLst>
              <a:ext uri="{FF2B5EF4-FFF2-40B4-BE49-F238E27FC236}">
                <a16:creationId xmlns:a16="http://schemas.microsoft.com/office/drawing/2014/main" id="{074D429A-7B28-5532-4B62-4095DFBA1248}"/>
              </a:ext>
            </a:extLst>
          </p:cNvPr>
          <p:cNvSpPr>
            <a:spLocks noChangeShapeType="1"/>
          </p:cNvSpPr>
          <p:nvPr/>
        </p:nvSpPr>
        <p:spPr bwMode="auto">
          <a:xfrm flipV="1">
            <a:off x="6097949" y="3297240"/>
            <a:ext cx="794261"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19" name="对象 18">
            <a:extLst>
              <a:ext uri="{FF2B5EF4-FFF2-40B4-BE49-F238E27FC236}">
                <a16:creationId xmlns:a16="http://schemas.microsoft.com/office/drawing/2014/main" id="{3440EC47-B729-6BAC-44D2-BC65C2C54FD6}"/>
              </a:ext>
            </a:extLst>
          </p:cNvPr>
          <p:cNvGraphicFramePr>
            <a:graphicFrameLocks noChangeAspect="1"/>
          </p:cNvGraphicFramePr>
          <p:nvPr>
            <p:extLst>
              <p:ext uri="{D42A27DB-BD31-4B8C-83A1-F6EECF244321}">
                <p14:modId xmlns:p14="http://schemas.microsoft.com/office/powerpoint/2010/main" val="1284987437"/>
              </p:ext>
            </p:extLst>
          </p:nvPr>
        </p:nvGraphicFramePr>
        <p:xfrm>
          <a:off x="7744964" y="2994454"/>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2994454"/>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0" name="Text Box 399">
            <a:extLst>
              <a:ext uri="{FF2B5EF4-FFF2-40B4-BE49-F238E27FC236}">
                <a16:creationId xmlns:a16="http://schemas.microsoft.com/office/drawing/2014/main" id="{5F746FA6-2F79-72C5-4D70-C32E99B923A4}"/>
              </a:ext>
            </a:extLst>
          </p:cNvPr>
          <p:cNvSpPr txBox="1">
            <a:spLocks noChangeArrowheads="1"/>
          </p:cNvSpPr>
          <p:nvPr/>
        </p:nvSpPr>
        <p:spPr bwMode="auto">
          <a:xfrm>
            <a:off x="7815300" y="2585512"/>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21" name="Line 404">
            <a:extLst>
              <a:ext uri="{FF2B5EF4-FFF2-40B4-BE49-F238E27FC236}">
                <a16:creationId xmlns:a16="http://schemas.microsoft.com/office/drawing/2014/main" id="{8B3BD637-59A8-29C6-F17E-79AFDC34C73D}"/>
              </a:ext>
            </a:extLst>
          </p:cNvPr>
          <p:cNvSpPr>
            <a:spLocks noChangeShapeType="1"/>
          </p:cNvSpPr>
          <p:nvPr/>
        </p:nvSpPr>
        <p:spPr bwMode="auto">
          <a:xfrm flipV="1">
            <a:off x="3628236" y="3910299"/>
            <a:ext cx="1928643" cy="0"/>
          </a:xfrm>
          <a:prstGeom prst="line">
            <a:avLst/>
          </a:prstGeom>
          <a:noFill/>
          <a:ln w="38100">
            <a:solidFill>
              <a:srgbClr val="4BACC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22" name="Text Box 409">
            <a:extLst>
              <a:ext uri="{FF2B5EF4-FFF2-40B4-BE49-F238E27FC236}">
                <a16:creationId xmlns:a16="http://schemas.microsoft.com/office/drawing/2014/main" id="{ECEC3C0A-6511-53A4-5814-63ABF616AAB4}"/>
              </a:ext>
            </a:extLst>
          </p:cNvPr>
          <p:cNvSpPr txBox="1">
            <a:spLocks noChangeArrowheads="1"/>
          </p:cNvSpPr>
          <p:nvPr/>
        </p:nvSpPr>
        <p:spPr bwMode="auto">
          <a:xfrm>
            <a:off x="4345535" y="3927498"/>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solidFill>
                  <a:srgbClr val="4BACC6"/>
                </a:solidFill>
                <a:latin typeface="Montserrat" panose="00000500000000000000" pitchFamily="2" charset="0"/>
                <a:ea typeface="微软雅黑 Light" panose="020B0502040204020203" pitchFamily="34" charset="-122"/>
              </a:rPr>
              <a:t>TCP</a:t>
            </a:r>
            <a:endParaRPr kumimoji="1" lang="zh-CN" altLang="en-US" sz="1200" dirty="0">
              <a:solidFill>
                <a:srgbClr val="4BACC6"/>
              </a:solidFill>
              <a:latin typeface="Montserrat" panose="00000500000000000000" pitchFamily="2" charset="0"/>
              <a:ea typeface="微软雅黑 Light" panose="020B0502040204020203" pitchFamily="34" charset="-122"/>
            </a:endParaRPr>
          </a:p>
        </p:txBody>
      </p:sp>
      <p:sp>
        <p:nvSpPr>
          <p:cNvPr id="23" name="圆角矩形 418">
            <a:extLst>
              <a:ext uri="{FF2B5EF4-FFF2-40B4-BE49-F238E27FC236}">
                <a16:creationId xmlns:a16="http://schemas.microsoft.com/office/drawing/2014/main" id="{3D8E1EB5-AC6D-1C49-A040-DC734105E30A}"/>
              </a:ext>
            </a:extLst>
          </p:cNvPr>
          <p:cNvSpPr/>
          <p:nvPr/>
        </p:nvSpPr>
        <p:spPr>
          <a:xfrm>
            <a:off x="1484031" y="2384473"/>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25" name="Text Box 396">
            <a:extLst>
              <a:ext uri="{FF2B5EF4-FFF2-40B4-BE49-F238E27FC236}">
                <a16:creationId xmlns:a16="http://schemas.microsoft.com/office/drawing/2014/main" id="{651C22AB-8D69-918C-BB62-676ABECA65AE}"/>
              </a:ext>
            </a:extLst>
          </p:cNvPr>
          <p:cNvSpPr txBox="1">
            <a:spLocks noChangeArrowheads="1"/>
          </p:cNvSpPr>
          <p:nvPr/>
        </p:nvSpPr>
        <p:spPr bwMode="auto">
          <a:xfrm>
            <a:off x="2917836"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6" name="Text Box 399">
            <a:extLst>
              <a:ext uri="{FF2B5EF4-FFF2-40B4-BE49-F238E27FC236}">
                <a16:creationId xmlns:a16="http://schemas.microsoft.com/office/drawing/2014/main" id="{23B6932A-0074-C9C4-C049-CD33AA87B8EC}"/>
              </a:ext>
            </a:extLst>
          </p:cNvPr>
          <p:cNvSpPr txBox="1">
            <a:spLocks noChangeArrowheads="1"/>
          </p:cNvSpPr>
          <p:nvPr/>
        </p:nvSpPr>
        <p:spPr bwMode="auto">
          <a:xfrm>
            <a:off x="1621814"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27" name="Text Box 390">
            <a:extLst>
              <a:ext uri="{FF2B5EF4-FFF2-40B4-BE49-F238E27FC236}">
                <a16:creationId xmlns:a16="http://schemas.microsoft.com/office/drawing/2014/main" id="{018389EB-3363-7032-D6F9-5C071E505873}"/>
              </a:ext>
            </a:extLst>
          </p:cNvPr>
          <p:cNvSpPr txBox="1">
            <a:spLocks noChangeArrowheads="1"/>
          </p:cNvSpPr>
          <p:nvPr/>
        </p:nvSpPr>
        <p:spPr bwMode="auto">
          <a:xfrm>
            <a:off x="6202370" y="3004550"/>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POP3</a:t>
            </a:r>
          </a:p>
        </p:txBody>
      </p:sp>
      <p:sp>
        <p:nvSpPr>
          <p:cNvPr id="28" name="Text Box 400">
            <a:extLst>
              <a:ext uri="{FF2B5EF4-FFF2-40B4-BE49-F238E27FC236}">
                <a16:creationId xmlns:a16="http://schemas.microsoft.com/office/drawing/2014/main" id="{37A83544-68F3-46C5-5D05-9C592125C683}"/>
              </a:ext>
            </a:extLst>
          </p:cNvPr>
          <p:cNvSpPr txBox="1">
            <a:spLocks noChangeArrowheads="1"/>
          </p:cNvSpPr>
          <p:nvPr/>
        </p:nvSpPr>
        <p:spPr bwMode="auto">
          <a:xfrm>
            <a:off x="5361275" y="2482696"/>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29" name="Text Box 407">
            <a:extLst>
              <a:ext uri="{FF2B5EF4-FFF2-40B4-BE49-F238E27FC236}">
                <a16:creationId xmlns:a16="http://schemas.microsoft.com/office/drawing/2014/main" id="{9CC706C5-54F6-0DFE-4C65-52AFD6CBF003}"/>
              </a:ext>
            </a:extLst>
          </p:cNvPr>
          <p:cNvSpPr txBox="1">
            <a:spLocks noChangeArrowheads="1"/>
          </p:cNvSpPr>
          <p:nvPr/>
        </p:nvSpPr>
        <p:spPr bwMode="auto">
          <a:xfrm>
            <a:off x="6808085" y="2482696"/>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30" name="Text Box 392">
            <a:extLst>
              <a:ext uri="{FF2B5EF4-FFF2-40B4-BE49-F238E27FC236}">
                <a16:creationId xmlns:a16="http://schemas.microsoft.com/office/drawing/2014/main" id="{41C95EC8-9EAD-7DF2-E118-17C8E31FE22A}"/>
              </a:ext>
            </a:extLst>
          </p:cNvPr>
          <p:cNvSpPr txBox="1">
            <a:spLocks noChangeArrowheads="1"/>
          </p:cNvSpPr>
          <p:nvPr/>
        </p:nvSpPr>
        <p:spPr bwMode="auto">
          <a:xfrm>
            <a:off x="4259773" y="3630184"/>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solidFill>
                  <a:srgbClr val="4BACC6"/>
                </a:solidFill>
                <a:latin typeface="Montserrat" panose="00000500000000000000" pitchFamily="2" charset="0"/>
                <a:ea typeface="微软雅黑 Light" panose="020B0502040204020203" pitchFamily="34" charset="-122"/>
              </a:rPr>
              <a:t> </a:t>
            </a:r>
            <a:r>
              <a:rPr kumimoji="1" lang="en-US" altLang="zh-CN" sz="1200" dirty="0">
                <a:solidFill>
                  <a:srgbClr val="4BACC6"/>
                </a:solidFill>
                <a:latin typeface="Montserrat" panose="00000500000000000000" pitchFamily="2" charset="0"/>
                <a:ea typeface="微软雅黑 Light" panose="020B0502040204020203" pitchFamily="34" charset="-122"/>
              </a:rPr>
              <a:t>SMTP</a:t>
            </a:r>
          </a:p>
        </p:txBody>
      </p:sp>
      <p:sp>
        <p:nvSpPr>
          <p:cNvPr id="31" name="Text Box 394">
            <a:extLst>
              <a:ext uri="{FF2B5EF4-FFF2-40B4-BE49-F238E27FC236}">
                <a16:creationId xmlns:a16="http://schemas.microsoft.com/office/drawing/2014/main" id="{B2973D6B-3517-1A75-3F9A-47DF7B0F9149}"/>
              </a:ext>
            </a:extLst>
          </p:cNvPr>
          <p:cNvSpPr txBox="1">
            <a:spLocks noChangeArrowheads="1"/>
          </p:cNvSpPr>
          <p:nvPr/>
        </p:nvSpPr>
        <p:spPr bwMode="auto">
          <a:xfrm>
            <a:off x="2443311" y="3404526"/>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32" name="Text Box 389">
            <a:extLst>
              <a:ext uri="{FF2B5EF4-FFF2-40B4-BE49-F238E27FC236}">
                <a16:creationId xmlns:a16="http://schemas.microsoft.com/office/drawing/2014/main" id="{413A6EB6-EB20-2D96-C7A4-59723435D575}"/>
              </a:ext>
            </a:extLst>
          </p:cNvPr>
          <p:cNvSpPr txBox="1">
            <a:spLocks noChangeArrowheads="1"/>
          </p:cNvSpPr>
          <p:nvPr/>
        </p:nvSpPr>
        <p:spPr bwMode="auto">
          <a:xfrm>
            <a:off x="2383197" y="3004550"/>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2293766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9607E12-C113-D7EA-8B60-1E036B0E6625}"/>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BDF6CC06-6736-058C-5B89-F175289FA1DB}"/>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是一个基于文本的 （即 </a:t>
            </a:r>
            <a:r>
              <a:rPr lang="en-US" altLang="zh-CN" dirty="0"/>
              <a:t>ASCII </a:t>
            </a:r>
            <a:r>
              <a:rPr lang="zh-CN" altLang="en-US" dirty="0"/>
              <a:t>码）的协议</a:t>
            </a:r>
            <a:endParaRPr lang="en-US" altLang="zh-CN" dirty="0"/>
          </a:p>
          <a:p>
            <a:pPr lvl="1"/>
            <a:r>
              <a:rPr lang="zh-CN" altLang="en-US" dirty="0"/>
              <a:t>不支持非英文字符，如中文</a:t>
            </a:r>
            <a:endParaRPr lang="en-US" altLang="zh-CN" dirty="0"/>
          </a:p>
          <a:p>
            <a:r>
              <a:rPr lang="en-US" altLang="zh-CN" dirty="0"/>
              <a:t>SMTP </a:t>
            </a:r>
            <a:r>
              <a:rPr lang="zh-CN" altLang="en-US" dirty="0"/>
              <a:t>客户</a:t>
            </a:r>
            <a:r>
              <a:rPr lang="en-US" altLang="zh-CN" dirty="0"/>
              <a:t>/</a:t>
            </a:r>
            <a:r>
              <a:rPr lang="zh-CN" altLang="en-US" dirty="0"/>
              <a:t>服务器 </a:t>
            </a:r>
            <a:r>
              <a:rPr lang="en-US" altLang="zh-CN" dirty="0"/>
              <a:t>C/S </a:t>
            </a:r>
            <a:r>
              <a:rPr lang="zh-CN" altLang="en-US" dirty="0"/>
              <a:t>的命令</a:t>
            </a:r>
            <a:r>
              <a:rPr lang="en-US" altLang="zh-CN" dirty="0"/>
              <a:t>-</a:t>
            </a:r>
            <a:r>
              <a:rPr lang="zh-CN" altLang="en-US" dirty="0"/>
              <a:t>响应方式进行通信</a:t>
            </a:r>
            <a:endParaRPr lang="en-US" altLang="zh-CN" dirty="0"/>
          </a:p>
          <a:p>
            <a:endParaRPr lang="zh-CN" altLang="en-US" dirty="0"/>
          </a:p>
        </p:txBody>
      </p:sp>
      <p:sp>
        <p:nvSpPr>
          <p:cNvPr id="4" name="矩形 3"/>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40" name="矩形 39"/>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nvGrpSpPr>
          <p:cNvPr id="5" name="组合 4"/>
          <p:cNvGrpSpPr/>
          <p:nvPr/>
        </p:nvGrpSpPr>
        <p:grpSpPr>
          <a:xfrm>
            <a:off x="2650180" y="2371163"/>
            <a:ext cx="3950006" cy="338554"/>
            <a:chOff x="2650180" y="1374875"/>
            <a:chExt cx="3950006" cy="338554"/>
          </a:xfrm>
        </p:grpSpPr>
        <p:cxnSp>
          <p:nvCxnSpPr>
            <p:cNvPr id="41" name="直接箭头连接符 40"/>
            <p:cNvCxnSpPr/>
            <p:nvPr/>
          </p:nvCxnSpPr>
          <p:spPr>
            <a:xfrm>
              <a:off x="2650180" y="1665897"/>
              <a:ext cx="3950006" cy="0"/>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3968871" y="1374875"/>
              <a:ext cx="152157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4BACC6"/>
                  </a:solidFill>
                  <a:latin typeface="Montserrat" panose="00000500000000000000" pitchFamily="2" charset="0"/>
                  <a:ea typeface="微软雅黑 Light" panose="020B0502040204020203" pitchFamily="34" charset="-122"/>
                </a:rPr>
                <a:t>命令</a:t>
              </a:r>
              <a:r>
                <a:rPr kumimoji="1" lang="en-US" altLang="zh-CN" sz="1600" dirty="0">
                  <a:solidFill>
                    <a:srgbClr val="4BACC6"/>
                  </a:solidFill>
                  <a:latin typeface="Montserrat" panose="00000500000000000000" pitchFamily="2" charset="0"/>
                  <a:ea typeface="微软雅黑 Light" panose="020B0502040204020203" pitchFamily="34" charset="-122"/>
                </a:rPr>
                <a:t>/Request</a:t>
              </a:r>
              <a:endParaRPr kumimoji="1" lang="zh-CN" altLang="en-US" sz="1600" dirty="0">
                <a:solidFill>
                  <a:srgbClr val="4BACC6"/>
                </a:solidFill>
                <a:latin typeface="Montserrat" panose="00000500000000000000" pitchFamily="2" charset="0"/>
                <a:ea typeface="微软雅黑 Light" panose="020B0502040204020203" pitchFamily="34" charset="-122"/>
              </a:endParaRPr>
            </a:p>
          </p:txBody>
        </p:sp>
      </p:grpSp>
      <p:grpSp>
        <p:nvGrpSpPr>
          <p:cNvPr id="6" name="组合 5"/>
          <p:cNvGrpSpPr/>
          <p:nvPr/>
        </p:nvGrpSpPr>
        <p:grpSpPr>
          <a:xfrm>
            <a:off x="2650180" y="2876160"/>
            <a:ext cx="3950006" cy="338555"/>
            <a:chOff x="2650180" y="1879872"/>
            <a:chExt cx="3950006" cy="338555"/>
          </a:xfrm>
        </p:grpSpPr>
        <p:cxnSp>
          <p:nvCxnSpPr>
            <p:cNvPr id="43" name="直接箭头连接符 42"/>
            <p:cNvCxnSpPr/>
            <p:nvPr/>
          </p:nvCxnSpPr>
          <p:spPr>
            <a:xfrm>
              <a:off x="2650180" y="1879872"/>
              <a:ext cx="3950006" cy="0"/>
            </a:xfrm>
            <a:prstGeom prst="straightConnector1">
              <a:avLst/>
            </a:prstGeom>
            <a:ln w="28575">
              <a:solidFill>
                <a:srgbClr val="F79646"/>
              </a:solidFill>
              <a:headEnd type="stealth" w="lg" len="lg"/>
              <a:tailEnd type="none" w="med" len="med"/>
            </a:ln>
          </p:spPr>
          <p:style>
            <a:lnRef idx="1">
              <a:schemeClr val="accent1"/>
            </a:lnRef>
            <a:fillRef idx="0">
              <a:schemeClr val="accent1"/>
            </a:fillRef>
            <a:effectRef idx="0">
              <a:schemeClr val="accent1"/>
            </a:effectRef>
            <a:fontRef idx="minor">
              <a:schemeClr val="tx1"/>
            </a:fontRef>
          </p:style>
        </p:cxnSp>
        <p:sp>
          <p:nvSpPr>
            <p:cNvPr id="45" name="Text Box 409"/>
            <p:cNvSpPr txBox="1">
              <a:spLocks noChangeArrowheads="1"/>
            </p:cNvSpPr>
            <p:nvPr/>
          </p:nvSpPr>
          <p:spPr bwMode="auto">
            <a:xfrm>
              <a:off x="3895132" y="1879873"/>
              <a:ext cx="1669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600" dirty="0">
                  <a:solidFill>
                    <a:srgbClr val="F79646"/>
                  </a:solidFill>
                  <a:latin typeface="Montserrat" panose="00000500000000000000" pitchFamily="2" charset="0"/>
                  <a:ea typeface="微软雅黑 Light" panose="020B0502040204020203" pitchFamily="34" charset="-122"/>
                </a:rPr>
                <a:t>响应</a:t>
              </a:r>
              <a:r>
                <a:rPr kumimoji="1" lang="en-US" altLang="zh-CN" sz="1600" dirty="0">
                  <a:solidFill>
                    <a:srgbClr val="F79646"/>
                  </a:solidFill>
                  <a:latin typeface="Montserrat" panose="00000500000000000000" pitchFamily="2" charset="0"/>
                  <a:ea typeface="微软雅黑 Light" panose="020B0502040204020203" pitchFamily="34" charset="-122"/>
                </a:rPr>
                <a:t>/Response</a:t>
              </a:r>
              <a:endParaRPr kumimoji="1" lang="zh-CN" altLang="en-US" sz="1600" dirty="0">
                <a:solidFill>
                  <a:srgbClr val="F79646"/>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285552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000"/>
                                        <p:tgtEl>
                                          <p:spTgt spid="5"/>
                                        </p:tgtEl>
                                      </p:cBhvr>
                                    </p:animEffect>
                                  </p:childTnLst>
                                </p:cTn>
                              </p:par>
                            </p:childTnLst>
                          </p:cTn>
                        </p:par>
                        <p:par>
                          <p:cTn id="8" fill="hold">
                            <p:stCondLst>
                              <p:cond delay="1000"/>
                            </p:stCondLst>
                            <p:childTnLst>
                              <p:par>
                                <p:cTn id="9" presetID="22" presetClass="entr" presetSubtype="2" fill="hold" nodeType="after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right)">
                                      <p:cBhvr>
                                        <p:cTn id="1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00F6A2EB-EA54-8CEC-C7BF-2FB27453CFD1}"/>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a:t>
            </a:r>
            <a:endParaRPr lang="zh-CN" altLang="en-US" dirty="0"/>
          </a:p>
        </p:txBody>
      </p:sp>
      <p:sp>
        <p:nvSpPr>
          <p:cNvPr id="8" name="内容占位符 7">
            <a:extLst>
              <a:ext uri="{FF2B5EF4-FFF2-40B4-BE49-F238E27FC236}">
                <a16:creationId xmlns:a16="http://schemas.microsoft.com/office/drawing/2014/main" id="{E4B22F80-723C-B44B-FC82-033515014AB9}"/>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基于 </a:t>
            </a:r>
            <a:r>
              <a:rPr lang="en-US" altLang="zh-CN" dirty="0"/>
              <a:t>TCP </a:t>
            </a:r>
            <a:r>
              <a:rPr lang="zh-CN" altLang="en-US" dirty="0"/>
              <a:t>实现客户与服务器之间的通信</a:t>
            </a:r>
            <a:endParaRPr lang="en-US" altLang="zh-CN" dirty="0"/>
          </a:p>
          <a:p>
            <a:endParaRPr lang="zh-CN" altLang="en-US" dirty="0"/>
          </a:p>
        </p:txBody>
      </p:sp>
      <p:cxnSp>
        <p:nvCxnSpPr>
          <p:cNvPr id="41" name="直接箭头连接符 40"/>
          <p:cNvCxnSpPr>
            <a:cxnSpLocks/>
            <a:stCxn id="9" idx="2"/>
          </p:cNvCxnSpPr>
          <p:nvPr/>
        </p:nvCxnSpPr>
        <p:spPr>
          <a:xfrm>
            <a:off x="2144264" y="3061580"/>
            <a:ext cx="1439764" cy="1063394"/>
          </a:xfrm>
          <a:prstGeom prst="straightConnector1">
            <a:avLst/>
          </a:prstGeom>
          <a:ln w="28575">
            <a:solidFill>
              <a:srgbClr val="4BACC6"/>
            </a:solidFill>
            <a:tailEnd type="stealth" w="lg" len="lg"/>
          </a:ln>
        </p:spPr>
        <p:style>
          <a:lnRef idx="1">
            <a:schemeClr val="accent1"/>
          </a:lnRef>
          <a:fillRef idx="0">
            <a:schemeClr val="accent1"/>
          </a:fillRef>
          <a:effectRef idx="0">
            <a:schemeClr val="accent1"/>
          </a:effectRef>
          <a:fontRef idx="minor">
            <a:schemeClr val="tx1"/>
          </a:fontRef>
        </p:style>
      </p:cxnSp>
      <p:sp>
        <p:nvSpPr>
          <p:cNvPr id="44" name="Text Box 409"/>
          <p:cNvSpPr txBox="1">
            <a:spLocks noChangeArrowheads="1"/>
          </p:cNvSpPr>
          <p:nvPr/>
        </p:nvSpPr>
        <p:spPr bwMode="auto">
          <a:xfrm>
            <a:off x="6535843" y="3191688"/>
            <a:ext cx="1176925"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熟知端口 </a:t>
            </a:r>
            <a:r>
              <a:rPr kumimoji="1" lang="en-US" altLang="zh-CN" sz="1400" dirty="0">
                <a:latin typeface="Montserrat" panose="00000500000000000000" pitchFamily="2" charset="0"/>
                <a:ea typeface="微软雅黑 Light" panose="020B0502040204020203" pitchFamily="34" charset="-122"/>
              </a:rPr>
              <a:t>25</a:t>
            </a:r>
            <a:endParaRPr kumimoji="1" lang="zh-CN" altLang="en-US" sz="1400" dirty="0">
              <a:latin typeface="Montserrat" panose="00000500000000000000" pitchFamily="2" charset="0"/>
              <a:ea typeface="微软雅黑 Light" panose="020B0502040204020203" pitchFamily="34" charset="-122"/>
            </a:endParaRPr>
          </a:p>
        </p:txBody>
      </p:sp>
      <p:cxnSp>
        <p:nvCxnSpPr>
          <p:cNvPr id="19" name="直接箭头连接符 18"/>
          <p:cNvCxnSpPr>
            <a:cxnSpLocks/>
            <a:endCxn id="10" idx="2"/>
          </p:cNvCxnSpPr>
          <p:nvPr/>
        </p:nvCxnSpPr>
        <p:spPr>
          <a:xfrm flipV="1">
            <a:off x="5644052" y="3061580"/>
            <a:ext cx="1439765" cy="932519"/>
          </a:xfrm>
          <a:prstGeom prst="straightConnector1">
            <a:avLst/>
          </a:prstGeom>
          <a:ln w="28575">
            <a:solidFill>
              <a:srgbClr val="F79646"/>
            </a:solidFill>
            <a:tailEnd type="stealth" w="lg" len="lg"/>
          </a:ln>
        </p:spPr>
        <p:style>
          <a:lnRef idx="1">
            <a:schemeClr val="accent1"/>
          </a:lnRef>
          <a:fillRef idx="0">
            <a:schemeClr val="accent1"/>
          </a:fillRef>
          <a:effectRef idx="0">
            <a:schemeClr val="accent1"/>
          </a:effectRef>
          <a:fontRef idx="minor">
            <a:schemeClr val="tx1"/>
          </a:fontRef>
        </p:style>
      </p:cxnSp>
      <p:sp>
        <p:nvSpPr>
          <p:cNvPr id="15" name="Freeform 1208"/>
          <p:cNvSpPr>
            <a:spLocks/>
          </p:cNvSpPr>
          <p:nvPr/>
        </p:nvSpPr>
        <p:spPr bwMode="ltGray">
          <a:xfrm>
            <a:off x="3486305" y="3712168"/>
            <a:ext cx="2223943" cy="825613"/>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en-US" altLang="zh-CN" dirty="0">
                <a:latin typeface="Montserrat" panose="00000500000000000000" pitchFamily="2" charset="0"/>
                <a:ea typeface="微软雅黑 Light" panose="020B0502040204020203" pitchFamily="34" charset="-122"/>
              </a:rPr>
              <a:t>Internet</a:t>
            </a:r>
            <a:endParaRPr lang="zh-CN" altLang="en-US" dirty="0">
              <a:latin typeface="Montserrat" panose="00000500000000000000" pitchFamily="2" charset="0"/>
              <a:ea typeface="微软雅黑 Light" panose="020B0502040204020203" pitchFamily="34" charset="-122"/>
            </a:endParaRPr>
          </a:p>
        </p:txBody>
      </p:sp>
      <p:sp>
        <p:nvSpPr>
          <p:cNvPr id="22" name="Text Box 409"/>
          <p:cNvSpPr txBox="1">
            <a:spLocks noChangeArrowheads="1"/>
          </p:cNvSpPr>
          <p:nvPr/>
        </p:nvSpPr>
        <p:spPr bwMode="auto">
          <a:xfrm>
            <a:off x="1638439" y="3191688"/>
            <a:ext cx="90281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TCP</a:t>
            </a:r>
          </a:p>
          <a:p>
            <a:pPr algn="ctr" eaLnBrk="1" hangingPunct="1"/>
            <a:r>
              <a:rPr kumimoji="1" lang="zh-CN" altLang="en-US" sz="1400" dirty="0">
                <a:latin typeface="Montserrat" panose="00000500000000000000" pitchFamily="2" charset="0"/>
                <a:ea typeface="微软雅黑 Light" panose="020B0502040204020203" pitchFamily="34" charset="-122"/>
              </a:rPr>
              <a:t>短暂端口</a:t>
            </a:r>
          </a:p>
        </p:txBody>
      </p:sp>
      <p:sp>
        <p:nvSpPr>
          <p:cNvPr id="9" name="矩形 8">
            <a:extLst>
              <a:ext uri="{FF2B5EF4-FFF2-40B4-BE49-F238E27FC236}">
                <a16:creationId xmlns:a16="http://schemas.microsoft.com/office/drawing/2014/main" id="{2A8E2CC3-610F-0F05-A41C-3DCBA5F3D66C}"/>
              </a:ext>
            </a:extLst>
          </p:cNvPr>
          <p:cNvSpPr/>
          <p:nvPr/>
        </p:nvSpPr>
        <p:spPr>
          <a:xfrm>
            <a:off x="1660633" y="2420449"/>
            <a:ext cx="967261" cy="641131"/>
          </a:xfrm>
          <a:prstGeom prst="rect">
            <a:avLst/>
          </a:prstGeom>
          <a:ln/>
        </p:spPr>
        <p:style>
          <a:lnRef idx="3">
            <a:schemeClr val="lt1"/>
          </a:lnRef>
          <a:fillRef idx="1">
            <a:schemeClr val="accent5"/>
          </a:fillRef>
          <a:effectRef idx="1">
            <a:schemeClr val="accent5"/>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Client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
        <p:nvSpPr>
          <p:cNvPr id="10" name="矩形 9">
            <a:extLst>
              <a:ext uri="{FF2B5EF4-FFF2-40B4-BE49-F238E27FC236}">
                <a16:creationId xmlns:a16="http://schemas.microsoft.com/office/drawing/2014/main" id="{DD89DB68-6A91-14AF-A5AB-1B190D50AA52}"/>
              </a:ext>
            </a:extLst>
          </p:cNvPr>
          <p:cNvSpPr/>
          <p:nvPr/>
        </p:nvSpPr>
        <p:spPr>
          <a:xfrm>
            <a:off x="6600186" y="2420449"/>
            <a:ext cx="967261" cy="641131"/>
          </a:xfrm>
          <a:prstGeom prst="rect">
            <a:avLst/>
          </a:prstGeom>
          <a:ln/>
        </p:spPr>
        <p:style>
          <a:lnRef idx="3">
            <a:schemeClr val="lt1"/>
          </a:lnRef>
          <a:fillRef idx="1">
            <a:schemeClr val="accent6"/>
          </a:fillRef>
          <a:effectRef idx="1">
            <a:schemeClr val="accent6"/>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SMTP</a:t>
            </a:r>
          </a:p>
          <a:p>
            <a:pPr algn="ctr"/>
            <a:r>
              <a:rPr lang="en-US" altLang="zh-CN" sz="1600" dirty="0">
                <a:solidFill>
                  <a:schemeClr val="bg1"/>
                </a:solidFill>
                <a:latin typeface="Montserrat" panose="00000500000000000000" pitchFamily="2" charset="0"/>
                <a:ea typeface="微软雅黑 Light" panose="020B0502040204020203" pitchFamily="34" charset="-122"/>
              </a:rPr>
              <a:t>Server</a:t>
            </a:r>
            <a:endParaRPr lang="zh-CN" altLang="en-US" sz="1600" dirty="0">
              <a:solidFill>
                <a:schemeClr val="bg1"/>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3568596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99683ACC-48A3-75C0-684E-AED4964DD557}"/>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a:t>
            </a:r>
          </a:p>
        </p:txBody>
      </p:sp>
      <p:sp>
        <p:nvSpPr>
          <p:cNvPr id="8" name="内容占位符 7">
            <a:extLst>
              <a:ext uri="{FF2B5EF4-FFF2-40B4-BE49-F238E27FC236}">
                <a16:creationId xmlns:a16="http://schemas.microsoft.com/office/drawing/2014/main" id="{6B822735-A094-F6CE-FE8B-7A93221703D4}"/>
              </a:ext>
            </a:extLst>
          </p:cNvPr>
          <p:cNvSpPr>
            <a:spLocks noGrp="1"/>
          </p:cNvSpPr>
          <p:nvPr>
            <p:ph sz="quarter" idx="11"/>
          </p:nvPr>
        </p:nvSpPr>
        <p:spPr>
          <a:xfrm>
            <a:off x="486000" y="687518"/>
            <a:ext cx="8172000" cy="4079035"/>
          </a:xfrm>
        </p:spPr>
        <p:txBody>
          <a:bodyPr/>
          <a:lstStyle/>
          <a:p>
            <a:r>
              <a:rPr lang="zh-CN" altLang="en-US" dirty="0"/>
              <a:t>连接建立</a:t>
            </a:r>
            <a:endParaRPr lang="en-US" altLang="zh-CN" dirty="0"/>
          </a:p>
          <a:p>
            <a:pPr lvl="1"/>
            <a:r>
              <a:rPr lang="zh-CN" altLang="en-US" dirty="0"/>
              <a:t>连接是在发送主机的 </a:t>
            </a:r>
            <a:r>
              <a:rPr lang="en-US" altLang="zh-CN" dirty="0"/>
              <a:t>SMTP </a:t>
            </a:r>
            <a:r>
              <a:rPr lang="zh-CN" altLang="en-US" dirty="0"/>
              <a:t>客户和接收主机的 </a:t>
            </a:r>
            <a:r>
              <a:rPr lang="en-US" altLang="zh-CN" dirty="0"/>
              <a:t>SMTP </a:t>
            </a:r>
            <a:r>
              <a:rPr lang="zh-CN" altLang="en-US" dirty="0"/>
              <a:t>服务器之间建立的</a:t>
            </a:r>
            <a:endParaRPr lang="en-US" altLang="zh-CN" dirty="0"/>
          </a:p>
          <a:p>
            <a:pPr lvl="1"/>
            <a:r>
              <a:rPr lang="en-US" altLang="zh-CN" dirty="0"/>
              <a:t>SMTP </a:t>
            </a:r>
            <a:r>
              <a:rPr lang="zh-CN" altLang="en-US" dirty="0"/>
              <a:t>不使用中间的邮件服务器；但是仍然需要中间的站点转发</a:t>
            </a:r>
          </a:p>
          <a:p>
            <a:r>
              <a:rPr lang="zh-CN" altLang="en-US" dirty="0"/>
              <a:t>邮件传送</a:t>
            </a:r>
          </a:p>
          <a:p>
            <a:r>
              <a:rPr lang="zh-CN" altLang="en-US" dirty="0"/>
              <a:t>连接释放</a:t>
            </a:r>
            <a:endParaRPr lang="en-US" altLang="zh-CN" dirty="0"/>
          </a:p>
          <a:p>
            <a:pPr lvl="1"/>
            <a:r>
              <a:rPr lang="zh-CN" altLang="en-US" dirty="0"/>
              <a:t>邮件发送完毕后，</a:t>
            </a:r>
            <a:r>
              <a:rPr lang="en-US" altLang="zh-CN" dirty="0"/>
              <a:t>SMTP </a:t>
            </a:r>
            <a:r>
              <a:rPr lang="zh-CN" altLang="en-US" dirty="0"/>
              <a:t>应释放 </a:t>
            </a:r>
            <a:r>
              <a:rPr lang="en-US" altLang="zh-CN" dirty="0"/>
              <a:t>TCP </a:t>
            </a:r>
            <a:r>
              <a:rPr lang="zh-CN" altLang="en-US" dirty="0"/>
              <a:t>连接</a:t>
            </a:r>
          </a:p>
        </p:txBody>
      </p:sp>
    </p:spTree>
    <p:extLst>
      <p:ext uri="{BB962C8B-B14F-4D97-AF65-F5344CB8AC3E}">
        <p14:creationId xmlns:p14="http://schemas.microsoft.com/office/powerpoint/2010/main" val="3239891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262DEAE2-AF80-DD68-2900-1D1267B5226A}"/>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连接建立</a:t>
            </a:r>
          </a:p>
        </p:txBody>
      </p:sp>
      <p:sp>
        <p:nvSpPr>
          <p:cNvPr id="11" name="内容占位符 10">
            <a:extLst>
              <a:ext uri="{FF2B5EF4-FFF2-40B4-BE49-F238E27FC236}">
                <a16:creationId xmlns:a16="http://schemas.microsoft.com/office/drawing/2014/main" id="{E1773701-D9F2-6F49-0389-6673EC441341}"/>
              </a:ext>
            </a:extLst>
          </p:cNvPr>
          <p:cNvSpPr>
            <a:spLocks noGrp="1"/>
          </p:cNvSpPr>
          <p:nvPr>
            <p:ph sz="quarter" idx="11"/>
          </p:nvPr>
        </p:nvSpPr>
        <p:spPr>
          <a:xfrm>
            <a:off x="486000" y="687518"/>
            <a:ext cx="8172000" cy="4079035"/>
          </a:xfrm>
        </p:spPr>
        <p:txBody>
          <a:bodyPr/>
          <a:lstStyle/>
          <a:p>
            <a:r>
              <a:rPr lang="en-US" altLang="zh-CN" dirty="0"/>
              <a:t>SMTP </a:t>
            </a:r>
            <a:r>
              <a:rPr lang="zh-CN" altLang="en-US" dirty="0"/>
              <a:t>客户首先使用熟知端口 </a:t>
            </a:r>
            <a:r>
              <a:rPr lang="en-US" altLang="zh-CN" dirty="0"/>
              <a:t>25 </a:t>
            </a:r>
            <a:r>
              <a:rPr lang="zh-CN" altLang="en-US" dirty="0"/>
              <a:t>与接收方的 </a:t>
            </a:r>
            <a:r>
              <a:rPr lang="en-US" altLang="zh-CN" dirty="0"/>
              <a:t>SMTP </a:t>
            </a:r>
            <a:r>
              <a:rPr lang="zh-CN" altLang="en-US" dirty="0"/>
              <a:t>服务器建立 </a:t>
            </a:r>
            <a:r>
              <a:rPr lang="en-US" altLang="zh-CN" dirty="0"/>
              <a:t>TCP </a:t>
            </a:r>
            <a:r>
              <a:rPr lang="zh-CN" altLang="en-US" dirty="0"/>
              <a:t>连接</a:t>
            </a:r>
            <a:endParaRPr lang="en-US" altLang="zh-CN" dirty="0"/>
          </a:p>
          <a:p>
            <a:r>
              <a:rPr lang="en-US" altLang="zh-CN" dirty="0"/>
              <a:t>SMTP </a:t>
            </a:r>
            <a:r>
              <a:rPr lang="zh-CN" altLang="en-US" dirty="0"/>
              <a:t>服务器发出服务就绪</a:t>
            </a:r>
          </a:p>
          <a:p>
            <a:r>
              <a:rPr lang="en-US" altLang="zh-CN" dirty="0"/>
              <a:t>SMTP </a:t>
            </a:r>
            <a:r>
              <a:rPr lang="zh-CN" altLang="en-US" dirty="0"/>
              <a:t>客户向服务器发送问候 </a:t>
            </a:r>
            <a:r>
              <a:rPr lang="en-US" altLang="zh-CN" dirty="0"/>
              <a:t>HELO </a:t>
            </a:r>
            <a:r>
              <a:rPr lang="zh-CN" altLang="en-US" dirty="0"/>
              <a:t>命令，附上发送方的主机名</a:t>
            </a:r>
          </a:p>
          <a:p>
            <a:r>
              <a:rPr lang="en-US" altLang="zh-CN" dirty="0"/>
              <a:t>SMTP </a:t>
            </a:r>
            <a:r>
              <a:rPr lang="zh-CN" altLang="en-US" dirty="0"/>
              <a:t>服务器若有能力接收邮件，则回答：“</a:t>
            </a:r>
            <a:r>
              <a:rPr lang="en-US" altLang="zh-CN" dirty="0"/>
              <a:t>250 OK”</a:t>
            </a:r>
            <a:r>
              <a:rPr lang="zh-CN" altLang="en-US" dirty="0"/>
              <a:t>，表示已准备好接收</a:t>
            </a:r>
          </a:p>
          <a:p>
            <a:endParaRPr lang="zh-CN" altLang="en-US" dirty="0"/>
          </a:p>
          <a:p>
            <a:endParaRPr lang="zh-CN" altLang="en-US" dirty="0"/>
          </a:p>
          <a:p>
            <a:endParaRPr lang="zh-CN" altLang="en-US" dirty="0"/>
          </a:p>
        </p:txBody>
      </p:sp>
      <p:sp>
        <p:nvSpPr>
          <p:cNvPr id="6" name="矩形 5"/>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8" name="Text Box 409"/>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10" name="矩形 9"/>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2387680"/>
            <a:ext cx="0" cy="1440000"/>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39" name="组合 38"/>
          <p:cNvGrpSpPr/>
          <p:nvPr/>
        </p:nvGrpSpPr>
        <p:grpSpPr>
          <a:xfrm>
            <a:off x="2200434" y="2328743"/>
            <a:ext cx="4337778" cy="261610"/>
            <a:chOff x="2144264" y="1565533"/>
            <a:chExt cx="4926338" cy="402589"/>
          </a:xfrm>
        </p:grpSpPr>
        <p:sp>
          <p:nvSpPr>
            <p:cNvPr id="17" name="Text Box 52"/>
            <p:cNvSpPr txBox="1">
              <a:spLocks noChangeArrowheads="1"/>
            </p:cNvSpPr>
            <p:nvPr/>
          </p:nvSpPr>
          <p:spPr bwMode="auto">
            <a:xfrm>
              <a:off x="3934956" y="1565533"/>
              <a:ext cx="1256511"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建立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18" name="Line 55"/>
            <p:cNvSpPr>
              <a:spLocks noChangeShapeType="1"/>
            </p:cNvSpPr>
            <p:nvPr/>
          </p:nvSpPr>
          <p:spPr bwMode="auto">
            <a:xfrm>
              <a:off x="2144264" y="1954086"/>
              <a:ext cx="4926338" cy="0"/>
            </a:xfrm>
            <a:prstGeom prst="line">
              <a:avLst/>
            </a:prstGeom>
            <a:noFill/>
            <a:ln w="19050">
              <a:solidFill>
                <a:srgbClr val="4BACC6"/>
              </a:solidFill>
              <a:prstDash val="solid"/>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23" name="组合 22"/>
          <p:cNvGrpSpPr/>
          <p:nvPr/>
        </p:nvGrpSpPr>
        <p:grpSpPr>
          <a:xfrm>
            <a:off x="2200434" y="2688218"/>
            <a:ext cx="4337778" cy="180000"/>
            <a:chOff x="2144264" y="2285523"/>
            <a:chExt cx="4926338" cy="292388"/>
          </a:xfrm>
        </p:grpSpPr>
        <p:sp>
          <p:nvSpPr>
            <p:cNvPr id="21"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2" name="矩形 2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220 Service Ready</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4" name="组合 23"/>
          <p:cNvGrpSpPr/>
          <p:nvPr/>
        </p:nvGrpSpPr>
        <p:grpSpPr>
          <a:xfrm>
            <a:off x="2200434" y="290991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HELO abc.edu</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313350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809018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4009843-FEE0-7801-84D1-06CD8C3DECBC}"/>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邮件传送</a:t>
            </a:r>
          </a:p>
        </p:txBody>
      </p:sp>
      <p:sp>
        <p:nvSpPr>
          <p:cNvPr id="17" name="内容占位符 16">
            <a:extLst>
              <a:ext uri="{FF2B5EF4-FFF2-40B4-BE49-F238E27FC236}">
                <a16:creationId xmlns:a16="http://schemas.microsoft.com/office/drawing/2014/main" id="{4F3BEF47-2942-C18C-E4F5-A12EA6B0505D}"/>
              </a:ext>
            </a:extLst>
          </p:cNvPr>
          <p:cNvSpPr>
            <a:spLocks noGrp="1"/>
          </p:cNvSpPr>
          <p:nvPr>
            <p:ph sz="quarter" idx="11"/>
          </p:nvPr>
        </p:nvSpPr>
        <p:spPr/>
        <p:txBody>
          <a:bodyPr/>
          <a:lstStyle/>
          <a:p>
            <a:endParaRPr lang="zh-CN" altLang="en-US"/>
          </a:p>
        </p:txBody>
      </p:sp>
      <p:sp>
        <p:nvSpPr>
          <p:cNvPr id="86" name="矩形 85"/>
          <p:cNvSpPr/>
          <p:nvPr/>
        </p:nvSpPr>
        <p:spPr>
          <a:xfrm>
            <a:off x="1495433" y="3433893"/>
            <a:ext cx="5760000" cy="100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85" name="矩形 84"/>
          <p:cNvSpPr/>
          <p:nvPr/>
        </p:nvSpPr>
        <p:spPr>
          <a:xfrm>
            <a:off x="1495433" y="2008948"/>
            <a:ext cx="5760000" cy="1224000"/>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5" name="矩形 4"/>
          <p:cNvSpPr/>
          <p:nvPr/>
        </p:nvSpPr>
        <p:spPr>
          <a:xfrm>
            <a:off x="1495433" y="1200093"/>
            <a:ext cx="5760000" cy="80076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矩形 5"/>
          <p:cNvSpPr/>
          <p:nvPr/>
        </p:nvSpPr>
        <p:spPr>
          <a:xfrm>
            <a:off x="5941676"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10" name="矩形 9"/>
          <p:cNvSpPr/>
          <p:nvPr/>
        </p:nvSpPr>
        <p:spPr>
          <a:xfrm>
            <a:off x="1590683" y="876719"/>
            <a:ext cx="1203916" cy="257199"/>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7" name="直接箭头连接符 6"/>
          <p:cNvCxnSpPr>
            <a:stCxn id="10" idx="2"/>
          </p:cNvCxnSpPr>
          <p:nvPr/>
        </p:nvCxnSpPr>
        <p:spPr>
          <a:xfrm>
            <a:off x="2192641"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6" idx="2"/>
          </p:cNvCxnSpPr>
          <p:nvPr/>
        </p:nvCxnSpPr>
        <p:spPr>
          <a:xfrm>
            <a:off x="6543634" y="1133918"/>
            <a:ext cx="0" cy="3411794"/>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24" name="组合 23"/>
          <p:cNvGrpSpPr/>
          <p:nvPr/>
        </p:nvGrpSpPr>
        <p:grpSpPr>
          <a:xfrm>
            <a:off x="2200434" y="1200093"/>
            <a:ext cx="4337778" cy="180000"/>
            <a:chOff x="2144264" y="2285523"/>
            <a:chExt cx="4926338" cy="292388"/>
          </a:xfrm>
        </p:grpSpPr>
        <p:sp>
          <p:nvSpPr>
            <p:cNvPr id="2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6" name="矩形 2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MAIL 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27" name="组合 26"/>
          <p:cNvGrpSpPr/>
          <p:nvPr/>
        </p:nvGrpSpPr>
        <p:grpSpPr>
          <a:xfrm>
            <a:off x="2200434" y="1402661"/>
            <a:ext cx="4337778" cy="180000"/>
            <a:chOff x="2144264" y="2285523"/>
            <a:chExt cx="4926338" cy="292388"/>
          </a:xfrm>
        </p:grpSpPr>
        <p:sp>
          <p:nvSpPr>
            <p:cNvPr id="28"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29" name="矩形 28"/>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30" name="组合 29"/>
          <p:cNvGrpSpPr/>
          <p:nvPr/>
        </p:nvGrpSpPr>
        <p:grpSpPr>
          <a:xfrm>
            <a:off x="2200434" y="1611988"/>
            <a:ext cx="4337778" cy="180000"/>
            <a:chOff x="2144264" y="2285523"/>
            <a:chExt cx="4926338" cy="292388"/>
          </a:xfrm>
        </p:grpSpPr>
        <p:sp>
          <p:nvSpPr>
            <p:cNvPr id="3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38" name="矩形 3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RCPT TO: glplaman@hotmail.com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40" name="组合 39"/>
          <p:cNvGrpSpPr/>
          <p:nvPr/>
        </p:nvGrpSpPr>
        <p:grpSpPr>
          <a:xfrm>
            <a:off x="2200434" y="1814556"/>
            <a:ext cx="4337778" cy="180000"/>
            <a:chOff x="2144264" y="2285523"/>
            <a:chExt cx="4926338" cy="292388"/>
          </a:xfrm>
        </p:grpSpPr>
        <p:sp>
          <p:nvSpPr>
            <p:cNvPr id="41" name="Line 55"/>
            <p:cNvSpPr>
              <a:spLocks noChangeShapeType="1"/>
            </p:cNvSpPr>
            <p:nvPr/>
          </p:nvSpPr>
          <p:spPr bwMode="auto">
            <a:xfrm>
              <a:off x="2144264" y="2409068"/>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42" name="矩形 41"/>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2" name="组合 51"/>
          <p:cNvGrpSpPr/>
          <p:nvPr/>
        </p:nvGrpSpPr>
        <p:grpSpPr>
          <a:xfrm>
            <a:off x="2200434" y="2021878"/>
            <a:ext cx="4337778" cy="180000"/>
            <a:chOff x="2144264" y="2285523"/>
            <a:chExt cx="4926338" cy="292388"/>
          </a:xfrm>
        </p:grpSpPr>
        <p:sp>
          <p:nvSpPr>
            <p:cNvPr id="53"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DATA</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p:cNvGrpSpPr/>
          <p:nvPr/>
        </p:nvGrpSpPr>
        <p:grpSpPr>
          <a:xfrm>
            <a:off x="2200434" y="2224446"/>
            <a:ext cx="4337778" cy="180000"/>
            <a:chOff x="2144264" y="2285523"/>
            <a:chExt cx="4926338" cy="292388"/>
          </a:xfrm>
        </p:grpSpPr>
        <p:sp>
          <p:nvSpPr>
            <p:cNvPr id="56"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50" dirty="0">
                  <a:solidFill>
                    <a:schemeClr val="tx1"/>
                  </a:solidFill>
                  <a:latin typeface="Montserrat" panose="00000500000000000000" pitchFamily="2" charset="0"/>
                  <a:ea typeface="微软雅黑 Light" panose="020B0502040204020203" pitchFamily="34" charset="-122"/>
                </a:rPr>
                <a:t>354 Start mail input; end with &lt;CRLF&gt;.&lt;CRLF&gt;</a:t>
              </a:r>
              <a:endParaRPr lang="zh-CN" altLang="en-US" sz="950" dirty="0">
                <a:solidFill>
                  <a:schemeClr val="tx1"/>
                </a:solidFill>
                <a:latin typeface="Montserrat" panose="00000500000000000000" pitchFamily="2" charset="0"/>
                <a:ea typeface="微软雅黑 Light" panose="020B0502040204020203" pitchFamily="34" charset="-122"/>
              </a:endParaRPr>
            </a:p>
          </p:txBody>
        </p:sp>
      </p:grpSp>
      <p:grpSp>
        <p:nvGrpSpPr>
          <p:cNvPr id="58" name="组合 57"/>
          <p:cNvGrpSpPr/>
          <p:nvPr/>
        </p:nvGrpSpPr>
        <p:grpSpPr>
          <a:xfrm>
            <a:off x="2200434" y="2426093"/>
            <a:ext cx="4337778" cy="180000"/>
            <a:chOff x="2144264" y="2285523"/>
            <a:chExt cx="4926338" cy="292388"/>
          </a:xfrm>
        </p:grpSpPr>
        <p:sp>
          <p:nvSpPr>
            <p:cNvPr id="59"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0" name="矩形 59"/>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From: Lion@huali.edu.cn</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1" name="组合 60"/>
          <p:cNvGrpSpPr/>
          <p:nvPr/>
        </p:nvGrpSpPr>
        <p:grpSpPr>
          <a:xfrm>
            <a:off x="2200434" y="2623683"/>
            <a:ext cx="4337778" cy="180000"/>
            <a:chOff x="2144264" y="2285523"/>
            <a:chExt cx="4926338" cy="292388"/>
          </a:xfrm>
        </p:grpSpPr>
        <p:sp>
          <p:nvSpPr>
            <p:cNvPr id="62"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3" name="矩形 62"/>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To: glpla@hotmail.com</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4" name="组合 63"/>
          <p:cNvGrpSpPr/>
          <p:nvPr/>
        </p:nvGrpSpPr>
        <p:grpSpPr>
          <a:xfrm>
            <a:off x="2200434" y="2819866"/>
            <a:ext cx="4337778" cy="180000"/>
            <a:chOff x="2144264" y="2285523"/>
            <a:chExt cx="4926338" cy="292388"/>
          </a:xfrm>
        </p:grpSpPr>
        <p:sp>
          <p:nvSpPr>
            <p:cNvPr id="65"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6" name="矩形 65"/>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Date: 2025-12-04</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67" name="组合 66"/>
          <p:cNvGrpSpPr/>
          <p:nvPr/>
        </p:nvGrpSpPr>
        <p:grpSpPr>
          <a:xfrm>
            <a:off x="2200434" y="3026334"/>
            <a:ext cx="4337778" cy="180000"/>
            <a:chOff x="2144264" y="2285523"/>
            <a:chExt cx="4926338" cy="292388"/>
          </a:xfrm>
        </p:grpSpPr>
        <p:sp>
          <p:nvSpPr>
            <p:cNvPr id="68"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69" name="矩形 68"/>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Subject: Greetings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0" name="组合 69"/>
          <p:cNvGrpSpPr/>
          <p:nvPr/>
        </p:nvGrpSpPr>
        <p:grpSpPr>
          <a:xfrm>
            <a:off x="2200434" y="3232873"/>
            <a:ext cx="4337778" cy="180000"/>
            <a:chOff x="2144264" y="2285523"/>
            <a:chExt cx="4926338" cy="292388"/>
          </a:xfrm>
        </p:grpSpPr>
        <p:sp>
          <p:nvSpPr>
            <p:cNvPr id="71"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2" name="矩形 71"/>
            <p:cNvSpPr/>
            <p:nvPr/>
          </p:nvSpPr>
          <p:spPr>
            <a:xfrm>
              <a:off x="2827283" y="2285523"/>
              <a:ext cx="3626069" cy="292388"/>
            </a:xfrm>
            <a:prstGeom prst="rect">
              <a:avLst/>
            </a:prstGeom>
            <a:solidFill>
              <a:schemeClr val="bg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3" name="组合 72"/>
          <p:cNvGrpSpPr/>
          <p:nvPr/>
        </p:nvGrpSpPr>
        <p:grpSpPr>
          <a:xfrm>
            <a:off x="2200434" y="3433893"/>
            <a:ext cx="4337778" cy="180000"/>
            <a:chOff x="2144264" y="2285523"/>
            <a:chExt cx="4926338" cy="292388"/>
          </a:xfrm>
        </p:grpSpPr>
        <p:sp>
          <p:nvSpPr>
            <p:cNvPr id="74"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5" name="矩形 74"/>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Dear Mr. </a:t>
              </a:r>
              <a:r>
                <a:rPr lang="en-US" altLang="zh-CN" sz="1100" dirty="0" err="1">
                  <a:solidFill>
                    <a:schemeClr val="tx1"/>
                  </a:solidFill>
                  <a:latin typeface="Montserrat" panose="00000500000000000000" pitchFamily="2" charset="0"/>
                  <a:ea typeface="微软雅黑 Light" panose="020B0502040204020203" pitchFamily="34" charset="-122"/>
                </a:rPr>
                <a:t>glpla</a:t>
              </a:r>
              <a:r>
                <a:rPr lang="en-US" altLang="zh-CN" sz="1100" dirty="0">
                  <a:solidFill>
                    <a:schemeClr val="tx1"/>
                  </a:solidFill>
                  <a:latin typeface="Montserrat" panose="00000500000000000000" pitchFamily="2" charset="0"/>
                  <a:ea typeface="微软雅黑 Light" panose="020B0502040204020203" pitchFamily="34" charset="-122"/>
                </a:rPr>
                <a:t>, </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6" name="组合 75"/>
          <p:cNvGrpSpPr/>
          <p:nvPr/>
        </p:nvGrpSpPr>
        <p:grpSpPr>
          <a:xfrm>
            <a:off x="2200434" y="3640361"/>
            <a:ext cx="4337778" cy="180000"/>
            <a:chOff x="2144264" y="2285523"/>
            <a:chExt cx="4926338" cy="292388"/>
          </a:xfrm>
        </p:grpSpPr>
        <p:sp>
          <p:nvSpPr>
            <p:cNvPr id="77"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78" name="矩形 77"/>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Welcome you back.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79" name="组合 78"/>
          <p:cNvGrpSpPr/>
          <p:nvPr/>
        </p:nvGrpSpPr>
        <p:grpSpPr>
          <a:xfrm>
            <a:off x="2200434" y="4050303"/>
            <a:ext cx="4337778" cy="180000"/>
            <a:chOff x="2144264" y="2285523"/>
            <a:chExt cx="4926338" cy="292388"/>
          </a:xfrm>
        </p:grpSpPr>
        <p:sp>
          <p:nvSpPr>
            <p:cNvPr id="80" name="Line 55"/>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1" name="矩形 80"/>
            <p:cNvSpPr/>
            <p:nvPr/>
          </p:nvSpPr>
          <p:spPr>
            <a:xfrm>
              <a:off x="2827283" y="2285523"/>
              <a:ext cx="3626069" cy="292388"/>
            </a:xfrm>
            <a:prstGeom prst="rect">
              <a:avLst/>
            </a:prstGeom>
            <a:solidFill>
              <a:schemeClr val="tx1"/>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bg1"/>
                  </a:solidFill>
                  <a:latin typeface="Montserrat" panose="00000500000000000000" pitchFamily="2" charset="0"/>
                  <a:ea typeface="微软雅黑 Light" panose="020B0502040204020203" pitchFamily="34" charset="-122"/>
                </a:rPr>
                <a:t>.</a:t>
              </a:r>
              <a:endParaRPr lang="zh-CN" altLang="en-US" sz="1600" dirty="0">
                <a:solidFill>
                  <a:schemeClr val="bg1"/>
                </a:solidFill>
                <a:latin typeface="Montserrat" panose="00000500000000000000" pitchFamily="2" charset="0"/>
                <a:ea typeface="微软雅黑 Light" panose="020B0502040204020203" pitchFamily="34" charset="-122"/>
              </a:endParaRPr>
            </a:p>
          </p:txBody>
        </p:sp>
      </p:grpSp>
      <p:grpSp>
        <p:nvGrpSpPr>
          <p:cNvPr id="82" name="组合 81"/>
          <p:cNvGrpSpPr/>
          <p:nvPr/>
        </p:nvGrpSpPr>
        <p:grpSpPr>
          <a:xfrm>
            <a:off x="2200434" y="4251399"/>
            <a:ext cx="4337778" cy="180000"/>
            <a:chOff x="2144264" y="2285523"/>
            <a:chExt cx="4926338" cy="292388"/>
          </a:xfrm>
        </p:grpSpPr>
        <p:sp>
          <p:nvSpPr>
            <p:cNvPr id="83" name="Line 55"/>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84" name="矩形 83"/>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250 OK</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
        <p:nvSpPr>
          <p:cNvPr id="87" name="Text Box 409"/>
          <p:cNvSpPr txBox="1">
            <a:spLocks noChangeArrowheads="1"/>
          </p:cNvSpPr>
          <p:nvPr/>
        </p:nvSpPr>
        <p:spPr bwMode="auto">
          <a:xfrm>
            <a:off x="1263777" y="1448220"/>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信封</a:t>
            </a:r>
          </a:p>
        </p:txBody>
      </p:sp>
      <p:sp>
        <p:nvSpPr>
          <p:cNvPr id="88" name="Text Box 409"/>
          <p:cNvSpPr txBox="1">
            <a:spLocks noChangeArrowheads="1"/>
          </p:cNvSpPr>
          <p:nvPr/>
        </p:nvSpPr>
        <p:spPr bwMode="auto">
          <a:xfrm>
            <a:off x="6559677" y="2451080"/>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首部</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header</a:t>
            </a:r>
            <a:endParaRPr kumimoji="1" lang="zh-CN" altLang="en-US" sz="1200" dirty="0">
              <a:latin typeface="Montserrat" panose="00000500000000000000" pitchFamily="2" charset="0"/>
              <a:ea typeface="微软雅黑 Light" panose="020B0502040204020203" pitchFamily="34" charset="-122"/>
            </a:endParaRPr>
          </a:p>
        </p:txBody>
      </p:sp>
      <p:sp>
        <p:nvSpPr>
          <p:cNvPr id="89" name="Text Box 409"/>
          <p:cNvSpPr txBox="1">
            <a:spLocks noChangeArrowheads="1"/>
          </p:cNvSpPr>
          <p:nvPr/>
        </p:nvSpPr>
        <p:spPr bwMode="auto">
          <a:xfrm>
            <a:off x="6559677" y="3778321"/>
            <a:ext cx="92224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主体</a:t>
            </a:r>
            <a:endParaRPr kumimoji="1" lang="en-US" altLang="zh-CN" sz="1200" dirty="0">
              <a:latin typeface="Montserrat" panose="00000500000000000000" pitchFamily="2" charset="0"/>
              <a:ea typeface="微软雅黑 Light" panose="020B0502040204020203" pitchFamily="34" charset="-122"/>
            </a:endParaRPr>
          </a:p>
          <a:p>
            <a:pPr eaLnBrk="1" hangingPunct="1"/>
            <a:r>
              <a:rPr kumimoji="1" lang="en-US" altLang="zh-CN" sz="1200" dirty="0">
                <a:latin typeface="Montserrat" panose="00000500000000000000" pitchFamily="2" charset="0"/>
                <a:ea typeface="微软雅黑 Light" panose="020B0502040204020203" pitchFamily="34" charset="-122"/>
              </a:rPr>
              <a:t>body</a:t>
            </a:r>
            <a:endParaRPr kumimoji="1" lang="zh-CN" altLang="en-US" sz="1200" dirty="0">
              <a:latin typeface="Montserrat" panose="00000500000000000000" pitchFamily="2" charset="0"/>
              <a:ea typeface="微软雅黑 Light" panose="020B0502040204020203" pitchFamily="34" charset="-122"/>
            </a:endParaRPr>
          </a:p>
        </p:txBody>
      </p:sp>
      <p:sp>
        <p:nvSpPr>
          <p:cNvPr id="90" name="Text Box 409"/>
          <p:cNvSpPr txBox="1">
            <a:spLocks noChangeArrowheads="1"/>
          </p:cNvSpPr>
          <p:nvPr/>
        </p:nvSpPr>
        <p:spPr bwMode="auto">
          <a:xfrm>
            <a:off x="6559677" y="3178877"/>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dirty="0">
                <a:latin typeface="Montserrat" panose="00000500000000000000" pitchFamily="2" charset="0"/>
                <a:ea typeface="微软雅黑 Light" panose="020B0502040204020203" pitchFamily="34" charset="-122"/>
              </a:rPr>
              <a:t>空行</a:t>
            </a:r>
          </a:p>
        </p:txBody>
      </p:sp>
      <p:sp>
        <p:nvSpPr>
          <p:cNvPr id="93" name="Text Box 409"/>
          <p:cNvSpPr txBox="1">
            <a:spLocks noChangeArrowheads="1"/>
          </p:cNvSpPr>
          <p:nvPr/>
        </p:nvSpPr>
        <p:spPr bwMode="auto">
          <a:xfrm>
            <a:off x="6475597" y="1120289"/>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defPPr>
              <a:defRPr lang="zh-CN"/>
            </a:defPPr>
            <a:lvl1pPr algn="ctr">
              <a:defRPr kumimoji="1" sz="1100">
                <a:solidFill>
                  <a:srgbClr val="CC00CC"/>
                </a:solidFill>
                <a:latin typeface="Montserrat" panose="00000500000000000000" pitchFamily="2" charset="0"/>
                <a:ea typeface="微软雅黑 Light" panose="020B0502040204020203"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pPr algn="l"/>
            <a:r>
              <a:rPr lang="zh-CN" altLang="en-US" dirty="0">
                <a:solidFill>
                  <a:schemeClr val="tx1"/>
                </a:solidFill>
              </a:rPr>
              <a:t>端口 </a:t>
            </a:r>
            <a:r>
              <a:rPr lang="en-US" altLang="zh-CN" dirty="0">
                <a:solidFill>
                  <a:schemeClr val="tx1"/>
                </a:solidFill>
              </a:rPr>
              <a:t>25</a:t>
            </a:r>
            <a:endParaRPr lang="zh-CN" altLang="en-US" dirty="0">
              <a:solidFill>
                <a:schemeClr val="tx1"/>
              </a:solidFill>
            </a:endParaRPr>
          </a:p>
        </p:txBody>
      </p:sp>
      <p:sp>
        <p:nvSpPr>
          <p:cNvPr id="12" name="AutoShape 38">
            <a:extLst>
              <a:ext uri="{FF2B5EF4-FFF2-40B4-BE49-F238E27FC236}">
                <a16:creationId xmlns:a16="http://schemas.microsoft.com/office/drawing/2014/main" id="{84D85321-B531-1F7D-D7D4-1DB1832021FB}"/>
              </a:ext>
            </a:extLst>
          </p:cNvPr>
          <p:cNvSpPr>
            <a:spLocks/>
          </p:cNvSpPr>
          <p:nvPr/>
        </p:nvSpPr>
        <p:spPr bwMode="auto">
          <a:xfrm flipH="1">
            <a:off x="1960293" y="2037741"/>
            <a:ext cx="175120" cy="2376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13" name="Text Box 409">
            <a:extLst>
              <a:ext uri="{FF2B5EF4-FFF2-40B4-BE49-F238E27FC236}">
                <a16:creationId xmlns:a16="http://schemas.microsoft.com/office/drawing/2014/main" id="{CD2282B2-C8DF-C23E-3C1E-C8A4859C89D1}"/>
              </a:ext>
            </a:extLst>
          </p:cNvPr>
          <p:cNvSpPr txBox="1">
            <a:spLocks noChangeArrowheads="1"/>
          </p:cNvSpPr>
          <p:nvPr/>
        </p:nvSpPr>
        <p:spPr bwMode="auto">
          <a:xfrm>
            <a:off x="1263777" y="3069653"/>
            <a:ext cx="922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内容</a:t>
            </a:r>
          </a:p>
        </p:txBody>
      </p:sp>
      <p:sp>
        <p:nvSpPr>
          <p:cNvPr id="4" name="AutoShape 38">
            <a:extLst>
              <a:ext uri="{FF2B5EF4-FFF2-40B4-BE49-F238E27FC236}">
                <a16:creationId xmlns:a16="http://schemas.microsoft.com/office/drawing/2014/main" id="{C115D18F-7E1E-CC86-C30C-91AA30C744FB}"/>
              </a:ext>
            </a:extLst>
          </p:cNvPr>
          <p:cNvSpPr>
            <a:spLocks/>
          </p:cNvSpPr>
          <p:nvPr/>
        </p:nvSpPr>
        <p:spPr bwMode="auto">
          <a:xfrm flipH="1">
            <a:off x="1960293" y="1199541"/>
            <a:ext cx="175120" cy="720000"/>
          </a:xfrm>
          <a:prstGeom prst="rightBrace">
            <a:avLst>
              <a:gd name="adj1" fmla="val 6987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9418881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05A7DB8-7A40-AAEE-077A-61BED9A8C400}"/>
              </a:ext>
            </a:extLst>
          </p:cNvPr>
          <p:cNvSpPr>
            <a:spLocks noGrp="1"/>
          </p:cNvSpPr>
          <p:nvPr>
            <p:ph type="title"/>
          </p:nvPr>
        </p:nvSpPr>
        <p:spPr>
          <a:xfrm>
            <a:off x="485999" y="174482"/>
            <a:ext cx="8171999" cy="338554"/>
          </a:xfrm>
        </p:spPr>
        <p:txBody>
          <a:bodyPr/>
          <a:lstStyle/>
          <a:p>
            <a:r>
              <a:rPr lang="en-US" altLang="zh-CN" dirty="0"/>
              <a:t>6.5.2  </a:t>
            </a:r>
            <a:r>
              <a:rPr lang="zh-CN" altLang="en-US" dirty="0"/>
              <a:t>简单邮件传送协议 </a:t>
            </a:r>
            <a:r>
              <a:rPr lang="en-US" altLang="zh-CN" dirty="0"/>
              <a:t>SMTP – </a:t>
            </a:r>
            <a:r>
              <a:rPr lang="zh-CN" altLang="en-US" dirty="0"/>
              <a:t>三个阶段 </a:t>
            </a:r>
            <a:r>
              <a:rPr lang="en-US" altLang="zh-CN" dirty="0"/>
              <a:t>– </a:t>
            </a:r>
            <a:r>
              <a:rPr lang="zh-CN" altLang="en-US" dirty="0"/>
              <a:t>连接释放</a:t>
            </a:r>
          </a:p>
        </p:txBody>
      </p:sp>
      <p:sp>
        <p:nvSpPr>
          <p:cNvPr id="3" name="内容占位符 2">
            <a:extLst>
              <a:ext uri="{FF2B5EF4-FFF2-40B4-BE49-F238E27FC236}">
                <a16:creationId xmlns:a16="http://schemas.microsoft.com/office/drawing/2014/main" id="{6B1B2E5F-C48E-3BDA-44ED-3C48BA1391CD}"/>
              </a:ext>
            </a:extLst>
          </p:cNvPr>
          <p:cNvSpPr>
            <a:spLocks noGrp="1"/>
          </p:cNvSpPr>
          <p:nvPr>
            <p:ph sz="quarter" idx="11"/>
          </p:nvPr>
        </p:nvSpPr>
        <p:spPr/>
        <p:txBody>
          <a:bodyPr/>
          <a:lstStyle/>
          <a:p>
            <a:endParaRPr lang="zh-CN" altLang="en-US"/>
          </a:p>
        </p:txBody>
      </p:sp>
      <p:sp>
        <p:nvSpPr>
          <p:cNvPr id="41" name="矩形 40">
            <a:extLst>
              <a:ext uri="{FF2B5EF4-FFF2-40B4-BE49-F238E27FC236}">
                <a16:creationId xmlns:a16="http://schemas.microsoft.com/office/drawing/2014/main" id="{E1F95365-0B90-A3B0-76D2-F23AFEA1A51F}"/>
              </a:ext>
            </a:extLst>
          </p:cNvPr>
          <p:cNvSpPr/>
          <p:nvPr/>
        </p:nvSpPr>
        <p:spPr>
          <a:xfrm>
            <a:off x="5941676"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Server</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42" name="Text Box 409">
            <a:extLst>
              <a:ext uri="{FF2B5EF4-FFF2-40B4-BE49-F238E27FC236}">
                <a16:creationId xmlns:a16="http://schemas.microsoft.com/office/drawing/2014/main" id="{3B9C1701-3175-ECDB-5643-C6CB65850DD4}"/>
              </a:ext>
            </a:extLst>
          </p:cNvPr>
          <p:cNvSpPr txBox="1">
            <a:spLocks noChangeArrowheads="1"/>
          </p:cNvSpPr>
          <p:nvPr/>
        </p:nvSpPr>
        <p:spPr bwMode="auto">
          <a:xfrm>
            <a:off x="6475597" y="2372336"/>
            <a:ext cx="1077721"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100" dirty="0">
                <a:latin typeface="Montserrat" panose="00000500000000000000" pitchFamily="2" charset="0"/>
                <a:ea typeface="微软雅黑 Light" panose="020B0502040204020203" pitchFamily="34" charset="-122"/>
              </a:rPr>
              <a:t>端口 </a:t>
            </a:r>
            <a:r>
              <a:rPr kumimoji="1" lang="en-US" altLang="zh-CN" sz="1100" dirty="0">
                <a:latin typeface="Montserrat" panose="00000500000000000000" pitchFamily="2" charset="0"/>
                <a:ea typeface="微软雅黑 Light" panose="020B0502040204020203" pitchFamily="34" charset="-122"/>
              </a:rPr>
              <a:t>25</a:t>
            </a:r>
            <a:endParaRPr kumimoji="1" lang="zh-CN" altLang="en-US" sz="1100" dirty="0">
              <a:latin typeface="Montserrat" panose="00000500000000000000" pitchFamily="2" charset="0"/>
              <a:ea typeface="微软雅黑 Light" panose="020B0502040204020203" pitchFamily="34" charset="-122"/>
            </a:endParaRPr>
          </a:p>
        </p:txBody>
      </p:sp>
      <p:sp>
        <p:nvSpPr>
          <p:cNvPr id="43" name="矩形 42">
            <a:extLst>
              <a:ext uri="{FF2B5EF4-FFF2-40B4-BE49-F238E27FC236}">
                <a16:creationId xmlns:a16="http://schemas.microsoft.com/office/drawing/2014/main" id="{7A520A1F-92D8-5DB3-B321-FD536907CA4C}"/>
              </a:ext>
            </a:extLst>
          </p:cNvPr>
          <p:cNvSpPr/>
          <p:nvPr/>
        </p:nvSpPr>
        <p:spPr>
          <a:xfrm>
            <a:off x="1590683" y="2131280"/>
            <a:ext cx="1203916" cy="256400"/>
          </a:xfrm>
          <a:prstGeom prst="rect">
            <a:avLst/>
          </a:prstGeom>
          <a:noFill/>
          <a:ln>
            <a:noFill/>
          </a:ln>
          <a:effectLst/>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SMTP Client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44" name="直接箭头连接符 43">
            <a:extLst>
              <a:ext uri="{FF2B5EF4-FFF2-40B4-BE49-F238E27FC236}">
                <a16:creationId xmlns:a16="http://schemas.microsoft.com/office/drawing/2014/main" id="{9CDD6CB0-BB5E-AC58-376A-33A10A8FFEA3}"/>
              </a:ext>
            </a:extLst>
          </p:cNvPr>
          <p:cNvCxnSpPr>
            <a:stCxn id="43" idx="2"/>
          </p:cNvCxnSpPr>
          <p:nvPr/>
        </p:nvCxnSpPr>
        <p:spPr>
          <a:xfrm>
            <a:off x="2192641"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5" name="直接箭头连接符 44">
            <a:extLst>
              <a:ext uri="{FF2B5EF4-FFF2-40B4-BE49-F238E27FC236}">
                <a16:creationId xmlns:a16="http://schemas.microsoft.com/office/drawing/2014/main" id="{225AF353-0E09-31CD-8388-B69C2C17BD38}"/>
              </a:ext>
            </a:extLst>
          </p:cNvPr>
          <p:cNvCxnSpPr>
            <a:stCxn id="41" idx="2"/>
          </p:cNvCxnSpPr>
          <p:nvPr/>
        </p:nvCxnSpPr>
        <p:spPr>
          <a:xfrm>
            <a:off x="6543634" y="2387680"/>
            <a:ext cx="0" cy="2053679"/>
          </a:xfrm>
          <a:prstGeom prst="straightConnector1">
            <a:avLst/>
          </a:prstGeom>
          <a:ln w="19050">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nvGrpSpPr>
          <p:cNvPr id="46" name="组合 45">
            <a:extLst>
              <a:ext uri="{FF2B5EF4-FFF2-40B4-BE49-F238E27FC236}">
                <a16:creationId xmlns:a16="http://schemas.microsoft.com/office/drawing/2014/main" id="{0AC8E06A-610B-6FF0-852E-500F4E0440C8}"/>
              </a:ext>
            </a:extLst>
          </p:cNvPr>
          <p:cNvGrpSpPr/>
          <p:nvPr/>
        </p:nvGrpSpPr>
        <p:grpSpPr>
          <a:xfrm>
            <a:off x="2200434" y="3568782"/>
            <a:ext cx="4337778" cy="272461"/>
            <a:chOff x="2144264" y="1954086"/>
            <a:chExt cx="4926338" cy="419288"/>
          </a:xfrm>
        </p:grpSpPr>
        <p:sp>
          <p:nvSpPr>
            <p:cNvPr id="47" name="Text Box 52">
              <a:extLst>
                <a:ext uri="{FF2B5EF4-FFF2-40B4-BE49-F238E27FC236}">
                  <a16:creationId xmlns:a16="http://schemas.microsoft.com/office/drawing/2014/main" id="{83E3B35C-4EAB-2871-3ED2-008F351A771F}"/>
                </a:ext>
              </a:extLst>
            </p:cNvPr>
            <p:cNvSpPr txBox="1">
              <a:spLocks noChangeArrowheads="1"/>
            </p:cNvSpPr>
            <p:nvPr/>
          </p:nvSpPr>
          <p:spPr bwMode="auto">
            <a:xfrm>
              <a:off x="3935865" y="1970785"/>
              <a:ext cx="1254692" cy="4025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zh-CN"/>
              </a:defPPr>
              <a:lvl1pPr algn="ctr">
                <a:defRPr kumimoji="1" sz="1400" b="1">
                  <a:latin typeface="微软雅黑" pitchFamily="34" charset="-122"/>
                  <a:ea typeface="微软雅黑" pitchFamily="34" charset="-122"/>
                </a:defRPr>
              </a:lvl1pPr>
              <a:lvl2pPr marL="742950" indent="-285750">
                <a:defRPr sz="3600">
                  <a:latin typeface="Tahoma" pitchFamily="34" charset="0"/>
                  <a:ea typeface="宋体" charset="-122"/>
                </a:defRPr>
              </a:lvl2pPr>
              <a:lvl3pPr marL="1143000" indent="-228600">
                <a:defRPr sz="3600">
                  <a:latin typeface="Tahoma" pitchFamily="34" charset="0"/>
                  <a:ea typeface="宋体" charset="-122"/>
                </a:defRPr>
              </a:lvl3pPr>
              <a:lvl4pPr marL="1600200" indent="-228600">
                <a:defRPr sz="3600">
                  <a:latin typeface="Tahoma" pitchFamily="34" charset="0"/>
                  <a:ea typeface="宋体" charset="-122"/>
                </a:defRPr>
              </a:lvl4pPr>
              <a:lvl5pPr marL="2057400" indent="-228600">
                <a:defRPr sz="3600">
                  <a:latin typeface="Tahoma" pitchFamily="34" charset="0"/>
                  <a:ea typeface="宋体" charset="-122"/>
                </a:defRPr>
              </a:lvl5pPr>
              <a:lvl6pPr marL="2514600" indent="-228600" eaLnBrk="0" fontAlgn="base" hangingPunct="0">
                <a:spcBef>
                  <a:spcPct val="0"/>
                </a:spcBef>
                <a:spcAft>
                  <a:spcPct val="0"/>
                </a:spcAft>
                <a:defRPr sz="3600">
                  <a:latin typeface="Tahoma" pitchFamily="34" charset="0"/>
                  <a:ea typeface="宋体" charset="-122"/>
                </a:defRPr>
              </a:lvl6pPr>
              <a:lvl7pPr marL="2971800" indent="-228600" eaLnBrk="0" fontAlgn="base" hangingPunct="0">
                <a:spcBef>
                  <a:spcPct val="0"/>
                </a:spcBef>
                <a:spcAft>
                  <a:spcPct val="0"/>
                </a:spcAft>
                <a:defRPr sz="3600">
                  <a:latin typeface="Tahoma" pitchFamily="34" charset="0"/>
                  <a:ea typeface="宋体" charset="-122"/>
                </a:defRPr>
              </a:lvl7pPr>
              <a:lvl8pPr marL="3429000" indent="-228600" eaLnBrk="0" fontAlgn="base" hangingPunct="0">
                <a:spcBef>
                  <a:spcPct val="0"/>
                </a:spcBef>
                <a:spcAft>
                  <a:spcPct val="0"/>
                </a:spcAft>
                <a:defRPr sz="3600">
                  <a:latin typeface="Tahoma" pitchFamily="34" charset="0"/>
                  <a:ea typeface="宋体" charset="-122"/>
                </a:defRPr>
              </a:lvl8pPr>
              <a:lvl9pPr marL="3886200" indent="-228600" eaLnBrk="0" fontAlgn="base" hangingPunct="0">
                <a:spcBef>
                  <a:spcPct val="0"/>
                </a:spcBef>
                <a:spcAft>
                  <a:spcPct val="0"/>
                </a:spcAft>
                <a:defRPr sz="3600">
                  <a:latin typeface="Tahoma" pitchFamily="34" charset="0"/>
                  <a:ea typeface="宋体" charset="-122"/>
                </a:defRPr>
              </a:lvl9pPr>
            </a:lstStyle>
            <a:p>
              <a:r>
                <a:rPr lang="zh-CN" altLang="en-US" sz="1100" b="0" dirty="0">
                  <a:latin typeface="Montserrat" panose="00000500000000000000" pitchFamily="2" charset="0"/>
                  <a:ea typeface="微软雅黑 Light" panose="020B0502040204020203" pitchFamily="34" charset="-122"/>
                </a:rPr>
                <a:t>释放 </a:t>
              </a:r>
              <a:r>
                <a:rPr lang="en-US" altLang="zh-CN" sz="1100" b="0" dirty="0">
                  <a:latin typeface="Montserrat" panose="00000500000000000000" pitchFamily="2" charset="0"/>
                  <a:ea typeface="微软雅黑 Light" panose="020B0502040204020203" pitchFamily="34" charset="-122"/>
                </a:rPr>
                <a:t>TCP </a:t>
              </a:r>
              <a:r>
                <a:rPr lang="zh-CN" altLang="en-US" sz="1100" b="0" dirty="0">
                  <a:latin typeface="Montserrat" panose="00000500000000000000" pitchFamily="2" charset="0"/>
                  <a:ea typeface="微软雅黑 Light" panose="020B0502040204020203" pitchFamily="34" charset="-122"/>
                </a:rPr>
                <a:t>连接</a:t>
              </a:r>
              <a:endParaRPr lang="en-US" altLang="zh-CN" sz="1100" b="0" dirty="0">
                <a:latin typeface="Montserrat" panose="00000500000000000000" pitchFamily="2" charset="0"/>
                <a:ea typeface="微软雅黑 Light" panose="020B0502040204020203" pitchFamily="34" charset="-122"/>
              </a:endParaRPr>
            </a:p>
          </p:txBody>
        </p:sp>
        <p:sp>
          <p:nvSpPr>
            <p:cNvPr id="48" name="Line 55">
              <a:extLst>
                <a:ext uri="{FF2B5EF4-FFF2-40B4-BE49-F238E27FC236}">
                  <a16:creationId xmlns:a16="http://schemas.microsoft.com/office/drawing/2014/main" id="{50BF90C4-A0BF-74A3-1A09-C227F45E2B4A}"/>
                </a:ext>
              </a:extLst>
            </p:cNvPr>
            <p:cNvSpPr>
              <a:spLocks noChangeShapeType="1"/>
            </p:cNvSpPr>
            <p:nvPr/>
          </p:nvSpPr>
          <p:spPr bwMode="auto">
            <a:xfrm>
              <a:off x="2144264" y="1954086"/>
              <a:ext cx="4926338" cy="0"/>
            </a:xfrm>
            <a:prstGeom prst="line">
              <a:avLst/>
            </a:prstGeom>
            <a:noFill/>
            <a:ln w="19050">
              <a:solidFill>
                <a:srgbClr val="4BACC6"/>
              </a:solidFill>
              <a:prstDash val="lgDash"/>
              <a:miter lim="800000"/>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grpSp>
      <p:grpSp>
        <p:nvGrpSpPr>
          <p:cNvPr id="52" name="组合 51">
            <a:extLst>
              <a:ext uri="{FF2B5EF4-FFF2-40B4-BE49-F238E27FC236}">
                <a16:creationId xmlns:a16="http://schemas.microsoft.com/office/drawing/2014/main" id="{7EC9AE12-76DE-73E6-484E-7FC42908884B}"/>
              </a:ext>
            </a:extLst>
          </p:cNvPr>
          <p:cNvGrpSpPr/>
          <p:nvPr/>
        </p:nvGrpSpPr>
        <p:grpSpPr>
          <a:xfrm>
            <a:off x="2200434" y="2770927"/>
            <a:ext cx="4337778" cy="180000"/>
            <a:chOff x="2144264" y="2285523"/>
            <a:chExt cx="4926338" cy="292388"/>
          </a:xfrm>
        </p:grpSpPr>
        <p:sp>
          <p:nvSpPr>
            <p:cNvPr id="53" name="Line 55">
              <a:extLst>
                <a:ext uri="{FF2B5EF4-FFF2-40B4-BE49-F238E27FC236}">
                  <a16:creationId xmlns:a16="http://schemas.microsoft.com/office/drawing/2014/main" id="{59A99D04-4E81-745E-E087-FED82CC949E0}"/>
                </a:ext>
              </a:extLst>
            </p:cNvPr>
            <p:cNvSpPr>
              <a:spLocks noChangeShapeType="1"/>
            </p:cNvSpPr>
            <p:nvPr/>
          </p:nvSpPr>
          <p:spPr bwMode="auto">
            <a:xfrm>
              <a:off x="2144264" y="2426141"/>
              <a:ext cx="4926338" cy="0"/>
            </a:xfrm>
            <a:prstGeom prst="line">
              <a:avLst/>
            </a:prstGeom>
            <a:noFill/>
            <a:ln w="9525">
              <a:solidFill>
                <a:schemeClr val="tx1"/>
              </a:solidFill>
              <a:miter lim="800000"/>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4" name="矩形 53">
              <a:extLst>
                <a:ext uri="{FF2B5EF4-FFF2-40B4-BE49-F238E27FC236}">
                  <a16:creationId xmlns:a16="http://schemas.microsoft.com/office/drawing/2014/main" id="{5E9C6617-6E05-D27B-3F0B-97A40418C459}"/>
                </a:ext>
              </a:extLst>
            </p:cNvPr>
            <p:cNvSpPr/>
            <p:nvPr/>
          </p:nvSpPr>
          <p:spPr>
            <a:xfrm>
              <a:off x="2827283" y="2285523"/>
              <a:ext cx="3626069" cy="292388"/>
            </a:xfrm>
            <a:prstGeom prst="rect">
              <a:avLst/>
            </a:prstGeom>
            <a:solidFill>
              <a:srgbClr val="00FF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QUIT</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grpSp>
        <p:nvGrpSpPr>
          <p:cNvPr id="55" name="组合 54">
            <a:extLst>
              <a:ext uri="{FF2B5EF4-FFF2-40B4-BE49-F238E27FC236}">
                <a16:creationId xmlns:a16="http://schemas.microsoft.com/office/drawing/2014/main" id="{EF3B1C2B-7E1A-903A-75C1-21B29DB5E8D7}"/>
              </a:ext>
            </a:extLst>
          </p:cNvPr>
          <p:cNvGrpSpPr/>
          <p:nvPr/>
        </p:nvGrpSpPr>
        <p:grpSpPr>
          <a:xfrm>
            <a:off x="2200434" y="2994515"/>
            <a:ext cx="4337778" cy="180000"/>
            <a:chOff x="2144264" y="2285523"/>
            <a:chExt cx="4926338" cy="292388"/>
          </a:xfrm>
        </p:grpSpPr>
        <p:sp>
          <p:nvSpPr>
            <p:cNvPr id="56" name="Line 55">
              <a:extLst>
                <a:ext uri="{FF2B5EF4-FFF2-40B4-BE49-F238E27FC236}">
                  <a16:creationId xmlns:a16="http://schemas.microsoft.com/office/drawing/2014/main" id="{88C5CEBD-372F-F7D3-8333-97008673369A}"/>
                </a:ext>
              </a:extLst>
            </p:cNvPr>
            <p:cNvSpPr>
              <a:spLocks noChangeShapeType="1"/>
            </p:cNvSpPr>
            <p:nvPr/>
          </p:nvSpPr>
          <p:spPr bwMode="auto">
            <a:xfrm>
              <a:off x="2144264" y="2426141"/>
              <a:ext cx="4926338" cy="0"/>
            </a:xfrm>
            <a:prstGeom prst="line">
              <a:avLst/>
            </a:prstGeom>
            <a:noFill/>
            <a:ln w="9525">
              <a:solidFill>
                <a:schemeClr val="tx1"/>
              </a:solidFill>
              <a:miter lim="800000"/>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100" dirty="0">
                <a:latin typeface="Montserrat" panose="00000500000000000000" pitchFamily="2" charset="0"/>
                <a:ea typeface="微软雅黑 Light" panose="020B0502040204020203" pitchFamily="34" charset="-122"/>
              </a:endParaRPr>
            </a:p>
          </p:txBody>
        </p:sp>
        <p:sp>
          <p:nvSpPr>
            <p:cNvPr id="57" name="矩形 56">
              <a:extLst>
                <a:ext uri="{FF2B5EF4-FFF2-40B4-BE49-F238E27FC236}">
                  <a16:creationId xmlns:a16="http://schemas.microsoft.com/office/drawing/2014/main" id="{19FAEFD1-489B-5B8F-B227-65A2D72A3542}"/>
                </a:ext>
              </a:extLst>
            </p:cNvPr>
            <p:cNvSpPr/>
            <p:nvPr/>
          </p:nvSpPr>
          <p:spPr>
            <a:xfrm>
              <a:off x="2827283" y="2285523"/>
              <a:ext cx="3626069" cy="292388"/>
            </a:xfrm>
            <a:prstGeom prst="rect">
              <a:avLst/>
            </a:prstGeom>
            <a:solidFill>
              <a:srgbClr val="FFFF00"/>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100" dirty="0">
                  <a:solidFill>
                    <a:schemeClr val="tx1"/>
                  </a:solidFill>
                  <a:latin typeface="Montserrat" panose="00000500000000000000" pitchFamily="2" charset="0"/>
                  <a:ea typeface="微软雅黑 Light" panose="020B0502040204020203" pitchFamily="34" charset="-122"/>
                </a:rPr>
                <a:t>221 Service Closed</a:t>
              </a:r>
              <a:endParaRPr lang="zh-CN" altLang="en-US" sz="1100" dirty="0">
                <a:solidFill>
                  <a:schemeClr val="tx1"/>
                </a:solidFill>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7672380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圆角矩形 22"/>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 name="AutoShape 5"/>
          <p:cNvSpPr>
            <a:spLocks noChangeArrowheads="1"/>
          </p:cNvSpPr>
          <p:nvPr/>
        </p:nvSpPr>
        <p:spPr bwMode="auto">
          <a:xfrm>
            <a:off x="556963" y="61500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7" y="572738"/>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6.5.3  </a:t>
            </a:r>
            <a:r>
              <a:rPr lang="zh-CN" altLang="en-US" sz="2400" b="1" dirty="0">
                <a:solidFill>
                  <a:schemeClr val="bg1"/>
                </a:solidFill>
                <a:latin typeface="微软雅黑 Light" panose="020B0502040204020203" pitchFamily="34" charset="-122"/>
                <a:ea typeface="微软雅黑 Light" panose="020B0502040204020203" pitchFamily="34" charset="-122"/>
              </a:rPr>
              <a:t>电子邮件的信息格式</a:t>
            </a:r>
          </a:p>
        </p:txBody>
      </p:sp>
      <p:sp>
        <p:nvSpPr>
          <p:cNvPr id="5"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6"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8"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10"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11" name="矩形 10"/>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12" name="矩形 11"/>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24" name="组合 23"/>
          <p:cNvGrpSpPr/>
          <p:nvPr/>
        </p:nvGrpSpPr>
        <p:grpSpPr>
          <a:xfrm>
            <a:off x="7473400" y="1335334"/>
            <a:ext cx="714150" cy="2768917"/>
            <a:chOff x="7200140" y="1468504"/>
            <a:chExt cx="807016" cy="2768917"/>
          </a:xfrm>
        </p:grpSpPr>
        <p:cxnSp>
          <p:nvCxnSpPr>
            <p:cNvPr id="14" name="直接连接符 13"/>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7" name="直接连接符 16"/>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56963" y="1004641"/>
            <a:ext cx="325828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一个电子邮件分为</a:t>
            </a:r>
            <a:r>
              <a:rPr lang="zh-CN" altLang="en-US" sz="2000" b="1" dirty="0">
                <a:solidFill>
                  <a:srgbClr val="C00000"/>
                </a:solidFill>
                <a:latin typeface="微软雅黑 Light" panose="020B0502040204020203" pitchFamily="34" charset="-122"/>
                <a:ea typeface="微软雅黑 Light" panose="020B0502040204020203" pitchFamily="34" charset="-122"/>
              </a:rPr>
              <a:t>信封</a:t>
            </a:r>
            <a:r>
              <a:rPr lang="zh-CN" altLang="en-US" sz="2000" b="1" dirty="0">
                <a:latin typeface="微软雅黑 Light" panose="020B0502040204020203" pitchFamily="34" charset="-122"/>
                <a:ea typeface="微软雅黑 Light" panose="020B0502040204020203" pitchFamily="34" charset="-122"/>
              </a:rPr>
              <a:t>和</a:t>
            </a:r>
            <a:r>
              <a:rPr lang="zh-CN" altLang="en-US" sz="2000" b="1" dirty="0">
                <a:solidFill>
                  <a:srgbClr val="C00000"/>
                </a:solidFill>
                <a:latin typeface="微软雅黑 Light" panose="020B0502040204020203" pitchFamily="34" charset="-122"/>
                <a:ea typeface="微软雅黑 Light" panose="020B0502040204020203" pitchFamily="34" charset="-122"/>
              </a:rPr>
              <a:t>内容</a:t>
            </a:r>
            <a:r>
              <a:rPr lang="zh-CN" altLang="en-US" sz="2000" b="1" dirty="0">
                <a:latin typeface="微软雅黑 Light" panose="020B0502040204020203" pitchFamily="34" charset="-122"/>
                <a:ea typeface="微软雅黑 Light" panose="020B0502040204020203" pitchFamily="34" charset="-122"/>
              </a:rPr>
              <a:t>两大部分。</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RFC 5322 </a:t>
            </a:r>
            <a:r>
              <a:rPr lang="zh-CN" altLang="en-US" sz="2000" b="1" dirty="0">
                <a:latin typeface="微软雅黑 Light" panose="020B0502040204020203" pitchFamily="34" charset="-122"/>
                <a:ea typeface="微软雅黑 Light" panose="020B0502040204020203" pitchFamily="34" charset="-122"/>
              </a:rPr>
              <a:t>只规定了邮件内容中的</a:t>
            </a:r>
            <a:r>
              <a:rPr lang="zh-CN" altLang="en-US" sz="2000" b="1" dirty="0">
                <a:solidFill>
                  <a:srgbClr val="0000FF"/>
                </a:solidFill>
                <a:latin typeface="微软雅黑 Light" panose="020B0502040204020203" pitchFamily="34" charset="-122"/>
                <a:ea typeface="微软雅黑 Light" panose="020B0502040204020203" pitchFamily="34" charset="-122"/>
              </a:rPr>
              <a:t>首部</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(header) </a:t>
            </a:r>
            <a:r>
              <a:rPr lang="zh-CN" altLang="en-US" sz="2000" b="1" dirty="0">
                <a:latin typeface="微软雅黑 Light" panose="020B0502040204020203" pitchFamily="34" charset="-122"/>
                <a:ea typeface="微软雅黑 Light" panose="020B0502040204020203" pitchFamily="34" charset="-122"/>
              </a:rPr>
              <a:t>格式。</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邮件的</a:t>
            </a:r>
            <a:r>
              <a:rPr lang="zh-CN" altLang="en-US" sz="2000" b="1" dirty="0">
                <a:solidFill>
                  <a:srgbClr val="0000FF"/>
                </a:solidFill>
                <a:latin typeface="微软雅黑 Light" panose="020B0502040204020203" pitchFamily="34" charset="-122"/>
                <a:ea typeface="微软雅黑 Light" panose="020B0502040204020203" pitchFamily="34" charset="-122"/>
              </a:rPr>
              <a:t>主体</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(body) </a:t>
            </a:r>
            <a:r>
              <a:rPr lang="zh-CN" altLang="en-US" sz="2000" b="1" dirty="0">
                <a:latin typeface="微软雅黑 Light" panose="020B0502040204020203" pitchFamily="34" charset="-122"/>
                <a:ea typeface="微软雅黑 Light" panose="020B0502040204020203" pitchFamily="34" charset="-122"/>
              </a:rPr>
              <a:t>部分则让用户自由撰写。</a:t>
            </a:r>
          </a:p>
        </p:txBody>
      </p:sp>
    </p:spTree>
    <p:extLst>
      <p:ext uri="{BB962C8B-B14F-4D97-AF65-F5344CB8AC3E}">
        <p14:creationId xmlns:p14="http://schemas.microsoft.com/office/powerpoint/2010/main" val="21094137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5"/>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AutoShape 5"/>
          <p:cNvSpPr>
            <a:spLocks noChangeArrowheads="1"/>
          </p:cNvSpPr>
          <p:nvPr/>
        </p:nvSpPr>
        <p:spPr bwMode="auto">
          <a:xfrm>
            <a:off x="556963" y="61141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28" name="Rectangle 6"/>
          <p:cNvSpPr>
            <a:spLocks noChangeArrowheads="1"/>
          </p:cNvSpPr>
          <p:nvPr/>
        </p:nvSpPr>
        <p:spPr bwMode="auto">
          <a:xfrm>
            <a:off x="3552869" y="578205"/>
            <a:ext cx="20569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邮件内容的首部</a:t>
            </a:r>
          </a:p>
        </p:txBody>
      </p:sp>
      <p:sp>
        <p:nvSpPr>
          <p:cNvPr id="29" name="圆角矩形 28"/>
          <p:cNvSpPr/>
          <p:nvPr/>
        </p:nvSpPr>
        <p:spPr>
          <a:xfrm>
            <a:off x="3972911" y="1039512"/>
            <a:ext cx="4538238" cy="3314939"/>
          </a:xfrm>
          <a:prstGeom prst="roundRect">
            <a:avLst>
              <a:gd name="adj" fmla="val 12382"/>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30" name="Rectangle 6"/>
          <p:cNvSpPr>
            <a:spLocks noChangeArrowheads="1"/>
          </p:cNvSpPr>
          <p:nvPr/>
        </p:nvSpPr>
        <p:spPr bwMode="auto">
          <a:xfrm>
            <a:off x="4389019" y="2191369"/>
            <a:ext cx="3035300" cy="1917261"/>
          </a:xfrm>
          <a:prstGeom prst="rect">
            <a:avLst/>
          </a:prstGeom>
          <a:solidFill>
            <a:schemeClr val="bg1"/>
          </a:solidFill>
          <a:ln w="19050">
            <a:solidFill>
              <a:schemeClr val="tx1"/>
            </a:solidFill>
            <a:miter lim="800000"/>
            <a:headEnd/>
            <a:tailEnd/>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1" name="Rectangle 4"/>
          <p:cNvSpPr>
            <a:spLocks noChangeArrowheads="1"/>
          </p:cNvSpPr>
          <p:nvPr/>
        </p:nvSpPr>
        <p:spPr bwMode="auto">
          <a:xfrm>
            <a:off x="4494119" y="2323624"/>
            <a:ext cx="2832100" cy="369326"/>
          </a:xfrm>
          <a:prstGeom prst="rect">
            <a:avLst/>
          </a:prstGeom>
          <a:solidFill>
            <a:srgbClr val="00FFCC"/>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首部 </a:t>
            </a:r>
            <a:r>
              <a:rPr lang="en-US" altLang="zh-CN" b="1" dirty="0">
                <a:latin typeface="微软雅黑 Light" panose="020B0502040204020203" pitchFamily="34" charset="-122"/>
                <a:ea typeface="微软雅黑 Light" panose="020B0502040204020203" pitchFamily="34" charset="-122"/>
              </a:rPr>
              <a:t>(header)</a:t>
            </a:r>
          </a:p>
        </p:txBody>
      </p:sp>
      <p:sp>
        <p:nvSpPr>
          <p:cNvPr id="32" name="Rectangle 5"/>
          <p:cNvSpPr>
            <a:spLocks noChangeArrowheads="1"/>
          </p:cNvSpPr>
          <p:nvPr/>
        </p:nvSpPr>
        <p:spPr bwMode="auto">
          <a:xfrm>
            <a:off x="4494119" y="2936735"/>
            <a:ext cx="2832100" cy="1056289"/>
          </a:xfrm>
          <a:prstGeom prst="rect">
            <a:avLst/>
          </a:prstGeom>
          <a:solidFill>
            <a:srgbClr val="FF66FF"/>
          </a:solidFill>
          <a:ln w="12700">
            <a:solidFill>
              <a:schemeClr val="tx1"/>
            </a:solidFill>
            <a:miter lim="800000"/>
            <a:headEnd/>
            <a:tailEnd/>
          </a:ln>
          <a:effectLst/>
        </p:spPr>
        <p:txBody>
          <a:bodyPr wrap="none" anchor="ctr"/>
          <a:lstStyle/>
          <a:p>
            <a:pPr algn="ctr"/>
            <a:r>
              <a:rPr lang="zh-CN" altLang="en-US" b="1" dirty="0">
                <a:latin typeface="微软雅黑 Light" panose="020B0502040204020203" pitchFamily="34" charset="-122"/>
                <a:ea typeface="微软雅黑 Light" panose="020B0502040204020203" pitchFamily="34" charset="-122"/>
              </a:rPr>
              <a:t>主体 </a:t>
            </a:r>
            <a:r>
              <a:rPr lang="en-US" altLang="zh-CN" b="1" dirty="0">
                <a:latin typeface="微软雅黑 Light" panose="020B0502040204020203" pitchFamily="34" charset="-122"/>
                <a:ea typeface="微软雅黑 Light" panose="020B0502040204020203" pitchFamily="34" charset="-122"/>
              </a:rPr>
              <a:t>(body)</a:t>
            </a:r>
          </a:p>
        </p:txBody>
      </p:sp>
      <p:sp>
        <p:nvSpPr>
          <p:cNvPr id="33" name="Text Box 7"/>
          <p:cNvSpPr txBox="1">
            <a:spLocks noChangeArrowheads="1"/>
          </p:cNvSpPr>
          <p:nvPr/>
        </p:nvSpPr>
        <p:spPr bwMode="auto">
          <a:xfrm>
            <a:off x="5022211" y="2659467"/>
            <a:ext cx="1797488" cy="30777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a:solidFill>
                  <a:schemeClr val="tx1"/>
                </a:solidFill>
                <a:latin typeface="Tahoma" pitchFamily="34" charset="0"/>
                <a:ea typeface="黑体" pitchFamily="2" charset="-122"/>
              </a:defRPr>
            </a:lvl1pPr>
            <a:lvl2pPr marL="742950" indent="-285750">
              <a:defRPr>
                <a:solidFill>
                  <a:schemeClr val="tx1"/>
                </a:solidFill>
                <a:latin typeface="Tahoma" pitchFamily="34" charset="0"/>
                <a:ea typeface="黑体" pitchFamily="2" charset="-122"/>
              </a:defRPr>
            </a:lvl2pPr>
            <a:lvl3pPr marL="1143000" indent="-228600">
              <a:defRPr>
                <a:solidFill>
                  <a:schemeClr val="tx1"/>
                </a:solidFill>
                <a:latin typeface="Tahoma" pitchFamily="34" charset="0"/>
                <a:ea typeface="黑体" pitchFamily="2" charset="-122"/>
              </a:defRPr>
            </a:lvl3pPr>
            <a:lvl4pPr marL="1600200" indent="-228600">
              <a:defRPr>
                <a:solidFill>
                  <a:schemeClr val="tx1"/>
                </a:solidFill>
                <a:latin typeface="Tahoma" pitchFamily="34" charset="0"/>
                <a:ea typeface="黑体" pitchFamily="2" charset="-122"/>
              </a:defRPr>
            </a:lvl4pPr>
            <a:lvl5pPr marL="2057400" indent="-228600">
              <a:defRPr>
                <a:solidFill>
                  <a:schemeClr val="tx1"/>
                </a:solidFill>
                <a:latin typeface="Tahoma" pitchFamily="34" charset="0"/>
                <a:ea typeface="黑体" pitchFamily="2" charset="-122"/>
              </a:defRPr>
            </a:lvl5pPr>
            <a:lvl6pPr marL="2514600" indent="-228600" eaLnBrk="0" fontAlgn="base" hangingPunct="0">
              <a:spcBef>
                <a:spcPct val="0"/>
              </a:spcBef>
              <a:spcAft>
                <a:spcPct val="0"/>
              </a:spcAft>
              <a:defRPr>
                <a:solidFill>
                  <a:schemeClr val="tx1"/>
                </a:solidFill>
                <a:latin typeface="Tahoma" pitchFamily="34" charset="0"/>
                <a:ea typeface="黑体" pitchFamily="2" charset="-122"/>
              </a:defRPr>
            </a:lvl6pPr>
            <a:lvl7pPr marL="2971800" indent="-228600" eaLnBrk="0" fontAlgn="base" hangingPunct="0">
              <a:spcBef>
                <a:spcPct val="0"/>
              </a:spcBef>
              <a:spcAft>
                <a:spcPct val="0"/>
              </a:spcAft>
              <a:defRPr>
                <a:solidFill>
                  <a:schemeClr val="tx1"/>
                </a:solidFill>
                <a:latin typeface="Tahoma" pitchFamily="34" charset="0"/>
                <a:ea typeface="黑体" pitchFamily="2" charset="-122"/>
              </a:defRPr>
            </a:lvl7pPr>
            <a:lvl8pPr marL="3429000" indent="-228600" eaLnBrk="0" fontAlgn="base" hangingPunct="0">
              <a:spcBef>
                <a:spcPct val="0"/>
              </a:spcBef>
              <a:spcAft>
                <a:spcPct val="0"/>
              </a:spcAft>
              <a:defRPr>
                <a:solidFill>
                  <a:schemeClr val="tx1"/>
                </a:solidFill>
                <a:latin typeface="Tahoma" pitchFamily="34" charset="0"/>
                <a:ea typeface="黑体" pitchFamily="2" charset="-122"/>
              </a:defRPr>
            </a:lvl8pPr>
            <a:lvl9pPr marL="3886200" indent="-228600" eaLnBrk="0" fontAlgn="base" hangingPunct="0">
              <a:spcBef>
                <a:spcPct val="0"/>
              </a:spcBef>
              <a:spcAft>
                <a:spcPct val="0"/>
              </a:spcAft>
              <a:defRPr>
                <a:solidFill>
                  <a:schemeClr val="tx1"/>
                </a:solidFill>
                <a:latin typeface="Tahoma" pitchFamily="34" charset="0"/>
                <a:ea typeface="黑体" pitchFamily="2" charset="-122"/>
              </a:defRPr>
            </a:lvl9pPr>
          </a:lstStyle>
          <a:p>
            <a:pPr algn="ctr"/>
            <a:r>
              <a:rPr lang="zh-CN" altLang="en-US" sz="1400" b="1" dirty="0">
                <a:latin typeface="微软雅黑 Light" panose="020B0502040204020203" pitchFamily="34" charset="-122"/>
                <a:ea typeface="微软雅黑 Light" panose="020B0502040204020203" pitchFamily="34" charset="-122"/>
              </a:rPr>
              <a:t>空行</a:t>
            </a:r>
            <a:endParaRPr lang="en-US" altLang="zh-CN" sz="1400" b="1" dirty="0">
              <a:latin typeface="微软雅黑 Light" panose="020B0502040204020203" pitchFamily="34" charset="-122"/>
              <a:ea typeface="微软雅黑 Light" panose="020B0502040204020203" pitchFamily="34" charset="-122"/>
            </a:endParaRPr>
          </a:p>
        </p:txBody>
      </p:sp>
      <p:sp>
        <p:nvSpPr>
          <p:cNvPr id="34" name="Rectangle 6"/>
          <p:cNvSpPr>
            <a:spLocks noChangeArrowheads="1"/>
          </p:cNvSpPr>
          <p:nvPr/>
        </p:nvSpPr>
        <p:spPr bwMode="auto">
          <a:xfrm>
            <a:off x="4389019" y="1335334"/>
            <a:ext cx="3035300" cy="860409"/>
          </a:xfrm>
          <a:prstGeom prst="rect">
            <a:avLst/>
          </a:prstGeom>
          <a:solidFill>
            <a:srgbClr val="0066FF"/>
          </a:solidFill>
          <a:ln w="19050">
            <a:solidFill>
              <a:schemeClr val="tx1"/>
            </a:solidFill>
            <a:miter lim="800000"/>
            <a:headEnd/>
            <a:tailEnd/>
          </a:ln>
          <a:effectLst/>
        </p:spPr>
        <p:txBody>
          <a:bodyPr wrap="none" anchor="ctr"/>
          <a:lstStyle/>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MAIL FROM: one@abc.edu</a:t>
            </a:r>
          </a:p>
          <a:p>
            <a:pPr>
              <a:lnSpc>
                <a:spcPts val="1600"/>
              </a:lnSpc>
            </a:pPr>
            <a:r>
              <a:rPr lang="en-US" altLang="zh-CN" sz="1200" b="1" dirty="0">
                <a:solidFill>
                  <a:schemeClr val="bg1"/>
                </a:solidFill>
                <a:latin typeface="微软雅黑 Light" panose="020B0502040204020203" pitchFamily="34" charset="-122"/>
                <a:ea typeface="微软雅黑 Light" panose="020B0502040204020203" pitchFamily="34" charset="-122"/>
              </a:rPr>
              <a:t>RCPT TO: two@xyz.com</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sp>
        <p:nvSpPr>
          <p:cNvPr id="35" name="矩形 34"/>
          <p:cNvSpPr/>
          <p:nvPr/>
        </p:nvSpPr>
        <p:spPr>
          <a:xfrm>
            <a:off x="7441871" y="1601892"/>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信封</a:t>
            </a:r>
            <a:endParaRPr lang="en-US" altLang="zh-CN" sz="1600" b="1" dirty="0">
              <a:latin typeface="微软雅黑 Light" panose="020B0502040204020203" pitchFamily="34" charset="-122"/>
              <a:ea typeface="微软雅黑 Light" panose="020B0502040204020203" pitchFamily="34" charset="-122"/>
            </a:endParaRPr>
          </a:p>
        </p:txBody>
      </p:sp>
      <p:sp>
        <p:nvSpPr>
          <p:cNvPr id="36" name="矩形 35"/>
          <p:cNvSpPr/>
          <p:nvPr/>
        </p:nvSpPr>
        <p:spPr>
          <a:xfrm>
            <a:off x="7441871" y="2936735"/>
            <a:ext cx="745679" cy="369332"/>
          </a:xfrm>
          <a:prstGeom prst="rect">
            <a:avLst/>
          </a:prstGeom>
          <a:noFill/>
          <a:ln w="12700">
            <a:noFill/>
            <a:miter lim="800000"/>
            <a:headEnd/>
            <a:tailEnd/>
          </a:ln>
          <a:effectLst/>
        </p:spPr>
        <p:txBody>
          <a:bodyPr wrap="none" anchor="ctr"/>
          <a:lstStyle/>
          <a:p>
            <a:pPr algn="r"/>
            <a:r>
              <a:rPr lang="zh-CN" altLang="en-US" sz="1600" b="1" dirty="0">
                <a:latin typeface="微软雅黑 Light" panose="020B0502040204020203" pitchFamily="34" charset="-122"/>
                <a:ea typeface="微软雅黑 Light" panose="020B0502040204020203" pitchFamily="34" charset="-122"/>
              </a:rPr>
              <a:t>内容</a:t>
            </a:r>
            <a:endParaRPr lang="en-US" altLang="zh-CN" sz="1600" b="1" dirty="0">
              <a:latin typeface="微软雅黑 Light" panose="020B0502040204020203" pitchFamily="34" charset="-122"/>
              <a:ea typeface="微软雅黑 Light" panose="020B0502040204020203" pitchFamily="34" charset="-122"/>
            </a:endParaRPr>
          </a:p>
        </p:txBody>
      </p:sp>
      <p:grpSp>
        <p:nvGrpSpPr>
          <p:cNvPr id="37" name="组合 36"/>
          <p:cNvGrpSpPr/>
          <p:nvPr/>
        </p:nvGrpSpPr>
        <p:grpSpPr>
          <a:xfrm>
            <a:off x="7473400" y="1335334"/>
            <a:ext cx="714150" cy="2768917"/>
            <a:chOff x="7200140" y="1468504"/>
            <a:chExt cx="807016" cy="2768917"/>
          </a:xfrm>
        </p:grpSpPr>
        <p:cxnSp>
          <p:nvCxnSpPr>
            <p:cNvPr id="38" name="直接连接符 37"/>
            <p:cNvCxnSpPr/>
            <p:nvPr/>
          </p:nvCxnSpPr>
          <p:spPr>
            <a:xfrm>
              <a:off x="7200140" y="1468504"/>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直接连接符 38"/>
            <p:cNvCxnSpPr/>
            <p:nvPr/>
          </p:nvCxnSpPr>
          <p:spPr>
            <a:xfrm>
              <a:off x="7200140" y="2324539"/>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0" name="直接连接符 39"/>
            <p:cNvCxnSpPr/>
            <p:nvPr/>
          </p:nvCxnSpPr>
          <p:spPr>
            <a:xfrm>
              <a:off x="7200140" y="4237421"/>
              <a:ext cx="807016"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41" name="直接连接符 40"/>
          <p:cNvCxnSpPr/>
          <p:nvPr/>
        </p:nvCxnSpPr>
        <p:spPr>
          <a:xfrm>
            <a:off x="7628776" y="1335334"/>
            <a:ext cx="0" cy="856035"/>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42" name="直接连接符 41"/>
          <p:cNvCxnSpPr/>
          <p:nvPr/>
        </p:nvCxnSpPr>
        <p:spPr>
          <a:xfrm>
            <a:off x="7628776" y="2195743"/>
            <a:ext cx="0" cy="1908508"/>
          </a:xfrm>
          <a:prstGeom prst="line">
            <a:avLst/>
          </a:prstGeom>
          <a:ln w="12700">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5" name="Rectangle 68"/>
          <p:cNvSpPr>
            <a:spLocks noChangeArrowheads="1"/>
          </p:cNvSpPr>
          <p:nvPr/>
        </p:nvSpPr>
        <p:spPr bwMode="auto">
          <a:xfrm>
            <a:off x="525511" y="1192910"/>
            <a:ext cx="3289738" cy="1759456"/>
          </a:xfrm>
          <a:prstGeom prst="rect">
            <a:avLst/>
          </a:prstGeom>
          <a:solidFill>
            <a:srgbClr val="00FFCC"/>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From: LionKing@abc.edu</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To: </a:t>
            </a:r>
            <a:r>
              <a:rPr lang="en-US" altLang="zh-CN" sz="1600" b="1" dirty="0">
                <a:latin typeface="微软雅黑 Light" panose="020B0502040204020203" pitchFamily="34" charset="-122"/>
                <a:ea typeface="微软雅黑 Light" panose="020B0502040204020203" pitchFamily="34" charset="-122"/>
              </a:rPr>
              <a:t>TigerWang@xyz.com</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Date: 2018-08-18</a:t>
            </a:r>
          </a:p>
          <a:p>
            <a:pPr marL="285750" indent="-285750" eaLnBrk="0" hangingPunct="0">
              <a:lnSpc>
                <a:spcPts val="2600"/>
              </a:lnSpc>
              <a:buClr>
                <a:srgbClr val="0070C0"/>
              </a:buClr>
              <a:buFont typeface="Wingdings" pitchFamily="2" charset="2"/>
              <a:buChar char="l"/>
            </a:pPr>
            <a:r>
              <a:rPr lang="en-US" altLang="zh-CN" sz="1600" b="1" dirty="0">
                <a:solidFill>
                  <a:srgbClr val="C00000"/>
                </a:solidFill>
                <a:latin typeface="微软雅黑 Light" panose="020B0502040204020203" pitchFamily="34" charset="-122"/>
                <a:ea typeface="微软雅黑 Light" panose="020B0502040204020203" pitchFamily="34" charset="-122"/>
              </a:rPr>
              <a:t>Subject:</a:t>
            </a:r>
            <a:r>
              <a:rPr lang="en-US" altLang="zh-CN" sz="1600" b="1" dirty="0">
                <a:latin typeface="微软雅黑 Light" panose="020B0502040204020203" pitchFamily="34" charset="-122"/>
                <a:ea typeface="微软雅黑 Light" panose="020B0502040204020203" pitchFamily="34" charset="-122"/>
              </a:rPr>
              <a:t> Greetings</a:t>
            </a:r>
          </a:p>
          <a:p>
            <a:pPr marL="285750" indent="-285750" eaLnBrk="0" hangingPunct="0">
              <a:lnSpc>
                <a:spcPts val="2600"/>
              </a:lnSpc>
              <a:buClr>
                <a:srgbClr val="0070C0"/>
              </a:buClr>
              <a:buFont typeface="Wingdings" pitchFamily="2" charset="2"/>
              <a:buChar char="l"/>
            </a:pPr>
            <a:r>
              <a:rPr lang="en-US" altLang="zh-CN" sz="1600" b="1" dirty="0">
                <a:latin typeface="微软雅黑 Light" panose="020B0502040204020203" pitchFamily="34" charset="-122"/>
                <a:ea typeface="微软雅黑 Light" panose="020B0502040204020203" pitchFamily="34" charset="-122"/>
              </a:rPr>
              <a:t>Cc: Manager@zoo.com</a:t>
            </a:r>
          </a:p>
        </p:txBody>
      </p:sp>
      <p:cxnSp>
        <p:nvCxnSpPr>
          <p:cNvPr id="9" name="直接箭头连接符 8"/>
          <p:cNvCxnSpPr/>
          <p:nvPr/>
        </p:nvCxnSpPr>
        <p:spPr>
          <a:xfrm>
            <a:off x="3447391" y="2244640"/>
            <a:ext cx="1282262" cy="316918"/>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
        <p:nvSpPr>
          <p:cNvPr id="26" name="Rectangle 68"/>
          <p:cNvSpPr>
            <a:spLocks noChangeArrowheads="1"/>
          </p:cNvSpPr>
          <p:nvPr/>
        </p:nvSpPr>
        <p:spPr bwMode="auto">
          <a:xfrm>
            <a:off x="525511" y="3352769"/>
            <a:ext cx="3289738" cy="724686"/>
          </a:xfrm>
          <a:prstGeom prst="rect">
            <a:avLst/>
          </a:prstGeom>
          <a:solidFill>
            <a:srgbClr val="FF66FF"/>
          </a:solidFill>
          <a:ln w="9525" algn="ctr">
            <a:solidFill>
              <a:srgbClr val="000000"/>
            </a:solidFill>
            <a:miter lim="1000000"/>
            <a:headEnd/>
            <a:tailEnd/>
          </a:ln>
          <a:effectLst/>
        </p:spPr>
        <p:txBody>
          <a:bodyPr wrap="square">
            <a:spAutoFit/>
          </a:bodyPr>
          <a:lstStyle/>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纯文本信息 （</a:t>
            </a:r>
            <a:r>
              <a:rPr lang="en-US" altLang="zh-CN" sz="1600" b="1" dirty="0">
                <a:latin typeface="微软雅黑 Light" panose="020B0502040204020203" pitchFamily="34" charset="-122"/>
                <a:ea typeface="微软雅黑 Light" panose="020B0502040204020203" pitchFamily="34" charset="-122"/>
              </a:rPr>
              <a:t>ASCII</a:t>
            </a:r>
            <a:r>
              <a:rPr lang="zh-CN" altLang="en-US" sz="1600" b="1" dirty="0">
                <a:latin typeface="微软雅黑 Light" panose="020B0502040204020203" pitchFamily="34" charset="-122"/>
                <a:ea typeface="微软雅黑 Light" panose="020B0502040204020203" pitchFamily="34" charset="-122"/>
              </a:rPr>
              <a:t>编码）。</a:t>
            </a:r>
            <a:endParaRPr lang="en-US" altLang="zh-CN" sz="1600" b="1" dirty="0">
              <a:latin typeface="微软雅黑 Light" panose="020B0502040204020203" pitchFamily="34" charset="-122"/>
              <a:ea typeface="微软雅黑 Light" panose="020B0502040204020203" pitchFamily="34" charset="-122"/>
            </a:endParaRPr>
          </a:p>
          <a:p>
            <a:pPr marL="285750" indent="-285750" eaLnBrk="0" hangingPunct="0">
              <a:lnSpc>
                <a:spcPts val="26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无特定结构和含义。</a:t>
            </a:r>
            <a:endParaRPr lang="en-US" altLang="zh-CN" sz="1600" b="1" dirty="0">
              <a:latin typeface="微软雅黑 Light" panose="020B0502040204020203" pitchFamily="34" charset="-122"/>
              <a:ea typeface="微软雅黑 Light" panose="020B0502040204020203" pitchFamily="34" charset="-122"/>
            </a:endParaRPr>
          </a:p>
        </p:txBody>
      </p:sp>
      <p:cxnSp>
        <p:nvCxnSpPr>
          <p:cNvPr id="27" name="直接箭头连接符 26"/>
          <p:cNvCxnSpPr/>
          <p:nvPr/>
        </p:nvCxnSpPr>
        <p:spPr>
          <a:xfrm flipV="1">
            <a:off x="3447391" y="3518150"/>
            <a:ext cx="1282262" cy="276883"/>
          </a:xfrm>
          <a:prstGeom prst="straightConnector1">
            <a:avLst/>
          </a:prstGeom>
          <a:ln w="28575">
            <a:solidFill>
              <a:srgbClr val="C0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7575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79387C-1CAF-D12F-A880-F70C3CDE9F7F}"/>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a:t>
            </a:r>
          </a:p>
        </p:txBody>
      </p:sp>
      <p:sp>
        <p:nvSpPr>
          <p:cNvPr id="6" name="内容占位符 5">
            <a:extLst>
              <a:ext uri="{FF2B5EF4-FFF2-40B4-BE49-F238E27FC236}">
                <a16:creationId xmlns:a16="http://schemas.microsoft.com/office/drawing/2014/main" id="{02BA5FCD-C8BF-DA59-0E40-A54D6C39C4D6}"/>
              </a:ext>
            </a:extLst>
          </p:cNvPr>
          <p:cNvSpPr>
            <a:spLocks noGrp="1"/>
          </p:cNvSpPr>
          <p:nvPr>
            <p:ph sz="quarter" idx="11"/>
          </p:nvPr>
        </p:nvSpPr>
        <p:spPr>
          <a:xfrm>
            <a:off x="486000" y="687518"/>
            <a:ext cx="8172000" cy="4079035"/>
          </a:xfrm>
        </p:spPr>
        <p:txBody>
          <a:bodyPr/>
          <a:lstStyle/>
          <a:p>
            <a:r>
              <a:rPr lang="en-US" altLang="zh-CN" dirty="0"/>
              <a:t>POP3</a:t>
            </a:r>
          </a:p>
          <a:p>
            <a:pPr lvl="1"/>
            <a:r>
              <a:rPr lang="zh-CN" altLang="en-US" dirty="0"/>
              <a:t>邮局协议</a:t>
            </a:r>
            <a:r>
              <a:rPr lang="en-US" altLang="zh-CN" dirty="0"/>
              <a:t> Post Office Protocol </a:t>
            </a:r>
            <a:r>
              <a:rPr lang="zh-CN" altLang="en-US" dirty="0"/>
              <a:t>，第</a:t>
            </a:r>
            <a:r>
              <a:rPr lang="en-US" altLang="zh-CN" dirty="0"/>
              <a:t>3</a:t>
            </a:r>
            <a:r>
              <a:rPr lang="zh-CN" altLang="en-US" dirty="0"/>
              <a:t>个版本 </a:t>
            </a:r>
            <a:endParaRPr lang="en-US" altLang="zh-CN" dirty="0"/>
          </a:p>
          <a:p>
            <a:r>
              <a:rPr lang="en-US" altLang="zh-CN" dirty="0"/>
              <a:t>IMAP</a:t>
            </a:r>
          </a:p>
          <a:p>
            <a:pPr lvl="1"/>
            <a:r>
              <a:rPr lang="zh-CN" altLang="en-US" dirty="0"/>
              <a:t>网际报文存取协议</a:t>
            </a:r>
            <a:r>
              <a:rPr lang="en-US" altLang="zh-CN" dirty="0"/>
              <a:t>  Internet Message Access Protocol</a:t>
            </a:r>
            <a:endParaRPr lang="zh-CN" altLang="en-US" dirty="0"/>
          </a:p>
        </p:txBody>
      </p:sp>
      <p:sp>
        <p:nvSpPr>
          <p:cNvPr id="40" name="Rectangle 386">
            <a:extLst>
              <a:ext uri="{FF2B5EF4-FFF2-40B4-BE49-F238E27FC236}">
                <a16:creationId xmlns:a16="http://schemas.microsoft.com/office/drawing/2014/main" id="{D133184C-8E99-CFDF-3053-93BFE98212C9}"/>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3" name="Rectangle 387">
            <a:extLst>
              <a:ext uri="{FF2B5EF4-FFF2-40B4-BE49-F238E27FC236}">
                <a16:creationId xmlns:a16="http://schemas.microsoft.com/office/drawing/2014/main" id="{0C8AFA00-FD67-DAA4-B953-83A5BB37B5B1}"/>
              </a:ext>
            </a:extLst>
          </p:cNvPr>
          <p:cNvSpPr>
            <a:spLocks noChangeArrowheads="1"/>
          </p:cNvSpPr>
          <p:nvPr/>
        </p:nvSpPr>
        <p:spPr bwMode="auto">
          <a:xfrm>
            <a:off x="1657456" y="3173543"/>
            <a:ext cx="680437" cy="1346517"/>
          </a:xfrm>
          <a:prstGeom prst="rect">
            <a:avLst/>
          </a:prstGeom>
          <a:noFill/>
          <a:ln w="9525">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4" name="Line 388">
            <a:extLst>
              <a:ext uri="{FF2B5EF4-FFF2-40B4-BE49-F238E27FC236}">
                <a16:creationId xmlns:a16="http://schemas.microsoft.com/office/drawing/2014/main" id="{231F99D2-F43A-F2B2-E9A2-248F95FF2DBA}"/>
              </a:ext>
            </a:extLst>
          </p:cNvPr>
          <p:cNvSpPr>
            <a:spLocks noChangeShapeType="1"/>
          </p:cNvSpPr>
          <p:nvPr/>
        </p:nvSpPr>
        <p:spPr bwMode="auto">
          <a:xfrm>
            <a:off x="2134011" y="3516315"/>
            <a:ext cx="941856"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sp>
        <p:nvSpPr>
          <p:cNvPr id="45" name="Text Box 394">
            <a:extLst>
              <a:ext uri="{FF2B5EF4-FFF2-40B4-BE49-F238E27FC236}">
                <a16:creationId xmlns:a16="http://schemas.microsoft.com/office/drawing/2014/main" id="{F5B8079B-226B-53D2-4217-F550F52AE249}"/>
              </a:ext>
            </a:extLst>
          </p:cNvPr>
          <p:cNvSpPr txBox="1">
            <a:spLocks noChangeArrowheads="1"/>
          </p:cNvSpPr>
          <p:nvPr/>
        </p:nvSpPr>
        <p:spPr bwMode="auto">
          <a:xfrm>
            <a:off x="244331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6" name="Oval 397">
            <a:extLst>
              <a:ext uri="{FF2B5EF4-FFF2-40B4-BE49-F238E27FC236}">
                <a16:creationId xmlns:a16="http://schemas.microsoft.com/office/drawing/2014/main" id="{BCBB722C-29E8-2006-9B4A-D50839DB771E}"/>
              </a:ext>
            </a:extLst>
          </p:cNvPr>
          <p:cNvSpPr>
            <a:spLocks noChangeArrowheads="1"/>
          </p:cNvSpPr>
          <p:nvPr/>
        </p:nvSpPr>
        <p:spPr bwMode="auto">
          <a:xfrm>
            <a:off x="1713742"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7" name="Oval 405">
            <a:extLst>
              <a:ext uri="{FF2B5EF4-FFF2-40B4-BE49-F238E27FC236}">
                <a16:creationId xmlns:a16="http://schemas.microsoft.com/office/drawing/2014/main" id="{F641ABDB-BE87-5753-FD4F-7BDDA9F67FF9}"/>
              </a:ext>
            </a:extLst>
          </p:cNvPr>
          <p:cNvSpPr>
            <a:spLocks noChangeArrowheads="1"/>
          </p:cNvSpPr>
          <p:nvPr/>
        </p:nvSpPr>
        <p:spPr bwMode="auto">
          <a:xfrm>
            <a:off x="3077118" y="3237429"/>
            <a:ext cx="566615" cy="556545"/>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48" name="Oval 406">
            <a:extLst>
              <a:ext uri="{FF2B5EF4-FFF2-40B4-BE49-F238E27FC236}">
                <a16:creationId xmlns:a16="http://schemas.microsoft.com/office/drawing/2014/main" id="{1288FFAF-E19A-29B9-ADDC-A3305EEC4762}"/>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49" name="Text Box 399">
            <a:extLst>
              <a:ext uri="{FF2B5EF4-FFF2-40B4-BE49-F238E27FC236}">
                <a16:creationId xmlns:a16="http://schemas.microsoft.com/office/drawing/2014/main" id="{D99B0722-A529-8B48-A9D3-45D6C8C9547C}"/>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0" name="对象 49">
            <a:extLst>
              <a:ext uri="{FF2B5EF4-FFF2-40B4-BE49-F238E27FC236}">
                <a16:creationId xmlns:a16="http://schemas.microsoft.com/office/drawing/2014/main" id="{5EEA4974-A1EF-15D1-6D48-7BD2C9BC51F2}"/>
              </a:ext>
            </a:extLst>
          </p:cNvPr>
          <p:cNvGraphicFramePr>
            <a:graphicFrameLocks noChangeAspect="1"/>
          </p:cNvGraphicFramePr>
          <p:nvPr>
            <p:extLst>
              <p:ext uri="{D42A27DB-BD31-4B8C-83A1-F6EECF244321}">
                <p14:modId xmlns:p14="http://schemas.microsoft.com/office/powerpoint/2010/main" val="1675482629"/>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3" imgW="3561172" imgH="4347469" progId="">
                  <p:embed/>
                </p:oleObj>
              </mc:Choice>
              <mc:Fallback>
                <p:oleObj name="Visio" r:id="rId3"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1" name="Rectangle 385">
            <a:extLst>
              <a:ext uri="{FF2B5EF4-FFF2-40B4-BE49-F238E27FC236}">
                <a16:creationId xmlns:a16="http://schemas.microsoft.com/office/drawing/2014/main" id="{72B67F64-87B6-20AC-EE8D-59752345806C}"/>
              </a:ext>
            </a:extLst>
          </p:cNvPr>
          <p:cNvSpPr>
            <a:spLocks noChangeArrowheads="1"/>
          </p:cNvSpPr>
          <p:nvPr/>
        </p:nvSpPr>
        <p:spPr bwMode="auto">
          <a:xfrm>
            <a:off x="6835923"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2" name="Text Box 395">
            <a:extLst>
              <a:ext uri="{FF2B5EF4-FFF2-40B4-BE49-F238E27FC236}">
                <a16:creationId xmlns:a16="http://schemas.microsoft.com/office/drawing/2014/main" id="{DD5B04BA-BD69-62D4-E3A2-D00AB6E8BBDD}"/>
              </a:ext>
            </a:extLst>
          </p:cNvPr>
          <p:cNvSpPr txBox="1">
            <a:spLocks noChangeArrowheads="1"/>
          </p:cNvSpPr>
          <p:nvPr/>
        </p:nvSpPr>
        <p:spPr bwMode="auto">
          <a:xfrm>
            <a:off x="6260881"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TCP</a:t>
            </a:r>
            <a:endParaRPr kumimoji="1" lang="zh-CN" altLang="en-US" sz="1100" dirty="0">
              <a:solidFill>
                <a:srgbClr val="F79646"/>
              </a:solidFill>
              <a:latin typeface="Montserrat" panose="00000500000000000000" pitchFamily="2" charset="0"/>
              <a:ea typeface="微软雅黑 Light" panose="020B0502040204020203" pitchFamily="34" charset="-122"/>
            </a:endParaRPr>
          </a:p>
        </p:txBody>
      </p:sp>
      <p:sp>
        <p:nvSpPr>
          <p:cNvPr id="53" name="Oval 398">
            <a:extLst>
              <a:ext uri="{FF2B5EF4-FFF2-40B4-BE49-F238E27FC236}">
                <a16:creationId xmlns:a16="http://schemas.microsoft.com/office/drawing/2014/main" id="{12B4030E-764A-56EE-2660-5885FE6BB44D}"/>
              </a:ext>
            </a:extLst>
          </p:cNvPr>
          <p:cNvSpPr>
            <a:spLocks noChangeArrowheads="1"/>
          </p:cNvSpPr>
          <p:nvPr/>
        </p:nvSpPr>
        <p:spPr bwMode="auto">
          <a:xfrm>
            <a:off x="6892210" y="3237429"/>
            <a:ext cx="566614" cy="556545"/>
          </a:xfrm>
          <a:prstGeom prst="ellipse">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4" name="Rectangle 401">
            <a:extLst>
              <a:ext uri="{FF2B5EF4-FFF2-40B4-BE49-F238E27FC236}">
                <a16:creationId xmlns:a16="http://schemas.microsoft.com/office/drawing/2014/main" id="{4AC15D9C-F08E-8856-C79D-64AEAB4E8957}"/>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5" name="Oval 402">
            <a:extLst>
              <a:ext uri="{FF2B5EF4-FFF2-40B4-BE49-F238E27FC236}">
                <a16:creationId xmlns:a16="http://schemas.microsoft.com/office/drawing/2014/main" id="{EC0206B5-906F-69B9-7FEB-B5A76C5AB3C3}"/>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403">
            <a:extLst>
              <a:ext uri="{FF2B5EF4-FFF2-40B4-BE49-F238E27FC236}">
                <a16:creationId xmlns:a16="http://schemas.microsoft.com/office/drawing/2014/main" id="{8D4E5303-1C50-1B1B-A3A7-30100024768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POP3</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7" name="Line 408">
            <a:extLst>
              <a:ext uri="{FF2B5EF4-FFF2-40B4-BE49-F238E27FC236}">
                <a16:creationId xmlns:a16="http://schemas.microsoft.com/office/drawing/2014/main" id="{AB6F9F40-6DE1-0200-AC67-9B92500C360E}"/>
              </a:ext>
            </a:extLst>
          </p:cNvPr>
          <p:cNvSpPr>
            <a:spLocks noChangeShapeType="1"/>
          </p:cNvSpPr>
          <p:nvPr/>
        </p:nvSpPr>
        <p:spPr bwMode="auto">
          <a:xfrm flipV="1">
            <a:off x="6097949" y="3516315"/>
            <a:ext cx="794261" cy="0"/>
          </a:xfrm>
          <a:prstGeom prst="line">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dirty="0">
              <a:latin typeface="Montserrat" panose="00000500000000000000" pitchFamily="2" charset="0"/>
              <a:ea typeface="微软雅黑 Light" panose="020B0502040204020203" pitchFamily="34" charset="-122"/>
            </a:endParaRPr>
          </a:p>
        </p:txBody>
      </p:sp>
      <p:graphicFrame>
        <p:nvGraphicFramePr>
          <p:cNvPr id="58" name="对象 57">
            <a:extLst>
              <a:ext uri="{FF2B5EF4-FFF2-40B4-BE49-F238E27FC236}">
                <a16:creationId xmlns:a16="http://schemas.microsoft.com/office/drawing/2014/main" id="{B750695B-E0D5-E338-8E99-7C2EA6B2CF1E}"/>
              </a:ext>
            </a:extLst>
          </p:cNvPr>
          <p:cNvGraphicFramePr>
            <a:graphicFrameLocks noChangeAspect="1"/>
          </p:cNvGraphicFramePr>
          <p:nvPr>
            <p:extLst>
              <p:ext uri="{D42A27DB-BD31-4B8C-83A1-F6EECF244321}">
                <p14:modId xmlns:p14="http://schemas.microsoft.com/office/powerpoint/2010/main" val="3942309800"/>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5" imgW="3561172" imgH="4347469" progId="">
                  <p:embed/>
                </p:oleObj>
              </mc:Choice>
              <mc:Fallback>
                <p:oleObj name="Visio" r:id="rId5"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9" name="Text Box 399">
            <a:extLst>
              <a:ext uri="{FF2B5EF4-FFF2-40B4-BE49-F238E27FC236}">
                <a16:creationId xmlns:a16="http://schemas.microsoft.com/office/drawing/2014/main" id="{DA82761A-3C44-9509-DC46-8A1555DD9193}"/>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0" name="Line 404">
            <a:extLst>
              <a:ext uri="{FF2B5EF4-FFF2-40B4-BE49-F238E27FC236}">
                <a16:creationId xmlns:a16="http://schemas.microsoft.com/office/drawing/2014/main" id="{4CED1BE6-0131-1DD4-70DB-B80BECBACEEA}"/>
              </a:ext>
            </a:extLst>
          </p:cNvPr>
          <p:cNvSpPr>
            <a:spLocks noChangeShapeType="1"/>
          </p:cNvSpPr>
          <p:nvPr/>
        </p:nvSpPr>
        <p:spPr bwMode="auto">
          <a:xfrm flipV="1">
            <a:off x="3628236" y="4129374"/>
            <a:ext cx="1928643" cy="0"/>
          </a:xfrm>
          <a:prstGeom prst="line">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050" dirty="0">
              <a:latin typeface="Montserrat" panose="00000500000000000000" pitchFamily="2" charset="0"/>
              <a:ea typeface="微软雅黑 Light" panose="020B0502040204020203" pitchFamily="34" charset="-122"/>
            </a:endParaRPr>
          </a:p>
        </p:txBody>
      </p:sp>
      <p:sp>
        <p:nvSpPr>
          <p:cNvPr id="61" name="Text Box 409">
            <a:extLst>
              <a:ext uri="{FF2B5EF4-FFF2-40B4-BE49-F238E27FC236}">
                <a16:creationId xmlns:a16="http://schemas.microsoft.com/office/drawing/2014/main" id="{0E9C37FD-D635-0065-DF7A-374213DED105}"/>
              </a:ext>
            </a:extLst>
          </p:cNvPr>
          <p:cNvSpPr txBox="1">
            <a:spLocks noChangeArrowheads="1"/>
          </p:cNvSpPr>
          <p:nvPr/>
        </p:nvSpPr>
        <p:spPr bwMode="auto">
          <a:xfrm>
            <a:off x="4345535"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2" name="圆角矩形 418">
            <a:extLst>
              <a:ext uri="{FF2B5EF4-FFF2-40B4-BE49-F238E27FC236}">
                <a16:creationId xmlns:a16="http://schemas.microsoft.com/office/drawing/2014/main" id="{68CE44F6-0D4E-D8BC-9E0E-82A5C63BA212}"/>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3" name="Text Box 389">
            <a:extLst>
              <a:ext uri="{FF2B5EF4-FFF2-40B4-BE49-F238E27FC236}">
                <a16:creationId xmlns:a16="http://schemas.microsoft.com/office/drawing/2014/main" id="{FD207137-9891-971E-5DF2-21BA0B7E51EC}"/>
              </a:ext>
            </a:extLst>
          </p:cNvPr>
          <p:cNvSpPr txBox="1">
            <a:spLocks noChangeArrowheads="1"/>
          </p:cNvSpPr>
          <p:nvPr/>
        </p:nvSpPr>
        <p:spPr bwMode="auto">
          <a:xfrm>
            <a:off x="2383197" y="3223625"/>
            <a:ext cx="58862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SMTP</a:t>
            </a:r>
          </a:p>
        </p:txBody>
      </p:sp>
      <p:sp>
        <p:nvSpPr>
          <p:cNvPr id="64" name="Text Box 396">
            <a:extLst>
              <a:ext uri="{FF2B5EF4-FFF2-40B4-BE49-F238E27FC236}">
                <a16:creationId xmlns:a16="http://schemas.microsoft.com/office/drawing/2014/main" id="{6FF2DA03-C2EB-593E-9AF2-57CBEA7A3728}"/>
              </a:ext>
            </a:extLst>
          </p:cNvPr>
          <p:cNvSpPr txBox="1">
            <a:spLocks noChangeArrowheads="1"/>
          </p:cNvSpPr>
          <p:nvPr/>
        </p:nvSpPr>
        <p:spPr bwMode="auto">
          <a:xfrm>
            <a:off x="2917836"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发送方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5" name="Text Box 399">
            <a:extLst>
              <a:ext uri="{FF2B5EF4-FFF2-40B4-BE49-F238E27FC236}">
                <a16:creationId xmlns:a16="http://schemas.microsoft.com/office/drawing/2014/main" id="{49A9732E-E0BF-E099-FA81-86487D7F7F72}"/>
              </a:ext>
            </a:extLst>
          </p:cNvPr>
          <p:cNvSpPr txBox="1">
            <a:spLocks noChangeArrowheads="1"/>
          </p:cNvSpPr>
          <p:nvPr/>
        </p:nvSpPr>
        <p:spPr bwMode="auto">
          <a:xfrm>
            <a:off x="1621814"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6" name="Text Box 390">
            <a:extLst>
              <a:ext uri="{FF2B5EF4-FFF2-40B4-BE49-F238E27FC236}">
                <a16:creationId xmlns:a16="http://schemas.microsoft.com/office/drawing/2014/main" id="{3D83F935-9C8C-3FBC-7D45-D0F90AC69C50}"/>
              </a:ext>
            </a:extLst>
          </p:cNvPr>
          <p:cNvSpPr txBox="1">
            <a:spLocks noChangeArrowheads="1"/>
          </p:cNvSpPr>
          <p:nvPr/>
        </p:nvSpPr>
        <p:spPr bwMode="auto">
          <a:xfrm>
            <a:off x="6202370" y="3223625"/>
            <a:ext cx="585418"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POP3</a:t>
            </a:r>
          </a:p>
        </p:txBody>
      </p:sp>
      <p:sp>
        <p:nvSpPr>
          <p:cNvPr id="67" name="Text Box 400">
            <a:extLst>
              <a:ext uri="{FF2B5EF4-FFF2-40B4-BE49-F238E27FC236}">
                <a16:creationId xmlns:a16="http://schemas.microsoft.com/office/drawing/2014/main" id="{D4D7DCBE-052A-0DDA-CFA2-B705F55984D8}"/>
              </a:ext>
            </a:extLst>
          </p:cNvPr>
          <p:cNvSpPr txBox="1">
            <a:spLocks noChangeArrowheads="1"/>
          </p:cNvSpPr>
          <p:nvPr/>
        </p:nvSpPr>
        <p:spPr bwMode="auto">
          <a:xfrm>
            <a:off x="5361275" y="2701771"/>
            <a:ext cx="889987"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邮件服务器</a:t>
            </a:r>
          </a:p>
        </p:txBody>
      </p:sp>
      <p:sp>
        <p:nvSpPr>
          <p:cNvPr id="68" name="Text Box 407">
            <a:extLst>
              <a:ext uri="{FF2B5EF4-FFF2-40B4-BE49-F238E27FC236}">
                <a16:creationId xmlns:a16="http://schemas.microsoft.com/office/drawing/2014/main" id="{B42735EB-3320-FC7A-E9CB-3E12CFDDD1EB}"/>
              </a:ext>
            </a:extLst>
          </p:cNvPr>
          <p:cNvSpPr txBox="1">
            <a:spLocks noChangeArrowheads="1"/>
          </p:cNvSpPr>
          <p:nvPr/>
        </p:nvSpPr>
        <p:spPr bwMode="auto">
          <a:xfrm>
            <a:off x="6808085" y="2701771"/>
            <a:ext cx="748923" cy="47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接收方</a:t>
            </a:r>
            <a:endParaRPr kumimoji="1" lang="en-US" altLang="zh-CN" sz="1100" dirty="0">
              <a:latin typeface="Montserrat" panose="00000500000000000000" pitchFamily="2" charset="0"/>
              <a:ea typeface="微软雅黑 Light" panose="020B0502040204020203" pitchFamily="34" charset="-122"/>
            </a:endParaRPr>
          </a:p>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用户代理</a:t>
            </a:r>
          </a:p>
        </p:txBody>
      </p:sp>
      <p:sp>
        <p:nvSpPr>
          <p:cNvPr id="69" name="Text Box 392">
            <a:extLst>
              <a:ext uri="{FF2B5EF4-FFF2-40B4-BE49-F238E27FC236}">
                <a16:creationId xmlns:a16="http://schemas.microsoft.com/office/drawing/2014/main" id="{AA01D5A3-E428-E67E-CA04-D416A1AA5597}"/>
              </a:ext>
            </a:extLst>
          </p:cNvPr>
          <p:cNvSpPr txBox="1">
            <a:spLocks noChangeArrowheads="1"/>
          </p:cNvSpPr>
          <p:nvPr/>
        </p:nvSpPr>
        <p:spPr bwMode="auto">
          <a:xfrm>
            <a:off x="4259773"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spTree>
    <p:extLst>
      <p:ext uri="{BB962C8B-B14F-4D97-AF65-F5344CB8AC3E}">
        <p14:creationId xmlns:p14="http://schemas.microsoft.com/office/powerpoint/2010/main" val="18863417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B6A4D8-7750-E03B-39DF-52C94357C92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POP3</a:t>
            </a:r>
            <a:endParaRPr lang="zh-CN" altLang="en-US" dirty="0"/>
          </a:p>
        </p:txBody>
      </p:sp>
      <p:sp>
        <p:nvSpPr>
          <p:cNvPr id="6" name="内容占位符 5">
            <a:extLst>
              <a:ext uri="{FF2B5EF4-FFF2-40B4-BE49-F238E27FC236}">
                <a16:creationId xmlns:a16="http://schemas.microsoft.com/office/drawing/2014/main" id="{CCA10A40-7848-54B8-93B2-9086E8467B26}"/>
              </a:ext>
            </a:extLst>
          </p:cNvPr>
          <p:cNvSpPr>
            <a:spLocks noGrp="1"/>
          </p:cNvSpPr>
          <p:nvPr>
            <p:ph sz="quarter" idx="11"/>
          </p:nvPr>
        </p:nvSpPr>
        <p:spPr>
          <a:xfrm>
            <a:off x="486000" y="687518"/>
            <a:ext cx="8172000" cy="4079035"/>
          </a:xfrm>
        </p:spPr>
        <p:txBody>
          <a:bodyPr/>
          <a:lstStyle/>
          <a:p>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无法多设备同步：在手机上读了邮件，电脑上看不到“已读”状态</a:t>
            </a:r>
          </a:p>
          <a:p>
            <a:pPr lvl="1"/>
            <a:r>
              <a:rPr lang="zh-CN" altLang="en-US" dirty="0"/>
              <a:t>容易丢失邮件：如果本地设备损坏且服务器已删邮件，数据无法恢复</a:t>
            </a:r>
          </a:p>
          <a:p>
            <a:pPr lvl="1"/>
            <a:r>
              <a:rPr lang="zh-CN" altLang="en-US" dirty="0"/>
              <a:t>功能单一：不能远程管理文件夹、搜索服务器内容等</a:t>
            </a:r>
          </a:p>
          <a:p>
            <a:endParaRPr lang="en-US" altLang="zh-CN" dirty="0"/>
          </a:p>
          <a:p>
            <a:endParaRPr lang="en-US" altLang="zh-CN" dirty="0"/>
          </a:p>
          <a:p>
            <a:endParaRPr lang="zh-CN" altLang="en-US" dirty="0"/>
          </a:p>
        </p:txBody>
      </p:sp>
      <p:graphicFrame>
        <p:nvGraphicFramePr>
          <p:cNvPr id="15" name="表格 14">
            <a:extLst>
              <a:ext uri="{FF2B5EF4-FFF2-40B4-BE49-F238E27FC236}">
                <a16:creationId xmlns:a16="http://schemas.microsoft.com/office/drawing/2014/main" id="{E26FF401-5D92-4032-303A-AB60F1AA7B92}"/>
              </a:ext>
            </a:extLst>
          </p:cNvPr>
          <p:cNvGraphicFramePr>
            <a:graphicFrameLocks noGrp="1"/>
          </p:cNvGraphicFramePr>
          <p:nvPr>
            <p:extLst>
              <p:ext uri="{D42A27DB-BD31-4B8C-83A1-F6EECF244321}">
                <p14:modId xmlns:p14="http://schemas.microsoft.com/office/powerpoint/2010/main" val="3014167279"/>
              </p:ext>
            </p:extLst>
          </p:nvPr>
        </p:nvGraphicFramePr>
        <p:xfrm>
          <a:off x="485774" y="2520000"/>
          <a:ext cx="8172450" cy="1485900"/>
        </p:xfrm>
        <a:graphic>
          <a:graphicData uri="http://schemas.openxmlformats.org/drawingml/2006/table">
            <a:tbl>
              <a:tblPr>
                <a:tableStyleId>{E8B1032C-EA38-4F05-BA0D-38AFFFC7BED3}</a:tableStyleId>
              </a:tblPr>
              <a:tblGrid>
                <a:gridCol w="2460626">
                  <a:extLst>
                    <a:ext uri="{9D8B030D-6E8A-4147-A177-3AD203B41FA5}">
                      <a16:colId xmlns:a16="http://schemas.microsoft.com/office/drawing/2014/main" val="3177170460"/>
                    </a:ext>
                  </a:extLst>
                </a:gridCol>
                <a:gridCol w="5711824">
                  <a:extLst>
                    <a:ext uri="{9D8B030D-6E8A-4147-A177-3AD203B41FA5}">
                      <a16:colId xmlns:a16="http://schemas.microsoft.com/office/drawing/2014/main" val="1256016458"/>
                    </a:ext>
                  </a:extLst>
                </a:gridCol>
              </a:tblGrid>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用户鉴别</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支持用户名</a:t>
                      </a:r>
                      <a:r>
                        <a:rPr lang="en-US" altLang="zh-CN" sz="1200" b="0" dirty="0">
                          <a:solidFill>
                            <a:schemeClr val="tx1"/>
                          </a:solidFill>
                          <a:effectLst/>
                          <a:latin typeface="Montserrat" panose="00000500000000000000" pitchFamily="2" charset="0"/>
                          <a:ea typeface="微软雅黑 Light" panose="020B0502040204020203" pitchFamily="34" charset="-122"/>
                        </a:rPr>
                        <a:t>/</a:t>
                      </a:r>
                      <a:r>
                        <a:rPr lang="zh-CN" altLang="en-US" sz="1200" b="0" dirty="0">
                          <a:solidFill>
                            <a:schemeClr val="tx1"/>
                          </a:solidFill>
                          <a:effectLst/>
                          <a:latin typeface="Montserrat" panose="00000500000000000000" pitchFamily="2" charset="0"/>
                          <a:ea typeface="微软雅黑 Light" panose="020B0502040204020203" pitchFamily="34" charset="-122"/>
                        </a:rPr>
                        <a:t>密码认证；通常明文，现多配合 </a:t>
                      </a:r>
                      <a:r>
                        <a:rPr lang="en-US" altLang="zh-CN" sz="1200" b="0" dirty="0">
                          <a:solidFill>
                            <a:schemeClr val="tx1"/>
                          </a:solidFill>
                          <a:effectLst/>
                          <a:latin typeface="Montserrat" panose="00000500000000000000" pitchFamily="2" charset="0"/>
                          <a:ea typeface="微软雅黑 Light" panose="020B0502040204020203" pitchFamily="34" charset="-122"/>
                        </a:rPr>
                        <a:t>SSL/TLS </a:t>
                      </a:r>
                      <a:r>
                        <a:rPr lang="zh-CN" altLang="en-US" sz="1200" b="0" dirty="0">
                          <a:solidFill>
                            <a:schemeClr val="tx1"/>
                          </a:solidFill>
                          <a:effectLst/>
                          <a:latin typeface="Montserrat" panose="00000500000000000000" pitchFamily="2" charset="0"/>
                          <a:ea typeface="微软雅黑 Light" panose="020B0502040204020203" pitchFamily="34" charset="-122"/>
                        </a:rPr>
                        <a:t>加密</a:t>
                      </a:r>
                    </a:p>
                  </a:txBody>
                  <a:tcPr marL="123825" marR="123825" marT="57150" marB="57150" anchor="ctr"/>
                </a:tc>
                <a:extLst>
                  <a:ext uri="{0D108BD9-81ED-4DB2-BD59-A6C34878D82A}">
                    <a16:rowId xmlns:a16="http://schemas.microsoft.com/office/drawing/2014/main" val="1044482673"/>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默认将全部邮件完整下载到本地设备</a:t>
                      </a:r>
                    </a:p>
                  </a:txBody>
                  <a:tcPr marL="123825" marR="123825" marT="57150" marB="57150" anchor="ctr"/>
                </a:tc>
                <a:extLst>
                  <a:ext uri="{0D108BD9-81ED-4DB2-BD59-A6C34878D82A}">
                    <a16:rowId xmlns:a16="http://schemas.microsoft.com/office/drawing/2014/main" val="3294601397"/>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默认删除服务器邮件</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下载后通常自动删除服务器上的副本；可配置保留</a:t>
                      </a:r>
                    </a:p>
                  </a:txBody>
                  <a:tcPr marL="123825" marR="123825" marT="57150" marB="57150" anchor="ctr"/>
                </a:tc>
                <a:extLst>
                  <a:ext uri="{0D108BD9-81ED-4DB2-BD59-A6C34878D82A}">
                    <a16:rowId xmlns:a16="http://schemas.microsoft.com/office/drawing/2014/main" val="1736214374"/>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无服务器状态管理</a:t>
                      </a:r>
                    </a:p>
                  </a:txBody>
                  <a:tcPr marL="123825" marR="123825" marT="57150" marB="57150" anchor="ctr"/>
                </a:tc>
                <a:tc>
                  <a:txBody>
                    <a:bodyPr/>
                    <a:lstStyle/>
                    <a:p>
                      <a:pPr>
                        <a:lnSpc>
                          <a:spcPct val="100000"/>
                        </a:lnSpc>
                        <a:spcBef>
                          <a:spcPts val="0"/>
                        </a:spcBef>
                        <a:spcAft>
                          <a:spcPts val="0"/>
                        </a:spcAft>
                        <a:buNone/>
                      </a:pPr>
                      <a:r>
                        <a:rPr lang="zh-CN" altLang="en-US" sz="1200" b="0">
                          <a:solidFill>
                            <a:schemeClr val="tx1"/>
                          </a:solidFill>
                          <a:effectLst/>
                          <a:latin typeface="Montserrat" panose="00000500000000000000" pitchFamily="2" charset="0"/>
                          <a:ea typeface="微软雅黑 Light" panose="020B0502040204020203" pitchFamily="34" charset="-122"/>
                        </a:rPr>
                        <a:t>客户端不与服务器同步文件夹、已读</a:t>
                      </a:r>
                      <a:r>
                        <a:rPr lang="en-US" altLang="zh-CN" sz="1200" b="0">
                          <a:solidFill>
                            <a:schemeClr val="tx1"/>
                          </a:solidFill>
                          <a:effectLst/>
                          <a:latin typeface="Montserrat" panose="00000500000000000000" pitchFamily="2" charset="0"/>
                          <a:ea typeface="微软雅黑 Light" panose="020B0502040204020203" pitchFamily="34" charset="-122"/>
                        </a:rPr>
                        <a:t>/</a:t>
                      </a:r>
                      <a:r>
                        <a:rPr lang="zh-CN" altLang="en-US" sz="1200" b="0">
                          <a:solidFill>
                            <a:schemeClr val="tx1"/>
                          </a:solidFill>
                          <a:effectLst/>
                          <a:latin typeface="Montserrat" panose="00000500000000000000" pitchFamily="2" charset="0"/>
                          <a:ea typeface="微软雅黑 Light" panose="020B0502040204020203" pitchFamily="34" charset="-122"/>
                        </a:rPr>
                        <a:t>未读状态等</a:t>
                      </a:r>
                    </a:p>
                  </a:txBody>
                  <a:tcPr marL="123825" marR="123825" marT="57150" marB="57150" anchor="ctr"/>
                </a:tc>
                <a:extLst>
                  <a:ext uri="{0D108BD9-81ED-4DB2-BD59-A6C34878D82A}">
                    <a16:rowId xmlns:a16="http://schemas.microsoft.com/office/drawing/2014/main" val="3042081130"/>
                  </a:ext>
                </a:extLst>
              </a:tr>
              <a:tr h="148516">
                <a:tc>
                  <a:txBody>
                    <a:bodyPr/>
                    <a:lstStyle/>
                    <a:p>
                      <a:pPr algn="ct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离线可用</a:t>
                      </a:r>
                    </a:p>
                  </a:txBody>
                  <a:tcPr marL="123825" marR="123825" marT="57150" marB="57150" anchor="ctr"/>
                </a:tc>
                <a:tc>
                  <a:txBody>
                    <a:bodyPr/>
                    <a:lstStyle/>
                    <a:p>
                      <a:pPr>
                        <a:lnSpc>
                          <a:spcPct val="100000"/>
                        </a:lnSpc>
                        <a:spcBef>
                          <a:spcPts val="0"/>
                        </a:spcBef>
                        <a:spcAft>
                          <a:spcPts val="0"/>
                        </a:spcAft>
                        <a:buNone/>
                      </a:pPr>
                      <a:r>
                        <a:rPr lang="zh-CN" altLang="en-US" sz="1200" b="0" dirty="0">
                          <a:solidFill>
                            <a:schemeClr val="tx1"/>
                          </a:solidFill>
                          <a:effectLst/>
                          <a:latin typeface="Montserrat" panose="00000500000000000000" pitchFamily="2" charset="0"/>
                          <a:ea typeface="微软雅黑 Light" panose="020B0502040204020203" pitchFamily="34" charset="-122"/>
                        </a:rPr>
                        <a:t>邮件下载后可在无网络时阅读</a:t>
                      </a:r>
                    </a:p>
                  </a:txBody>
                  <a:tcPr marL="123825" marR="123825" marT="57150" marB="57150" anchor="ctr"/>
                </a:tc>
                <a:extLst>
                  <a:ext uri="{0D108BD9-81ED-4DB2-BD59-A6C34878D82A}">
                    <a16:rowId xmlns:a16="http://schemas.microsoft.com/office/drawing/2014/main" val="2939583913"/>
                  </a:ext>
                </a:extLst>
              </a:tr>
            </a:tbl>
          </a:graphicData>
        </a:graphic>
      </p:graphicFrame>
    </p:spTree>
    <p:extLst>
      <p:ext uri="{BB962C8B-B14F-4D97-AF65-F5344CB8AC3E}">
        <p14:creationId xmlns:p14="http://schemas.microsoft.com/office/powerpoint/2010/main" val="1191159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389A88A-C335-5108-1975-F58F55A4C5B5}"/>
              </a:ext>
            </a:extLst>
          </p:cNvPr>
          <p:cNvSpPr>
            <a:spLocks noGrp="1"/>
          </p:cNvSpPr>
          <p:nvPr>
            <p:ph type="title"/>
          </p:nvPr>
        </p:nvSpPr>
        <p:spPr>
          <a:xfrm>
            <a:off x="485999" y="174482"/>
            <a:ext cx="8171999" cy="338554"/>
          </a:xfrm>
        </p:spPr>
        <p:txBody>
          <a:bodyPr/>
          <a:lstStyle/>
          <a:p>
            <a:r>
              <a:rPr lang="en-US" altLang="zh-CN" dirty="0"/>
              <a:t>6.5.4  </a:t>
            </a:r>
            <a:r>
              <a:rPr lang="zh-CN" altLang="en-US" dirty="0"/>
              <a:t>邮件读取协议 </a:t>
            </a:r>
            <a:r>
              <a:rPr lang="en-US" altLang="zh-CN" dirty="0"/>
              <a:t>- IMAP</a:t>
            </a:r>
            <a:endParaRPr lang="zh-CN" altLang="en-US" dirty="0"/>
          </a:p>
        </p:txBody>
      </p:sp>
      <p:sp>
        <p:nvSpPr>
          <p:cNvPr id="5" name="内容占位符 4">
            <a:extLst>
              <a:ext uri="{FF2B5EF4-FFF2-40B4-BE49-F238E27FC236}">
                <a16:creationId xmlns:a16="http://schemas.microsoft.com/office/drawing/2014/main" id="{ED0E6BAE-A5C3-D52E-7C77-59DD1BBA86FF}"/>
              </a:ext>
            </a:extLst>
          </p:cNvPr>
          <p:cNvSpPr>
            <a:spLocks noGrp="1"/>
          </p:cNvSpPr>
          <p:nvPr>
            <p:ph sz="quarter" idx="11"/>
          </p:nvPr>
        </p:nvSpPr>
        <p:spPr>
          <a:xfrm>
            <a:off x="486000" y="687518"/>
            <a:ext cx="8172000" cy="4079035"/>
          </a:xfrm>
        </p:spPr>
        <p:txBody>
          <a:bodyPr/>
          <a:lstStyle/>
          <a:p>
            <a:r>
              <a:rPr lang="en-US" altLang="zh-CN" dirty="0"/>
              <a:t>IMAP </a:t>
            </a:r>
            <a:r>
              <a:rPr lang="zh-CN" altLang="en-US" dirty="0"/>
              <a:t>基于 </a:t>
            </a:r>
            <a:r>
              <a:rPr lang="en-US" altLang="zh-CN" dirty="0"/>
              <a:t>TCP </a:t>
            </a:r>
            <a:r>
              <a:rPr lang="zh-CN" altLang="en-US" dirty="0"/>
              <a:t>使用客户</a:t>
            </a:r>
            <a:r>
              <a:rPr lang="en-US" altLang="zh-CN" dirty="0"/>
              <a:t>/</a:t>
            </a:r>
            <a:r>
              <a:rPr lang="zh-CN" altLang="en-US" dirty="0"/>
              <a:t>服务器 </a:t>
            </a:r>
            <a:r>
              <a:rPr lang="en-US" altLang="zh-CN" dirty="0"/>
              <a:t>C/S </a:t>
            </a:r>
            <a:r>
              <a:rPr lang="zh-CN" altLang="en-US" dirty="0"/>
              <a:t>方式</a:t>
            </a:r>
            <a:endParaRPr lang="en-US" altLang="zh-CN" dirty="0"/>
          </a:p>
          <a:p>
            <a:r>
              <a:rPr lang="zh-CN" altLang="en-US" dirty="0"/>
              <a:t>缺点</a:t>
            </a:r>
            <a:endParaRPr lang="en-US" altLang="zh-CN" dirty="0"/>
          </a:p>
          <a:p>
            <a:pPr lvl="1"/>
            <a:r>
              <a:rPr lang="zh-CN" altLang="en-US" dirty="0"/>
              <a:t>要想查阅邮件，必须先联网</a:t>
            </a:r>
            <a:endParaRPr lang="en-US" altLang="zh-CN" dirty="0"/>
          </a:p>
          <a:p>
            <a:pPr lvl="1"/>
            <a:r>
              <a:rPr lang="zh-CN" altLang="en-US" dirty="0"/>
              <a:t>占用服务器存储空间</a:t>
            </a:r>
            <a:endParaRPr lang="en-US" altLang="zh-CN" dirty="0"/>
          </a:p>
          <a:p>
            <a:pPr lvl="1"/>
            <a:r>
              <a:rPr lang="zh-CN" altLang="en-US" dirty="0"/>
              <a:t>对服务器性能要求高</a:t>
            </a:r>
          </a:p>
          <a:p>
            <a:endParaRPr lang="en-US" altLang="zh-CN" dirty="0"/>
          </a:p>
          <a:p>
            <a:endParaRPr lang="zh-CN" altLang="en-US" dirty="0"/>
          </a:p>
        </p:txBody>
      </p:sp>
      <p:graphicFrame>
        <p:nvGraphicFramePr>
          <p:cNvPr id="12" name="表格 11">
            <a:extLst>
              <a:ext uri="{FF2B5EF4-FFF2-40B4-BE49-F238E27FC236}">
                <a16:creationId xmlns:a16="http://schemas.microsoft.com/office/drawing/2014/main" id="{E20381DC-AFB7-4FDE-0779-5D83F99CDAFC}"/>
              </a:ext>
            </a:extLst>
          </p:cNvPr>
          <p:cNvGraphicFramePr>
            <a:graphicFrameLocks noGrp="1"/>
          </p:cNvGraphicFramePr>
          <p:nvPr>
            <p:extLst>
              <p:ext uri="{D42A27DB-BD31-4B8C-83A1-F6EECF244321}">
                <p14:modId xmlns:p14="http://schemas.microsoft.com/office/powerpoint/2010/main" val="3917124228"/>
              </p:ext>
            </p:extLst>
          </p:nvPr>
        </p:nvGraphicFramePr>
        <p:xfrm>
          <a:off x="485775" y="2520000"/>
          <a:ext cx="8172450" cy="1659744"/>
        </p:xfrm>
        <a:graphic>
          <a:graphicData uri="http://schemas.openxmlformats.org/drawingml/2006/table">
            <a:tbl>
              <a:tblPr>
                <a:tableStyleId>{E8B1032C-EA38-4F05-BA0D-38AFFFC7BED3}</a:tableStyleId>
              </a:tblPr>
              <a:tblGrid>
                <a:gridCol w="2460625">
                  <a:extLst>
                    <a:ext uri="{9D8B030D-6E8A-4147-A177-3AD203B41FA5}">
                      <a16:colId xmlns:a16="http://schemas.microsoft.com/office/drawing/2014/main" val="1506526113"/>
                    </a:ext>
                  </a:extLst>
                </a:gridCol>
                <a:gridCol w="5711825">
                  <a:extLst>
                    <a:ext uri="{9D8B030D-6E8A-4147-A177-3AD203B41FA5}">
                      <a16:colId xmlns:a16="http://schemas.microsoft.com/office/drawing/2014/main" val="2693107740"/>
                    </a:ext>
                  </a:extLst>
                </a:gridCol>
              </a:tblGrid>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联机协议</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大多数操作需保持网络连接（部分客户端支持缓存）</a:t>
                      </a:r>
                    </a:p>
                  </a:txBody>
                  <a:tcPr marL="101557" marR="101557" marT="46872" marB="46872" anchor="ctr"/>
                </a:tc>
                <a:extLst>
                  <a:ext uri="{0D108BD9-81ED-4DB2-BD59-A6C34878D82A}">
                    <a16:rowId xmlns:a16="http://schemas.microsoft.com/office/drawing/2014/main" val="2797276151"/>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部分下载</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可只下载邮件首部（发件人、主题、时间），节省流量</a:t>
                      </a:r>
                    </a:p>
                  </a:txBody>
                  <a:tcPr marL="101557" marR="101557" marT="46872" marB="46872" anchor="ctr"/>
                </a:tc>
                <a:extLst>
                  <a:ext uri="{0D108BD9-81ED-4DB2-BD59-A6C34878D82A}">
                    <a16:rowId xmlns:a16="http://schemas.microsoft.com/office/drawing/2014/main" val="2814951070"/>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服务器端文件夹管理</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用户可在服务器创建</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删除文件夹，所有设备可见</a:t>
                      </a:r>
                    </a:p>
                  </a:txBody>
                  <a:tcPr marL="101557" marR="101557" marT="46872" marB="46872" anchor="ctr"/>
                </a:tc>
                <a:extLst>
                  <a:ext uri="{0D108BD9-81ED-4DB2-BD59-A6C34878D82A}">
                    <a16:rowId xmlns:a16="http://schemas.microsoft.com/office/drawing/2014/main" val="16836061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状态同步</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已读</a:t>
                      </a:r>
                      <a:r>
                        <a:rPr lang="en-US" altLang="zh-CN" sz="1200" b="0" dirty="0">
                          <a:effectLst/>
                          <a:latin typeface="Montserrat" panose="00000500000000000000" pitchFamily="2" charset="0"/>
                          <a:ea typeface="微软雅黑 Light" panose="020B0502040204020203" pitchFamily="34" charset="-122"/>
                        </a:rPr>
                        <a:t>/</a:t>
                      </a:r>
                      <a:r>
                        <a:rPr lang="zh-CN" altLang="en-US" sz="1200" b="0" dirty="0">
                          <a:effectLst/>
                          <a:latin typeface="Montserrat" panose="00000500000000000000" pitchFamily="2" charset="0"/>
                          <a:ea typeface="微软雅黑 Light" panose="020B0502040204020203" pitchFamily="34" charset="-122"/>
                        </a:rPr>
                        <a:t>未读、标记、删除等状态在所有设备间同步</a:t>
                      </a:r>
                    </a:p>
                  </a:txBody>
                  <a:tcPr marL="101557" marR="101557" marT="46872" marB="46872" anchor="ctr"/>
                </a:tc>
                <a:extLst>
                  <a:ext uri="{0D108BD9-81ED-4DB2-BD59-A6C34878D82A}">
                    <a16:rowId xmlns:a16="http://schemas.microsoft.com/office/drawing/2014/main" val="3788133908"/>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全文搜索</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可在服务器上搜索邮件内容（依赖服务器支持）</a:t>
                      </a:r>
                    </a:p>
                  </a:txBody>
                  <a:tcPr marL="101557" marR="101557" marT="46872" marB="46872" anchor="ctr"/>
                </a:tc>
                <a:extLst>
                  <a:ext uri="{0D108BD9-81ED-4DB2-BD59-A6C34878D82A}">
                    <a16:rowId xmlns:a16="http://schemas.microsoft.com/office/drawing/2014/main" val="472614097"/>
                  </a:ext>
                </a:extLst>
              </a:tr>
              <a:tr h="132298">
                <a:tc>
                  <a:txBody>
                    <a:bodyPr/>
                    <a:lstStyle/>
                    <a:p>
                      <a:pPr algn="ctr">
                        <a:lnSpc>
                          <a:spcPct val="100000"/>
                        </a:lnSpc>
                        <a:buNone/>
                      </a:pPr>
                      <a:r>
                        <a:rPr lang="zh-CN" altLang="en-US" sz="1200" b="0" dirty="0">
                          <a:effectLst/>
                          <a:latin typeface="Montserrat" panose="00000500000000000000" pitchFamily="2" charset="0"/>
                          <a:ea typeface="微软雅黑 Light" panose="020B0502040204020203" pitchFamily="34" charset="-122"/>
                        </a:rPr>
                        <a:t>跨设备一致体验</a:t>
                      </a:r>
                    </a:p>
                  </a:txBody>
                  <a:tcPr marL="101557" marR="101557" marT="46872" marB="46872" anchor="ctr"/>
                </a:tc>
                <a:tc>
                  <a:txBody>
                    <a:bodyPr/>
                    <a:lstStyle/>
                    <a:p>
                      <a:pPr algn="l">
                        <a:lnSpc>
                          <a:spcPct val="100000"/>
                        </a:lnSpc>
                        <a:buNone/>
                      </a:pPr>
                      <a:r>
                        <a:rPr lang="zh-CN" altLang="en-US" sz="1200" b="0" dirty="0">
                          <a:effectLst/>
                          <a:latin typeface="Montserrat" panose="00000500000000000000" pitchFamily="2" charset="0"/>
                          <a:ea typeface="微软雅黑 Light" panose="020B0502040204020203" pitchFamily="34" charset="-122"/>
                        </a:rPr>
                        <a:t>在手机、平板、电脑上看到完全相同的邮箱状态</a:t>
                      </a:r>
                    </a:p>
                  </a:txBody>
                  <a:tcPr marL="101557" marR="101557" marT="46872" marB="46872" anchor="ctr"/>
                </a:tc>
                <a:extLst>
                  <a:ext uri="{0D108BD9-81ED-4DB2-BD59-A6C34878D82A}">
                    <a16:rowId xmlns:a16="http://schemas.microsoft.com/office/drawing/2014/main" val="1591134686"/>
                  </a:ext>
                </a:extLst>
              </a:tr>
            </a:tbl>
          </a:graphicData>
        </a:graphic>
      </p:graphicFrame>
    </p:spTree>
    <p:extLst>
      <p:ext uri="{BB962C8B-B14F-4D97-AF65-F5344CB8AC3E}">
        <p14:creationId xmlns:p14="http://schemas.microsoft.com/office/powerpoint/2010/main" val="1607461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7" name="表格 6"/>
          <p:cNvGraphicFramePr>
            <a:graphicFrameLocks noGrp="1"/>
          </p:cNvGraphicFramePr>
          <p:nvPr>
            <p:extLst>
              <p:ext uri="{D42A27DB-BD31-4B8C-83A1-F6EECF244321}">
                <p14:modId xmlns:p14="http://schemas.microsoft.com/office/powerpoint/2010/main" val="1960789513"/>
              </p:ext>
            </p:extLst>
          </p:nvPr>
        </p:nvGraphicFramePr>
        <p:xfrm>
          <a:off x="485775" y="1568790"/>
          <a:ext cx="8171999" cy="2005920"/>
        </p:xfrm>
        <a:graphic>
          <a:graphicData uri="http://schemas.openxmlformats.org/drawingml/2006/table">
            <a:tbl>
              <a:tblPr firstRow="1" bandRow="1">
                <a:tableStyleId>{93296810-A885-4BE3-A3E7-6D5BEEA58F35}</a:tableStyleId>
              </a:tblPr>
              <a:tblGrid>
                <a:gridCol w="1375580">
                  <a:extLst>
                    <a:ext uri="{9D8B030D-6E8A-4147-A177-3AD203B41FA5}">
                      <a16:colId xmlns:a16="http://schemas.microsoft.com/office/drawing/2014/main" val="20000"/>
                    </a:ext>
                  </a:extLst>
                </a:gridCol>
                <a:gridCol w="2950131">
                  <a:extLst>
                    <a:ext uri="{9D8B030D-6E8A-4147-A177-3AD203B41FA5}">
                      <a16:colId xmlns:a16="http://schemas.microsoft.com/office/drawing/2014/main" val="20001"/>
                    </a:ext>
                  </a:extLst>
                </a:gridCol>
                <a:gridCol w="2111828">
                  <a:extLst>
                    <a:ext uri="{9D8B030D-6E8A-4147-A177-3AD203B41FA5}">
                      <a16:colId xmlns:a16="http://schemas.microsoft.com/office/drawing/2014/main" val="20002"/>
                    </a:ext>
                  </a:extLst>
                </a:gridCol>
                <a:gridCol w="1734460">
                  <a:extLst>
                    <a:ext uri="{9D8B030D-6E8A-4147-A177-3AD203B41FA5}">
                      <a16:colId xmlns:a16="http://schemas.microsoft.com/office/drawing/2014/main" val="20003"/>
                    </a:ext>
                  </a:extLst>
                </a:gridCol>
              </a:tblGrid>
              <a:tr h="360000">
                <a:tc>
                  <a:txBody>
                    <a:bodyPr/>
                    <a:lstStyle/>
                    <a:p>
                      <a:pPr algn="ctr"/>
                      <a:r>
                        <a:rPr lang="zh-CN" altLang="en-US" sz="1200" b="0" dirty="0">
                          <a:latin typeface="微软雅黑" panose="020B0503020204020204" pitchFamily="34" charset="-122"/>
                          <a:ea typeface="微软雅黑" panose="020B0503020204020204" pitchFamily="34" charset="-122"/>
                        </a:rPr>
                        <a:t>操作位置</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zh-CN" altLang="en-US" sz="1200" b="0" dirty="0">
                          <a:latin typeface="微软雅黑" panose="020B0503020204020204" pitchFamily="34" charset="-122"/>
                          <a:ea typeface="微软雅黑" panose="020B0503020204020204" pitchFamily="34" charset="-122"/>
                        </a:rPr>
                        <a:t>操作内容</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IMAP</a:t>
                      </a:r>
                    </a:p>
                  </a:txBody>
                  <a:tcPr anchor="ct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zh-CN" sz="1200" b="0" dirty="0">
                          <a:latin typeface="微软雅黑" panose="020B0503020204020204" pitchFamily="34" charset="-122"/>
                          <a:ea typeface="微软雅黑" panose="020B0503020204020204" pitchFamily="34" charset="-122"/>
                        </a:rPr>
                        <a:t>POP3</a:t>
                      </a:r>
                      <a:endParaRPr lang="zh-CN" altLang="en-US" sz="1200" b="0" dirty="0">
                        <a:latin typeface="微软雅黑" panose="020B0503020204020204" pitchFamily="34" charset="-122"/>
                        <a:ea typeface="微软雅黑" panose="020B0503020204020204" pitchFamily="34" charset="-122"/>
                      </a:endParaRPr>
                    </a:p>
                  </a:txBody>
                  <a:tcPr anchor="ctr"/>
                </a:tc>
                <a:extLst>
                  <a:ext uri="{0D108BD9-81ED-4DB2-BD59-A6C34878D82A}">
                    <a16:rowId xmlns:a16="http://schemas.microsoft.com/office/drawing/2014/main" val="10000"/>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收件箱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阅读、标记、移动、删除邮件等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1"/>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发件箱</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保存到已发送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2"/>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创建文件夹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新建自定义的文件夹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3"/>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保存草稿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客户端与邮箱更新同步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仅在客户端内</a:t>
                      </a:r>
                    </a:p>
                  </a:txBody>
                  <a:tcPr anchor="ctr"/>
                </a:tc>
                <a:extLst>
                  <a:ext uri="{0D108BD9-81ED-4DB2-BD59-A6C34878D82A}">
                    <a16:rowId xmlns:a16="http://schemas.microsoft.com/office/drawing/2014/main" val="10004"/>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垃圾文件夹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接收并移入垃圾文件夹的邮件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5"/>
                  </a:ext>
                </a:extLst>
              </a:tr>
              <a:tr h="169055">
                <a:tc>
                  <a:txBody>
                    <a:bodyPr/>
                    <a:lstStyle/>
                    <a:p>
                      <a:pPr algn="l"/>
                      <a:r>
                        <a:rPr lang="zh-CN" altLang="en-US" sz="1200" b="0" dirty="0">
                          <a:latin typeface="Montserrat" panose="00000500000000000000" pitchFamily="2" charset="0"/>
                          <a:ea typeface="微软雅黑 Light" panose="020B0502040204020203" pitchFamily="34" charset="-122"/>
                        </a:rPr>
                        <a:t>广告邮件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接收并移入广告邮件夹的邮</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支持 </a:t>
                      </a:r>
                    </a:p>
                  </a:txBody>
                  <a:tcPr anchor="ctr"/>
                </a:tc>
                <a:tc>
                  <a:txBody>
                    <a:bodyPr/>
                    <a:lstStyle/>
                    <a:p>
                      <a:pPr algn="l"/>
                      <a:r>
                        <a:rPr lang="zh-CN" altLang="en-US" sz="1200" b="0" dirty="0">
                          <a:latin typeface="Montserrat" panose="00000500000000000000" pitchFamily="2" charset="0"/>
                          <a:ea typeface="微软雅黑 Light" panose="020B0502040204020203" pitchFamily="34" charset="-122"/>
                        </a:rPr>
                        <a:t>不支持 </a:t>
                      </a:r>
                    </a:p>
                  </a:txBody>
                  <a:tcPr anchor="ct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8065012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5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54098" y="571240"/>
            <a:ext cx="24545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IMAP </a:t>
            </a:r>
            <a:r>
              <a:rPr lang="zh-CN" altLang="en-US" sz="2000" b="1" dirty="0">
                <a:solidFill>
                  <a:schemeClr val="bg1"/>
                </a:solidFill>
                <a:latin typeface="微软雅黑 Light" panose="020B0502040204020203" pitchFamily="34" charset="-122"/>
                <a:ea typeface="微软雅黑 Light" panose="020B0502040204020203" pitchFamily="34" charset="-122"/>
              </a:rPr>
              <a:t>与 </a:t>
            </a:r>
            <a:r>
              <a:rPr lang="en-US" altLang="zh-CN" sz="2000" b="1" dirty="0">
                <a:solidFill>
                  <a:schemeClr val="bg1"/>
                </a:solidFill>
                <a:latin typeface="微软雅黑 Light" panose="020B0502040204020203" pitchFamily="34" charset="-122"/>
                <a:ea typeface="微软雅黑 Light" panose="020B0502040204020203" pitchFamily="34" charset="-122"/>
              </a:rPr>
              <a:t>POP3 </a:t>
            </a:r>
            <a:r>
              <a:rPr lang="zh-CN" altLang="en-US" sz="2000" b="1" dirty="0">
                <a:solidFill>
                  <a:schemeClr val="bg1"/>
                </a:solidFill>
                <a:latin typeface="微软雅黑 Light" panose="020B0502040204020203" pitchFamily="34" charset="-122"/>
                <a:ea typeface="微软雅黑 Light" panose="020B0502040204020203" pitchFamily="34" charset="-122"/>
              </a:rPr>
              <a:t>比较</a:t>
            </a:r>
          </a:p>
        </p:txBody>
      </p:sp>
      <p:sp>
        <p:nvSpPr>
          <p:cNvPr id="6" name="Rectangle 9"/>
          <p:cNvSpPr>
            <a:spLocks noChangeArrowheads="1"/>
          </p:cNvSpPr>
          <p:nvPr/>
        </p:nvSpPr>
        <p:spPr bwMode="auto">
          <a:xfrm>
            <a:off x="2464906" y="1208584"/>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37"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780620" y="1604648"/>
            <a:ext cx="407130" cy="407130"/>
          </a:xfrm>
          <a:prstGeom prst="rect">
            <a:avLst/>
          </a:prstGeom>
          <a:noFill/>
          <a:extLst>
            <a:ext uri="{909E8E84-426E-40DD-AFC4-6F175D3DCCD1}">
              <a14:hiddenFill xmlns:a14="http://schemas.microsoft.com/office/drawing/2010/main">
                <a:solidFill>
                  <a:srgbClr val="FFFFFF"/>
                </a:solidFill>
              </a14:hiddenFill>
            </a:ext>
          </a:extLst>
        </p:spPr>
      </p:pic>
      <p:sp>
        <p:nvSpPr>
          <p:cNvPr id="38" name="Rectangle 9"/>
          <p:cNvSpPr>
            <a:spLocks noChangeArrowheads="1"/>
          </p:cNvSpPr>
          <p:nvPr/>
        </p:nvSpPr>
        <p:spPr bwMode="auto">
          <a:xfrm>
            <a:off x="2464906" y="2657367"/>
            <a:ext cx="769441"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邮件服务器</a:t>
            </a:r>
          </a:p>
        </p:txBody>
      </p:sp>
      <p:pic>
        <p:nvPicPr>
          <p:cNvPr id="52"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254119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66444" y="3048804"/>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059314" y="3557816"/>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56" name="直接连接符 55"/>
          <p:cNvCxnSpPr>
            <a:stCxn id="11" idx="3"/>
          </p:cNvCxnSpPr>
          <p:nvPr/>
        </p:nvCxnSpPr>
        <p:spPr>
          <a:xfrm>
            <a:off x="2986409" y="1830103"/>
            <a:ext cx="1165177"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57" name="直接连接符 56"/>
          <p:cNvCxnSpPr>
            <a:endCxn id="37" idx="1"/>
          </p:cNvCxnSpPr>
          <p:nvPr/>
        </p:nvCxnSpPr>
        <p:spPr>
          <a:xfrm>
            <a:off x="4882375" y="1808213"/>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8" name="Group 50"/>
          <p:cNvGrpSpPr>
            <a:grpSpLocks noChangeAspect="1"/>
          </p:cNvGrpSpPr>
          <p:nvPr/>
        </p:nvGrpSpPr>
        <p:grpSpPr bwMode="auto">
          <a:xfrm>
            <a:off x="2590426" y="1436477"/>
            <a:ext cx="478479" cy="734218"/>
            <a:chOff x="3104" y="1028"/>
            <a:chExt cx="406" cy="623"/>
          </a:xfrm>
        </p:grpSpPr>
        <p:sp>
          <p:nvSpPr>
            <p:cNvPr id="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18"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19"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sp>
        <p:nvSpPr>
          <p:cNvPr id="36" name="Freeform 1208"/>
          <p:cNvSpPr>
            <a:spLocks/>
          </p:cNvSpPr>
          <p:nvPr/>
        </p:nvSpPr>
        <p:spPr bwMode="ltGray">
          <a:xfrm>
            <a:off x="3802790" y="1489510"/>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cxnSp>
        <p:nvCxnSpPr>
          <p:cNvPr id="64" name="直接连接符 63"/>
          <p:cNvCxnSpPr>
            <a:stCxn id="42" idx="3"/>
          </p:cNvCxnSpPr>
          <p:nvPr/>
        </p:nvCxnSpPr>
        <p:spPr>
          <a:xfrm>
            <a:off x="2986409" y="3278886"/>
            <a:ext cx="1757041"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grpSp>
        <p:nvGrpSpPr>
          <p:cNvPr id="39" name="Group 50"/>
          <p:cNvGrpSpPr>
            <a:grpSpLocks noChangeAspect="1"/>
          </p:cNvGrpSpPr>
          <p:nvPr/>
        </p:nvGrpSpPr>
        <p:grpSpPr bwMode="auto">
          <a:xfrm>
            <a:off x="2590426" y="2885260"/>
            <a:ext cx="478479" cy="734218"/>
            <a:chOff x="3104" y="1028"/>
            <a:chExt cx="406" cy="623"/>
          </a:xfrm>
        </p:grpSpPr>
        <p:sp>
          <p:nvSpPr>
            <p:cNvPr id="40"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1"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2"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3"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4"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45"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6"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7"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8"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dirty="0">
                <a:latin typeface="Montserrat" panose="00000500000000000000" pitchFamily="2" charset="0"/>
                <a:ea typeface="微软雅黑 Light" panose="020B0502040204020203" pitchFamily="34" charset="-122"/>
              </a:endParaRPr>
            </a:p>
          </p:txBody>
        </p:sp>
        <p:sp>
          <p:nvSpPr>
            <p:cNvPr id="49" name="Freeform 60"/>
            <p:cNvSpPr>
              <a:spLocks noEditPoints="1"/>
            </p:cNvSpPr>
            <p:nvPr/>
          </p:nvSpPr>
          <p:spPr bwMode="auto">
            <a:xfrm>
              <a:off x="3159" y="1374"/>
              <a:ext cx="241" cy="233"/>
            </a:xfrm>
            <a:custGeom>
              <a:avLst/>
              <a:gdLst>
                <a:gd name="T0" fmla="*/ 121 w 6286"/>
                <a:gd name="T1" fmla="*/ 174 h 6039"/>
                <a:gd name="T2" fmla="*/ 96 w 6286"/>
                <a:gd name="T3" fmla="*/ 179 h 6039"/>
                <a:gd name="T4" fmla="*/ 77 w 6286"/>
                <a:gd name="T5" fmla="*/ 174 h 6039"/>
                <a:gd name="T6" fmla="*/ 64 w 6286"/>
                <a:gd name="T7" fmla="*/ 162 h 6039"/>
                <a:gd name="T8" fmla="*/ 58 w 6286"/>
                <a:gd name="T9" fmla="*/ 143 h 6039"/>
                <a:gd name="T10" fmla="*/ 60 w 6286"/>
                <a:gd name="T11" fmla="*/ 114 h 6039"/>
                <a:gd name="T12" fmla="*/ 73 w 6286"/>
                <a:gd name="T13" fmla="*/ 86 h 6039"/>
                <a:gd name="T14" fmla="*/ 95 w 6286"/>
                <a:gd name="T15" fmla="*/ 67 h 6039"/>
                <a:gd name="T16" fmla="*/ 122 w 6286"/>
                <a:gd name="T17" fmla="*/ 61 h 6039"/>
                <a:gd name="T18" fmla="*/ 140 w 6286"/>
                <a:gd name="T19" fmla="*/ 67 h 6039"/>
                <a:gd name="T20" fmla="*/ 163 w 6286"/>
                <a:gd name="T21" fmla="*/ 145 h 6039"/>
                <a:gd name="T22" fmla="*/ 165 w 6286"/>
                <a:gd name="T23" fmla="*/ 154 h 6039"/>
                <a:gd name="T24" fmla="*/ 177 w 6286"/>
                <a:gd name="T25" fmla="*/ 155 h 6039"/>
                <a:gd name="T26" fmla="*/ 195 w 6286"/>
                <a:gd name="T27" fmla="*/ 145 h 6039"/>
                <a:gd name="T28" fmla="*/ 209 w 6286"/>
                <a:gd name="T29" fmla="*/ 125 h 6039"/>
                <a:gd name="T30" fmla="*/ 215 w 6286"/>
                <a:gd name="T31" fmla="*/ 100 h 6039"/>
                <a:gd name="T32" fmla="*/ 210 w 6286"/>
                <a:gd name="T33" fmla="*/ 69 h 6039"/>
                <a:gd name="T34" fmla="*/ 192 w 6286"/>
                <a:gd name="T35" fmla="*/ 44 h 6039"/>
                <a:gd name="T36" fmla="*/ 162 w 6286"/>
                <a:gd name="T37" fmla="*/ 28 h 6039"/>
                <a:gd name="T38" fmla="*/ 123 w 6286"/>
                <a:gd name="T39" fmla="*/ 25 h 6039"/>
                <a:gd name="T40" fmla="*/ 85 w 6286"/>
                <a:gd name="T41" fmla="*/ 33 h 6039"/>
                <a:gd name="T42" fmla="*/ 58 w 6286"/>
                <a:gd name="T43" fmla="*/ 51 h 6039"/>
                <a:gd name="T44" fmla="*/ 42 w 6286"/>
                <a:gd name="T45" fmla="*/ 71 h 6039"/>
                <a:gd name="T46" fmla="*/ 31 w 6286"/>
                <a:gd name="T47" fmla="*/ 95 h 6039"/>
                <a:gd name="T48" fmla="*/ 26 w 6286"/>
                <a:gd name="T49" fmla="*/ 121 h 6039"/>
                <a:gd name="T50" fmla="*/ 33 w 6286"/>
                <a:gd name="T51" fmla="*/ 159 h 6039"/>
                <a:gd name="T52" fmla="*/ 56 w 6286"/>
                <a:gd name="T53" fmla="*/ 189 h 6039"/>
                <a:gd name="T54" fmla="*/ 92 w 6286"/>
                <a:gd name="T55" fmla="*/ 206 h 6039"/>
                <a:gd name="T56" fmla="*/ 137 w 6286"/>
                <a:gd name="T57" fmla="*/ 209 h 6039"/>
                <a:gd name="T58" fmla="*/ 181 w 6286"/>
                <a:gd name="T59" fmla="*/ 196 h 6039"/>
                <a:gd name="T60" fmla="*/ 187 w 6286"/>
                <a:gd name="T61" fmla="*/ 218 h 6039"/>
                <a:gd name="T62" fmla="*/ 137 w 6286"/>
                <a:gd name="T63" fmla="*/ 232 h 6039"/>
                <a:gd name="T64" fmla="*/ 84 w 6286"/>
                <a:gd name="T65" fmla="*/ 229 h 6039"/>
                <a:gd name="T66" fmla="*/ 42 w 6286"/>
                <a:gd name="T67" fmla="*/ 210 h 6039"/>
                <a:gd name="T68" fmla="*/ 21 w 6286"/>
                <a:gd name="T69" fmla="*/ 190 h 6039"/>
                <a:gd name="T70" fmla="*/ 8 w 6286"/>
                <a:gd name="T71" fmla="*/ 168 h 6039"/>
                <a:gd name="T72" fmla="*/ 1 w 6286"/>
                <a:gd name="T73" fmla="*/ 142 h 6039"/>
                <a:gd name="T74" fmla="*/ 1 w 6286"/>
                <a:gd name="T75" fmla="*/ 107 h 6039"/>
                <a:gd name="T76" fmla="*/ 16 w 6286"/>
                <a:gd name="T77" fmla="*/ 63 h 6039"/>
                <a:gd name="T78" fmla="*/ 41 w 6286"/>
                <a:gd name="T79" fmla="*/ 33 h 6039"/>
                <a:gd name="T80" fmla="*/ 68 w 6286"/>
                <a:gd name="T81" fmla="*/ 15 h 6039"/>
                <a:gd name="T82" fmla="*/ 99 w 6286"/>
                <a:gd name="T83" fmla="*/ 3 h 6039"/>
                <a:gd name="T84" fmla="*/ 135 w 6286"/>
                <a:gd name="T85" fmla="*/ 0 h 6039"/>
                <a:gd name="T86" fmla="*/ 180 w 6286"/>
                <a:gd name="T87" fmla="*/ 8 h 6039"/>
                <a:gd name="T88" fmla="*/ 217 w 6286"/>
                <a:gd name="T89" fmla="*/ 32 h 6039"/>
                <a:gd name="T90" fmla="*/ 238 w 6286"/>
                <a:gd name="T91" fmla="*/ 70 h 6039"/>
                <a:gd name="T92" fmla="*/ 238 w 6286"/>
                <a:gd name="T93" fmla="*/ 117 h 6039"/>
                <a:gd name="T94" fmla="*/ 217 w 6286"/>
                <a:gd name="T95" fmla="*/ 156 h 6039"/>
                <a:gd name="T96" fmla="*/ 193 w 6286"/>
                <a:gd name="T97" fmla="*/ 174 h 6039"/>
                <a:gd name="T98" fmla="*/ 168 w 6286"/>
                <a:gd name="T99" fmla="*/ 179 h 6039"/>
                <a:gd name="T100" fmla="*/ 145 w 6286"/>
                <a:gd name="T101" fmla="*/ 173 h 6039"/>
                <a:gd name="T102" fmla="*/ 142 w 6286"/>
                <a:gd name="T103" fmla="*/ 100 h 6039"/>
                <a:gd name="T104" fmla="*/ 133 w 6286"/>
                <a:gd name="T105" fmla="*/ 85 h 6039"/>
                <a:gd name="T106" fmla="*/ 117 w 6286"/>
                <a:gd name="T107" fmla="*/ 83 h 6039"/>
                <a:gd name="T108" fmla="*/ 104 w 6286"/>
                <a:gd name="T109" fmla="*/ 91 h 6039"/>
                <a:gd name="T110" fmla="*/ 94 w 6286"/>
                <a:gd name="T111" fmla="*/ 108 h 6039"/>
                <a:gd name="T112" fmla="*/ 89 w 6286"/>
                <a:gd name="T113" fmla="*/ 130 h 6039"/>
                <a:gd name="T114" fmla="*/ 92 w 6286"/>
                <a:gd name="T115" fmla="*/ 150 h 6039"/>
                <a:gd name="T116" fmla="*/ 106 w 6286"/>
                <a:gd name="T117" fmla="*/ 157 h 6039"/>
                <a:gd name="T118" fmla="*/ 127 w 6286"/>
                <a:gd name="T119" fmla="*/ 148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6" h="6039">
                  <a:moveTo>
                    <a:pt x="3596" y="4105"/>
                  </a:moveTo>
                  <a:lnTo>
                    <a:pt x="3573" y="4139"/>
                  </a:lnTo>
                  <a:lnTo>
                    <a:pt x="3549" y="4171"/>
                  </a:lnTo>
                  <a:lnTo>
                    <a:pt x="3525" y="4202"/>
                  </a:lnTo>
                  <a:lnTo>
                    <a:pt x="3500" y="4233"/>
                  </a:lnTo>
                  <a:lnTo>
                    <a:pt x="3475" y="4262"/>
                  </a:lnTo>
                  <a:lnTo>
                    <a:pt x="3450" y="4291"/>
                  </a:lnTo>
                  <a:lnTo>
                    <a:pt x="3424" y="4317"/>
                  </a:lnTo>
                  <a:lnTo>
                    <a:pt x="3397" y="4343"/>
                  </a:lnTo>
                  <a:lnTo>
                    <a:pt x="3371" y="4367"/>
                  </a:lnTo>
                  <a:lnTo>
                    <a:pt x="3344" y="4391"/>
                  </a:lnTo>
                  <a:lnTo>
                    <a:pt x="3317" y="4413"/>
                  </a:lnTo>
                  <a:lnTo>
                    <a:pt x="3289" y="4434"/>
                  </a:lnTo>
                  <a:lnTo>
                    <a:pt x="3261" y="4454"/>
                  </a:lnTo>
                  <a:lnTo>
                    <a:pt x="3233" y="4473"/>
                  </a:lnTo>
                  <a:lnTo>
                    <a:pt x="3203" y="4490"/>
                  </a:lnTo>
                  <a:lnTo>
                    <a:pt x="3174" y="4506"/>
                  </a:lnTo>
                  <a:lnTo>
                    <a:pt x="3145" y="4522"/>
                  </a:lnTo>
                  <a:lnTo>
                    <a:pt x="3115" y="4537"/>
                  </a:lnTo>
                  <a:lnTo>
                    <a:pt x="3083" y="4550"/>
                  </a:lnTo>
                  <a:lnTo>
                    <a:pt x="3052" y="4562"/>
                  </a:lnTo>
                  <a:lnTo>
                    <a:pt x="3019" y="4573"/>
                  </a:lnTo>
                  <a:lnTo>
                    <a:pt x="2986" y="4584"/>
                  </a:lnTo>
                  <a:lnTo>
                    <a:pt x="2952" y="4593"/>
                  </a:lnTo>
                  <a:lnTo>
                    <a:pt x="2918" y="4601"/>
                  </a:lnTo>
                  <a:lnTo>
                    <a:pt x="2881" y="4609"/>
                  </a:lnTo>
                  <a:lnTo>
                    <a:pt x="2846" y="4616"/>
                  </a:lnTo>
                  <a:lnTo>
                    <a:pt x="2808" y="4621"/>
                  </a:lnTo>
                  <a:lnTo>
                    <a:pt x="2771" y="4626"/>
                  </a:lnTo>
                  <a:lnTo>
                    <a:pt x="2733" y="4629"/>
                  </a:lnTo>
                  <a:lnTo>
                    <a:pt x="2693" y="4631"/>
                  </a:lnTo>
                  <a:lnTo>
                    <a:pt x="2654" y="4633"/>
                  </a:lnTo>
                  <a:lnTo>
                    <a:pt x="2613" y="4633"/>
                  </a:lnTo>
                  <a:lnTo>
                    <a:pt x="2580" y="4633"/>
                  </a:lnTo>
                  <a:lnTo>
                    <a:pt x="2547" y="4632"/>
                  </a:lnTo>
                  <a:lnTo>
                    <a:pt x="2513" y="4631"/>
                  </a:lnTo>
                  <a:lnTo>
                    <a:pt x="2482" y="4629"/>
                  </a:lnTo>
                  <a:lnTo>
                    <a:pt x="2450" y="4627"/>
                  </a:lnTo>
                  <a:lnTo>
                    <a:pt x="2419" y="4623"/>
                  </a:lnTo>
                  <a:lnTo>
                    <a:pt x="2388" y="4620"/>
                  </a:lnTo>
                  <a:lnTo>
                    <a:pt x="2358" y="4616"/>
                  </a:lnTo>
                  <a:lnTo>
                    <a:pt x="2329" y="4610"/>
                  </a:lnTo>
                  <a:lnTo>
                    <a:pt x="2299" y="4604"/>
                  </a:lnTo>
                  <a:lnTo>
                    <a:pt x="2271" y="4599"/>
                  </a:lnTo>
                  <a:lnTo>
                    <a:pt x="2243" y="4592"/>
                  </a:lnTo>
                  <a:lnTo>
                    <a:pt x="2215" y="4585"/>
                  </a:lnTo>
                  <a:lnTo>
                    <a:pt x="2188" y="4577"/>
                  </a:lnTo>
                  <a:lnTo>
                    <a:pt x="2162" y="4569"/>
                  </a:lnTo>
                  <a:lnTo>
                    <a:pt x="2136" y="4561"/>
                  </a:lnTo>
                  <a:lnTo>
                    <a:pt x="2110" y="4551"/>
                  </a:lnTo>
                  <a:lnTo>
                    <a:pt x="2085" y="4542"/>
                  </a:lnTo>
                  <a:lnTo>
                    <a:pt x="2061" y="4530"/>
                  </a:lnTo>
                  <a:lnTo>
                    <a:pt x="2037" y="4519"/>
                  </a:lnTo>
                  <a:lnTo>
                    <a:pt x="2013" y="4508"/>
                  </a:lnTo>
                  <a:lnTo>
                    <a:pt x="1990" y="4495"/>
                  </a:lnTo>
                  <a:lnTo>
                    <a:pt x="1968" y="4483"/>
                  </a:lnTo>
                  <a:lnTo>
                    <a:pt x="1947" y="4469"/>
                  </a:lnTo>
                  <a:lnTo>
                    <a:pt x="1925" y="4456"/>
                  </a:lnTo>
                  <a:lnTo>
                    <a:pt x="1904" y="4440"/>
                  </a:lnTo>
                  <a:lnTo>
                    <a:pt x="1884" y="4425"/>
                  </a:lnTo>
                  <a:lnTo>
                    <a:pt x="1864" y="4410"/>
                  </a:lnTo>
                  <a:lnTo>
                    <a:pt x="1845" y="4394"/>
                  </a:lnTo>
                  <a:lnTo>
                    <a:pt x="1826" y="4377"/>
                  </a:lnTo>
                  <a:lnTo>
                    <a:pt x="1807" y="4359"/>
                  </a:lnTo>
                  <a:lnTo>
                    <a:pt x="1790" y="4341"/>
                  </a:lnTo>
                  <a:lnTo>
                    <a:pt x="1773" y="4323"/>
                  </a:lnTo>
                  <a:lnTo>
                    <a:pt x="1756" y="4304"/>
                  </a:lnTo>
                  <a:lnTo>
                    <a:pt x="1740" y="4284"/>
                  </a:lnTo>
                  <a:lnTo>
                    <a:pt x="1725" y="4264"/>
                  </a:lnTo>
                  <a:lnTo>
                    <a:pt x="1709" y="4243"/>
                  </a:lnTo>
                  <a:lnTo>
                    <a:pt x="1695" y="4222"/>
                  </a:lnTo>
                  <a:lnTo>
                    <a:pt x="1681" y="4200"/>
                  </a:lnTo>
                  <a:lnTo>
                    <a:pt x="1668" y="4178"/>
                  </a:lnTo>
                  <a:lnTo>
                    <a:pt x="1655" y="4155"/>
                  </a:lnTo>
                  <a:lnTo>
                    <a:pt x="1643" y="4132"/>
                  </a:lnTo>
                  <a:lnTo>
                    <a:pt x="1631" y="4107"/>
                  </a:lnTo>
                  <a:lnTo>
                    <a:pt x="1620" y="4083"/>
                  </a:lnTo>
                  <a:lnTo>
                    <a:pt x="1608" y="4058"/>
                  </a:lnTo>
                  <a:lnTo>
                    <a:pt x="1598" y="4032"/>
                  </a:lnTo>
                  <a:lnTo>
                    <a:pt x="1589" y="4006"/>
                  </a:lnTo>
                  <a:lnTo>
                    <a:pt x="1580" y="3980"/>
                  </a:lnTo>
                  <a:lnTo>
                    <a:pt x="1572" y="3952"/>
                  </a:lnTo>
                  <a:lnTo>
                    <a:pt x="1564" y="3925"/>
                  </a:lnTo>
                  <a:lnTo>
                    <a:pt x="1556" y="3897"/>
                  </a:lnTo>
                  <a:lnTo>
                    <a:pt x="1550" y="3868"/>
                  </a:lnTo>
                  <a:lnTo>
                    <a:pt x="1543" y="3839"/>
                  </a:lnTo>
                  <a:lnTo>
                    <a:pt x="1538" y="3809"/>
                  </a:lnTo>
                  <a:lnTo>
                    <a:pt x="1533" y="3778"/>
                  </a:lnTo>
                  <a:lnTo>
                    <a:pt x="1528" y="3747"/>
                  </a:lnTo>
                  <a:lnTo>
                    <a:pt x="1524" y="3716"/>
                  </a:lnTo>
                  <a:lnTo>
                    <a:pt x="1521" y="3684"/>
                  </a:lnTo>
                  <a:lnTo>
                    <a:pt x="1516" y="3652"/>
                  </a:lnTo>
                  <a:lnTo>
                    <a:pt x="1514" y="3618"/>
                  </a:lnTo>
                  <a:lnTo>
                    <a:pt x="1512" y="3585"/>
                  </a:lnTo>
                  <a:lnTo>
                    <a:pt x="1511" y="3550"/>
                  </a:lnTo>
                  <a:lnTo>
                    <a:pt x="1510" y="3516"/>
                  </a:lnTo>
                  <a:lnTo>
                    <a:pt x="1510" y="3481"/>
                  </a:lnTo>
                  <a:lnTo>
                    <a:pt x="1510" y="3430"/>
                  </a:lnTo>
                  <a:lnTo>
                    <a:pt x="1512" y="3380"/>
                  </a:lnTo>
                  <a:lnTo>
                    <a:pt x="1514" y="3332"/>
                  </a:lnTo>
                  <a:lnTo>
                    <a:pt x="1517" y="3283"/>
                  </a:lnTo>
                  <a:lnTo>
                    <a:pt x="1522" y="3236"/>
                  </a:lnTo>
                  <a:lnTo>
                    <a:pt x="1527" y="3188"/>
                  </a:lnTo>
                  <a:lnTo>
                    <a:pt x="1533" y="3140"/>
                  </a:lnTo>
                  <a:lnTo>
                    <a:pt x="1540" y="3094"/>
                  </a:lnTo>
                  <a:lnTo>
                    <a:pt x="1548" y="3048"/>
                  </a:lnTo>
                  <a:lnTo>
                    <a:pt x="1556" y="3003"/>
                  </a:lnTo>
                  <a:lnTo>
                    <a:pt x="1566" y="2958"/>
                  </a:lnTo>
                  <a:lnTo>
                    <a:pt x="1576" y="2914"/>
                  </a:lnTo>
                  <a:lnTo>
                    <a:pt x="1588" y="2869"/>
                  </a:lnTo>
                  <a:lnTo>
                    <a:pt x="1600" y="2826"/>
                  </a:lnTo>
                  <a:lnTo>
                    <a:pt x="1613" y="2783"/>
                  </a:lnTo>
                  <a:lnTo>
                    <a:pt x="1628" y="2741"/>
                  </a:lnTo>
                  <a:lnTo>
                    <a:pt x="1643" y="2699"/>
                  </a:lnTo>
                  <a:lnTo>
                    <a:pt x="1659" y="2658"/>
                  </a:lnTo>
                  <a:lnTo>
                    <a:pt x="1676" y="2617"/>
                  </a:lnTo>
                  <a:lnTo>
                    <a:pt x="1694" y="2577"/>
                  </a:lnTo>
                  <a:lnTo>
                    <a:pt x="1712" y="2536"/>
                  </a:lnTo>
                  <a:lnTo>
                    <a:pt x="1733" y="2498"/>
                  </a:lnTo>
                  <a:lnTo>
                    <a:pt x="1754" y="2458"/>
                  </a:lnTo>
                  <a:lnTo>
                    <a:pt x="1775" y="2420"/>
                  </a:lnTo>
                  <a:lnTo>
                    <a:pt x="1797" y="2382"/>
                  </a:lnTo>
                  <a:lnTo>
                    <a:pt x="1822" y="2345"/>
                  </a:lnTo>
                  <a:lnTo>
                    <a:pt x="1846" y="2308"/>
                  </a:lnTo>
                  <a:lnTo>
                    <a:pt x="1871" y="2272"/>
                  </a:lnTo>
                  <a:lnTo>
                    <a:pt x="1897" y="2236"/>
                  </a:lnTo>
                  <a:lnTo>
                    <a:pt x="1925" y="2201"/>
                  </a:lnTo>
                  <a:lnTo>
                    <a:pt x="1952" y="2166"/>
                  </a:lnTo>
                  <a:lnTo>
                    <a:pt x="1981" y="2132"/>
                  </a:lnTo>
                  <a:lnTo>
                    <a:pt x="2010" y="2098"/>
                  </a:lnTo>
                  <a:lnTo>
                    <a:pt x="2041" y="2065"/>
                  </a:lnTo>
                  <a:lnTo>
                    <a:pt x="2072" y="2034"/>
                  </a:lnTo>
                  <a:lnTo>
                    <a:pt x="2102" y="2004"/>
                  </a:lnTo>
                  <a:lnTo>
                    <a:pt x="2135" y="1974"/>
                  </a:lnTo>
                  <a:lnTo>
                    <a:pt x="2166" y="1947"/>
                  </a:lnTo>
                  <a:lnTo>
                    <a:pt x="2198" y="1920"/>
                  </a:lnTo>
                  <a:lnTo>
                    <a:pt x="2232" y="1893"/>
                  </a:lnTo>
                  <a:lnTo>
                    <a:pt x="2264" y="1868"/>
                  </a:lnTo>
                  <a:lnTo>
                    <a:pt x="2298" y="1845"/>
                  </a:lnTo>
                  <a:lnTo>
                    <a:pt x="2332" y="1821"/>
                  </a:lnTo>
                  <a:lnTo>
                    <a:pt x="2366" y="1799"/>
                  </a:lnTo>
                  <a:lnTo>
                    <a:pt x="2401" y="1779"/>
                  </a:lnTo>
                  <a:lnTo>
                    <a:pt x="2437" y="1760"/>
                  </a:lnTo>
                  <a:lnTo>
                    <a:pt x="2472" y="1740"/>
                  </a:lnTo>
                  <a:lnTo>
                    <a:pt x="2508" y="1723"/>
                  </a:lnTo>
                  <a:lnTo>
                    <a:pt x="2545" y="1706"/>
                  </a:lnTo>
                  <a:lnTo>
                    <a:pt x="2582" y="1691"/>
                  </a:lnTo>
                  <a:lnTo>
                    <a:pt x="2620" y="1677"/>
                  </a:lnTo>
                  <a:lnTo>
                    <a:pt x="2658" y="1663"/>
                  </a:lnTo>
                  <a:lnTo>
                    <a:pt x="2696" y="1651"/>
                  </a:lnTo>
                  <a:lnTo>
                    <a:pt x="2735" y="1640"/>
                  </a:lnTo>
                  <a:lnTo>
                    <a:pt x="2774" y="1630"/>
                  </a:lnTo>
                  <a:lnTo>
                    <a:pt x="2814" y="1621"/>
                  </a:lnTo>
                  <a:lnTo>
                    <a:pt x="2854" y="1613"/>
                  </a:lnTo>
                  <a:lnTo>
                    <a:pt x="2894" y="1606"/>
                  </a:lnTo>
                  <a:lnTo>
                    <a:pt x="2935" y="1600"/>
                  </a:lnTo>
                  <a:lnTo>
                    <a:pt x="2976" y="1596"/>
                  </a:lnTo>
                  <a:lnTo>
                    <a:pt x="3019" y="1592"/>
                  </a:lnTo>
                  <a:lnTo>
                    <a:pt x="3060" y="1589"/>
                  </a:lnTo>
                  <a:lnTo>
                    <a:pt x="3103" y="1588"/>
                  </a:lnTo>
                  <a:lnTo>
                    <a:pt x="3146" y="1586"/>
                  </a:lnTo>
                  <a:lnTo>
                    <a:pt x="3178" y="1588"/>
                  </a:lnTo>
                  <a:lnTo>
                    <a:pt x="3209" y="1589"/>
                  </a:lnTo>
                  <a:lnTo>
                    <a:pt x="3241" y="1591"/>
                  </a:lnTo>
                  <a:lnTo>
                    <a:pt x="3271" y="1594"/>
                  </a:lnTo>
                  <a:lnTo>
                    <a:pt x="3300" y="1597"/>
                  </a:lnTo>
                  <a:lnTo>
                    <a:pt x="3330" y="1601"/>
                  </a:lnTo>
                  <a:lnTo>
                    <a:pt x="3358" y="1607"/>
                  </a:lnTo>
                  <a:lnTo>
                    <a:pt x="3386" y="1612"/>
                  </a:lnTo>
                  <a:lnTo>
                    <a:pt x="3415" y="1619"/>
                  </a:lnTo>
                  <a:lnTo>
                    <a:pt x="3442" y="1627"/>
                  </a:lnTo>
                  <a:lnTo>
                    <a:pt x="3468" y="1635"/>
                  </a:lnTo>
                  <a:lnTo>
                    <a:pt x="3494" y="1644"/>
                  </a:lnTo>
                  <a:lnTo>
                    <a:pt x="3520" y="1654"/>
                  </a:lnTo>
                  <a:lnTo>
                    <a:pt x="3545" y="1664"/>
                  </a:lnTo>
                  <a:lnTo>
                    <a:pt x="3569" y="1676"/>
                  </a:lnTo>
                  <a:lnTo>
                    <a:pt x="3593" y="1688"/>
                  </a:lnTo>
                  <a:lnTo>
                    <a:pt x="3617" y="1702"/>
                  </a:lnTo>
                  <a:lnTo>
                    <a:pt x="3640" y="1715"/>
                  </a:lnTo>
                  <a:lnTo>
                    <a:pt x="3662" y="1730"/>
                  </a:lnTo>
                  <a:lnTo>
                    <a:pt x="3684" y="1746"/>
                  </a:lnTo>
                  <a:lnTo>
                    <a:pt x="3705" y="1763"/>
                  </a:lnTo>
                  <a:lnTo>
                    <a:pt x="3727" y="1780"/>
                  </a:lnTo>
                  <a:lnTo>
                    <a:pt x="3747" y="1798"/>
                  </a:lnTo>
                  <a:lnTo>
                    <a:pt x="3767" y="1816"/>
                  </a:lnTo>
                  <a:lnTo>
                    <a:pt x="3786" y="1837"/>
                  </a:lnTo>
                  <a:lnTo>
                    <a:pt x="3805" y="1857"/>
                  </a:lnTo>
                  <a:lnTo>
                    <a:pt x="3824" y="1878"/>
                  </a:lnTo>
                  <a:lnTo>
                    <a:pt x="3842" y="1900"/>
                  </a:lnTo>
                  <a:lnTo>
                    <a:pt x="3860" y="1924"/>
                  </a:lnTo>
                  <a:lnTo>
                    <a:pt x="3877" y="1947"/>
                  </a:lnTo>
                  <a:lnTo>
                    <a:pt x="3893" y="1972"/>
                  </a:lnTo>
                  <a:lnTo>
                    <a:pt x="3910" y="1998"/>
                  </a:lnTo>
                  <a:lnTo>
                    <a:pt x="4082" y="1691"/>
                  </a:lnTo>
                  <a:lnTo>
                    <a:pt x="4769" y="1691"/>
                  </a:lnTo>
                  <a:lnTo>
                    <a:pt x="4260" y="3728"/>
                  </a:lnTo>
                  <a:lnTo>
                    <a:pt x="4259" y="3737"/>
                  </a:lnTo>
                  <a:lnTo>
                    <a:pt x="4257" y="3748"/>
                  </a:lnTo>
                  <a:lnTo>
                    <a:pt x="4252" y="3776"/>
                  </a:lnTo>
                  <a:lnTo>
                    <a:pt x="4249" y="3801"/>
                  </a:lnTo>
                  <a:lnTo>
                    <a:pt x="4247" y="3822"/>
                  </a:lnTo>
                  <a:lnTo>
                    <a:pt x="4246" y="3838"/>
                  </a:lnTo>
                  <a:lnTo>
                    <a:pt x="4247" y="3863"/>
                  </a:lnTo>
                  <a:lnTo>
                    <a:pt x="4250" y="3886"/>
                  </a:lnTo>
                  <a:lnTo>
                    <a:pt x="4252" y="3897"/>
                  </a:lnTo>
                  <a:lnTo>
                    <a:pt x="4254" y="3907"/>
                  </a:lnTo>
                  <a:lnTo>
                    <a:pt x="4257" y="3917"/>
                  </a:lnTo>
                  <a:lnTo>
                    <a:pt x="4260" y="3926"/>
                  </a:lnTo>
                  <a:lnTo>
                    <a:pt x="4263" y="3935"/>
                  </a:lnTo>
                  <a:lnTo>
                    <a:pt x="4267" y="3943"/>
                  </a:lnTo>
                  <a:lnTo>
                    <a:pt x="4271" y="3951"/>
                  </a:lnTo>
                  <a:lnTo>
                    <a:pt x="4276" y="3959"/>
                  </a:lnTo>
                  <a:lnTo>
                    <a:pt x="4281" y="3967"/>
                  </a:lnTo>
                  <a:lnTo>
                    <a:pt x="4287" y="3974"/>
                  </a:lnTo>
                  <a:lnTo>
                    <a:pt x="4293" y="3981"/>
                  </a:lnTo>
                  <a:lnTo>
                    <a:pt x="4299" y="3987"/>
                  </a:lnTo>
                  <a:lnTo>
                    <a:pt x="4306" y="3993"/>
                  </a:lnTo>
                  <a:lnTo>
                    <a:pt x="4314" y="3998"/>
                  </a:lnTo>
                  <a:lnTo>
                    <a:pt x="4322" y="4004"/>
                  </a:lnTo>
                  <a:lnTo>
                    <a:pt x="4330" y="4008"/>
                  </a:lnTo>
                  <a:lnTo>
                    <a:pt x="4338" y="4013"/>
                  </a:lnTo>
                  <a:lnTo>
                    <a:pt x="4347" y="4017"/>
                  </a:lnTo>
                  <a:lnTo>
                    <a:pt x="4356" y="4020"/>
                  </a:lnTo>
                  <a:lnTo>
                    <a:pt x="4365" y="4023"/>
                  </a:lnTo>
                  <a:lnTo>
                    <a:pt x="4385" y="4029"/>
                  </a:lnTo>
                  <a:lnTo>
                    <a:pt x="4408" y="4032"/>
                  </a:lnTo>
                  <a:lnTo>
                    <a:pt x="4431" y="4035"/>
                  </a:lnTo>
                  <a:lnTo>
                    <a:pt x="4456" y="4035"/>
                  </a:lnTo>
                  <a:lnTo>
                    <a:pt x="4484" y="4035"/>
                  </a:lnTo>
                  <a:lnTo>
                    <a:pt x="4513" y="4033"/>
                  </a:lnTo>
                  <a:lnTo>
                    <a:pt x="4540" y="4031"/>
                  </a:lnTo>
                  <a:lnTo>
                    <a:pt x="4568" y="4028"/>
                  </a:lnTo>
                  <a:lnTo>
                    <a:pt x="4595" y="4024"/>
                  </a:lnTo>
                  <a:lnTo>
                    <a:pt x="4623" y="4019"/>
                  </a:lnTo>
                  <a:lnTo>
                    <a:pt x="4650" y="4013"/>
                  </a:lnTo>
                  <a:lnTo>
                    <a:pt x="4677" y="4006"/>
                  </a:lnTo>
                  <a:lnTo>
                    <a:pt x="4703" y="3998"/>
                  </a:lnTo>
                  <a:lnTo>
                    <a:pt x="4731" y="3989"/>
                  </a:lnTo>
                  <a:lnTo>
                    <a:pt x="4757" y="3979"/>
                  </a:lnTo>
                  <a:lnTo>
                    <a:pt x="4782" y="3969"/>
                  </a:lnTo>
                  <a:lnTo>
                    <a:pt x="4809" y="3956"/>
                  </a:lnTo>
                  <a:lnTo>
                    <a:pt x="4834" y="3944"/>
                  </a:lnTo>
                  <a:lnTo>
                    <a:pt x="4859" y="3930"/>
                  </a:lnTo>
                  <a:lnTo>
                    <a:pt x="4884" y="3916"/>
                  </a:lnTo>
                  <a:lnTo>
                    <a:pt x="4910" y="3901"/>
                  </a:lnTo>
                  <a:lnTo>
                    <a:pt x="4934" y="3885"/>
                  </a:lnTo>
                  <a:lnTo>
                    <a:pt x="4959" y="3866"/>
                  </a:lnTo>
                  <a:lnTo>
                    <a:pt x="4983" y="3848"/>
                  </a:lnTo>
                  <a:lnTo>
                    <a:pt x="5008" y="3829"/>
                  </a:lnTo>
                  <a:lnTo>
                    <a:pt x="5031" y="3809"/>
                  </a:lnTo>
                  <a:lnTo>
                    <a:pt x="5055" y="3788"/>
                  </a:lnTo>
                  <a:lnTo>
                    <a:pt x="5078" y="3766"/>
                  </a:lnTo>
                  <a:lnTo>
                    <a:pt x="5101" y="3743"/>
                  </a:lnTo>
                  <a:lnTo>
                    <a:pt x="5125" y="3720"/>
                  </a:lnTo>
                  <a:lnTo>
                    <a:pt x="5147" y="3694"/>
                  </a:lnTo>
                  <a:lnTo>
                    <a:pt x="5169" y="3668"/>
                  </a:lnTo>
                  <a:lnTo>
                    <a:pt x="5192" y="3642"/>
                  </a:lnTo>
                  <a:lnTo>
                    <a:pt x="5214" y="3614"/>
                  </a:lnTo>
                  <a:lnTo>
                    <a:pt x="5236" y="3585"/>
                  </a:lnTo>
                  <a:lnTo>
                    <a:pt x="5258" y="3556"/>
                  </a:lnTo>
                  <a:lnTo>
                    <a:pt x="5279" y="3526"/>
                  </a:lnTo>
                  <a:lnTo>
                    <a:pt x="5299" y="3495"/>
                  </a:lnTo>
                  <a:lnTo>
                    <a:pt x="5319" y="3464"/>
                  </a:lnTo>
                  <a:lnTo>
                    <a:pt x="5338" y="3433"/>
                  </a:lnTo>
                  <a:lnTo>
                    <a:pt x="5357" y="3403"/>
                  </a:lnTo>
                  <a:lnTo>
                    <a:pt x="5374" y="3370"/>
                  </a:lnTo>
                  <a:lnTo>
                    <a:pt x="5391" y="3339"/>
                  </a:lnTo>
                  <a:lnTo>
                    <a:pt x="5409" y="3307"/>
                  </a:lnTo>
                  <a:lnTo>
                    <a:pt x="5424" y="3273"/>
                  </a:lnTo>
                  <a:lnTo>
                    <a:pt x="5439" y="3241"/>
                  </a:lnTo>
                  <a:lnTo>
                    <a:pt x="5454" y="3207"/>
                  </a:lnTo>
                  <a:lnTo>
                    <a:pt x="5467" y="3174"/>
                  </a:lnTo>
                  <a:lnTo>
                    <a:pt x="5480" y="3139"/>
                  </a:lnTo>
                  <a:lnTo>
                    <a:pt x="5493" y="3106"/>
                  </a:lnTo>
                  <a:lnTo>
                    <a:pt x="5505" y="3071"/>
                  </a:lnTo>
                  <a:lnTo>
                    <a:pt x="5516" y="3036"/>
                  </a:lnTo>
                  <a:lnTo>
                    <a:pt x="5527" y="3001"/>
                  </a:lnTo>
                  <a:lnTo>
                    <a:pt x="5536" y="2965"/>
                  </a:lnTo>
                  <a:lnTo>
                    <a:pt x="5545" y="2930"/>
                  </a:lnTo>
                  <a:lnTo>
                    <a:pt x="5554" y="2893"/>
                  </a:lnTo>
                  <a:lnTo>
                    <a:pt x="5561" y="2857"/>
                  </a:lnTo>
                  <a:lnTo>
                    <a:pt x="5568" y="2821"/>
                  </a:lnTo>
                  <a:lnTo>
                    <a:pt x="5575" y="2783"/>
                  </a:lnTo>
                  <a:lnTo>
                    <a:pt x="5580" y="2746"/>
                  </a:lnTo>
                  <a:lnTo>
                    <a:pt x="5585" y="2708"/>
                  </a:lnTo>
                  <a:lnTo>
                    <a:pt x="5590" y="2670"/>
                  </a:lnTo>
                  <a:lnTo>
                    <a:pt x="5593" y="2631"/>
                  </a:lnTo>
                  <a:lnTo>
                    <a:pt x="5596" y="2593"/>
                  </a:lnTo>
                  <a:lnTo>
                    <a:pt x="5599" y="2554"/>
                  </a:lnTo>
                  <a:lnTo>
                    <a:pt x="5600" y="2515"/>
                  </a:lnTo>
                  <a:lnTo>
                    <a:pt x="5601" y="2475"/>
                  </a:lnTo>
                  <a:lnTo>
                    <a:pt x="5603" y="2435"/>
                  </a:lnTo>
                  <a:lnTo>
                    <a:pt x="5601" y="2385"/>
                  </a:lnTo>
                  <a:lnTo>
                    <a:pt x="5599" y="2337"/>
                  </a:lnTo>
                  <a:lnTo>
                    <a:pt x="5597" y="2288"/>
                  </a:lnTo>
                  <a:lnTo>
                    <a:pt x="5593" y="2240"/>
                  </a:lnTo>
                  <a:lnTo>
                    <a:pt x="5587" y="2193"/>
                  </a:lnTo>
                  <a:lnTo>
                    <a:pt x="5581" y="2146"/>
                  </a:lnTo>
                  <a:lnTo>
                    <a:pt x="5573" y="2100"/>
                  </a:lnTo>
                  <a:lnTo>
                    <a:pt x="5565" y="2054"/>
                  </a:lnTo>
                  <a:lnTo>
                    <a:pt x="5555" y="2009"/>
                  </a:lnTo>
                  <a:lnTo>
                    <a:pt x="5544" y="1965"/>
                  </a:lnTo>
                  <a:lnTo>
                    <a:pt x="5532" y="1921"/>
                  </a:lnTo>
                  <a:lnTo>
                    <a:pt x="5519" y="1877"/>
                  </a:lnTo>
                  <a:lnTo>
                    <a:pt x="5504" y="1835"/>
                  </a:lnTo>
                  <a:lnTo>
                    <a:pt x="5487" y="1793"/>
                  </a:lnTo>
                  <a:lnTo>
                    <a:pt x="5471" y="1750"/>
                  </a:lnTo>
                  <a:lnTo>
                    <a:pt x="5453" y="1710"/>
                  </a:lnTo>
                  <a:lnTo>
                    <a:pt x="5434" y="1670"/>
                  </a:lnTo>
                  <a:lnTo>
                    <a:pt x="5413" y="1630"/>
                  </a:lnTo>
                  <a:lnTo>
                    <a:pt x="5391" y="1591"/>
                  </a:lnTo>
                  <a:lnTo>
                    <a:pt x="5368" y="1552"/>
                  </a:lnTo>
                  <a:lnTo>
                    <a:pt x="5345" y="1514"/>
                  </a:lnTo>
                  <a:lnTo>
                    <a:pt x="5320" y="1476"/>
                  </a:lnTo>
                  <a:lnTo>
                    <a:pt x="5293" y="1439"/>
                  </a:lnTo>
                  <a:lnTo>
                    <a:pt x="5266" y="1402"/>
                  </a:lnTo>
                  <a:lnTo>
                    <a:pt x="5237" y="1367"/>
                  </a:lnTo>
                  <a:lnTo>
                    <a:pt x="5208" y="1331"/>
                  </a:lnTo>
                  <a:lnTo>
                    <a:pt x="5176" y="1297"/>
                  </a:lnTo>
                  <a:lnTo>
                    <a:pt x="5144" y="1263"/>
                  </a:lnTo>
                  <a:lnTo>
                    <a:pt x="5111" y="1229"/>
                  </a:lnTo>
                  <a:lnTo>
                    <a:pt x="5076" y="1196"/>
                  </a:lnTo>
                  <a:lnTo>
                    <a:pt x="5041" y="1163"/>
                  </a:lnTo>
                  <a:lnTo>
                    <a:pt x="5003" y="1132"/>
                  </a:lnTo>
                  <a:lnTo>
                    <a:pt x="4966" y="1101"/>
                  </a:lnTo>
                  <a:lnTo>
                    <a:pt x="4928" y="1071"/>
                  </a:lnTo>
                  <a:lnTo>
                    <a:pt x="4888" y="1042"/>
                  </a:lnTo>
                  <a:lnTo>
                    <a:pt x="4849" y="1013"/>
                  </a:lnTo>
                  <a:lnTo>
                    <a:pt x="4809" y="986"/>
                  </a:lnTo>
                  <a:lnTo>
                    <a:pt x="4767" y="961"/>
                  </a:lnTo>
                  <a:lnTo>
                    <a:pt x="4725" y="936"/>
                  </a:lnTo>
                  <a:lnTo>
                    <a:pt x="4682" y="911"/>
                  </a:lnTo>
                  <a:lnTo>
                    <a:pt x="4639" y="888"/>
                  </a:lnTo>
                  <a:lnTo>
                    <a:pt x="4595" y="866"/>
                  </a:lnTo>
                  <a:lnTo>
                    <a:pt x="4550" y="844"/>
                  </a:lnTo>
                  <a:lnTo>
                    <a:pt x="4504" y="824"/>
                  </a:lnTo>
                  <a:lnTo>
                    <a:pt x="4458" y="806"/>
                  </a:lnTo>
                  <a:lnTo>
                    <a:pt x="4412" y="787"/>
                  </a:lnTo>
                  <a:lnTo>
                    <a:pt x="4364" y="770"/>
                  </a:lnTo>
                  <a:lnTo>
                    <a:pt x="4316" y="753"/>
                  </a:lnTo>
                  <a:lnTo>
                    <a:pt x="4266" y="738"/>
                  </a:lnTo>
                  <a:lnTo>
                    <a:pt x="4217" y="724"/>
                  </a:lnTo>
                  <a:lnTo>
                    <a:pt x="4166" y="711"/>
                  </a:lnTo>
                  <a:lnTo>
                    <a:pt x="4116" y="699"/>
                  </a:lnTo>
                  <a:lnTo>
                    <a:pt x="4063" y="688"/>
                  </a:lnTo>
                  <a:lnTo>
                    <a:pt x="4011" y="677"/>
                  </a:lnTo>
                  <a:lnTo>
                    <a:pt x="3957" y="667"/>
                  </a:lnTo>
                  <a:lnTo>
                    <a:pt x="3903" y="659"/>
                  </a:lnTo>
                  <a:lnTo>
                    <a:pt x="3849" y="652"/>
                  </a:lnTo>
                  <a:lnTo>
                    <a:pt x="3793" y="646"/>
                  </a:lnTo>
                  <a:lnTo>
                    <a:pt x="3738" y="640"/>
                  </a:lnTo>
                  <a:lnTo>
                    <a:pt x="3680" y="636"/>
                  </a:lnTo>
                  <a:lnTo>
                    <a:pt x="3623" y="633"/>
                  </a:lnTo>
                  <a:lnTo>
                    <a:pt x="3565" y="630"/>
                  </a:lnTo>
                  <a:lnTo>
                    <a:pt x="3506" y="629"/>
                  </a:lnTo>
                  <a:lnTo>
                    <a:pt x="3447" y="628"/>
                  </a:lnTo>
                  <a:lnTo>
                    <a:pt x="3385" y="629"/>
                  </a:lnTo>
                  <a:lnTo>
                    <a:pt x="3325" y="630"/>
                  </a:lnTo>
                  <a:lnTo>
                    <a:pt x="3264" y="632"/>
                  </a:lnTo>
                  <a:lnTo>
                    <a:pt x="3204" y="636"/>
                  </a:lnTo>
                  <a:lnTo>
                    <a:pt x="3145" y="640"/>
                  </a:lnTo>
                  <a:lnTo>
                    <a:pt x="3086" y="645"/>
                  </a:lnTo>
                  <a:lnTo>
                    <a:pt x="3029" y="651"/>
                  </a:lnTo>
                  <a:lnTo>
                    <a:pt x="2971" y="658"/>
                  </a:lnTo>
                  <a:lnTo>
                    <a:pt x="2915" y="666"/>
                  </a:lnTo>
                  <a:lnTo>
                    <a:pt x="2858" y="675"/>
                  </a:lnTo>
                  <a:lnTo>
                    <a:pt x="2802" y="685"/>
                  </a:lnTo>
                  <a:lnTo>
                    <a:pt x="2748" y="697"/>
                  </a:lnTo>
                  <a:lnTo>
                    <a:pt x="2693" y="709"/>
                  </a:lnTo>
                  <a:lnTo>
                    <a:pt x="2639" y="721"/>
                  </a:lnTo>
                  <a:lnTo>
                    <a:pt x="2585" y="735"/>
                  </a:lnTo>
                  <a:lnTo>
                    <a:pt x="2533" y="750"/>
                  </a:lnTo>
                  <a:lnTo>
                    <a:pt x="2481" y="765"/>
                  </a:lnTo>
                  <a:lnTo>
                    <a:pt x="2429" y="783"/>
                  </a:lnTo>
                  <a:lnTo>
                    <a:pt x="2378" y="800"/>
                  </a:lnTo>
                  <a:lnTo>
                    <a:pt x="2328" y="818"/>
                  </a:lnTo>
                  <a:lnTo>
                    <a:pt x="2277" y="838"/>
                  </a:lnTo>
                  <a:lnTo>
                    <a:pt x="2229" y="859"/>
                  </a:lnTo>
                  <a:lnTo>
                    <a:pt x="2179" y="880"/>
                  </a:lnTo>
                  <a:lnTo>
                    <a:pt x="2132" y="902"/>
                  </a:lnTo>
                  <a:lnTo>
                    <a:pt x="2083" y="925"/>
                  </a:lnTo>
                  <a:lnTo>
                    <a:pt x="2037" y="950"/>
                  </a:lnTo>
                  <a:lnTo>
                    <a:pt x="1990" y="975"/>
                  </a:lnTo>
                  <a:lnTo>
                    <a:pt x="1944" y="1001"/>
                  </a:lnTo>
                  <a:lnTo>
                    <a:pt x="1898" y="1029"/>
                  </a:lnTo>
                  <a:lnTo>
                    <a:pt x="1854" y="1057"/>
                  </a:lnTo>
                  <a:lnTo>
                    <a:pt x="1809" y="1085"/>
                  </a:lnTo>
                  <a:lnTo>
                    <a:pt x="1766" y="1116"/>
                  </a:lnTo>
                  <a:lnTo>
                    <a:pt x="1734" y="1139"/>
                  </a:lnTo>
                  <a:lnTo>
                    <a:pt x="1702" y="1162"/>
                  </a:lnTo>
                  <a:lnTo>
                    <a:pt x="1671" y="1187"/>
                  </a:lnTo>
                  <a:lnTo>
                    <a:pt x="1641" y="1211"/>
                  </a:lnTo>
                  <a:lnTo>
                    <a:pt x="1610" y="1235"/>
                  </a:lnTo>
                  <a:lnTo>
                    <a:pt x="1581" y="1261"/>
                  </a:lnTo>
                  <a:lnTo>
                    <a:pt x="1551" y="1286"/>
                  </a:lnTo>
                  <a:lnTo>
                    <a:pt x="1523" y="1311"/>
                  </a:lnTo>
                  <a:lnTo>
                    <a:pt x="1494" y="1337"/>
                  </a:lnTo>
                  <a:lnTo>
                    <a:pt x="1466" y="1364"/>
                  </a:lnTo>
                  <a:lnTo>
                    <a:pt x="1439" y="1390"/>
                  </a:lnTo>
                  <a:lnTo>
                    <a:pt x="1411" y="1417"/>
                  </a:lnTo>
                  <a:lnTo>
                    <a:pt x="1385" y="1445"/>
                  </a:lnTo>
                  <a:lnTo>
                    <a:pt x="1359" y="1472"/>
                  </a:lnTo>
                  <a:lnTo>
                    <a:pt x="1334" y="1500"/>
                  </a:lnTo>
                  <a:lnTo>
                    <a:pt x="1308" y="1529"/>
                  </a:lnTo>
                  <a:lnTo>
                    <a:pt x="1284" y="1558"/>
                  </a:lnTo>
                  <a:lnTo>
                    <a:pt x="1260" y="1586"/>
                  </a:lnTo>
                  <a:lnTo>
                    <a:pt x="1236" y="1617"/>
                  </a:lnTo>
                  <a:lnTo>
                    <a:pt x="1212" y="1646"/>
                  </a:lnTo>
                  <a:lnTo>
                    <a:pt x="1190" y="1677"/>
                  </a:lnTo>
                  <a:lnTo>
                    <a:pt x="1168" y="1707"/>
                  </a:lnTo>
                  <a:lnTo>
                    <a:pt x="1146" y="1738"/>
                  </a:lnTo>
                  <a:lnTo>
                    <a:pt x="1125" y="1770"/>
                  </a:lnTo>
                  <a:lnTo>
                    <a:pt x="1103" y="1801"/>
                  </a:lnTo>
                  <a:lnTo>
                    <a:pt x="1083" y="1834"/>
                  </a:lnTo>
                  <a:lnTo>
                    <a:pt x="1063" y="1866"/>
                  </a:lnTo>
                  <a:lnTo>
                    <a:pt x="1044" y="1898"/>
                  </a:lnTo>
                  <a:lnTo>
                    <a:pt x="1025" y="1932"/>
                  </a:lnTo>
                  <a:lnTo>
                    <a:pt x="1005" y="1965"/>
                  </a:lnTo>
                  <a:lnTo>
                    <a:pt x="987" y="1999"/>
                  </a:lnTo>
                  <a:lnTo>
                    <a:pt x="970" y="2033"/>
                  </a:lnTo>
                  <a:lnTo>
                    <a:pt x="953" y="2067"/>
                  </a:lnTo>
                  <a:lnTo>
                    <a:pt x="936" y="2102"/>
                  </a:lnTo>
                  <a:lnTo>
                    <a:pt x="919" y="2136"/>
                  </a:lnTo>
                  <a:lnTo>
                    <a:pt x="904" y="2172"/>
                  </a:lnTo>
                  <a:lnTo>
                    <a:pt x="889" y="2206"/>
                  </a:lnTo>
                  <a:lnTo>
                    <a:pt x="875" y="2241"/>
                  </a:lnTo>
                  <a:lnTo>
                    <a:pt x="861" y="2277"/>
                  </a:lnTo>
                  <a:lnTo>
                    <a:pt x="848" y="2312"/>
                  </a:lnTo>
                  <a:lnTo>
                    <a:pt x="835" y="2349"/>
                  </a:lnTo>
                  <a:lnTo>
                    <a:pt x="823" y="2384"/>
                  </a:lnTo>
                  <a:lnTo>
                    <a:pt x="810" y="2421"/>
                  </a:lnTo>
                  <a:lnTo>
                    <a:pt x="799" y="2457"/>
                  </a:lnTo>
                  <a:lnTo>
                    <a:pt x="788" y="2494"/>
                  </a:lnTo>
                  <a:lnTo>
                    <a:pt x="778" y="2531"/>
                  </a:lnTo>
                  <a:lnTo>
                    <a:pt x="769" y="2567"/>
                  </a:lnTo>
                  <a:lnTo>
                    <a:pt x="760" y="2605"/>
                  </a:lnTo>
                  <a:lnTo>
                    <a:pt x="752" y="2642"/>
                  </a:lnTo>
                  <a:lnTo>
                    <a:pt x="744" y="2680"/>
                  </a:lnTo>
                  <a:lnTo>
                    <a:pt x="736" y="2717"/>
                  </a:lnTo>
                  <a:lnTo>
                    <a:pt x="730" y="2755"/>
                  </a:lnTo>
                  <a:lnTo>
                    <a:pt x="723" y="2793"/>
                  </a:lnTo>
                  <a:lnTo>
                    <a:pt x="717" y="2831"/>
                  </a:lnTo>
                  <a:lnTo>
                    <a:pt x="712" y="2869"/>
                  </a:lnTo>
                  <a:lnTo>
                    <a:pt x="707" y="2908"/>
                  </a:lnTo>
                  <a:lnTo>
                    <a:pt x="703" y="2947"/>
                  </a:lnTo>
                  <a:lnTo>
                    <a:pt x="700" y="2986"/>
                  </a:lnTo>
                  <a:lnTo>
                    <a:pt x="696" y="3025"/>
                  </a:lnTo>
                  <a:lnTo>
                    <a:pt x="694" y="3064"/>
                  </a:lnTo>
                  <a:lnTo>
                    <a:pt x="692" y="3103"/>
                  </a:lnTo>
                  <a:lnTo>
                    <a:pt x="691" y="3144"/>
                  </a:lnTo>
                  <a:lnTo>
                    <a:pt x="690" y="3183"/>
                  </a:lnTo>
                  <a:lnTo>
                    <a:pt x="690" y="3222"/>
                  </a:lnTo>
                  <a:lnTo>
                    <a:pt x="690" y="3285"/>
                  </a:lnTo>
                  <a:lnTo>
                    <a:pt x="692" y="3347"/>
                  </a:lnTo>
                  <a:lnTo>
                    <a:pt x="696" y="3409"/>
                  </a:lnTo>
                  <a:lnTo>
                    <a:pt x="700" y="3468"/>
                  </a:lnTo>
                  <a:lnTo>
                    <a:pt x="706" y="3528"/>
                  </a:lnTo>
                  <a:lnTo>
                    <a:pt x="713" y="3587"/>
                  </a:lnTo>
                  <a:lnTo>
                    <a:pt x="723" y="3645"/>
                  </a:lnTo>
                  <a:lnTo>
                    <a:pt x="733" y="3702"/>
                  </a:lnTo>
                  <a:lnTo>
                    <a:pt x="744" y="3758"/>
                  </a:lnTo>
                  <a:lnTo>
                    <a:pt x="756" y="3814"/>
                  </a:lnTo>
                  <a:lnTo>
                    <a:pt x="770" y="3868"/>
                  </a:lnTo>
                  <a:lnTo>
                    <a:pt x="785" y="3922"/>
                  </a:lnTo>
                  <a:lnTo>
                    <a:pt x="801" y="3976"/>
                  </a:lnTo>
                  <a:lnTo>
                    <a:pt x="819" y="4027"/>
                  </a:lnTo>
                  <a:lnTo>
                    <a:pt x="839" y="4079"/>
                  </a:lnTo>
                  <a:lnTo>
                    <a:pt x="859" y="4130"/>
                  </a:lnTo>
                  <a:lnTo>
                    <a:pt x="881" y="4180"/>
                  </a:lnTo>
                  <a:lnTo>
                    <a:pt x="904" y="4229"/>
                  </a:lnTo>
                  <a:lnTo>
                    <a:pt x="929" y="4277"/>
                  </a:lnTo>
                  <a:lnTo>
                    <a:pt x="954" y="4325"/>
                  </a:lnTo>
                  <a:lnTo>
                    <a:pt x="981" y="4372"/>
                  </a:lnTo>
                  <a:lnTo>
                    <a:pt x="1009" y="4417"/>
                  </a:lnTo>
                  <a:lnTo>
                    <a:pt x="1040" y="4463"/>
                  </a:lnTo>
                  <a:lnTo>
                    <a:pt x="1071" y="4506"/>
                  </a:lnTo>
                  <a:lnTo>
                    <a:pt x="1103" y="4550"/>
                  </a:lnTo>
                  <a:lnTo>
                    <a:pt x="1137" y="4592"/>
                  </a:lnTo>
                  <a:lnTo>
                    <a:pt x="1172" y="4635"/>
                  </a:lnTo>
                  <a:lnTo>
                    <a:pt x="1208" y="4675"/>
                  </a:lnTo>
                  <a:lnTo>
                    <a:pt x="1246" y="4716"/>
                  </a:lnTo>
                  <a:lnTo>
                    <a:pt x="1285" y="4755"/>
                  </a:lnTo>
                  <a:lnTo>
                    <a:pt x="1326" y="4794"/>
                  </a:lnTo>
                  <a:lnTo>
                    <a:pt x="1367" y="4831"/>
                  </a:lnTo>
                  <a:lnTo>
                    <a:pt x="1409" y="4869"/>
                  </a:lnTo>
                  <a:lnTo>
                    <a:pt x="1453" y="4904"/>
                  </a:lnTo>
                  <a:lnTo>
                    <a:pt x="1497" y="4938"/>
                  </a:lnTo>
                  <a:lnTo>
                    <a:pt x="1543" y="4972"/>
                  </a:lnTo>
                  <a:lnTo>
                    <a:pt x="1589" y="5004"/>
                  </a:lnTo>
                  <a:lnTo>
                    <a:pt x="1637" y="5036"/>
                  </a:lnTo>
                  <a:lnTo>
                    <a:pt x="1684" y="5066"/>
                  </a:lnTo>
                  <a:lnTo>
                    <a:pt x="1734" y="5094"/>
                  </a:lnTo>
                  <a:lnTo>
                    <a:pt x="1783" y="5122"/>
                  </a:lnTo>
                  <a:lnTo>
                    <a:pt x="1834" y="5148"/>
                  </a:lnTo>
                  <a:lnTo>
                    <a:pt x="1886" y="5173"/>
                  </a:lnTo>
                  <a:lnTo>
                    <a:pt x="1939" y="5198"/>
                  </a:lnTo>
                  <a:lnTo>
                    <a:pt x="1992" y="5220"/>
                  </a:lnTo>
                  <a:lnTo>
                    <a:pt x="2047" y="5242"/>
                  </a:lnTo>
                  <a:lnTo>
                    <a:pt x="2101" y="5262"/>
                  </a:lnTo>
                  <a:lnTo>
                    <a:pt x="2158" y="5282"/>
                  </a:lnTo>
                  <a:lnTo>
                    <a:pt x="2214" y="5300"/>
                  </a:lnTo>
                  <a:lnTo>
                    <a:pt x="2273" y="5317"/>
                  </a:lnTo>
                  <a:lnTo>
                    <a:pt x="2332" y="5332"/>
                  </a:lnTo>
                  <a:lnTo>
                    <a:pt x="2391" y="5347"/>
                  </a:lnTo>
                  <a:lnTo>
                    <a:pt x="2452" y="5361"/>
                  </a:lnTo>
                  <a:lnTo>
                    <a:pt x="2513" y="5373"/>
                  </a:lnTo>
                  <a:lnTo>
                    <a:pt x="2576" y="5384"/>
                  </a:lnTo>
                  <a:lnTo>
                    <a:pt x="2640" y="5394"/>
                  </a:lnTo>
                  <a:lnTo>
                    <a:pt x="2703" y="5403"/>
                  </a:lnTo>
                  <a:lnTo>
                    <a:pt x="2769" y="5410"/>
                  </a:lnTo>
                  <a:lnTo>
                    <a:pt x="2835" y="5416"/>
                  </a:lnTo>
                  <a:lnTo>
                    <a:pt x="2902" y="5422"/>
                  </a:lnTo>
                  <a:lnTo>
                    <a:pt x="2970" y="5426"/>
                  </a:lnTo>
                  <a:lnTo>
                    <a:pt x="3039" y="5429"/>
                  </a:lnTo>
                  <a:lnTo>
                    <a:pt x="3108" y="5430"/>
                  </a:lnTo>
                  <a:lnTo>
                    <a:pt x="3179" y="5431"/>
                  </a:lnTo>
                  <a:lnTo>
                    <a:pt x="3248" y="5430"/>
                  </a:lnTo>
                  <a:lnTo>
                    <a:pt x="3316" y="5428"/>
                  </a:lnTo>
                  <a:lnTo>
                    <a:pt x="3383" y="5425"/>
                  </a:lnTo>
                  <a:lnTo>
                    <a:pt x="3450" y="5421"/>
                  </a:lnTo>
                  <a:lnTo>
                    <a:pt x="3518" y="5416"/>
                  </a:lnTo>
                  <a:lnTo>
                    <a:pt x="3584" y="5409"/>
                  </a:lnTo>
                  <a:lnTo>
                    <a:pt x="3650" y="5401"/>
                  </a:lnTo>
                  <a:lnTo>
                    <a:pt x="3717" y="5392"/>
                  </a:lnTo>
                  <a:lnTo>
                    <a:pt x="3781" y="5382"/>
                  </a:lnTo>
                  <a:lnTo>
                    <a:pt x="3847" y="5370"/>
                  </a:lnTo>
                  <a:lnTo>
                    <a:pt x="3912" y="5357"/>
                  </a:lnTo>
                  <a:lnTo>
                    <a:pt x="3977" y="5342"/>
                  </a:lnTo>
                  <a:lnTo>
                    <a:pt x="4041" y="5327"/>
                  </a:lnTo>
                  <a:lnTo>
                    <a:pt x="4105" y="5310"/>
                  </a:lnTo>
                  <a:lnTo>
                    <a:pt x="4169" y="5292"/>
                  </a:lnTo>
                  <a:lnTo>
                    <a:pt x="4233" y="5273"/>
                  </a:lnTo>
                  <a:lnTo>
                    <a:pt x="4295" y="5252"/>
                  </a:lnTo>
                  <a:lnTo>
                    <a:pt x="4358" y="5231"/>
                  </a:lnTo>
                  <a:lnTo>
                    <a:pt x="4420" y="5208"/>
                  </a:lnTo>
                  <a:lnTo>
                    <a:pt x="4481" y="5184"/>
                  </a:lnTo>
                  <a:lnTo>
                    <a:pt x="4541" y="5159"/>
                  </a:lnTo>
                  <a:lnTo>
                    <a:pt x="4601" y="5133"/>
                  </a:lnTo>
                  <a:lnTo>
                    <a:pt x="4660" y="5107"/>
                  </a:lnTo>
                  <a:lnTo>
                    <a:pt x="4719" y="5078"/>
                  </a:lnTo>
                  <a:lnTo>
                    <a:pt x="4777" y="5049"/>
                  </a:lnTo>
                  <a:lnTo>
                    <a:pt x="4834" y="5017"/>
                  </a:lnTo>
                  <a:lnTo>
                    <a:pt x="4891" y="4986"/>
                  </a:lnTo>
                  <a:lnTo>
                    <a:pt x="4947" y="4953"/>
                  </a:lnTo>
                  <a:lnTo>
                    <a:pt x="5002" y="4919"/>
                  </a:lnTo>
                  <a:lnTo>
                    <a:pt x="5057" y="4884"/>
                  </a:lnTo>
                  <a:lnTo>
                    <a:pt x="5112" y="4847"/>
                  </a:lnTo>
                  <a:lnTo>
                    <a:pt x="5165" y="4810"/>
                  </a:lnTo>
                  <a:lnTo>
                    <a:pt x="5488" y="5261"/>
                  </a:lnTo>
                  <a:lnTo>
                    <a:pt x="5424" y="5309"/>
                  </a:lnTo>
                  <a:lnTo>
                    <a:pt x="5358" y="5356"/>
                  </a:lnTo>
                  <a:lnTo>
                    <a:pt x="5291" y="5401"/>
                  </a:lnTo>
                  <a:lnTo>
                    <a:pt x="5226" y="5445"/>
                  </a:lnTo>
                  <a:lnTo>
                    <a:pt x="5158" y="5486"/>
                  </a:lnTo>
                  <a:lnTo>
                    <a:pt x="5091" y="5527"/>
                  </a:lnTo>
                  <a:lnTo>
                    <a:pt x="5024" y="5565"/>
                  </a:lnTo>
                  <a:lnTo>
                    <a:pt x="4955" y="5603"/>
                  </a:lnTo>
                  <a:lnTo>
                    <a:pt x="4886" y="5638"/>
                  </a:lnTo>
                  <a:lnTo>
                    <a:pt x="4818" y="5672"/>
                  </a:lnTo>
                  <a:lnTo>
                    <a:pt x="4748" y="5705"/>
                  </a:lnTo>
                  <a:lnTo>
                    <a:pt x="4677" y="5736"/>
                  </a:lnTo>
                  <a:lnTo>
                    <a:pt x="4608" y="5766"/>
                  </a:lnTo>
                  <a:lnTo>
                    <a:pt x="4536" y="5794"/>
                  </a:lnTo>
                  <a:lnTo>
                    <a:pt x="4465" y="5820"/>
                  </a:lnTo>
                  <a:lnTo>
                    <a:pt x="4393" y="5846"/>
                  </a:lnTo>
                  <a:lnTo>
                    <a:pt x="4321" y="5869"/>
                  </a:lnTo>
                  <a:lnTo>
                    <a:pt x="4248" y="5890"/>
                  </a:lnTo>
                  <a:lnTo>
                    <a:pt x="4174" y="5911"/>
                  </a:lnTo>
                  <a:lnTo>
                    <a:pt x="4100" y="5930"/>
                  </a:lnTo>
                  <a:lnTo>
                    <a:pt x="4027" y="5947"/>
                  </a:lnTo>
                  <a:lnTo>
                    <a:pt x="3952" y="5963"/>
                  </a:lnTo>
                  <a:lnTo>
                    <a:pt x="3876" y="5977"/>
                  </a:lnTo>
                  <a:lnTo>
                    <a:pt x="3801" y="5990"/>
                  </a:lnTo>
                  <a:lnTo>
                    <a:pt x="3725" y="6001"/>
                  </a:lnTo>
                  <a:lnTo>
                    <a:pt x="3648" y="6012"/>
                  </a:lnTo>
                  <a:lnTo>
                    <a:pt x="3571" y="6020"/>
                  </a:lnTo>
                  <a:lnTo>
                    <a:pt x="3493" y="6027"/>
                  </a:lnTo>
                  <a:lnTo>
                    <a:pt x="3416" y="6032"/>
                  </a:lnTo>
                  <a:lnTo>
                    <a:pt x="3338" y="6036"/>
                  </a:lnTo>
                  <a:lnTo>
                    <a:pt x="3258" y="6038"/>
                  </a:lnTo>
                  <a:lnTo>
                    <a:pt x="3179" y="6039"/>
                  </a:lnTo>
                  <a:lnTo>
                    <a:pt x="3099" y="6038"/>
                  </a:lnTo>
                  <a:lnTo>
                    <a:pt x="3021" y="6037"/>
                  </a:lnTo>
                  <a:lnTo>
                    <a:pt x="2943" y="6034"/>
                  </a:lnTo>
                  <a:lnTo>
                    <a:pt x="2866" y="6029"/>
                  </a:lnTo>
                  <a:lnTo>
                    <a:pt x="2789" y="6023"/>
                  </a:lnTo>
                  <a:lnTo>
                    <a:pt x="2713" y="6016"/>
                  </a:lnTo>
                  <a:lnTo>
                    <a:pt x="2639" y="6008"/>
                  </a:lnTo>
                  <a:lnTo>
                    <a:pt x="2564" y="5998"/>
                  </a:lnTo>
                  <a:lnTo>
                    <a:pt x="2491" y="5987"/>
                  </a:lnTo>
                  <a:lnTo>
                    <a:pt x="2419" y="5975"/>
                  </a:lnTo>
                  <a:lnTo>
                    <a:pt x="2346" y="5962"/>
                  </a:lnTo>
                  <a:lnTo>
                    <a:pt x="2275" y="5947"/>
                  </a:lnTo>
                  <a:lnTo>
                    <a:pt x="2204" y="5931"/>
                  </a:lnTo>
                  <a:lnTo>
                    <a:pt x="2135" y="5913"/>
                  </a:lnTo>
                  <a:lnTo>
                    <a:pt x="2066" y="5895"/>
                  </a:lnTo>
                  <a:lnTo>
                    <a:pt x="1998" y="5875"/>
                  </a:lnTo>
                  <a:lnTo>
                    <a:pt x="1931" y="5854"/>
                  </a:lnTo>
                  <a:lnTo>
                    <a:pt x="1865" y="5831"/>
                  </a:lnTo>
                  <a:lnTo>
                    <a:pt x="1799" y="5808"/>
                  </a:lnTo>
                  <a:lnTo>
                    <a:pt x="1736" y="5784"/>
                  </a:lnTo>
                  <a:lnTo>
                    <a:pt x="1672" y="5757"/>
                  </a:lnTo>
                  <a:lnTo>
                    <a:pt x="1609" y="5730"/>
                  </a:lnTo>
                  <a:lnTo>
                    <a:pt x="1548" y="5702"/>
                  </a:lnTo>
                  <a:lnTo>
                    <a:pt x="1487" y="5672"/>
                  </a:lnTo>
                  <a:lnTo>
                    <a:pt x="1428" y="5642"/>
                  </a:lnTo>
                  <a:lnTo>
                    <a:pt x="1369" y="5610"/>
                  </a:lnTo>
                  <a:lnTo>
                    <a:pt x="1311" y="5576"/>
                  </a:lnTo>
                  <a:lnTo>
                    <a:pt x="1255" y="5542"/>
                  </a:lnTo>
                  <a:lnTo>
                    <a:pt x="1198" y="5506"/>
                  </a:lnTo>
                  <a:lnTo>
                    <a:pt x="1144" y="5469"/>
                  </a:lnTo>
                  <a:lnTo>
                    <a:pt x="1090" y="5430"/>
                  </a:lnTo>
                  <a:lnTo>
                    <a:pt x="1037" y="5391"/>
                  </a:lnTo>
                  <a:lnTo>
                    <a:pt x="1004" y="5366"/>
                  </a:lnTo>
                  <a:lnTo>
                    <a:pt x="972" y="5340"/>
                  </a:lnTo>
                  <a:lnTo>
                    <a:pt x="941" y="5314"/>
                  </a:lnTo>
                  <a:lnTo>
                    <a:pt x="910" y="5288"/>
                  </a:lnTo>
                  <a:lnTo>
                    <a:pt x="880" y="5260"/>
                  </a:lnTo>
                  <a:lnTo>
                    <a:pt x="850" y="5234"/>
                  </a:lnTo>
                  <a:lnTo>
                    <a:pt x="820" y="5207"/>
                  </a:lnTo>
                  <a:lnTo>
                    <a:pt x="792" y="5179"/>
                  </a:lnTo>
                  <a:lnTo>
                    <a:pt x="764" y="5152"/>
                  </a:lnTo>
                  <a:lnTo>
                    <a:pt x="736" y="5124"/>
                  </a:lnTo>
                  <a:lnTo>
                    <a:pt x="708" y="5096"/>
                  </a:lnTo>
                  <a:lnTo>
                    <a:pt x="682" y="5068"/>
                  </a:lnTo>
                  <a:lnTo>
                    <a:pt x="656" y="5039"/>
                  </a:lnTo>
                  <a:lnTo>
                    <a:pt x="630" y="5010"/>
                  </a:lnTo>
                  <a:lnTo>
                    <a:pt x="605" y="4981"/>
                  </a:lnTo>
                  <a:lnTo>
                    <a:pt x="580" y="4952"/>
                  </a:lnTo>
                  <a:lnTo>
                    <a:pt x="556" y="4922"/>
                  </a:lnTo>
                  <a:lnTo>
                    <a:pt x="533" y="4893"/>
                  </a:lnTo>
                  <a:lnTo>
                    <a:pt x="509" y="4863"/>
                  </a:lnTo>
                  <a:lnTo>
                    <a:pt x="487" y="4832"/>
                  </a:lnTo>
                  <a:lnTo>
                    <a:pt x="465" y="4802"/>
                  </a:lnTo>
                  <a:lnTo>
                    <a:pt x="444" y="4771"/>
                  </a:lnTo>
                  <a:lnTo>
                    <a:pt x="422" y="4740"/>
                  </a:lnTo>
                  <a:lnTo>
                    <a:pt x="402" y="4709"/>
                  </a:lnTo>
                  <a:lnTo>
                    <a:pt x="382" y="4677"/>
                  </a:lnTo>
                  <a:lnTo>
                    <a:pt x="363" y="4646"/>
                  </a:lnTo>
                  <a:lnTo>
                    <a:pt x="344" y="4615"/>
                  </a:lnTo>
                  <a:lnTo>
                    <a:pt x="326" y="4582"/>
                  </a:lnTo>
                  <a:lnTo>
                    <a:pt x="308" y="4550"/>
                  </a:lnTo>
                  <a:lnTo>
                    <a:pt x="291" y="4517"/>
                  </a:lnTo>
                  <a:lnTo>
                    <a:pt x="274" y="4484"/>
                  </a:lnTo>
                  <a:lnTo>
                    <a:pt x="258" y="4451"/>
                  </a:lnTo>
                  <a:lnTo>
                    <a:pt x="242" y="4417"/>
                  </a:lnTo>
                  <a:lnTo>
                    <a:pt x="227" y="4384"/>
                  </a:lnTo>
                  <a:lnTo>
                    <a:pt x="211" y="4349"/>
                  </a:lnTo>
                  <a:lnTo>
                    <a:pt x="197" y="4315"/>
                  </a:lnTo>
                  <a:lnTo>
                    <a:pt x="183" y="4280"/>
                  </a:lnTo>
                  <a:lnTo>
                    <a:pt x="170" y="4246"/>
                  </a:lnTo>
                  <a:lnTo>
                    <a:pt x="157" y="4211"/>
                  </a:lnTo>
                  <a:lnTo>
                    <a:pt x="145" y="4175"/>
                  </a:lnTo>
                  <a:lnTo>
                    <a:pt x="134" y="4140"/>
                  </a:lnTo>
                  <a:lnTo>
                    <a:pt x="121" y="4103"/>
                  </a:lnTo>
                  <a:lnTo>
                    <a:pt x="111" y="4068"/>
                  </a:lnTo>
                  <a:lnTo>
                    <a:pt x="101" y="4031"/>
                  </a:lnTo>
                  <a:lnTo>
                    <a:pt x="91" y="3994"/>
                  </a:lnTo>
                  <a:lnTo>
                    <a:pt x="82" y="3957"/>
                  </a:lnTo>
                  <a:lnTo>
                    <a:pt x="73" y="3920"/>
                  </a:lnTo>
                  <a:lnTo>
                    <a:pt x="65" y="3883"/>
                  </a:lnTo>
                  <a:lnTo>
                    <a:pt x="57" y="3844"/>
                  </a:lnTo>
                  <a:lnTo>
                    <a:pt x="50" y="3807"/>
                  </a:lnTo>
                  <a:lnTo>
                    <a:pt x="43" y="3768"/>
                  </a:lnTo>
                  <a:lnTo>
                    <a:pt x="37" y="3729"/>
                  </a:lnTo>
                  <a:lnTo>
                    <a:pt x="31" y="3690"/>
                  </a:lnTo>
                  <a:lnTo>
                    <a:pt x="26" y="3651"/>
                  </a:lnTo>
                  <a:lnTo>
                    <a:pt x="20" y="3611"/>
                  </a:lnTo>
                  <a:lnTo>
                    <a:pt x="16" y="3572"/>
                  </a:lnTo>
                  <a:lnTo>
                    <a:pt x="12" y="3531"/>
                  </a:lnTo>
                  <a:lnTo>
                    <a:pt x="9" y="3491"/>
                  </a:lnTo>
                  <a:lnTo>
                    <a:pt x="6" y="3450"/>
                  </a:lnTo>
                  <a:lnTo>
                    <a:pt x="4" y="3410"/>
                  </a:lnTo>
                  <a:lnTo>
                    <a:pt x="3" y="3368"/>
                  </a:lnTo>
                  <a:lnTo>
                    <a:pt x="1" y="3327"/>
                  </a:lnTo>
                  <a:lnTo>
                    <a:pt x="1" y="3285"/>
                  </a:lnTo>
                  <a:lnTo>
                    <a:pt x="0" y="3244"/>
                  </a:lnTo>
                  <a:lnTo>
                    <a:pt x="1" y="3173"/>
                  </a:lnTo>
                  <a:lnTo>
                    <a:pt x="3" y="3103"/>
                  </a:lnTo>
                  <a:lnTo>
                    <a:pt x="6" y="3034"/>
                  </a:lnTo>
                  <a:lnTo>
                    <a:pt x="11" y="2964"/>
                  </a:lnTo>
                  <a:lnTo>
                    <a:pt x="17" y="2897"/>
                  </a:lnTo>
                  <a:lnTo>
                    <a:pt x="26" y="2829"/>
                  </a:lnTo>
                  <a:lnTo>
                    <a:pt x="35" y="2761"/>
                  </a:lnTo>
                  <a:lnTo>
                    <a:pt x="45" y="2694"/>
                  </a:lnTo>
                  <a:lnTo>
                    <a:pt x="57" y="2627"/>
                  </a:lnTo>
                  <a:lnTo>
                    <a:pt x="70" y="2560"/>
                  </a:lnTo>
                  <a:lnTo>
                    <a:pt x="84" y="2495"/>
                  </a:lnTo>
                  <a:lnTo>
                    <a:pt x="100" y="2430"/>
                  </a:lnTo>
                  <a:lnTo>
                    <a:pt x="117" y="2365"/>
                  </a:lnTo>
                  <a:lnTo>
                    <a:pt x="136" y="2300"/>
                  </a:lnTo>
                  <a:lnTo>
                    <a:pt x="156" y="2236"/>
                  </a:lnTo>
                  <a:lnTo>
                    <a:pt x="177" y="2173"/>
                  </a:lnTo>
                  <a:lnTo>
                    <a:pt x="199" y="2110"/>
                  </a:lnTo>
                  <a:lnTo>
                    <a:pt x="223" y="2047"/>
                  </a:lnTo>
                  <a:lnTo>
                    <a:pt x="249" y="1986"/>
                  </a:lnTo>
                  <a:lnTo>
                    <a:pt x="276" y="1925"/>
                  </a:lnTo>
                  <a:lnTo>
                    <a:pt x="303" y="1865"/>
                  </a:lnTo>
                  <a:lnTo>
                    <a:pt x="333" y="1805"/>
                  </a:lnTo>
                  <a:lnTo>
                    <a:pt x="364" y="1746"/>
                  </a:lnTo>
                  <a:lnTo>
                    <a:pt x="395" y="1688"/>
                  </a:lnTo>
                  <a:lnTo>
                    <a:pt x="429" y="1630"/>
                  </a:lnTo>
                  <a:lnTo>
                    <a:pt x="463" y="1573"/>
                  </a:lnTo>
                  <a:lnTo>
                    <a:pt x="498" y="1518"/>
                  </a:lnTo>
                  <a:lnTo>
                    <a:pt x="536" y="1462"/>
                  </a:lnTo>
                  <a:lnTo>
                    <a:pt x="574" y="1406"/>
                  </a:lnTo>
                  <a:lnTo>
                    <a:pt x="613" y="1353"/>
                  </a:lnTo>
                  <a:lnTo>
                    <a:pt x="655" y="1299"/>
                  </a:lnTo>
                  <a:lnTo>
                    <a:pt x="697" y="1245"/>
                  </a:lnTo>
                  <a:lnTo>
                    <a:pt x="728" y="1208"/>
                  </a:lnTo>
                  <a:lnTo>
                    <a:pt x="759" y="1170"/>
                  </a:lnTo>
                  <a:lnTo>
                    <a:pt x="791" y="1134"/>
                  </a:lnTo>
                  <a:lnTo>
                    <a:pt x="824" y="1098"/>
                  </a:lnTo>
                  <a:lnTo>
                    <a:pt x="856" y="1062"/>
                  </a:lnTo>
                  <a:lnTo>
                    <a:pt x="889" y="1027"/>
                  </a:lnTo>
                  <a:lnTo>
                    <a:pt x="923" y="992"/>
                  </a:lnTo>
                  <a:lnTo>
                    <a:pt x="957" y="958"/>
                  </a:lnTo>
                  <a:lnTo>
                    <a:pt x="991" y="925"/>
                  </a:lnTo>
                  <a:lnTo>
                    <a:pt x="1026" y="892"/>
                  </a:lnTo>
                  <a:lnTo>
                    <a:pt x="1061" y="860"/>
                  </a:lnTo>
                  <a:lnTo>
                    <a:pt x="1096" y="828"/>
                  </a:lnTo>
                  <a:lnTo>
                    <a:pt x="1133" y="798"/>
                  </a:lnTo>
                  <a:lnTo>
                    <a:pt x="1169" y="766"/>
                  </a:lnTo>
                  <a:lnTo>
                    <a:pt x="1205" y="737"/>
                  </a:lnTo>
                  <a:lnTo>
                    <a:pt x="1243" y="708"/>
                  </a:lnTo>
                  <a:lnTo>
                    <a:pt x="1280" y="679"/>
                  </a:lnTo>
                  <a:lnTo>
                    <a:pt x="1318" y="651"/>
                  </a:lnTo>
                  <a:lnTo>
                    <a:pt x="1357" y="624"/>
                  </a:lnTo>
                  <a:lnTo>
                    <a:pt x="1396" y="596"/>
                  </a:lnTo>
                  <a:lnTo>
                    <a:pt x="1435" y="570"/>
                  </a:lnTo>
                  <a:lnTo>
                    <a:pt x="1475" y="544"/>
                  </a:lnTo>
                  <a:lnTo>
                    <a:pt x="1514" y="518"/>
                  </a:lnTo>
                  <a:lnTo>
                    <a:pt x="1556" y="494"/>
                  </a:lnTo>
                  <a:lnTo>
                    <a:pt x="1596" y="470"/>
                  </a:lnTo>
                  <a:lnTo>
                    <a:pt x="1638" y="447"/>
                  </a:lnTo>
                  <a:lnTo>
                    <a:pt x="1679" y="423"/>
                  </a:lnTo>
                  <a:lnTo>
                    <a:pt x="1722" y="401"/>
                  </a:lnTo>
                  <a:lnTo>
                    <a:pt x="1764" y="379"/>
                  </a:lnTo>
                  <a:lnTo>
                    <a:pt x="1807" y="357"/>
                  </a:lnTo>
                  <a:lnTo>
                    <a:pt x="1851" y="337"/>
                  </a:lnTo>
                  <a:lnTo>
                    <a:pt x="1894" y="317"/>
                  </a:lnTo>
                  <a:lnTo>
                    <a:pt x="1939" y="297"/>
                  </a:lnTo>
                  <a:lnTo>
                    <a:pt x="1983" y="279"/>
                  </a:lnTo>
                  <a:lnTo>
                    <a:pt x="2028" y="260"/>
                  </a:lnTo>
                  <a:lnTo>
                    <a:pt x="2073" y="242"/>
                  </a:lnTo>
                  <a:lnTo>
                    <a:pt x="2119" y="226"/>
                  </a:lnTo>
                  <a:lnTo>
                    <a:pt x="2164" y="209"/>
                  </a:lnTo>
                  <a:lnTo>
                    <a:pt x="2210" y="193"/>
                  </a:lnTo>
                  <a:lnTo>
                    <a:pt x="2257" y="178"/>
                  </a:lnTo>
                  <a:lnTo>
                    <a:pt x="2303" y="164"/>
                  </a:lnTo>
                  <a:lnTo>
                    <a:pt x="2350" y="150"/>
                  </a:lnTo>
                  <a:lnTo>
                    <a:pt x="2396" y="137"/>
                  </a:lnTo>
                  <a:lnTo>
                    <a:pt x="2444" y="124"/>
                  </a:lnTo>
                  <a:lnTo>
                    <a:pt x="2492" y="111"/>
                  </a:lnTo>
                  <a:lnTo>
                    <a:pt x="2540" y="100"/>
                  </a:lnTo>
                  <a:lnTo>
                    <a:pt x="2588" y="89"/>
                  </a:lnTo>
                  <a:lnTo>
                    <a:pt x="2637" y="79"/>
                  </a:lnTo>
                  <a:lnTo>
                    <a:pt x="2685" y="70"/>
                  </a:lnTo>
                  <a:lnTo>
                    <a:pt x="2735" y="61"/>
                  </a:lnTo>
                  <a:lnTo>
                    <a:pt x="2784" y="52"/>
                  </a:lnTo>
                  <a:lnTo>
                    <a:pt x="2834" y="45"/>
                  </a:lnTo>
                  <a:lnTo>
                    <a:pt x="2884" y="38"/>
                  </a:lnTo>
                  <a:lnTo>
                    <a:pt x="2935" y="30"/>
                  </a:lnTo>
                  <a:lnTo>
                    <a:pt x="2985" y="24"/>
                  </a:lnTo>
                  <a:lnTo>
                    <a:pt x="3036" y="19"/>
                  </a:lnTo>
                  <a:lnTo>
                    <a:pt x="3087" y="15"/>
                  </a:lnTo>
                  <a:lnTo>
                    <a:pt x="3139" y="11"/>
                  </a:lnTo>
                  <a:lnTo>
                    <a:pt x="3190" y="7"/>
                  </a:lnTo>
                  <a:lnTo>
                    <a:pt x="3242" y="4"/>
                  </a:lnTo>
                  <a:lnTo>
                    <a:pt x="3294" y="2"/>
                  </a:lnTo>
                  <a:lnTo>
                    <a:pt x="3347" y="1"/>
                  </a:lnTo>
                  <a:lnTo>
                    <a:pt x="3400" y="0"/>
                  </a:lnTo>
                  <a:lnTo>
                    <a:pt x="3453" y="0"/>
                  </a:lnTo>
                  <a:lnTo>
                    <a:pt x="3524" y="0"/>
                  </a:lnTo>
                  <a:lnTo>
                    <a:pt x="3593" y="2"/>
                  </a:lnTo>
                  <a:lnTo>
                    <a:pt x="3663" y="5"/>
                  </a:lnTo>
                  <a:lnTo>
                    <a:pt x="3733" y="9"/>
                  </a:lnTo>
                  <a:lnTo>
                    <a:pt x="3800" y="15"/>
                  </a:lnTo>
                  <a:lnTo>
                    <a:pt x="3869" y="21"/>
                  </a:lnTo>
                  <a:lnTo>
                    <a:pt x="3936" y="29"/>
                  </a:lnTo>
                  <a:lnTo>
                    <a:pt x="4002" y="39"/>
                  </a:lnTo>
                  <a:lnTo>
                    <a:pt x="4069" y="49"/>
                  </a:lnTo>
                  <a:lnTo>
                    <a:pt x="4135" y="60"/>
                  </a:lnTo>
                  <a:lnTo>
                    <a:pt x="4200" y="73"/>
                  </a:lnTo>
                  <a:lnTo>
                    <a:pt x="4265" y="86"/>
                  </a:lnTo>
                  <a:lnTo>
                    <a:pt x="4330" y="101"/>
                  </a:lnTo>
                  <a:lnTo>
                    <a:pt x="4393" y="118"/>
                  </a:lnTo>
                  <a:lnTo>
                    <a:pt x="4456" y="135"/>
                  </a:lnTo>
                  <a:lnTo>
                    <a:pt x="4520" y="154"/>
                  </a:lnTo>
                  <a:lnTo>
                    <a:pt x="4581" y="173"/>
                  </a:lnTo>
                  <a:lnTo>
                    <a:pt x="4642" y="194"/>
                  </a:lnTo>
                  <a:lnTo>
                    <a:pt x="4702" y="216"/>
                  </a:lnTo>
                  <a:lnTo>
                    <a:pt x="4761" y="239"/>
                  </a:lnTo>
                  <a:lnTo>
                    <a:pt x="4819" y="262"/>
                  </a:lnTo>
                  <a:lnTo>
                    <a:pt x="4875" y="288"/>
                  </a:lnTo>
                  <a:lnTo>
                    <a:pt x="4931" y="314"/>
                  </a:lnTo>
                  <a:lnTo>
                    <a:pt x="4986" y="341"/>
                  </a:lnTo>
                  <a:lnTo>
                    <a:pt x="5040" y="369"/>
                  </a:lnTo>
                  <a:lnTo>
                    <a:pt x="5092" y="398"/>
                  </a:lnTo>
                  <a:lnTo>
                    <a:pt x="5144" y="428"/>
                  </a:lnTo>
                  <a:lnTo>
                    <a:pt x="5194" y="460"/>
                  </a:lnTo>
                  <a:lnTo>
                    <a:pt x="5244" y="492"/>
                  </a:lnTo>
                  <a:lnTo>
                    <a:pt x="5292" y="526"/>
                  </a:lnTo>
                  <a:lnTo>
                    <a:pt x="5340" y="559"/>
                  </a:lnTo>
                  <a:lnTo>
                    <a:pt x="5386" y="594"/>
                  </a:lnTo>
                  <a:lnTo>
                    <a:pt x="5442" y="640"/>
                  </a:lnTo>
                  <a:lnTo>
                    <a:pt x="5496" y="685"/>
                  </a:lnTo>
                  <a:lnTo>
                    <a:pt x="5548" y="732"/>
                  </a:lnTo>
                  <a:lnTo>
                    <a:pt x="5598" y="780"/>
                  </a:lnTo>
                  <a:lnTo>
                    <a:pt x="5647" y="828"/>
                  </a:lnTo>
                  <a:lnTo>
                    <a:pt x="5693" y="877"/>
                  </a:lnTo>
                  <a:lnTo>
                    <a:pt x="5739" y="926"/>
                  </a:lnTo>
                  <a:lnTo>
                    <a:pt x="5782" y="976"/>
                  </a:lnTo>
                  <a:lnTo>
                    <a:pt x="5824" y="1028"/>
                  </a:lnTo>
                  <a:lnTo>
                    <a:pt x="5863" y="1079"/>
                  </a:lnTo>
                  <a:lnTo>
                    <a:pt x="5901" y="1132"/>
                  </a:lnTo>
                  <a:lnTo>
                    <a:pt x="5937" y="1186"/>
                  </a:lnTo>
                  <a:lnTo>
                    <a:pt x="5971" y="1239"/>
                  </a:lnTo>
                  <a:lnTo>
                    <a:pt x="6004" y="1295"/>
                  </a:lnTo>
                  <a:lnTo>
                    <a:pt x="6034" y="1351"/>
                  </a:lnTo>
                  <a:lnTo>
                    <a:pt x="6063" y="1406"/>
                  </a:lnTo>
                  <a:lnTo>
                    <a:pt x="6090" y="1464"/>
                  </a:lnTo>
                  <a:lnTo>
                    <a:pt x="6116" y="1522"/>
                  </a:lnTo>
                  <a:lnTo>
                    <a:pt x="6139" y="1580"/>
                  </a:lnTo>
                  <a:lnTo>
                    <a:pt x="6161" y="1640"/>
                  </a:lnTo>
                  <a:lnTo>
                    <a:pt x="6180" y="1701"/>
                  </a:lnTo>
                  <a:lnTo>
                    <a:pt x="6200" y="1763"/>
                  </a:lnTo>
                  <a:lnTo>
                    <a:pt x="6216" y="1825"/>
                  </a:lnTo>
                  <a:lnTo>
                    <a:pt x="6231" y="1889"/>
                  </a:lnTo>
                  <a:lnTo>
                    <a:pt x="6243" y="1953"/>
                  </a:lnTo>
                  <a:lnTo>
                    <a:pt x="6255" y="2019"/>
                  </a:lnTo>
                  <a:lnTo>
                    <a:pt x="6264" y="2085"/>
                  </a:lnTo>
                  <a:lnTo>
                    <a:pt x="6272" y="2151"/>
                  </a:lnTo>
                  <a:lnTo>
                    <a:pt x="6278" y="2219"/>
                  </a:lnTo>
                  <a:lnTo>
                    <a:pt x="6282" y="2288"/>
                  </a:lnTo>
                  <a:lnTo>
                    <a:pt x="6285" y="2358"/>
                  </a:lnTo>
                  <a:lnTo>
                    <a:pt x="6286" y="2428"/>
                  </a:lnTo>
                  <a:lnTo>
                    <a:pt x="6285" y="2498"/>
                  </a:lnTo>
                  <a:lnTo>
                    <a:pt x="6282" y="2566"/>
                  </a:lnTo>
                  <a:lnTo>
                    <a:pt x="6278" y="2634"/>
                  </a:lnTo>
                  <a:lnTo>
                    <a:pt x="6272" y="2701"/>
                  </a:lnTo>
                  <a:lnTo>
                    <a:pt x="6264" y="2768"/>
                  </a:lnTo>
                  <a:lnTo>
                    <a:pt x="6255" y="2834"/>
                  </a:lnTo>
                  <a:lnTo>
                    <a:pt x="6244" y="2899"/>
                  </a:lnTo>
                  <a:lnTo>
                    <a:pt x="6232" y="2963"/>
                  </a:lnTo>
                  <a:lnTo>
                    <a:pt x="6217" y="3027"/>
                  </a:lnTo>
                  <a:lnTo>
                    <a:pt x="6201" y="3091"/>
                  </a:lnTo>
                  <a:lnTo>
                    <a:pt x="6182" y="3153"/>
                  </a:lnTo>
                  <a:lnTo>
                    <a:pt x="6163" y="3214"/>
                  </a:lnTo>
                  <a:lnTo>
                    <a:pt x="6142" y="3275"/>
                  </a:lnTo>
                  <a:lnTo>
                    <a:pt x="6119" y="3336"/>
                  </a:lnTo>
                  <a:lnTo>
                    <a:pt x="6094" y="3396"/>
                  </a:lnTo>
                  <a:lnTo>
                    <a:pt x="6067" y="3454"/>
                  </a:lnTo>
                  <a:lnTo>
                    <a:pt x="6040" y="3512"/>
                  </a:lnTo>
                  <a:lnTo>
                    <a:pt x="6010" y="3569"/>
                  </a:lnTo>
                  <a:lnTo>
                    <a:pt x="5978" y="3625"/>
                  </a:lnTo>
                  <a:lnTo>
                    <a:pt x="5946" y="3680"/>
                  </a:lnTo>
                  <a:lnTo>
                    <a:pt x="5912" y="3734"/>
                  </a:lnTo>
                  <a:lnTo>
                    <a:pt x="5876" y="3786"/>
                  </a:lnTo>
                  <a:lnTo>
                    <a:pt x="5839" y="3838"/>
                  </a:lnTo>
                  <a:lnTo>
                    <a:pt x="5799" y="3889"/>
                  </a:lnTo>
                  <a:lnTo>
                    <a:pt x="5759" y="3938"/>
                  </a:lnTo>
                  <a:lnTo>
                    <a:pt x="5718" y="3987"/>
                  </a:lnTo>
                  <a:lnTo>
                    <a:pt x="5673" y="4034"/>
                  </a:lnTo>
                  <a:lnTo>
                    <a:pt x="5629" y="4081"/>
                  </a:lnTo>
                  <a:lnTo>
                    <a:pt x="5582" y="4127"/>
                  </a:lnTo>
                  <a:lnTo>
                    <a:pt x="5534" y="4170"/>
                  </a:lnTo>
                  <a:lnTo>
                    <a:pt x="5484" y="4214"/>
                  </a:lnTo>
                  <a:lnTo>
                    <a:pt x="5433" y="4256"/>
                  </a:lnTo>
                  <a:lnTo>
                    <a:pt x="5404" y="4278"/>
                  </a:lnTo>
                  <a:lnTo>
                    <a:pt x="5374" y="4301"/>
                  </a:lnTo>
                  <a:lnTo>
                    <a:pt x="5345" y="4323"/>
                  </a:lnTo>
                  <a:lnTo>
                    <a:pt x="5315" y="4343"/>
                  </a:lnTo>
                  <a:lnTo>
                    <a:pt x="5283" y="4364"/>
                  </a:lnTo>
                  <a:lnTo>
                    <a:pt x="5253" y="4384"/>
                  </a:lnTo>
                  <a:lnTo>
                    <a:pt x="5222" y="4403"/>
                  </a:lnTo>
                  <a:lnTo>
                    <a:pt x="5189" y="4420"/>
                  </a:lnTo>
                  <a:lnTo>
                    <a:pt x="5157" y="4438"/>
                  </a:lnTo>
                  <a:lnTo>
                    <a:pt x="5125" y="4455"/>
                  </a:lnTo>
                  <a:lnTo>
                    <a:pt x="5091" y="4471"/>
                  </a:lnTo>
                  <a:lnTo>
                    <a:pt x="5058" y="4486"/>
                  </a:lnTo>
                  <a:lnTo>
                    <a:pt x="5024" y="4501"/>
                  </a:lnTo>
                  <a:lnTo>
                    <a:pt x="4989" y="4515"/>
                  </a:lnTo>
                  <a:lnTo>
                    <a:pt x="4955" y="4528"/>
                  </a:lnTo>
                  <a:lnTo>
                    <a:pt x="4920" y="4541"/>
                  </a:lnTo>
                  <a:lnTo>
                    <a:pt x="4884" y="4553"/>
                  </a:lnTo>
                  <a:lnTo>
                    <a:pt x="4849" y="4564"/>
                  </a:lnTo>
                  <a:lnTo>
                    <a:pt x="4813" y="4575"/>
                  </a:lnTo>
                  <a:lnTo>
                    <a:pt x="4777" y="4584"/>
                  </a:lnTo>
                  <a:lnTo>
                    <a:pt x="4741" y="4593"/>
                  </a:lnTo>
                  <a:lnTo>
                    <a:pt x="4704" y="4601"/>
                  </a:lnTo>
                  <a:lnTo>
                    <a:pt x="4668" y="4608"/>
                  </a:lnTo>
                  <a:lnTo>
                    <a:pt x="4632" y="4616"/>
                  </a:lnTo>
                  <a:lnTo>
                    <a:pt x="4594" y="4621"/>
                  </a:lnTo>
                  <a:lnTo>
                    <a:pt x="4558" y="4626"/>
                  </a:lnTo>
                  <a:lnTo>
                    <a:pt x="4521" y="4631"/>
                  </a:lnTo>
                  <a:lnTo>
                    <a:pt x="4483" y="4634"/>
                  </a:lnTo>
                  <a:lnTo>
                    <a:pt x="4446" y="4637"/>
                  </a:lnTo>
                  <a:lnTo>
                    <a:pt x="4409" y="4639"/>
                  </a:lnTo>
                  <a:lnTo>
                    <a:pt x="4370" y="4640"/>
                  </a:lnTo>
                  <a:lnTo>
                    <a:pt x="4333" y="4640"/>
                  </a:lnTo>
                  <a:lnTo>
                    <a:pt x="4289" y="4640"/>
                  </a:lnTo>
                  <a:lnTo>
                    <a:pt x="4247" y="4638"/>
                  </a:lnTo>
                  <a:lnTo>
                    <a:pt x="4206" y="4636"/>
                  </a:lnTo>
                  <a:lnTo>
                    <a:pt x="4167" y="4632"/>
                  </a:lnTo>
                  <a:lnTo>
                    <a:pt x="4129" y="4627"/>
                  </a:lnTo>
                  <a:lnTo>
                    <a:pt x="4091" y="4622"/>
                  </a:lnTo>
                  <a:lnTo>
                    <a:pt x="4056" y="4615"/>
                  </a:lnTo>
                  <a:lnTo>
                    <a:pt x="4022" y="4606"/>
                  </a:lnTo>
                  <a:lnTo>
                    <a:pt x="3989" y="4598"/>
                  </a:lnTo>
                  <a:lnTo>
                    <a:pt x="3958" y="4588"/>
                  </a:lnTo>
                  <a:lnTo>
                    <a:pt x="3928" y="4577"/>
                  </a:lnTo>
                  <a:lnTo>
                    <a:pt x="3898" y="4565"/>
                  </a:lnTo>
                  <a:lnTo>
                    <a:pt x="3871" y="4552"/>
                  </a:lnTo>
                  <a:lnTo>
                    <a:pt x="3845" y="4538"/>
                  </a:lnTo>
                  <a:lnTo>
                    <a:pt x="3821" y="4522"/>
                  </a:lnTo>
                  <a:lnTo>
                    <a:pt x="3797" y="4506"/>
                  </a:lnTo>
                  <a:lnTo>
                    <a:pt x="3774" y="4490"/>
                  </a:lnTo>
                  <a:lnTo>
                    <a:pt x="3754" y="4472"/>
                  </a:lnTo>
                  <a:lnTo>
                    <a:pt x="3734" y="4452"/>
                  </a:lnTo>
                  <a:lnTo>
                    <a:pt x="3716" y="4431"/>
                  </a:lnTo>
                  <a:lnTo>
                    <a:pt x="3698" y="4410"/>
                  </a:lnTo>
                  <a:lnTo>
                    <a:pt x="3682" y="4388"/>
                  </a:lnTo>
                  <a:lnTo>
                    <a:pt x="3668" y="4364"/>
                  </a:lnTo>
                  <a:lnTo>
                    <a:pt x="3655" y="4340"/>
                  </a:lnTo>
                  <a:lnTo>
                    <a:pt x="3643" y="4314"/>
                  </a:lnTo>
                  <a:lnTo>
                    <a:pt x="3633" y="4288"/>
                  </a:lnTo>
                  <a:lnTo>
                    <a:pt x="3624" y="4260"/>
                  </a:lnTo>
                  <a:lnTo>
                    <a:pt x="3616" y="4231"/>
                  </a:lnTo>
                  <a:lnTo>
                    <a:pt x="3608" y="4201"/>
                  </a:lnTo>
                  <a:lnTo>
                    <a:pt x="3603" y="4170"/>
                  </a:lnTo>
                  <a:lnTo>
                    <a:pt x="3599" y="4139"/>
                  </a:lnTo>
                  <a:lnTo>
                    <a:pt x="3596" y="4105"/>
                  </a:lnTo>
                  <a:close/>
                  <a:moveTo>
                    <a:pt x="3720" y="2655"/>
                  </a:moveTo>
                  <a:lnTo>
                    <a:pt x="3716" y="2624"/>
                  </a:lnTo>
                  <a:lnTo>
                    <a:pt x="3711" y="2594"/>
                  </a:lnTo>
                  <a:lnTo>
                    <a:pt x="3704" y="2564"/>
                  </a:lnTo>
                  <a:lnTo>
                    <a:pt x="3698" y="2536"/>
                  </a:lnTo>
                  <a:lnTo>
                    <a:pt x="3690" y="2509"/>
                  </a:lnTo>
                  <a:lnTo>
                    <a:pt x="3682" y="2481"/>
                  </a:lnTo>
                  <a:lnTo>
                    <a:pt x="3673" y="2456"/>
                  </a:lnTo>
                  <a:lnTo>
                    <a:pt x="3663" y="2431"/>
                  </a:lnTo>
                  <a:lnTo>
                    <a:pt x="3653" y="2408"/>
                  </a:lnTo>
                  <a:lnTo>
                    <a:pt x="3641" y="2384"/>
                  </a:lnTo>
                  <a:lnTo>
                    <a:pt x="3629" y="2363"/>
                  </a:lnTo>
                  <a:lnTo>
                    <a:pt x="3615" y="2342"/>
                  </a:lnTo>
                  <a:lnTo>
                    <a:pt x="3600" y="2321"/>
                  </a:lnTo>
                  <a:lnTo>
                    <a:pt x="3586" y="2302"/>
                  </a:lnTo>
                  <a:lnTo>
                    <a:pt x="3570" y="2285"/>
                  </a:lnTo>
                  <a:lnTo>
                    <a:pt x="3553" y="2268"/>
                  </a:lnTo>
                  <a:lnTo>
                    <a:pt x="3536" y="2252"/>
                  </a:lnTo>
                  <a:lnTo>
                    <a:pt x="3518" y="2236"/>
                  </a:lnTo>
                  <a:lnTo>
                    <a:pt x="3498" y="2222"/>
                  </a:lnTo>
                  <a:lnTo>
                    <a:pt x="3479" y="2209"/>
                  </a:lnTo>
                  <a:lnTo>
                    <a:pt x="3459" y="2197"/>
                  </a:lnTo>
                  <a:lnTo>
                    <a:pt x="3438" y="2186"/>
                  </a:lnTo>
                  <a:lnTo>
                    <a:pt x="3416" y="2177"/>
                  </a:lnTo>
                  <a:lnTo>
                    <a:pt x="3393" y="2168"/>
                  </a:lnTo>
                  <a:lnTo>
                    <a:pt x="3370" y="2159"/>
                  </a:lnTo>
                  <a:lnTo>
                    <a:pt x="3346" y="2152"/>
                  </a:lnTo>
                  <a:lnTo>
                    <a:pt x="3322" y="2147"/>
                  </a:lnTo>
                  <a:lnTo>
                    <a:pt x="3295" y="2142"/>
                  </a:lnTo>
                  <a:lnTo>
                    <a:pt x="3270" y="2139"/>
                  </a:lnTo>
                  <a:lnTo>
                    <a:pt x="3243" y="2136"/>
                  </a:lnTo>
                  <a:lnTo>
                    <a:pt x="3216" y="2134"/>
                  </a:lnTo>
                  <a:lnTo>
                    <a:pt x="3187" y="2134"/>
                  </a:lnTo>
                  <a:lnTo>
                    <a:pt x="3166" y="2134"/>
                  </a:lnTo>
                  <a:lnTo>
                    <a:pt x="3144" y="2135"/>
                  </a:lnTo>
                  <a:lnTo>
                    <a:pt x="3123" y="2137"/>
                  </a:lnTo>
                  <a:lnTo>
                    <a:pt x="3102" y="2140"/>
                  </a:lnTo>
                  <a:lnTo>
                    <a:pt x="3081" y="2144"/>
                  </a:lnTo>
                  <a:lnTo>
                    <a:pt x="3061" y="2148"/>
                  </a:lnTo>
                  <a:lnTo>
                    <a:pt x="3041" y="2153"/>
                  </a:lnTo>
                  <a:lnTo>
                    <a:pt x="3020" y="2159"/>
                  </a:lnTo>
                  <a:lnTo>
                    <a:pt x="2999" y="2167"/>
                  </a:lnTo>
                  <a:lnTo>
                    <a:pt x="2980" y="2174"/>
                  </a:lnTo>
                  <a:lnTo>
                    <a:pt x="2960" y="2182"/>
                  </a:lnTo>
                  <a:lnTo>
                    <a:pt x="2941" y="2191"/>
                  </a:lnTo>
                  <a:lnTo>
                    <a:pt x="2921" y="2201"/>
                  </a:lnTo>
                  <a:lnTo>
                    <a:pt x="2901" y="2212"/>
                  </a:lnTo>
                  <a:lnTo>
                    <a:pt x="2882" y="2223"/>
                  </a:lnTo>
                  <a:lnTo>
                    <a:pt x="2864" y="2235"/>
                  </a:lnTo>
                  <a:lnTo>
                    <a:pt x="2845" y="2249"/>
                  </a:lnTo>
                  <a:lnTo>
                    <a:pt x="2826" y="2263"/>
                  </a:lnTo>
                  <a:lnTo>
                    <a:pt x="2807" y="2277"/>
                  </a:lnTo>
                  <a:lnTo>
                    <a:pt x="2789" y="2293"/>
                  </a:lnTo>
                  <a:lnTo>
                    <a:pt x="2771" y="2309"/>
                  </a:lnTo>
                  <a:lnTo>
                    <a:pt x="2753" y="2327"/>
                  </a:lnTo>
                  <a:lnTo>
                    <a:pt x="2735" y="2344"/>
                  </a:lnTo>
                  <a:lnTo>
                    <a:pt x="2718" y="2363"/>
                  </a:lnTo>
                  <a:lnTo>
                    <a:pt x="2700" y="2382"/>
                  </a:lnTo>
                  <a:lnTo>
                    <a:pt x="2682" y="2402"/>
                  </a:lnTo>
                  <a:lnTo>
                    <a:pt x="2665" y="2424"/>
                  </a:lnTo>
                  <a:lnTo>
                    <a:pt x="2649" y="2445"/>
                  </a:lnTo>
                  <a:lnTo>
                    <a:pt x="2632" y="2467"/>
                  </a:lnTo>
                  <a:lnTo>
                    <a:pt x="2615" y="2491"/>
                  </a:lnTo>
                  <a:lnTo>
                    <a:pt x="2598" y="2515"/>
                  </a:lnTo>
                  <a:lnTo>
                    <a:pt x="2582" y="2540"/>
                  </a:lnTo>
                  <a:lnTo>
                    <a:pt x="2566" y="2565"/>
                  </a:lnTo>
                  <a:lnTo>
                    <a:pt x="2550" y="2592"/>
                  </a:lnTo>
                  <a:lnTo>
                    <a:pt x="2535" y="2617"/>
                  </a:lnTo>
                  <a:lnTo>
                    <a:pt x="2521" y="2644"/>
                  </a:lnTo>
                  <a:lnTo>
                    <a:pt x="2506" y="2671"/>
                  </a:lnTo>
                  <a:lnTo>
                    <a:pt x="2493" y="2698"/>
                  </a:lnTo>
                  <a:lnTo>
                    <a:pt x="2480" y="2725"/>
                  </a:lnTo>
                  <a:lnTo>
                    <a:pt x="2467" y="2753"/>
                  </a:lnTo>
                  <a:lnTo>
                    <a:pt x="2456" y="2780"/>
                  </a:lnTo>
                  <a:lnTo>
                    <a:pt x="2444" y="2808"/>
                  </a:lnTo>
                  <a:lnTo>
                    <a:pt x="2433" y="2837"/>
                  </a:lnTo>
                  <a:lnTo>
                    <a:pt x="2423" y="2865"/>
                  </a:lnTo>
                  <a:lnTo>
                    <a:pt x="2412" y="2894"/>
                  </a:lnTo>
                  <a:lnTo>
                    <a:pt x="2403" y="2924"/>
                  </a:lnTo>
                  <a:lnTo>
                    <a:pt x="2394" y="2953"/>
                  </a:lnTo>
                  <a:lnTo>
                    <a:pt x="2386" y="2983"/>
                  </a:lnTo>
                  <a:lnTo>
                    <a:pt x="2378" y="3013"/>
                  </a:lnTo>
                  <a:lnTo>
                    <a:pt x="2370" y="3043"/>
                  </a:lnTo>
                  <a:lnTo>
                    <a:pt x="2363" y="3074"/>
                  </a:lnTo>
                  <a:lnTo>
                    <a:pt x="2357" y="3105"/>
                  </a:lnTo>
                  <a:lnTo>
                    <a:pt x="2351" y="3136"/>
                  </a:lnTo>
                  <a:lnTo>
                    <a:pt x="2346" y="3168"/>
                  </a:lnTo>
                  <a:lnTo>
                    <a:pt x="2341" y="3199"/>
                  </a:lnTo>
                  <a:lnTo>
                    <a:pt x="2337" y="3232"/>
                  </a:lnTo>
                  <a:lnTo>
                    <a:pt x="2333" y="3264"/>
                  </a:lnTo>
                  <a:lnTo>
                    <a:pt x="2330" y="3296"/>
                  </a:lnTo>
                  <a:lnTo>
                    <a:pt x="2327" y="3329"/>
                  </a:lnTo>
                  <a:lnTo>
                    <a:pt x="2325" y="3362"/>
                  </a:lnTo>
                  <a:lnTo>
                    <a:pt x="2323" y="3396"/>
                  </a:lnTo>
                  <a:lnTo>
                    <a:pt x="2322" y="3429"/>
                  </a:lnTo>
                  <a:lnTo>
                    <a:pt x="2321" y="3463"/>
                  </a:lnTo>
                  <a:lnTo>
                    <a:pt x="2321" y="3498"/>
                  </a:lnTo>
                  <a:lnTo>
                    <a:pt x="2321" y="3532"/>
                  </a:lnTo>
                  <a:lnTo>
                    <a:pt x="2322" y="3565"/>
                  </a:lnTo>
                  <a:lnTo>
                    <a:pt x="2325" y="3597"/>
                  </a:lnTo>
                  <a:lnTo>
                    <a:pt x="2328" y="3628"/>
                  </a:lnTo>
                  <a:lnTo>
                    <a:pt x="2332" y="3659"/>
                  </a:lnTo>
                  <a:lnTo>
                    <a:pt x="2337" y="3688"/>
                  </a:lnTo>
                  <a:lnTo>
                    <a:pt x="2343" y="3717"/>
                  </a:lnTo>
                  <a:lnTo>
                    <a:pt x="2350" y="3744"/>
                  </a:lnTo>
                  <a:lnTo>
                    <a:pt x="2357" y="3770"/>
                  </a:lnTo>
                  <a:lnTo>
                    <a:pt x="2366" y="3795"/>
                  </a:lnTo>
                  <a:lnTo>
                    <a:pt x="2375" y="3820"/>
                  </a:lnTo>
                  <a:lnTo>
                    <a:pt x="2386" y="3843"/>
                  </a:lnTo>
                  <a:lnTo>
                    <a:pt x="2397" y="3866"/>
                  </a:lnTo>
                  <a:lnTo>
                    <a:pt x="2409" y="3888"/>
                  </a:lnTo>
                  <a:lnTo>
                    <a:pt x="2424" y="3908"/>
                  </a:lnTo>
                  <a:lnTo>
                    <a:pt x="2438" y="3927"/>
                  </a:lnTo>
                  <a:lnTo>
                    <a:pt x="2452" y="3946"/>
                  </a:lnTo>
                  <a:lnTo>
                    <a:pt x="2468" y="3964"/>
                  </a:lnTo>
                  <a:lnTo>
                    <a:pt x="2484" y="3979"/>
                  </a:lnTo>
                  <a:lnTo>
                    <a:pt x="2501" y="3994"/>
                  </a:lnTo>
                  <a:lnTo>
                    <a:pt x="2520" y="4008"/>
                  </a:lnTo>
                  <a:lnTo>
                    <a:pt x="2538" y="4020"/>
                  </a:lnTo>
                  <a:lnTo>
                    <a:pt x="2557" y="4031"/>
                  </a:lnTo>
                  <a:lnTo>
                    <a:pt x="2577" y="4042"/>
                  </a:lnTo>
                  <a:lnTo>
                    <a:pt x="2598" y="4051"/>
                  </a:lnTo>
                  <a:lnTo>
                    <a:pt x="2620" y="4058"/>
                  </a:lnTo>
                  <a:lnTo>
                    <a:pt x="2642" y="4065"/>
                  </a:lnTo>
                  <a:lnTo>
                    <a:pt x="2665" y="4070"/>
                  </a:lnTo>
                  <a:lnTo>
                    <a:pt x="2688" y="4074"/>
                  </a:lnTo>
                  <a:lnTo>
                    <a:pt x="2712" y="4077"/>
                  </a:lnTo>
                  <a:lnTo>
                    <a:pt x="2738" y="4079"/>
                  </a:lnTo>
                  <a:lnTo>
                    <a:pt x="2764" y="4079"/>
                  </a:lnTo>
                  <a:lnTo>
                    <a:pt x="2798" y="4078"/>
                  </a:lnTo>
                  <a:lnTo>
                    <a:pt x="2833" y="4076"/>
                  </a:lnTo>
                  <a:lnTo>
                    <a:pt x="2866" y="4072"/>
                  </a:lnTo>
                  <a:lnTo>
                    <a:pt x="2899" y="4067"/>
                  </a:lnTo>
                  <a:lnTo>
                    <a:pt x="2932" y="4060"/>
                  </a:lnTo>
                  <a:lnTo>
                    <a:pt x="2964" y="4052"/>
                  </a:lnTo>
                  <a:lnTo>
                    <a:pt x="2995" y="4042"/>
                  </a:lnTo>
                  <a:lnTo>
                    <a:pt x="3027" y="4029"/>
                  </a:lnTo>
                  <a:lnTo>
                    <a:pt x="3057" y="4016"/>
                  </a:lnTo>
                  <a:lnTo>
                    <a:pt x="3087" y="4002"/>
                  </a:lnTo>
                  <a:lnTo>
                    <a:pt x="3117" y="3986"/>
                  </a:lnTo>
                  <a:lnTo>
                    <a:pt x="3146" y="3968"/>
                  </a:lnTo>
                  <a:lnTo>
                    <a:pt x="3174" y="3948"/>
                  </a:lnTo>
                  <a:lnTo>
                    <a:pt x="3202" y="3928"/>
                  </a:lnTo>
                  <a:lnTo>
                    <a:pt x="3230" y="3906"/>
                  </a:lnTo>
                  <a:lnTo>
                    <a:pt x="3257" y="3882"/>
                  </a:lnTo>
                  <a:lnTo>
                    <a:pt x="3282" y="3857"/>
                  </a:lnTo>
                  <a:lnTo>
                    <a:pt x="3307" y="3831"/>
                  </a:lnTo>
                  <a:lnTo>
                    <a:pt x="3332" y="3804"/>
                  </a:lnTo>
                  <a:lnTo>
                    <a:pt x="3355" y="3775"/>
                  </a:lnTo>
                  <a:lnTo>
                    <a:pt x="3377" y="3746"/>
                  </a:lnTo>
                  <a:lnTo>
                    <a:pt x="3397" y="3716"/>
                  </a:lnTo>
                  <a:lnTo>
                    <a:pt x="3418" y="3684"/>
                  </a:lnTo>
                  <a:lnTo>
                    <a:pt x="3437" y="3652"/>
                  </a:lnTo>
                  <a:lnTo>
                    <a:pt x="3454" y="3617"/>
                  </a:lnTo>
                  <a:lnTo>
                    <a:pt x="3471" y="3583"/>
                  </a:lnTo>
                  <a:lnTo>
                    <a:pt x="3486" y="3547"/>
                  </a:lnTo>
                  <a:lnTo>
                    <a:pt x="3501" y="3511"/>
                  </a:lnTo>
                  <a:lnTo>
                    <a:pt x="3516" y="3474"/>
                  </a:lnTo>
                  <a:lnTo>
                    <a:pt x="3528" y="3434"/>
                  </a:lnTo>
                  <a:lnTo>
                    <a:pt x="3540" y="3395"/>
                  </a:lnTo>
                  <a:lnTo>
                    <a:pt x="3550" y="3354"/>
                  </a:lnTo>
                  <a:lnTo>
                    <a:pt x="3720" y="2655"/>
                  </a:lnTo>
                  <a:close/>
                </a:path>
              </a:pathLst>
            </a:custGeom>
            <a:solidFill>
              <a:srgbClr val="1F1A17"/>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0" name="Freeform 61"/>
            <p:cNvSpPr>
              <a:spLocks noEditPoints="1"/>
            </p:cNvSpPr>
            <p:nvPr/>
          </p:nvSpPr>
          <p:spPr bwMode="auto">
            <a:xfrm>
              <a:off x="3147" y="1369"/>
              <a:ext cx="242" cy="232"/>
            </a:xfrm>
            <a:custGeom>
              <a:avLst/>
              <a:gdLst>
                <a:gd name="T0" fmla="*/ 121 w 6285"/>
                <a:gd name="T1" fmla="*/ 174 h 6039"/>
                <a:gd name="T2" fmla="*/ 97 w 6285"/>
                <a:gd name="T3" fmla="*/ 178 h 6039"/>
                <a:gd name="T4" fmla="*/ 78 w 6285"/>
                <a:gd name="T5" fmla="*/ 173 h 6039"/>
                <a:gd name="T6" fmla="*/ 65 w 6285"/>
                <a:gd name="T7" fmla="*/ 161 h 6039"/>
                <a:gd name="T8" fmla="*/ 59 w 6285"/>
                <a:gd name="T9" fmla="*/ 143 h 6039"/>
                <a:gd name="T10" fmla="*/ 60 w 6285"/>
                <a:gd name="T11" fmla="*/ 114 h 6039"/>
                <a:gd name="T12" fmla="*/ 73 w 6285"/>
                <a:gd name="T13" fmla="*/ 86 h 6039"/>
                <a:gd name="T14" fmla="*/ 95 w 6285"/>
                <a:gd name="T15" fmla="*/ 67 h 6039"/>
                <a:gd name="T16" fmla="*/ 122 w 6285"/>
                <a:gd name="T17" fmla="*/ 61 h 6039"/>
                <a:gd name="T18" fmla="*/ 141 w 6285"/>
                <a:gd name="T19" fmla="*/ 66 h 6039"/>
                <a:gd name="T20" fmla="*/ 164 w 6285"/>
                <a:gd name="T21" fmla="*/ 144 h 6039"/>
                <a:gd name="T22" fmla="*/ 166 w 6285"/>
                <a:gd name="T23" fmla="*/ 153 h 6039"/>
                <a:gd name="T24" fmla="*/ 178 w 6285"/>
                <a:gd name="T25" fmla="*/ 154 h 6039"/>
                <a:gd name="T26" fmla="*/ 195 w 6285"/>
                <a:gd name="T27" fmla="*/ 145 h 6039"/>
                <a:gd name="T28" fmla="*/ 209 w 6285"/>
                <a:gd name="T29" fmla="*/ 125 h 6039"/>
                <a:gd name="T30" fmla="*/ 216 w 6285"/>
                <a:gd name="T31" fmla="*/ 100 h 6039"/>
                <a:gd name="T32" fmla="*/ 211 w 6285"/>
                <a:gd name="T33" fmla="*/ 69 h 6039"/>
                <a:gd name="T34" fmla="*/ 193 w 6285"/>
                <a:gd name="T35" fmla="*/ 43 h 6039"/>
                <a:gd name="T36" fmla="*/ 162 w 6285"/>
                <a:gd name="T37" fmla="*/ 28 h 6039"/>
                <a:gd name="T38" fmla="*/ 123 w 6285"/>
                <a:gd name="T39" fmla="*/ 24 h 6039"/>
                <a:gd name="T40" fmla="*/ 86 w 6285"/>
                <a:gd name="T41" fmla="*/ 33 h 6039"/>
                <a:gd name="T42" fmla="*/ 59 w 6285"/>
                <a:gd name="T43" fmla="*/ 50 h 6039"/>
                <a:gd name="T44" fmla="*/ 42 w 6285"/>
                <a:gd name="T45" fmla="*/ 70 h 6039"/>
                <a:gd name="T46" fmla="*/ 31 w 6285"/>
                <a:gd name="T47" fmla="*/ 94 h 6039"/>
                <a:gd name="T48" fmla="*/ 27 w 6285"/>
                <a:gd name="T49" fmla="*/ 121 h 6039"/>
                <a:gd name="T50" fmla="*/ 33 w 6285"/>
                <a:gd name="T51" fmla="*/ 159 h 6039"/>
                <a:gd name="T52" fmla="*/ 56 w 6285"/>
                <a:gd name="T53" fmla="*/ 188 h 6039"/>
                <a:gd name="T54" fmla="*/ 92 w 6285"/>
                <a:gd name="T55" fmla="*/ 205 h 6039"/>
                <a:gd name="T56" fmla="*/ 138 w 6285"/>
                <a:gd name="T57" fmla="*/ 208 h 6039"/>
                <a:gd name="T58" fmla="*/ 182 w 6285"/>
                <a:gd name="T59" fmla="*/ 195 h 6039"/>
                <a:gd name="T60" fmla="*/ 188 w 6285"/>
                <a:gd name="T61" fmla="*/ 217 h 6039"/>
                <a:gd name="T62" fmla="*/ 137 w 6285"/>
                <a:gd name="T63" fmla="*/ 231 h 6039"/>
                <a:gd name="T64" fmla="*/ 85 w 6285"/>
                <a:gd name="T65" fmla="*/ 228 h 6039"/>
                <a:gd name="T66" fmla="*/ 42 w 6285"/>
                <a:gd name="T67" fmla="*/ 209 h 6039"/>
                <a:gd name="T68" fmla="*/ 21 w 6285"/>
                <a:gd name="T69" fmla="*/ 189 h 6039"/>
                <a:gd name="T70" fmla="*/ 8 w 6285"/>
                <a:gd name="T71" fmla="*/ 167 h 6039"/>
                <a:gd name="T72" fmla="*/ 1 w 6285"/>
                <a:gd name="T73" fmla="*/ 142 h 6039"/>
                <a:gd name="T74" fmla="*/ 1 w 6285"/>
                <a:gd name="T75" fmla="*/ 106 h 6039"/>
                <a:gd name="T76" fmla="*/ 16 w 6285"/>
                <a:gd name="T77" fmla="*/ 63 h 6039"/>
                <a:gd name="T78" fmla="*/ 41 w 6285"/>
                <a:gd name="T79" fmla="*/ 33 h 6039"/>
                <a:gd name="T80" fmla="*/ 68 w 6285"/>
                <a:gd name="T81" fmla="*/ 15 h 6039"/>
                <a:gd name="T82" fmla="*/ 100 w 6285"/>
                <a:gd name="T83" fmla="*/ 3 h 6039"/>
                <a:gd name="T84" fmla="*/ 136 w 6285"/>
                <a:gd name="T85" fmla="*/ 0 h 6039"/>
                <a:gd name="T86" fmla="*/ 181 w 6285"/>
                <a:gd name="T87" fmla="*/ 8 h 6039"/>
                <a:gd name="T88" fmla="*/ 217 w 6285"/>
                <a:gd name="T89" fmla="*/ 32 h 6039"/>
                <a:gd name="T90" fmla="*/ 239 w 6285"/>
                <a:gd name="T91" fmla="*/ 70 h 6039"/>
                <a:gd name="T92" fmla="*/ 239 w 6285"/>
                <a:gd name="T93" fmla="*/ 116 h 6039"/>
                <a:gd name="T94" fmla="*/ 218 w 6285"/>
                <a:gd name="T95" fmla="*/ 155 h 6039"/>
                <a:gd name="T96" fmla="*/ 193 w 6285"/>
                <a:gd name="T97" fmla="*/ 173 h 6039"/>
                <a:gd name="T98" fmla="*/ 168 w 6285"/>
                <a:gd name="T99" fmla="*/ 178 h 6039"/>
                <a:gd name="T100" fmla="*/ 145 w 6285"/>
                <a:gd name="T101" fmla="*/ 172 h 6039"/>
                <a:gd name="T102" fmla="*/ 143 w 6285"/>
                <a:gd name="T103" fmla="*/ 100 h 6039"/>
                <a:gd name="T104" fmla="*/ 134 w 6285"/>
                <a:gd name="T105" fmla="*/ 85 h 6039"/>
                <a:gd name="T106" fmla="*/ 118 w 6285"/>
                <a:gd name="T107" fmla="*/ 83 h 6039"/>
                <a:gd name="T108" fmla="*/ 105 w 6285"/>
                <a:gd name="T109" fmla="*/ 91 h 6039"/>
                <a:gd name="T110" fmla="*/ 94 w 6285"/>
                <a:gd name="T111" fmla="*/ 108 h 6039"/>
                <a:gd name="T112" fmla="*/ 89 w 6285"/>
                <a:gd name="T113" fmla="*/ 129 h 6039"/>
                <a:gd name="T114" fmla="*/ 93 w 6285"/>
                <a:gd name="T115" fmla="*/ 149 h 6039"/>
                <a:gd name="T116" fmla="*/ 106 w 6285"/>
                <a:gd name="T117" fmla="*/ 157 h 6039"/>
                <a:gd name="T118" fmla="*/ 127 w 6285"/>
                <a:gd name="T119" fmla="*/ 147 h 6039"/>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Lst>
              <a:ahLst/>
              <a:cxnLst>
                <a:cxn ang="T120">
                  <a:pos x="T0" y="T1"/>
                </a:cxn>
                <a:cxn ang="T121">
                  <a:pos x="T2" y="T3"/>
                </a:cxn>
                <a:cxn ang="T122">
                  <a:pos x="T4" y="T5"/>
                </a:cxn>
                <a:cxn ang="T123">
                  <a:pos x="T6" y="T7"/>
                </a:cxn>
                <a:cxn ang="T124">
                  <a:pos x="T8" y="T9"/>
                </a:cxn>
                <a:cxn ang="T125">
                  <a:pos x="T10" y="T11"/>
                </a:cxn>
                <a:cxn ang="T126">
                  <a:pos x="T12" y="T13"/>
                </a:cxn>
                <a:cxn ang="T127">
                  <a:pos x="T14" y="T15"/>
                </a:cxn>
                <a:cxn ang="T128">
                  <a:pos x="T16" y="T17"/>
                </a:cxn>
                <a:cxn ang="T129">
                  <a:pos x="T18" y="T19"/>
                </a:cxn>
                <a:cxn ang="T130">
                  <a:pos x="T20" y="T21"/>
                </a:cxn>
                <a:cxn ang="T131">
                  <a:pos x="T22" y="T23"/>
                </a:cxn>
                <a:cxn ang="T132">
                  <a:pos x="T24" y="T25"/>
                </a:cxn>
                <a:cxn ang="T133">
                  <a:pos x="T26" y="T27"/>
                </a:cxn>
                <a:cxn ang="T134">
                  <a:pos x="T28" y="T29"/>
                </a:cxn>
                <a:cxn ang="T135">
                  <a:pos x="T30" y="T31"/>
                </a:cxn>
                <a:cxn ang="T136">
                  <a:pos x="T32" y="T33"/>
                </a:cxn>
                <a:cxn ang="T137">
                  <a:pos x="T34" y="T35"/>
                </a:cxn>
                <a:cxn ang="T138">
                  <a:pos x="T36" y="T37"/>
                </a:cxn>
                <a:cxn ang="T139">
                  <a:pos x="T38" y="T39"/>
                </a:cxn>
                <a:cxn ang="T140">
                  <a:pos x="T40" y="T41"/>
                </a:cxn>
                <a:cxn ang="T141">
                  <a:pos x="T42" y="T43"/>
                </a:cxn>
                <a:cxn ang="T142">
                  <a:pos x="T44" y="T45"/>
                </a:cxn>
                <a:cxn ang="T143">
                  <a:pos x="T46" y="T47"/>
                </a:cxn>
                <a:cxn ang="T144">
                  <a:pos x="T48" y="T49"/>
                </a:cxn>
                <a:cxn ang="T145">
                  <a:pos x="T50" y="T51"/>
                </a:cxn>
                <a:cxn ang="T146">
                  <a:pos x="T52" y="T53"/>
                </a:cxn>
                <a:cxn ang="T147">
                  <a:pos x="T54" y="T55"/>
                </a:cxn>
                <a:cxn ang="T148">
                  <a:pos x="T56" y="T57"/>
                </a:cxn>
                <a:cxn ang="T149">
                  <a:pos x="T58" y="T59"/>
                </a:cxn>
                <a:cxn ang="T150">
                  <a:pos x="T60" y="T61"/>
                </a:cxn>
                <a:cxn ang="T151">
                  <a:pos x="T62" y="T63"/>
                </a:cxn>
                <a:cxn ang="T152">
                  <a:pos x="T64" y="T65"/>
                </a:cxn>
                <a:cxn ang="T153">
                  <a:pos x="T66" y="T67"/>
                </a:cxn>
                <a:cxn ang="T154">
                  <a:pos x="T68" y="T69"/>
                </a:cxn>
                <a:cxn ang="T155">
                  <a:pos x="T70" y="T71"/>
                </a:cxn>
                <a:cxn ang="T156">
                  <a:pos x="T72" y="T73"/>
                </a:cxn>
                <a:cxn ang="T157">
                  <a:pos x="T74" y="T75"/>
                </a:cxn>
                <a:cxn ang="T158">
                  <a:pos x="T76" y="T77"/>
                </a:cxn>
                <a:cxn ang="T159">
                  <a:pos x="T78" y="T79"/>
                </a:cxn>
                <a:cxn ang="T160">
                  <a:pos x="T80" y="T81"/>
                </a:cxn>
                <a:cxn ang="T161">
                  <a:pos x="T82" y="T83"/>
                </a:cxn>
                <a:cxn ang="T162">
                  <a:pos x="T84" y="T85"/>
                </a:cxn>
                <a:cxn ang="T163">
                  <a:pos x="T86" y="T87"/>
                </a:cxn>
                <a:cxn ang="T164">
                  <a:pos x="T88" y="T89"/>
                </a:cxn>
                <a:cxn ang="T165">
                  <a:pos x="T90" y="T91"/>
                </a:cxn>
                <a:cxn ang="T166">
                  <a:pos x="T92" y="T93"/>
                </a:cxn>
                <a:cxn ang="T167">
                  <a:pos x="T94" y="T95"/>
                </a:cxn>
                <a:cxn ang="T168">
                  <a:pos x="T96" y="T97"/>
                </a:cxn>
                <a:cxn ang="T169">
                  <a:pos x="T98" y="T99"/>
                </a:cxn>
                <a:cxn ang="T170">
                  <a:pos x="T100" y="T101"/>
                </a:cxn>
                <a:cxn ang="T171">
                  <a:pos x="T102" y="T103"/>
                </a:cxn>
                <a:cxn ang="T172">
                  <a:pos x="T104" y="T105"/>
                </a:cxn>
                <a:cxn ang="T173">
                  <a:pos x="T106" y="T107"/>
                </a:cxn>
                <a:cxn ang="T174">
                  <a:pos x="T108" y="T109"/>
                </a:cxn>
                <a:cxn ang="T175">
                  <a:pos x="T110" y="T111"/>
                </a:cxn>
                <a:cxn ang="T176">
                  <a:pos x="T112" y="T113"/>
                </a:cxn>
                <a:cxn ang="T177">
                  <a:pos x="T114" y="T115"/>
                </a:cxn>
                <a:cxn ang="T178">
                  <a:pos x="T116" y="T117"/>
                </a:cxn>
                <a:cxn ang="T179">
                  <a:pos x="T118" y="T119"/>
                </a:cxn>
              </a:cxnLst>
              <a:rect l="0" t="0" r="r" b="b"/>
              <a:pathLst>
                <a:path w="6285" h="6039">
                  <a:moveTo>
                    <a:pt x="3596" y="4105"/>
                  </a:moveTo>
                  <a:lnTo>
                    <a:pt x="3572" y="4139"/>
                  </a:lnTo>
                  <a:lnTo>
                    <a:pt x="3548" y="4172"/>
                  </a:lnTo>
                  <a:lnTo>
                    <a:pt x="3524" y="4204"/>
                  </a:lnTo>
                  <a:lnTo>
                    <a:pt x="3499" y="4233"/>
                  </a:lnTo>
                  <a:lnTo>
                    <a:pt x="3474" y="4262"/>
                  </a:lnTo>
                  <a:lnTo>
                    <a:pt x="3449" y="4291"/>
                  </a:lnTo>
                  <a:lnTo>
                    <a:pt x="3423" y="4317"/>
                  </a:lnTo>
                  <a:lnTo>
                    <a:pt x="3397" y="4343"/>
                  </a:lnTo>
                  <a:lnTo>
                    <a:pt x="3370" y="4368"/>
                  </a:lnTo>
                  <a:lnTo>
                    <a:pt x="3344" y="4391"/>
                  </a:lnTo>
                  <a:lnTo>
                    <a:pt x="3316" y="4413"/>
                  </a:lnTo>
                  <a:lnTo>
                    <a:pt x="3288" y="4435"/>
                  </a:lnTo>
                  <a:lnTo>
                    <a:pt x="3260" y="4455"/>
                  </a:lnTo>
                  <a:lnTo>
                    <a:pt x="3232" y="4473"/>
                  </a:lnTo>
                  <a:lnTo>
                    <a:pt x="3203" y="4490"/>
                  </a:lnTo>
                  <a:lnTo>
                    <a:pt x="3174" y="4507"/>
                  </a:lnTo>
                  <a:lnTo>
                    <a:pt x="3144" y="4523"/>
                  </a:lnTo>
                  <a:lnTo>
                    <a:pt x="3114" y="4537"/>
                  </a:lnTo>
                  <a:lnTo>
                    <a:pt x="3083" y="4550"/>
                  </a:lnTo>
                  <a:lnTo>
                    <a:pt x="3051" y="4562"/>
                  </a:lnTo>
                  <a:lnTo>
                    <a:pt x="3019" y="4574"/>
                  </a:lnTo>
                  <a:lnTo>
                    <a:pt x="2985" y="4584"/>
                  </a:lnTo>
                  <a:lnTo>
                    <a:pt x="2951" y="4593"/>
                  </a:lnTo>
                  <a:lnTo>
                    <a:pt x="2917" y="4602"/>
                  </a:lnTo>
                  <a:lnTo>
                    <a:pt x="2881" y="4610"/>
                  </a:lnTo>
                  <a:lnTo>
                    <a:pt x="2845" y="4616"/>
                  </a:lnTo>
                  <a:lnTo>
                    <a:pt x="2808" y="4622"/>
                  </a:lnTo>
                  <a:lnTo>
                    <a:pt x="2770" y="4626"/>
                  </a:lnTo>
                  <a:lnTo>
                    <a:pt x="2732" y="4629"/>
                  </a:lnTo>
                  <a:lnTo>
                    <a:pt x="2693" y="4632"/>
                  </a:lnTo>
                  <a:lnTo>
                    <a:pt x="2653" y="4633"/>
                  </a:lnTo>
                  <a:lnTo>
                    <a:pt x="2614" y="4634"/>
                  </a:lnTo>
                  <a:lnTo>
                    <a:pt x="2579" y="4633"/>
                  </a:lnTo>
                  <a:lnTo>
                    <a:pt x="2546" y="4633"/>
                  </a:lnTo>
                  <a:lnTo>
                    <a:pt x="2514" y="4631"/>
                  </a:lnTo>
                  <a:lnTo>
                    <a:pt x="2481" y="4629"/>
                  </a:lnTo>
                  <a:lnTo>
                    <a:pt x="2449" y="4627"/>
                  </a:lnTo>
                  <a:lnTo>
                    <a:pt x="2419" y="4624"/>
                  </a:lnTo>
                  <a:lnTo>
                    <a:pt x="2387" y="4620"/>
                  </a:lnTo>
                  <a:lnTo>
                    <a:pt x="2358" y="4616"/>
                  </a:lnTo>
                  <a:lnTo>
                    <a:pt x="2328" y="4611"/>
                  </a:lnTo>
                  <a:lnTo>
                    <a:pt x="2298" y="4606"/>
                  </a:lnTo>
                  <a:lnTo>
                    <a:pt x="2270" y="4600"/>
                  </a:lnTo>
                  <a:lnTo>
                    <a:pt x="2242" y="4592"/>
                  </a:lnTo>
                  <a:lnTo>
                    <a:pt x="2215" y="4585"/>
                  </a:lnTo>
                  <a:lnTo>
                    <a:pt x="2187" y="4578"/>
                  </a:lnTo>
                  <a:lnTo>
                    <a:pt x="2161" y="4569"/>
                  </a:lnTo>
                  <a:lnTo>
                    <a:pt x="2135" y="4561"/>
                  </a:lnTo>
                  <a:lnTo>
                    <a:pt x="2109" y="4552"/>
                  </a:lnTo>
                  <a:lnTo>
                    <a:pt x="2084" y="4542"/>
                  </a:lnTo>
                  <a:lnTo>
                    <a:pt x="2060" y="4531"/>
                  </a:lnTo>
                  <a:lnTo>
                    <a:pt x="2037" y="4520"/>
                  </a:lnTo>
                  <a:lnTo>
                    <a:pt x="2013" y="4508"/>
                  </a:lnTo>
                  <a:lnTo>
                    <a:pt x="1990" y="4496"/>
                  </a:lnTo>
                  <a:lnTo>
                    <a:pt x="1968" y="4483"/>
                  </a:lnTo>
                  <a:lnTo>
                    <a:pt x="1946" y="4470"/>
                  </a:lnTo>
                  <a:lnTo>
                    <a:pt x="1925" y="4456"/>
                  </a:lnTo>
                  <a:lnTo>
                    <a:pt x="1903" y="4442"/>
                  </a:lnTo>
                  <a:lnTo>
                    <a:pt x="1883" y="4426"/>
                  </a:lnTo>
                  <a:lnTo>
                    <a:pt x="1863" y="4410"/>
                  </a:lnTo>
                  <a:lnTo>
                    <a:pt x="1844" y="4394"/>
                  </a:lnTo>
                  <a:lnTo>
                    <a:pt x="1826" y="4377"/>
                  </a:lnTo>
                  <a:lnTo>
                    <a:pt x="1807" y="4360"/>
                  </a:lnTo>
                  <a:lnTo>
                    <a:pt x="1789" y="4341"/>
                  </a:lnTo>
                  <a:lnTo>
                    <a:pt x="1772" y="4323"/>
                  </a:lnTo>
                  <a:lnTo>
                    <a:pt x="1756" y="4304"/>
                  </a:lnTo>
                  <a:lnTo>
                    <a:pt x="1740" y="4285"/>
                  </a:lnTo>
                  <a:lnTo>
                    <a:pt x="1724" y="4264"/>
                  </a:lnTo>
                  <a:lnTo>
                    <a:pt x="1708" y="4244"/>
                  </a:lnTo>
                  <a:lnTo>
                    <a:pt x="1694" y="4222"/>
                  </a:lnTo>
                  <a:lnTo>
                    <a:pt x="1680" y="4201"/>
                  </a:lnTo>
                  <a:lnTo>
                    <a:pt x="1667" y="4178"/>
                  </a:lnTo>
                  <a:lnTo>
                    <a:pt x="1654" y="4155"/>
                  </a:lnTo>
                  <a:lnTo>
                    <a:pt x="1642" y="4132"/>
                  </a:lnTo>
                  <a:lnTo>
                    <a:pt x="1630" y="4109"/>
                  </a:lnTo>
                  <a:lnTo>
                    <a:pt x="1619" y="4083"/>
                  </a:lnTo>
                  <a:lnTo>
                    <a:pt x="1608" y="4059"/>
                  </a:lnTo>
                  <a:lnTo>
                    <a:pt x="1598" y="4033"/>
                  </a:lnTo>
                  <a:lnTo>
                    <a:pt x="1588" y="4007"/>
                  </a:lnTo>
                  <a:lnTo>
                    <a:pt x="1579" y="3980"/>
                  </a:lnTo>
                  <a:lnTo>
                    <a:pt x="1571" y="3953"/>
                  </a:lnTo>
                  <a:lnTo>
                    <a:pt x="1563" y="3925"/>
                  </a:lnTo>
                  <a:lnTo>
                    <a:pt x="1556" y="3897"/>
                  </a:lnTo>
                  <a:lnTo>
                    <a:pt x="1549" y="3869"/>
                  </a:lnTo>
                  <a:lnTo>
                    <a:pt x="1543" y="3839"/>
                  </a:lnTo>
                  <a:lnTo>
                    <a:pt x="1537" y="3809"/>
                  </a:lnTo>
                  <a:lnTo>
                    <a:pt x="1532" y="3778"/>
                  </a:lnTo>
                  <a:lnTo>
                    <a:pt x="1527" y="3748"/>
                  </a:lnTo>
                  <a:lnTo>
                    <a:pt x="1523" y="3717"/>
                  </a:lnTo>
                  <a:lnTo>
                    <a:pt x="1520" y="3684"/>
                  </a:lnTo>
                  <a:lnTo>
                    <a:pt x="1517" y="3652"/>
                  </a:lnTo>
                  <a:lnTo>
                    <a:pt x="1514" y="3619"/>
                  </a:lnTo>
                  <a:lnTo>
                    <a:pt x="1513" y="3585"/>
                  </a:lnTo>
                  <a:lnTo>
                    <a:pt x="1510" y="3551"/>
                  </a:lnTo>
                  <a:lnTo>
                    <a:pt x="1509" y="3516"/>
                  </a:lnTo>
                  <a:lnTo>
                    <a:pt x="1509" y="3481"/>
                  </a:lnTo>
                  <a:lnTo>
                    <a:pt x="1510" y="3431"/>
                  </a:lnTo>
                  <a:lnTo>
                    <a:pt x="1511" y="3382"/>
                  </a:lnTo>
                  <a:lnTo>
                    <a:pt x="1514" y="3332"/>
                  </a:lnTo>
                  <a:lnTo>
                    <a:pt x="1517" y="3283"/>
                  </a:lnTo>
                  <a:lnTo>
                    <a:pt x="1521" y="3236"/>
                  </a:lnTo>
                  <a:lnTo>
                    <a:pt x="1526" y="3188"/>
                  </a:lnTo>
                  <a:lnTo>
                    <a:pt x="1532" y="3141"/>
                  </a:lnTo>
                  <a:lnTo>
                    <a:pt x="1539" y="3094"/>
                  </a:lnTo>
                  <a:lnTo>
                    <a:pt x="1547" y="3049"/>
                  </a:lnTo>
                  <a:lnTo>
                    <a:pt x="1556" y="3003"/>
                  </a:lnTo>
                  <a:lnTo>
                    <a:pt x="1565" y="2958"/>
                  </a:lnTo>
                  <a:lnTo>
                    <a:pt x="1576" y="2914"/>
                  </a:lnTo>
                  <a:lnTo>
                    <a:pt x="1587" y="2870"/>
                  </a:lnTo>
                  <a:lnTo>
                    <a:pt x="1599" y="2827"/>
                  </a:lnTo>
                  <a:lnTo>
                    <a:pt x="1613" y="2783"/>
                  </a:lnTo>
                  <a:lnTo>
                    <a:pt x="1628" y="2741"/>
                  </a:lnTo>
                  <a:lnTo>
                    <a:pt x="1643" y="2699"/>
                  </a:lnTo>
                  <a:lnTo>
                    <a:pt x="1659" y="2658"/>
                  </a:lnTo>
                  <a:lnTo>
                    <a:pt x="1675" y="2617"/>
                  </a:lnTo>
                  <a:lnTo>
                    <a:pt x="1693" y="2577"/>
                  </a:lnTo>
                  <a:lnTo>
                    <a:pt x="1713" y="2537"/>
                  </a:lnTo>
                  <a:lnTo>
                    <a:pt x="1732" y="2498"/>
                  </a:lnTo>
                  <a:lnTo>
                    <a:pt x="1753" y="2458"/>
                  </a:lnTo>
                  <a:lnTo>
                    <a:pt x="1774" y="2420"/>
                  </a:lnTo>
                  <a:lnTo>
                    <a:pt x="1797" y="2382"/>
                  </a:lnTo>
                  <a:lnTo>
                    <a:pt x="1821" y="2345"/>
                  </a:lnTo>
                  <a:lnTo>
                    <a:pt x="1845" y="2309"/>
                  </a:lnTo>
                  <a:lnTo>
                    <a:pt x="1870" y="2272"/>
                  </a:lnTo>
                  <a:lnTo>
                    <a:pt x="1896" y="2237"/>
                  </a:lnTo>
                  <a:lnTo>
                    <a:pt x="1924" y="2201"/>
                  </a:lnTo>
                  <a:lnTo>
                    <a:pt x="1952" y="2167"/>
                  </a:lnTo>
                  <a:lnTo>
                    <a:pt x="1980" y="2132"/>
                  </a:lnTo>
                  <a:lnTo>
                    <a:pt x="2011" y="2099"/>
                  </a:lnTo>
                  <a:lnTo>
                    <a:pt x="2041" y="2067"/>
                  </a:lnTo>
                  <a:lnTo>
                    <a:pt x="2071" y="2035"/>
                  </a:lnTo>
                  <a:lnTo>
                    <a:pt x="2102" y="2005"/>
                  </a:lnTo>
                  <a:lnTo>
                    <a:pt x="2134" y="1975"/>
                  </a:lnTo>
                  <a:lnTo>
                    <a:pt x="2165" y="1947"/>
                  </a:lnTo>
                  <a:lnTo>
                    <a:pt x="2197" y="1920"/>
                  </a:lnTo>
                  <a:lnTo>
                    <a:pt x="2231" y="1893"/>
                  </a:lnTo>
                  <a:lnTo>
                    <a:pt x="2264" y="1868"/>
                  </a:lnTo>
                  <a:lnTo>
                    <a:pt x="2297" y="1845"/>
                  </a:lnTo>
                  <a:lnTo>
                    <a:pt x="2332" y="1822"/>
                  </a:lnTo>
                  <a:lnTo>
                    <a:pt x="2366" y="1800"/>
                  </a:lnTo>
                  <a:lnTo>
                    <a:pt x="2400" y="1779"/>
                  </a:lnTo>
                  <a:lnTo>
                    <a:pt x="2436" y="1760"/>
                  </a:lnTo>
                  <a:lnTo>
                    <a:pt x="2472" y="1741"/>
                  </a:lnTo>
                  <a:lnTo>
                    <a:pt x="2509" y="1723"/>
                  </a:lnTo>
                  <a:lnTo>
                    <a:pt x="2545" y="1707"/>
                  </a:lnTo>
                  <a:lnTo>
                    <a:pt x="2581" y="1691"/>
                  </a:lnTo>
                  <a:lnTo>
                    <a:pt x="2619" y="1677"/>
                  </a:lnTo>
                  <a:lnTo>
                    <a:pt x="2657" y="1664"/>
                  </a:lnTo>
                  <a:lnTo>
                    <a:pt x="2695" y="1651"/>
                  </a:lnTo>
                  <a:lnTo>
                    <a:pt x="2734" y="1640"/>
                  </a:lnTo>
                  <a:lnTo>
                    <a:pt x="2773" y="1630"/>
                  </a:lnTo>
                  <a:lnTo>
                    <a:pt x="2813" y="1621"/>
                  </a:lnTo>
                  <a:lnTo>
                    <a:pt x="2853" y="1613"/>
                  </a:lnTo>
                  <a:lnTo>
                    <a:pt x="2893" y="1606"/>
                  </a:lnTo>
                  <a:lnTo>
                    <a:pt x="2935" y="1601"/>
                  </a:lnTo>
                  <a:lnTo>
                    <a:pt x="2976" y="1596"/>
                  </a:lnTo>
                  <a:lnTo>
                    <a:pt x="3018" y="1592"/>
                  </a:lnTo>
                  <a:lnTo>
                    <a:pt x="3060" y="1590"/>
                  </a:lnTo>
                  <a:lnTo>
                    <a:pt x="3102" y="1588"/>
                  </a:lnTo>
                  <a:lnTo>
                    <a:pt x="3146" y="1587"/>
                  </a:lnTo>
                  <a:lnTo>
                    <a:pt x="3177" y="1588"/>
                  </a:lnTo>
                  <a:lnTo>
                    <a:pt x="3209" y="1589"/>
                  </a:lnTo>
                  <a:lnTo>
                    <a:pt x="3240" y="1591"/>
                  </a:lnTo>
                  <a:lnTo>
                    <a:pt x="3270" y="1594"/>
                  </a:lnTo>
                  <a:lnTo>
                    <a:pt x="3299" y="1597"/>
                  </a:lnTo>
                  <a:lnTo>
                    <a:pt x="3329" y="1602"/>
                  </a:lnTo>
                  <a:lnTo>
                    <a:pt x="3358" y="1607"/>
                  </a:lnTo>
                  <a:lnTo>
                    <a:pt x="3386" y="1613"/>
                  </a:lnTo>
                  <a:lnTo>
                    <a:pt x="3414" y="1619"/>
                  </a:lnTo>
                  <a:lnTo>
                    <a:pt x="3441" y="1627"/>
                  </a:lnTo>
                  <a:lnTo>
                    <a:pt x="3467" y="1635"/>
                  </a:lnTo>
                  <a:lnTo>
                    <a:pt x="3493" y="1644"/>
                  </a:lnTo>
                  <a:lnTo>
                    <a:pt x="3519" y="1655"/>
                  </a:lnTo>
                  <a:lnTo>
                    <a:pt x="3544" y="1665"/>
                  </a:lnTo>
                  <a:lnTo>
                    <a:pt x="3568" y="1677"/>
                  </a:lnTo>
                  <a:lnTo>
                    <a:pt x="3592" y="1689"/>
                  </a:lnTo>
                  <a:lnTo>
                    <a:pt x="3616" y="1702"/>
                  </a:lnTo>
                  <a:lnTo>
                    <a:pt x="3639" y="1716"/>
                  </a:lnTo>
                  <a:lnTo>
                    <a:pt x="3661" y="1730"/>
                  </a:lnTo>
                  <a:lnTo>
                    <a:pt x="3683" y="1747"/>
                  </a:lnTo>
                  <a:lnTo>
                    <a:pt x="3705" y="1763"/>
                  </a:lnTo>
                  <a:lnTo>
                    <a:pt x="3726" y="1780"/>
                  </a:lnTo>
                  <a:lnTo>
                    <a:pt x="3746" y="1798"/>
                  </a:lnTo>
                  <a:lnTo>
                    <a:pt x="3766" y="1817"/>
                  </a:lnTo>
                  <a:lnTo>
                    <a:pt x="3786" y="1837"/>
                  </a:lnTo>
                  <a:lnTo>
                    <a:pt x="3805" y="1857"/>
                  </a:lnTo>
                  <a:lnTo>
                    <a:pt x="3824" y="1878"/>
                  </a:lnTo>
                  <a:lnTo>
                    <a:pt x="3842" y="1901"/>
                  </a:lnTo>
                  <a:lnTo>
                    <a:pt x="3859" y="1924"/>
                  </a:lnTo>
                  <a:lnTo>
                    <a:pt x="3876" y="1947"/>
                  </a:lnTo>
                  <a:lnTo>
                    <a:pt x="3892" y="1972"/>
                  </a:lnTo>
                  <a:lnTo>
                    <a:pt x="3909" y="1998"/>
                  </a:lnTo>
                  <a:lnTo>
                    <a:pt x="4082" y="1691"/>
                  </a:lnTo>
                  <a:lnTo>
                    <a:pt x="4769" y="1691"/>
                  </a:lnTo>
                  <a:lnTo>
                    <a:pt x="4259" y="3728"/>
                  </a:lnTo>
                  <a:lnTo>
                    <a:pt x="4258" y="3737"/>
                  </a:lnTo>
                  <a:lnTo>
                    <a:pt x="4256" y="3749"/>
                  </a:lnTo>
                  <a:lnTo>
                    <a:pt x="4251" y="3776"/>
                  </a:lnTo>
                  <a:lnTo>
                    <a:pt x="4248" y="3801"/>
                  </a:lnTo>
                  <a:lnTo>
                    <a:pt x="4246" y="3822"/>
                  </a:lnTo>
                  <a:lnTo>
                    <a:pt x="4246" y="3839"/>
                  </a:lnTo>
                  <a:lnTo>
                    <a:pt x="4246" y="3864"/>
                  </a:lnTo>
                  <a:lnTo>
                    <a:pt x="4249" y="3886"/>
                  </a:lnTo>
                  <a:lnTo>
                    <a:pt x="4251" y="3897"/>
                  </a:lnTo>
                  <a:lnTo>
                    <a:pt x="4253" y="3907"/>
                  </a:lnTo>
                  <a:lnTo>
                    <a:pt x="4256" y="3917"/>
                  </a:lnTo>
                  <a:lnTo>
                    <a:pt x="4259" y="3926"/>
                  </a:lnTo>
                  <a:lnTo>
                    <a:pt x="4263" y="3935"/>
                  </a:lnTo>
                  <a:lnTo>
                    <a:pt x="4266" y="3944"/>
                  </a:lnTo>
                  <a:lnTo>
                    <a:pt x="4271" y="3953"/>
                  </a:lnTo>
                  <a:lnTo>
                    <a:pt x="4276" y="3960"/>
                  </a:lnTo>
                  <a:lnTo>
                    <a:pt x="4281" y="3968"/>
                  </a:lnTo>
                  <a:lnTo>
                    <a:pt x="4286" y="3975"/>
                  </a:lnTo>
                  <a:lnTo>
                    <a:pt x="4292" y="3981"/>
                  </a:lnTo>
                  <a:lnTo>
                    <a:pt x="4299" y="3987"/>
                  </a:lnTo>
                  <a:lnTo>
                    <a:pt x="4306" y="3993"/>
                  </a:lnTo>
                  <a:lnTo>
                    <a:pt x="4313" y="3999"/>
                  </a:lnTo>
                  <a:lnTo>
                    <a:pt x="4321" y="4004"/>
                  </a:lnTo>
                  <a:lnTo>
                    <a:pt x="4329" y="4008"/>
                  </a:lnTo>
                  <a:lnTo>
                    <a:pt x="4337" y="4013"/>
                  </a:lnTo>
                  <a:lnTo>
                    <a:pt x="4346" y="4017"/>
                  </a:lnTo>
                  <a:lnTo>
                    <a:pt x="4355" y="4020"/>
                  </a:lnTo>
                  <a:lnTo>
                    <a:pt x="4364" y="4024"/>
                  </a:lnTo>
                  <a:lnTo>
                    <a:pt x="4385" y="4030"/>
                  </a:lnTo>
                  <a:lnTo>
                    <a:pt x="4407" y="4034"/>
                  </a:lnTo>
                  <a:lnTo>
                    <a:pt x="4430" y="4036"/>
                  </a:lnTo>
                  <a:lnTo>
                    <a:pt x="4455" y="4036"/>
                  </a:lnTo>
                  <a:lnTo>
                    <a:pt x="4483" y="4036"/>
                  </a:lnTo>
                  <a:lnTo>
                    <a:pt x="4512" y="4035"/>
                  </a:lnTo>
                  <a:lnTo>
                    <a:pt x="4540" y="4032"/>
                  </a:lnTo>
                  <a:lnTo>
                    <a:pt x="4567" y="4029"/>
                  </a:lnTo>
                  <a:lnTo>
                    <a:pt x="4595" y="4024"/>
                  </a:lnTo>
                  <a:lnTo>
                    <a:pt x="4623" y="4019"/>
                  </a:lnTo>
                  <a:lnTo>
                    <a:pt x="4650" y="4013"/>
                  </a:lnTo>
                  <a:lnTo>
                    <a:pt x="4676" y="4006"/>
                  </a:lnTo>
                  <a:lnTo>
                    <a:pt x="4704" y="3998"/>
                  </a:lnTo>
                  <a:lnTo>
                    <a:pt x="4730" y="3989"/>
                  </a:lnTo>
                  <a:lnTo>
                    <a:pt x="4756" y="3980"/>
                  </a:lnTo>
                  <a:lnTo>
                    <a:pt x="4782" y="3969"/>
                  </a:lnTo>
                  <a:lnTo>
                    <a:pt x="4808" y="3957"/>
                  </a:lnTo>
                  <a:lnTo>
                    <a:pt x="4834" y="3945"/>
                  </a:lnTo>
                  <a:lnTo>
                    <a:pt x="4859" y="3931"/>
                  </a:lnTo>
                  <a:lnTo>
                    <a:pt x="4884" y="3916"/>
                  </a:lnTo>
                  <a:lnTo>
                    <a:pt x="4909" y="3901"/>
                  </a:lnTo>
                  <a:lnTo>
                    <a:pt x="4934" y="3885"/>
                  </a:lnTo>
                  <a:lnTo>
                    <a:pt x="4958" y="3868"/>
                  </a:lnTo>
                  <a:lnTo>
                    <a:pt x="4982" y="3848"/>
                  </a:lnTo>
                  <a:lnTo>
                    <a:pt x="5007" y="3830"/>
                  </a:lnTo>
                  <a:lnTo>
                    <a:pt x="5031" y="3810"/>
                  </a:lnTo>
                  <a:lnTo>
                    <a:pt x="5054" y="3789"/>
                  </a:lnTo>
                  <a:lnTo>
                    <a:pt x="5077" y="3766"/>
                  </a:lnTo>
                  <a:lnTo>
                    <a:pt x="5101" y="3743"/>
                  </a:lnTo>
                  <a:lnTo>
                    <a:pt x="5124" y="3720"/>
                  </a:lnTo>
                  <a:lnTo>
                    <a:pt x="5146" y="3694"/>
                  </a:lnTo>
                  <a:lnTo>
                    <a:pt x="5169" y="3669"/>
                  </a:lnTo>
                  <a:lnTo>
                    <a:pt x="5191" y="3642"/>
                  </a:lnTo>
                  <a:lnTo>
                    <a:pt x="5214" y="3614"/>
                  </a:lnTo>
                  <a:lnTo>
                    <a:pt x="5235" y="3586"/>
                  </a:lnTo>
                  <a:lnTo>
                    <a:pt x="5257" y="3556"/>
                  </a:lnTo>
                  <a:lnTo>
                    <a:pt x="5278" y="3526"/>
                  </a:lnTo>
                  <a:lnTo>
                    <a:pt x="5299" y="3496"/>
                  </a:lnTo>
                  <a:lnTo>
                    <a:pt x="5319" y="3465"/>
                  </a:lnTo>
                  <a:lnTo>
                    <a:pt x="5338" y="3434"/>
                  </a:lnTo>
                  <a:lnTo>
                    <a:pt x="5356" y="3403"/>
                  </a:lnTo>
                  <a:lnTo>
                    <a:pt x="5374" y="3371"/>
                  </a:lnTo>
                  <a:lnTo>
                    <a:pt x="5391" y="3339"/>
                  </a:lnTo>
                  <a:lnTo>
                    <a:pt x="5408" y="3307"/>
                  </a:lnTo>
                  <a:lnTo>
                    <a:pt x="5424" y="3274"/>
                  </a:lnTo>
                  <a:lnTo>
                    <a:pt x="5439" y="3241"/>
                  </a:lnTo>
                  <a:lnTo>
                    <a:pt x="5453" y="3208"/>
                  </a:lnTo>
                  <a:lnTo>
                    <a:pt x="5467" y="3174"/>
                  </a:lnTo>
                  <a:lnTo>
                    <a:pt x="5480" y="3141"/>
                  </a:lnTo>
                  <a:lnTo>
                    <a:pt x="5492" y="3106"/>
                  </a:lnTo>
                  <a:lnTo>
                    <a:pt x="5505" y="3072"/>
                  </a:lnTo>
                  <a:lnTo>
                    <a:pt x="5516" y="3036"/>
                  </a:lnTo>
                  <a:lnTo>
                    <a:pt x="5526" y="3001"/>
                  </a:lnTo>
                  <a:lnTo>
                    <a:pt x="5536" y="2966"/>
                  </a:lnTo>
                  <a:lnTo>
                    <a:pt x="5545" y="2930"/>
                  </a:lnTo>
                  <a:lnTo>
                    <a:pt x="5553" y="2894"/>
                  </a:lnTo>
                  <a:lnTo>
                    <a:pt x="5561" y="2857"/>
                  </a:lnTo>
                  <a:lnTo>
                    <a:pt x="5568" y="2821"/>
                  </a:lnTo>
                  <a:lnTo>
                    <a:pt x="5574" y="2783"/>
                  </a:lnTo>
                  <a:lnTo>
                    <a:pt x="5580" y="2746"/>
                  </a:lnTo>
                  <a:lnTo>
                    <a:pt x="5585" y="2708"/>
                  </a:lnTo>
                  <a:lnTo>
                    <a:pt x="5589" y="2670"/>
                  </a:lnTo>
                  <a:lnTo>
                    <a:pt x="5593" y="2632"/>
                  </a:lnTo>
                  <a:lnTo>
                    <a:pt x="5597" y="2593"/>
                  </a:lnTo>
                  <a:lnTo>
                    <a:pt x="5599" y="2555"/>
                  </a:lnTo>
                  <a:lnTo>
                    <a:pt x="5601" y="2515"/>
                  </a:lnTo>
                  <a:lnTo>
                    <a:pt x="5602" y="2476"/>
                  </a:lnTo>
                  <a:lnTo>
                    <a:pt x="5602" y="2435"/>
                  </a:lnTo>
                  <a:lnTo>
                    <a:pt x="5601" y="2385"/>
                  </a:lnTo>
                  <a:lnTo>
                    <a:pt x="5600" y="2337"/>
                  </a:lnTo>
                  <a:lnTo>
                    <a:pt x="5597" y="2288"/>
                  </a:lnTo>
                  <a:lnTo>
                    <a:pt x="5592" y="2241"/>
                  </a:lnTo>
                  <a:lnTo>
                    <a:pt x="5587" y="2193"/>
                  </a:lnTo>
                  <a:lnTo>
                    <a:pt x="5580" y="2147"/>
                  </a:lnTo>
                  <a:lnTo>
                    <a:pt x="5573" y="2100"/>
                  </a:lnTo>
                  <a:lnTo>
                    <a:pt x="5564" y="2054"/>
                  </a:lnTo>
                  <a:lnTo>
                    <a:pt x="5554" y="2010"/>
                  </a:lnTo>
                  <a:lnTo>
                    <a:pt x="5543" y="1965"/>
                  </a:lnTo>
                  <a:lnTo>
                    <a:pt x="5531" y="1921"/>
                  </a:lnTo>
                  <a:lnTo>
                    <a:pt x="5518" y="1878"/>
                  </a:lnTo>
                  <a:lnTo>
                    <a:pt x="5503" y="1835"/>
                  </a:lnTo>
                  <a:lnTo>
                    <a:pt x="5487" y="1793"/>
                  </a:lnTo>
                  <a:lnTo>
                    <a:pt x="5470" y="1752"/>
                  </a:lnTo>
                  <a:lnTo>
                    <a:pt x="5452" y="1710"/>
                  </a:lnTo>
                  <a:lnTo>
                    <a:pt x="5433" y="1670"/>
                  </a:lnTo>
                  <a:lnTo>
                    <a:pt x="5413" y="1630"/>
                  </a:lnTo>
                  <a:lnTo>
                    <a:pt x="5390" y="1591"/>
                  </a:lnTo>
                  <a:lnTo>
                    <a:pt x="5368" y="1552"/>
                  </a:lnTo>
                  <a:lnTo>
                    <a:pt x="5344" y="1514"/>
                  </a:lnTo>
                  <a:lnTo>
                    <a:pt x="5319" y="1476"/>
                  </a:lnTo>
                  <a:lnTo>
                    <a:pt x="5292" y="1439"/>
                  </a:lnTo>
                  <a:lnTo>
                    <a:pt x="5265" y="1402"/>
                  </a:lnTo>
                  <a:lnTo>
                    <a:pt x="5237" y="1367"/>
                  </a:lnTo>
                  <a:lnTo>
                    <a:pt x="5207" y="1332"/>
                  </a:lnTo>
                  <a:lnTo>
                    <a:pt x="5175" y="1297"/>
                  </a:lnTo>
                  <a:lnTo>
                    <a:pt x="5144" y="1263"/>
                  </a:lnTo>
                  <a:lnTo>
                    <a:pt x="5111" y="1229"/>
                  </a:lnTo>
                  <a:lnTo>
                    <a:pt x="5075" y="1197"/>
                  </a:lnTo>
                  <a:lnTo>
                    <a:pt x="5040" y="1165"/>
                  </a:lnTo>
                  <a:lnTo>
                    <a:pt x="5004" y="1132"/>
                  </a:lnTo>
                  <a:lnTo>
                    <a:pt x="4965" y="1101"/>
                  </a:lnTo>
                  <a:lnTo>
                    <a:pt x="4927" y="1071"/>
                  </a:lnTo>
                  <a:lnTo>
                    <a:pt x="4888" y="1042"/>
                  </a:lnTo>
                  <a:lnTo>
                    <a:pt x="4848" y="1014"/>
                  </a:lnTo>
                  <a:lnTo>
                    <a:pt x="4808" y="987"/>
                  </a:lnTo>
                  <a:lnTo>
                    <a:pt x="4766" y="961"/>
                  </a:lnTo>
                  <a:lnTo>
                    <a:pt x="4725" y="936"/>
                  </a:lnTo>
                  <a:lnTo>
                    <a:pt x="4681" y="911"/>
                  </a:lnTo>
                  <a:lnTo>
                    <a:pt x="4638" y="888"/>
                  </a:lnTo>
                  <a:lnTo>
                    <a:pt x="4594" y="866"/>
                  </a:lnTo>
                  <a:lnTo>
                    <a:pt x="4549" y="845"/>
                  </a:lnTo>
                  <a:lnTo>
                    <a:pt x="4504" y="825"/>
                  </a:lnTo>
                  <a:lnTo>
                    <a:pt x="4458" y="806"/>
                  </a:lnTo>
                  <a:lnTo>
                    <a:pt x="4411" y="788"/>
                  </a:lnTo>
                  <a:lnTo>
                    <a:pt x="4363" y="771"/>
                  </a:lnTo>
                  <a:lnTo>
                    <a:pt x="4315" y="755"/>
                  </a:lnTo>
                  <a:lnTo>
                    <a:pt x="4266" y="739"/>
                  </a:lnTo>
                  <a:lnTo>
                    <a:pt x="4217" y="724"/>
                  </a:lnTo>
                  <a:lnTo>
                    <a:pt x="4166" y="711"/>
                  </a:lnTo>
                  <a:lnTo>
                    <a:pt x="4115" y="699"/>
                  </a:lnTo>
                  <a:lnTo>
                    <a:pt x="4063" y="688"/>
                  </a:lnTo>
                  <a:lnTo>
                    <a:pt x="4011" y="678"/>
                  </a:lnTo>
                  <a:lnTo>
                    <a:pt x="3957" y="668"/>
                  </a:lnTo>
                  <a:lnTo>
                    <a:pt x="3903" y="659"/>
                  </a:lnTo>
                  <a:lnTo>
                    <a:pt x="3848" y="652"/>
                  </a:lnTo>
                  <a:lnTo>
                    <a:pt x="3792" y="646"/>
                  </a:lnTo>
                  <a:lnTo>
                    <a:pt x="3737" y="640"/>
                  </a:lnTo>
                  <a:lnTo>
                    <a:pt x="3680" y="636"/>
                  </a:lnTo>
                  <a:lnTo>
                    <a:pt x="3623" y="633"/>
                  </a:lnTo>
                  <a:lnTo>
                    <a:pt x="3564" y="630"/>
                  </a:lnTo>
                  <a:lnTo>
                    <a:pt x="3506" y="629"/>
                  </a:lnTo>
                  <a:lnTo>
                    <a:pt x="3446" y="628"/>
                  </a:lnTo>
                  <a:lnTo>
                    <a:pt x="3384" y="629"/>
                  </a:lnTo>
                  <a:lnTo>
                    <a:pt x="3324" y="630"/>
                  </a:lnTo>
                  <a:lnTo>
                    <a:pt x="3263" y="633"/>
                  </a:lnTo>
                  <a:lnTo>
                    <a:pt x="3203" y="636"/>
                  </a:lnTo>
                  <a:lnTo>
                    <a:pt x="3145" y="640"/>
                  </a:lnTo>
                  <a:lnTo>
                    <a:pt x="3086" y="645"/>
                  </a:lnTo>
                  <a:lnTo>
                    <a:pt x="3028" y="651"/>
                  </a:lnTo>
                  <a:lnTo>
                    <a:pt x="2971" y="659"/>
                  </a:lnTo>
                  <a:lnTo>
                    <a:pt x="2914" y="667"/>
                  </a:lnTo>
                  <a:lnTo>
                    <a:pt x="2858" y="677"/>
                  </a:lnTo>
                  <a:lnTo>
                    <a:pt x="2801" y="686"/>
                  </a:lnTo>
                  <a:lnTo>
                    <a:pt x="2747" y="697"/>
                  </a:lnTo>
                  <a:lnTo>
                    <a:pt x="2692" y="709"/>
                  </a:lnTo>
                  <a:lnTo>
                    <a:pt x="2639" y="722"/>
                  </a:lnTo>
                  <a:lnTo>
                    <a:pt x="2585" y="735"/>
                  </a:lnTo>
                  <a:lnTo>
                    <a:pt x="2533" y="750"/>
                  </a:lnTo>
                  <a:lnTo>
                    <a:pt x="2480" y="766"/>
                  </a:lnTo>
                  <a:lnTo>
                    <a:pt x="2429" y="783"/>
                  </a:lnTo>
                  <a:lnTo>
                    <a:pt x="2377" y="800"/>
                  </a:lnTo>
                  <a:lnTo>
                    <a:pt x="2327" y="818"/>
                  </a:lnTo>
                  <a:lnTo>
                    <a:pt x="2277" y="839"/>
                  </a:lnTo>
                  <a:lnTo>
                    <a:pt x="2228" y="859"/>
                  </a:lnTo>
                  <a:lnTo>
                    <a:pt x="2179" y="880"/>
                  </a:lnTo>
                  <a:lnTo>
                    <a:pt x="2131" y="902"/>
                  </a:lnTo>
                  <a:lnTo>
                    <a:pt x="2083" y="926"/>
                  </a:lnTo>
                  <a:lnTo>
                    <a:pt x="2036" y="950"/>
                  </a:lnTo>
                  <a:lnTo>
                    <a:pt x="1989" y="975"/>
                  </a:lnTo>
                  <a:lnTo>
                    <a:pt x="1944" y="1002"/>
                  </a:lnTo>
                  <a:lnTo>
                    <a:pt x="1898" y="1029"/>
                  </a:lnTo>
                  <a:lnTo>
                    <a:pt x="1853" y="1057"/>
                  </a:lnTo>
                  <a:lnTo>
                    <a:pt x="1809" y="1087"/>
                  </a:lnTo>
                  <a:lnTo>
                    <a:pt x="1766" y="1116"/>
                  </a:lnTo>
                  <a:lnTo>
                    <a:pt x="1734" y="1139"/>
                  </a:lnTo>
                  <a:lnTo>
                    <a:pt x="1701" y="1163"/>
                  </a:lnTo>
                  <a:lnTo>
                    <a:pt x="1671" y="1187"/>
                  </a:lnTo>
                  <a:lnTo>
                    <a:pt x="1640" y="1211"/>
                  </a:lnTo>
                  <a:lnTo>
                    <a:pt x="1609" y="1235"/>
                  </a:lnTo>
                  <a:lnTo>
                    <a:pt x="1580" y="1261"/>
                  </a:lnTo>
                  <a:lnTo>
                    <a:pt x="1551" y="1286"/>
                  </a:lnTo>
                  <a:lnTo>
                    <a:pt x="1522" y="1311"/>
                  </a:lnTo>
                  <a:lnTo>
                    <a:pt x="1493" y="1338"/>
                  </a:lnTo>
                  <a:lnTo>
                    <a:pt x="1466" y="1364"/>
                  </a:lnTo>
                  <a:lnTo>
                    <a:pt x="1438" y="1390"/>
                  </a:lnTo>
                  <a:lnTo>
                    <a:pt x="1411" y="1418"/>
                  </a:lnTo>
                  <a:lnTo>
                    <a:pt x="1384" y="1445"/>
                  </a:lnTo>
                  <a:lnTo>
                    <a:pt x="1359" y="1472"/>
                  </a:lnTo>
                  <a:lnTo>
                    <a:pt x="1333" y="1501"/>
                  </a:lnTo>
                  <a:lnTo>
                    <a:pt x="1308" y="1529"/>
                  </a:lnTo>
                  <a:lnTo>
                    <a:pt x="1283" y="1558"/>
                  </a:lnTo>
                  <a:lnTo>
                    <a:pt x="1259" y="1588"/>
                  </a:lnTo>
                  <a:lnTo>
                    <a:pt x="1236" y="1617"/>
                  </a:lnTo>
                  <a:lnTo>
                    <a:pt x="1212" y="1646"/>
                  </a:lnTo>
                  <a:lnTo>
                    <a:pt x="1189" y="1677"/>
                  </a:lnTo>
                  <a:lnTo>
                    <a:pt x="1167" y="1707"/>
                  </a:lnTo>
                  <a:lnTo>
                    <a:pt x="1145" y="1739"/>
                  </a:lnTo>
                  <a:lnTo>
                    <a:pt x="1124" y="1770"/>
                  </a:lnTo>
                  <a:lnTo>
                    <a:pt x="1102" y="1801"/>
                  </a:lnTo>
                  <a:lnTo>
                    <a:pt x="1082" y="1834"/>
                  </a:lnTo>
                  <a:lnTo>
                    <a:pt x="1062" y="1866"/>
                  </a:lnTo>
                  <a:lnTo>
                    <a:pt x="1043" y="1899"/>
                  </a:lnTo>
                  <a:lnTo>
                    <a:pt x="1024" y="1932"/>
                  </a:lnTo>
                  <a:lnTo>
                    <a:pt x="1005" y="1965"/>
                  </a:lnTo>
                  <a:lnTo>
                    <a:pt x="987" y="1999"/>
                  </a:lnTo>
                  <a:lnTo>
                    <a:pt x="969" y="2033"/>
                  </a:lnTo>
                  <a:lnTo>
                    <a:pt x="952" y="2068"/>
                  </a:lnTo>
                  <a:lnTo>
                    <a:pt x="936" y="2102"/>
                  </a:lnTo>
                  <a:lnTo>
                    <a:pt x="920" y="2136"/>
                  </a:lnTo>
                  <a:lnTo>
                    <a:pt x="903" y="2172"/>
                  </a:lnTo>
                  <a:lnTo>
                    <a:pt x="888" y="2207"/>
                  </a:lnTo>
                  <a:lnTo>
                    <a:pt x="874" y="2242"/>
                  </a:lnTo>
                  <a:lnTo>
                    <a:pt x="860" y="2277"/>
                  </a:lnTo>
                  <a:lnTo>
                    <a:pt x="847" y="2314"/>
                  </a:lnTo>
                  <a:lnTo>
                    <a:pt x="834" y="2349"/>
                  </a:lnTo>
                  <a:lnTo>
                    <a:pt x="822" y="2385"/>
                  </a:lnTo>
                  <a:lnTo>
                    <a:pt x="809" y="2421"/>
                  </a:lnTo>
                  <a:lnTo>
                    <a:pt x="798" y="2457"/>
                  </a:lnTo>
                  <a:lnTo>
                    <a:pt x="788" y="2495"/>
                  </a:lnTo>
                  <a:lnTo>
                    <a:pt x="778" y="2531"/>
                  </a:lnTo>
                  <a:lnTo>
                    <a:pt x="768" y="2568"/>
                  </a:lnTo>
                  <a:lnTo>
                    <a:pt x="759" y="2605"/>
                  </a:lnTo>
                  <a:lnTo>
                    <a:pt x="751" y="2643"/>
                  </a:lnTo>
                  <a:lnTo>
                    <a:pt x="743" y="2680"/>
                  </a:lnTo>
                  <a:lnTo>
                    <a:pt x="736" y="2718"/>
                  </a:lnTo>
                  <a:lnTo>
                    <a:pt x="729" y="2755"/>
                  </a:lnTo>
                  <a:lnTo>
                    <a:pt x="723" y="2793"/>
                  </a:lnTo>
                  <a:lnTo>
                    <a:pt x="717" y="2832"/>
                  </a:lnTo>
                  <a:lnTo>
                    <a:pt x="711" y="2869"/>
                  </a:lnTo>
                  <a:lnTo>
                    <a:pt x="706" y="2909"/>
                  </a:lnTo>
                  <a:lnTo>
                    <a:pt x="702" y="2947"/>
                  </a:lnTo>
                  <a:lnTo>
                    <a:pt x="699" y="2986"/>
                  </a:lnTo>
                  <a:lnTo>
                    <a:pt x="696" y="3025"/>
                  </a:lnTo>
                  <a:lnTo>
                    <a:pt x="693" y="3065"/>
                  </a:lnTo>
                  <a:lnTo>
                    <a:pt x="691" y="3104"/>
                  </a:lnTo>
                  <a:lnTo>
                    <a:pt x="690" y="3144"/>
                  </a:lnTo>
                  <a:lnTo>
                    <a:pt x="689" y="3183"/>
                  </a:lnTo>
                  <a:lnTo>
                    <a:pt x="689" y="3223"/>
                  </a:lnTo>
                  <a:lnTo>
                    <a:pt x="690" y="3285"/>
                  </a:lnTo>
                  <a:lnTo>
                    <a:pt x="692" y="3348"/>
                  </a:lnTo>
                  <a:lnTo>
                    <a:pt x="695" y="3409"/>
                  </a:lnTo>
                  <a:lnTo>
                    <a:pt x="700" y="3469"/>
                  </a:lnTo>
                  <a:lnTo>
                    <a:pt x="705" y="3528"/>
                  </a:lnTo>
                  <a:lnTo>
                    <a:pt x="713" y="3587"/>
                  </a:lnTo>
                  <a:lnTo>
                    <a:pt x="722" y="3645"/>
                  </a:lnTo>
                  <a:lnTo>
                    <a:pt x="732" y="3703"/>
                  </a:lnTo>
                  <a:lnTo>
                    <a:pt x="743" y="3758"/>
                  </a:lnTo>
                  <a:lnTo>
                    <a:pt x="755" y="3814"/>
                  </a:lnTo>
                  <a:lnTo>
                    <a:pt x="769" y="3869"/>
                  </a:lnTo>
                  <a:lnTo>
                    <a:pt x="784" y="3922"/>
                  </a:lnTo>
                  <a:lnTo>
                    <a:pt x="800" y="3976"/>
                  </a:lnTo>
                  <a:lnTo>
                    <a:pt x="819" y="4029"/>
                  </a:lnTo>
                  <a:lnTo>
                    <a:pt x="838" y="4079"/>
                  </a:lnTo>
                  <a:lnTo>
                    <a:pt x="859" y="4130"/>
                  </a:lnTo>
                  <a:lnTo>
                    <a:pt x="880" y="4180"/>
                  </a:lnTo>
                  <a:lnTo>
                    <a:pt x="903" y="4229"/>
                  </a:lnTo>
                  <a:lnTo>
                    <a:pt x="928" y="4278"/>
                  </a:lnTo>
                  <a:lnTo>
                    <a:pt x="954" y="4325"/>
                  </a:lnTo>
                  <a:lnTo>
                    <a:pt x="980" y="4372"/>
                  </a:lnTo>
                  <a:lnTo>
                    <a:pt x="1009" y="4417"/>
                  </a:lnTo>
                  <a:lnTo>
                    <a:pt x="1039" y="4463"/>
                  </a:lnTo>
                  <a:lnTo>
                    <a:pt x="1070" y="4506"/>
                  </a:lnTo>
                  <a:lnTo>
                    <a:pt x="1102" y="4550"/>
                  </a:lnTo>
                  <a:lnTo>
                    <a:pt x="1136" y="4593"/>
                  </a:lnTo>
                  <a:lnTo>
                    <a:pt x="1171" y="4635"/>
                  </a:lnTo>
                  <a:lnTo>
                    <a:pt x="1207" y="4675"/>
                  </a:lnTo>
                  <a:lnTo>
                    <a:pt x="1245" y="4716"/>
                  </a:lnTo>
                  <a:lnTo>
                    <a:pt x="1284" y="4755"/>
                  </a:lnTo>
                  <a:lnTo>
                    <a:pt x="1325" y="4794"/>
                  </a:lnTo>
                  <a:lnTo>
                    <a:pt x="1366" y="4832"/>
                  </a:lnTo>
                  <a:lnTo>
                    <a:pt x="1408" y="4869"/>
                  </a:lnTo>
                  <a:lnTo>
                    <a:pt x="1453" y="4904"/>
                  </a:lnTo>
                  <a:lnTo>
                    <a:pt x="1497" y="4940"/>
                  </a:lnTo>
                  <a:lnTo>
                    <a:pt x="1543" y="4973"/>
                  </a:lnTo>
                  <a:lnTo>
                    <a:pt x="1588" y="5005"/>
                  </a:lnTo>
                  <a:lnTo>
                    <a:pt x="1636" y="5036"/>
                  </a:lnTo>
                  <a:lnTo>
                    <a:pt x="1684" y="5066"/>
                  </a:lnTo>
                  <a:lnTo>
                    <a:pt x="1733" y="5095"/>
                  </a:lnTo>
                  <a:lnTo>
                    <a:pt x="1782" y="5122"/>
                  </a:lnTo>
                  <a:lnTo>
                    <a:pt x="1834" y="5148"/>
                  </a:lnTo>
                  <a:lnTo>
                    <a:pt x="1885" y="5174"/>
                  </a:lnTo>
                  <a:lnTo>
                    <a:pt x="1938" y="5198"/>
                  </a:lnTo>
                  <a:lnTo>
                    <a:pt x="1991" y="5220"/>
                  </a:lnTo>
                  <a:lnTo>
                    <a:pt x="2046" y="5242"/>
                  </a:lnTo>
                  <a:lnTo>
                    <a:pt x="2101" y="5263"/>
                  </a:lnTo>
                  <a:lnTo>
                    <a:pt x="2157" y="5282"/>
                  </a:lnTo>
                  <a:lnTo>
                    <a:pt x="2215" y="5300"/>
                  </a:lnTo>
                  <a:lnTo>
                    <a:pt x="2272" y="5317"/>
                  </a:lnTo>
                  <a:lnTo>
                    <a:pt x="2331" y="5332"/>
                  </a:lnTo>
                  <a:lnTo>
                    <a:pt x="2391" y="5348"/>
                  </a:lnTo>
                  <a:lnTo>
                    <a:pt x="2452" y="5361"/>
                  </a:lnTo>
                  <a:lnTo>
                    <a:pt x="2514" y="5373"/>
                  </a:lnTo>
                  <a:lnTo>
                    <a:pt x="2575" y="5384"/>
                  </a:lnTo>
                  <a:lnTo>
                    <a:pt x="2639" y="5394"/>
                  </a:lnTo>
                  <a:lnTo>
                    <a:pt x="2703" y="5403"/>
                  </a:lnTo>
                  <a:lnTo>
                    <a:pt x="2768" y="5410"/>
                  </a:lnTo>
                  <a:lnTo>
                    <a:pt x="2835" y="5418"/>
                  </a:lnTo>
                  <a:lnTo>
                    <a:pt x="2901" y="5423"/>
                  </a:lnTo>
                  <a:lnTo>
                    <a:pt x="2969" y="5427"/>
                  </a:lnTo>
                  <a:lnTo>
                    <a:pt x="3038" y="5430"/>
                  </a:lnTo>
                  <a:lnTo>
                    <a:pt x="3108" y="5431"/>
                  </a:lnTo>
                  <a:lnTo>
                    <a:pt x="3178" y="5432"/>
                  </a:lnTo>
                  <a:lnTo>
                    <a:pt x="3247" y="5431"/>
                  </a:lnTo>
                  <a:lnTo>
                    <a:pt x="3315" y="5430"/>
                  </a:lnTo>
                  <a:lnTo>
                    <a:pt x="3382" y="5427"/>
                  </a:lnTo>
                  <a:lnTo>
                    <a:pt x="3450" y="5422"/>
                  </a:lnTo>
                  <a:lnTo>
                    <a:pt x="3517" y="5417"/>
                  </a:lnTo>
                  <a:lnTo>
                    <a:pt x="3583" y="5409"/>
                  </a:lnTo>
                  <a:lnTo>
                    <a:pt x="3650" y="5401"/>
                  </a:lnTo>
                  <a:lnTo>
                    <a:pt x="3716" y="5392"/>
                  </a:lnTo>
                  <a:lnTo>
                    <a:pt x="3781" y="5382"/>
                  </a:lnTo>
                  <a:lnTo>
                    <a:pt x="3846" y="5370"/>
                  </a:lnTo>
                  <a:lnTo>
                    <a:pt x="3912" y="5357"/>
                  </a:lnTo>
                  <a:lnTo>
                    <a:pt x="3976" y="5343"/>
                  </a:lnTo>
                  <a:lnTo>
                    <a:pt x="4041" y="5327"/>
                  </a:lnTo>
                  <a:lnTo>
                    <a:pt x="4105" y="5310"/>
                  </a:lnTo>
                  <a:lnTo>
                    <a:pt x="4168" y="5293"/>
                  </a:lnTo>
                  <a:lnTo>
                    <a:pt x="4232" y="5273"/>
                  </a:lnTo>
                  <a:lnTo>
                    <a:pt x="4295" y="5253"/>
                  </a:lnTo>
                  <a:lnTo>
                    <a:pt x="4357" y="5231"/>
                  </a:lnTo>
                  <a:lnTo>
                    <a:pt x="4419" y="5209"/>
                  </a:lnTo>
                  <a:lnTo>
                    <a:pt x="4480" y="5185"/>
                  </a:lnTo>
                  <a:lnTo>
                    <a:pt x="4541" y="5159"/>
                  </a:lnTo>
                  <a:lnTo>
                    <a:pt x="4601" y="5134"/>
                  </a:lnTo>
                  <a:lnTo>
                    <a:pt x="4660" y="5107"/>
                  </a:lnTo>
                  <a:lnTo>
                    <a:pt x="4719" y="5078"/>
                  </a:lnTo>
                  <a:lnTo>
                    <a:pt x="4776" y="5049"/>
                  </a:lnTo>
                  <a:lnTo>
                    <a:pt x="4834" y="5018"/>
                  </a:lnTo>
                  <a:lnTo>
                    <a:pt x="4890" y="4986"/>
                  </a:lnTo>
                  <a:lnTo>
                    <a:pt x="4947" y="4953"/>
                  </a:lnTo>
                  <a:lnTo>
                    <a:pt x="5002" y="4919"/>
                  </a:lnTo>
                  <a:lnTo>
                    <a:pt x="5057" y="4884"/>
                  </a:lnTo>
                  <a:lnTo>
                    <a:pt x="5111" y="4848"/>
                  </a:lnTo>
                  <a:lnTo>
                    <a:pt x="5165" y="4810"/>
                  </a:lnTo>
                  <a:lnTo>
                    <a:pt x="5487" y="5262"/>
                  </a:lnTo>
                  <a:lnTo>
                    <a:pt x="5423" y="5310"/>
                  </a:lnTo>
                  <a:lnTo>
                    <a:pt x="5357" y="5357"/>
                  </a:lnTo>
                  <a:lnTo>
                    <a:pt x="5291" y="5401"/>
                  </a:lnTo>
                  <a:lnTo>
                    <a:pt x="5225" y="5445"/>
                  </a:lnTo>
                  <a:lnTo>
                    <a:pt x="5158" y="5486"/>
                  </a:lnTo>
                  <a:lnTo>
                    <a:pt x="5090" y="5527"/>
                  </a:lnTo>
                  <a:lnTo>
                    <a:pt x="5023" y="5565"/>
                  </a:lnTo>
                  <a:lnTo>
                    <a:pt x="4955" y="5603"/>
                  </a:lnTo>
                  <a:lnTo>
                    <a:pt x="4885" y="5638"/>
                  </a:lnTo>
                  <a:lnTo>
                    <a:pt x="4817" y="5673"/>
                  </a:lnTo>
                  <a:lnTo>
                    <a:pt x="4747" y="5705"/>
                  </a:lnTo>
                  <a:lnTo>
                    <a:pt x="4677" y="5736"/>
                  </a:lnTo>
                  <a:lnTo>
                    <a:pt x="4607" y="5766"/>
                  </a:lnTo>
                  <a:lnTo>
                    <a:pt x="4536" y="5794"/>
                  </a:lnTo>
                  <a:lnTo>
                    <a:pt x="4464" y="5820"/>
                  </a:lnTo>
                  <a:lnTo>
                    <a:pt x="4392" y="5846"/>
                  </a:lnTo>
                  <a:lnTo>
                    <a:pt x="4320" y="5869"/>
                  </a:lnTo>
                  <a:lnTo>
                    <a:pt x="4247" y="5891"/>
                  </a:lnTo>
                  <a:lnTo>
                    <a:pt x="4174" y="5912"/>
                  </a:lnTo>
                  <a:lnTo>
                    <a:pt x="4100" y="5930"/>
                  </a:lnTo>
                  <a:lnTo>
                    <a:pt x="4026" y="5948"/>
                  </a:lnTo>
                  <a:lnTo>
                    <a:pt x="3951" y="5963"/>
                  </a:lnTo>
                  <a:lnTo>
                    <a:pt x="3876" y="5978"/>
                  </a:lnTo>
                  <a:lnTo>
                    <a:pt x="3800" y="5991"/>
                  </a:lnTo>
                  <a:lnTo>
                    <a:pt x="3724" y="6002"/>
                  </a:lnTo>
                  <a:lnTo>
                    <a:pt x="3648" y="6012"/>
                  </a:lnTo>
                  <a:lnTo>
                    <a:pt x="3570" y="6020"/>
                  </a:lnTo>
                  <a:lnTo>
                    <a:pt x="3493" y="6027"/>
                  </a:lnTo>
                  <a:lnTo>
                    <a:pt x="3415" y="6033"/>
                  </a:lnTo>
                  <a:lnTo>
                    <a:pt x="3337" y="6036"/>
                  </a:lnTo>
                  <a:lnTo>
                    <a:pt x="3258" y="6039"/>
                  </a:lnTo>
                  <a:lnTo>
                    <a:pt x="3178" y="6039"/>
                  </a:lnTo>
                  <a:lnTo>
                    <a:pt x="3099" y="6039"/>
                  </a:lnTo>
                  <a:lnTo>
                    <a:pt x="3021" y="6037"/>
                  </a:lnTo>
                  <a:lnTo>
                    <a:pt x="2943" y="6034"/>
                  </a:lnTo>
                  <a:lnTo>
                    <a:pt x="2865" y="6029"/>
                  </a:lnTo>
                  <a:lnTo>
                    <a:pt x="2788" y="6024"/>
                  </a:lnTo>
                  <a:lnTo>
                    <a:pt x="2713" y="6017"/>
                  </a:lnTo>
                  <a:lnTo>
                    <a:pt x="2638" y="6008"/>
                  </a:lnTo>
                  <a:lnTo>
                    <a:pt x="2564" y="5999"/>
                  </a:lnTo>
                  <a:lnTo>
                    <a:pt x="2490" y="5987"/>
                  </a:lnTo>
                  <a:lnTo>
                    <a:pt x="2418" y="5975"/>
                  </a:lnTo>
                  <a:lnTo>
                    <a:pt x="2346" y="5962"/>
                  </a:lnTo>
                  <a:lnTo>
                    <a:pt x="2274" y="5947"/>
                  </a:lnTo>
                  <a:lnTo>
                    <a:pt x="2204" y="5931"/>
                  </a:lnTo>
                  <a:lnTo>
                    <a:pt x="2135" y="5914"/>
                  </a:lnTo>
                  <a:lnTo>
                    <a:pt x="2066" y="5895"/>
                  </a:lnTo>
                  <a:lnTo>
                    <a:pt x="1997" y="5875"/>
                  </a:lnTo>
                  <a:lnTo>
                    <a:pt x="1931" y="5854"/>
                  </a:lnTo>
                  <a:lnTo>
                    <a:pt x="1864" y="5833"/>
                  </a:lnTo>
                  <a:lnTo>
                    <a:pt x="1799" y="5808"/>
                  </a:lnTo>
                  <a:lnTo>
                    <a:pt x="1735" y="5784"/>
                  </a:lnTo>
                  <a:lnTo>
                    <a:pt x="1671" y="5758"/>
                  </a:lnTo>
                  <a:lnTo>
                    <a:pt x="1608" y="5731"/>
                  </a:lnTo>
                  <a:lnTo>
                    <a:pt x="1547" y="5703"/>
                  </a:lnTo>
                  <a:lnTo>
                    <a:pt x="1486" y="5673"/>
                  </a:lnTo>
                  <a:lnTo>
                    <a:pt x="1427" y="5642"/>
                  </a:lnTo>
                  <a:lnTo>
                    <a:pt x="1368" y="5610"/>
                  </a:lnTo>
                  <a:lnTo>
                    <a:pt x="1310" y="5576"/>
                  </a:lnTo>
                  <a:lnTo>
                    <a:pt x="1254" y="5542"/>
                  </a:lnTo>
                  <a:lnTo>
                    <a:pt x="1198" y="5507"/>
                  </a:lnTo>
                  <a:lnTo>
                    <a:pt x="1143" y="5469"/>
                  </a:lnTo>
                  <a:lnTo>
                    <a:pt x="1089" y="5432"/>
                  </a:lnTo>
                  <a:lnTo>
                    <a:pt x="1037" y="5392"/>
                  </a:lnTo>
                  <a:lnTo>
                    <a:pt x="1003" y="5366"/>
                  </a:lnTo>
                  <a:lnTo>
                    <a:pt x="972" y="5341"/>
                  </a:lnTo>
                  <a:lnTo>
                    <a:pt x="941" y="5314"/>
                  </a:lnTo>
                  <a:lnTo>
                    <a:pt x="909" y="5288"/>
                  </a:lnTo>
                  <a:lnTo>
                    <a:pt x="879" y="5262"/>
                  </a:lnTo>
                  <a:lnTo>
                    <a:pt x="849" y="5234"/>
                  </a:lnTo>
                  <a:lnTo>
                    <a:pt x="820" y="5207"/>
                  </a:lnTo>
                  <a:lnTo>
                    <a:pt x="791" y="5180"/>
                  </a:lnTo>
                  <a:lnTo>
                    <a:pt x="763" y="5152"/>
                  </a:lnTo>
                  <a:lnTo>
                    <a:pt x="735" y="5124"/>
                  </a:lnTo>
                  <a:lnTo>
                    <a:pt x="707" y="5097"/>
                  </a:lnTo>
                  <a:lnTo>
                    <a:pt x="681" y="5068"/>
                  </a:lnTo>
                  <a:lnTo>
                    <a:pt x="655" y="5040"/>
                  </a:lnTo>
                  <a:lnTo>
                    <a:pt x="630" y="5011"/>
                  </a:lnTo>
                  <a:lnTo>
                    <a:pt x="604" y="4981"/>
                  </a:lnTo>
                  <a:lnTo>
                    <a:pt x="580" y="4952"/>
                  </a:lnTo>
                  <a:lnTo>
                    <a:pt x="556" y="4922"/>
                  </a:lnTo>
                  <a:lnTo>
                    <a:pt x="532" y="4893"/>
                  </a:lnTo>
                  <a:lnTo>
                    <a:pt x="509" y="4863"/>
                  </a:lnTo>
                  <a:lnTo>
                    <a:pt x="486" y="4832"/>
                  </a:lnTo>
                  <a:lnTo>
                    <a:pt x="464" y="4802"/>
                  </a:lnTo>
                  <a:lnTo>
                    <a:pt x="443" y="4772"/>
                  </a:lnTo>
                  <a:lnTo>
                    <a:pt x="423" y="4740"/>
                  </a:lnTo>
                  <a:lnTo>
                    <a:pt x="401" y="4710"/>
                  </a:lnTo>
                  <a:lnTo>
                    <a:pt x="382" y="4678"/>
                  </a:lnTo>
                  <a:lnTo>
                    <a:pt x="362" y="4646"/>
                  </a:lnTo>
                  <a:lnTo>
                    <a:pt x="344" y="4615"/>
                  </a:lnTo>
                  <a:lnTo>
                    <a:pt x="326" y="4582"/>
                  </a:lnTo>
                  <a:lnTo>
                    <a:pt x="307" y="4550"/>
                  </a:lnTo>
                  <a:lnTo>
                    <a:pt x="290" y="4518"/>
                  </a:lnTo>
                  <a:lnTo>
                    <a:pt x="273" y="4484"/>
                  </a:lnTo>
                  <a:lnTo>
                    <a:pt x="257" y="4451"/>
                  </a:lnTo>
                  <a:lnTo>
                    <a:pt x="241" y="4417"/>
                  </a:lnTo>
                  <a:lnTo>
                    <a:pt x="226" y="4384"/>
                  </a:lnTo>
                  <a:lnTo>
                    <a:pt x="211" y="4349"/>
                  </a:lnTo>
                  <a:lnTo>
                    <a:pt x="196" y="4316"/>
                  </a:lnTo>
                  <a:lnTo>
                    <a:pt x="183" y="4281"/>
                  </a:lnTo>
                  <a:lnTo>
                    <a:pt x="169" y="4246"/>
                  </a:lnTo>
                  <a:lnTo>
                    <a:pt x="157" y="4211"/>
                  </a:lnTo>
                  <a:lnTo>
                    <a:pt x="145" y="4175"/>
                  </a:lnTo>
                  <a:lnTo>
                    <a:pt x="133" y="4140"/>
                  </a:lnTo>
                  <a:lnTo>
                    <a:pt x="122" y="4104"/>
                  </a:lnTo>
                  <a:lnTo>
                    <a:pt x="110" y="4068"/>
                  </a:lnTo>
                  <a:lnTo>
                    <a:pt x="100" y="4032"/>
                  </a:lnTo>
                  <a:lnTo>
                    <a:pt x="90" y="3994"/>
                  </a:lnTo>
                  <a:lnTo>
                    <a:pt x="81" y="3958"/>
                  </a:lnTo>
                  <a:lnTo>
                    <a:pt x="72" y="3920"/>
                  </a:lnTo>
                  <a:lnTo>
                    <a:pt x="64" y="3883"/>
                  </a:lnTo>
                  <a:lnTo>
                    <a:pt x="56" y="3844"/>
                  </a:lnTo>
                  <a:lnTo>
                    <a:pt x="49" y="3807"/>
                  </a:lnTo>
                  <a:lnTo>
                    <a:pt x="42" y="3768"/>
                  </a:lnTo>
                  <a:lnTo>
                    <a:pt x="36" y="3730"/>
                  </a:lnTo>
                  <a:lnTo>
                    <a:pt x="31" y="3690"/>
                  </a:lnTo>
                  <a:lnTo>
                    <a:pt x="25" y="3651"/>
                  </a:lnTo>
                  <a:lnTo>
                    <a:pt x="21" y="3611"/>
                  </a:lnTo>
                  <a:lnTo>
                    <a:pt x="16" y="3572"/>
                  </a:lnTo>
                  <a:lnTo>
                    <a:pt x="12" y="3531"/>
                  </a:lnTo>
                  <a:lnTo>
                    <a:pt x="9" y="3492"/>
                  </a:lnTo>
                  <a:lnTo>
                    <a:pt x="6" y="3450"/>
                  </a:lnTo>
                  <a:lnTo>
                    <a:pt x="4" y="3410"/>
                  </a:lnTo>
                  <a:lnTo>
                    <a:pt x="2" y="3368"/>
                  </a:lnTo>
                  <a:lnTo>
                    <a:pt x="1" y="3327"/>
                  </a:lnTo>
                  <a:lnTo>
                    <a:pt x="0" y="3285"/>
                  </a:lnTo>
                  <a:lnTo>
                    <a:pt x="0" y="3244"/>
                  </a:lnTo>
                  <a:lnTo>
                    <a:pt x="0" y="3173"/>
                  </a:lnTo>
                  <a:lnTo>
                    <a:pt x="2" y="3103"/>
                  </a:lnTo>
                  <a:lnTo>
                    <a:pt x="6" y="3034"/>
                  </a:lnTo>
                  <a:lnTo>
                    <a:pt x="11" y="2966"/>
                  </a:lnTo>
                  <a:lnTo>
                    <a:pt x="17" y="2897"/>
                  </a:lnTo>
                  <a:lnTo>
                    <a:pt x="25" y="2829"/>
                  </a:lnTo>
                  <a:lnTo>
                    <a:pt x="34" y="2761"/>
                  </a:lnTo>
                  <a:lnTo>
                    <a:pt x="44" y="2694"/>
                  </a:lnTo>
                  <a:lnTo>
                    <a:pt x="56" y="2627"/>
                  </a:lnTo>
                  <a:lnTo>
                    <a:pt x="69" y="2561"/>
                  </a:lnTo>
                  <a:lnTo>
                    <a:pt x="83" y="2496"/>
                  </a:lnTo>
                  <a:lnTo>
                    <a:pt x="99" y="2430"/>
                  </a:lnTo>
                  <a:lnTo>
                    <a:pt x="116" y="2365"/>
                  </a:lnTo>
                  <a:lnTo>
                    <a:pt x="135" y="2300"/>
                  </a:lnTo>
                  <a:lnTo>
                    <a:pt x="155" y="2237"/>
                  </a:lnTo>
                  <a:lnTo>
                    <a:pt x="176" y="2173"/>
                  </a:lnTo>
                  <a:lnTo>
                    <a:pt x="199" y="2110"/>
                  </a:lnTo>
                  <a:lnTo>
                    <a:pt x="224" y="2048"/>
                  </a:lnTo>
                  <a:lnTo>
                    <a:pt x="249" y="1987"/>
                  </a:lnTo>
                  <a:lnTo>
                    <a:pt x="275" y="1926"/>
                  </a:lnTo>
                  <a:lnTo>
                    <a:pt x="303" y="1865"/>
                  </a:lnTo>
                  <a:lnTo>
                    <a:pt x="333" y="1805"/>
                  </a:lnTo>
                  <a:lnTo>
                    <a:pt x="363" y="1747"/>
                  </a:lnTo>
                  <a:lnTo>
                    <a:pt x="395" y="1688"/>
                  </a:lnTo>
                  <a:lnTo>
                    <a:pt x="428" y="1630"/>
                  </a:lnTo>
                  <a:lnTo>
                    <a:pt x="462" y="1574"/>
                  </a:lnTo>
                  <a:lnTo>
                    <a:pt x="498" y="1518"/>
                  </a:lnTo>
                  <a:lnTo>
                    <a:pt x="535" y="1462"/>
                  </a:lnTo>
                  <a:lnTo>
                    <a:pt x="573" y="1408"/>
                  </a:lnTo>
                  <a:lnTo>
                    <a:pt x="613" y="1353"/>
                  </a:lnTo>
                  <a:lnTo>
                    <a:pt x="654" y="1299"/>
                  </a:lnTo>
                  <a:lnTo>
                    <a:pt x="696" y="1247"/>
                  </a:lnTo>
                  <a:lnTo>
                    <a:pt x="728" y="1208"/>
                  </a:lnTo>
                  <a:lnTo>
                    <a:pt x="759" y="1171"/>
                  </a:lnTo>
                  <a:lnTo>
                    <a:pt x="790" y="1134"/>
                  </a:lnTo>
                  <a:lnTo>
                    <a:pt x="823" y="1098"/>
                  </a:lnTo>
                  <a:lnTo>
                    <a:pt x="855" y="1062"/>
                  </a:lnTo>
                  <a:lnTo>
                    <a:pt x="888" y="1027"/>
                  </a:lnTo>
                  <a:lnTo>
                    <a:pt x="922" y="992"/>
                  </a:lnTo>
                  <a:lnTo>
                    <a:pt x="956" y="959"/>
                  </a:lnTo>
                  <a:lnTo>
                    <a:pt x="990" y="926"/>
                  </a:lnTo>
                  <a:lnTo>
                    <a:pt x="1025" y="892"/>
                  </a:lnTo>
                  <a:lnTo>
                    <a:pt x="1060" y="861"/>
                  </a:lnTo>
                  <a:lnTo>
                    <a:pt x="1095" y="828"/>
                  </a:lnTo>
                  <a:lnTo>
                    <a:pt x="1132" y="798"/>
                  </a:lnTo>
                  <a:lnTo>
                    <a:pt x="1168" y="768"/>
                  </a:lnTo>
                  <a:lnTo>
                    <a:pt x="1205" y="737"/>
                  </a:lnTo>
                  <a:lnTo>
                    <a:pt x="1242" y="708"/>
                  </a:lnTo>
                  <a:lnTo>
                    <a:pt x="1280" y="680"/>
                  </a:lnTo>
                  <a:lnTo>
                    <a:pt x="1318" y="651"/>
                  </a:lnTo>
                  <a:lnTo>
                    <a:pt x="1356" y="624"/>
                  </a:lnTo>
                  <a:lnTo>
                    <a:pt x="1395" y="597"/>
                  </a:lnTo>
                  <a:lnTo>
                    <a:pt x="1435" y="570"/>
                  </a:lnTo>
                  <a:lnTo>
                    <a:pt x="1474" y="544"/>
                  </a:lnTo>
                  <a:lnTo>
                    <a:pt x="1515" y="519"/>
                  </a:lnTo>
                  <a:lnTo>
                    <a:pt x="1555" y="494"/>
                  </a:lnTo>
                  <a:lnTo>
                    <a:pt x="1595" y="470"/>
                  </a:lnTo>
                  <a:lnTo>
                    <a:pt x="1637" y="447"/>
                  </a:lnTo>
                  <a:lnTo>
                    <a:pt x="1679" y="423"/>
                  </a:lnTo>
                  <a:lnTo>
                    <a:pt x="1722" y="401"/>
                  </a:lnTo>
                  <a:lnTo>
                    <a:pt x="1764" y="379"/>
                  </a:lnTo>
                  <a:lnTo>
                    <a:pt x="1806" y="358"/>
                  </a:lnTo>
                  <a:lnTo>
                    <a:pt x="1850" y="337"/>
                  </a:lnTo>
                  <a:lnTo>
                    <a:pt x="1894" y="317"/>
                  </a:lnTo>
                  <a:lnTo>
                    <a:pt x="1938" y="298"/>
                  </a:lnTo>
                  <a:lnTo>
                    <a:pt x="1983" y="279"/>
                  </a:lnTo>
                  <a:lnTo>
                    <a:pt x="2028" y="260"/>
                  </a:lnTo>
                  <a:lnTo>
                    <a:pt x="2072" y="243"/>
                  </a:lnTo>
                  <a:lnTo>
                    <a:pt x="2118" y="226"/>
                  </a:lnTo>
                  <a:lnTo>
                    <a:pt x="2164" y="210"/>
                  </a:lnTo>
                  <a:lnTo>
                    <a:pt x="2210" y="194"/>
                  </a:lnTo>
                  <a:lnTo>
                    <a:pt x="2256" y="178"/>
                  </a:lnTo>
                  <a:lnTo>
                    <a:pt x="2302" y="164"/>
                  </a:lnTo>
                  <a:lnTo>
                    <a:pt x="2349" y="150"/>
                  </a:lnTo>
                  <a:lnTo>
                    <a:pt x="2396" y="137"/>
                  </a:lnTo>
                  <a:lnTo>
                    <a:pt x="2444" y="124"/>
                  </a:lnTo>
                  <a:lnTo>
                    <a:pt x="2491" y="112"/>
                  </a:lnTo>
                  <a:lnTo>
                    <a:pt x="2540" y="101"/>
                  </a:lnTo>
                  <a:lnTo>
                    <a:pt x="2587" y="89"/>
                  </a:lnTo>
                  <a:lnTo>
                    <a:pt x="2636" y="79"/>
                  </a:lnTo>
                  <a:lnTo>
                    <a:pt x="2685" y="70"/>
                  </a:lnTo>
                  <a:lnTo>
                    <a:pt x="2734" y="61"/>
                  </a:lnTo>
                  <a:lnTo>
                    <a:pt x="2783" y="53"/>
                  </a:lnTo>
                  <a:lnTo>
                    <a:pt x="2834" y="45"/>
                  </a:lnTo>
                  <a:lnTo>
                    <a:pt x="2883" y="38"/>
                  </a:lnTo>
                  <a:lnTo>
                    <a:pt x="2934" y="31"/>
                  </a:lnTo>
                  <a:lnTo>
                    <a:pt x="2984" y="26"/>
                  </a:lnTo>
                  <a:lnTo>
                    <a:pt x="3035" y="20"/>
                  </a:lnTo>
                  <a:lnTo>
                    <a:pt x="3086" y="15"/>
                  </a:lnTo>
                  <a:lnTo>
                    <a:pt x="3138" y="11"/>
                  </a:lnTo>
                  <a:lnTo>
                    <a:pt x="3189" y="7"/>
                  </a:lnTo>
                  <a:lnTo>
                    <a:pt x="3242" y="5"/>
                  </a:lnTo>
                  <a:lnTo>
                    <a:pt x="3293" y="3"/>
                  </a:lnTo>
                  <a:lnTo>
                    <a:pt x="3347" y="1"/>
                  </a:lnTo>
                  <a:lnTo>
                    <a:pt x="3399" y="0"/>
                  </a:lnTo>
                  <a:lnTo>
                    <a:pt x="3453" y="0"/>
                  </a:lnTo>
                  <a:lnTo>
                    <a:pt x="3523" y="0"/>
                  </a:lnTo>
                  <a:lnTo>
                    <a:pt x="3593" y="2"/>
                  </a:lnTo>
                  <a:lnTo>
                    <a:pt x="3663" y="5"/>
                  </a:lnTo>
                  <a:lnTo>
                    <a:pt x="3732" y="9"/>
                  </a:lnTo>
                  <a:lnTo>
                    <a:pt x="3800" y="15"/>
                  </a:lnTo>
                  <a:lnTo>
                    <a:pt x="3868" y="22"/>
                  </a:lnTo>
                  <a:lnTo>
                    <a:pt x="3936" y="30"/>
                  </a:lnTo>
                  <a:lnTo>
                    <a:pt x="4003" y="39"/>
                  </a:lnTo>
                  <a:lnTo>
                    <a:pt x="4068" y="49"/>
                  </a:lnTo>
                  <a:lnTo>
                    <a:pt x="4135" y="60"/>
                  </a:lnTo>
                  <a:lnTo>
                    <a:pt x="4199" y="73"/>
                  </a:lnTo>
                  <a:lnTo>
                    <a:pt x="4264" y="86"/>
                  </a:lnTo>
                  <a:lnTo>
                    <a:pt x="4329" y="102"/>
                  </a:lnTo>
                  <a:lnTo>
                    <a:pt x="4392" y="118"/>
                  </a:lnTo>
                  <a:lnTo>
                    <a:pt x="4456" y="135"/>
                  </a:lnTo>
                  <a:lnTo>
                    <a:pt x="4519" y="154"/>
                  </a:lnTo>
                  <a:lnTo>
                    <a:pt x="4580" y="173"/>
                  </a:lnTo>
                  <a:lnTo>
                    <a:pt x="4642" y="195"/>
                  </a:lnTo>
                  <a:lnTo>
                    <a:pt x="4702" y="216"/>
                  </a:lnTo>
                  <a:lnTo>
                    <a:pt x="4760" y="239"/>
                  </a:lnTo>
                  <a:lnTo>
                    <a:pt x="4818" y="264"/>
                  </a:lnTo>
                  <a:lnTo>
                    <a:pt x="4875" y="288"/>
                  </a:lnTo>
                  <a:lnTo>
                    <a:pt x="4931" y="314"/>
                  </a:lnTo>
                  <a:lnTo>
                    <a:pt x="4985" y="341"/>
                  </a:lnTo>
                  <a:lnTo>
                    <a:pt x="5039" y="370"/>
                  </a:lnTo>
                  <a:lnTo>
                    <a:pt x="5091" y="398"/>
                  </a:lnTo>
                  <a:lnTo>
                    <a:pt x="5143" y="429"/>
                  </a:lnTo>
                  <a:lnTo>
                    <a:pt x="5193" y="460"/>
                  </a:lnTo>
                  <a:lnTo>
                    <a:pt x="5243" y="492"/>
                  </a:lnTo>
                  <a:lnTo>
                    <a:pt x="5291" y="526"/>
                  </a:lnTo>
                  <a:lnTo>
                    <a:pt x="5339" y="560"/>
                  </a:lnTo>
                  <a:lnTo>
                    <a:pt x="5385" y="596"/>
                  </a:lnTo>
                  <a:lnTo>
                    <a:pt x="5441" y="640"/>
                  </a:lnTo>
                  <a:lnTo>
                    <a:pt x="5496" y="686"/>
                  </a:lnTo>
                  <a:lnTo>
                    <a:pt x="5547" y="732"/>
                  </a:lnTo>
                  <a:lnTo>
                    <a:pt x="5598" y="780"/>
                  </a:lnTo>
                  <a:lnTo>
                    <a:pt x="5646" y="828"/>
                  </a:lnTo>
                  <a:lnTo>
                    <a:pt x="5693" y="877"/>
                  </a:lnTo>
                  <a:lnTo>
                    <a:pt x="5738" y="927"/>
                  </a:lnTo>
                  <a:lnTo>
                    <a:pt x="5781" y="976"/>
                  </a:lnTo>
                  <a:lnTo>
                    <a:pt x="5823" y="1028"/>
                  </a:lnTo>
                  <a:lnTo>
                    <a:pt x="5862" y="1079"/>
                  </a:lnTo>
                  <a:lnTo>
                    <a:pt x="5901" y="1132"/>
                  </a:lnTo>
                  <a:lnTo>
                    <a:pt x="5936" y="1186"/>
                  </a:lnTo>
                  <a:lnTo>
                    <a:pt x="5970" y="1239"/>
                  </a:lnTo>
                  <a:lnTo>
                    <a:pt x="6003" y="1295"/>
                  </a:lnTo>
                  <a:lnTo>
                    <a:pt x="6034" y="1351"/>
                  </a:lnTo>
                  <a:lnTo>
                    <a:pt x="6062" y="1406"/>
                  </a:lnTo>
                  <a:lnTo>
                    <a:pt x="6089" y="1464"/>
                  </a:lnTo>
                  <a:lnTo>
                    <a:pt x="6115" y="1522"/>
                  </a:lnTo>
                  <a:lnTo>
                    <a:pt x="6138" y="1581"/>
                  </a:lnTo>
                  <a:lnTo>
                    <a:pt x="6160" y="1640"/>
                  </a:lnTo>
                  <a:lnTo>
                    <a:pt x="6180" y="1702"/>
                  </a:lnTo>
                  <a:lnTo>
                    <a:pt x="6199" y="1763"/>
                  </a:lnTo>
                  <a:lnTo>
                    <a:pt x="6215" y="1826"/>
                  </a:lnTo>
                  <a:lnTo>
                    <a:pt x="6230" y="1889"/>
                  </a:lnTo>
                  <a:lnTo>
                    <a:pt x="6243" y="1953"/>
                  </a:lnTo>
                  <a:lnTo>
                    <a:pt x="6254" y="2019"/>
                  </a:lnTo>
                  <a:lnTo>
                    <a:pt x="6263" y="2085"/>
                  </a:lnTo>
                  <a:lnTo>
                    <a:pt x="6271" y="2152"/>
                  </a:lnTo>
                  <a:lnTo>
                    <a:pt x="6277" y="2219"/>
                  </a:lnTo>
                  <a:lnTo>
                    <a:pt x="6281" y="2288"/>
                  </a:lnTo>
                  <a:lnTo>
                    <a:pt x="6284" y="2358"/>
                  </a:lnTo>
                  <a:lnTo>
                    <a:pt x="6285" y="2429"/>
                  </a:lnTo>
                  <a:lnTo>
                    <a:pt x="6284" y="2498"/>
                  </a:lnTo>
                  <a:lnTo>
                    <a:pt x="6282" y="2567"/>
                  </a:lnTo>
                  <a:lnTo>
                    <a:pt x="6277" y="2635"/>
                  </a:lnTo>
                  <a:lnTo>
                    <a:pt x="6271" y="2701"/>
                  </a:lnTo>
                  <a:lnTo>
                    <a:pt x="6264" y="2768"/>
                  </a:lnTo>
                  <a:lnTo>
                    <a:pt x="6254" y="2834"/>
                  </a:lnTo>
                  <a:lnTo>
                    <a:pt x="6244" y="2900"/>
                  </a:lnTo>
                  <a:lnTo>
                    <a:pt x="6231" y="2964"/>
                  </a:lnTo>
                  <a:lnTo>
                    <a:pt x="6217" y="3027"/>
                  </a:lnTo>
                  <a:lnTo>
                    <a:pt x="6200" y="3091"/>
                  </a:lnTo>
                  <a:lnTo>
                    <a:pt x="6182" y="3153"/>
                  </a:lnTo>
                  <a:lnTo>
                    <a:pt x="6162" y="3215"/>
                  </a:lnTo>
                  <a:lnTo>
                    <a:pt x="6141" y="3276"/>
                  </a:lnTo>
                  <a:lnTo>
                    <a:pt x="6118" y="3336"/>
                  </a:lnTo>
                  <a:lnTo>
                    <a:pt x="6094" y="3396"/>
                  </a:lnTo>
                  <a:lnTo>
                    <a:pt x="6067" y="3455"/>
                  </a:lnTo>
                  <a:lnTo>
                    <a:pt x="6039" y="3512"/>
                  </a:lnTo>
                  <a:lnTo>
                    <a:pt x="6010" y="3570"/>
                  </a:lnTo>
                  <a:lnTo>
                    <a:pt x="5978" y="3626"/>
                  </a:lnTo>
                  <a:lnTo>
                    <a:pt x="5945" y="3680"/>
                  </a:lnTo>
                  <a:lnTo>
                    <a:pt x="5911" y="3734"/>
                  </a:lnTo>
                  <a:lnTo>
                    <a:pt x="5875" y="3787"/>
                  </a:lnTo>
                  <a:lnTo>
                    <a:pt x="5838" y="3838"/>
                  </a:lnTo>
                  <a:lnTo>
                    <a:pt x="5799" y="3889"/>
                  </a:lnTo>
                  <a:lnTo>
                    <a:pt x="5758" y="3938"/>
                  </a:lnTo>
                  <a:lnTo>
                    <a:pt x="5717" y="3987"/>
                  </a:lnTo>
                  <a:lnTo>
                    <a:pt x="5673" y="4035"/>
                  </a:lnTo>
                  <a:lnTo>
                    <a:pt x="5628" y="4081"/>
                  </a:lnTo>
                  <a:lnTo>
                    <a:pt x="5581" y="4127"/>
                  </a:lnTo>
                  <a:lnTo>
                    <a:pt x="5533" y="4170"/>
                  </a:lnTo>
                  <a:lnTo>
                    <a:pt x="5483" y="4214"/>
                  </a:lnTo>
                  <a:lnTo>
                    <a:pt x="5432" y="4256"/>
                  </a:lnTo>
                  <a:lnTo>
                    <a:pt x="5404" y="4280"/>
                  </a:lnTo>
                  <a:lnTo>
                    <a:pt x="5373" y="4302"/>
                  </a:lnTo>
                  <a:lnTo>
                    <a:pt x="5344" y="4323"/>
                  </a:lnTo>
                  <a:lnTo>
                    <a:pt x="5314" y="4344"/>
                  </a:lnTo>
                  <a:lnTo>
                    <a:pt x="5283" y="4365"/>
                  </a:lnTo>
                  <a:lnTo>
                    <a:pt x="5252" y="4384"/>
                  </a:lnTo>
                  <a:lnTo>
                    <a:pt x="5221" y="4403"/>
                  </a:lnTo>
                  <a:lnTo>
                    <a:pt x="5188" y="4421"/>
                  </a:lnTo>
                  <a:lnTo>
                    <a:pt x="5156" y="4439"/>
                  </a:lnTo>
                  <a:lnTo>
                    <a:pt x="5124" y="4456"/>
                  </a:lnTo>
                  <a:lnTo>
                    <a:pt x="5090" y="4471"/>
                  </a:lnTo>
                  <a:lnTo>
                    <a:pt x="5057" y="4487"/>
                  </a:lnTo>
                  <a:lnTo>
                    <a:pt x="5024" y="4501"/>
                  </a:lnTo>
                  <a:lnTo>
                    <a:pt x="4989" y="4515"/>
                  </a:lnTo>
                  <a:lnTo>
                    <a:pt x="4954" y="4529"/>
                  </a:lnTo>
                  <a:lnTo>
                    <a:pt x="4919" y="4541"/>
                  </a:lnTo>
                  <a:lnTo>
                    <a:pt x="4883" y="4553"/>
                  </a:lnTo>
                  <a:lnTo>
                    <a:pt x="4848" y="4564"/>
                  </a:lnTo>
                  <a:lnTo>
                    <a:pt x="4812" y="4575"/>
                  </a:lnTo>
                  <a:lnTo>
                    <a:pt x="4776" y="4584"/>
                  </a:lnTo>
                  <a:lnTo>
                    <a:pt x="4740" y="4593"/>
                  </a:lnTo>
                  <a:lnTo>
                    <a:pt x="4704" y="4602"/>
                  </a:lnTo>
                  <a:lnTo>
                    <a:pt x="4667" y="4609"/>
                  </a:lnTo>
                  <a:lnTo>
                    <a:pt x="4631" y="4616"/>
                  </a:lnTo>
                  <a:lnTo>
                    <a:pt x="4593" y="4622"/>
                  </a:lnTo>
                  <a:lnTo>
                    <a:pt x="4557" y="4627"/>
                  </a:lnTo>
                  <a:lnTo>
                    <a:pt x="4520" y="4631"/>
                  </a:lnTo>
                  <a:lnTo>
                    <a:pt x="4482" y="4634"/>
                  </a:lnTo>
                  <a:lnTo>
                    <a:pt x="4445" y="4637"/>
                  </a:lnTo>
                  <a:lnTo>
                    <a:pt x="4408" y="4639"/>
                  </a:lnTo>
                  <a:lnTo>
                    <a:pt x="4370" y="4640"/>
                  </a:lnTo>
                  <a:lnTo>
                    <a:pt x="4332" y="4640"/>
                  </a:lnTo>
                  <a:lnTo>
                    <a:pt x="4288" y="4640"/>
                  </a:lnTo>
                  <a:lnTo>
                    <a:pt x="4246" y="4638"/>
                  </a:lnTo>
                  <a:lnTo>
                    <a:pt x="4206" y="4636"/>
                  </a:lnTo>
                  <a:lnTo>
                    <a:pt x="4166" y="4632"/>
                  </a:lnTo>
                  <a:lnTo>
                    <a:pt x="4128" y="4628"/>
                  </a:lnTo>
                  <a:lnTo>
                    <a:pt x="4091" y="4622"/>
                  </a:lnTo>
                  <a:lnTo>
                    <a:pt x="4056" y="4615"/>
                  </a:lnTo>
                  <a:lnTo>
                    <a:pt x="4022" y="4607"/>
                  </a:lnTo>
                  <a:lnTo>
                    <a:pt x="3988" y="4599"/>
                  </a:lnTo>
                  <a:lnTo>
                    <a:pt x="3957" y="4588"/>
                  </a:lnTo>
                  <a:lnTo>
                    <a:pt x="3927" y="4577"/>
                  </a:lnTo>
                  <a:lnTo>
                    <a:pt x="3898" y="4565"/>
                  </a:lnTo>
                  <a:lnTo>
                    <a:pt x="3870" y="4553"/>
                  </a:lnTo>
                  <a:lnTo>
                    <a:pt x="3845" y="4539"/>
                  </a:lnTo>
                  <a:lnTo>
                    <a:pt x="3820" y="4524"/>
                  </a:lnTo>
                  <a:lnTo>
                    <a:pt x="3796" y="4507"/>
                  </a:lnTo>
                  <a:lnTo>
                    <a:pt x="3774" y="4490"/>
                  </a:lnTo>
                  <a:lnTo>
                    <a:pt x="3753" y="4472"/>
                  </a:lnTo>
                  <a:lnTo>
                    <a:pt x="3733" y="4453"/>
                  </a:lnTo>
                  <a:lnTo>
                    <a:pt x="3715" y="4432"/>
                  </a:lnTo>
                  <a:lnTo>
                    <a:pt x="3697" y="4411"/>
                  </a:lnTo>
                  <a:lnTo>
                    <a:pt x="3682" y="4388"/>
                  </a:lnTo>
                  <a:lnTo>
                    <a:pt x="3667" y="4365"/>
                  </a:lnTo>
                  <a:lnTo>
                    <a:pt x="3654" y="4340"/>
                  </a:lnTo>
                  <a:lnTo>
                    <a:pt x="3642" y="4315"/>
                  </a:lnTo>
                  <a:lnTo>
                    <a:pt x="3632" y="4288"/>
                  </a:lnTo>
                  <a:lnTo>
                    <a:pt x="3623" y="4260"/>
                  </a:lnTo>
                  <a:lnTo>
                    <a:pt x="3615" y="4231"/>
                  </a:lnTo>
                  <a:lnTo>
                    <a:pt x="3609" y="4202"/>
                  </a:lnTo>
                  <a:lnTo>
                    <a:pt x="3602" y="4170"/>
                  </a:lnTo>
                  <a:lnTo>
                    <a:pt x="3598" y="4139"/>
                  </a:lnTo>
                  <a:lnTo>
                    <a:pt x="3596" y="4105"/>
                  </a:lnTo>
                  <a:close/>
                  <a:moveTo>
                    <a:pt x="3719" y="2656"/>
                  </a:moveTo>
                  <a:lnTo>
                    <a:pt x="3715" y="2624"/>
                  </a:lnTo>
                  <a:lnTo>
                    <a:pt x="3710" y="2594"/>
                  </a:lnTo>
                  <a:lnTo>
                    <a:pt x="3705" y="2565"/>
                  </a:lnTo>
                  <a:lnTo>
                    <a:pt x="3697" y="2536"/>
                  </a:lnTo>
                  <a:lnTo>
                    <a:pt x="3690" y="2509"/>
                  </a:lnTo>
                  <a:lnTo>
                    <a:pt x="3681" y="2482"/>
                  </a:lnTo>
                  <a:lnTo>
                    <a:pt x="3672" y="2456"/>
                  </a:lnTo>
                  <a:lnTo>
                    <a:pt x="3663" y="2432"/>
                  </a:lnTo>
                  <a:lnTo>
                    <a:pt x="3652" y="2408"/>
                  </a:lnTo>
                  <a:lnTo>
                    <a:pt x="3640" y="2385"/>
                  </a:lnTo>
                  <a:lnTo>
                    <a:pt x="3628" y="2363"/>
                  </a:lnTo>
                  <a:lnTo>
                    <a:pt x="3615" y="2342"/>
                  </a:lnTo>
                  <a:lnTo>
                    <a:pt x="3600" y="2322"/>
                  </a:lnTo>
                  <a:lnTo>
                    <a:pt x="3585" y="2303"/>
                  </a:lnTo>
                  <a:lnTo>
                    <a:pt x="3569" y="2285"/>
                  </a:lnTo>
                  <a:lnTo>
                    <a:pt x="3553" y="2268"/>
                  </a:lnTo>
                  <a:lnTo>
                    <a:pt x="3536" y="2252"/>
                  </a:lnTo>
                  <a:lnTo>
                    <a:pt x="3517" y="2237"/>
                  </a:lnTo>
                  <a:lnTo>
                    <a:pt x="3498" y="2222"/>
                  </a:lnTo>
                  <a:lnTo>
                    <a:pt x="3478" y="2209"/>
                  </a:lnTo>
                  <a:lnTo>
                    <a:pt x="3458" y="2197"/>
                  </a:lnTo>
                  <a:lnTo>
                    <a:pt x="3437" y="2187"/>
                  </a:lnTo>
                  <a:lnTo>
                    <a:pt x="3415" y="2177"/>
                  </a:lnTo>
                  <a:lnTo>
                    <a:pt x="3392" y="2168"/>
                  </a:lnTo>
                  <a:lnTo>
                    <a:pt x="3369" y="2160"/>
                  </a:lnTo>
                  <a:lnTo>
                    <a:pt x="3345" y="2154"/>
                  </a:lnTo>
                  <a:lnTo>
                    <a:pt x="3321" y="2148"/>
                  </a:lnTo>
                  <a:lnTo>
                    <a:pt x="3295" y="2142"/>
                  </a:lnTo>
                  <a:lnTo>
                    <a:pt x="3269" y="2139"/>
                  </a:lnTo>
                  <a:lnTo>
                    <a:pt x="3242" y="2136"/>
                  </a:lnTo>
                  <a:lnTo>
                    <a:pt x="3215" y="2134"/>
                  </a:lnTo>
                  <a:lnTo>
                    <a:pt x="3186" y="2134"/>
                  </a:lnTo>
                  <a:lnTo>
                    <a:pt x="3165" y="2134"/>
                  </a:lnTo>
                  <a:lnTo>
                    <a:pt x="3144" y="2136"/>
                  </a:lnTo>
                  <a:lnTo>
                    <a:pt x="3123" y="2138"/>
                  </a:lnTo>
                  <a:lnTo>
                    <a:pt x="3101" y="2140"/>
                  </a:lnTo>
                  <a:lnTo>
                    <a:pt x="3080" y="2145"/>
                  </a:lnTo>
                  <a:lnTo>
                    <a:pt x="3060" y="2149"/>
                  </a:lnTo>
                  <a:lnTo>
                    <a:pt x="3040" y="2154"/>
                  </a:lnTo>
                  <a:lnTo>
                    <a:pt x="3020" y="2160"/>
                  </a:lnTo>
                  <a:lnTo>
                    <a:pt x="2999" y="2167"/>
                  </a:lnTo>
                  <a:lnTo>
                    <a:pt x="2979" y="2174"/>
                  </a:lnTo>
                  <a:lnTo>
                    <a:pt x="2959" y="2183"/>
                  </a:lnTo>
                  <a:lnTo>
                    <a:pt x="2940" y="2192"/>
                  </a:lnTo>
                  <a:lnTo>
                    <a:pt x="2921" y="2201"/>
                  </a:lnTo>
                  <a:lnTo>
                    <a:pt x="2901" y="2212"/>
                  </a:lnTo>
                  <a:lnTo>
                    <a:pt x="2882" y="2223"/>
                  </a:lnTo>
                  <a:lnTo>
                    <a:pt x="2863" y="2236"/>
                  </a:lnTo>
                  <a:lnTo>
                    <a:pt x="2844" y="2249"/>
                  </a:lnTo>
                  <a:lnTo>
                    <a:pt x="2826" y="2263"/>
                  </a:lnTo>
                  <a:lnTo>
                    <a:pt x="2806" y="2278"/>
                  </a:lnTo>
                  <a:lnTo>
                    <a:pt x="2788" y="2293"/>
                  </a:lnTo>
                  <a:lnTo>
                    <a:pt x="2770" y="2310"/>
                  </a:lnTo>
                  <a:lnTo>
                    <a:pt x="2752" y="2327"/>
                  </a:lnTo>
                  <a:lnTo>
                    <a:pt x="2735" y="2344"/>
                  </a:lnTo>
                  <a:lnTo>
                    <a:pt x="2717" y="2363"/>
                  </a:lnTo>
                  <a:lnTo>
                    <a:pt x="2699" y="2382"/>
                  </a:lnTo>
                  <a:lnTo>
                    <a:pt x="2682" y="2403"/>
                  </a:lnTo>
                  <a:lnTo>
                    <a:pt x="2665" y="2424"/>
                  </a:lnTo>
                  <a:lnTo>
                    <a:pt x="2648" y="2445"/>
                  </a:lnTo>
                  <a:lnTo>
                    <a:pt x="2631" y="2467"/>
                  </a:lnTo>
                  <a:lnTo>
                    <a:pt x="2615" y="2491"/>
                  </a:lnTo>
                  <a:lnTo>
                    <a:pt x="2597" y="2515"/>
                  </a:lnTo>
                  <a:lnTo>
                    <a:pt x="2581" y="2540"/>
                  </a:lnTo>
                  <a:lnTo>
                    <a:pt x="2565" y="2566"/>
                  </a:lnTo>
                  <a:lnTo>
                    <a:pt x="2550" y="2592"/>
                  </a:lnTo>
                  <a:lnTo>
                    <a:pt x="2535" y="2618"/>
                  </a:lnTo>
                  <a:lnTo>
                    <a:pt x="2520" y="2645"/>
                  </a:lnTo>
                  <a:lnTo>
                    <a:pt x="2505" y="2671"/>
                  </a:lnTo>
                  <a:lnTo>
                    <a:pt x="2492" y="2698"/>
                  </a:lnTo>
                  <a:lnTo>
                    <a:pt x="2479" y="2726"/>
                  </a:lnTo>
                  <a:lnTo>
                    <a:pt x="2467" y="2753"/>
                  </a:lnTo>
                  <a:lnTo>
                    <a:pt x="2455" y="2780"/>
                  </a:lnTo>
                  <a:lnTo>
                    <a:pt x="2443" y="2809"/>
                  </a:lnTo>
                  <a:lnTo>
                    <a:pt x="2433" y="2837"/>
                  </a:lnTo>
                  <a:lnTo>
                    <a:pt x="2422" y="2865"/>
                  </a:lnTo>
                  <a:lnTo>
                    <a:pt x="2412" y="2895"/>
                  </a:lnTo>
                  <a:lnTo>
                    <a:pt x="2402" y="2924"/>
                  </a:lnTo>
                  <a:lnTo>
                    <a:pt x="2393" y="2953"/>
                  </a:lnTo>
                  <a:lnTo>
                    <a:pt x="2385" y="2983"/>
                  </a:lnTo>
                  <a:lnTo>
                    <a:pt x="2377" y="3013"/>
                  </a:lnTo>
                  <a:lnTo>
                    <a:pt x="2370" y="3044"/>
                  </a:lnTo>
                  <a:lnTo>
                    <a:pt x="2363" y="3074"/>
                  </a:lnTo>
                  <a:lnTo>
                    <a:pt x="2356" y="3105"/>
                  </a:lnTo>
                  <a:lnTo>
                    <a:pt x="2351" y="3137"/>
                  </a:lnTo>
                  <a:lnTo>
                    <a:pt x="2345" y="3168"/>
                  </a:lnTo>
                  <a:lnTo>
                    <a:pt x="2340" y="3199"/>
                  </a:lnTo>
                  <a:lnTo>
                    <a:pt x="2336" y="3232"/>
                  </a:lnTo>
                  <a:lnTo>
                    <a:pt x="2332" y="3264"/>
                  </a:lnTo>
                  <a:lnTo>
                    <a:pt x="2329" y="3297"/>
                  </a:lnTo>
                  <a:lnTo>
                    <a:pt x="2326" y="3329"/>
                  </a:lnTo>
                  <a:lnTo>
                    <a:pt x="2324" y="3362"/>
                  </a:lnTo>
                  <a:lnTo>
                    <a:pt x="2322" y="3396"/>
                  </a:lnTo>
                  <a:lnTo>
                    <a:pt x="2321" y="3430"/>
                  </a:lnTo>
                  <a:lnTo>
                    <a:pt x="2320" y="3464"/>
                  </a:lnTo>
                  <a:lnTo>
                    <a:pt x="2320" y="3498"/>
                  </a:lnTo>
                  <a:lnTo>
                    <a:pt x="2320" y="3532"/>
                  </a:lnTo>
                  <a:lnTo>
                    <a:pt x="2322" y="3566"/>
                  </a:lnTo>
                  <a:lnTo>
                    <a:pt x="2324" y="3597"/>
                  </a:lnTo>
                  <a:lnTo>
                    <a:pt x="2327" y="3629"/>
                  </a:lnTo>
                  <a:lnTo>
                    <a:pt x="2331" y="3659"/>
                  </a:lnTo>
                  <a:lnTo>
                    <a:pt x="2336" y="3688"/>
                  </a:lnTo>
                  <a:lnTo>
                    <a:pt x="2342" y="3717"/>
                  </a:lnTo>
                  <a:lnTo>
                    <a:pt x="2349" y="3744"/>
                  </a:lnTo>
                  <a:lnTo>
                    <a:pt x="2356" y="3770"/>
                  </a:lnTo>
                  <a:lnTo>
                    <a:pt x="2365" y="3796"/>
                  </a:lnTo>
                  <a:lnTo>
                    <a:pt x="2375" y="3820"/>
                  </a:lnTo>
                  <a:lnTo>
                    <a:pt x="2385" y="3844"/>
                  </a:lnTo>
                  <a:lnTo>
                    <a:pt x="2396" y="3867"/>
                  </a:lnTo>
                  <a:lnTo>
                    <a:pt x="2410" y="3888"/>
                  </a:lnTo>
                  <a:lnTo>
                    <a:pt x="2423" y="3908"/>
                  </a:lnTo>
                  <a:lnTo>
                    <a:pt x="2437" y="3927"/>
                  </a:lnTo>
                  <a:lnTo>
                    <a:pt x="2452" y="3947"/>
                  </a:lnTo>
                  <a:lnTo>
                    <a:pt x="2467" y="3964"/>
                  </a:lnTo>
                  <a:lnTo>
                    <a:pt x="2483" y="3980"/>
                  </a:lnTo>
                  <a:lnTo>
                    <a:pt x="2500" y="3994"/>
                  </a:lnTo>
                  <a:lnTo>
                    <a:pt x="2519" y="4008"/>
                  </a:lnTo>
                  <a:lnTo>
                    <a:pt x="2537" y="4020"/>
                  </a:lnTo>
                  <a:lnTo>
                    <a:pt x="2556" y="4032"/>
                  </a:lnTo>
                  <a:lnTo>
                    <a:pt x="2576" y="4042"/>
                  </a:lnTo>
                  <a:lnTo>
                    <a:pt x="2597" y="4051"/>
                  </a:lnTo>
                  <a:lnTo>
                    <a:pt x="2619" y="4058"/>
                  </a:lnTo>
                  <a:lnTo>
                    <a:pt x="2641" y="4065"/>
                  </a:lnTo>
                  <a:lnTo>
                    <a:pt x="2664" y="4070"/>
                  </a:lnTo>
                  <a:lnTo>
                    <a:pt x="2687" y="4074"/>
                  </a:lnTo>
                  <a:lnTo>
                    <a:pt x="2713" y="4077"/>
                  </a:lnTo>
                  <a:lnTo>
                    <a:pt x="2738" y="4079"/>
                  </a:lnTo>
                  <a:lnTo>
                    <a:pt x="2763" y="4079"/>
                  </a:lnTo>
                  <a:lnTo>
                    <a:pt x="2797" y="4079"/>
                  </a:lnTo>
                  <a:lnTo>
                    <a:pt x="2832" y="4076"/>
                  </a:lnTo>
                  <a:lnTo>
                    <a:pt x="2866" y="4072"/>
                  </a:lnTo>
                  <a:lnTo>
                    <a:pt x="2898" y="4067"/>
                  </a:lnTo>
                  <a:lnTo>
                    <a:pt x="2932" y="4060"/>
                  </a:lnTo>
                  <a:lnTo>
                    <a:pt x="2964" y="4052"/>
                  </a:lnTo>
                  <a:lnTo>
                    <a:pt x="2995" y="4042"/>
                  </a:lnTo>
                  <a:lnTo>
                    <a:pt x="3026" y="4030"/>
                  </a:lnTo>
                  <a:lnTo>
                    <a:pt x="3057" y="4017"/>
                  </a:lnTo>
                  <a:lnTo>
                    <a:pt x="3086" y="4002"/>
                  </a:lnTo>
                  <a:lnTo>
                    <a:pt x="3116" y="3986"/>
                  </a:lnTo>
                  <a:lnTo>
                    <a:pt x="3145" y="3969"/>
                  </a:lnTo>
                  <a:lnTo>
                    <a:pt x="3173" y="3950"/>
                  </a:lnTo>
                  <a:lnTo>
                    <a:pt x="3201" y="3928"/>
                  </a:lnTo>
                  <a:lnTo>
                    <a:pt x="3229" y="3906"/>
                  </a:lnTo>
                  <a:lnTo>
                    <a:pt x="3256" y="3882"/>
                  </a:lnTo>
                  <a:lnTo>
                    <a:pt x="3282" y="3857"/>
                  </a:lnTo>
                  <a:lnTo>
                    <a:pt x="3308" y="3831"/>
                  </a:lnTo>
                  <a:lnTo>
                    <a:pt x="3331" y="3804"/>
                  </a:lnTo>
                  <a:lnTo>
                    <a:pt x="3354" y="3775"/>
                  </a:lnTo>
                  <a:lnTo>
                    <a:pt x="3376" y="3746"/>
                  </a:lnTo>
                  <a:lnTo>
                    <a:pt x="3397" y="3716"/>
                  </a:lnTo>
                  <a:lnTo>
                    <a:pt x="3417" y="3684"/>
                  </a:lnTo>
                  <a:lnTo>
                    <a:pt x="3436" y="3652"/>
                  </a:lnTo>
                  <a:lnTo>
                    <a:pt x="3454" y="3619"/>
                  </a:lnTo>
                  <a:lnTo>
                    <a:pt x="3470" y="3583"/>
                  </a:lnTo>
                  <a:lnTo>
                    <a:pt x="3486" y="3548"/>
                  </a:lnTo>
                  <a:lnTo>
                    <a:pt x="3500" y="3511"/>
                  </a:lnTo>
                  <a:lnTo>
                    <a:pt x="3515" y="3474"/>
                  </a:lnTo>
                  <a:lnTo>
                    <a:pt x="3527" y="3435"/>
                  </a:lnTo>
                  <a:lnTo>
                    <a:pt x="3539" y="3395"/>
                  </a:lnTo>
                  <a:lnTo>
                    <a:pt x="3549" y="3354"/>
                  </a:lnTo>
                  <a:lnTo>
                    <a:pt x="3719" y="2656"/>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grpSp>
      <p:cxnSp>
        <p:nvCxnSpPr>
          <p:cNvPr id="67" name="直接连接符 66"/>
          <p:cNvCxnSpPr>
            <a:endCxn id="53" idx="1"/>
          </p:cNvCxnSpPr>
          <p:nvPr/>
        </p:nvCxnSpPr>
        <p:spPr>
          <a:xfrm>
            <a:off x="5568199" y="3252369"/>
            <a:ext cx="1898245" cy="0"/>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0" name="直接连接符 69"/>
          <p:cNvCxnSpPr>
            <a:endCxn id="52" idx="1"/>
          </p:cNvCxnSpPr>
          <p:nvPr/>
        </p:nvCxnSpPr>
        <p:spPr>
          <a:xfrm flipV="1">
            <a:off x="5452585" y="2744755"/>
            <a:ext cx="1606729" cy="453992"/>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cxnSp>
        <p:nvCxnSpPr>
          <p:cNvPr id="72" name="直接连接符 71"/>
          <p:cNvCxnSpPr>
            <a:endCxn id="55" idx="1"/>
          </p:cNvCxnSpPr>
          <p:nvPr/>
        </p:nvCxnSpPr>
        <p:spPr>
          <a:xfrm>
            <a:off x="5452585" y="3293028"/>
            <a:ext cx="1606729" cy="468353"/>
          </a:xfrm>
          <a:prstGeom prst="line">
            <a:avLst/>
          </a:prstGeom>
          <a:ln w="12700">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51" name="Freeform 1208"/>
          <p:cNvSpPr>
            <a:spLocks/>
          </p:cNvSpPr>
          <p:nvPr/>
        </p:nvSpPr>
        <p:spPr bwMode="ltGray">
          <a:xfrm>
            <a:off x="4488614" y="2938293"/>
            <a:ext cx="1469535"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200" b="1" dirty="0">
                <a:latin typeface="微软雅黑 Light" panose="020B0502040204020203" pitchFamily="34" charset="-122"/>
                <a:ea typeface="微软雅黑 Light" panose="020B0502040204020203" pitchFamily="34" charset="-122"/>
              </a:rPr>
              <a:t>互联网</a:t>
            </a:r>
          </a:p>
        </p:txBody>
      </p:sp>
      <p:sp>
        <p:nvSpPr>
          <p:cNvPr id="75" name="Rectangle 9"/>
          <p:cNvSpPr>
            <a:spLocks noChangeArrowheads="1"/>
          </p:cNvSpPr>
          <p:nvPr/>
        </p:nvSpPr>
        <p:spPr bwMode="auto">
          <a:xfrm>
            <a:off x="5568200" y="1597211"/>
            <a:ext cx="828258"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整个邮件</a:t>
            </a:r>
          </a:p>
        </p:txBody>
      </p:sp>
      <p:sp>
        <p:nvSpPr>
          <p:cNvPr id="76" name="Documents"/>
          <p:cNvSpPr>
            <a:spLocks noEditPoints="1" noChangeArrowheads="1"/>
          </p:cNvSpPr>
          <p:nvPr/>
        </p:nvSpPr>
        <p:spPr bwMode="auto">
          <a:xfrm>
            <a:off x="7315192" y="1378584"/>
            <a:ext cx="871546" cy="451373"/>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00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77" name="Rectangle 9"/>
          <p:cNvSpPr>
            <a:spLocks noChangeArrowheads="1"/>
          </p:cNvSpPr>
          <p:nvPr/>
        </p:nvSpPr>
        <p:spPr bwMode="auto">
          <a:xfrm>
            <a:off x="7314047" y="1513192"/>
            <a:ext cx="772675" cy="1692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所有邮件</a:t>
            </a:r>
          </a:p>
        </p:txBody>
      </p:sp>
      <p:sp>
        <p:nvSpPr>
          <p:cNvPr id="78" name="Rectangle 9"/>
          <p:cNvSpPr>
            <a:spLocks noChangeArrowheads="1"/>
          </p:cNvSpPr>
          <p:nvPr/>
        </p:nvSpPr>
        <p:spPr bwMode="auto">
          <a:xfrm rot="20578601">
            <a:off x="6004789" y="2694178"/>
            <a:ext cx="769473" cy="18466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spAutoFit/>
          </a:bodyPr>
          <a:lstStyle/>
          <a:p>
            <a:pPr algn="ctr" eaLnBrk="1" hangingPunct="1"/>
            <a:r>
              <a:rPr kumimoji="0" lang="zh-CN" altLang="en-US" sz="1200" b="1" dirty="0">
                <a:solidFill>
                  <a:srgbClr val="25221E"/>
                </a:solidFill>
                <a:latin typeface="微软雅黑 Light" panose="020B0502040204020203" pitchFamily="34" charset="-122"/>
                <a:ea typeface="微软雅黑 Light" panose="020B0502040204020203" pitchFamily="34" charset="-122"/>
              </a:rPr>
              <a:t>邮件首部</a:t>
            </a:r>
          </a:p>
        </p:txBody>
      </p:sp>
      <p:grpSp>
        <p:nvGrpSpPr>
          <p:cNvPr id="88" name="组合 87"/>
          <p:cNvGrpSpPr/>
          <p:nvPr/>
        </p:nvGrpSpPr>
        <p:grpSpPr>
          <a:xfrm>
            <a:off x="3149855" y="3381313"/>
            <a:ext cx="715074" cy="395003"/>
            <a:chOff x="3420280" y="3918130"/>
            <a:chExt cx="512274" cy="390821"/>
          </a:xfrm>
          <a:solidFill>
            <a:srgbClr val="00FFCC"/>
          </a:solidFill>
        </p:grpSpPr>
        <p:sp>
          <p:nvSpPr>
            <p:cNvPr id="86"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87"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工作</a:t>
              </a:r>
            </a:p>
          </p:txBody>
        </p:sp>
      </p:grpSp>
      <p:grpSp>
        <p:nvGrpSpPr>
          <p:cNvPr id="89" name="组合 88"/>
          <p:cNvGrpSpPr/>
          <p:nvPr/>
        </p:nvGrpSpPr>
        <p:grpSpPr>
          <a:xfrm>
            <a:off x="2905346" y="3619587"/>
            <a:ext cx="715074" cy="395003"/>
            <a:chOff x="3420280" y="3918130"/>
            <a:chExt cx="512274" cy="390821"/>
          </a:xfrm>
          <a:solidFill>
            <a:srgbClr val="00FFCC"/>
          </a:solidFill>
        </p:grpSpPr>
        <p:sp>
          <p:nvSpPr>
            <p:cNvPr id="90" name="File"/>
            <p:cNvSpPr>
              <a:spLocks noEditPoints="1" noChangeArrowheads="1"/>
            </p:cNvSpPr>
            <p:nvPr/>
          </p:nvSpPr>
          <p:spPr bwMode="auto">
            <a:xfrm>
              <a:off x="3420280" y="3918130"/>
              <a:ext cx="512274" cy="390821"/>
            </a:xfrm>
            <a:custGeom>
              <a:avLst/>
              <a:gdLst>
                <a:gd name="T0" fmla="*/ 10981 w 21600"/>
                <a:gd name="T1" fmla="*/ 3240 h 21600"/>
                <a:gd name="T2" fmla="*/ 0 w 21600"/>
                <a:gd name="T3" fmla="*/ 10800 h 21600"/>
                <a:gd name="T4" fmla="*/ 10800 w 21600"/>
                <a:gd name="T5" fmla="*/ 21600 h 21600"/>
                <a:gd name="T6" fmla="*/ 21600 w 21600"/>
                <a:gd name="T7" fmla="*/ 10800 h 21600"/>
                <a:gd name="T8" fmla="*/ 0 w 21600"/>
                <a:gd name="T9" fmla="*/ 21600 h 21600"/>
                <a:gd name="T10" fmla="*/ 21600 w 21600"/>
                <a:gd name="T11" fmla="*/ 21600 h 21600"/>
                <a:gd name="T12" fmla="*/ 1086 w 21600"/>
                <a:gd name="T13" fmla="*/ 4628 h 21600"/>
                <a:gd name="T14" fmla="*/ 20635 w 21600"/>
                <a:gd name="T15" fmla="*/ 20289 h 21600"/>
              </a:gdLst>
              <a:ahLst/>
              <a:cxnLst>
                <a:cxn ang="0">
                  <a:pos x="T0" y="T1"/>
                </a:cxn>
                <a:cxn ang="0">
                  <a:pos x="T2" y="T3"/>
                </a:cxn>
                <a:cxn ang="0">
                  <a:pos x="T4" y="T5"/>
                </a:cxn>
                <a:cxn ang="0">
                  <a:pos x="T6" y="T7"/>
                </a:cxn>
                <a:cxn ang="0">
                  <a:pos x="T8" y="T9"/>
                </a:cxn>
                <a:cxn ang="0">
                  <a:pos x="T10" y="T11"/>
                </a:cxn>
              </a:cxnLst>
              <a:rect l="T12" t="T13" r="T14" b="T15"/>
              <a:pathLst>
                <a:path w="21600" h="21600">
                  <a:moveTo>
                    <a:pt x="19790" y="3240"/>
                  </a:moveTo>
                  <a:cubicBezTo>
                    <a:pt x="10981" y="3240"/>
                    <a:pt x="9171" y="3240"/>
                    <a:pt x="9050" y="3086"/>
                  </a:cubicBezTo>
                  <a:cubicBezTo>
                    <a:pt x="9050" y="2931"/>
                    <a:pt x="8930" y="2777"/>
                    <a:pt x="8930" y="2469"/>
                  </a:cubicBezTo>
                  <a:cubicBezTo>
                    <a:pt x="8930" y="2160"/>
                    <a:pt x="8809" y="1851"/>
                    <a:pt x="8688" y="1389"/>
                  </a:cubicBezTo>
                  <a:cubicBezTo>
                    <a:pt x="8568" y="1080"/>
                    <a:pt x="8326" y="771"/>
                    <a:pt x="8085" y="463"/>
                  </a:cubicBezTo>
                  <a:cubicBezTo>
                    <a:pt x="7723" y="154"/>
                    <a:pt x="7361" y="0"/>
                    <a:pt x="7361" y="0"/>
                  </a:cubicBezTo>
                  <a:cubicBezTo>
                    <a:pt x="7361" y="0"/>
                    <a:pt x="2293" y="0"/>
                    <a:pt x="2051" y="154"/>
                  </a:cubicBezTo>
                  <a:cubicBezTo>
                    <a:pt x="1689" y="309"/>
                    <a:pt x="1448" y="463"/>
                    <a:pt x="1327" y="771"/>
                  </a:cubicBezTo>
                  <a:cubicBezTo>
                    <a:pt x="1207" y="1080"/>
                    <a:pt x="1086" y="1389"/>
                    <a:pt x="965" y="1697"/>
                  </a:cubicBezTo>
                  <a:cubicBezTo>
                    <a:pt x="845" y="2160"/>
                    <a:pt x="724" y="2314"/>
                    <a:pt x="724" y="2469"/>
                  </a:cubicBezTo>
                  <a:cubicBezTo>
                    <a:pt x="603" y="2623"/>
                    <a:pt x="603" y="2777"/>
                    <a:pt x="483" y="2931"/>
                  </a:cubicBezTo>
                  <a:cubicBezTo>
                    <a:pt x="483" y="3086"/>
                    <a:pt x="362" y="3240"/>
                    <a:pt x="241" y="3240"/>
                  </a:cubicBezTo>
                  <a:lnTo>
                    <a:pt x="0" y="3394"/>
                  </a:lnTo>
                  <a:lnTo>
                    <a:pt x="0" y="3703"/>
                  </a:lnTo>
                  <a:lnTo>
                    <a:pt x="0" y="10800"/>
                  </a:lnTo>
                  <a:lnTo>
                    <a:pt x="0" y="21600"/>
                  </a:lnTo>
                  <a:lnTo>
                    <a:pt x="10981" y="21600"/>
                  </a:lnTo>
                  <a:lnTo>
                    <a:pt x="21600" y="21600"/>
                  </a:lnTo>
                  <a:lnTo>
                    <a:pt x="21600" y="10800"/>
                  </a:lnTo>
                  <a:lnTo>
                    <a:pt x="21600" y="5246"/>
                  </a:lnTo>
                  <a:lnTo>
                    <a:pt x="21600" y="4783"/>
                  </a:lnTo>
                  <a:cubicBezTo>
                    <a:pt x="21479" y="4320"/>
                    <a:pt x="21359" y="4011"/>
                    <a:pt x="21117" y="3703"/>
                  </a:cubicBezTo>
                  <a:cubicBezTo>
                    <a:pt x="20876" y="3549"/>
                    <a:pt x="20514" y="3394"/>
                    <a:pt x="20152" y="3240"/>
                  </a:cubicBezTo>
                  <a:close/>
                </a:path>
              </a:pathLst>
            </a:custGeom>
            <a:grp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dirty="0">
                <a:latin typeface="Montserrat" panose="00000500000000000000" pitchFamily="2" charset="0"/>
                <a:ea typeface="微软雅黑 Light" panose="020B0502040204020203" pitchFamily="34" charset="-122"/>
              </a:endParaRPr>
            </a:p>
          </p:txBody>
        </p:sp>
        <p:sp>
          <p:nvSpPr>
            <p:cNvPr id="91" name="Rectangle 9"/>
            <p:cNvSpPr>
              <a:spLocks noChangeArrowheads="1"/>
            </p:cNvSpPr>
            <p:nvPr/>
          </p:nvSpPr>
          <p:spPr bwMode="auto">
            <a:xfrm>
              <a:off x="3577942" y="4043189"/>
              <a:ext cx="202115" cy="16748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p>
              <a:pPr algn="ctr" eaLnBrk="1" hangingPunct="1"/>
              <a:r>
                <a:rPr kumimoji="0" lang="zh-CN" altLang="en-US" sz="1100" b="1" dirty="0">
                  <a:solidFill>
                    <a:srgbClr val="25221E"/>
                  </a:solidFill>
                  <a:latin typeface="微软雅黑 Light" panose="020B0502040204020203" pitchFamily="34" charset="-122"/>
                  <a:ea typeface="微软雅黑 Light" panose="020B0502040204020203" pitchFamily="34" charset="-122"/>
                </a:rPr>
                <a:t>好友</a:t>
              </a:r>
            </a:p>
          </p:txBody>
        </p:sp>
      </p:grpSp>
      <p:sp>
        <p:nvSpPr>
          <p:cNvPr id="92" name="Rectangle 9"/>
          <p:cNvSpPr>
            <a:spLocks noChangeArrowheads="1"/>
          </p:cNvSpPr>
          <p:nvPr/>
        </p:nvSpPr>
        <p:spPr bwMode="auto">
          <a:xfrm>
            <a:off x="949635" y="1572753"/>
            <a:ext cx="1434336"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POP3</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
        <p:nvSpPr>
          <p:cNvPr id="93" name="Rectangle 9"/>
          <p:cNvSpPr>
            <a:spLocks noChangeArrowheads="1"/>
          </p:cNvSpPr>
          <p:nvPr/>
        </p:nvSpPr>
        <p:spPr bwMode="auto">
          <a:xfrm>
            <a:off x="942975" y="3021536"/>
            <a:ext cx="144099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tIns="0" rIns="0" bIns="0" anchor="ctr">
            <a:spAutoFit/>
          </a:bodyPr>
          <a:lstStyle/>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使用 </a:t>
            </a:r>
            <a:r>
              <a:rPr kumimoji="0" lang="en-US" altLang="zh-CN" sz="1600" b="1" dirty="0">
                <a:solidFill>
                  <a:srgbClr val="0000FF"/>
                </a:solidFill>
                <a:latin typeface="微软雅黑 Light" panose="020B0502040204020203" pitchFamily="34" charset="-122"/>
                <a:ea typeface="微软雅黑 Light" panose="020B0502040204020203" pitchFamily="34" charset="-122"/>
              </a:rPr>
              <a:t>IMAP</a:t>
            </a:r>
          </a:p>
          <a:p>
            <a:pPr algn="ctr" eaLnBrk="1" hangingPunct="1">
              <a:lnSpc>
                <a:spcPts val="1800"/>
              </a:lnSpc>
            </a:pPr>
            <a:r>
              <a:rPr kumimoji="0" lang="zh-CN" altLang="en-US" sz="1600" b="1" dirty="0">
                <a:solidFill>
                  <a:srgbClr val="0000FF"/>
                </a:solidFill>
                <a:latin typeface="微软雅黑 Light" panose="020B0502040204020203" pitchFamily="34" charset="-122"/>
                <a:ea typeface="微软雅黑 Light" panose="020B0502040204020203" pitchFamily="34" charset="-122"/>
              </a:rPr>
              <a:t>读取邮件</a:t>
            </a:r>
          </a:p>
        </p:txBody>
      </p:sp>
    </p:spTree>
    <p:extLst>
      <p:ext uri="{BB962C8B-B14F-4D97-AF65-F5344CB8AC3E}">
        <p14:creationId xmlns:p14="http://schemas.microsoft.com/office/powerpoint/2010/main" val="1931544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441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976061" y="571202"/>
            <a:ext cx="121058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必须注意</a:t>
            </a:r>
          </a:p>
        </p:txBody>
      </p:sp>
      <p:sp>
        <p:nvSpPr>
          <p:cNvPr id="4" name="Rectangle 68"/>
          <p:cNvSpPr>
            <a:spLocks noChangeArrowheads="1"/>
          </p:cNvSpPr>
          <p:nvPr/>
        </p:nvSpPr>
        <p:spPr bwMode="auto">
          <a:xfrm>
            <a:off x="556963" y="965503"/>
            <a:ext cx="8048776" cy="198079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邮件读取协议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与邮件传送协议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完全不同。</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发信人的用户代理向源邮件服务器发送邮件，以及源邮件服务器向目的邮件服务器发送邮件，都是使用 </a:t>
            </a:r>
            <a:r>
              <a:rPr lang="en-US" altLang="zh-CN" sz="2000" b="1" dirty="0">
                <a:latin typeface="微软雅黑 Light" panose="020B0502040204020203" pitchFamily="34" charset="-122"/>
                <a:ea typeface="微软雅黑 Light" panose="020B0502040204020203" pitchFamily="34" charset="-122"/>
              </a:rPr>
              <a:t>SMTP </a:t>
            </a:r>
            <a:r>
              <a:rPr lang="zh-CN" altLang="en-US" sz="2000" b="1" dirty="0">
                <a:latin typeface="微软雅黑 Light" panose="020B0502040204020203" pitchFamily="34" charset="-122"/>
                <a:ea typeface="微软雅黑 Light" panose="020B0502040204020203" pitchFamily="34" charset="-122"/>
              </a:rPr>
              <a:t>协议。</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而 </a:t>
            </a:r>
            <a:r>
              <a:rPr lang="en-US" altLang="zh-CN" sz="2000" b="1" dirty="0">
                <a:latin typeface="微软雅黑 Light" panose="020B0502040204020203" pitchFamily="34" charset="-122"/>
                <a:ea typeface="微软雅黑 Light" panose="020B0502040204020203" pitchFamily="34" charset="-122"/>
              </a:rPr>
              <a:t>POP </a:t>
            </a:r>
            <a:r>
              <a:rPr lang="zh-CN" altLang="en-US" sz="2000" b="1" dirty="0">
                <a:latin typeface="微软雅黑 Light" panose="020B0502040204020203" pitchFamily="34" charset="-122"/>
                <a:ea typeface="微软雅黑 Light" panose="020B0502040204020203" pitchFamily="34" charset="-122"/>
              </a:rPr>
              <a:t>协议或 </a:t>
            </a:r>
            <a:r>
              <a:rPr lang="en-US" altLang="zh-CN" sz="2000" b="1" dirty="0">
                <a:latin typeface="微软雅黑 Light" panose="020B0502040204020203" pitchFamily="34" charset="-122"/>
                <a:ea typeface="微软雅黑 Light" panose="020B0502040204020203" pitchFamily="34" charset="-122"/>
              </a:rPr>
              <a:t>IMAP </a:t>
            </a:r>
            <a:r>
              <a:rPr lang="zh-CN" altLang="en-US" sz="2000" b="1" dirty="0">
                <a:latin typeface="微软雅黑 Light" panose="020B0502040204020203" pitchFamily="34" charset="-122"/>
                <a:ea typeface="微软雅黑 Light" panose="020B0502040204020203" pitchFamily="34" charset="-122"/>
              </a:rPr>
              <a:t>协议则是用户从目的邮件服务器上读取邮件所使用的协议。 </a:t>
            </a:r>
          </a:p>
        </p:txBody>
      </p:sp>
      <p:cxnSp>
        <p:nvCxnSpPr>
          <p:cNvPr id="20" name="直接连接符 19"/>
          <p:cNvCxnSpPr/>
          <p:nvPr/>
        </p:nvCxnSpPr>
        <p:spPr>
          <a:xfrm>
            <a:off x="1224019" y="3416863"/>
            <a:ext cx="6697519" cy="0"/>
          </a:xfrm>
          <a:prstGeom prst="line">
            <a:avLst/>
          </a:prstGeom>
          <a:ln w="28575">
            <a:solidFill>
              <a:srgbClr val="CC00CC"/>
            </a:solidFill>
            <a:prstDash val="solid"/>
            <a:headEnd type="none" w="med" len="med"/>
            <a:tailEnd type="triangle" w="lg" len="lg"/>
          </a:ln>
        </p:spPr>
        <p:style>
          <a:lnRef idx="1">
            <a:schemeClr val="accent1"/>
          </a:lnRef>
          <a:fillRef idx="0">
            <a:schemeClr val="accent1"/>
          </a:fillRef>
          <a:effectRef idx="0">
            <a:schemeClr val="accent1"/>
          </a:effectRef>
          <a:fontRef idx="minor">
            <a:schemeClr val="tx1"/>
          </a:fontRef>
        </p:style>
      </p:cxnSp>
      <p:grpSp>
        <p:nvGrpSpPr>
          <p:cNvPr id="16" name="组合 15"/>
          <p:cNvGrpSpPr/>
          <p:nvPr/>
        </p:nvGrpSpPr>
        <p:grpSpPr>
          <a:xfrm>
            <a:off x="1251674" y="3026778"/>
            <a:ext cx="4953053" cy="311260"/>
            <a:chOff x="1251674" y="3026778"/>
            <a:chExt cx="4953053" cy="311260"/>
          </a:xfrm>
        </p:grpSpPr>
        <p:cxnSp>
          <p:nvCxnSpPr>
            <p:cNvPr id="24" name="直接连接符 23"/>
            <p:cNvCxnSpPr/>
            <p:nvPr/>
          </p:nvCxnSpPr>
          <p:spPr>
            <a:xfrm>
              <a:off x="1251674"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2914993"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直接连接符 25"/>
            <p:cNvCxnSpPr/>
            <p:nvPr/>
          </p:nvCxnSpPr>
          <p:spPr>
            <a:xfrm>
              <a:off x="6204727"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 name="组合 11"/>
            <p:cNvGrpSpPr/>
            <p:nvPr/>
          </p:nvGrpSpPr>
          <p:grpSpPr>
            <a:xfrm>
              <a:off x="1251674" y="3026778"/>
              <a:ext cx="1663319" cy="271293"/>
              <a:chOff x="1251674" y="3026778"/>
              <a:chExt cx="1663319" cy="271293"/>
            </a:xfrm>
          </p:grpSpPr>
          <p:cxnSp>
            <p:nvCxnSpPr>
              <p:cNvPr id="28" name="直接连接符 27"/>
              <p:cNvCxnSpPr/>
              <p:nvPr/>
            </p:nvCxnSpPr>
            <p:spPr>
              <a:xfrm>
                <a:off x="1251674" y="3264468"/>
                <a:ext cx="1663319"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4" name="Text Box 390"/>
              <p:cNvSpPr txBox="1">
                <a:spLocks noChangeArrowheads="1"/>
              </p:cNvSpPr>
              <p:nvPr/>
            </p:nvSpPr>
            <p:spPr bwMode="auto">
              <a:xfrm>
                <a:off x="1695380"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nvGrpSpPr>
            <p:cNvPr id="14" name="组合 13"/>
            <p:cNvGrpSpPr/>
            <p:nvPr/>
          </p:nvGrpSpPr>
          <p:grpSpPr>
            <a:xfrm>
              <a:off x="2914993" y="3026778"/>
              <a:ext cx="3289734" cy="271293"/>
              <a:chOff x="2914993" y="3026778"/>
              <a:chExt cx="3289734" cy="271293"/>
            </a:xfrm>
          </p:grpSpPr>
          <p:cxnSp>
            <p:nvCxnSpPr>
              <p:cNvPr id="30" name="直接连接符 29"/>
              <p:cNvCxnSpPr/>
              <p:nvPr/>
            </p:nvCxnSpPr>
            <p:spPr>
              <a:xfrm>
                <a:off x="2914993" y="3264468"/>
                <a:ext cx="3289734" cy="0"/>
              </a:xfrm>
              <a:prstGeom prst="line">
                <a:avLst/>
              </a:prstGeom>
              <a:ln w="12700">
                <a:solidFill>
                  <a:schemeClr val="tx1"/>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5" name="Text Box 390"/>
              <p:cNvSpPr txBox="1">
                <a:spLocks noChangeArrowheads="1"/>
              </p:cNvSpPr>
              <p:nvPr/>
            </p:nvSpPr>
            <p:spPr bwMode="auto">
              <a:xfrm>
                <a:off x="4285586" y="3026778"/>
                <a:ext cx="548548"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C00000"/>
                    </a:solidFill>
                    <a:latin typeface="微软雅黑 Light" panose="020B0502040204020203" pitchFamily="34" charset="-122"/>
                    <a:ea typeface="微软雅黑 Light" panose="020B0502040204020203" pitchFamily="34" charset="-122"/>
                  </a:rPr>
                  <a:t>SMTP</a:t>
                </a:r>
              </a:p>
            </p:txBody>
          </p:sp>
        </p:grpSp>
      </p:grpSp>
      <p:grpSp>
        <p:nvGrpSpPr>
          <p:cNvPr id="19" name="组合 18"/>
          <p:cNvGrpSpPr/>
          <p:nvPr/>
        </p:nvGrpSpPr>
        <p:grpSpPr>
          <a:xfrm>
            <a:off x="6204727" y="3026778"/>
            <a:ext cx="1685268" cy="311260"/>
            <a:chOff x="6204727" y="3026778"/>
            <a:chExt cx="1685268" cy="311260"/>
          </a:xfrm>
        </p:grpSpPr>
        <p:cxnSp>
          <p:nvCxnSpPr>
            <p:cNvPr id="27" name="直接连接符 26"/>
            <p:cNvCxnSpPr/>
            <p:nvPr/>
          </p:nvCxnSpPr>
          <p:spPr>
            <a:xfrm>
              <a:off x="7889995" y="3058628"/>
              <a:ext cx="0" cy="27941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8" name="组合 17"/>
            <p:cNvGrpSpPr/>
            <p:nvPr/>
          </p:nvGrpSpPr>
          <p:grpSpPr>
            <a:xfrm>
              <a:off x="6204727" y="3026778"/>
              <a:ext cx="1663319" cy="271293"/>
              <a:chOff x="6204727" y="3026778"/>
              <a:chExt cx="1663319" cy="271293"/>
            </a:xfrm>
          </p:grpSpPr>
          <p:cxnSp>
            <p:nvCxnSpPr>
              <p:cNvPr id="32" name="直接连接符 31"/>
              <p:cNvCxnSpPr/>
              <p:nvPr/>
            </p:nvCxnSpPr>
            <p:spPr>
              <a:xfrm>
                <a:off x="6204727" y="3264468"/>
                <a:ext cx="1663319" cy="0"/>
              </a:xfrm>
              <a:prstGeom prst="line">
                <a:avLst/>
              </a:prstGeom>
              <a:ln w="12700">
                <a:solidFill>
                  <a:srgbClr val="0000FF"/>
                </a:solidFill>
                <a:prstDash val="solid"/>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36" name="Text Box 390"/>
              <p:cNvSpPr txBox="1">
                <a:spLocks noChangeArrowheads="1"/>
              </p:cNvSpPr>
              <p:nvPr/>
            </p:nvSpPr>
            <p:spPr bwMode="auto">
              <a:xfrm>
                <a:off x="6434233" y="3026778"/>
                <a:ext cx="1152880"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POP3  </a:t>
                </a:r>
                <a:r>
                  <a:rPr kumimoji="1" lang="zh-CN" altLang="en-US" sz="1100" b="1" dirty="0">
                    <a:solidFill>
                      <a:srgbClr val="0000FF"/>
                    </a:solidFill>
                    <a:latin typeface="微软雅黑 Light" panose="020B0502040204020203" pitchFamily="34" charset="-122"/>
                    <a:ea typeface="微软雅黑 Light" panose="020B0502040204020203" pitchFamily="34" charset="-122"/>
                  </a:rPr>
                  <a:t>或 </a:t>
                </a:r>
                <a:r>
                  <a:rPr kumimoji="1" lang="en-US" altLang="zh-CN" sz="1100" b="1" dirty="0">
                    <a:solidFill>
                      <a:srgbClr val="0000FF"/>
                    </a:solidFill>
                    <a:latin typeface="微软雅黑 Light" panose="020B0502040204020203" pitchFamily="34" charset="-122"/>
                    <a:ea typeface="微软雅黑 Light" panose="020B0502040204020203" pitchFamily="34" charset="-122"/>
                  </a:rPr>
                  <a:t>IMAP</a:t>
                </a:r>
              </a:p>
            </p:txBody>
          </p:sp>
        </p:grpSp>
      </p:grpSp>
      <p:grpSp>
        <p:nvGrpSpPr>
          <p:cNvPr id="15" name="组合 14"/>
          <p:cNvGrpSpPr/>
          <p:nvPr/>
        </p:nvGrpSpPr>
        <p:grpSpPr>
          <a:xfrm>
            <a:off x="967090" y="3464161"/>
            <a:ext cx="7202234" cy="776214"/>
            <a:chOff x="967090" y="3464161"/>
            <a:chExt cx="7202234" cy="776214"/>
          </a:xfrm>
        </p:grpSpPr>
        <p:sp>
          <p:nvSpPr>
            <p:cNvPr id="5" name="矩形 4"/>
            <p:cNvSpPr/>
            <p:nvPr/>
          </p:nvSpPr>
          <p:spPr>
            <a:xfrm>
              <a:off x="2484069"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 name="矩形 5"/>
            <p:cNvSpPr/>
            <p:nvPr/>
          </p:nvSpPr>
          <p:spPr>
            <a:xfrm>
              <a:off x="5773811" y="3527223"/>
              <a:ext cx="861848" cy="430924"/>
            </a:xfrm>
            <a:prstGeom prst="rect">
              <a:avLst/>
            </a:prstGeom>
            <a:solidFill>
              <a:srgbClr val="0066FF"/>
            </a:solidFill>
          </p:spPr>
          <p:style>
            <a:lnRef idx="1">
              <a:schemeClr val="accent1"/>
            </a:lnRef>
            <a:fillRef idx="2">
              <a:schemeClr val="accent1"/>
            </a:fillRef>
            <a:effectRef idx="1">
              <a:schemeClr val="accent1"/>
            </a:effectRef>
            <a:fontRef idx="minor">
              <a:schemeClr val="dk1"/>
            </a:fontRef>
          </p:style>
          <p:txBody>
            <a:bodyPr rtlCol="0" anchor="ctr"/>
            <a:lstStyle/>
            <a:p>
              <a:pPr algn="ctr"/>
              <a:r>
                <a:rPr lang="zh-CN" altLang="en-US" sz="1200" b="1" dirty="0">
                  <a:solidFill>
                    <a:schemeClr val="bg1"/>
                  </a:solidFill>
                  <a:latin typeface="微软雅黑 Light" panose="020B0502040204020203" pitchFamily="34" charset="-122"/>
                  <a:ea typeface="微软雅黑 Light" panose="020B0502040204020203" pitchFamily="34" charset="-122"/>
                </a:rPr>
                <a:t>邮件</a:t>
              </a:r>
              <a:endParaRPr lang="en-US" altLang="zh-CN" sz="1200" b="1" dirty="0">
                <a:solidFill>
                  <a:schemeClr val="bg1"/>
                </a:solidFill>
                <a:latin typeface="微软雅黑 Light" panose="020B0502040204020203" pitchFamily="34" charset="-122"/>
                <a:ea typeface="微软雅黑 Light" panose="020B0502040204020203" pitchFamily="34" charset="-122"/>
              </a:endParaRPr>
            </a:p>
            <a:p>
              <a:pPr algn="ctr"/>
              <a:r>
                <a:rPr lang="zh-CN" altLang="en-US" sz="1200" b="1" dirty="0">
                  <a:solidFill>
                    <a:schemeClr val="bg1"/>
                  </a:solidFill>
                  <a:latin typeface="微软雅黑 Light" panose="020B0502040204020203" pitchFamily="34" charset="-122"/>
                  <a:ea typeface="微软雅黑 Light" panose="020B0502040204020203" pitchFamily="34" charset="-122"/>
                </a:rPr>
                <a:t>服务器</a:t>
              </a:r>
            </a:p>
          </p:txBody>
        </p:sp>
        <p:pic>
          <p:nvPicPr>
            <p:cNvPr id="8"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07463" y="3539120"/>
              <a:ext cx="407130" cy="407130"/>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39"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48109" y="3539120"/>
              <a:ext cx="407130" cy="407130"/>
            </a:xfrm>
            <a:prstGeom prst="rect">
              <a:avLst/>
            </a:prstGeom>
            <a:noFill/>
            <a:extLst>
              <a:ext uri="{909E8E84-426E-40DD-AFC4-6F175D3DCCD1}">
                <a14:hiddenFill xmlns:a14="http://schemas.microsoft.com/office/drawing/2010/main">
                  <a:solidFill>
                    <a:srgbClr val="FFFFFF"/>
                  </a:solidFill>
                </a14:hiddenFill>
              </a:ext>
            </a:extLst>
          </p:spPr>
        </p:pic>
        <p:cxnSp>
          <p:nvCxnSpPr>
            <p:cNvPr id="11" name="直接连接符 10"/>
            <p:cNvCxnSpPr>
              <a:stCxn id="5" idx="3"/>
              <a:endCxn id="6" idx="1"/>
            </p:cNvCxnSpPr>
            <p:nvPr/>
          </p:nvCxnSpPr>
          <p:spPr>
            <a:xfrm>
              <a:off x="3345917" y="3742685"/>
              <a:ext cx="2427894" cy="0"/>
            </a:xfrm>
            <a:prstGeom prst="line">
              <a:avLst/>
            </a:prstGeom>
            <a:ln w="28575">
              <a:solidFill>
                <a:schemeClr val="tx1"/>
              </a:solidFill>
              <a:prstDash val="solid"/>
            </a:ln>
          </p:spPr>
          <p:style>
            <a:lnRef idx="1">
              <a:schemeClr val="accent1"/>
            </a:lnRef>
            <a:fillRef idx="0">
              <a:schemeClr val="accent1"/>
            </a:fillRef>
            <a:effectRef idx="0">
              <a:schemeClr val="accent1"/>
            </a:effectRef>
            <a:fontRef idx="minor">
              <a:schemeClr val="tx1"/>
            </a:fontRef>
          </p:style>
        </p:cxnSp>
        <p:sp>
          <p:nvSpPr>
            <p:cNvPr id="7" name="Freeform 1208"/>
            <p:cNvSpPr>
              <a:spLocks/>
            </p:cNvSpPr>
            <p:nvPr/>
          </p:nvSpPr>
          <p:spPr bwMode="ltGray">
            <a:xfrm>
              <a:off x="3768255" y="3464161"/>
              <a:ext cx="1600702" cy="557048"/>
            </a:xfrm>
            <a:custGeom>
              <a:avLst/>
              <a:gdLst>
                <a:gd name="T0" fmla="*/ 603773 w 16320"/>
                <a:gd name="T1" fmla="*/ 22740 h 11943"/>
                <a:gd name="T2" fmla="*/ 669215 w 16320"/>
                <a:gd name="T3" fmla="*/ 9746 h 11943"/>
                <a:gd name="T4" fmla="*/ 745191 w 16320"/>
                <a:gd name="T5" fmla="*/ 1866 h 11943"/>
                <a:gd name="T6" fmla="*/ 902522 w 16320"/>
                <a:gd name="T7" fmla="*/ 5115 h 11943"/>
                <a:gd name="T8" fmla="*/ 1023620 w 16320"/>
                <a:gd name="T9" fmla="*/ 31484 h 11943"/>
                <a:gd name="T10" fmla="*/ 1077782 w 16320"/>
                <a:gd name="T11" fmla="*/ 71643 h 11943"/>
                <a:gd name="T12" fmla="*/ 1079649 w 16320"/>
                <a:gd name="T13" fmla="*/ 82529 h 11943"/>
                <a:gd name="T14" fmla="*/ 1090258 w 16320"/>
                <a:gd name="T15" fmla="*/ 86504 h 11943"/>
                <a:gd name="T16" fmla="*/ 1119542 w 16320"/>
                <a:gd name="T17" fmla="*/ 88543 h 11943"/>
                <a:gd name="T18" fmla="*/ 1186105 w 16320"/>
                <a:gd name="T19" fmla="*/ 108311 h 11943"/>
                <a:gd name="T20" fmla="*/ 1217855 w 16320"/>
                <a:gd name="T21" fmla="*/ 142871 h 11943"/>
                <a:gd name="T22" fmla="*/ 1208218 w 16320"/>
                <a:gd name="T23" fmla="*/ 181198 h 11943"/>
                <a:gd name="T24" fmla="*/ 1175945 w 16320"/>
                <a:gd name="T25" fmla="*/ 207533 h 11943"/>
                <a:gd name="T26" fmla="*/ 1128432 w 16320"/>
                <a:gd name="T27" fmla="*/ 226714 h 11943"/>
                <a:gd name="T28" fmla="*/ 1107365 w 16320"/>
                <a:gd name="T29" fmla="*/ 240745 h 11943"/>
                <a:gd name="T30" fmla="*/ 1135231 w 16320"/>
                <a:gd name="T31" fmla="*/ 261550 h 11943"/>
                <a:gd name="T32" fmla="*/ 1144046 w 16320"/>
                <a:gd name="T33" fmla="*/ 285742 h 11943"/>
                <a:gd name="T34" fmla="*/ 1124846 w 16320"/>
                <a:gd name="T35" fmla="*/ 316708 h 11943"/>
                <a:gd name="T36" fmla="*/ 1063065 w 16320"/>
                <a:gd name="T37" fmla="*/ 345358 h 11943"/>
                <a:gd name="T38" fmla="*/ 976256 w 16320"/>
                <a:gd name="T39" fmla="*/ 357765 h 11943"/>
                <a:gd name="T40" fmla="*/ 922020 w 16320"/>
                <a:gd name="T41" fmla="*/ 355795 h 11943"/>
                <a:gd name="T42" fmla="*/ 902447 w 16320"/>
                <a:gd name="T43" fmla="*/ 353203 h 11943"/>
                <a:gd name="T44" fmla="*/ 884219 w 16320"/>
                <a:gd name="T45" fmla="*/ 349713 h 11943"/>
                <a:gd name="T46" fmla="*/ 879139 w 16320"/>
                <a:gd name="T47" fmla="*/ 356625 h 11943"/>
                <a:gd name="T48" fmla="*/ 872415 w 16320"/>
                <a:gd name="T49" fmla="*/ 373144 h 11943"/>
                <a:gd name="T50" fmla="*/ 832672 w 16320"/>
                <a:gd name="T51" fmla="*/ 398131 h 11943"/>
                <a:gd name="T52" fmla="*/ 769471 w 16320"/>
                <a:gd name="T53" fmla="*/ 411471 h 11943"/>
                <a:gd name="T54" fmla="*/ 705149 w 16320"/>
                <a:gd name="T55" fmla="*/ 410711 h 11943"/>
                <a:gd name="T56" fmla="*/ 667646 w 16320"/>
                <a:gd name="T57" fmla="*/ 403488 h 11943"/>
                <a:gd name="T58" fmla="*/ 638511 w 16320"/>
                <a:gd name="T59" fmla="*/ 392049 h 11943"/>
                <a:gd name="T60" fmla="*/ 605790 w 16320"/>
                <a:gd name="T61" fmla="*/ 388247 h 11943"/>
                <a:gd name="T62" fmla="*/ 544979 w 16320"/>
                <a:gd name="T63" fmla="*/ 399030 h 11943"/>
                <a:gd name="T64" fmla="*/ 475578 w 16320"/>
                <a:gd name="T65" fmla="*/ 404006 h 11943"/>
                <a:gd name="T66" fmla="*/ 377788 w 16320"/>
                <a:gd name="T67" fmla="*/ 400170 h 11943"/>
                <a:gd name="T68" fmla="*/ 277009 w 16320"/>
                <a:gd name="T69" fmla="*/ 378812 h 11943"/>
                <a:gd name="T70" fmla="*/ 226060 w 16320"/>
                <a:gd name="T71" fmla="*/ 344909 h 11943"/>
                <a:gd name="T72" fmla="*/ 224641 w 16320"/>
                <a:gd name="T73" fmla="*/ 325486 h 11943"/>
                <a:gd name="T74" fmla="*/ 199614 w 16320"/>
                <a:gd name="T75" fmla="*/ 328596 h 11943"/>
                <a:gd name="T76" fmla="*/ 167266 w 16320"/>
                <a:gd name="T77" fmla="*/ 330635 h 11943"/>
                <a:gd name="T78" fmla="*/ 133798 w 16320"/>
                <a:gd name="T79" fmla="*/ 329841 h 11943"/>
                <a:gd name="T80" fmla="*/ 58719 w 16320"/>
                <a:gd name="T81" fmla="*/ 315602 h 11943"/>
                <a:gd name="T82" fmla="*/ 9861 w 16320"/>
                <a:gd name="T83" fmla="*/ 286571 h 11943"/>
                <a:gd name="T84" fmla="*/ 3138 w 16320"/>
                <a:gd name="T85" fmla="*/ 249661 h 11943"/>
                <a:gd name="T86" fmla="*/ 28239 w 16320"/>
                <a:gd name="T87" fmla="*/ 223845 h 11943"/>
                <a:gd name="T88" fmla="*/ 73286 w 16320"/>
                <a:gd name="T89" fmla="*/ 204491 h 11943"/>
                <a:gd name="T90" fmla="*/ 123937 w 16320"/>
                <a:gd name="T91" fmla="*/ 192637 h 11943"/>
                <a:gd name="T92" fmla="*/ 104364 w 16320"/>
                <a:gd name="T93" fmla="*/ 174493 h 11943"/>
                <a:gd name="T94" fmla="*/ 96669 w 16320"/>
                <a:gd name="T95" fmla="*/ 154345 h 11943"/>
                <a:gd name="T96" fmla="*/ 104663 w 16320"/>
                <a:gd name="T97" fmla="*/ 129220 h 11943"/>
                <a:gd name="T98" fmla="*/ 157256 w 16320"/>
                <a:gd name="T99" fmla="*/ 93450 h 11943"/>
                <a:gd name="T100" fmla="*/ 243242 w 16320"/>
                <a:gd name="T101" fmla="*/ 73544 h 11943"/>
                <a:gd name="T102" fmla="*/ 321161 w 16320"/>
                <a:gd name="T103" fmla="*/ 72576 h 11943"/>
                <a:gd name="T104" fmla="*/ 338268 w 16320"/>
                <a:gd name="T105" fmla="*/ 74339 h 11943"/>
                <a:gd name="T106" fmla="*/ 354479 w 16320"/>
                <a:gd name="T107" fmla="*/ 76723 h 11943"/>
                <a:gd name="T108" fmla="*/ 364639 w 16320"/>
                <a:gd name="T109" fmla="*/ 78036 h 11943"/>
                <a:gd name="T110" fmla="*/ 381224 w 16320"/>
                <a:gd name="T111" fmla="*/ 58164 h 11943"/>
                <a:gd name="T112" fmla="*/ 427168 w 16320"/>
                <a:gd name="T113" fmla="*/ 35735 h 11943"/>
                <a:gd name="T114" fmla="*/ 487605 w 16320"/>
                <a:gd name="T115" fmla="*/ 26749 h 11943"/>
                <a:gd name="T116" fmla="*/ 519281 w 16320"/>
                <a:gd name="T117" fmla="*/ 28685 h 11943"/>
                <a:gd name="T118" fmla="*/ 537210 w 16320"/>
                <a:gd name="T119" fmla="*/ 32106 h 11943"/>
                <a:gd name="T120" fmla="*/ 553048 w 16320"/>
                <a:gd name="T121" fmla="*/ 37048 h 1194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16320" h="11943">
                  <a:moveTo>
                    <a:pt x="7438" y="1101"/>
                  </a:moveTo>
                  <a:lnTo>
                    <a:pt x="7496" y="1053"/>
                  </a:lnTo>
                  <a:lnTo>
                    <a:pt x="7554" y="1006"/>
                  </a:lnTo>
                  <a:lnTo>
                    <a:pt x="7615" y="960"/>
                  </a:lnTo>
                  <a:lnTo>
                    <a:pt x="7678" y="914"/>
                  </a:lnTo>
                  <a:lnTo>
                    <a:pt x="7741" y="869"/>
                  </a:lnTo>
                  <a:lnTo>
                    <a:pt x="7806" y="825"/>
                  </a:lnTo>
                  <a:lnTo>
                    <a:pt x="7873" y="782"/>
                  </a:lnTo>
                  <a:lnTo>
                    <a:pt x="7942" y="740"/>
                  </a:lnTo>
                  <a:lnTo>
                    <a:pt x="8011" y="698"/>
                  </a:lnTo>
                  <a:lnTo>
                    <a:pt x="8082" y="658"/>
                  </a:lnTo>
                  <a:lnTo>
                    <a:pt x="8156" y="618"/>
                  </a:lnTo>
                  <a:lnTo>
                    <a:pt x="8229" y="580"/>
                  </a:lnTo>
                  <a:lnTo>
                    <a:pt x="8305" y="542"/>
                  </a:lnTo>
                  <a:lnTo>
                    <a:pt x="8382" y="506"/>
                  </a:lnTo>
                  <a:lnTo>
                    <a:pt x="8461" y="470"/>
                  </a:lnTo>
                  <a:lnTo>
                    <a:pt x="8540" y="436"/>
                  </a:lnTo>
                  <a:lnTo>
                    <a:pt x="8621" y="403"/>
                  </a:lnTo>
                  <a:lnTo>
                    <a:pt x="8704" y="371"/>
                  </a:lnTo>
                  <a:lnTo>
                    <a:pt x="8786" y="340"/>
                  </a:lnTo>
                  <a:lnTo>
                    <a:pt x="8871" y="310"/>
                  </a:lnTo>
                  <a:lnTo>
                    <a:pt x="8958" y="282"/>
                  </a:lnTo>
                  <a:lnTo>
                    <a:pt x="9044" y="255"/>
                  </a:lnTo>
                  <a:lnTo>
                    <a:pt x="9132" y="228"/>
                  </a:lnTo>
                  <a:lnTo>
                    <a:pt x="9222" y="204"/>
                  </a:lnTo>
                  <a:lnTo>
                    <a:pt x="9313" y="180"/>
                  </a:lnTo>
                  <a:lnTo>
                    <a:pt x="9403" y="158"/>
                  </a:lnTo>
                  <a:lnTo>
                    <a:pt x="9496" y="137"/>
                  </a:lnTo>
                  <a:lnTo>
                    <a:pt x="9590" y="118"/>
                  </a:lnTo>
                  <a:lnTo>
                    <a:pt x="9685" y="99"/>
                  </a:lnTo>
                  <a:lnTo>
                    <a:pt x="9780" y="83"/>
                  </a:lnTo>
                  <a:lnTo>
                    <a:pt x="9877" y="68"/>
                  </a:lnTo>
                  <a:lnTo>
                    <a:pt x="9975" y="54"/>
                  </a:lnTo>
                  <a:lnTo>
                    <a:pt x="10176" y="31"/>
                  </a:lnTo>
                  <a:lnTo>
                    <a:pt x="10375" y="13"/>
                  </a:lnTo>
                  <a:lnTo>
                    <a:pt x="10574" y="4"/>
                  </a:lnTo>
                  <a:lnTo>
                    <a:pt x="10771" y="0"/>
                  </a:lnTo>
                  <a:lnTo>
                    <a:pt x="10967" y="3"/>
                  </a:lnTo>
                  <a:lnTo>
                    <a:pt x="11160" y="12"/>
                  </a:lnTo>
                  <a:lnTo>
                    <a:pt x="11351" y="27"/>
                  </a:lnTo>
                  <a:lnTo>
                    <a:pt x="11538" y="48"/>
                  </a:lnTo>
                  <a:lnTo>
                    <a:pt x="11723" y="76"/>
                  </a:lnTo>
                  <a:lnTo>
                    <a:pt x="11903" y="109"/>
                  </a:lnTo>
                  <a:lnTo>
                    <a:pt x="12081" y="148"/>
                  </a:lnTo>
                  <a:lnTo>
                    <a:pt x="12254" y="192"/>
                  </a:lnTo>
                  <a:lnTo>
                    <a:pt x="12424" y="241"/>
                  </a:lnTo>
                  <a:lnTo>
                    <a:pt x="12588" y="296"/>
                  </a:lnTo>
                  <a:lnTo>
                    <a:pt x="12747" y="356"/>
                  </a:lnTo>
                  <a:lnTo>
                    <a:pt x="12902" y="421"/>
                  </a:lnTo>
                  <a:lnTo>
                    <a:pt x="13051" y="492"/>
                  </a:lnTo>
                  <a:lnTo>
                    <a:pt x="13194" y="566"/>
                  </a:lnTo>
                  <a:lnTo>
                    <a:pt x="13330" y="645"/>
                  </a:lnTo>
                  <a:lnTo>
                    <a:pt x="13461" y="729"/>
                  </a:lnTo>
                  <a:lnTo>
                    <a:pt x="13584" y="818"/>
                  </a:lnTo>
                  <a:lnTo>
                    <a:pt x="13702" y="911"/>
                  </a:lnTo>
                  <a:lnTo>
                    <a:pt x="13811" y="1008"/>
                  </a:lnTo>
                  <a:lnTo>
                    <a:pt x="13913" y="1108"/>
                  </a:lnTo>
                  <a:lnTo>
                    <a:pt x="14008" y="1214"/>
                  </a:lnTo>
                  <a:lnTo>
                    <a:pt x="14093" y="1322"/>
                  </a:lnTo>
                  <a:lnTo>
                    <a:pt x="14171" y="1434"/>
                  </a:lnTo>
                  <a:lnTo>
                    <a:pt x="14239" y="1550"/>
                  </a:lnTo>
                  <a:lnTo>
                    <a:pt x="14299" y="1669"/>
                  </a:lnTo>
                  <a:lnTo>
                    <a:pt x="14349" y="1791"/>
                  </a:lnTo>
                  <a:lnTo>
                    <a:pt x="14390" y="1916"/>
                  </a:lnTo>
                  <a:lnTo>
                    <a:pt x="14421" y="2044"/>
                  </a:lnTo>
                  <a:lnTo>
                    <a:pt x="14427" y="2073"/>
                  </a:lnTo>
                  <a:lnTo>
                    <a:pt x="14431" y="2102"/>
                  </a:lnTo>
                  <a:lnTo>
                    <a:pt x="14436" y="2131"/>
                  </a:lnTo>
                  <a:lnTo>
                    <a:pt x="14440" y="2159"/>
                  </a:lnTo>
                  <a:lnTo>
                    <a:pt x="14443" y="2188"/>
                  </a:lnTo>
                  <a:lnTo>
                    <a:pt x="14446" y="2217"/>
                  </a:lnTo>
                  <a:lnTo>
                    <a:pt x="14448" y="2245"/>
                  </a:lnTo>
                  <a:lnTo>
                    <a:pt x="14450" y="2274"/>
                  </a:lnTo>
                  <a:lnTo>
                    <a:pt x="14451" y="2303"/>
                  </a:lnTo>
                  <a:lnTo>
                    <a:pt x="14452" y="2331"/>
                  </a:lnTo>
                  <a:lnTo>
                    <a:pt x="14452" y="2360"/>
                  </a:lnTo>
                  <a:lnTo>
                    <a:pt x="14452" y="2388"/>
                  </a:lnTo>
                  <a:lnTo>
                    <a:pt x="14451" y="2417"/>
                  </a:lnTo>
                  <a:lnTo>
                    <a:pt x="14450" y="2445"/>
                  </a:lnTo>
                  <a:lnTo>
                    <a:pt x="14448" y="2474"/>
                  </a:lnTo>
                  <a:lnTo>
                    <a:pt x="14446" y="2502"/>
                  </a:lnTo>
                  <a:lnTo>
                    <a:pt x="14467" y="2502"/>
                  </a:lnTo>
                  <a:lnTo>
                    <a:pt x="14488" y="2501"/>
                  </a:lnTo>
                  <a:lnTo>
                    <a:pt x="14510" y="2501"/>
                  </a:lnTo>
                  <a:lnTo>
                    <a:pt x="14530" y="2501"/>
                  </a:lnTo>
                  <a:lnTo>
                    <a:pt x="14551" y="2502"/>
                  </a:lnTo>
                  <a:lnTo>
                    <a:pt x="14573" y="2502"/>
                  </a:lnTo>
                  <a:lnTo>
                    <a:pt x="14594" y="2503"/>
                  </a:lnTo>
                  <a:lnTo>
                    <a:pt x="14615" y="2504"/>
                  </a:lnTo>
                  <a:lnTo>
                    <a:pt x="14636" y="2505"/>
                  </a:lnTo>
                  <a:lnTo>
                    <a:pt x="14657" y="2507"/>
                  </a:lnTo>
                  <a:lnTo>
                    <a:pt x="14679" y="2508"/>
                  </a:lnTo>
                  <a:lnTo>
                    <a:pt x="14699" y="2510"/>
                  </a:lnTo>
                  <a:lnTo>
                    <a:pt x="14721" y="2512"/>
                  </a:lnTo>
                  <a:lnTo>
                    <a:pt x="14742" y="2515"/>
                  </a:lnTo>
                  <a:lnTo>
                    <a:pt x="14762" y="2517"/>
                  </a:lnTo>
                  <a:lnTo>
                    <a:pt x="14784" y="2520"/>
                  </a:lnTo>
                  <a:lnTo>
                    <a:pt x="14886" y="2538"/>
                  </a:lnTo>
                  <a:lnTo>
                    <a:pt x="14986" y="2562"/>
                  </a:lnTo>
                  <a:lnTo>
                    <a:pt x="15083" y="2591"/>
                  </a:lnTo>
                  <a:lnTo>
                    <a:pt x="15178" y="2624"/>
                  </a:lnTo>
                  <a:lnTo>
                    <a:pt x="15268" y="2663"/>
                  </a:lnTo>
                  <a:lnTo>
                    <a:pt x="15356" y="2706"/>
                  </a:lnTo>
                  <a:lnTo>
                    <a:pt x="15441" y="2755"/>
                  </a:lnTo>
                  <a:lnTo>
                    <a:pt x="15522" y="2808"/>
                  </a:lnTo>
                  <a:lnTo>
                    <a:pt x="15601" y="2865"/>
                  </a:lnTo>
                  <a:lnTo>
                    <a:pt x="15675" y="2927"/>
                  </a:lnTo>
                  <a:lnTo>
                    <a:pt x="15747" y="2991"/>
                  </a:lnTo>
                  <a:lnTo>
                    <a:pt x="15814" y="3061"/>
                  </a:lnTo>
                  <a:lnTo>
                    <a:pt x="15877" y="3134"/>
                  </a:lnTo>
                  <a:lnTo>
                    <a:pt x="15938" y="3210"/>
                  </a:lnTo>
                  <a:lnTo>
                    <a:pt x="15994" y="3290"/>
                  </a:lnTo>
                  <a:lnTo>
                    <a:pt x="16045" y="3373"/>
                  </a:lnTo>
                  <a:lnTo>
                    <a:pt x="16093" y="3459"/>
                  </a:lnTo>
                  <a:lnTo>
                    <a:pt x="16136" y="3548"/>
                  </a:lnTo>
                  <a:lnTo>
                    <a:pt x="16175" y="3641"/>
                  </a:lnTo>
                  <a:lnTo>
                    <a:pt x="16210" y="3735"/>
                  </a:lnTo>
                  <a:lnTo>
                    <a:pt x="16239" y="3831"/>
                  </a:lnTo>
                  <a:lnTo>
                    <a:pt x="16265" y="3931"/>
                  </a:lnTo>
                  <a:lnTo>
                    <a:pt x="16286" y="4031"/>
                  </a:lnTo>
                  <a:lnTo>
                    <a:pt x="16302" y="4134"/>
                  </a:lnTo>
                  <a:lnTo>
                    <a:pt x="16313" y="4239"/>
                  </a:lnTo>
                  <a:lnTo>
                    <a:pt x="16319" y="4345"/>
                  </a:lnTo>
                  <a:lnTo>
                    <a:pt x="16320" y="4453"/>
                  </a:lnTo>
                  <a:lnTo>
                    <a:pt x="16316" y="4562"/>
                  </a:lnTo>
                  <a:lnTo>
                    <a:pt x="16307" y="4672"/>
                  </a:lnTo>
                  <a:lnTo>
                    <a:pt x="16291" y="4783"/>
                  </a:lnTo>
                  <a:lnTo>
                    <a:pt x="16271" y="4895"/>
                  </a:lnTo>
                  <a:lnTo>
                    <a:pt x="16246" y="5007"/>
                  </a:lnTo>
                  <a:lnTo>
                    <a:pt x="16224" y="5087"/>
                  </a:lnTo>
                  <a:lnTo>
                    <a:pt x="16200" y="5165"/>
                  </a:lnTo>
                  <a:lnTo>
                    <a:pt x="16173" y="5243"/>
                  </a:lnTo>
                  <a:lnTo>
                    <a:pt x="16145" y="5319"/>
                  </a:lnTo>
                  <a:lnTo>
                    <a:pt x="16113" y="5394"/>
                  </a:lnTo>
                  <a:lnTo>
                    <a:pt x="16080" y="5468"/>
                  </a:lnTo>
                  <a:lnTo>
                    <a:pt x="16045" y="5540"/>
                  </a:lnTo>
                  <a:lnTo>
                    <a:pt x="16007" y="5611"/>
                  </a:lnTo>
                  <a:lnTo>
                    <a:pt x="15967" y="5680"/>
                  </a:lnTo>
                  <a:lnTo>
                    <a:pt x="15925" y="5749"/>
                  </a:lnTo>
                  <a:lnTo>
                    <a:pt x="15882" y="5815"/>
                  </a:lnTo>
                  <a:lnTo>
                    <a:pt x="15837" y="5880"/>
                  </a:lnTo>
                  <a:lnTo>
                    <a:pt x="15790" y="5943"/>
                  </a:lnTo>
                  <a:lnTo>
                    <a:pt x="15741" y="6005"/>
                  </a:lnTo>
                  <a:lnTo>
                    <a:pt x="15690" y="6064"/>
                  </a:lnTo>
                  <a:lnTo>
                    <a:pt x="15638" y="6123"/>
                  </a:lnTo>
                  <a:lnTo>
                    <a:pt x="15584" y="6179"/>
                  </a:lnTo>
                  <a:lnTo>
                    <a:pt x="15528" y="6233"/>
                  </a:lnTo>
                  <a:lnTo>
                    <a:pt x="15472" y="6287"/>
                  </a:lnTo>
                  <a:lnTo>
                    <a:pt x="15414" y="6337"/>
                  </a:lnTo>
                  <a:lnTo>
                    <a:pt x="15354" y="6386"/>
                  </a:lnTo>
                  <a:lnTo>
                    <a:pt x="15294" y="6432"/>
                  </a:lnTo>
                  <a:lnTo>
                    <a:pt x="15232" y="6477"/>
                  </a:lnTo>
                  <a:lnTo>
                    <a:pt x="15169" y="6520"/>
                  </a:lnTo>
                  <a:lnTo>
                    <a:pt x="15105" y="6560"/>
                  </a:lnTo>
                  <a:lnTo>
                    <a:pt x="15040" y="6599"/>
                  </a:lnTo>
                  <a:lnTo>
                    <a:pt x="14975" y="6635"/>
                  </a:lnTo>
                  <a:lnTo>
                    <a:pt x="14907" y="6669"/>
                  </a:lnTo>
                  <a:lnTo>
                    <a:pt x="14840" y="6700"/>
                  </a:lnTo>
                  <a:lnTo>
                    <a:pt x="14771" y="6730"/>
                  </a:lnTo>
                  <a:lnTo>
                    <a:pt x="14702" y="6757"/>
                  </a:lnTo>
                  <a:lnTo>
                    <a:pt x="14632" y="6781"/>
                  </a:lnTo>
                  <a:lnTo>
                    <a:pt x="14682" y="6825"/>
                  </a:lnTo>
                  <a:lnTo>
                    <a:pt x="14731" y="6871"/>
                  </a:lnTo>
                  <a:lnTo>
                    <a:pt x="14778" y="6918"/>
                  </a:lnTo>
                  <a:lnTo>
                    <a:pt x="14823" y="6966"/>
                  </a:lnTo>
                  <a:lnTo>
                    <a:pt x="14867" y="7015"/>
                  </a:lnTo>
                  <a:lnTo>
                    <a:pt x="14907" y="7065"/>
                  </a:lnTo>
                  <a:lnTo>
                    <a:pt x="14947" y="7117"/>
                  </a:lnTo>
                  <a:lnTo>
                    <a:pt x="14985" y="7171"/>
                  </a:lnTo>
                  <a:lnTo>
                    <a:pt x="15022" y="7224"/>
                  </a:lnTo>
                  <a:lnTo>
                    <a:pt x="15055" y="7279"/>
                  </a:lnTo>
                  <a:lnTo>
                    <a:pt x="15088" y="7336"/>
                  </a:lnTo>
                  <a:lnTo>
                    <a:pt x="15117" y="7392"/>
                  </a:lnTo>
                  <a:lnTo>
                    <a:pt x="15146" y="7450"/>
                  </a:lnTo>
                  <a:lnTo>
                    <a:pt x="15171" y="7509"/>
                  </a:lnTo>
                  <a:lnTo>
                    <a:pt x="15196" y="7568"/>
                  </a:lnTo>
                  <a:lnTo>
                    <a:pt x="15217" y="7629"/>
                  </a:lnTo>
                  <a:lnTo>
                    <a:pt x="15237" y="7690"/>
                  </a:lnTo>
                  <a:lnTo>
                    <a:pt x="15255" y="7752"/>
                  </a:lnTo>
                  <a:lnTo>
                    <a:pt x="15270" y="7814"/>
                  </a:lnTo>
                  <a:lnTo>
                    <a:pt x="15284" y="7878"/>
                  </a:lnTo>
                  <a:lnTo>
                    <a:pt x="15294" y="7941"/>
                  </a:lnTo>
                  <a:lnTo>
                    <a:pt x="15303" y="8006"/>
                  </a:lnTo>
                  <a:lnTo>
                    <a:pt x="15309" y="8070"/>
                  </a:lnTo>
                  <a:lnTo>
                    <a:pt x="15313" y="8136"/>
                  </a:lnTo>
                  <a:lnTo>
                    <a:pt x="15314" y="8201"/>
                  </a:lnTo>
                  <a:lnTo>
                    <a:pt x="15314" y="8268"/>
                  </a:lnTo>
                  <a:lnTo>
                    <a:pt x="15311" y="8333"/>
                  </a:lnTo>
                  <a:lnTo>
                    <a:pt x="15305" y="8401"/>
                  </a:lnTo>
                  <a:lnTo>
                    <a:pt x="15297" y="8468"/>
                  </a:lnTo>
                  <a:lnTo>
                    <a:pt x="15286" y="8534"/>
                  </a:lnTo>
                  <a:lnTo>
                    <a:pt x="15272" y="8602"/>
                  </a:lnTo>
                  <a:lnTo>
                    <a:pt x="15257" y="8669"/>
                  </a:lnTo>
                  <a:lnTo>
                    <a:pt x="15228" y="8773"/>
                  </a:lnTo>
                  <a:lnTo>
                    <a:pt x="15193" y="8874"/>
                  </a:lnTo>
                  <a:lnTo>
                    <a:pt x="15153" y="8974"/>
                  </a:lnTo>
                  <a:lnTo>
                    <a:pt x="15107" y="9070"/>
                  </a:lnTo>
                  <a:lnTo>
                    <a:pt x="15057" y="9164"/>
                  </a:lnTo>
                  <a:lnTo>
                    <a:pt x="15002" y="9255"/>
                  </a:lnTo>
                  <a:lnTo>
                    <a:pt x="14942" y="9343"/>
                  </a:lnTo>
                  <a:lnTo>
                    <a:pt x="14879" y="9429"/>
                  </a:lnTo>
                  <a:lnTo>
                    <a:pt x="14810" y="9511"/>
                  </a:lnTo>
                  <a:lnTo>
                    <a:pt x="14738" y="9590"/>
                  </a:lnTo>
                  <a:lnTo>
                    <a:pt x="14661" y="9666"/>
                  </a:lnTo>
                  <a:lnTo>
                    <a:pt x="14582" y="9739"/>
                  </a:lnTo>
                  <a:lnTo>
                    <a:pt x="14499" y="9807"/>
                  </a:lnTo>
                  <a:lnTo>
                    <a:pt x="14413" y="9873"/>
                  </a:lnTo>
                  <a:lnTo>
                    <a:pt x="14323" y="9934"/>
                  </a:lnTo>
                  <a:lnTo>
                    <a:pt x="14230" y="9993"/>
                  </a:lnTo>
                  <a:lnTo>
                    <a:pt x="14135" y="10047"/>
                  </a:lnTo>
                  <a:lnTo>
                    <a:pt x="14037" y="10097"/>
                  </a:lnTo>
                  <a:lnTo>
                    <a:pt x="13936" y="10143"/>
                  </a:lnTo>
                  <a:lnTo>
                    <a:pt x="13834" y="10185"/>
                  </a:lnTo>
                  <a:lnTo>
                    <a:pt x="13729" y="10222"/>
                  </a:lnTo>
                  <a:lnTo>
                    <a:pt x="13623" y="10256"/>
                  </a:lnTo>
                  <a:lnTo>
                    <a:pt x="13514" y="10285"/>
                  </a:lnTo>
                  <a:lnTo>
                    <a:pt x="13405" y="10308"/>
                  </a:lnTo>
                  <a:lnTo>
                    <a:pt x="13294" y="10328"/>
                  </a:lnTo>
                  <a:lnTo>
                    <a:pt x="13181" y="10342"/>
                  </a:lnTo>
                  <a:lnTo>
                    <a:pt x="13068" y="10352"/>
                  </a:lnTo>
                  <a:lnTo>
                    <a:pt x="12954" y="10358"/>
                  </a:lnTo>
                  <a:lnTo>
                    <a:pt x="12839" y="10357"/>
                  </a:lnTo>
                  <a:lnTo>
                    <a:pt x="12723" y="10351"/>
                  </a:lnTo>
                  <a:lnTo>
                    <a:pt x="12608" y="10341"/>
                  </a:lnTo>
                  <a:lnTo>
                    <a:pt x="12492" y="10325"/>
                  </a:lnTo>
                  <a:lnTo>
                    <a:pt x="12466" y="10321"/>
                  </a:lnTo>
                  <a:lnTo>
                    <a:pt x="12442" y="10316"/>
                  </a:lnTo>
                  <a:lnTo>
                    <a:pt x="12416" y="10311"/>
                  </a:lnTo>
                  <a:lnTo>
                    <a:pt x="12392" y="10306"/>
                  </a:lnTo>
                  <a:lnTo>
                    <a:pt x="12366" y="10301"/>
                  </a:lnTo>
                  <a:lnTo>
                    <a:pt x="12342" y="10295"/>
                  </a:lnTo>
                  <a:lnTo>
                    <a:pt x="12318" y="10290"/>
                  </a:lnTo>
                  <a:lnTo>
                    <a:pt x="12293" y="10284"/>
                  </a:lnTo>
                  <a:lnTo>
                    <a:pt x="12269" y="10278"/>
                  </a:lnTo>
                  <a:lnTo>
                    <a:pt x="12245" y="10272"/>
                  </a:lnTo>
                  <a:lnTo>
                    <a:pt x="12221" y="10264"/>
                  </a:lnTo>
                  <a:lnTo>
                    <a:pt x="12197" y="10258"/>
                  </a:lnTo>
                  <a:lnTo>
                    <a:pt x="12174" y="10251"/>
                  </a:lnTo>
                  <a:lnTo>
                    <a:pt x="12150" y="10244"/>
                  </a:lnTo>
                  <a:lnTo>
                    <a:pt x="12127" y="10236"/>
                  </a:lnTo>
                  <a:lnTo>
                    <a:pt x="12103" y="10228"/>
                  </a:lnTo>
                  <a:lnTo>
                    <a:pt x="12080" y="10220"/>
                  </a:lnTo>
                  <a:lnTo>
                    <a:pt x="12057" y="10212"/>
                  </a:lnTo>
                  <a:lnTo>
                    <a:pt x="12034" y="10204"/>
                  </a:lnTo>
                  <a:lnTo>
                    <a:pt x="12012" y="10196"/>
                  </a:lnTo>
                  <a:lnTo>
                    <a:pt x="11989" y="10186"/>
                  </a:lnTo>
                  <a:lnTo>
                    <a:pt x="11967" y="10177"/>
                  </a:lnTo>
                  <a:lnTo>
                    <a:pt x="11944" y="10168"/>
                  </a:lnTo>
                  <a:lnTo>
                    <a:pt x="11923" y="10159"/>
                  </a:lnTo>
                  <a:lnTo>
                    <a:pt x="11900" y="10150"/>
                  </a:lnTo>
                  <a:lnTo>
                    <a:pt x="11879" y="10139"/>
                  </a:lnTo>
                  <a:lnTo>
                    <a:pt x="11858" y="10129"/>
                  </a:lnTo>
                  <a:lnTo>
                    <a:pt x="11836" y="10119"/>
                  </a:lnTo>
                  <a:lnTo>
                    <a:pt x="11815" y="10109"/>
                  </a:lnTo>
                  <a:lnTo>
                    <a:pt x="11793" y="10098"/>
                  </a:lnTo>
                  <a:lnTo>
                    <a:pt x="11773" y="10087"/>
                  </a:lnTo>
                  <a:lnTo>
                    <a:pt x="11751" y="10076"/>
                  </a:lnTo>
                  <a:lnTo>
                    <a:pt x="11757" y="10111"/>
                  </a:lnTo>
                  <a:lnTo>
                    <a:pt x="11761" y="10144"/>
                  </a:lnTo>
                  <a:lnTo>
                    <a:pt x="11764" y="10179"/>
                  </a:lnTo>
                  <a:lnTo>
                    <a:pt x="11766" y="10213"/>
                  </a:lnTo>
                  <a:lnTo>
                    <a:pt x="11768" y="10248"/>
                  </a:lnTo>
                  <a:lnTo>
                    <a:pt x="11769" y="10283"/>
                  </a:lnTo>
                  <a:lnTo>
                    <a:pt x="11768" y="10319"/>
                  </a:lnTo>
                  <a:lnTo>
                    <a:pt x="11767" y="10353"/>
                  </a:lnTo>
                  <a:lnTo>
                    <a:pt x="11765" y="10388"/>
                  </a:lnTo>
                  <a:lnTo>
                    <a:pt x="11763" y="10424"/>
                  </a:lnTo>
                  <a:lnTo>
                    <a:pt x="11759" y="10459"/>
                  </a:lnTo>
                  <a:lnTo>
                    <a:pt x="11753" y="10495"/>
                  </a:lnTo>
                  <a:lnTo>
                    <a:pt x="11748" y="10531"/>
                  </a:lnTo>
                  <a:lnTo>
                    <a:pt x="11742" y="10567"/>
                  </a:lnTo>
                  <a:lnTo>
                    <a:pt x="11734" y="10602"/>
                  </a:lnTo>
                  <a:lnTo>
                    <a:pt x="11726" y="10637"/>
                  </a:lnTo>
                  <a:lnTo>
                    <a:pt x="11705" y="10718"/>
                  </a:lnTo>
                  <a:lnTo>
                    <a:pt x="11678" y="10797"/>
                  </a:lnTo>
                  <a:lnTo>
                    <a:pt x="11647" y="10874"/>
                  </a:lnTo>
                  <a:lnTo>
                    <a:pt x="11613" y="10949"/>
                  </a:lnTo>
                  <a:lnTo>
                    <a:pt x="11574" y="11021"/>
                  </a:lnTo>
                  <a:lnTo>
                    <a:pt x="11532" y="11092"/>
                  </a:lnTo>
                  <a:lnTo>
                    <a:pt x="11486" y="11161"/>
                  </a:lnTo>
                  <a:lnTo>
                    <a:pt x="11437" y="11226"/>
                  </a:lnTo>
                  <a:lnTo>
                    <a:pt x="11385" y="11291"/>
                  </a:lnTo>
                  <a:lnTo>
                    <a:pt x="11329" y="11352"/>
                  </a:lnTo>
                  <a:lnTo>
                    <a:pt x="11271" y="11411"/>
                  </a:lnTo>
                  <a:lnTo>
                    <a:pt x="11210" y="11467"/>
                  </a:lnTo>
                  <a:lnTo>
                    <a:pt x="11146" y="11520"/>
                  </a:lnTo>
                  <a:lnTo>
                    <a:pt x="11079" y="11570"/>
                  </a:lnTo>
                  <a:lnTo>
                    <a:pt x="11010" y="11619"/>
                  </a:lnTo>
                  <a:lnTo>
                    <a:pt x="10938" y="11664"/>
                  </a:lnTo>
                  <a:lnTo>
                    <a:pt x="10865" y="11705"/>
                  </a:lnTo>
                  <a:lnTo>
                    <a:pt x="10789" y="11744"/>
                  </a:lnTo>
                  <a:lnTo>
                    <a:pt x="10711" y="11779"/>
                  </a:lnTo>
                  <a:lnTo>
                    <a:pt x="10632" y="11811"/>
                  </a:lnTo>
                  <a:lnTo>
                    <a:pt x="10551" y="11841"/>
                  </a:lnTo>
                  <a:lnTo>
                    <a:pt x="10468" y="11866"/>
                  </a:lnTo>
                  <a:lnTo>
                    <a:pt x="10385" y="11888"/>
                  </a:lnTo>
                  <a:lnTo>
                    <a:pt x="10300" y="11906"/>
                  </a:lnTo>
                  <a:lnTo>
                    <a:pt x="10214" y="11922"/>
                  </a:lnTo>
                  <a:lnTo>
                    <a:pt x="10127" y="11932"/>
                  </a:lnTo>
                  <a:lnTo>
                    <a:pt x="10039" y="11939"/>
                  </a:lnTo>
                  <a:lnTo>
                    <a:pt x="9950" y="11943"/>
                  </a:lnTo>
                  <a:lnTo>
                    <a:pt x="9861" y="11942"/>
                  </a:lnTo>
                  <a:lnTo>
                    <a:pt x="9772" y="11938"/>
                  </a:lnTo>
                  <a:lnTo>
                    <a:pt x="9682" y="11929"/>
                  </a:lnTo>
                  <a:lnTo>
                    <a:pt x="9592" y="11917"/>
                  </a:lnTo>
                  <a:lnTo>
                    <a:pt x="9540" y="11906"/>
                  </a:lnTo>
                  <a:lnTo>
                    <a:pt x="9489" y="11896"/>
                  </a:lnTo>
                  <a:lnTo>
                    <a:pt x="9439" y="11884"/>
                  </a:lnTo>
                  <a:lnTo>
                    <a:pt x="9389" y="11871"/>
                  </a:lnTo>
                  <a:lnTo>
                    <a:pt x="9340" y="11856"/>
                  </a:lnTo>
                  <a:lnTo>
                    <a:pt x="9292" y="11841"/>
                  </a:lnTo>
                  <a:lnTo>
                    <a:pt x="9245" y="11824"/>
                  </a:lnTo>
                  <a:lnTo>
                    <a:pt x="9198" y="11806"/>
                  </a:lnTo>
                  <a:lnTo>
                    <a:pt x="9152" y="11787"/>
                  </a:lnTo>
                  <a:lnTo>
                    <a:pt x="9108" y="11766"/>
                  </a:lnTo>
                  <a:lnTo>
                    <a:pt x="9064" y="11746"/>
                  </a:lnTo>
                  <a:lnTo>
                    <a:pt x="9021" y="11723"/>
                  </a:lnTo>
                  <a:lnTo>
                    <a:pt x="8978" y="11699"/>
                  </a:lnTo>
                  <a:lnTo>
                    <a:pt x="8937" y="11675"/>
                  </a:lnTo>
                  <a:lnTo>
                    <a:pt x="8896" y="11649"/>
                  </a:lnTo>
                  <a:lnTo>
                    <a:pt x="8857" y="11623"/>
                  </a:lnTo>
                  <a:lnTo>
                    <a:pt x="8819" y="11595"/>
                  </a:lnTo>
                  <a:lnTo>
                    <a:pt x="8781" y="11567"/>
                  </a:lnTo>
                  <a:lnTo>
                    <a:pt x="8744" y="11538"/>
                  </a:lnTo>
                  <a:lnTo>
                    <a:pt x="8709" y="11508"/>
                  </a:lnTo>
                  <a:lnTo>
                    <a:pt x="8674" y="11477"/>
                  </a:lnTo>
                  <a:lnTo>
                    <a:pt x="8640" y="11444"/>
                  </a:lnTo>
                  <a:lnTo>
                    <a:pt x="8608" y="11413"/>
                  </a:lnTo>
                  <a:lnTo>
                    <a:pt x="8577" y="11379"/>
                  </a:lnTo>
                  <a:lnTo>
                    <a:pt x="8547" y="11344"/>
                  </a:lnTo>
                  <a:lnTo>
                    <a:pt x="8517" y="11309"/>
                  </a:lnTo>
                  <a:lnTo>
                    <a:pt x="8489" y="11273"/>
                  </a:lnTo>
                  <a:lnTo>
                    <a:pt x="8462" y="11237"/>
                  </a:lnTo>
                  <a:lnTo>
                    <a:pt x="8436" y="11201"/>
                  </a:lnTo>
                  <a:lnTo>
                    <a:pt x="8412" y="11163"/>
                  </a:lnTo>
                  <a:lnTo>
                    <a:pt x="8388" y="11124"/>
                  </a:lnTo>
                  <a:lnTo>
                    <a:pt x="8366" y="11085"/>
                  </a:lnTo>
                  <a:lnTo>
                    <a:pt x="8304" y="11124"/>
                  </a:lnTo>
                  <a:lnTo>
                    <a:pt x="8241" y="11162"/>
                  </a:lnTo>
                  <a:lnTo>
                    <a:pt x="8175" y="11199"/>
                  </a:lnTo>
                  <a:lnTo>
                    <a:pt x="8109" y="11234"/>
                  </a:lnTo>
                  <a:lnTo>
                    <a:pt x="8041" y="11269"/>
                  </a:lnTo>
                  <a:lnTo>
                    <a:pt x="7971" y="11302"/>
                  </a:lnTo>
                  <a:lnTo>
                    <a:pt x="7901" y="11335"/>
                  </a:lnTo>
                  <a:lnTo>
                    <a:pt x="7830" y="11366"/>
                  </a:lnTo>
                  <a:lnTo>
                    <a:pt x="7756" y="11395"/>
                  </a:lnTo>
                  <a:lnTo>
                    <a:pt x="7683" y="11424"/>
                  </a:lnTo>
                  <a:lnTo>
                    <a:pt x="7607" y="11451"/>
                  </a:lnTo>
                  <a:lnTo>
                    <a:pt x="7531" y="11476"/>
                  </a:lnTo>
                  <a:lnTo>
                    <a:pt x="7453" y="11501"/>
                  </a:lnTo>
                  <a:lnTo>
                    <a:pt x="7375" y="11524"/>
                  </a:lnTo>
                  <a:lnTo>
                    <a:pt x="7295" y="11546"/>
                  </a:lnTo>
                  <a:lnTo>
                    <a:pt x="7214" y="11566"/>
                  </a:lnTo>
                  <a:lnTo>
                    <a:pt x="7133" y="11586"/>
                  </a:lnTo>
                  <a:lnTo>
                    <a:pt x="7050" y="11603"/>
                  </a:lnTo>
                  <a:lnTo>
                    <a:pt x="6968" y="11620"/>
                  </a:lnTo>
                  <a:lnTo>
                    <a:pt x="6884" y="11634"/>
                  </a:lnTo>
                  <a:lnTo>
                    <a:pt x="6799" y="11647"/>
                  </a:lnTo>
                  <a:lnTo>
                    <a:pt x="6714" y="11659"/>
                  </a:lnTo>
                  <a:lnTo>
                    <a:pt x="6628" y="11669"/>
                  </a:lnTo>
                  <a:lnTo>
                    <a:pt x="6541" y="11678"/>
                  </a:lnTo>
                  <a:lnTo>
                    <a:pt x="6454" y="11684"/>
                  </a:lnTo>
                  <a:lnTo>
                    <a:pt x="6366" y="11690"/>
                  </a:lnTo>
                  <a:lnTo>
                    <a:pt x="6277" y="11694"/>
                  </a:lnTo>
                  <a:lnTo>
                    <a:pt x="6188" y="11696"/>
                  </a:lnTo>
                  <a:lnTo>
                    <a:pt x="6099" y="11696"/>
                  </a:lnTo>
                  <a:lnTo>
                    <a:pt x="6009" y="11695"/>
                  </a:lnTo>
                  <a:lnTo>
                    <a:pt x="5919" y="11693"/>
                  </a:lnTo>
                  <a:lnTo>
                    <a:pt x="5828" y="11688"/>
                  </a:lnTo>
                  <a:lnTo>
                    <a:pt x="5668" y="11677"/>
                  </a:lnTo>
                  <a:lnTo>
                    <a:pt x="5510" y="11660"/>
                  </a:lnTo>
                  <a:lnTo>
                    <a:pt x="5356" y="11637"/>
                  </a:lnTo>
                  <a:lnTo>
                    <a:pt x="5205" y="11610"/>
                  </a:lnTo>
                  <a:lnTo>
                    <a:pt x="5057" y="11579"/>
                  </a:lnTo>
                  <a:lnTo>
                    <a:pt x="4912" y="11543"/>
                  </a:lnTo>
                  <a:lnTo>
                    <a:pt x="4773" y="11502"/>
                  </a:lnTo>
                  <a:lnTo>
                    <a:pt x="4636" y="11457"/>
                  </a:lnTo>
                  <a:lnTo>
                    <a:pt x="4503" y="11408"/>
                  </a:lnTo>
                  <a:lnTo>
                    <a:pt x="4376" y="11355"/>
                  </a:lnTo>
                  <a:lnTo>
                    <a:pt x="4252" y="11298"/>
                  </a:lnTo>
                  <a:lnTo>
                    <a:pt x="4133" y="11237"/>
                  </a:lnTo>
                  <a:lnTo>
                    <a:pt x="4020" y="11174"/>
                  </a:lnTo>
                  <a:lnTo>
                    <a:pt x="3911" y="11106"/>
                  </a:lnTo>
                  <a:lnTo>
                    <a:pt x="3807" y="11036"/>
                  </a:lnTo>
                  <a:lnTo>
                    <a:pt x="3708" y="10961"/>
                  </a:lnTo>
                  <a:lnTo>
                    <a:pt x="3615" y="10884"/>
                  </a:lnTo>
                  <a:lnTo>
                    <a:pt x="3528" y="10804"/>
                  </a:lnTo>
                  <a:lnTo>
                    <a:pt x="3447" y="10722"/>
                  </a:lnTo>
                  <a:lnTo>
                    <a:pt x="3371" y="10637"/>
                  </a:lnTo>
                  <a:lnTo>
                    <a:pt x="3302" y="10549"/>
                  </a:lnTo>
                  <a:lnTo>
                    <a:pt x="3239" y="10459"/>
                  </a:lnTo>
                  <a:lnTo>
                    <a:pt x="3182" y="10368"/>
                  </a:lnTo>
                  <a:lnTo>
                    <a:pt x="3133" y="10274"/>
                  </a:lnTo>
                  <a:lnTo>
                    <a:pt x="3091" y="10177"/>
                  </a:lnTo>
                  <a:lnTo>
                    <a:pt x="3055" y="10079"/>
                  </a:lnTo>
                  <a:lnTo>
                    <a:pt x="3026" y="9980"/>
                  </a:lnTo>
                  <a:lnTo>
                    <a:pt x="3006" y="9879"/>
                  </a:lnTo>
                  <a:lnTo>
                    <a:pt x="2993" y="9777"/>
                  </a:lnTo>
                  <a:lnTo>
                    <a:pt x="2987" y="9673"/>
                  </a:lnTo>
                  <a:lnTo>
                    <a:pt x="2990" y="9568"/>
                  </a:lnTo>
                  <a:lnTo>
                    <a:pt x="3000" y="9462"/>
                  </a:lnTo>
                  <a:lnTo>
                    <a:pt x="3001" y="9455"/>
                  </a:lnTo>
                  <a:lnTo>
                    <a:pt x="3003" y="9448"/>
                  </a:lnTo>
                  <a:lnTo>
                    <a:pt x="3004" y="9441"/>
                  </a:lnTo>
                  <a:lnTo>
                    <a:pt x="3005" y="9433"/>
                  </a:lnTo>
                  <a:lnTo>
                    <a:pt x="3006" y="9425"/>
                  </a:lnTo>
                  <a:lnTo>
                    <a:pt x="3007" y="9418"/>
                  </a:lnTo>
                  <a:lnTo>
                    <a:pt x="3009" y="9411"/>
                  </a:lnTo>
                  <a:lnTo>
                    <a:pt x="3010" y="9404"/>
                  </a:lnTo>
                  <a:lnTo>
                    <a:pt x="2973" y="9417"/>
                  </a:lnTo>
                  <a:lnTo>
                    <a:pt x="2937" y="9430"/>
                  </a:lnTo>
                  <a:lnTo>
                    <a:pt x="2900" y="9444"/>
                  </a:lnTo>
                  <a:lnTo>
                    <a:pt x="2862" y="9456"/>
                  </a:lnTo>
                  <a:lnTo>
                    <a:pt x="2824" y="9467"/>
                  </a:lnTo>
                  <a:lnTo>
                    <a:pt x="2787" y="9479"/>
                  </a:lnTo>
                  <a:lnTo>
                    <a:pt x="2749" y="9489"/>
                  </a:lnTo>
                  <a:lnTo>
                    <a:pt x="2711" y="9499"/>
                  </a:lnTo>
                  <a:lnTo>
                    <a:pt x="2672" y="9508"/>
                  </a:lnTo>
                  <a:lnTo>
                    <a:pt x="2634" y="9517"/>
                  </a:lnTo>
                  <a:lnTo>
                    <a:pt x="2595" y="9525"/>
                  </a:lnTo>
                  <a:lnTo>
                    <a:pt x="2556" y="9532"/>
                  </a:lnTo>
                  <a:lnTo>
                    <a:pt x="2517" y="9538"/>
                  </a:lnTo>
                  <a:lnTo>
                    <a:pt x="2478" y="9544"/>
                  </a:lnTo>
                  <a:lnTo>
                    <a:pt x="2438" y="9549"/>
                  </a:lnTo>
                  <a:lnTo>
                    <a:pt x="2399" y="9554"/>
                  </a:lnTo>
                  <a:lnTo>
                    <a:pt x="2359" y="9559"/>
                  </a:lnTo>
                  <a:lnTo>
                    <a:pt x="2318" y="9562"/>
                  </a:lnTo>
                  <a:lnTo>
                    <a:pt x="2279" y="9565"/>
                  </a:lnTo>
                  <a:lnTo>
                    <a:pt x="2239" y="9567"/>
                  </a:lnTo>
                  <a:lnTo>
                    <a:pt x="2198" y="9568"/>
                  </a:lnTo>
                  <a:lnTo>
                    <a:pt x="2158" y="9569"/>
                  </a:lnTo>
                  <a:lnTo>
                    <a:pt x="2118" y="9569"/>
                  </a:lnTo>
                  <a:lnTo>
                    <a:pt x="2077" y="9568"/>
                  </a:lnTo>
                  <a:lnTo>
                    <a:pt x="2036" y="9567"/>
                  </a:lnTo>
                  <a:lnTo>
                    <a:pt x="1995" y="9565"/>
                  </a:lnTo>
                  <a:lnTo>
                    <a:pt x="1955" y="9562"/>
                  </a:lnTo>
                  <a:lnTo>
                    <a:pt x="1914" y="9559"/>
                  </a:lnTo>
                  <a:lnTo>
                    <a:pt x="1873" y="9554"/>
                  </a:lnTo>
                  <a:lnTo>
                    <a:pt x="1832" y="9549"/>
                  </a:lnTo>
                  <a:lnTo>
                    <a:pt x="1791" y="9544"/>
                  </a:lnTo>
                  <a:lnTo>
                    <a:pt x="1750" y="9537"/>
                  </a:lnTo>
                  <a:lnTo>
                    <a:pt x="1641" y="9517"/>
                  </a:lnTo>
                  <a:lnTo>
                    <a:pt x="1534" y="9491"/>
                  </a:lnTo>
                  <a:lnTo>
                    <a:pt x="1431" y="9461"/>
                  </a:lnTo>
                  <a:lnTo>
                    <a:pt x="1329" y="9426"/>
                  </a:lnTo>
                  <a:lnTo>
                    <a:pt x="1231" y="9387"/>
                  </a:lnTo>
                  <a:lnTo>
                    <a:pt x="1135" y="9344"/>
                  </a:lnTo>
                  <a:lnTo>
                    <a:pt x="1043" y="9297"/>
                  </a:lnTo>
                  <a:lnTo>
                    <a:pt x="955" y="9246"/>
                  </a:lnTo>
                  <a:lnTo>
                    <a:pt x="868" y="9191"/>
                  </a:lnTo>
                  <a:lnTo>
                    <a:pt x="786" y="9132"/>
                  </a:lnTo>
                  <a:lnTo>
                    <a:pt x="707" y="9071"/>
                  </a:lnTo>
                  <a:lnTo>
                    <a:pt x="631" y="9005"/>
                  </a:lnTo>
                  <a:lnTo>
                    <a:pt x="560" y="8937"/>
                  </a:lnTo>
                  <a:lnTo>
                    <a:pt x="492" y="8866"/>
                  </a:lnTo>
                  <a:lnTo>
                    <a:pt x="428" y="8791"/>
                  </a:lnTo>
                  <a:lnTo>
                    <a:pt x="368" y="8714"/>
                  </a:lnTo>
                  <a:lnTo>
                    <a:pt x="312" y="8635"/>
                  </a:lnTo>
                  <a:lnTo>
                    <a:pt x="260" y="8553"/>
                  </a:lnTo>
                  <a:lnTo>
                    <a:pt x="213" y="8468"/>
                  </a:lnTo>
                  <a:lnTo>
                    <a:pt x="170" y="8382"/>
                  </a:lnTo>
                  <a:lnTo>
                    <a:pt x="132" y="8292"/>
                  </a:lnTo>
                  <a:lnTo>
                    <a:pt x="98" y="8202"/>
                  </a:lnTo>
                  <a:lnTo>
                    <a:pt x="69" y="8110"/>
                  </a:lnTo>
                  <a:lnTo>
                    <a:pt x="45" y="8016"/>
                  </a:lnTo>
                  <a:lnTo>
                    <a:pt x="27" y="7921"/>
                  </a:lnTo>
                  <a:lnTo>
                    <a:pt x="12" y="7823"/>
                  </a:lnTo>
                  <a:lnTo>
                    <a:pt x="3" y="7726"/>
                  </a:lnTo>
                  <a:lnTo>
                    <a:pt x="0" y="7627"/>
                  </a:lnTo>
                  <a:lnTo>
                    <a:pt x="2" y="7527"/>
                  </a:lnTo>
                  <a:lnTo>
                    <a:pt x="9" y="7427"/>
                  </a:lnTo>
                  <a:lnTo>
                    <a:pt x="22" y="7325"/>
                  </a:lnTo>
                  <a:lnTo>
                    <a:pt x="42" y="7224"/>
                  </a:lnTo>
                  <a:lnTo>
                    <a:pt x="59" y="7149"/>
                  </a:lnTo>
                  <a:lnTo>
                    <a:pt x="80" y="7076"/>
                  </a:lnTo>
                  <a:lnTo>
                    <a:pt x="102" y="7005"/>
                  </a:lnTo>
                  <a:lnTo>
                    <a:pt x="128" y="6934"/>
                  </a:lnTo>
                  <a:lnTo>
                    <a:pt x="156" y="6864"/>
                  </a:lnTo>
                  <a:lnTo>
                    <a:pt x="187" y="6797"/>
                  </a:lnTo>
                  <a:lnTo>
                    <a:pt x="220" y="6730"/>
                  </a:lnTo>
                  <a:lnTo>
                    <a:pt x="256" y="6665"/>
                  </a:lnTo>
                  <a:lnTo>
                    <a:pt x="295" y="6601"/>
                  </a:lnTo>
                  <a:lnTo>
                    <a:pt x="336" y="6539"/>
                  </a:lnTo>
                  <a:lnTo>
                    <a:pt x="378" y="6477"/>
                  </a:lnTo>
                  <a:lnTo>
                    <a:pt x="423" y="6418"/>
                  </a:lnTo>
                  <a:lnTo>
                    <a:pt x="470" y="6359"/>
                  </a:lnTo>
                  <a:lnTo>
                    <a:pt x="519" y="6304"/>
                  </a:lnTo>
                  <a:lnTo>
                    <a:pt x="571" y="6249"/>
                  </a:lnTo>
                  <a:lnTo>
                    <a:pt x="624" y="6197"/>
                  </a:lnTo>
                  <a:lnTo>
                    <a:pt x="679" y="6145"/>
                  </a:lnTo>
                  <a:lnTo>
                    <a:pt x="736" y="6096"/>
                  </a:lnTo>
                  <a:lnTo>
                    <a:pt x="795" y="6048"/>
                  </a:lnTo>
                  <a:lnTo>
                    <a:pt x="856" y="6003"/>
                  </a:lnTo>
                  <a:lnTo>
                    <a:pt x="917" y="5959"/>
                  </a:lnTo>
                  <a:lnTo>
                    <a:pt x="981" y="5917"/>
                  </a:lnTo>
                  <a:lnTo>
                    <a:pt x="1047" y="5878"/>
                  </a:lnTo>
                  <a:lnTo>
                    <a:pt x="1113" y="5840"/>
                  </a:lnTo>
                  <a:lnTo>
                    <a:pt x="1181" y="5804"/>
                  </a:lnTo>
                  <a:lnTo>
                    <a:pt x="1250" y="5770"/>
                  </a:lnTo>
                  <a:lnTo>
                    <a:pt x="1321" y="5740"/>
                  </a:lnTo>
                  <a:lnTo>
                    <a:pt x="1392" y="5711"/>
                  </a:lnTo>
                  <a:lnTo>
                    <a:pt x="1465" y="5683"/>
                  </a:lnTo>
                  <a:lnTo>
                    <a:pt x="1539" y="5659"/>
                  </a:lnTo>
                  <a:lnTo>
                    <a:pt x="1614" y="5637"/>
                  </a:lnTo>
                  <a:lnTo>
                    <a:pt x="1690" y="5618"/>
                  </a:lnTo>
                  <a:lnTo>
                    <a:pt x="1659" y="5574"/>
                  </a:lnTo>
                  <a:lnTo>
                    <a:pt x="1629" y="5529"/>
                  </a:lnTo>
                  <a:lnTo>
                    <a:pt x="1600" y="5484"/>
                  </a:lnTo>
                  <a:lnTo>
                    <a:pt x="1573" y="5437"/>
                  </a:lnTo>
                  <a:lnTo>
                    <a:pt x="1546" y="5391"/>
                  </a:lnTo>
                  <a:lnTo>
                    <a:pt x="1522" y="5344"/>
                  </a:lnTo>
                  <a:lnTo>
                    <a:pt x="1498" y="5296"/>
                  </a:lnTo>
                  <a:lnTo>
                    <a:pt x="1475" y="5248"/>
                  </a:lnTo>
                  <a:lnTo>
                    <a:pt x="1454" y="5199"/>
                  </a:lnTo>
                  <a:lnTo>
                    <a:pt x="1434" y="5150"/>
                  </a:lnTo>
                  <a:lnTo>
                    <a:pt x="1415" y="5099"/>
                  </a:lnTo>
                  <a:lnTo>
                    <a:pt x="1397" y="5049"/>
                  </a:lnTo>
                  <a:lnTo>
                    <a:pt x="1381" y="4998"/>
                  </a:lnTo>
                  <a:lnTo>
                    <a:pt x="1367" y="4947"/>
                  </a:lnTo>
                  <a:lnTo>
                    <a:pt x="1353" y="4895"/>
                  </a:lnTo>
                  <a:lnTo>
                    <a:pt x="1340" y="4842"/>
                  </a:lnTo>
                  <a:lnTo>
                    <a:pt x="1330" y="4790"/>
                  </a:lnTo>
                  <a:lnTo>
                    <a:pt x="1320" y="4737"/>
                  </a:lnTo>
                  <a:lnTo>
                    <a:pt x="1312" y="4683"/>
                  </a:lnTo>
                  <a:lnTo>
                    <a:pt x="1306" y="4629"/>
                  </a:lnTo>
                  <a:lnTo>
                    <a:pt x="1301" y="4575"/>
                  </a:lnTo>
                  <a:lnTo>
                    <a:pt x="1296" y="4521"/>
                  </a:lnTo>
                  <a:lnTo>
                    <a:pt x="1294" y="4466"/>
                  </a:lnTo>
                  <a:lnTo>
                    <a:pt x="1293" y="4411"/>
                  </a:lnTo>
                  <a:lnTo>
                    <a:pt x="1293" y="4356"/>
                  </a:lnTo>
                  <a:lnTo>
                    <a:pt x="1295" y="4300"/>
                  </a:lnTo>
                  <a:lnTo>
                    <a:pt x="1299" y="4244"/>
                  </a:lnTo>
                  <a:lnTo>
                    <a:pt x="1305" y="4189"/>
                  </a:lnTo>
                  <a:lnTo>
                    <a:pt x="1312" y="4132"/>
                  </a:lnTo>
                  <a:lnTo>
                    <a:pt x="1320" y="4076"/>
                  </a:lnTo>
                  <a:lnTo>
                    <a:pt x="1329" y="4020"/>
                  </a:lnTo>
                  <a:lnTo>
                    <a:pt x="1340" y="3963"/>
                  </a:lnTo>
                  <a:lnTo>
                    <a:pt x="1369" y="3850"/>
                  </a:lnTo>
                  <a:lnTo>
                    <a:pt x="1401" y="3739"/>
                  </a:lnTo>
                  <a:lnTo>
                    <a:pt x="1441" y="3630"/>
                  </a:lnTo>
                  <a:lnTo>
                    <a:pt x="1486" y="3524"/>
                  </a:lnTo>
                  <a:lnTo>
                    <a:pt x="1536" y="3420"/>
                  </a:lnTo>
                  <a:lnTo>
                    <a:pt x="1591" y="3320"/>
                  </a:lnTo>
                  <a:lnTo>
                    <a:pt x="1650" y="3223"/>
                  </a:lnTo>
                  <a:lnTo>
                    <a:pt x="1716" y="3127"/>
                  </a:lnTo>
                  <a:lnTo>
                    <a:pt x="1785" y="3036"/>
                  </a:lnTo>
                  <a:lnTo>
                    <a:pt x="1858" y="2948"/>
                  </a:lnTo>
                  <a:lnTo>
                    <a:pt x="1937" y="2863"/>
                  </a:lnTo>
                  <a:lnTo>
                    <a:pt x="2019" y="2782"/>
                  </a:lnTo>
                  <a:lnTo>
                    <a:pt x="2105" y="2704"/>
                  </a:lnTo>
                  <a:lnTo>
                    <a:pt x="2195" y="2631"/>
                  </a:lnTo>
                  <a:lnTo>
                    <a:pt x="2288" y="2561"/>
                  </a:lnTo>
                  <a:lnTo>
                    <a:pt x="2385" y="2494"/>
                  </a:lnTo>
                  <a:lnTo>
                    <a:pt x="2484" y="2433"/>
                  </a:lnTo>
                  <a:lnTo>
                    <a:pt x="2587" y="2376"/>
                  </a:lnTo>
                  <a:lnTo>
                    <a:pt x="2693" y="2322"/>
                  </a:lnTo>
                  <a:lnTo>
                    <a:pt x="2801" y="2274"/>
                  </a:lnTo>
                  <a:lnTo>
                    <a:pt x="2911" y="2230"/>
                  </a:lnTo>
                  <a:lnTo>
                    <a:pt x="3024" y="2191"/>
                  </a:lnTo>
                  <a:lnTo>
                    <a:pt x="3139" y="2157"/>
                  </a:lnTo>
                  <a:lnTo>
                    <a:pt x="3256" y="2128"/>
                  </a:lnTo>
                  <a:lnTo>
                    <a:pt x="3374" y="2104"/>
                  </a:lnTo>
                  <a:lnTo>
                    <a:pt x="3495" y="2085"/>
                  </a:lnTo>
                  <a:lnTo>
                    <a:pt x="3616" y="2071"/>
                  </a:lnTo>
                  <a:lnTo>
                    <a:pt x="3738" y="2064"/>
                  </a:lnTo>
                  <a:lnTo>
                    <a:pt x="3862" y="2061"/>
                  </a:lnTo>
                  <a:lnTo>
                    <a:pt x="3985" y="2065"/>
                  </a:lnTo>
                  <a:lnTo>
                    <a:pt x="4111" y="2074"/>
                  </a:lnTo>
                  <a:lnTo>
                    <a:pt x="4235" y="2090"/>
                  </a:lnTo>
                  <a:lnTo>
                    <a:pt x="4256" y="2094"/>
                  </a:lnTo>
                  <a:lnTo>
                    <a:pt x="4278" y="2097"/>
                  </a:lnTo>
                  <a:lnTo>
                    <a:pt x="4299" y="2100"/>
                  </a:lnTo>
                  <a:lnTo>
                    <a:pt x="4321" y="2104"/>
                  </a:lnTo>
                  <a:lnTo>
                    <a:pt x="4342" y="2108"/>
                  </a:lnTo>
                  <a:lnTo>
                    <a:pt x="4363" y="2112"/>
                  </a:lnTo>
                  <a:lnTo>
                    <a:pt x="4384" y="2116"/>
                  </a:lnTo>
                  <a:lnTo>
                    <a:pt x="4404" y="2120"/>
                  </a:lnTo>
                  <a:lnTo>
                    <a:pt x="4425" y="2126"/>
                  </a:lnTo>
                  <a:lnTo>
                    <a:pt x="4446" y="2131"/>
                  </a:lnTo>
                  <a:lnTo>
                    <a:pt x="4467" y="2135"/>
                  </a:lnTo>
                  <a:lnTo>
                    <a:pt x="4487" y="2140"/>
                  </a:lnTo>
                  <a:lnTo>
                    <a:pt x="4507" y="2145"/>
                  </a:lnTo>
                  <a:lnTo>
                    <a:pt x="4528" y="2151"/>
                  </a:lnTo>
                  <a:lnTo>
                    <a:pt x="4548" y="2156"/>
                  </a:lnTo>
                  <a:lnTo>
                    <a:pt x="4568" y="2162"/>
                  </a:lnTo>
                  <a:lnTo>
                    <a:pt x="4588" y="2168"/>
                  </a:lnTo>
                  <a:lnTo>
                    <a:pt x="4608" y="2174"/>
                  </a:lnTo>
                  <a:lnTo>
                    <a:pt x="4628" y="2180"/>
                  </a:lnTo>
                  <a:lnTo>
                    <a:pt x="4648" y="2186"/>
                  </a:lnTo>
                  <a:lnTo>
                    <a:pt x="4668" y="2193"/>
                  </a:lnTo>
                  <a:lnTo>
                    <a:pt x="4687" y="2199"/>
                  </a:lnTo>
                  <a:lnTo>
                    <a:pt x="4706" y="2207"/>
                  </a:lnTo>
                  <a:lnTo>
                    <a:pt x="4726" y="2213"/>
                  </a:lnTo>
                  <a:lnTo>
                    <a:pt x="4745" y="2220"/>
                  </a:lnTo>
                  <a:lnTo>
                    <a:pt x="4764" y="2227"/>
                  </a:lnTo>
                  <a:lnTo>
                    <a:pt x="4784" y="2234"/>
                  </a:lnTo>
                  <a:lnTo>
                    <a:pt x="4802" y="2242"/>
                  </a:lnTo>
                  <a:lnTo>
                    <a:pt x="4822" y="2250"/>
                  </a:lnTo>
                  <a:lnTo>
                    <a:pt x="4840" y="2258"/>
                  </a:lnTo>
                  <a:lnTo>
                    <a:pt x="4859" y="2265"/>
                  </a:lnTo>
                  <a:lnTo>
                    <a:pt x="4878" y="2273"/>
                  </a:lnTo>
                  <a:lnTo>
                    <a:pt x="4879" y="2269"/>
                  </a:lnTo>
                  <a:lnTo>
                    <a:pt x="4880" y="2266"/>
                  </a:lnTo>
                  <a:lnTo>
                    <a:pt x="4880" y="2262"/>
                  </a:lnTo>
                  <a:lnTo>
                    <a:pt x="4881" y="2258"/>
                  </a:lnTo>
                  <a:lnTo>
                    <a:pt x="4882" y="2254"/>
                  </a:lnTo>
                  <a:lnTo>
                    <a:pt x="4883" y="2250"/>
                  </a:lnTo>
                  <a:lnTo>
                    <a:pt x="4884" y="2245"/>
                  </a:lnTo>
                  <a:lnTo>
                    <a:pt x="4884" y="2242"/>
                  </a:lnTo>
                  <a:lnTo>
                    <a:pt x="4905" y="2156"/>
                  </a:lnTo>
                  <a:lnTo>
                    <a:pt x="4930" y="2073"/>
                  </a:lnTo>
                  <a:lnTo>
                    <a:pt x="4958" y="1991"/>
                  </a:lnTo>
                  <a:lnTo>
                    <a:pt x="4990" y="1912"/>
                  </a:lnTo>
                  <a:lnTo>
                    <a:pt x="5025" y="1834"/>
                  </a:lnTo>
                  <a:lnTo>
                    <a:pt x="5062" y="1757"/>
                  </a:lnTo>
                  <a:lnTo>
                    <a:pt x="5103" y="1683"/>
                  </a:lnTo>
                  <a:lnTo>
                    <a:pt x="5147" y="1611"/>
                  </a:lnTo>
                  <a:lnTo>
                    <a:pt x="5193" y="1542"/>
                  </a:lnTo>
                  <a:lnTo>
                    <a:pt x="5243" y="1474"/>
                  </a:lnTo>
                  <a:lnTo>
                    <a:pt x="5294" y="1410"/>
                  </a:lnTo>
                  <a:lnTo>
                    <a:pt x="5349" y="1348"/>
                  </a:lnTo>
                  <a:lnTo>
                    <a:pt x="5405" y="1288"/>
                  </a:lnTo>
                  <a:lnTo>
                    <a:pt x="5464" y="1231"/>
                  </a:lnTo>
                  <a:lnTo>
                    <a:pt x="5524" y="1177"/>
                  </a:lnTo>
                  <a:lnTo>
                    <a:pt x="5588" y="1127"/>
                  </a:lnTo>
                  <a:lnTo>
                    <a:pt x="5652" y="1079"/>
                  </a:lnTo>
                  <a:lnTo>
                    <a:pt x="5718" y="1034"/>
                  </a:lnTo>
                  <a:lnTo>
                    <a:pt x="5785" y="992"/>
                  </a:lnTo>
                  <a:lnTo>
                    <a:pt x="5856" y="954"/>
                  </a:lnTo>
                  <a:lnTo>
                    <a:pt x="5926" y="919"/>
                  </a:lnTo>
                  <a:lnTo>
                    <a:pt x="5998" y="887"/>
                  </a:lnTo>
                  <a:lnTo>
                    <a:pt x="6071" y="859"/>
                  </a:lnTo>
                  <a:lnTo>
                    <a:pt x="6146" y="836"/>
                  </a:lnTo>
                  <a:lnTo>
                    <a:pt x="6220" y="815"/>
                  </a:lnTo>
                  <a:lnTo>
                    <a:pt x="6296" y="799"/>
                  </a:lnTo>
                  <a:lnTo>
                    <a:pt x="6373" y="787"/>
                  </a:lnTo>
                  <a:lnTo>
                    <a:pt x="6449" y="779"/>
                  </a:lnTo>
                  <a:lnTo>
                    <a:pt x="6527" y="774"/>
                  </a:lnTo>
                  <a:lnTo>
                    <a:pt x="6605" y="774"/>
                  </a:lnTo>
                  <a:lnTo>
                    <a:pt x="6682" y="779"/>
                  </a:lnTo>
                  <a:lnTo>
                    <a:pt x="6761" y="788"/>
                  </a:lnTo>
                  <a:lnTo>
                    <a:pt x="6785" y="792"/>
                  </a:lnTo>
                  <a:lnTo>
                    <a:pt x="6810" y="796"/>
                  </a:lnTo>
                  <a:lnTo>
                    <a:pt x="6833" y="801"/>
                  </a:lnTo>
                  <a:lnTo>
                    <a:pt x="6857" y="806"/>
                  </a:lnTo>
                  <a:lnTo>
                    <a:pt x="6881" y="811"/>
                  </a:lnTo>
                  <a:lnTo>
                    <a:pt x="6904" y="817"/>
                  </a:lnTo>
                  <a:lnTo>
                    <a:pt x="6928" y="824"/>
                  </a:lnTo>
                  <a:lnTo>
                    <a:pt x="6951" y="830"/>
                  </a:lnTo>
                  <a:lnTo>
                    <a:pt x="6974" y="837"/>
                  </a:lnTo>
                  <a:lnTo>
                    <a:pt x="6996" y="844"/>
                  </a:lnTo>
                  <a:lnTo>
                    <a:pt x="7019" y="852"/>
                  </a:lnTo>
                  <a:lnTo>
                    <a:pt x="7041" y="860"/>
                  </a:lnTo>
                  <a:lnTo>
                    <a:pt x="7064" y="870"/>
                  </a:lnTo>
                  <a:lnTo>
                    <a:pt x="7085" y="878"/>
                  </a:lnTo>
                  <a:lnTo>
                    <a:pt x="7106" y="888"/>
                  </a:lnTo>
                  <a:lnTo>
                    <a:pt x="7128" y="897"/>
                  </a:lnTo>
                  <a:lnTo>
                    <a:pt x="7149" y="908"/>
                  </a:lnTo>
                  <a:lnTo>
                    <a:pt x="7171" y="918"/>
                  </a:lnTo>
                  <a:lnTo>
                    <a:pt x="7191" y="929"/>
                  </a:lnTo>
                  <a:lnTo>
                    <a:pt x="7211" y="940"/>
                  </a:lnTo>
                  <a:lnTo>
                    <a:pt x="7232" y="952"/>
                  </a:lnTo>
                  <a:lnTo>
                    <a:pt x="7251" y="964"/>
                  </a:lnTo>
                  <a:lnTo>
                    <a:pt x="7272" y="976"/>
                  </a:lnTo>
                  <a:lnTo>
                    <a:pt x="7291" y="989"/>
                  </a:lnTo>
                  <a:lnTo>
                    <a:pt x="7310" y="1002"/>
                  </a:lnTo>
                  <a:lnTo>
                    <a:pt x="7330" y="1015"/>
                  </a:lnTo>
                  <a:lnTo>
                    <a:pt x="7348" y="1028"/>
                  </a:lnTo>
                  <a:lnTo>
                    <a:pt x="7366" y="1043"/>
                  </a:lnTo>
                  <a:lnTo>
                    <a:pt x="7385" y="1057"/>
                  </a:lnTo>
                  <a:lnTo>
                    <a:pt x="7403" y="1072"/>
                  </a:lnTo>
                  <a:lnTo>
                    <a:pt x="7421" y="1086"/>
                  </a:lnTo>
                  <a:lnTo>
                    <a:pt x="7438" y="1101"/>
                  </a:lnTo>
                  <a:close/>
                </a:path>
              </a:pathLst>
            </a:custGeom>
            <a:solidFill>
              <a:schemeClr val="bg1"/>
            </a:solidFill>
            <a:ln>
              <a:solidFill>
                <a:schemeClr val="tx1"/>
              </a:solidFill>
            </a:ln>
            <a:effectLst>
              <a:outerShdw dist="40161" dir="4293903" algn="ctr" rotWithShape="0">
                <a:srgbClr val="666633"/>
              </a:outerShdw>
            </a:effectLst>
          </p:spPr>
          <p:txBody>
            <a:bodyPr wrap="square" lIns="22467" tIns="11234" rIns="22467" bIns="11234" anchor="ctr" anchorCtr="1">
              <a:noAutofit/>
            </a:bodyPr>
            <a:lstStyle/>
            <a:p>
              <a:r>
                <a:rPr lang="zh-CN" altLang="en-US" sz="1400" b="1" dirty="0">
                  <a:latin typeface="微软雅黑 Light" panose="020B0502040204020203" pitchFamily="34" charset="-122"/>
                  <a:ea typeface="微软雅黑 Light" panose="020B0502040204020203" pitchFamily="34" charset="-122"/>
                </a:rPr>
                <a:t>互联网</a:t>
              </a:r>
            </a:p>
          </p:txBody>
        </p:sp>
        <p:cxnSp>
          <p:nvCxnSpPr>
            <p:cNvPr id="13" name="直接连接符 12"/>
            <p:cNvCxnSpPr>
              <a:stCxn id="9" idx="3"/>
              <a:endCxn id="5" idx="1"/>
            </p:cNvCxnSpPr>
            <p:nvPr/>
          </p:nvCxnSpPr>
          <p:spPr>
            <a:xfrm>
              <a:off x="1455239" y="3742685"/>
              <a:ext cx="1028830"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7" name="直接连接符 16"/>
            <p:cNvCxnSpPr>
              <a:stCxn id="6" idx="3"/>
              <a:endCxn id="8" idx="1"/>
            </p:cNvCxnSpPr>
            <p:nvPr/>
          </p:nvCxnSpPr>
          <p:spPr>
            <a:xfrm>
              <a:off x="6635659" y="3742685"/>
              <a:ext cx="1071804" cy="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sp>
          <p:nvSpPr>
            <p:cNvPr id="37" name="Text Box 390"/>
            <p:cNvSpPr txBox="1">
              <a:spLocks noChangeArrowheads="1"/>
            </p:cNvSpPr>
            <p:nvPr/>
          </p:nvSpPr>
          <p:spPr bwMode="auto">
            <a:xfrm>
              <a:off x="1469083"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38" name="Text Box 390"/>
            <p:cNvSpPr txBox="1">
              <a:spLocks noChangeArrowheads="1"/>
            </p:cNvSpPr>
            <p:nvPr/>
          </p:nvSpPr>
          <p:spPr bwMode="auto">
            <a:xfrm>
              <a:off x="6702522" y="3729442"/>
              <a:ext cx="938077" cy="27129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b="1" dirty="0">
                  <a:latin typeface="微软雅黑 Light" panose="020B0502040204020203" pitchFamily="34" charset="-122"/>
                  <a:ea typeface="微软雅黑 Light" panose="020B0502040204020203" pitchFamily="34" charset="-122"/>
                </a:rPr>
                <a:t>LAN / WAN</a:t>
              </a:r>
            </a:p>
          </p:txBody>
        </p:sp>
        <p:sp>
          <p:nvSpPr>
            <p:cNvPr id="10" name="矩形 9"/>
            <p:cNvSpPr/>
            <p:nvPr/>
          </p:nvSpPr>
          <p:spPr>
            <a:xfrm>
              <a:off x="967090"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发信</a:t>
              </a:r>
              <a:endParaRPr lang="zh-CN" altLang="en-US" sz="1400" dirty="0">
                <a:latin typeface="Montserrat" panose="00000500000000000000" pitchFamily="2" charset="0"/>
                <a:ea typeface="微软雅黑 Light" panose="020B0502040204020203" pitchFamily="34" charset="-122"/>
              </a:endParaRPr>
            </a:p>
          </p:txBody>
        </p:sp>
        <p:sp>
          <p:nvSpPr>
            <p:cNvPr id="31" name="矩形 30"/>
            <p:cNvSpPr/>
            <p:nvPr/>
          </p:nvSpPr>
          <p:spPr>
            <a:xfrm>
              <a:off x="7625585" y="3932598"/>
              <a:ext cx="543739"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读取</a:t>
              </a:r>
              <a:endParaRPr lang="zh-CN" altLang="en-US" sz="14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38677598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9"/>
                                        </p:tgtEl>
                                        <p:attrNameLst>
                                          <p:attrName>style.visibility</p:attrName>
                                        </p:attrNameLst>
                                      </p:cBhvr>
                                      <p:to>
                                        <p:strVal val="visible"/>
                                      </p:to>
                                    </p:set>
                                    <p:animEffect transition="in" filter="wipe(left)">
                                      <p:cBhvr>
                                        <p:cTn id="11" dur="10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34A7D47-BD77-3411-2C21-496CB4EA0B45}"/>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17" name="内容占位符 16">
            <a:extLst>
              <a:ext uri="{FF2B5EF4-FFF2-40B4-BE49-F238E27FC236}">
                <a16:creationId xmlns:a16="http://schemas.microsoft.com/office/drawing/2014/main" id="{2A7414D8-1358-6CD0-9F97-8EDDA7E5F028}"/>
              </a:ext>
            </a:extLst>
          </p:cNvPr>
          <p:cNvSpPr>
            <a:spLocks noGrp="1"/>
          </p:cNvSpPr>
          <p:nvPr>
            <p:ph sz="quarter" idx="11"/>
          </p:nvPr>
        </p:nvSpPr>
        <p:spPr>
          <a:xfrm>
            <a:off x="486000" y="687518"/>
            <a:ext cx="8172000" cy="4079035"/>
          </a:xfrm>
        </p:spPr>
        <p:txBody>
          <a:bodyPr/>
          <a:lstStyle/>
          <a:p>
            <a:r>
              <a:rPr lang="zh-CN" altLang="en-US" dirty="0"/>
              <a:t>发送、接收电子邮件时使用 </a:t>
            </a:r>
            <a:r>
              <a:rPr lang="en-US" altLang="zh-CN" dirty="0"/>
              <a:t>HTTP </a:t>
            </a:r>
            <a:r>
              <a:rPr lang="zh-CN" altLang="en-US" dirty="0"/>
              <a:t>协议</a:t>
            </a:r>
            <a:endParaRPr lang="en-US" altLang="zh-CN" dirty="0"/>
          </a:p>
          <a:p>
            <a:pPr lvl="1"/>
            <a:r>
              <a:rPr lang="zh-CN" altLang="en-US" dirty="0"/>
              <a:t>使用 </a:t>
            </a:r>
            <a:r>
              <a:rPr lang="en-US" altLang="zh-CN" dirty="0"/>
              <a:t>HTTP POST </a:t>
            </a:r>
            <a:r>
              <a:rPr lang="zh-CN" altLang="en-US" dirty="0"/>
              <a:t>方法提交要发送的邮件</a:t>
            </a:r>
          </a:p>
          <a:p>
            <a:pPr lvl="1"/>
            <a:r>
              <a:rPr lang="zh-CN" altLang="en-US" dirty="0"/>
              <a:t>使用 </a:t>
            </a:r>
            <a:r>
              <a:rPr lang="en-US" altLang="zh-CN" dirty="0"/>
              <a:t>HTTP GET </a:t>
            </a:r>
            <a:r>
              <a:rPr lang="zh-CN" altLang="en-US" dirty="0"/>
              <a:t>方法读取邮件</a:t>
            </a:r>
          </a:p>
          <a:p>
            <a:r>
              <a:rPr lang="zh-CN" altLang="en-US" dirty="0"/>
              <a:t>两个邮件服务器之间传送邮件时使用 </a:t>
            </a:r>
            <a:r>
              <a:rPr lang="en-US" altLang="zh-CN" dirty="0"/>
              <a:t>SMTP</a:t>
            </a:r>
            <a:endParaRPr lang="zh-CN" altLang="en-US" dirty="0"/>
          </a:p>
          <a:p>
            <a:endParaRPr lang="zh-CN" altLang="en-US" dirty="0"/>
          </a:p>
        </p:txBody>
      </p:sp>
      <p:sp>
        <p:nvSpPr>
          <p:cNvPr id="33" name="Rectangle 386">
            <a:extLst>
              <a:ext uri="{FF2B5EF4-FFF2-40B4-BE49-F238E27FC236}">
                <a16:creationId xmlns:a16="http://schemas.microsoft.com/office/drawing/2014/main" id="{48076FCE-8A0B-0124-E7D0-F6459B64B565}"/>
              </a:ext>
            </a:extLst>
          </p:cNvPr>
          <p:cNvSpPr>
            <a:spLocks noChangeArrowheads="1"/>
          </p:cNvSpPr>
          <p:nvPr/>
        </p:nvSpPr>
        <p:spPr bwMode="auto">
          <a:xfrm>
            <a:off x="3019580" y="3173543"/>
            <a:ext cx="680437" cy="13465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48" name="Text Box 394">
            <a:extLst>
              <a:ext uri="{FF2B5EF4-FFF2-40B4-BE49-F238E27FC236}">
                <a16:creationId xmlns:a16="http://schemas.microsoft.com/office/drawing/2014/main" id="{CF3BA040-0137-F152-B9AA-AFCBC164361C}"/>
              </a:ext>
            </a:extLst>
          </p:cNvPr>
          <p:cNvSpPr txBox="1">
            <a:spLocks noChangeArrowheads="1"/>
          </p:cNvSpPr>
          <p:nvPr/>
        </p:nvSpPr>
        <p:spPr bwMode="auto">
          <a:xfrm>
            <a:off x="2444538"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49" name="Oval 397">
            <a:extLst>
              <a:ext uri="{FF2B5EF4-FFF2-40B4-BE49-F238E27FC236}">
                <a16:creationId xmlns:a16="http://schemas.microsoft.com/office/drawing/2014/main" id="{A85EFB8D-F31D-18C1-6499-D80B0EAD009D}"/>
              </a:ext>
            </a:extLst>
          </p:cNvPr>
          <p:cNvSpPr>
            <a:spLocks noChangeArrowheads="1"/>
          </p:cNvSpPr>
          <p:nvPr/>
        </p:nvSpPr>
        <p:spPr bwMode="auto">
          <a:xfrm>
            <a:off x="1713742" y="3237429"/>
            <a:ext cx="566615" cy="556545"/>
          </a:xfrm>
          <a:prstGeom prst="rect">
            <a:avLst/>
          </a:prstGeom>
          <a:solidFill>
            <a:srgbClr val="F79646"/>
          </a:solidFill>
          <a:ln w="9525" algn="ctr">
            <a:noFill/>
            <a:round/>
            <a:headEnd/>
            <a:tailEnd/>
          </a:ln>
          <a:effectLst/>
        </p:spPr>
        <p:txBody>
          <a:bodyPr wrap="none" anchor="ctr"/>
          <a:lstStyle/>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lnSpc>
                <a:spcPts val="1500"/>
              </a:lnSpc>
            </a:pP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0" name="Oval 405">
            <a:extLst>
              <a:ext uri="{FF2B5EF4-FFF2-40B4-BE49-F238E27FC236}">
                <a16:creationId xmlns:a16="http://schemas.microsoft.com/office/drawing/2014/main" id="{38BE0912-6D32-E1E0-07C9-A5B7971FF899}"/>
              </a:ext>
            </a:extLst>
          </p:cNvPr>
          <p:cNvSpPr>
            <a:spLocks noChangeArrowheads="1"/>
          </p:cNvSpPr>
          <p:nvPr/>
        </p:nvSpPr>
        <p:spPr bwMode="auto">
          <a:xfrm>
            <a:off x="3077118" y="3237429"/>
            <a:ext cx="566615" cy="556545"/>
          </a:xfrm>
          <a:prstGeom prst="ellipse">
            <a:avLst/>
          </a:prstGeom>
          <a:solidFill>
            <a:srgbClr val="F79646"/>
          </a:solidFill>
          <a:ln w="9525" algn="ctr">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sp>
        <p:nvSpPr>
          <p:cNvPr id="51" name="Oval 406">
            <a:extLst>
              <a:ext uri="{FF2B5EF4-FFF2-40B4-BE49-F238E27FC236}">
                <a16:creationId xmlns:a16="http://schemas.microsoft.com/office/drawing/2014/main" id="{207B8FAC-CF36-541A-0567-B6A25A9635D9}"/>
              </a:ext>
            </a:extLst>
          </p:cNvPr>
          <p:cNvSpPr>
            <a:spLocks noChangeArrowheads="1"/>
          </p:cNvSpPr>
          <p:nvPr/>
        </p:nvSpPr>
        <p:spPr bwMode="auto">
          <a:xfrm>
            <a:off x="3077118" y="3850488"/>
            <a:ext cx="566615"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Client</a:t>
            </a:r>
            <a:endParaRPr kumimoji="1" lang="zh-CN" altLang="en-US" sz="1100" dirty="0">
              <a:latin typeface="Montserrat" panose="00000500000000000000" pitchFamily="2" charset="0"/>
              <a:ea typeface="微软雅黑 Light" panose="020B0502040204020203" pitchFamily="34" charset="-122"/>
            </a:endParaRPr>
          </a:p>
        </p:txBody>
      </p:sp>
      <p:sp>
        <p:nvSpPr>
          <p:cNvPr id="52" name="Text Box 399">
            <a:extLst>
              <a:ext uri="{FF2B5EF4-FFF2-40B4-BE49-F238E27FC236}">
                <a16:creationId xmlns:a16="http://schemas.microsoft.com/office/drawing/2014/main" id="{E7CE8B0A-B021-C793-E7DD-F157FD908391}"/>
              </a:ext>
            </a:extLst>
          </p:cNvPr>
          <p:cNvSpPr txBox="1">
            <a:spLocks noChangeArrowheads="1"/>
          </p:cNvSpPr>
          <p:nvPr/>
        </p:nvSpPr>
        <p:spPr bwMode="auto">
          <a:xfrm>
            <a:off x="729032"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发件人</a:t>
            </a:r>
          </a:p>
        </p:txBody>
      </p:sp>
      <p:graphicFrame>
        <p:nvGraphicFramePr>
          <p:cNvPr id="53" name="对象 52">
            <a:extLst>
              <a:ext uri="{FF2B5EF4-FFF2-40B4-BE49-F238E27FC236}">
                <a16:creationId xmlns:a16="http://schemas.microsoft.com/office/drawing/2014/main" id="{D7C42B2C-5283-D263-9C8F-E9E937BBD504}"/>
              </a:ext>
            </a:extLst>
          </p:cNvPr>
          <p:cNvGraphicFramePr>
            <a:graphicFrameLocks noChangeAspect="1"/>
          </p:cNvGraphicFramePr>
          <p:nvPr>
            <p:extLst>
              <p:ext uri="{D42A27DB-BD31-4B8C-83A1-F6EECF244321}">
                <p14:modId xmlns:p14="http://schemas.microsoft.com/office/powerpoint/2010/main" val="3258161961"/>
              </p:ext>
            </p:extLst>
          </p:nvPr>
        </p:nvGraphicFramePr>
        <p:xfrm>
          <a:off x="875180" y="3213529"/>
          <a:ext cx="546759" cy="666388"/>
        </p:xfrm>
        <a:graphic>
          <a:graphicData uri="http://schemas.openxmlformats.org/presentationml/2006/ole">
            <mc:AlternateContent xmlns:mc="http://schemas.openxmlformats.org/markup-compatibility/2006">
              <mc:Choice xmlns:v="urn:schemas-microsoft-com:vml" Requires="v">
                <p:oleObj name="Visio" r:id="rId2" imgW="3561172" imgH="4347469" progId="">
                  <p:embed/>
                </p:oleObj>
              </mc:Choice>
              <mc:Fallback>
                <p:oleObj name="Visio" r:id="rId2" imgW="3561172" imgH="4347469" progId="">
                  <p:embed/>
                  <p:pic>
                    <p:nvPicPr>
                      <p:cNvPr id="50" name="对象 49">
                        <a:extLst>
                          <a:ext uri="{FF2B5EF4-FFF2-40B4-BE49-F238E27FC236}">
                            <a16:creationId xmlns:a16="http://schemas.microsoft.com/office/drawing/2014/main" id="{5EEA4974-A1EF-15D1-6D48-7BD2C9BC51F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5348" t="4167" r="4546" b="11185"/>
                      <a:stretch>
                        <a:fillRect/>
                      </a:stretch>
                    </p:blipFill>
                    <p:spPr bwMode="auto">
                      <a:xfrm>
                        <a:off x="875180" y="3213529"/>
                        <a:ext cx="546759"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55" name="Text Box 395">
            <a:extLst>
              <a:ext uri="{FF2B5EF4-FFF2-40B4-BE49-F238E27FC236}">
                <a16:creationId xmlns:a16="http://schemas.microsoft.com/office/drawing/2014/main" id="{3DB0435A-F3B1-8721-0888-7EE063F6205D}"/>
              </a:ext>
            </a:extLst>
          </p:cNvPr>
          <p:cNvSpPr txBox="1">
            <a:spLocks noChangeArrowheads="1"/>
          </p:cNvSpPr>
          <p:nvPr/>
        </p:nvSpPr>
        <p:spPr bwMode="auto">
          <a:xfrm>
            <a:off x="6261506" y="3623601"/>
            <a:ext cx="468397"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TCP</a:t>
            </a:r>
            <a:endParaRPr kumimoji="1" lang="zh-CN" altLang="en-US" sz="1100" dirty="0">
              <a:latin typeface="Montserrat" panose="00000500000000000000" pitchFamily="2" charset="0"/>
              <a:ea typeface="微软雅黑 Light" panose="020B0502040204020203" pitchFamily="34" charset="-122"/>
            </a:endParaRPr>
          </a:p>
        </p:txBody>
      </p:sp>
      <p:sp>
        <p:nvSpPr>
          <p:cNvPr id="56" name="Oval 398">
            <a:extLst>
              <a:ext uri="{FF2B5EF4-FFF2-40B4-BE49-F238E27FC236}">
                <a16:creationId xmlns:a16="http://schemas.microsoft.com/office/drawing/2014/main" id="{E065DCA8-F8A1-35A6-DAD2-5610C32ABCEF}"/>
              </a:ext>
            </a:extLst>
          </p:cNvPr>
          <p:cNvSpPr>
            <a:spLocks noChangeArrowheads="1"/>
          </p:cNvSpPr>
          <p:nvPr/>
        </p:nvSpPr>
        <p:spPr bwMode="auto">
          <a:xfrm>
            <a:off x="6892210" y="3237429"/>
            <a:ext cx="566614" cy="556545"/>
          </a:xfrm>
          <a:prstGeom prst="rect">
            <a:avLst/>
          </a:prstGeom>
          <a:solidFill>
            <a:srgbClr val="F79646"/>
          </a:solidFill>
          <a:ln w="9525">
            <a:noFill/>
            <a:round/>
            <a:headEnd/>
            <a:tailEnd/>
          </a:ln>
          <a:effectLst/>
        </p:spPr>
        <p:txBody>
          <a:bodyPr wrap="none" anchor="ctr"/>
          <a:lstStyle/>
          <a:p>
            <a:pPr algn="ctr"/>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a:r>
              <a:rPr kumimoji="1" lang="en-US" altLang="zh-CN" sz="1100" dirty="0">
                <a:solidFill>
                  <a:schemeClr val="bg1"/>
                </a:solidFill>
                <a:latin typeface="Montserrat" panose="00000500000000000000" pitchFamily="2" charset="0"/>
                <a:ea typeface="微软雅黑 Light" panose="020B0502040204020203" pitchFamily="34" charset="-122"/>
              </a:rPr>
              <a:t>Client</a:t>
            </a:r>
          </a:p>
        </p:txBody>
      </p:sp>
      <p:sp>
        <p:nvSpPr>
          <p:cNvPr id="57" name="Rectangle 401">
            <a:extLst>
              <a:ext uri="{FF2B5EF4-FFF2-40B4-BE49-F238E27FC236}">
                <a16:creationId xmlns:a16="http://schemas.microsoft.com/office/drawing/2014/main" id="{12F91D4A-3EFA-9E51-C089-1D8884C5E811}"/>
              </a:ext>
            </a:extLst>
          </p:cNvPr>
          <p:cNvSpPr>
            <a:spLocks noChangeArrowheads="1"/>
          </p:cNvSpPr>
          <p:nvPr/>
        </p:nvSpPr>
        <p:spPr bwMode="auto">
          <a:xfrm>
            <a:off x="5475048" y="3182144"/>
            <a:ext cx="680437" cy="1337917"/>
          </a:xfrm>
          <a:prstGeom prst="rect">
            <a:avLst/>
          </a:prstGeom>
          <a:noFill/>
          <a:ln w="9525" algn="ctr">
            <a:solidFill>
              <a:schemeClr val="tx1"/>
            </a:solidFill>
            <a:miter lim="800000"/>
            <a:headEnd/>
            <a:tailEnd/>
          </a:ln>
          <a:effectLst/>
        </p:spPr>
        <p:txBody>
          <a:bodyPr wrap="none" anchor="ctr"/>
          <a:lstStyle/>
          <a:p>
            <a:pPr algn="ctr" eaLnBrk="1" hangingPunct="1"/>
            <a:endParaRPr lang="zh-CN" altLang="en-US" sz="1100" dirty="0">
              <a:latin typeface="Montserrat" panose="00000500000000000000" pitchFamily="2" charset="0"/>
              <a:ea typeface="微软雅黑 Light" panose="020B0502040204020203" pitchFamily="34" charset="-122"/>
            </a:endParaRPr>
          </a:p>
        </p:txBody>
      </p:sp>
      <p:sp>
        <p:nvSpPr>
          <p:cNvPr id="58" name="Oval 402">
            <a:extLst>
              <a:ext uri="{FF2B5EF4-FFF2-40B4-BE49-F238E27FC236}">
                <a16:creationId xmlns:a16="http://schemas.microsoft.com/office/drawing/2014/main" id="{87C76949-D1D3-D4EA-D3C7-4D19F0B810B8}"/>
              </a:ext>
            </a:extLst>
          </p:cNvPr>
          <p:cNvSpPr>
            <a:spLocks noChangeArrowheads="1"/>
          </p:cNvSpPr>
          <p:nvPr/>
        </p:nvSpPr>
        <p:spPr bwMode="auto">
          <a:xfrm>
            <a:off x="5531335" y="3850488"/>
            <a:ext cx="566614" cy="556543"/>
          </a:xfrm>
          <a:prstGeom prst="ellipse">
            <a:avLst/>
          </a:prstGeom>
          <a:solidFill>
            <a:schemeClr val="bg1">
              <a:lumMod val="95000"/>
            </a:schemeClr>
          </a:solidFill>
          <a:ln w="9525" algn="ctr">
            <a:noFill/>
            <a:round/>
            <a:headEnd/>
            <a:tailEnd/>
          </a:ln>
          <a:effectLst/>
        </p:spPr>
        <p:txBody>
          <a:bodyPr wrap="none" anchor="ctr"/>
          <a:lstStyle/>
          <a:p>
            <a:pPr algn="ctr"/>
            <a:r>
              <a:rPr kumimoji="1" lang="en-US" altLang="zh-CN" sz="1100" dirty="0">
                <a:latin typeface="Montserrat" panose="00000500000000000000" pitchFamily="2" charset="0"/>
                <a:ea typeface="微软雅黑 Light" panose="020B0502040204020203" pitchFamily="34" charset="-122"/>
              </a:rPr>
              <a:t>SMTP</a:t>
            </a:r>
          </a:p>
          <a:p>
            <a:pPr algn="ctr"/>
            <a:r>
              <a:rPr kumimoji="1" lang="en-US" altLang="zh-CN" sz="1100" dirty="0">
                <a:latin typeface="Montserrat" panose="00000500000000000000" pitchFamily="2" charset="0"/>
                <a:ea typeface="微软雅黑 Light" panose="020B0502040204020203" pitchFamily="34" charset="-122"/>
              </a:rPr>
              <a:t>Server</a:t>
            </a:r>
            <a:endParaRPr kumimoji="1" lang="zh-CN" altLang="en-US" sz="1100" dirty="0">
              <a:latin typeface="Montserrat" panose="00000500000000000000" pitchFamily="2" charset="0"/>
              <a:ea typeface="微软雅黑 Light" panose="020B0502040204020203" pitchFamily="34" charset="-122"/>
            </a:endParaRPr>
          </a:p>
        </p:txBody>
      </p:sp>
      <p:sp>
        <p:nvSpPr>
          <p:cNvPr id="59" name="Oval 403">
            <a:extLst>
              <a:ext uri="{FF2B5EF4-FFF2-40B4-BE49-F238E27FC236}">
                <a16:creationId xmlns:a16="http://schemas.microsoft.com/office/drawing/2014/main" id="{CAC97111-FD7F-9498-2DB7-F2C7D911ADFE}"/>
              </a:ext>
            </a:extLst>
          </p:cNvPr>
          <p:cNvSpPr>
            <a:spLocks noChangeArrowheads="1"/>
          </p:cNvSpPr>
          <p:nvPr/>
        </p:nvSpPr>
        <p:spPr bwMode="auto">
          <a:xfrm>
            <a:off x="5531335" y="3237429"/>
            <a:ext cx="566614" cy="556545"/>
          </a:xfrm>
          <a:prstGeom prst="ellipse">
            <a:avLst/>
          </a:prstGeom>
          <a:solidFill>
            <a:srgbClr val="F79646"/>
          </a:solidFill>
          <a:ln w="9525">
            <a:noFill/>
            <a:round/>
            <a:headEnd/>
            <a:tailEnd/>
          </a:ln>
          <a:effectLst/>
        </p:spPr>
        <p:txBody>
          <a:bodyPr wrap="none" anchor="ctr"/>
          <a:lstStyle/>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HTTP</a:t>
            </a:r>
          </a:p>
          <a:p>
            <a:pPr algn="ctr" eaLnBrk="1" hangingPunct="1"/>
            <a:r>
              <a:rPr kumimoji="1" lang="en-US" altLang="zh-CN" sz="1100" dirty="0">
                <a:solidFill>
                  <a:schemeClr val="bg1"/>
                </a:solidFill>
                <a:latin typeface="Montserrat" panose="00000500000000000000" pitchFamily="2" charset="0"/>
                <a:ea typeface="微软雅黑 Light" panose="020B0502040204020203" pitchFamily="34" charset="-122"/>
              </a:rPr>
              <a:t>Server</a:t>
            </a:r>
            <a:endParaRPr kumimoji="1" lang="zh-CN" altLang="en-US" sz="1100" dirty="0">
              <a:solidFill>
                <a:schemeClr val="bg1"/>
              </a:solidFill>
              <a:latin typeface="Montserrat" panose="00000500000000000000" pitchFamily="2" charset="0"/>
              <a:ea typeface="微软雅黑 Light" panose="020B0502040204020203" pitchFamily="34" charset="-122"/>
            </a:endParaRPr>
          </a:p>
        </p:txBody>
      </p:sp>
      <p:graphicFrame>
        <p:nvGraphicFramePr>
          <p:cNvPr id="61" name="对象 60">
            <a:extLst>
              <a:ext uri="{FF2B5EF4-FFF2-40B4-BE49-F238E27FC236}">
                <a16:creationId xmlns:a16="http://schemas.microsoft.com/office/drawing/2014/main" id="{A492BE82-FEE3-7C60-67A9-35A720BD5828}"/>
              </a:ext>
            </a:extLst>
          </p:cNvPr>
          <p:cNvGraphicFramePr>
            <a:graphicFrameLocks noChangeAspect="1"/>
          </p:cNvGraphicFramePr>
          <p:nvPr>
            <p:extLst>
              <p:ext uri="{D42A27DB-BD31-4B8C-83A1-F6EECF244321}">
                <p14:modId xmlns:p14="http://schemas.microsoft.com/office/powerpoint/2010/main" val="668454596"/>
              </p:ext>
            </p:extLst>
          </p:nvPr>
        </p:nvGraphicFramePr>
        <p:xfrm>
          <a:off x="7744964" y="3213529"/>
          <a:ext cx="551626" cy="666388"/>
        </p:xfrm>
        <a:graphic>
          <a:graphicData uri="http://schemas.openxmlformats.org/presentationml/2006/ole">
            <mc:AlternateContent xmlns:mc="http://schemas.openxmlformats.org/markup-compatibility/2006">
              <mc:Choice xmlns:v="urn:schemas-microsoft-com:vml" Requires="v">
                <p:oleObj name="Visio" r:id="rId4" imgW="3561172" imgH="4347469" progId="">
                  <p:embed/>
                </p:oleObj>
              </mc:Choice>
              <mc:Fallback>
                <p:oleObj name="Visio" r:id="rId4" imgW="3561172" imgH="4347469" progId="">
                  <p:embed/>
                  <p:pic>
                    <p:nvPicPr>
                      <p:cNvPr id="58" name="对象 57">
                        <a:extLst>
                          <a:ext uri="{FF2B5EF4-FFF2-40B4-BE49-F238E27FC236}">
                            <a16:creationId xmlns:a16="http://schemas.microsoft.com/office/drawing/2014/main" id="{B750695B-E0D5-E338-8E99-7C2EA6B2CF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4546" t="3947" r="4546" b="11403"/>
                      <a:stretch>
                        <a:fillRect/>
                      </a:stretch>
                    </p:blipFill>
                    <p:spPr bwMode="auto">
                      <a:xfrm>
                        <a:off x="7744964" y="3213529"/>
                        <a:ext cx="551626" cy="66638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2" name="Text Box 399">
            <a:extLst>
              <a:ext uri="{FF2B5EF4-FFF2-40B4-BE49-F238E27FC236}">
                <a16:creationId xmlns:a16="http://schemas.microsoft.com/office/drawing/2014/main" id="{3B787FE2-64E8-D3E7-671E-258D63B3190F}"/>
              </a:ext>
            </a:extLst>
          </p:cNvPr>
          <p:cNvSpPr txBox="1">
            <a:spLocks noChangeArrowheads="1"/>
          </p:cNvSpPr>
          <p:nvPr/>
        </p:nvSpPr>
        <p:spPr bwMode="auto">
          <a:xfrm>
            <a:off x="7815300" y="2804587"/>
            <a:ext cx="607859"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zh-CN" altLang="en-US" sz="1100" dirty="0">
                <a:latin typeface="Montserrat" panose="00000500000000000000" pitchFamily="2" charset="0"/>
                <a:ea typeface="微软雅黑 Light" panose="020B0502040204020203" pitchFamily="34" charset="-122"/>
              </a:rPr>
              <a:t>收件人</a:t>
            </a:r>
          </a:p>
        </p:txBody>
      </p:sp>
      <p:sp>
        <p:nvSpPr>
          <p:cNvPr id="64" name="Text Box 409">
            <a:extLst>
              <a:ext uri="{FF2B5EF4-FFF2-40B4-BE49-F238E27FC236}">
                <a16:creationId xmlns:a16="http://schemas.microsoft.com/office/drawing/2014/main" id="{F86F0DD2-B2DC-C33B-7E0F-2220E287E5C6}"/>
              </a:ext>
            </a:extLst>
          </p:cNvPr>
          <p:cNvSpPr txBox="1">
            <a:spLocks noChangeArrowheads="1"/>
          </p:cNvSpPr>
          <p:nvPr/>
        </p:nvSpPr>
        <p:spPr bwMode="auto">
          <a:xfrm>
            <a:off x="4340510" y="4146573"/>
            <a:ext cx="4940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TCP</a:t>
            </a:r>
            <a:endParaRPr kumimoji="1" lang="zh-CN" altLang="en-US" sz="1200" dirty="0">
              <a:latin typeface="Montserrat" panose="00000500000000000000" pitchFamily="2" charset="0"/>
              <a:ea typeface="微软雅黑 Light" panose="020B0502040204020203" pitchFamily="34" charset="-122"/>
            </a:endParaRPr>
          </a:p>
        </p:txBody>
      </p:sp>
      <p:sp>
        <p:nvSpPr>
          <p:cNvPr id="65" name="圆角矩形 418">
            <a:extLst>
              <a:ext uri="{FF2B5EF4-FFF2-40B4-BE49-F238E27FC236}">
                <a16:creationId xmlns:a16="http://schemas.microsoft.com/office/drawing/2014/main" id="{A585032B-4BD2-B9E7-8252-B25619018B46}"/>
              </a:ext>
            </a:extLst>
          </p:cNvPr>
          <p:cNvSpPr/>
          <p:nvPr/>
        </p:nvSpPr>
        <p:spPr>
          <a:xfrm>
            <a:off x="1484031" y="2603548"/>
            <a:ext cx="6194639" cy="2126256"/>
          </a:xfrm>
          <a:prstGeom prst="roundRect">
            <a:avLst>
              <a:gd name="adj" fmla="val 7039"/>
            </a:avLst>
          </a:prstGeom>
          <a:noFill/>
          <a:ln w="9525">
            <a:solidFill>
              <a:schemeClr val="tx1"/>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6" name="Text Box 389">
            <a:extLst>
              <a:ext uri="{FF2B5EF4-FFF2-40B4-BE49-F238E27FC236}">
                <a16:creationId xmlns:a16="http://schemas.microsoft.com/office/drawing/2014/main" id="{9416A58B-78F7-7855-AD86-C86FB68F54AF}"/>
              </a:ext>
            </a:extLst>
          </p:cNvPr>
          <p:cNvSpPr txBox="1">
            <a:spLocks noChangeArrowheads="1"/>
          </p:cNvSpPr>
          <p:nvPr/>
        </p:nvSpPr>
        <p:spPr bwMode="auto">
          <a:xfrm>
            <a:off x="2392442" y="3054875"/>
            <a:ext cx="572593"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POST</a:t>
            </a:r>
          </a:p>
        </p:txBody>
      </p:sp>
      <p:sp>
        <p:nvSpPr>
          <p:cNvPr id="67" name="Text Box 396">
            <a:extLst>
              <a:ext uri="{FF2B5EF4-FFF2-40B4-BE49-F238E27FC236}">
                <a16:creationId xmlns:a16="http://schemas.microsoft.com/office/drawing/2014/main" id="{E256A154-1322-4B3D-7D95-D1BA65883678}"/>
              </a:ext>
            </a:extLst>
          </p:cNvPr>
          <p:cNvSpPr txBox="1">
            <a:spLocks noChangeArrowheads="1"/>
          </p:cNvSpPr>
          <p:nvPr/>
        </p:nvSpPr>
        <p:spPr bwMode="auto">
          <a:xfrm>
            <a:off x="2964326" y="2804587"/>
            <a:ext cx="797014"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ABC</a:t>
            </a:r>
            <a:endParaRPr kumimoji="1" lang="zh-CN" altLang="en-US" sz="1100" dirty="0">
              <a:latin typeface="Montserrat" panose="00000500000000000000" pitchFamily="2" charset="0"/>
              <a:ea typeface="微软雅黑 Light" panose="020B0502040204020203" pitchFamily="34" charset="-122"/>
            </a:endParaRPr>
          </a:p>
        </p:txBody>
      </p:sp>
      <p:sp>
        <p:nvSpPr>
          <p:cNvPr id="69" name="Text Box 390">
            <a:extLst>
              <a:ext uri="{FF2B5EF4-FFF2-40B4-BE49-F238E27FC236}">
                <a16:creationId xmlns:a16="http://schemas.microsoft.com/office/drawing/2014/main" id="{22DFD8DD-55BF-FE83-5F7A-C953B21F4B18}"/>
              </a:ext>
            </a:extLst>
          </p:cNvPr>
          <p:cNvSpPr txBox="1">
            <a:spLocks noChangeArrowheads="1"/>
          </p:cNvSpPr>
          <p:nvPr/>
        </p:nvSpPr>
        <p:spPr bwMode="auto">
          <a:xfrm>
            <a:off x="6213416" y="3054875"/>
            <a:ext cx="564578" cy="4637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HTTP</a:t>
            </a:r>
          </a:p>
          <a:p>
            <a:pPr algn="ctr" eaLnBrk="1" hangingPunct="1">
              <a:lnSpc>
                <a:spcPts val="1500"/>
              </a:lnSpc>
            </a:pPr>
            <a:r>
              <a:rPr kumimoji="1" lang="en-US" altLang="zh-CN" sz="1100" dirty="0">
                <a:solidFill>
                  <a:srgbClr val="F79646"/>
                </a:solidFill>
                <a:latin typeface="Montserrat" panose="00000500000000000000" pitchFamily="2" charset="0"/>
                <a:ea typeface="微软雅黑 Light" panose="020B0502040204020203" pitchFamily="34" charset="-122"/>
              </a:rPr>
              <a:t>GET</a:t>
            </a:r>
          </a:p>
        </p:txBody>
      </p:sp>
      <p:sp>
        <p:nvSpPr>
          <p:cNvPr id="70" name="Text Box 400">
            <a:extLst>
              <a:ext uri="{FF2B5EF4-FFF2-40B4-BE49-F238E27FC236}">
                <a16:creationId xmlns:a16="http://schemas.microsoft.com/office/drawing/2014/main" id="{3F571DC9-DBCC-B223-4B24-6870A1C6F88E}"/>
              </a:ext>
            </a:extLst>
          </p:cNvPr>
          <p:cNvSpPr txBox="1">
            <a:spLocks noChangeArrowheads="1"/>
          </p:cNvSpPr>
          <p:nvPr/>
        </p:nvSpPr>
        <p:spPr bwMode="auto">
          <a:xfrm>
            <a:off x="5424595" y="2804587"/>
            <a:ext cx="763351" cy="27142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lnSpc>
                <a:spcPts val="1500"/>
              </a:lnSpc>
            </a:pPr>
            <a:r>
              <a:rPr kumimoji="1" lang="en-US" altLang="zh-CN" sz="1100" dirty="0">
                <a:latin typeface="Montserrat" panose="00000500000000000000" pitchFamily="2" charset="0"/>
                <a:ea typeface="微软雅黑 Light" panose="020B0502040204020203" pitchFamily="34" charset="-122"/>
              </a:rPr>
              <a:t>Site XYZ</a:t>
            </a:r>
            <a:endParaRPr kumimoji="1" lang="zh-CN" altLang="en-US" sz="1100" dirty="0">
              <a:latin typeface="Montserrat" panose="00000500000000000000" pitchFamily="2" charset="0"/>
              <a:ea typeface="微软雅黑 Light" panose="020B0502040204020203" pitchFamily="34" charset="-122"/>
            </a:endParaRPr>
          </a:p>
        </p:txBody>
      </p:sp>
      <p:sp>
        <p:nvSpPr>
          <p:cNvPr id="72" name="Text Box 392">
            <a:extLst>
              <a:ext uri="{FF2B5EF4-FFF2-40B4-BE49-F238E27FC236}">
                <a16:creationId xmlns:a16="http://schemas.microsoft.com/office/drawing/2014/main" id="{C1C8C4AE-E53B-CA97-9E66-A74572635200}"/>
              </a:ext>
            </a:extLst>
          </p:cNvPr>
          <p:cNvSpPr txBox="1">
            <a:spLocks noChangeArrowheads="1"/>
          </p:cNvSpPr>
          <p:nvPr/>
        </p:nvSpPr>
        <p:spPr bwMode="auto">
          <a:xfrm>
            <a:off x="4254748" y="3849259"/>
            <a:ext cx="66556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200" dirty="0">
                <a:latin typeface="Montserrat" panose="00000500000000000000" pitchFamily="2" charset="0"/>
                <a:ea typeface="微软雅黑 Light" panose="020B0502040204020203" pitchFamily="34" charset="-122"/>
              </a:rPr>
              <a:t> </a:t>
            </a:r>
            <a:r>
              <a:rPr kumimoji="1" lang="en-US" altLang="zh-CN" sz="1200" dirty="0">
                <a:latin typeface="Montserrat" panose="00000500000000000000" pitchFamily="2" charset="0"/>
                <a:ea typeface="微软雅黑 Light" panose="020B0502040204020203" pitchFamily="34" charset="-122"/>
              </a:rPr>
              <a:t>SMTP</a:t>
            </a:r>
          </a:p>
        </p:txBody>
      </p:sp>
      <p:cxnSp>
        <p:nvCxnSpPr>
          <p:cNvPr id="74" name="直接箭头连接符 73">
            <a:extLst>
              <a:ext uri="{FF2B5EF4-FFF2-40B4-BE49-F238E27FC236}">
                <a16:creationId xmlns:a16="http://schemas.microsoft.com/office/drawing/2014/main" id="{ED70FBF7-C23D-E3F8-F4C6-2C5077067B28}"/>
              </a:ext>
            </a:extLst>
          </p:cNvPr>
          <p:cNvCxnSpPr>
            <a:stCxn id="59" idx="6"/>
            <a:endCxn id="56" idx="1"/>
          </p:cNvCxnSpPr>
          <p:nvPr/>
        </p:nvCxnSpPr>
        <p:spPr>
          <a:xfrm>
            <a:off x="6097949" y="3515702"/>
            <a:ext cx="7942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6" name="直接箭头连接符 75">
            <a:extLst>
              <a:ext uri="{FF2B5EF4-FFF2-40B4-BE49-F238E27FC236}">
                <a16:creationId xmlns:a16="http://schemas.microsoft.com/office/drawing/2014/main" id="{38497CB8-F52F-86FB-F45B-A55EFDF35B09}"/>
              </a:ext>
            </a:extLst>
          </p:cNvPr>
          <p:cNvCxnSpPr>
            <a:stCxn id="49" idx="3"/>
            <a:endCxn id="50" idx="2"/>
          </p:cNvCxnSpPr>
          <p:nvPr/>
        </p:nvCxnSpPr>
        <p:spPr>
          <a:xfrm>
            <a:off x="2280357" y="3515702"/>
            <a:ext cx="796761" cy="0"/>
          </a:xfrm>
          <a:prstGeom prst="straightConnector1">
            <a:avLst/>
          </a:prstGeom>
          <a:noFill/>
          <a:ln w="38100">
            <a:solidFill>
              <a:srgbClr val="F7964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78" name="直接箭头连接符 77">
            <a:extLst>
              <a:ext uri="{FF2B5EF4-FFF2-40B4-BE49-F238E27FC236}">
                <a16:creationId xmlns:a16="http://schemas.microsoft.com/office/drawing/2014/main" id="{82D41C92-EDD3-1E41-CDF1-CF8F3D4E498E}"/>
              </a:ext>
            </a:extLst>
          </p:cNvPr>
          <p:cNvCxnSpPr>
            <a:stCxn id="51" idx="6"/>
            <a:endCxn id="58" idx="2"/>
          </p:cNvCxnSpPr>
          <p:nvPr/>
        </p:nvCxnSpPr>
        <p:spPr>
          <a:xfrm>
            <a:off x="3643733" y="4128760"/>
            <a:ext cx="1887602" cy="0"/>
          </a:xfrm>
          <a:prstGeom prst="straightConnector1">
            <a:avLst/>
          </a:prstGeom>
          <a:noFill/>
          <a:ln w="38100">
            <a:solidFill>
              <a:schemeClr val="tx1">
                <a:lumMod val="50000"/>
                <a:lumOff val="50000"/>
              </a:schemeClr>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Tree>
    <p:extLst>
      <p:ext uri="{BB962C8B-B14F-4D97-AF65-F5344CB8AC3E}">
        <p14:creationId xmlns:p14="http://schemas.microsoft.com/office/powerpoint/2010/main" val="32633427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6B7D7E1C-6E2D-CAE0-5395-8499B0575A30}"/>
              </a:ext>
            </a:extLst>
          </p:cNvPr>
          <p:cNvSpPr>
            <a:spLocks noGrp="1"/>
          </p:cNvSpPr>
          <p:nvPr>
            <p:ph type="title"/>
          </p:nvPr>
        </p:nvSpPr>
        <p:spPr>
          <a:xfrm>
            <a:off x="485999" y="174482"/>
            <a:ext cx="8171999" cy="338554"/>
          </a:xfrm>
        </p:spPr>
        <p:txBody>
          <a:bodyPr/>
          <a:lstStyle/>
          <a:p>
            <a:r>
              <a:rPr lang="en-US" altLang="zh-CN" dirty="0"/>
              <a:t>6.5.5  </a:t>
            </a:r>
            <a:r>
              <a:rPr lang="zh-CN" altLang="en-US" dirty="0"/>
              <a:t>基于万维网的电子邮件</a:t>
            </a:r>
          </a:p>
        </p:txBody>
      </p:sp>
      <p:sp>
        <p:nvSpPr>
          <p:cNvPr id="5" name="内容占位符 4">
            <a:extLst>
              <a:ext uri="{FF2B5EF4-FFF2-40B4-BE49-F238E27FC236}">
                <a16:creationId xmlns:a16="http://schemas.microsoft.com/office/drawing/2014/main" id="{39B2F35C-B942-60B1-B75A-AF82CA684F22}"/>
              </a:ext>
            </a:extLst>
          </p:cNvPr>
          <p:cNvSpPr>
            <a:spLocks noGrp="1"/>
          </p:cNvSpPr>
          <p:nvPr>
            <p:ph sz="quarter" idx="11"/>
          </p:nvPr>
        </p:nvSpPr>
        <p:spPr>
          <a:xfrm>
            <a:off x="486000" y="687518"/>
            <a:ext cx="8172000" cy="4079035"/>
          </a:xfrm>
        </p:spPr>
        <p:txBody>
          <a:bodyPr/>
          <a:lstStyle/>
          <a:p>
            <a:r>
              <a:rPr lang="zh-CN" altLang="en-US" dirty="0"/>
              <a:t>用户代理 </a:t>
            </a:r>
            <a:r>
              <a:rPr lang="en-US" altLang="zh-CN" dirty="0"/>
              <a:t>UA </a:t>
            </a:r>
            <a:r>
              <a:rPr lang="zh-CN" altLang="en-US" dirty="0"/>
              <a:t>的缺点：</a:t>
            </a:r>
          </a:p>
          <a:p>
            <a:pPr lvl="1"/>
            <a:r>
              <a:rPr lang="zh-CN" altLang="en-US" dirty="0"/>
              <a:t>必须在计算机中安装用户代理软件</a:t>
            </a:r>
            <a:endParaRPr lang="en-US" altLang="zh-CN" dirty="0"/>
          </a:p>
          <a:p>
            <a:pPr lvl="1"/>
            <a:r>
              <a:rPr lang="zh-CN" altLang="en-US" dirty="0"/>
              <a:t>收发邮件不方便</a:t>
            </a:r>
            <a:endParaRPr lang="en-US" altLang="zh-CN" dirty="0"/>
          </a:p>
          <a:p>
            <a:r>
              <a:rPr lang="zh-CN" altLang="en-US" dirty="0"/>
              <a:t>万维网电子邮件优点：</a:t>
            </a:r>
          </a:p>
          <a:p>
            <a:pPr lvl="1"/>
            <a:r>
              <a:rPr lang="zh-CN" altLang="en-US" dirty="0"/>
              <a:t>不需要在计算机中再安装用户代理软件</a:t>
            </a:r>
          </a:p>
          <a:p>
            <a:pPr lvl="1"/>
            <a:r>
              <a:rPr lang="zh-CN" altLang="en-US" dirty="0"/>
              <a:t>计算机能联网，就能非常方便地收发电子邮件</a:t>
            </a:r>
          </a:p>
          <a:p>
            <a:pPr lvl="1"/>
            <a:r>
              <a:rPr lang="zh-CN" altLang="en-US" dirty="0"/>
              <a:t>界面非常友好</a:t>
            </a:r>
          </a:p>
          <a:p>
            <a:endParaRPr lang="en-US" altLang="zh-CN" dirty="0"/>
          </a:p>
          <a:p>
            <a:endParaRPr lang="zh-CN" altLang="en-US" dirty="0"/>
          </a:p>
        </p:txBody>
      </p:sp>
    </p:spTree>
    <p:extLst>
      <p:ext uri="{BB962C8B-B14F-4D97-AF65-F5344CB8AC3E}">
        <p14:creationId xmlns:p14="http://schemas.microsoft.com/office/powerpoint/2010/main" val="2710661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AD5012B-BB38-66F4-5D67-A7B343F283B5}"/>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31" name="内容占位符 30">
            <a:extLst>
              <a:ext uri="{FF2B5EF4-FFF2-40B4-BE49-F238E27FC236}">
                <a16:creationId xmlns:a16="http://schemas.microsoft.com/office/drawing/2014/main" id="{B38EE9BE-42B2-2360-FFA3-BBB5D4D5CE63}"/>
              </a:ext>
            </a:extLst>
          </p:cNvPr>
          <p:cNvSpPr>
            <a:spLocks noGrp="1"/>
          </p:cNvSpPr>
          <p:nvPr>
            <p:ph sz="quarter" idx="11"/>
          </p:nvPr>
        </p:nvSpPr>
        <p:spPr/>
        <p:txBody>
          <a:bodyPr/>
          <a:lstStyle/>
          <a:p>
            <a:endParaRPr lang="zh-CN" altLang="en-US" dirty="0"/>
          </a:p>
        </p:txBody>
      </p:sp>
      <p:sp>
        <p:nvSpPr>
          <p:cNvPr id="11" name="Text Box 3"/>
          <p:cNvSpPr txBox="1">
            <a:spLocks noChangeArrowheads="1"/>
          </p:cNvSpPr>
          <p:nvPr/>
        </p:nvSpPr>
        <p:spPr bwMode="auto">
          <a:xfrm>
            <a:off x="1985864"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12" name="Text Box 4"/>
          <p:cNvSpPr txBox="1">
            <a:spLocks noChangeArrowheads="1"/>
          </p:cNvSpPr>
          <p:nvPr/>
        </p:nvSpPr>
        <p:spPr bwMode="auto">
          <a:xfrm>
            <a:off x="1985864"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13" name="Rectangle 5"/>
          <p:cNvSpPr>
            <a:spLocks noChangeArrowheads="1"/>
          </p:cNvSpPr>
          <p:nvPr/>
        </p:nvSpPr>
        <p:spPr bwMode="auto">
          <a:xfrm>
            <a:off x="1478458" y="3104829"/>
            <a:ext cx="1016176"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4" name="Rectangle 6"/>
          <p:cNvSpPr>
            <a:spLocks noChangeArrowheads="1"/>
          </p:cNvSpPr>
          <p:nvPr/>
        </p:nvSpPr>
        <p:spPr bwMode="auto">
          <a:xfrm>
            <a:off x="1478458" y="4224868"/>
            <a:ext cx="1016176"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5" name="Rectangle 7"/>
          <p:cNvSpPr>
            <a:spLocks noChangeArrowheads="1"/>
          </p:cNvSpPr>
          <p:nvPr/>
        </p:nvSpPr>
        <p:spPr bwMode="auto">
          <a:xfrm>
            <a:off x="6649366" y="3104829"/>
            <a:ext cx="1016177" cy="399938"/>
          </a:xfrm>
          <a:prstGeom prst="rect">
            <a:avLst/>
          </a:prstGeom>
          <a:solidFill>
            <a:srgbClr val="F79646"/>
          </a:solidFill>
          <a:ln w="9525">
            <a:noFill/>
            <a:miter lim="800000"/>
            <a:headEnd/>
            <a:tailEnd/>
          </a:ln>
          <a:effectLst/>
        </p:spPr>
        <p:txBody>
          <a:bodyPr wrap="none" anchor="ctr"/>
          <a:lstStyle/>
          <a:p>
            <a:pPr algn="ctr" eaLnBrk="1" hangingPunct="1"/>
            <a:r>
              <a:rPr kumimoji="1" lang="en-US" altLang="zh-CN" sz="1200" dirty="0">
                <a:ln w="12700">
                  <a:solidFill>
                    <a:schemeClr val="bg1"/>
                  </a:solidFill>
                  <a:prstDash val="solid"/>
                </a:ln>
                <a:solidFill>
                  <a:schemeClr val="bg1"/>
                </a:solidFill>
                <a:latin typeface="Montserrat" panose="00000500000000000000" pitchFamily="2" charset="0"/>
                <a:ea typeface="微软雅黑 Light" panose="020B0502040204020203" pitchFamily="34" charset="-122"/>
              </a:rPr>
              <a:t>MIME</a:t>
            </a:r>
          </a:p>
        </p:txBody>
      </p:sp>
      <p:sp>
        <p:nvSpPr>
          <p:cNvPr id="16" name="Rectangle 8"/>
          <p:cNvSpPr>
            <a:spLocks noChangeArrowheads="1"/>
          </p:cNvSpPr>
          <p:nvPr/>
        </p:nvSpPr>
        <p:spPr bwMode="auto">
          <a:xfrm>
            <a:off x="6649366" y="4224868"/>
            <a:ext cx="1016177" cy="399938"/>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SMTP</a:t>
            </a:r>
          </a:p>
        </p:txBody>
      </p:sp>
      <p:sp>
        <p:nvSpPr>
          <p:cNvPr id="17" name="Line 9"/>
          <p:cNvSpPr>
            <a:spLocks noChangeShapeType="1"/>
          </p:cNvSpPr>
          <p:nvPr/>
        </p:nvSpPr>
        <p:spPr bwMode="auto">
          <a:xfrm>
            <a:off x="2509638" y="4424837"/>
            <a:ext cx="4156095"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8" name="Line 10"/>
          <p:cNvSpPr>
            <a:spLocks noChangeShapeType="1"/>
          </p:cNvSpPr>
          <p:nvPr/>
        </p:nvSpPr>
        <p:spPr bwMode="auto">
          <a:xfrm rot="5400000" flipH="1" flipV="1">
            <a:off x="1625814"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19" name="Line 11"/>
          <p:cNvSpPr>
            <a:spLocks noChangeShapeType="1"/>
          </p:cNvSpPr>
          <p:nvPr/>
        </p:nvSpPr>
        <p:spPr bwMode="auto">
          <a:xfrm rot="5400000" flipH="1" flipV="1">
            <a:off x="6798086" y="3864818"/>
            <a:ext cx="720101"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0" name="Line 12"/>
          <p:cNvSpPr>
            <a:spLocks noChangeShapeType="1"/>
          </p:cNvSpPr>
          <p:nvPr/>
        </p:nvSpPr>
        <p:spPr bwMode="auto">
          <a:xfrm rot="16200000" flipV="1">
            <a:off x="1727925"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2" name="Line 13"/>
          <p:cNvSpPr>
            <a:spLocks noChangeShapeType="1"/>
          </p:cNvSpPr>
          <p:nvPr/>
        </p:nvSpPr>
        <p:spPr bwMode="auto">
          <a:xfrm rot="16200000" flipV="1">
            <a:off x="6900197" y="2846890"/>
            <a:ext cx="515878" cy="0"/>
          </a:xfrm>
          <a:prstGeom prst="line">
            <a:avLst/>
          </a:prstGeom>
          <a:noFill/>
          <a:ln w="19050">
            <a:solidFill>
              <a:schemeClr val="tx1">
                <a:lumMod val="50000"/>
                <a:lumOff val="50000"/>
              </a:schemeClr>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dirty="0">
              <a:latin typeface="Montserrat" panose="00000500000000000000" pitchFamily="2" charset="0"/>
              <a:ea typeface="微软雅黑 Light" panose="020B0502040204020203" pitchFamily="34" charset="-122"/>
            </a:endParaRPr>
          </a:p>
        </p:txBody>
      </p:sp>
      <p:sp>
        <p:nvSpPr>
          <p:cNvPr id="23" name="Text Box 14"/>
          <p:cNvSpPr txBox="1">
            <a:spLocks noChangeArrowheads="1"/>
          </p:cNvSpPr>
          <p:nvPr/>
        </p:nvSpPr>
        <p:spPr bwMode="auto">
          <a:xfrm>
            <a:off x="6370741" y="3721754"/>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4" name="Text Box 15"/>
          <p:cNvSpPr txBox="1">
            <a:spLocks noChangeArrowheads="1"/>
          </p:cNvSpPr>
          <p:nvPr/>
        </p:nvSpPr>
        <p:spPr bwMode="auto">
          <a:xfrm>
            <a:off x="4193988" y="4141902"/>
            <a:ext cx="7873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dirty="0">
                <a:latin typeface="Montserrat" panose="00000500000000000000" pitchFamily="2" charset="0"/>
                <a:ea typeface="微软雅黑 Light" panose="020B0502040204020203" pitchFamily="34" charset="-122"/>
              </a:rPr>
              <a:t>ASCII </a:t>
            </a:r>
            <a:r>
              <a:rPr kumimoji="1" lang="zh-CN" altLang="en-US" sz="1200" dirty="0">
                <a:latin typeface="Montserrat" panose="00000500000000000000" pitchFamily="2" charset="0"/>
                <a:ea typeface="微软雅黑 Light" panose="020B0502040204020203" pitchFamily="34" charset="-122"/>
              </a:rPr>
              <a:t>码</a:t>
            </a:r>
          </a:p>
        </p:txBody>
      </p:sp>
      <p:sp>
        <p:nvSpPr>
          <p:cNvPr id="25" name="Text Box 16"/>
          <p:cNvSpPr txBox="1">
            <a:spLocks noChangeArrowheads="1"/>
          </p:cNvSpPr>
          <p:nvPr/>
        </p:nvSpPr>
        <p:spPr bwMode="auto">
          <a:xfrm>
            <a:off x="6176777" y="2717655"/>
            <a:ext cx="98135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200" b="1" dirty="0">
                <a:solidFill>
                  <a:srgbClr val="F79646"/>
                </a:solidFill>
                <a:latin typeface="Montserrat" panose="00000500000000000000" pitchFamily="2" charset="0"/>
                <a:ea typeface="微软雅黑 Light" panose="020B0502040204020203" pitchFamily="34" charset="-122"/>
              </a:rPr>
              <a:t>非 </a:t>
            </a:r>
            <a:r>
              <a:rPr kumimoji="1" lang="en-US" altLang="zh-CN" sz="1200" b="1" dirty="0">
                <a:solidFill>
                  <a:srgbClr val="F79646"/>
                </a:solidFill>
                <a:latin typeface="Montserrat" panose="00000500000000000000" pitchFamily="2" charset="0"/>
                <a:ea typeface="微软雅黑 Light" panose="020B0502040204020203" pitchFamily="34" charset="-122"/>
              </a:rPr>
              <a:t>ASCII </a:t>
            </a:r>
            <a:r>
              <a:rPr kumimoji="1" lang="zh-CN" altLang="en-US" sz="1200" b="1" dirty="0">
                <a:solidFill>
                  <a:srgbClr val="F79646"/>
                </a:solidFill>
                <a:latin typeface="Montserrat" panose="00000500000000000000" pitchFamily="2" charset="0"/>
                <a:ea typeface="微软雅黑 Light" panose="020B0502040204020203" pitchFamily="34" charset="-122"/>
              </a:rPr>
              <a:t>码</a:t>
            </a:r>
          </a:p>
        </p:txBody>
      </p:sp>
      <p:sp>
        <p:nvSpPr>
          <p:cNvPr id="26" name="Rectangle 17"/>
          <p:cNvSpPr>
            <a:spLocks noChangeArrowheads="1"/>
          </p:cNvSpPr>
          <p:nvPr/>
        </p:nvSpPr>
        <p:spPr bwMode="auto">
          <a:xfrm>
            <a:off x="1571210" y="2277298"/>
            <a:ext cx="830673"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7" name="Rectangle 18"/>
          <p:cNvSpPr>
            <a:spLocks noChangeArrowheads="1"/>
          </p:cNvSpPr>
          <p:nvPr/>
        </p:nvSpPr>
        <p:spPr bwMode="auto">
          <a:xfrm>
            <a:off x="6742117" y="2277298"/>
            <a:ext cx="830674" cy="320163"/>
          </a:xfrm>
          <a:prstGeom prst="rect">
            <a:avLst/>
          </a:prstGeom>
          <a:solidFill>
            <a:schemeClr val="bg1">
              <a:lumMod val="95000"/>
            </a:schemeClr>
          </a:solidFill>
          <a:ln w="9525">
            <a:noFill/>
            <a:miter lim="800000"/>
            <a:headEnd/>
            <a:tailEnd/>
          </a:ln>
          <a:effectLst/>
        </p:spPr>
        <p:txBody>
          <a:bodyPr wrap="none" anchor="ctr"/>
          <a:lstStyle/>
          <a:p>
            <a:pPr algn="ctr" eaLnBrk="1" hangingPunct="1"/>
            <a:r>
              <a:rPr kumimoji="1" lang="en-US" altLang="zh-CN" sz="1200" dirty="0">
                <a:latin typeface="Montserrat" panose="00000500000000000000" pitchFamily="2" charset="0"/>
                <a:ea typeface="微软雅黑 Light" panose="020B0502040204020203" pitchFamily="34" charset="-122"/>
              </a:rPr>
              <a:t>user</a:t>
            </a:r>
            <a:endParaRPr kumimoji="1" lang="zh-CN" altLang="en-US" sz="1200" dirty="0">
              <a:latin typeface="Montserrat" panose="00000500000000000000" pitchFamily="2" charset="0"/>
              <a:ea typeface="微软雅黑 Light" panose="020B0502040204020203" pitchFamily="34" charset="-122"/>
            </a:endParaRPr>
          </a:p>
        </p:txBody>
      </p:sp>
      <p:sp>
        <p:nvSpPr>
          <p:cNvPr id="28" name="文本框 27">
            <a:extLst>
              <a:ext uri="{FF2B5EF4-FFF2-40B4-BE49-F238E27FC236}">
                <a16:creationId xmlns:a16="http://schemas.microsoft.com/office/drawing/2014/main" id="{6B128D88-1C9F-56C4-3342-D356355815EA}"/>
              </a:ext>
            </a:extLst>
          </p:cNvPr>
          <p:cNvSpPr txBox="1"/>
          <p:nvPr/>
        </p:nvSpPr>
        <p:spPr>
          <a:xfrm>
            <a:off x="48577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SMTP</a:t>
            </a:r>
            <a:endParaRPr lang="zh-CN" altLang="en-US" sz="1200" b="1" dirty="0">
              <a:solidFill>
                <a:srgbClr val="F79646"/>
              </a:solidFill>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不能传送可执行文件或其他的二进制对象</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限于传送 </a:t>
            </a:r>
            <a:r>
              <a:rPr lang="en-US" altLang="zh-CN" sz="1200" dirty="0">
                <a:latin typeface="Montserrat" panose="00000500000000000000" pitchFamily="2" charset="0"/>
                <a:ea typeface="微软雅黑 Light" panose="020B0502040204020203" pitchFamily="34" charset="-122"/>
              </a:rPr>
              <a:t>7 </a:t>
            </a:r>
            <a:r>
              <a:rPr lang="zh-CN" altLang="en-US" sz="1200" dirty="0">
                <a:latin typeface="Montserrat" panose="00000500000000000000" pitchFamily="2" charset="0"/>
                <a:ea typeface="微软雅黑 Light" panose="020B0502040204020203" pitchFamily="34" charset="-122"/>
              </a:rPr>
              <a:t>位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码，无法传送非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编码信息</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服务器会拒绝超过一定长度的邮件</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某些 </a:t>
            </a:r>
            <a:r>
              <a:rPr lang="en-US" altLang="zh-CN" sz="1200" dirty="0">
                <a:latin typeface="Montserrat" panose="00000500000000000000" pitchFamily="2" charset="0"/>
                <a:ea typeface="微软雅黑 Light" panose="020B0502040204020203" pitchFamily="34" charset="-122"/>
              </a:rPr>
              <a:t>SMTP </a:t>
            </a:r>
            <a:r>
              <a:rPr lang="zh-CN" altLang="en-US" sz="1200" dirty="0">
                <a:latin typeface="Montserrat" panose="00000500000000000000" pitchFamily="2" charset="0"/>
                <a:ea typeface="微软雅黑 Light" panose="020B0502040204020203" pitchFamily="34" charset="-122"/>
              </a:rPr>
              <a:t>实现没有完全按照 </a:t>
            </a:r>
            <a:r>
              <a:rPr lang="en-US" altLang="zh-CN" sz="1200" dirty="0">
                <a:latin typeface="Montserrat" panose="00000500000000000000" pitchFamily="2" charset="0"/>
                <a:ea typeface="微软雅黑 Light" panose="020B0502040204020203" pitchFamily="34" charset="-122"/>
              </a:rPr>
              <a:t>[RFC 821] SMTP </a:t>
            </a:r>
            <a:r>
              <a:rPr lang="zh-CN" altLang="en-US" sz="1200" dirty="0">
                <a:latin typeface="Montserrat" panose="00000500000000000000" pitchFamily="2" charset="0"/>
                <a:ea typeface="微软雅黑 Light" panose="020B0502040204020203" pitchFamily="34" charset="-122"/>
              </a:rPr>
              <a:t>标准</a:t>
            </a:r>
          </a:p>
        </p:txBody>
      </p:sp>
      <p:sp>
        <p:nvSpPr>
          <p:cNvPr id="29" name="文本框 28">
            <a:extLst>
              <a:ext uri="{FF2B5EF4-FFF2-40B4-BE49-F238E27FC236}">
                <a16:creationId xmlns:a16="http://schemas.microsoft.com/office/drawing/2014/main" id="{9E2D3E94-815F-5F5A-361E-8CA7AFFD7397}"/>
              </a:ext>
            </a:extLst>
          </p:cNvPr>
          <p:cNvSpPr txBox="1"/>
          <p:nvPr/>
        </p:nvSpPr>
        <p:spPr>
          <a:xfrm>
            <a:off x="4626225" y="932992"/>
            <a:ext cx="4032000" cy="1169551"/>
          </a:xfrm>
          <a:prstGeom prst="rect">
            <a:avLst/>
          </a:prstGeom>
          <a:solidFill>
            <a:schemeClr val="bg1">
              <a:lumMod val="95000"/>
            </a:schemeClr>
          </a:solidFill>
        </p:spPr>
        <p:txBody>
          <a:bodyPr wrap="square" rtlCol="0">
            <a:spAutoFit/>
          </a:bodyPr>
          <a:lstStyle/>
          <a:p>
            <a:pPr algn="l">
              <a:spcAft>
                <a:spcPts val="1200"/>
              </a:spcAft>
            </a:pPr>
            <a:r>
              <a:rPr lang="en-US" altLang="zh-CN" sz="1200" b="1" dirty="0">
                <a:solidFill>
                  <a:srgbClr val="F79646"/>
                </a:solidFill>
                <a:latin typeface="Montserrat" panose="00000500000000000000" pitchFamily="2" charset="0"/>
                <a:ea typeface="微软雅黑 Light" panose="020B0502040204020203" pitchFamily="34" charset="-122"/>
              </a:rPr>
              <a:t>MIME - Multipurpose Internet Mail Extensions</a:t>
            </a: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通用互联网邮件扩展</a:t>
            </a:r>
            <a:r>
              <a:rPr lang="en-US" altLang="zh-CN" sz="1200" dirty="0">
                <a:latin typeface="Montserrat" panose="00000500000000000000" pitchFamily="2" charset="0"/>
                <a:ea typeface="微软雅黑 Light" panose="020B0502040204020203" pitchFamily="34" charset="-122"/>
              </a:rPr>
              <a:t>/</a:t>
            </a:r>
            <a:r>
              <a:rPr lang="zh-CN" altLang="en-US" sz="1200" dirty="0">
                <a:latin typeface="Montserrat" panose="00000500000000000000" pitchFamily="2" charset="0"/>
                <a:ea typeface="微软雅黑 Light" panose="020B0502040204020203" pitchFamily="34" charset="-122"/>
              </a:rPr>
              <a:t>扩充 </a:t>
            </a:r>
            <a:r>
              <a:rPr lang="en-US" altLang="zh-CN" sz="1200" dirty="0">
                <a:latin typeface="Montserrat" panose="00000500000000000000" pitchFamily="2" charset="0"/>
                <a:ea typeface="微软雅黑 Light" panose="020B0502040204020203" pitchFamily="34" charset="-122"/>
              </a:rPr>
              <a:t>MIME</a:t>
            </a:r>
          </a:p>
          <a:p>
            <a:pPr marL="171450" indent="-171450">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并没有改动或取代</a:t>
            </a:r>
            <a:r>
              <a:rPr lang="en-US" altLang="zh-CN" sz="1200" dirty="0">
                <a:latin typeface="Montserrat" panose="00000500000000000000" pitchFamily="2" charset="0"/>
                <a:ea typeface="微软雅黑 Light" panose="020B0502040204020203" pitchFamily="34" charset="-122"/>
              </a:rPr>
              <a:t>SMTP</a:t>
            </a:r>
            <a:endParaRPr lang="zh-CN" altLang="en-US" sz="1200" dirty="0">
              <a:latin typeface="Montserrat" panose="00000500000000000000" pitchFamily="2" charset="0"/>
              <a:ea typeface="微软雅黑 Light" panose="020B0502040204020203" pitchFamily="34" charset="-122"/>
            </a:endParaRPr>
          </a:p>
          <a:p>
            <a:pPr marL="171450" indent="-171450" algn="l">
              <a:buFont typeface="Arial" panose="020B0604020202020204" pitchFamily="34" charset="0"/>
              <a:buChar char="•"/>
            </a:pPr>
            <a:r>
              <a:rPr lang="zh-CN" altLang="en-US" sz="1200" dirty="0">
                <a:latin typeface="Montserrat" panose="00000500000000000000" pitchFamily="2" charset="0"/>
                <a:ea typeface="微软雅黑 Light" panose="020B0502040204020203" pitchFamily="34" charset="-122"/>
              </a:rPr>
              <a:t>继续使用目前的 </a:t>
            </a:r>
            <a:r>
              <a:rPr lang="en-US" altLang="zh-CN" sz="1200" dirty="0">
                <a:latin typeface="Montserrat" panose="00000500000000000000" pitchFamily="2" charset="0"/>
                <a:ea typeface="微软雅黑 Light" panose="020B0502040204020203" pitchFamily="34" charset="-122"/>
              </a:rPr>
              <a:t>[RFC 822] </a:t>
            </a:r>
            <a:r>
              <a:rPr lang="zh-CN" altLang="en-US" sz="1200" dirty="0">
                <a:latin typeface="Montserrat" panose="00000500000000000000" pitchFamily="2" charset="0"/>
                <a:ea typeface="微软雅黑 Light" panose="020B0502040204020203" pitchFamily="34" charset="-122"/>
              </a:rPr>
              <a:t>格式，但增加了邮件主体的结构，并定义了传送非 </a:t>
            </a:r>
            <a:r>
              <a:rPr lang="en-US" altLang="zh-CN" sz="1200" dirty="0">
                <a:latin typeface="Montserrat" panose="00000500000000000000" pitchFamily="2" charset="0"/>
                <a:ea typeface="微软雅黑 Light" panose="020B0502040204020203" pitchFamily="34" charset="-122"/>
              </a:rPr>
              <a:t>ASCII </a:t>
            </a:r>
            <a:r>
              <a:rPr lang="zh-CN" altLang="en-US" sz="1200" dirty="0">
                <a:latin typeface="Montserrat" panose="00000500000000000000" pitchFamily="2" charset="0"/>
                <a:ea typeface="微软雅黑 Light" panose="020B0502040204020203" pitchFamily="34" charset="-122"/>
              </a:rPr>
              <a:t>码的编码规则</a:t>
            </a:r>
          </a:p>
        </p:txBody>
      </p:sp>
    </p:spTree>
    <p:extLst>
      <p:ext uri="{BB962C8B-B14F-4D97-AF65-F5344CB8AC3E}">
        <p14:creationId xmlns:p14="http://schemas.microsoft.com/office/powerpoint/2010/main" val="6314080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7994B981-37E5-2567-FAA0-798D2D6DE76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a:t>
            </a:r>
            <a:endParaRPr lang="zh-CN" altLang="en-US" dirty="0"/>
          </a:p>
        </p:txBody>
      </p:sp>
      <p:sp>
        <p:nvSpPr>
          <p:cNvPr id="8" name="内容占位符 7">
            <a:extLst>
              <a:ext uri="{FF2B5EF4-FFF2-40B4-BE49-F238E27FC236}">
                <a16:creationId xmlns:a16="http://schemas.microsoft.com/office/drawing/2014/main" id="{DFCE123C-1CD2-E07C-8A03-8D3093FD68D3}"/>
              </a:ext>
            </a:extLst>
          </p:cNvPr>
          <p:cNvSpPr>
            <a:spLocks noGrp="1"/>
          </p:cNvSpPr>
          <p:nvPr>
            <p:ph sz="quarter" idx="11"/>
          </p:nvPr>
        </p:nvSpPr>
        <p:spPr>
          <a:xfrm>
            <a:off x="486000" y="687518"/>
            <a:ext cx="8172000" cy="4079035"/>
          </a:xfrm>
        </p:spPr>
        <p:txBody>
          <a:bodyPr/>
          <a:lstStyle/>
          <a:p>
            <a:r>
              <a:rPr lang="en-US" altLang="zh-CN" dirty="0"/>
              <a:t>5 </a:t>
            </a:r>
            <a:r>
              <a:rPr lang="zh-CN" altLang="en-US" dirty="0"/>
              <a:t>个新的邮件首部字段</a:t>
            </a:r>
          </a:p>
          <a:p>
            <a:r>
              <a:rPr lang="zh-CN" altLang="en-US" dirty="0"/>
              <a:t>定义了许多邮件内容的格式，对多媒体电子邮件的表示方法进行了标准化</a:t>
            </a:r>
          </a:p>
          <a:p>
            <a:r>
              <a:rPr lang="zh-CN" altLang="en-US" dirty="0"/>
              <a:t>定义了传送编码，可对任何内容格式进行转换，而不会被邮件系统改变</a:t>
            </a:r>
          </a:p>
          <a:p>
            <a:endParaRPr lang="zh-CN" altLang="en-US" dirty="0"/>
          </a:p>
        </p:txBody>
      </p:sp>
    </p:spTree>
    <p:extLst>
      <p:ext uri="{BB962C8B-B14F-4D97-AF65-F5344CB8AC3E}">
        <p14:creationId xmlns:p14="http://schemas.microsoft.com/office/powerpoint/2010/main" val="19477123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E0EBF65-22B7-4BFB-0343-66920DAE66C1}"/>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14" name="内容占位符 13">
            <a:extLst>
              <a:ext uri="{FF2B5EF4-FFF2-40B4-BE49-F238E27FC236}">
                <a16:creationId xmlns:a16="http://schemas.microsoft.com/office/drawing/2014/main" id="{1A88835D-A337-EF08-4F4A-8FAFE50DA15E}"/>
              </a:ext>
            </a:extLst>
          </p:cNvPr>
          <p:cNvSpPr>
            <a:spLocks noGrp="1"/>
          </p:cNvSpPr>
          <p:nvPr>
            <p:ph sz="quarter" idx="11"/>
          </p:nvPr>
        </p:nvSpPr>
        <p:spPr>
          <a:xfrm>
            <a:off x="486000" y="687518"/>
            <a:ext cx="8172000" cy="4079035"/>
          </a:xfrm>
        </p:spPr>
        <p:txBody>
          <a:bodyPr/>
          <a:lstStyle/>
          <a:p>
            <a:r>
              <a:rPr lang="en-US" altLang="zh-CN" dirty="0"/>
              <a:t>MIME-Version</a:t>
            </a:r>
            <a:r>
              <a:rPr lang="zh-CN" altLang="en-US" dirty="0"/>
              <a:t>：</a:t>
            </a:r>
            <a:r>
              <a:rPr lang="en-US" altLang="zh-CN" dirty="0"/>
              <a:t>MIME </a:t>
            </a:r>
            <a:r>
              <a:rPr lang="zh-CN" altLang="en-US" dirty="0"/>
              <a:t>的版本。若无此行，则为英文文本</a:t>
            </a:r>
          </a:p>
          <a:p>
            <a:r>
              <a:rPr lang="en-US" altLang="zh-CN" dirty="0"/>
              <a:t>Content-Description</a:t>
            </a:r>
            <a:r>
              <a:rPr lang="zh-CN" altLang="en-US" dirty="0"/>
              <a:t>：邮件的说明</a:t>
            </a:r>
          </a:p>
          <a:p>
            <a:r>
              <a:rPr lang="en-US" altLang="zh-CN" dirty="0"/>
              <a:t>Content-Id</a:t>
            </a:r>
            <a:r>
              <a:rPr lang="zh-CN" altLang="en-US" dirty="0"/>
              <a:t>：邮件唯一标识符</a:t>
            </a:r>
          </a:p>
          <a:p>
            <a:r>
              <a:rPr lang="en-US" altLang="zh-CN" dirty="0"/>
              <a:t>Content-Transfer-Encoding</a:t>
            </a:r>
            <a:r>
              <a:rPr lang="zh-CN" altLang="en-US" dirty="0"/>
              <a:t>：传送时邮件主体使用的编码方法</a:t>
            </a:r>
            <a:endParaRPr lang="en-US" altLang="zh-CN" dirty="0"/>
          </a:p>
          <a:p>
            <a:pPr lvl="1"/>
            <a:r>
              <a:rPr lang="en-US" altLang="zh-CN" dirty="0"/>
              <a:t>base64</a:t>
            </a:r>
            <a:r>
              <a:rPr lang="zh-CN" altLang="en-US" dirty="0"/>
              <a:t>：用于二进制文件（如图片、</a:t>
            </a:r>
            <a:r>
              <a:rPr lang="en-US" altLang="zh-CN" dirty="0"/>
              <a:t>PDF</a:t>
            </a:r>
            <a:r>
              <a:rPr lang="zh-CN" altLang="en-US" dirty="0"/>
              <a:t>）</a:t>
            </a:r>
          </a:p>
          <a:p>
            <a:pPr lvl="1"/>
            <a:r>
              <a:rPr lang="en-US" altLang="zh-CN" dirty="0"/>
              <a:t>quoted-printable</a:t>
            </a:r>
            <a:r>
              <a:rPr lang="zh-CN" altLang="en-US" dirty="0"/>
              <a:t>：用于含少量非 </a:t>
            </a:r>
            <a:r>
              <a:rPr lang="en-US" altLang="zh-CN" dirty="0"/>
              <a:t>ASCII </a:t>
            </a:r>
            <a:r>
              <a:rPr lang="zh-CN" altLang="en-US" dirty="0"/>
              <a:t>字符的文本（如带中文的邮件）</a:t>
            </a:r>
          </a:p>
          <a:p>
            <a:r>
              <a:rPr lang="en-US" altLang="zh-CN" dirty="0"/>
              <a:t>Content-Type</a:t>
            </a:r>
            <a:r>
              <a:rPr lang="zh-CN" altLang="en-US" dirty="0"/>
              <a:t>：邮件内容类型 </a:t>
            </a:r>
            <a:r>
              <a:rPr lang="en-US" altLang="zh-CN" dirty="0"/>
              <a:t>/ </a:t>
            </a:r>
            <a:r>
              <a:rPr lang="zh-CN" altLang="en-US" dirty="0"/>
              <a:t>子类型</a:t>
            </a:r>
            <a:endParaRPr lang="en-US" altLang="zh-CN" dirty="0"/>
          </a:p>
          <a:p>
            <a:pPr lvl="1"/>
            <a:r>
              <a:rPr lang="en-US" altLang="zh-CN" dirty="0"/>
              <a:t>text</a:t>
            </a:r>
            <a:r>
              <a:rPr lang="zh-CN" altLang="en-US" dirty="0"/>
              <a:t>：文本类；子类型有 </a:t>
            </a:r>
            <a:r>
              <a:rPr lang="en-US" altLang="zh-CN" dirty="0"/>
              <a:t>/plain /html /</a:t>
            </a:r>
            <a:r>
              <a:rPr lang="en-US" altLang="zh-CN" dirty="0" err="1"/>
              <a:t>css</a:t>
            </a:r>
            <a:r>
              <a:rPr lang="en-US" altLang="zh-CN" dirty="0"/>
              <a:t> /xml /csv</a:t>
            </a:r>
            <a:r>
              <a:rPr lang="zh-CN" altLang="en-US" dirty="0"/>
              <a:t>；通常需要指定编码，如</a:t>
            </a:r>
            <a:r>
              <a:rPr lang="en-US" altLang="zh-CN" dirty="0"/>
              <a:t> charset=utf-8 </a:t>
            </a:r>
          </a:p>
          <a:p>
            <a:pPr lvl="1"/>
            <a:r>
              <a:rPr lang="en-US" altLang="zh-CN" dirty="0"/>
              <a:t>Image</a:t>
            </a:r>
            <a:r>
              <a:rPr lang="zh-CN" altLang="en-US" dirty="0"/>
              <a:t>：图像类；子类型有 </a:t>
            </a:r>
            <a:r>
              <a:rPr lang="en-US" altLang="zh-CN" dirty="0"/>
              <a:t>/jpeg /</a:t>
            </a:r>
            <a:r>
              <a:rPr lang="en-US" altLang="zh-CN" dirty="0" err="1"/>
              <a:t>png</a:t>
            </a:r>
            <a:r>
              <a:rPr lang="en-US" altLang="zh-CN" dirty="0"/>
              <a:t> /gif /</a:t>
            </a:r>
            <a:r>
              <a:rPr lang="en-US" altLang="zh-CN" dirty="0" err="1"/>
              <a:t>webp</a:t>
            </a:r>
            <a:r>
              <a:rPr lang="en-US" altLang="zh-CN" dirty="0"/>
              <a:t> /</a:t>
            </a:r>
            <a:r>
              <a:rPr lang="en-US" altLang="zh-CN" dirty="0" err="1"/>
              <a:t>svg</a:t>
            </a:r>
            <a:r>
              <a:rPr lang="en-US" altLang="zh-CN" dirty="0"/>
              <a:t>+</a:t>
            </a:r>
          </a:p>
          <a:p>
            <a:pPr lvl="1"/>
            <a:r>
              <a:rPr lang="en-US" altLang="zh-CN" dirty="0"/>
              <a:t>application</a:t>
            </a:r>
            <a:r>
              <a:rPr lang="zh-CN" altLang="en-US" dirty="0"/>
              <a:t>：应用类；子类型有 </a:t>
            </a:r>
            <a:r>
              <a:rPr lang="en-US" altLang="zh-CN" dirty="0"/>
              <a:t>/</a:t>
            </a:r>
            <a:r>
              <a:rPr lang="en-US" altLang="zh-CN" dirty="0" err="1"/>
              <a:t>json</a:t>
            </a:r>
            <a:r>
              <a:rPr lang="en-US" altLang="zh-CN" dirty="0"/>
              <a:t> /</a:t>
            </a:r>
            <a:r>
              <a:rPr lang="en-US" altLang="zh-CN" dirty="0" err="1"/>
              <a:t>javascript</a:t>
            </a:r>
            <a:r>
              <a:rPr lang="en-US" altLang="zh-CN" dirty="0"/>
              <a:t> /xml /</a:t>
            </a:r>
            <a:r>
              <a:rPr lang="en-US" altLang="zh-CN" dirty="0" err="1"/>
              <a:t>msword</a:t>
            </a:r>
            <a:r>
              <a:rPr lang="en-US" altLang="zh-CN" dirty="0"/>
              <a:t> /octet-stream</a:t>
            </a:r>
          </a:p>
          <a:p>
            <a:pPr lvl="1"/>
            <a:r>
              <a:rPr lang="en-US" altLang="zh-CN" dirty="0"/>
              <a:t>multipart</a:t>
            </a:r>
            <a:r>
              <a:rPr lang="zh-CN" altLang="en-US" dirty="0"/>
              <a:t>：混合类；子类型有 </a:t>
            </a:r>
            <a:r>
              <a:rPr lang="en-US" altLang="zh-CN" dirty="0"/>
              <a:t>/form-data</a:t>
            </a:r>
          </a:p>
          <a:p>
            <a:pPr lvl="1"/>
            <a:r>
              <a:rPr lang="en-US" altLang="zh-CN" dirty="0"/>
              <a:t>audio</a:t>
            </a:r>
            <a:r>
              <a:rPr lang="zh-CN" altLang="en-US" dirty="0"/>
              <a:t>：音频类</a:t>
            </a:r>
            <a:endParaRPr lang="en-US" altLang="zh-CN" dirty="0"/>
          </a:p>
          <a:p>
            <a:pPr lvl="1"/>
            <a:r>
              <a:rPr lang="en-US" altLang="zh-CN" dirty="0"/>
              <a:t>video</a:t>
            </a:r>
            <a:r>
              <a:rPr lang="zh-CN" altLang="en-US" dirty="0"/>
              <a:t>：视频类</a:t>
            </a:r>
          </a:p>
          <a:p>
            <a:endParaRPr lang="zh-CN" altLang="en-US" dirty="0"/>
          </a:p>
          <a:p>
            <a:endParaRPr lang="zh-CN" altLang="en-US" dirty="0"/>
          </a:p>
        </p:txBody>
      </p:sp>
    </p:spTree>
    <p:extLst>
      <p:ext uri="{BB962C8B-B14F-4D97-AF65-F5344CB8AC3E}">
        <p14:creationId xmlns:p14="http://schemas.microsoft.com/office/powerpoint/2010/main" val="9821120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FCE3DC-DD54-6653-4098-6881A6B4526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BDFDC3A6-55D8-85D6-1277-A07D6BFB7030}"/>
              </a:ext>
            </a:extLst>
          </p:cNvPr>
          <p:cNvSpPr>
            <a:spLocks noGrp="1"/>
          </p:cNvSpPr>
          <p:nvPr>
            <p:ph sz="quarter" idx="11"/>
          </p:nvPr>
        </p:nvSpPr>
        <p:spPr/>
        <p:txBody>
          <a:bodyPr/>
          <a:lstStyle/>
          <a:p>
            <a:r>
              <a:rPr lang="zh-CN" altLang="en-US" dirty="0"/>
              <a:t>实例</a:t>
            </a:r>
            <a:r>
              <a:rPr lang="en-US" altLang="zh-CN" dirty="0"/>
              <a:t>1</a:t>
            </a:r>
            <a:r>
              <a:rPr lang="zh-CN" altLang="en-US" dirty="0"/>
              <a:t>：</a:t>
            </a:r>
            <a:r>
              <a:rPr lang="en-US" altLang="zh-CN" dirty="0"/>
              <a:t>plain</a:t>
            </a:r>
            <a:endParaRPr lang="zh-CN" altLang="en-US" dirty="0"/>
          </a:p>
        </p:txBody>
      </p:sp>
      <p:pic>
        <p:nvPicPr>
          <p:cNvPr id="13" name="图片 12">
            <a:extLst>
              <a:ext uri="{FF2B5EF4-FFF2-40B4-BE49-F238E27FC236}">
                <a16:creationId xmlns:a16="http://schemas.microsoft.com/office/drawing/2014/main" id="{40CAFD6C-8A44-BAB8-4CF4-E0D36D3C716E}"/>
              </a:ext>
            </a:extLst>
          </p:cNvPr>
          <p:cNvPicPr>
            <a:picLocks noChangeAspect="1"/>
          </p:cNvPicPr>
          <p:nvPr/>
        </p:nvPicPr>
        <p:blipFill>
          <a:blip r:embed="rId2"/>
          <a:stretch>
            <a:fillRect/>
          </a:stretch>
        </p:blipFill>
        <p:spPr>
          <a:xfrm>
            <a:off x="3293975" y="0"/>
            <a:ext cx="5850025" cy="5143500"/>
          </a:xfrm>
          <a:prstGeom prst="rect">
            <a:avLst/>
          </a:prstGeom>
        </p:spPr>
      </p:pic>
    </p:spTree>
    <p:extLst>
      <p:ext uri="{BB962C8B-B14F-4D97-AF65-F5344CB8AC3E}">
        <p14:creationId xmlns:p14="http://schemas.microsoft.com/office/powerpoint/2010/main" val="33711440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E32183-5A90-2FD0-539E-34DC6490489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D44B596-2470-6F1F-37F4-EE8C95A434F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首部</a:t>
            </a:r>
          </a:p>
        </p:txBody>
      </p:sp>
      <p:sp>
        <p:nvSpPr>
          <p:cNvPr id="7" name="内容占位符 6">
            <a:extLst>
              <a:ext uri="{FF2B5EF4-FFF2-40B4-BE49-F238E27FC236}">
                <a16:creationId xmlns:a16="http://schemas.microsoft.com/office/drawing/2014/main" id="{55A80CED-8AB7-1DD1-BE5C-95EDBD374594}"/>
              </a:ext>
            </a:extLst>
          </p:cNvPr>
          <p:cNvSpPr>
            <a:spLocks noGrp="1"/>
          </p:cNvSpPr>
          <p:nvPr>
            <p:ph sz="quarter" idx="11"/>
          </p:nvPr>
        </p:nvSpPr>
        <p:spPr/>
        <p:txBody>
          <a:bodyPr/>
          <a:lstStyle/>
          <a:p>
            <a:r>
              <a:rPr lang="zh-CN" altLang="en-US" dirty="0"/>
              <a:t>实例</a:t>
            </a:r>
            <a:r>
              <a:rPr lang="en-US" altLang="zh-CN" dirty="0"/>
              <a:t>2</a:t>
            </a:r>
            <a:r>
              <a:rPr lang="zh-CN" altLang="en-US" dirty="0"/>
              <a:t>：</a:t>
            </a:r>
            <a:r>
              <a:rPr lang="en-US" altLang="zh-CN" dirty="0"/>
              <a:t>plain + </a:t>
            </a:r>
            <a:r>
              <a:rPr lang="en-US" altLang="zh-CN" dirty="0" err="1"/>
              <a:t>png</a:t>
            </a:r>
            <a:endParaRPr lang="zh-CN" altLang="en-US" dirty="0"/>
          </a:p>
        </p:txBody>
      </p:sp>
      <p:pic>
        <p:nvPicPr>
          <p:cNvPr id="10" name="图片 9">
            <a:extLst>
              <a:ext uri="{FF2B5EF4-FFF2-40B4-BE49-F238E27FC236}">
                <a16:creationId xmlns:a16="http://schemas.microsoft.com/office/drawing/2014/main" id="{AAC4C224-7C22-404B-69EA-7695CE1F52AF}"/>
              </a:ext>
            </a:extLst>
          </p:cNvPr>
          <p:cNvPicPr>
            <a:picLocks noChangeAspect="1"/>
          </p:cNvPicPr>
          <p:nvPr/>
        </p:nvPicPr>
        <p:blipFill>
          <a:blip r:embed="rId3"/>
          <a:stretch>
            <a:fillRect/>
          </a:stretch>
        </p:blipFill>
        <p:spPr>
          <a:xfrm>
            <a:off x="3293975" y="0"/>
            <a:ext cx="5850025" cy="5143500"/>
          </a:xfrm>
          <a:prstGeom prst="rect">
            <a:avLst/>
          </a:prstGeom>
        </p:spPr>
      </p:pic>
    </p:spTree>
    <p:extLst>
      <p:ext uri="{BB962C8B-B14F-4D97-AF65-F5344CB8AC3E}">
        <p14:creationId xmlns:p14="http://schemas.microsoft.com/office/powerpoint/2010/main" val="39121288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876A9EC6-734B-CCEA-B1F5-C7404828602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63AEF053-F760-43C3-44CF-E0E29BBD98C4}"/>
              </a:ext>
            </a:extLst>
          </p:cNvPr>
          <p:cNvSpPr>
            <a:spLocks noGrp="1"/>
          </p:cNvSpPr>
          <p:nvPr>
            <p:ph sz="quarter" idx="11"/>
          </p:nvPr>
        </p:nvSpPr>
        <p:spPr>
          <a:xfrm>
            <a:off x="486000" y="687518"/>
            <a:ext cx="8172000" cy="4079035"/>
          </a:xfrm>
        </p:spPr>
        <p:txBody>
          <a:bodyPr/>
          <a:lstStyle/>
          <a:p>
            <a:r>
              <a:rPr lang="en-US" altLang="zh-CN" dirty="0"/>
              <a:t>Content-Transfer-Encoding</a:t>
            </a:r>
            <a:endParaRPr lang="zh-CN" altLang="en-US" dirty="0"/>
          </a:p>
        </p:txBody>
      </p:sp>
      <p:graphicFrame>
        <p:nvGraphicFramePr>
          <p:cNvPr id="5" name="Group 34"/>
          <p:cNvGraphicFramePr>
            <a:graphicFrameLocks noGrp="1"/>
          </p:cNvGraphicFramePr>
          <p:nvPr>
            <p:extLst>
              <p:ext uri="{D42A27DB-BD31-4B8C-83A1-F6EECF244321}">
                <p14:modId xmlns:p14="http://schemas.microsoft.com/office/powerpoint/2010/main" val="2818374317"/>
              </p:ext>
            </p:extLst>
          </p:nvPr>
        </p:nvGraphicFramePr>
        <p:xfrm>
          <a:off x="485774" y="2403212"/>
          <a:ext cx="8171999" cy="2280240"/>
        </p:xfrm>
        <a:graphic>
          <a:graphicData uri="http://schemas.openxmlformats.org/drawingml/2006/table">
            <a:tbl>
              <a:tblPr firstRow="1" bandRow="1">
                <a:tableStyleId>{93296810-A885-4BE3-A3E7-6D5BEEA58F35}</a:tableStyleId>
              </a:tblPr>
              <a:tblGrid>
                <a:gridCol w="1957503">
                  <a:extLst>
                    <a:ext uri="{9D8B030D-6E8A-4147-A177-3AD203B41FA5}">
                      <a16:colId xmlns:a16="http://schemas.microsoft.com/office/drawing/2014/main" val="20000"/>
                    </a:ext>
                  </a:extLst>
                </a:gridCol>
                <a:gridCol w="6214496">
                  <a:extLst>
                    <a:ext uri="{9D8B030D-6E8A-4147-A177-3AD203B41FA5}">
                      <a16:colId xmlns:a16="http://schemas.microsoft.com/office/drawing/2014/main" val="20001"/>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编码方法</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说明</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7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 </a:t>
                      </a: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个字符（包括回车和换行）</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默认编码方法</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8bit</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编码，每行不能超过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1000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个字节（包括回车和换行）</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extLst>
                  <a:ext uri="{0D108BD9-81ED-4DB2-BD59-A6C34878D82A}">
                    <a16:rowId xmlns:a16="http://schemas.microsoft.com/office/drawing/2014/main" val="10002"/>
                  </a:ext>
                </a:extLst>
              </a:tr>
              <a:tr h="193564">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Binary</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8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位非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编码，任意长度的字节串</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3"/>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Base64</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将任意长度的字节串转换为用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7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位 </a:t>
                      </a:r>
                      <a:r>
                        <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ASCII </a:t>
                      </a: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kern="1200" cap="none" normalizeH="0" baseline="0" dirty="0">
                          <a:ln>
                            <a:noFill/>
                          </a:ln>
                          <a:solidFill>
                            <a:schemeClr val="dk1"/>
                          </a:solidFill>
                          <a:effectLst/>
                          <a:latin typeface="Montserrat" panose="00000500000000000000" pitchFamily="2" charset="0"/>
                          <a:ea typeface="微软雅黑 Light" panose="020B0502040204020203" pitchFamily="34" charset="-122"/>
                        </a:rPr>
                        <a:t>可用于二进制和非文本数据的编码</a:t>
                      </a:r>
                      <a:endParaRPr kumimoji="1" lang="ko-KR" altLang="en-US" sz="1200" b="0" u="none" strike="noStrike" kern="1200" cap="none" normalizeH="0" baseline="0" dirty="0">
                        <a:ln>
                          <a:noFill/>
                        </a:ln>
                        <a:solidFill>
                          <a:schemeClr val="dk1"/>
                        </a:solidFill>
                        <a:effectLst/>
                        <a:latin typeface="Montserrat" panose="00000500000000000000" pitchFamily="2" charset="0"/>
                        <a:ea typeface="微软雅黑" pitchFamily="34" charset="-122"/>
                        <a:cs typeface="+mn-cs"/>
                      </a:endParaRPr>
                    </a:p>
                  </a:txBody>
                  <a:tcPr anchor="ctr" horzOverflow="overflow"/>
                </a:tc>
                <a:extLst>
                  <a:ext uri="{0D108BD9-81ED-4DB2-BD59-A6C34878D82A}">
                    <a16:rowId xmlns:a16="http://schemas.microsoft.com/office/drawing/2014/main" val="10004"/>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Quoted-printable</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将任意长度的字节串转换为 </a:t>
                      </a:r>
                      <a:r>
                        <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rPr>
                        <a:t>ASCII </a:t>
                      </a: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编码表示的字符串</a:t>
                      </a:r>
                      <a:endParaRPr kumimoji="1" lang="en-US" altLang="zh-CN" sz="1200" b="0" u="none" strike="noStrike" cap="none" normalizeH="0" baseline="0" dirty="0">
                        <a:ln>
                          <a:noFill/>
                        </a:ln>
                        <a:effectLst/>
                        <a:latin typeface="Montserrat" panose="00000500000000000000" pitchFamily="2" charset="0"/>
                        <a:ea typeface="微软雅黑 Light" panose="020B0502040204020203" pitchFamily="34" charset="-122"/>
                      </a:endParaRPr>
                    </a:p>
                    <a:p>
                      <a:pPr marL="0" marR="0" lvl="0" indent="0" algn="l"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effectLst/>
                          <a:latin typeface="Montserrat" panose="00000500000000000000" pitchFamily="2" charset="0"/>
                          <a:ea typeface="微软雅黑 Light" panose="020B0502040204020203" pitchFamily="34" charset="-122"/>
                        </a:rPr>
                        <a:t>可用于二进制和非文本数据的编码</a:t>
                      </a:r>
                    </a:p>
                  </a:txBody>
                  <a:tcPr anchor="ctr" horzOverflow="overflow"/>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9994875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7BA207-27FC-3613-70D8-877010E281A1}"/>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AB02427-906C-FF90-A584-4B5F5A3D2F4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a:t>
            </a:r>
          </a:p>
        </p:txBody>
      </p:sp>
      <p:sp>
        <p:nvSpPr>
          <p:cNvPr id="10" name="内容占位符 9">
            <a:extLst>
              <a:ext uri="{FF2B5EF4-FFF2-40B4-BE49-F238E27FC236}">
                <a16:creationId xmlns:a16="http://schemas.microsoft.com/office/drawing/2014/main" id="{81915898-B71F-442E-4460-7C655AEAB892}"/>
              </a:ext>
            </a:extLst>
          </p:cNvPr>
          <p:cNvSpPr>
            <a:spLocks noGrp="1"/>
          </p:cNvSpPr>
          <p:nvPr>
            <p:ph sz="quarter" idx="11"/>
          </p:nvPr>
        </p:nvSpPr>
        <p:spPr>
          <a:xfrm>
            <a:off x="486000" y="687518"/>
            <a:ext cx="8172000" cy="4079035"/>
          </a:xfrm>
        </p:spPr>
        <p:txBody>
          <a:bodyPr/>
          <a:lstStyle/>
          <a:p>
            <a:r>
              <a:rPr lang="en-US" altLang="zh-CN" dirty="0"/>
              <a:t>ASCII</a:t>
            </a:r>
            <a:r>
              <a:rPr lang="zh-CN" altLang="en-US" dirty="0"/>
              <a:t>编码</a:t>
            </a:r>
            <a:endParaRPr lang="en-US" altLang="zh-CN" dirty="0"/>
          </a:p>
          <a:p>
            <a:pPr lvl="1"/>
            <a:r>
              <a:rPr lang="en-US" altLang="zh-CN" dirty="0"/>
              <a:t>American Standard Code for Information Interchange</a:t>
            </a:r>
          </a:p>
          <a:p>
            <a:pPr lvl="1"/>
            <a:r>
              <a:rPr lang="zh-CN" altLang="en-US" dirty="0"/>
              <a:t>美国信息交换标准代码</a:t>
            </a:r>
            <a:endParaRPr lang="en-US" altLang="zh-CN" dirty="0"/>
          </a:p>
          <a:p>
            <a:pPr lvl="1"/>
            <a:r>
              <a:rPr lang="zh-CN" altLang="en-US" dirty="0"/>
              <a:t>处理的是 文本（</a:t>
            </a:r>
            <a:r>
              <a:rPr lang="en-US" altLang="zh-CN" dirty="0"/>
              <a:t>text</a:t>
            </a:r>
            <a:r>
              <a:rPr lang="zh-CN" altLang="en-US" dirty="0"/>
              <a:t>），不是数值</a:t>
            </a:r>
            <a:endParaRPr lang="en-US" altLang="zh-CN" dirty="0"/>
          </a:p>
          <a:p>
            <a:pPr lvl="1"/>
            <a:r>
              <a:rPr lang="zh-CN" altLang="en-US" dirty="0"/>
              <a:t>一共有 </a:t>
            </a:r>
            <a:r>
              <a:rPr lang="en-US" altLang="zh-CN" dirty="0"/>
              <a:t>128 </a:t>
            </a:r>
            <a:r>
              <a:rPr lang="zh-CN" altLang="en-US" dirty="0"/>
              <a:t>个字符，即 </a:t>
            </a:r>
            <a:r>
              <a:rPr lang="en-US" altLang="zh-CN" dirty="0"/>
              <a:t>0 </a:t>
            </a:r>
            <a:r>
              <a:rPr lang="zh-CN" altLang="en-US" dirty="0"/>
              <a:t>到 </a:t>
            </a:r>
            <a:r>
              <a:rPr lang="en-US" altLang="zh-CN" dirty="0"/>
              <a:t>127</a:t>
            </a:r>
          </a:p>
          <a:p>
            <a:pPr lvl="1"/>
            <a:r>
              <a:rPr lang="zh-CN" altLang="en-US" dirty="0"/>
              <a:t>用 </a:t>
            </a:r>
            <a:r>
              <a:rPr lang="en-US" altLang="zh-CN" dirty="0"/>
              <a:t>7 </a:t>
            </a:r>
            <a:r>
              <a:rPr lang="zh-CN" altLang="en-US" dirty="0"/>
              <a:t>位二进制表示</a:t>
            </a:r>
          </a:p>
        </p:txBody>
      </p:sp>
      <p:graphicFrame>
        <p:nvGraphicFramePr>
          <p:cNvPr id="5" name="Group 34">
            <a:extLst>
              <a:ext uri="{FF2B5EF4-FFF2-40B4-BE49-F238E27FC236}">
                <a16:creationId xmlns:a16="http://schemas.microsoft.com/office/drawing/2014/main" id="{8BAC2590-69BE-D157-39A4-BDBE5757321E}"/>
              </a:ext>
            </a:extLst>
          </p:cNvPr>
          <p:cNvGraphicFramePr>
            <a:graphicFrameLocks noGrp="1"/>
          </p:cNvGraphicFramePr>
          <p:nvPr>
            <p:extLst>
              <p:ext uri="{D42A27DB-BD31-4B8C-83A1-F6EECF244321}">
                <p14:modId xmlns:p14="http://schemas.microsoft.com/office/powerpoint/2010/main" val="4046417217"/>
              </p:ext>
            </p:extLst>
          </p:nvPr>
        </p:nvGraphicFramePr>
        <p:xfrm>
          <a:off x="485774" y="3025002"/>
          <a:ext cx="8172450" cy="699400"/>
        </p:xfrm>
        <a:graphic>
          <a:graphicData uri="http://schemas.openxmlformats.org/drawingml/2006/table">
            <a:tbl>
              <a:tblPr firstRow="1" bandRow="1">
                <a:tableStyleId>{93296810-A885-4BE3-A3E7-6D5BEEA58F35}</a:tableStyleId>
              </a:tblPr>
              <a:tblGrid>
                <a:gridCol w="1291650">
                  <a:extLst>
                    <a:ext uri="{9D8B030D-6E8A-4147-A177-3AD203B41FA5}">
                      <a16:colId xmlns:a16="http://schemas.microsoft.com/office/drawing/2014/main" val="20000"/>
                    </a:ext>
                  </a:extLst>
                </a:gridCol>
                <a:gridCol w="1396309">
                  <a:extLst>
                    <a:ext uri="{9D8B030D-6E8A-4147-A177-3AD203B41FA5}">
                      <a16:colId xmlns:a16="http://schemas.microsoft.com/office/drawing/2014/main" val="1922206169"/>
                    </a:ext>
                  </a:extLst>
                </a:gridCol>
                <a:gridCol w="1396309">
                  <a:extLst>
                    <a:ext uri="{9D8B030D-6E8A-4147-A177-3AD203B41FA5}">
                      <a16:colId xmlns:a16="http://schemas.microsoft.com/office/drawing/2014/main" val="3896234113"/>
                    </a:ext>
                  </a:extLst>
                </a:gridCol>
                <a:gridCol w="2044091">
                  <a:extLst>
                    <a:ext uri="{9D8B030D-6E8A-4147-A177-3AD203B41FA5}">
                      <a16:colId xmlns:a16="http://schemas.microsoft.com/office/drawing/2014/main" val="20001"/>
                    </a:ext>
                  </a:extLst>
                </a:gridCol>
                <a:gridCol w="2044091">
                  <a:extLst>
                    <a:ext uri="{9D8B030D-6E8A-4147-A177-3AD203B41FA5}">
                      <a16:colId xmlns:a16="http://schemas.microsoft.com/office/drawing/2014/main" val="2565159700"/>
                    </a:ext>
                  </a:extLst>
                </a:gridCol>
              </a:tblGrid>
              <a:tr h="3600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类型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Type</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字符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Character</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二进制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Binary</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十进制 </a:t>
                      </a:r>
                      <a:r>
                        <a:rPr kumimoji="1" lang="en-US" altLang="zh-CN" sz="1200" b="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十六进制 </a:t>
                      </a:r>
                      <a:r>
                        <a:rPr kumimoji="1" lang="en-US" altLang="zh-CN"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rPr>
                        <a:t>Hexadecimal</a:t>
                      </a:r>
                      <a:endParaRPr kumimoji="1" lang="en-US" altLang="ko-KR" sz="1200" b="0" i="0" u="none" strike="noStrike" cap="none" normalizeH="0" baseline="0" dirty="0">
                        <a:ln>
                          <a:noFill/>
                        </a:ln>
                        <a:solidFill>
                          <a:schemeClr val="bg1"/>
                        </a:solidFill>
                        <a:effectLst/>
                        <a:latin typeface="微软雅黑" panose="020B0503020204020204" pitchFamily="34" charset="-122"/>
                        <a:ea typeface="微软雅黑" panose="020B0503020204020204" pitchFamily="34" charset="-122"/>
                      </a:endParaRPr>
                    </a:p>
                  </a:txBody>
                  <a:tcPr anchor="ctr" horzOverflow="overflow"/>
                </a:tc>
                <a:extLst>
                  <a:ext uri="{0D108BD9-81ED-4DB2-BD59-A6C34878D82A}">
                    <a16:rowId xmlns:a16="http://schemas.microsoft.com/office/drawing/2014/main" val="10000"/>
                  </a:ext>
                </a:extLst>
              </a:tr>
              <a:tr h="339400">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zh-CN" altLang="en-US"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rPr>
                        <a:t>可打印</a:t>
                      </a:r>
                      <a:endParaRPr kumimoji="1" lang="en-US" altLang="ko-KR" sz="1200" b="0" i="0" u="none" strike="noStrike" cap="none" normalizeH="0" baseline="0" dirty="0">
                        <a:ln>
                          <a:noFill/>
                        </a:ln>
                        <a:solidFill>
                          <a:schemeClr val="tx1"/>
                        </a:solidFill>
                        <a:effectLst/>
                        <a:latin typeface="Montserrat" panose="00000500000000000000" pitchFamily="2" charset="0"/>
                        <a:ea typeface="微软雅黑 Light" panose="020B0502040204020203" pitchFamily="34" charset="-122"/>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00111001</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lvl1pPr marL="0" algn="l" defTabSz="914400" rtl="0" eaLnBrk="1" latinLnBrk="0" hangingPunct="1">
                        <a:defRPr sz="1800" kern="1200">
                          <a:solidFill>
                            <a:schemeClr val="tx1"/>
                          </a:solidFill>
                          <a:latin typeface="굴림"/>
                          <a:ea typeface="굴림"/>
                        </a:defRPr>
                      </a:lvl1pPr>
                      <a:lvl2pPr marL="457200" algn="l" defTabSz="914400" rtl="0" eaLnBrk="1" latinLnBrk="0" hangingPunct="1">
                        <a:defRPr sz="1800" kern="1200">
                          <a:solidFill>
                            <a:schemeClr val="tx1"/>
                          </a:solidFill>
                          <a:latin typeface="굴림"/>
                          <a:ea typeface="굴림"/>
                        </a:defRPr>
                      </a:lvl2pPr>
                      <a:lvl3pPr marL="914400" algn="l" defTabSz="914400" rtl="0" eaLnBrk="1" latinLnBrk="0" hangingPunct="1">
                        <a:defRPr sz="1800" kern="1200">
                          <a:solidFill>
                            <a:schemeClr val="tx1"/>
                          </a:solidFill>
                          <a:latin typeface="굴림"/>
                          <a:ea typeface="굴림"/>
                        </a:defRPr>
                      </a:lvl3pPr>
                      <a:lvl4pPr marL="1371600" algn="l" defTabSz="914400" rtl="0" eaLnBrk="1" latinLnBrk="0" hangingPunct="1">
                        <a:defRPr sz="1800" kern="1200">
                          <a:solidFill>
                            <a:schemeClr val="tx1"/>
                          </a:solidFill>
                          <a:latin typeface="굴림"/>
                          <a:ea typeface="굴림"/>
                        </a:defRPr>
                      </a:lvl4pPr>
                      <a:lvl5pPr marL="1828800" algn="l" defTabSz="914400" rtl="0" eaLnBrk="1" latinLnBrk="0" hangingPunct="1">
                        <a:defRPr sz="1800" kern="1200">
                          <a:solidFill>
                            <a:schemeClr val="tx1"/>
                          </a:solidFill>
                          <a:latin typeface="굴림"/>
                          <a:ea typeface="굴림"/>
                        </a:defRPr>
                      </a:lvl5pPr>
                      <a:lvl6pPr marL="2286000" algn="l" defTabSz="914400" rtl="0" eaLnBrk="1" latinLnBrk="0" hangingPunct="1">
                        <a:defRPr sz="1800" kern="1200">
                          <a:solidFill>
                            <a:schemeClr val="tx1"/>
                          </a:solidFill>
                          <a:latin typeface="굴림"/>
                          <a:ea typeface="굴림"/>
                        </a:defRPr>
                      </a:lvl6pPr>
                      <a:lvl7pPr marL="2743200" algn="l" defTabSz="914400" rtl="0" eaLnBrk="1" latinLnBrk="0" hangingPunct="1">
                        <a:defRPr sz="1800" kern="1200">
                          <a:solidFill>
                            <a:schemeClr val="tx1"/>
                          </a:solidFill>
                          <a:latin typeface="굴림"/>
                          <a:ea typeface="굴림"/>
                        </a:defRPr>
                      </a:lvl7pPr>
                      <a:lvl8pPr marL="3200400" algn="l" defTabSz="914400" rtl="0" eaLnBrk="1" latinLnBrk="0" hangingPunct="1">
                        <a:defRPr sz="1800" kern="1200">
                          <a:solidFill>
                            <a:schemeClr val="tx1"/>
                          </a:solidFill>
                          <a:latin typeface="굴림"/>
                          <a:ea typeface="굴림"/>
                        </a:defRPr>
                      </a:lvl8pPr>
                      <a:lvl9pPr marL="3657600" algn="l" defTabSz="914400" rtl="0" eaLnBrk="1" latinLnBrk="0" hangingPunct="1">
                        <a:defRPr sz="1800" kern="1200">
                          <a:solidFill>
                            <a:schemeClr val="tx1"/>
                          </a:solidFill>
                          <a:latin typeface="굴림"/>
                          <a:ea typeface="굴림"/>
                        </a:defRPr>
                      </a:lvl9p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u="none" strike="noStrike" cap="none" normalizeH="0" baseline="0" dirty="0">
                          <a:ln>
                            <a:noFill/>
                          </a:ln>
                          <a:effectLst/>
                          <a:latin typeface="Montserrat" panose="00000500000000000000" pitchFamily="2" charset="0"/>
                          <a:ea typeface="微软雅黑 Light" panose="020B0502040204020203" pitchFamily="34" charset="-122"/>
                        </a:rPr>
                        <a:t>57</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tc>
                  <a:txBody>
                    <a:bodyPr/>
                    <a:lstStyle/>
                    <a:p>
                      <a:pPr marL="0" marR="0" lvl="0" indent="0" algn="ctr" defTabSz="914400" rtl="0" eaLnBrk="1" fontAlgn="base" latinLnBrk="1" hangingPunct="1">
                        <a:lnSpc>
                          <a:spcPct val="100000"/>
                        </a:lnSpc>
                        <a:spcBef>
                          <a:spcPts val="0"/>
                        </a:spcBef>
                        <a:spcAft>
                          <a:spcPct val="0"/>
                        </a:spcAft>
                        <a:buClr>
                          <a:schemeClr val="folHlink"/>
                        </a:buClr>
                        <a:buSzPct val="60000"/>
                        <a:buFont typeface="Wingdings" pitchFamily="2" charset="2"/>
                        <a:buNone/>
                        <a:tabLst/>
                      </a:pPr>
                      <a:r>
                        <a:rPr kumimoji="1" lang="en-US" altLang="ko-KR" sz="1200" b="0" i="0" u="none" strike="noStrike" cap="none" normalizeH="0" baseline="0" dirty="0">
                          <a:ln>
                            <a:noFill/>
                          </a:ln>
                          <a:solidFill>
                            <a:schemeClr val="tx1"/>
                          </a:solidFill>
                          <a:effectLst/>
                          <a:latin typeface="Montserrat" panose="00000500000000000000" pitchFamily="2" charset="0"/>
                          <a:ea typeface="굴림" pitchFamily="50" charset="-127"/>
                        </a:rPr>
                        <a:t>0</a:t>
                      </a:r>
                      <a:r>
                        <a:rPr kumimoji="1" lang="en-US" altLang="zh-CN" sz="1200" b="0" i="0" u="none" strike="noStrike" cap="none" normalizeH="0" baseline="0" dirty="0">
                          <a:ln>
                            <a:noFill/>
                          </a:ln>
                          <a:solidFill>
                            <a:schemeClr val="tx1"/>
                          </a:solidFill>
                          <a:effectLst/>
                          <a:latin typeface="Montserrat" panose="00000500000000000000" pitchFamily="2" charset="0"/>
                          <a:ea typeface="굴림" pitchFamily="50" charset="-127"/>
                        </a:rPr>
                        <a:t>x39</a:t>
                      </a:r>
                      <a:endParaRPr kumimoji="1" lang="ko-KR" altLang="en-US" sz="1200" b="0" i="0" u="none" strike="noStrike" cap="none" normalizeH="0" baseline="0" dirty="0">
                        <a:ln>
                          <a:noFill/>
                        </a:ln>
                        <a:solidFill>
                          <a:schemeClr val="tx1"/>
                        </a:solidFill>
                        <a:effectLst/>
                        <a:latin typeface="Montserrat" panose="00000500000000000000" pitchFamily="2" charset="0"/>
                        <a:ea typeface="굴림" pitchFamily="50" charset="-127"/>
                      </a:endParaRPr>
                    </a:p>
                  </a:txBody>
                  <a:tcPr anchor="ctr" horzOverflow="overflow"/>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41388660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内容占位符 26">
            <a:extLst>
              <a:ext uri="{FF2B5EF4-FFF2-40B4-BE49-F238E27FC236}">
                <a16:creationId xmlns:a16="http://schemas.microsoft.com/office/drawing/2014/main" id="{32431927-7B00-498A-6768-99F656765A22}"/>
              </a:ext>
            </a:extLst>
          </p:cNvPr>
          <p:cNvSpPr>
            <a:spLocks noGrp="1"/>
          </p:cNvSpPr>
          <p:nvPr>
            <p:ph sz="quarter" idx="11"/>
          </p:nvPr>
        </p:nvSpPr>
        <p:spPr>
          <a:xfrm>
            <a:off x="486000" y="687518"/>
            <a:ext cx="8172000" cy="4079035"/>
          </a:xfrm>
        </p:spPr>
        <p:txBody>
          <a:bodyPr/>
          <a:lstStyle/>
          <a:p>
            <a:r>
              <a:rPr lang="zh-CN" altLang="en-US" dirty="0"/>
              <a:t>适用于所传送的数据中只有少量的非 </a:t>
            </a:r>
            <a:r>
              <a:rPr lang="en-US" altLang="zh-CN" dirty="0"/>
              <a:t>ASCII </a:t>
            </a:r>
            <a:r>
              <a:rPr lang="zh-CN" altLang="en-US" dirty="0"/>
              <a:t>码的情况</a:t>
            </a:r>
            <a:endParaRPr lang="en-US" altLang="zh-CN" dirty="0"/>
          </a:p>
          <a:p>
            <a:pPr lvl="1"/>
            <a:r>
              <a:rPr lang="zh-CN" altLang="en-US" dirty="0"/>
              <a:t>如汉字</a:t>
            </a:r>
            <a:endParaRPr lang="en-US" altLang="zh-CN" dirty="0"/>
          </a:p>
          <a:p>
            <a:r>
              <a:rPr lang="zh-CN" altLang="en-US" dirty="0"/>
              <a:t>规则：</a:t>
            </a:r>
            <a:endParaRPr lang="en-US" altLang="zh-CN" dirty="0"/>
          </a:p>
          <a:p>
            <a:pPr lvl="1"/>
            <a:r>
              <a:rPr lang="zh-CN" altLang="en-US" dirty="0"/>
              <a:t>所有可打印的</a:t>
            </a:r>
            <a:r>
              <a:rPr lang="en-US" altLang="zh-CN" dirty="0"/>
              <a:t>ASCII</a:t>
            </a:r>
            <a:r>
              <a:rPr lang="zh-CN" altLang="en-US" dirty="0"/>
              <a:t>码，除 </a:t>
            </a:r>
            <a:r>
              <a:rPr lang="en-US" altLang="zh-CN" dirty="0"/>
              <a:t>= </a:t>
            </a:r>
            <a:r>
              <a:rPr lang="zh-CN" altLang="en-US" dirty="0"/>
              <a:t>外，都不改变</a:t>
            </a:r>
            <a:endParaRPr lang="en-US" altLang="zh-CN" dirty="0"/>
          </a:p>
          <a:p>
            <a:pPr lvl="1"/>
            <a:r>
              <a:rPr lang="zh-CN" altLang="en-US" dirty="0"/>
              <a:t>其它：</a:t>
            </a:r>
            <a:r>
              <a:rPr lang="en-US" altLang="zh-CN" dirty="0"/>
              <a:t>= + </a:t>
            </a:r>
            <a:r>
              <a:rPr lang="zh-CN" altLang="en-US" dirty="0"/>
              <a:t>每个字节对应的两个</a:t>
            </a:r>
            <a:r>
              <a:rPr lang="zh-CN" altLang="en-US" dirty="0">
                <a:solidFill>
                  <a:srgbClr val="C00000"/>
                </a:solidFill>
              </a:rPr>
              <a:t>大写</a:t>
            </a:r>
            <a:r>
              <a:rPr lang="zh-CN" altLang="en-US" dirty="0"/>
              <a:t>的十六进制</a:t>
            </a:r>
            <a:endParaRPr lang="en-US" altLang="zh-CN" dirty="0"/>
          </a:p>
          <a:p>
            <a:r>
              <a:rPr lang="zh-CN" altLang="en-US" dirty="0"/>
              <a:t>开销增加：</a:t>
            </a:r>
            <a:endParaRPr lang="en-US" altLang="zh-CN" dirty="0"/>
          </a:p>
          <a:p>
            <a:pPr lvl="1"/>
            <a:r>
              <a:rPr lang="zh-CN" altLang="en-US" dirty="0"/>
              <a:t>原来 </a:t>
            </a:r>
            <a:r>
              <a:rPr lang="en-US" altLang="zh-CN" dirty="0"/>
              <a:t>1 </a:t>
            </a:r>
            <a:r>
              <a:rPr lang="zh-CN" altLang="en-US" dirty="0"/>
              <a:t>个字节，现在需要 </a:t>
            </a:r>
            <a:r>
              <a:rPr lang="en-US" altLang="zh-CN" dirty="0"/>
              <a:t>3 </a:t>
            </a:r>
            <a:r>
              <a:rPr lang="zh-CN" altLang="en-US" dirty="0"/>
              <a:t>个字节，开销 </a:t>
            </a:r>
            <a:r>
              <a:rPr lang="en-US" altLang="zh-CN" dirty="0"/>
              <a:t>= 200%</a:t>
            </a:r>
            <a:endParaRPr lang="zh-CN" altLang="en-US" dirty="0"/>
          </a:p>
          <a:p>
            <a:pPr lvl="1"/>
            <a:endParaRPr lang="zh-CN" altLang="en-US" dirty="0"/>
          </a:p>
        </p:txBody>
      </p:sp>
      <p:sp>
        <p:nvSpPr>
          <p:cNvPr id="20" name="Line 1036"/>
          <p:cNvSpPr>
            <a:spLocks noChangeShapeType="1"/>
          </p:cNvSpPr>
          <p:nvPr/>
        </p:nvSpPr>
        <p:spPr bwMode="auto">
          <a:xfrm flipH="1">
            <a:off x="6288345" y="3552078"/>
            <a:ext cx="0" cy="469041"/>
          </a:xfrm>
          <a:prstGeom prst="line">
            <a:avLst/>
          </a:prstGeom>
          <a:noFill/>
          <a:ln w="19050">
            <a:solidFill>
              <a:srgbClr val="000000"/>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defPPr>
              <a:defRPr lang="en-US"/>
            </a:defPPr>
            <a:lvl1pPr algn="ctr" rtl="0" eaLnBrk="0" fontAlgn="base" hangingPunct="0">
              <a:spcBef>
                <a:spcPct val="0"/>
              </a:spcBef>
              <a:spcAft>
                <a:spcPct val="0"/>
              </a:spcAft>
              <a:defRPr kern="1200">
                <a:solidFill>
                  <a:schemeClr val="tx1"/>
                </a:solidFill>
                <a:latin typeface="Arial" charset="0"/>
                <a:ea typeface="+mn-ea"/>
                <a:cs typeface="+mn-cs"/>
              </a:defRPr>
            </a:lvl1pPr>
            <a:lvl2pPr marL="457200" algn="ctr" rtl="0" eaLnBrk="0" fontAlgn="base" hangingPunct="0">
              <a:spcBef>
                <a:spcPct val="0"/>
              </a:spcBef>
              <a:spcAft>
                <a:spcPct val="0"/>
              </a:spcAft>
              <a:defRPr kern="1200">
                <a:solidFill>
                  <a:schemeClr val="tx1"/>
                </a:solidFill>
                <a:latin typeface="Arial" charset="0"/>
                <a:ea typeface="+mn-ea"/>
                <a:cs typeface="+mn-cs"/>
              </a:defRPr>
            </a:lvl2pPr>
            <a:lvl3pPr marL="914400" algn="ctr" rtl="0" eaLnBrk="0" fontAlgn="base" hangingPunct="0">
              <a:spcBef>
                <a:spcPct val="0"/>
              </a:spcBef>
              <a:spcAft>
                <a:spcPct val="0"/>
              </a:spcAft>
              <a:defRPr kern="1200">
                <a:solidFill>
                  <a:schemeClr val="tx1"/>
                </a:solidFill>
                <a:latin typeface="Arial" charset="0"/>
                <a:ea typeface="+mn-ea"/>
                <a:cs typeface="+mn-cs"/>
              </a:defRPr>
            </a:lvl3pPr>
            <a:lvl4pPr marL="1371600" algn="ctr" rtl="0" eaLnBrk="0" fontAlgn="base" hangingPunct="0">
              <a:spcBef>
                <a:spcPct val="0"/>
              </a:spcBef>
              <a:spcAft>
                <a:spcPct val="0"/>
              </a:spcAft>
              <a:defRPr kern="1200">
                <a:solidFill>
                  <a:schemeClr val="tx1"/>
                </a:solidFill>
                <a:latin typeface="Arial" charset="0"/>
                <a:ea typeface="+mn-ea"/>
                <a:cs typeface="+mn-cs"/>
              </a:defRPr>
            </a:lvl4pPr>
            <a:lvl5pPr marL="1828800" algn="ctr"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矩形 17"/>
          <p:cNvSpPr/>
          <p:nvPr/>
        </p:nvSpPr>
        <p:spPr>
          <a:xfrm>
            <a:off x="4704345" y="3182899"/>
            <a:ext cx="3168000" cy="360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020202"/>
                </a:solidFill>
                <a:latin typeface="Montserrat" panose="00000500000000000000" pitchFamily="2" charset="0"/>
                <a:ea typeface="微软雅黑 Light" panose="020B0502040204020203" pitchFamily="34" charset="-122"/>
              </a:rPr>
              <a:t>11001111 10110101 11001101 10110011</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5553208" y="4007419"/>
            <a:ext cx="1470274" cy="288000"/>
          </a:xfrm>
          <a:prstGeom prst="rect">
            <a:avLst/>
          </a:prstGeom>
          <a:solidFill>
            <a:schemeClr val="bg1">
              <a:lumMod val="95000"/>
            </a:schemeClr>
          </a:solidFill>
          <a:ln w="9525">
            <a:noFill/>
            <a:miter lim="800000"/>
            <a:headEnd/>
            <a:tailEnd/>
          </a:ln>
          <a:effectLst/>
        </p:spPr>
        <p:txBody>
          <a:bodyPr wrap="none" anchor="ctr"/>
          <a:lstStyle/>
          <a:p>
            <a:pPr algn="ctr" fontAlgn="base">
              <a:spcBef>
                <a:spcPct val="0"/>
              </a:spcBef>
              <a:spcAft>
                <a:spcPct val="0"/>
              </a:spcAft>
            </a:pPr>
            <a:r>
              <a:rPr lang="en-US" altLang="zh-CN" sz="1200" dirty="0">
                <a:solidFill>
                  <a:srgbClr val="C00000"/>
                </a:solidFill>
                <a:latin typeface="Montserrat" panose="00000500000000000000" pitchFamily="2" charset="0"/>
                <a:ea typeface="微软雅黑 Light" panose="020B0502040204020203" pitchFamily="34" charset="-122"/>
              </a:rPr>
              <a:t>=CF=B5=CD=B3</a:t>
            </a:r>
            <a:endParaRPr lang="zh-CN" altLang="en-US" sz="1200" dirty="0">
              <a:solidFill>
                <a:srgbClr val="C00000"/>
              </a:solidFill>
              <a:latin typeface="Montserrat" panose="00000500000000000000" pitchFamily="2" charset="0"/>
              <a:ea typeface="微软雅黑 Light" panose="020B0502040204020203" pitchFamily="34" charset="-122"/>
            </a:endParaRPr>
          </a:p>
        </p:txBody>
      </p:sp>
      <p:sp>
        <p:nvSpPr>
          <p:cNvPr id="21" name="矩形 20"/>
          <p:cNvSpPr/>
          <p:nvPr/>
        </p:nvSpPr>
        <p:spPr>
          <a:xfrm>
            <a:off x="7936953" y="3224399"/>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32</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2" name="矩形 21"/>
          <p:cNvSpPr/>
          <p:nvPr/>
        </p:nvSpPr>
        <p:spPr>
          <a:xfrm>
            <a:off x="7069739" y="4018420"/>
            <a:ext cx="527709" cy="276999"/>
          </a:xfrm>
          <a:prstGeom prst="rect">
            <a:avLst/>
          </a:prstGeom>
        </p:spPr>
        <p:txBody>
          <a:bodyPr wrap="none">
            <a:spAutoFit/>
          </a:bodyPr>
          <a:lstStyle/>
          <a:p>
            <a:r>
              <a:rPr lang="en-US" altLang="zh-CN" sz="1200" b="1" dirty="0">
                <a:solidFill>
                  <a:srgbClr val="020202"/>
                </a:solidFill>
                <a:latin typeface="微软雅黑 Light" panose="020B0502040204020203" pitchFamily="34" charset="-122"/>
                <a:ea typeface="微软雅黑 Light" panose="020B0502040204020203" pitchFamily="34" charset="-122"/>
              </a:rPr>
              <a:t>96</a:t>
            </a:r>
            <a:r>
              <a:rPr lang="zh-CN" altLang="en-US" sz="1200" b="1" dirty="0">
                <a:solidFill>
                  <a:srgbClr val="020202"/>
                </a:solidFill>
                <a:latin typeface="微软雅黑 Light" panose="020B0502040204020203" pitchFamily="34" charset="-122"/>
                <a:ea typeface="微软雅黑 Light" panose="020B0502040204020203" pitchFamily="34" charset="-122"/>
              </a:rPr>
              <a:t>位</a:t>
            </a:r>
          </a:p>
        </p:txBody>
      </p:sp>
      <p:sp>
        <p:nvSpPr>
          <p:cNvPr id="2" name="标题 1">
            <a:extLst>
              <a:ext uri="{FF2B5EF4-FFF2-40B4-BE49-F238E27FC236}">
                <a16:creationId xmlns:a16="http://schemas.microsoft.com/office/drawing/2014/main" id="{C5E964E1-5628-B230-A22A-B026AB3C0627}"/>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a:t>
            </a:r>
            <a:r>
              <a:rPr lang="en-US" altLang="ko-KR" dirty="0"/>
              <a:t>Quoted-printable</a:t>
            </a:r>
            <a:endParaRPr lang="zh-CN" altLang="en-US" dirty="0"/>
          </a:p>
        </p:txBody>
      </p:sp>
      <p:graphicFrame>
        <p:nvGraphicFramePr>
          <p:cNvPr id="41" name="表格 40">
            <a:extLst>
              <a:ext uri="{FF2B5EF4-FFF2-40B4-BE49-F238E27FC236}">
                <a16:creationId xmlns:a16="http://schemas.microsoft.com/office/drawing/2014/main" id="{C39C9CAF-EC29-29FD-7811-4FB2A671CAB2}"/>
              </a:ext>
            </a:extLst>
          </p:cNvPr>
          <p:cNvGraphicFramePr>
            <a:graphicFrameLocks noGrp="1"/>
          </p:cNvGraphicFramePr>
          <p:nvPr>
            <p:extLst>
              <p:ext uri="{D42A27DB-BD31-4B8C-83A1-F6EECF244321}">
                <p14:modId xmlns:p14="http://schemas.microsoft.com/office/powerpoint/2010/main" val="343504133"/>
              </p:ext>
            </p:extLst>
          </p:nvPr>
        </p:nvGraphicFramePr>
        <p:xfrm>
          <a:off x="485775" y="3182899"/>
          <a:ext cx="3643946" cy="1112520"/>
        </p:xfrm>
        <a:graphic>
          <a:graphicData uri="http://schemas.openxmlformats.org/drawingml/2006/table">
            <a:tbl>
              <a:tblPr firstRow="1" bandRow="1">
                <a:tableStyleId>{93296810-A885-4BE3-A3E7-6D5BEEA58F35}</a:tableStyleId>
              </a:tblPr>
              <a:tblGrid>
                <a:gridCol w="892455">
                  <a:extLst>
                    <a:ext uri="{9D8B030D-6E8A-4147-A177-3AD203B41FA5}">
                      <a16:colId xmlns:a16="http://schemas.microsoft.com/office/drawing/2014/main" val="1233134625"/>
                    </a:ext>
                  </a:extLst>
                </a:gridCol>
                <a:gridCol w="2751491">
                  <a:extLst>
                    <a:ext uri="{9D8B030D-6E8A-4147-A177-3AD203B41FA5}">
                      <a16:colId xmlns:a16="http://schemas.microsoft.com/office/drawing/2014/main" val="4148642327"/>
                    </a:ext>
                  </a:extLst>
                </a:gridCol>
              </a:tblGrid>
              <a:tr h="370840">
                <a:tc>
                  <a:txBody>
                    <a:bodyPr/>
                    <a:lstStyle/>
                    <a:p>
                      <a:pPr algn="ctr"/>
                      <a:r>
                        <a:rPr lang="zh-CN" altLang="en-US" sz="1200" b="0" dirty="0">
                          <a:latin typeface="Montserrat" panose="00000500000000000000" pitchFamily="2" charset="0"/>
                          <a:ea typeface="微软雅黑" panose="020B0503020204020204" pitchFamily="34" charset="-122"/>
                        </a:rPr>
                        <a:t>原始字节</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10011101</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241995977"/>
                  </a:ext>
                </a:extLst>
              </a:tr>
              <a:tr h="370840">
                <a:tc>
                  <a:txBody>
                    <a:bodyPr/>
                    <a:lstStyle/>
                    <a:p>
                      <a:pPr algn="ctr"/>
                      <a:r>
                        <a:rPr lang="zh-CN" altLang="en-US" sz="1200" b="0" dirty="0">
                          <a:latin typeface="Montserrat" panose="00000500000000000000" pitchFamily="2" charset="0"/>
                          <a:ea typeface="微软雅黑" panose="020B0503020204020204" pitchFamily="34" charset="-122"/>
                        </a:rPr>
                        <a:t>十六进制</a:t>
                      </a:r>
                    </a:p>
                  </a:txBody>
                  <a:tcPr anchor="ctr"/>
                </a:tc>
                <a:tc>
                  <a:txBody>
                    <a:bodyPr/>
                    <a:lstStyle/>
                    <a:p>
                      <a:pPr algn="ctr"/>
                      <a:r>
                        <a:rPr lang="en-US" altLang="zh-CN" sz="1200" b="0" dirty="0">
                          <a:latin typeface="Montserrat" panose="00000500000000000000" pitchFamily="2" charset="0"/>
                          <a:ea typeface="微软雅黑" panose="020B0503020204020204" pitchFamily="34" charset="-122"/>
                        </a:rPr>
                        <a:t>= 9 D</a:t>
                      </a:r>
                      <a:endParaRPr lang="zh-CN" altLang="en-US" sz="1200" b="0" dirty="0">
                        <a:latin typeface="Montserrat" panose="00000500000000000000" pitchFamily="2" charset="0"/>
                        <a:ea typeface="微软雅黑" panose="020B0503020204020204" pitchFamily="34" charset="-122"/>
                      </a:endParaRPr>
                    </a:p>
                  </a:txBody>
                  <a:tcPr anchor="ctr"/>
                </a:tc>
                <a:extLst>
                  <a:ext uri="{0D108BD9-81ED-4DB2-BD59-A6C34878D82A}">
                    <a16:rowId xmlns:a16="http://schemas.microsoft.com/office/drawing/2014/main" val="3126823163"/>
                  </a:ext>
                </a:extLst>
              </a:tr>
              <a:tr h="370840">
                <a:tc>
                  <a:txBody>
                    <a:bodyPr/>
                    <a:lstStyle/>
                    <a:p>
                      <a:pPr algn="ctr"/>
                      <a:r>
                        <a:rPr lang="en-US" altLang="zh-CN" sz="1200" b="0" dirty="0">
                          <a:latin typeface="Montserrat" panose="00000500000000000000" pitchFamily="2" charset="0"/>
                          <a:ea typeface="微软雅黑" panose="020B0503020204020204" pitchFamily="34" charset="-122"/>
                        </a:rPr>
                        <a:t>ASCII</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200" b="0" dirty="0">
                          <a:solidFill>
                            <a:srgbClr val="C00000"/>
                          </a:solidFill>
                          <a:latin typeface="Montserrat" panose="00000500000000000000" pitchFamily="2" charset="0"/>
                          <a:ea typeface="微软雅黑 Light" panose="020B0502040204020203" pitchFamily="34" charset="-122"/>
                        </a:rPr>
                        <a:t>00111101</a:t>
                      </a:r>
                      <a:r>
                        <a:rPr lang="zh-CN" altLang="en-US" sz="1200" b="0" dirty="0">
                          <a:solidFill>
                            <a:srgbClr val="C00000"/>
                          </a:solidFill>
                          <a:latin typeface="Montserrat" panose="00000500000000000000" pitchFamily="2" charset="0"/>
                          <a:ea typeface="微软雅黑" panose="020B0503020204020204" pitchFamily="34" charset="-122"/>
                        </a:rPr>
                        <a:t> </a:t>
                      </a:r>
                      <a:r>
                        <a:rPr lang="en-US" altLang="zh-CN" sz="1200" b="0" dirty="0">
                          <a:solidFill>
                            <a:srgbClr val="C00000"/>
                          </a:solidFill>
                          <a:latin typeface="Montserrat" panose="00000500000000000000" pitchFamily="2" charset="0"/>
                          <a:ea typeface="微软雅黑 Light" panose="020B0502040204020203" pitchFamily="34" charset="-122"/>
                        </a:rPr>
                        <a:t>00111001 01000100</a:t>
                      </a:r>
                    </a:p>
                  </a:txBody>
                  <a:tcPr anchor="ctr"/>
                </a:tc>
                <a:extLst>
                  <a:ext uri="{0D108BD9-81ED-4DB2-BD59-A6C34878D82A}">
                    <a16:rowId xmlns:a16="http://schemas.microsoft.com/office/drawing/2014/main" val="1285123662"/>
                  </a:ext>
                </a:extLst>
              </a:tr>
            </a:tbl>
          </a:graphicData>
        </a:graphic>
      </p:graphicFrame>
    </p:spTree>
    <p:extLst>
      <p:ext uri="{BB962C8B-B14F-4D97-AF65-F5344CB8AC3E}">
        <p14:creationId xmlns:p14="http://schemas.microsoft.com/office/powerpoint/2010/main" val="14403591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7B089412-9BF4-9E3C-ADA1-3EB3702362DB}"/>
              </a:ext>
            </a:extLst>
          </p:cNvPr>
          <p:cNvSpPr>
            <a:spLocks noGrp="1"/>
          </p:cNvSpPr>
          <p:nvPr>
            <p:ph type="title"/>
          </p:nvPr>
        </p:nvSpPr>
        <p:spPr>
          <a:xfrm>
            <a:off x="485999" y="174482"/>
            <a:ext cx="8171999" cy="338554"/>
          </a:xfrm>
        </p:spPr>
        <p:txBody>
          <a:bodyPr/>
          <a:lstStyle/>
          <a:p>
            <a:r>
              <a:rPr lang="en-US" altLang="zh-CN"/>
              <a:t>6.5.6  </a:t>
            </a:r>
            <a:r>
              <a:rPr lang="zh-CN" altLang="en-US"/>
              <a:t>通用互联网邮件扩充 </a:t>
            </a:r>
            <a:r>
              <a:rPr lang="en-US" altLang="zh-CN"/>
              <a:t>MIME - </a:t>
            </a:r>
            <a:r>
              <a:rPr lang="zh-CN" altLang="en-US"/>
              <a:t>内容传送编码 </a:t>
            </a:r>
            <a:r>
              <a:rPr lang="en-US" altLang="zh-CN"/>
              <a:t>- Base64</a:t>
            </a:r>
            <a:endParaRPr lang="zh-CN" altLang="en-US" dirty="0"/>
          </a:p>
        </p:txBody>
      </p:sp>
      <p:sp>
        <p:nvSpPr>
          <p:cNvPr id="9" name="内容占位符 8">
            <a:extLst>
              <a:ext uri="{FF2B5EF4-FFF2-40B4-BE49-F238E27FC236}">
                <a16:creationId xmlns:a16="http://schemas.microsoft.com/office/drawing/2014/main" id="{FC343BF6-920D-5D69-C58A-2CD8AFE81210}"/>
              </a:ext>
            </a:extLst>
          </p:cNvPr>
          <p:cNvSpPr>
            <a:spLocks noGrp="1"/>
          </p:cNvSpPr>
          <p:nvPr>
            <p:ph sz="quarter" idx="11"/>
          </p:nvPr>
        </p:nvSpPr>
        <p:spPr>
          <a:xfrm>
            <a:off x="486000" y="687518"/>
            <a:ext cx="8172000" cy="4079035"/>
          </a:xfrm>
        </p:spPr>
        <p:txBody>
          <a:bodyPr/>
          <a:lstStyle/>
          <a:p>
            <a:r>
              <a:rPr lang="zh-CN" altLang="en-US" dirty="0"/>
              <a:t>适合任意长度的二进制数据</a:t>
            </a:r>
            <a:endParaRPr lang="en-US" altLang="zh-CN" dirty="0"/>
          </a:p>
          <a:p>
            <a:r>
              <a:rPr lang="zh-CN" altLang="en-US" dirty="0"/>
              <a:t>规则</a:t>
            </a:r>
            <a:endParaRPr lang="en-US" altLang="zh-CN" dirty="0"/>
          </a:p>
          <a:p>
            <a:pPr lvl="1"/>
            <a:r>
              <a:rPr lang="zh-CN" altLang="en-US" dirty="0"/>
              <a:t>把二进制代码划分成一个个的 </a:t>
            </a:r>
            <a:r>
              <a:rPr lang="en-US" altLang="zh-CN" dirty="0"/>
              <a:t>24bit </a:t>
            </a:r>
            <a:r>
              <a:rPr lang="zh-CN" altLang="en-US" dirty="0"/>
              <a:t>的单元</a:t>
            </a:r>
            <a:endParaRPr lang="en-US" altLang="zh-CN" dirty="0"/>
          </a:p>
          <a:p>
            <a:pPr lvl="1"/>
            <a:r>
              <a:rPr lang="zh-CN" altLang="en-US" dirty="0"/>
              <a:t>每个单元划分成 </a:t>
            </a:r>
            <a:r>
              <a:rPr lang="en-US" altLang="zh-CN" dirty="0"/>
              <a:t>4 </a:t>
            </a:r>
            <a:r>
              <a:rPr lang="zh-CN" altLang="en-US" dirty="0"/>
              <a:t>个 </a:t>
            </a:r>
            <a:r>
              <a:rPr lang="en-US" altLang="zh-CN" dirty="0"/>
              <a:t>6bit </a:t>
            </a:r>
            <a:r>
              <a:rPr lang="zh-CN" altLang="en-US" dirty="0"/>
              <a:t>组</a:t>
            </a:r>
            <a:endParaRPr lang="en-US" altLang="zh-CN" dirty="0"/>
          </a:p>
          <a:p>
            <a:pPr lvl="1"/>
            <a:r>
              <a:rPr lang="zh-CN" altLang="en-US" dirty="0"/>
              <a:t>每个</a:t>
            </a:r>
            <a:r>
              <a:rPr lang="en-US" altLang="zh-CN" dirty="0"/>
              <a:t>6bit</a:t>
            </a:r>
            <a:r>
              <a:rPr lang="zh-CN" altLang="en-US" dirty="0"/>
              <a:t>可以表示</a:t>
            </a:r>
            <a:r>
              <a:rPr lang="en-US" altLang="zh-CN" dirty="0"/>
              <a:t>64</a:t>
            </a:r>
            <a:r>
              <a:rPr lang="zh-CN" altLang="en-US" dirty="0"/>
              <a:t>值：</a:t>
            </a:r>
            <a:endParaRPr lang="en-US" altLang="zh-CN" dirty="0"/>
          </a:p>
          <a:p>
            <a:pPr lvl="2"/>
            <a:r>
              <a:rPr lang="en-US" altLang="zh-CN" dirty="0"/>
              <a:t>26</a:t>
            </a:r>
            <a:r>
              <a:rPr lang="zh-CN" altLang="en-US" dirty="0"/>
              <a:t>个大小字母：</a:t>
            </a:r>
            <a:r>
              <a:rPr lang="en-US" altLang="zh-CN" dirty="0"/>
              <a:t>A-Z</a:t>
            </a:r>
          </a:p>
          <a:p>
            <a:pPr lvl="2"/>
            <a:r>
              <a:rPr lang="en-US" altLang="zh-CN" dirty="0"/>
              <a:t>26</a:t>
            </a:r>
            <a:r>
              <a:rPr lang="zh-CN" altLang="en-US" dirty="0"/>
              <a:t>个小写字母：</a:t>
            </a:r>
            <a:r>
              <a:rPr lang="en-US" altLang="zh-CN" dirty="0"/>
              <a:t>a-z</a:t>
            </a:r>
          </a:p>
          <a:p>
            <a:pPr lvl="2"/>
            <a:r>
              <a:rPr lang="zh-CN" altLang="en-US" dirty="0"/>
              <a:t>数字：</a:t>
            </a:r>
            <a:r>
              <a:rPr lang="en-US" altLang="zh-CN" dirty="0"/>
              <a:t>0-9</a:t>
            </a:r>
          </a:p>
          <a:p>
            <a:pPr lvl="2"/>
            <a:r>
              <a:rPr lang="en-US" altLang="zh-CN" dirty="0"/>
              <a:t>+</a:t>
            </a:r>
            <a:r>
              <a:rPr lang="zh-CN" altLang="en-US" dirty="0"/>
              <a:t>：</a:t>
            </a:r>
            <a:r>
              <a:rPr lang="en-US" altLang="zh-CN" dirty="0"/>
              <a:t>62</a:t>
            </a:r>
          </a:p>
          <a:p>
            <a:pPr lvl="2"/>
            <a:r>
              <a:rPr lang="en-US" altLang="zh-CN" dirty="0"/>
              <a:t>/</a:t>
            </a:r>
            <a:r>
              <a:rPr lang="zh-CN" altLang="en-US" dirty="0"/>
              <a:t>：</a:t>
            </a:r>
            <a:r>
              <a:rPr lang="en-US" altLang="zh-CN" dirty="0"/>
              <a:t>63</a:t>
            </a:r>
          </a:p>
          <a:p>
            <a:pPr lvl="2"/>
            <a:r>
              <a:rPr lang="zh-CN" altLang="en-US" dirty="0"/>
              <a:t>用两个连在一起的二个等号“</a:t>
            </a:r>
            <a:r>
              <a:rPr lang="en-US" altLang="zh-CN" dirty="0"/>
              <a:t>==”</a:t>
            </a:r>
            <a:r>
              <a:rPr lang="zh-CN" altLang="en-US" dirty="0"/>
              <a:t>和一个等号“</a:t>
            </a:r>
            <a:r>
              <a:rPr lang="en-US" altLang="zh-CN" dirty="0"/>
              <a:t>=”</a:t>
            </a:r>
            <a:r>
              <a:rPr lang="zh-CN" altLang="en-US" dirty="0"/>
              <a:t>分别表示最后一组的代码只有 </a:t>
            </a:r>
            <a:r>
              <a:rPr lang="en-US" altLang="zh-CN" dirty="0"/>
              <a:t>8 </a:t>
            </a:r>
            <a:r>
              <a:rPr lang="zh-CN" altLang="en-US" dirty="0"/>
              <a:t>位或 </a:t>
            </a:r>
            <a:r>
              <a:rPr lang="en-US" altLang="zh-CN" dirty="0"/>
              <a:t>16 </a:t>
            </a:r>
            <a:r>
              <a:rPr lang="zh-CN" altLang="en-US" dirty="0"/>
              <a:t>位</a:t>
            </a:r>
            <a:endParaRPr lang="en-US" altLang="zh-CN" dirty="0"/>
          </a:p>
          <a:p>
            <a:pPr lvl="2"/>
            <a:r>
              <a:rPr lang="zh-CN" altLang="en-US" dirty="0"/>
              <a:t>回车和换行忽略</a:t>
            </a:r>
            <a:endParaRPr lang="en-US" altLang="zh-CN" dirty="0"/>
          </a:p>
          <a:p>
            <a:endParaRPr lang="zh-CN" altLang="en-US" dirty="0"/>
          </a:p>
        </p:txBody>
      </p:sp>
      <p:sp>
        <p:nvSpPr>
          <p:cNvPr id="5" name="文本框 4">
            <a:extLst>
              <a:ext uri="{FF2B5EF4-FFF2-40B4-BE49-F238E27FC236}">
                <a16:creationId xmlns:a16="http://schemas.microsoft.com/office/drawing/2014/main" id="{961DE8B8-4E0E-1382-F202-A8A06C9A83A0}"/>
              </a:ext>
            </a:extLst>
          </p:cNvPr>
          <p:cNvSpPr txBox="1"/>
          <p:nvPr/>
        </p:nvSpPr>
        <p:spPr>
          <a:xfrm>
            <a:off x="1591056" y="4301338"/>
            <a:ext cx="5961890" cy="338554"/>
          </a:xfrm>
          <a:prstGeom prst="rect">
            <a:avLst/>
          </a:prstGeom>
          <a:solidFill>
            <a:schemeClr val="bg1">
              <a:lumMod val="95000"/>
            </a:schemeClr>
          </a:solidFill>
        </p:spPr>
        <p:txBody>
          <a:bodyPr wrap="none" rtlCol="0">
            <a:spAutoFit/>
          </a:bodyPr>
          <a:lstStyle/>
          <a:p>
            <a:pPr algn="ctr"/>
            <a:r>
              <a:rPr lang="sv-SE" altLang="zh-CN" sz="1600" dirty="0">
                <a:latin typeface="Montserrat" panose="00000500000000000000" pitchFamily="2" charset="0"/>
                <a:ea typeface="微软雅黑 Light" panose="020B0502040204020203" pitchFamily="34" charset="-122"/>
              </a:rPr>
              <a:t>[24 bits] → [6bit][6bit][6bit][6bit] → [char][char][char][char]</a:t>
            </a:r>
            <a:endParaRPr lang="zh-CN" altLang="en-US"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2324454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331CBE-E55D-A60E-7FD8-AFB3A396FA1C}"/>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6" name="内容占位符 5">
            <a:extLst>
              <a:ext uri="{FF2B5EF4-FFF2-40B4-BE49-F238E27FC236}">
                <a16:creationId xmlns:a16="http://schemas.microsoft.com/office/drawing/2014/main" id="{FEC3D034-4E95-71CE-93E8-0E5EF676E2A5}"/>
              </a:ext>
            </a:extLst>
          </p:cNvPr>
          <p:cNvSpPr>
            <a:spLocks noGrp="1"/>
          </p:cNvSpPr>
          <p:nvPr>
            <p:ph sz="quarter" idx="11"/>
          </p:nvPr>
        </p:nvSpPr>
        <p:spPr>
          <a:xfrm>
            <a:off x="486000" y="687518"/>
            <a:ext cx="8172000" cy="4079035"/>
          </a:xfrm>
        </p:spPr>
        <p:txBody>
          <a:bodyPr/>
          <a:lstStyle/>
          <a:p>
            <a:r>
              <a:rPr lang="en-US" altLang="zh-CN" dirty="0"/>
              <a:t>6</a:t>
            </a:r>
            <a:r>
              <a:rPr lang="zh-CN" altLang="en-US" dirty="0"/>
              <a:t>位所代表的</a:t>
            </a:r>
            <a:r>
              <a:rPr lang="en-US" altLang="zh-CN" dirty="0"/>
              <a:t>64</a:t>
            </a:r>
            <a:r>
              <a:rPr lang="zh-CN" altLang="en-US" dirty="0"/>
              <a:t>个值</a:t>
            </a:r>
            <a:endParaRPr lang="en-US" altLang="zh-CN" dirty="0"/>
          </a:p>
          <a:p>
            <a:r>
              <a:rPr lang="zh-CN" altLang="en-US" dirty="0"/>
              <a:t>工具 </a:t>
            </a:r>
            <a:r>
              <a:rPr lang="en-US" altLang="zh-CN" dirty="0">
                <a:hlinkClick r:id="rId2"/>
              </a:rPr>
              <a:t>https://www.base64decode.org/</a:t>
            </a:r>
            <a:r>
              <a:rPr lang="en-US" altLang="zh-CN" dirty="0"/>
              <a:t> </a:t>
            </a:r>
          </a:p>
          <a:p>
            <a:endParaRPr lang="zh-CN" altLang="en-US" dirty="0"/>
          </a:p>
        </p:txBody>
      </p:sp>
      <p:graphicFrame>
        <p:nvGraphicFramePr>
          <p:cNvPr id="4" name="表格 3"/>
          <p:cNvGraphicFramePr>
            <a:graphicFrameLocks noGrp="1"/>
          </p:cNvGraphicFramePr>
          <p:nvPr>
            <p:extLst>
              <p:ext uri="{D42A27DB-BD31-4B8C-83A1-F6EECF244321}">
                <p14:modId xmlns:p14="http://schemas.microsoft.com/office/powerpoint/2010/main" val="1988804185"/>
              </p:ext>
            </p:extLst>
          </p:nvPr>
        </p:nvGraphicFramePr>
        <p:xfrm>
          <a:off x="485999" y="1675401"/>
          <a:ext cx="8172000" cy="2977758"/>
        </p:xfrm>
        <a:graphic>
          <a:graphicData uri="http://schemas.openxmlformats.org/drawingml/2006/table">
            <a:tbl>
              <a:tblPr firstRow="1" bandCol="1">
                <a:tableStyleId>{93296810-A885-4BE3-A3E7-6D5BEEA58F35}</a:tableStyleId>
              </a:tblPr>
              <a:tblGrid>
                <a:gridCol w="817200">
                  <a:extLst>
                    <a:ext uri="{9D8B030D-6E8A-4147-A177-3AD203B41FA5}">
                      <a16:colId xmlns:a16="http://schemas.microsoft.com/office/drawing/2014/main" val="20000"/>
                    </a:ext>
                  </a:extLst>
                </a:gridCol>
                <a:gridCol w="817200">
                  <a:extLst>
                    <a:ext uri="{9D8B030D-6E8A-4147-A177-3AD203B41FA5}">
                      <a16:colId xmlns:a16="http://schemas.microsoft.com/office/drawing/2014/main" val="20001"/>
                    </a:ext>
                  </a:extLst>
                </a:gridCol>
                <a:gridCol w="817200">
                  <a:extLst>
                    <a:ext uri="{9D8B030D-6E8A-4147-A177-3AD203B41FA5}">
                      <a16:colId xmlns:a16="http://schemas.microsoft.com/office/drawing/2014/main" val="20002"/>
                    </a:ext>
                  </a:extLst>
                </a:gridCol>
                <a:gridCol w="817200">
                  <a:extLst>
                    <a:ext uri="{9D8B030D-6E8A-4147-A177-3AD203B41FA5}">
                      <a16:colId xmlns:a16="http://schemas.microsoft.com/office/drawing/2014/main" val="20003"/>
                    </a:ext>
                  </a:extLst>
                </a:gridCol>
                <a:gridCol w="817200">
                  <a:extLst>
                    <a:ext uri="{9D8B030D-6E8A-4147-A177-3AD203B41FA5}">
                      <a16:colId xmlns:a16="http://schemas.microsoft.com/office/drawing/2014/main" val="20004"/>
                    </a:ext>
                  </a:extLst>
                </a:gridCol>
                <a:gridCol w="817200">
                  <a:extLst>
                    <a:ext uri="{9D8B030D-6E8A-4147-A177-3AD203B41FA5}">
                      <a16:colId xmlns:a16="http://schemas.microsoft.com/office/drawing/2014/main" val="20005"/>
                    </a:ext>
                  </a:extLst>
                </a:gridCol>
                <a:gridCol w="817200">
                  <a:extLst>
                    <a:ext uri="{9D8B030D-6E8A-4147-A177-3AD203B41FA5}">
                      <a16:colId xmlns:a16="http://schemas.microsoft.com/office/drawing/2014/main" val="20006"/>
                    </a:ext>
                  </a:extLst>
                </a:gridCol>
                <a:gridCol w="817200">
                  <a:extLst>
                    <a:ext uri="{9D8B030D-6E8A-4147-A177-3AD203B41FA5}">
                      <a16:colId xmlns:a16="http://schemas.microsoft.com/office/drawing/2014/main" val="20007"/>
                    </a:ext>
                  </a:extLst>
                </a:gridCol>
                <a:gridCol w="817200">
                  <a:extLst>
                    <a:ext uri="{9D8B030D-6E8A-4147-A177-3AD203B41FA5}">
                      <a16:colId xmlns:a16="http://schemas.microsoft.com/office/drawing/2014/main" val="20008"/>
                    </a:ext>
                  </a:extLst>
                </a:gridCol>
                <a:gridCol w="817200">
                  <a:extLst>
                    <a:ext uri="{9D8B030D-6E8A-4147-A177-3AD203B41FA5}">
                      <a16:colId xmlns:a16="http://schemas.microsoft.com/office/drawing/2014/main" val="20009"/>
                    </a:ext>
                  </a:extLst>
                </a:gridCol>
              </a:tblGrid>
              <a:tr h="360000">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索引</a:t>
                      </a:r>
                    </a:p>
                  </a:txBody>
                  <a:tcPr marL="27729" marR="27729" marT="9243" marB="9243" anchor="ctr"/>
                </a:tc>
                <a:tc>
                  <a:txBody>
                    <a:bodyPr/>
                    <a:lstStyle/>
                    <a:p>
                      <a:pPr algn="ctr">
                        <a:lnSpc>
                          <a:spcPct val="100000"/>
                        </a:lnSpc>
                        <a:spcBef>
                          <a:spcPts val="0"/>
                        </a:spcBef>
                        <a:spcAft>
                          <a:spcPts val="0"/>
                        </a:spcAft>
                      </a:pPr>
                      <a:r>
                        <a:rPr lang="zh-CN" altLang="en-US" sz="1200" b="0" dirty="0">
                          <a:solidFill>
                            <a:schemeClr val="bg1"/>
                          </a:solidFill>
                          <a:effectLst/>
                          <a:latin typeface="微软雅黑" panose="020B0503020204020204" pitchFamily="34" charset="-122"/>
                          <a:ea typeface="微软雅黑" panose="020B0503020204020204" pitchFamily="34" charset="-122"/>
                        </a:rPr>
                        <a:t>对应字符</a:t>
                      </a:r>
                    </a:p>
                  </a:txBody>
                  <a:tcPr marL="27729" marR="27729" marT="9243" marB="9243" anchor="ctr"/>
                </a:tc>
                <a:extLst>
                  <a:ext uri="{0D108BD9-81ED-4DB2-BD59-A6C34878D82A}">
                    <a16:rowId xmlns:a16="http://schemas.microsoft.com/office/drawing/2014/main" val="1000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a</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n</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0</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b</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o</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c</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p</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3"/>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d</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q</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4"/>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e</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r</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5"/>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f</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s</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6"/>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19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g</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t</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7"/>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h</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u</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7</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8"/>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err="1">
                          <a:effectLst/>
                          <a:latin typeface="Montserrat" panose="00000500000000000000" pitchFamily="2" charset="0"/>
                          <a:ea typeface="微软雅黑 Light" panose="020B0502040204020203" pitchFamily="34" charset="-122"/>
                        </a:rPr>
                        <a:t>i</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v</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8</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09"/>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j</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w</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9</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0"/>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36</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k</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49</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x</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1"/>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24</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37</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l</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50</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y</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63</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a:t>
                      </a:r>
                      <a:endParaRPr lang="zh-CN" alt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2"/>
                  </a:ext>
                </a:extLst>
              </a:tr>
              <a:tr h="85191">
                <a:tc>
                  <a:txBody>
                    <a:bodyPr/>
                    <a:lstStyle/>
                    <a:p>
                      <a:pPr algn="ctr"/>
                      <a:r>
                        <a:rPr lang="en-US" altLang="zh-CN" sz="1200" b="0" dirty="0">
                          <a:effectLst/>
                          <a:latin typeface="Montserrat" panose="00000500000000000000" pitchFamily="2" charset="0"/>
                          <a:ea typeface="微软雅黑 Light" panose="020B0502040204020203" pitchFamily="34" charset="-122"/>
                        </a:rPr>
                        <a:t>12</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25</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38</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m</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altLang="zh-CN" sz="1200" b="0" dirty="0">
                          <a:effectLst/>
                          <a:latin typeface="Montserrat" panose="00000500000000000000" pitchFamily="2" charset="0"/>
                          <a:ea typeface="微软雅黑 Light" panose="020B0502040204020203" pitchFamily="34" charset="-122"/>
                        </a:rPr>
                        <a:t>51</a:t>
                      </a:r>
                      <a:endParaRPr lang="en-US" altLang="zh-CN"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r>
                        <a:rPr lang="en-US" sz="1200" b="0" dirty="0">
                          <a:effectLst/>
                          <a:latin typeface="Montserrat" panose="00000500000000000000" pitchFamily="2" charset="0"/>
                          <a:ea typeface="微软雅黑 Light" panose="020B0502040204020203" pitchFamily="34" charset="-122"/>
                        </a:rPr>
                        <a:t>z</a:t>
                      </a:r>
                      <a:endParaRPr lang="en-US" sz="1200" b="0" dirty="0">
                        <a:solidFill>
                          <a:srgbClr val="333333"/>
                        </a:solidFill>
                        <a:effectLst/>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tc>
                  <a:txBody>
                    <a:bodyPr/>
                    <a:lstStyle/>
                    <a:p>
                      <a:pPr algn="ctr"/>
                      <a:endParaRPr lang="zh-CN" altLang="en-US" sz="1200" b="0" dirty="0">
                        <a:latin typeface="Montserrat" panose="00000500000000000000" pitchFamily="2" charset="0"/>
                        <a:ea typeface="微软雅黑 Light" panose="020B0502040204020203" pitchFamily="34" charset="-122"/>
                      </a:endParaRPr>
                    </a:p>
                  </a:txBody>
                  <a:tcPr marL="27729" marR="27729" marT="9243" marB="9243" anchor="ctr"/>
                </a:tc>
                <a:extLst>
                  <a:ext uri="{0D108BD9-81ED-4DB2-BD59-A6C34878D82A}">
                    <a16:rowId xmlns:a16="http://schemas.microsoft.com/office/drawing/2014/main" val="10013"/>
                  </a:ext>
                </a:extLst>
              </a:tr>
            </a:tbl>
          </a:graphicData>
        </a:graphic>
      </p:graphicFrame>
    </p:spTree>
    <p:extLst>
      <p:ext uri="{BB962C8B-B14F-4D97-AF65-F5344CB8AC3E}">
        <p14:creationId xmlns:p14="http://schemas.microsoft.com/office/powerpoint/2010/main" val="11488610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标题 16">
            <a:extLst>
              <a:ext uri="{FF2B5EF4-FFF2-40B4-BE49-F238E27FC236}">
                <a16:creationId xmlns:a16="http://schemas.microsoft.com/office/drawing/2014/main" id="{D07A3D06-0F85-E90E-7304-7841BCD591B8}"/>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20" name="内容占位符 19">
            <a:extLst>
              <a:ext uri="{FF2B5EF4-FFF2-40B4-BE49-F238E27FC236}">
                <a16:creationId xmlns:a16="http://schemas.microsoft.com/office/drawing/2014/main" id="{3BDAFC32-1BBA-9372-CEC3-01BA5129D125}"/>
              </a:ext>
            </a:extLst>
          </p:cNvPr>
          <p:cNvSpPr>
            <a:spLocks noGrp="1"/>
          </p:cNvSpPr>
          <p:nvPr>
            <p:ph sz="quarter" idx="11"/>
          </p:nvPr>
        </p:nvSpPr>
        <p:spPr>
          <a:xfrm>
            <a:off x="486000" y="687518"/>
            <a:ext cx="8172000" cy="4079035"/>
          </a:xfrm>
        </p:spPr>
        <p:txBody>
          <a:bodyPr/>
          <a:lstStyle/>
          <a:p>
            <a:r>
              <a:rPr lang="zh-CN" altLang="en-US" dirty="0"/>
              <a:t>实例</a:t>
            </a:r>
            <a:r>
              <a:rPr lang="en-US" altLang="zh-CN" dirty="0"/>
              <a:t>1</a:t>
            </a:r>
          </a:p>
          <a:p>
            <a:pPr lvl="1"/>
            <a:r>
              <a:rPr lang="zh-CN" altLang="en-US" dirty="0"/>
              <a:t>原来为 </a:t>
            </a:r>
            <a:r>
              <a:rPr lang="en-US" altLang="zh-CN" dirty="0"/>
              <a:t>3 </a:t>
            </a:r>
            <a:r>
              <a:rPr lang="zh-CN" altLang="en-US" dirty="0"/>
              <a:t>个字节</a:t>
            </a:r>
            <a:endParaRPr lang="en-US" altLang="zh-CN" dirty="0"/>
          </a:p>
          <a:p>
            <a:pPr lvl="1"/>
            <a:r>
              <a:rPr lang="zh-CN" altLang="en-US" dirty="0"/>
              <a:t>编码后为 </a:t>
            </a:r>
            <a:r>
              <a:rPr lang="en-US" altLang="zh-CN" dirty="0"/>
              <a:t>4 </a:t>
            </a:r>
            <a:r>
              <a:rPr lang="zh-CN" altLang="en-US" dirty="0"/>
              <a:t>个字节</a:t>
            </a:r>
            <a:endParaRPr lang="en-US" altLang="zh-CN" dirty="0"/>
          </a:p>
          <a:p>
            <a:pPr lvl="1"/>
            <a:r>
              <a:rPr lang="zh-CN" altLang="en-US" dirty="0"/>
              <a:t>开销 </a:t>
            </a:r>
            <a:r>
              <a:rPr lang="en-US" altLang="zh-CN" dirty="0"/>
              <a:t>= 25%</a:t>
            </a:r>
            <a:endParaRPr lang="zh-CN" altLang="en-US" dirty="0"/>
          </a:p>
          <a:p>
            <a:endParaRPr lang="zh-CN" altLang="en-US" dirty="0"/>
          </a:p>
        </p:txBody>
      </p:sp>
      <p:sp>
        <p:nvSpPr>
          <p:cNvPr id="7" name="矩形 6"/>
          <p:cNvSpPr/>
          <p:nvPr/>
        </p:nvSpPr>
        <p:spPr>
          <a:xfrm>
            <a:off x="268191" y="2154350"/>
            <a:ext cx="1300356"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 </a:t>
            </a:r>
            <a:r>
              <a:rPr lang="en-US" altLang="zh-CN" sz="1200" dirty="0">
                <a:solidFill>
                  <a:srgbClr val="020202"/>
                </a:solidFill>
                <a:latin typeface="Montserrat" panose="00000500000000000000" pitchFamily="2" charset="0"/>
                <a:ea typeface="微软雅黑 Light" panose="020B0502040204020203" pitchFamily="34" charset="-122"/>
              </a:rPr>
              <a:t>– 24</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graphicFrame>
        <p:nvGraphicFramePr>
          <p:cNvPr id="10" name="表格 9"/>
          <p:cNvGraphicFramePr>
            <a:graphicFrameLocks noGrp="1"/>
          </p:cNvGraphicFramePr>
          <p:nvPr>
            <p:extLst>
              <p:ext uri="{D42A27DB-BD31-4B8C-83A1-F6EECF244321}">
                <p14:modId xmlns:p14="http://schemas.microsoft.com/office/powerpoint/2010/main" val="2560190383"/>
              </p:ext>
            </p:extLst>
          </p:nvPr>
        </p:nvGraphicFramePr>
        <p:xfrm>
          <a:off x="1566773" y="2148849"/>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extLst>
                  <a:ext uri="{0D108BD9-81ED-4DB2-BD59-A6C34878D82A}">
                    <a16:rowId xmlns:a16="http://schemas.microsoft.com/office/drawing/2014/main" val="10000"/>
                  </a:ext>
                </a:extLst>
              </a:tr>
            </a:tbl>
          </a:graphicData>
        </a:graphic>
      </p:graphicFrame>
      <p:graphicFrame>
        <p:nvGraphicFramePr>
          <p:cNvPr id="11" name="表格 10"/>
          <p:cNvGraphicFramePr>
            <a:graphicFrameLocks noGrp="1"/>
          </p:cNvGraphicFramePr>
          <p:nvPr>
            <p:extLst>
              <p:ext uri="{D42A27DB-BD31-4B8C-83A1-F6EECF244321}">
                <p14:modId xmlns:p14="http://schemas.microsoft.com/office/powerpoint/2010/main" val="357922621"/>
              </p:ext>
            </p:extLst>
          </p:nvPr>
        </p:nvGraphicFramePr>
        <p:xfrm>
          <a:off x="1566773" y="2600913"/>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effectLst/>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effectLst/>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0</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effectLst/>
                          <a:latin typeface="Montserrat" panose="00000500000000000000" pitchFamily="2" charset="0"/>
                          <a:ea typeface="微软雅黑 Light" panose="020B0502040204020203" pitchFamily="34" charset="-122"/>
                        </a:rPr>
                        <a:t>1</a:t>
                      </a:r>
                      <a:endParaRPr lang="zh-CN" altLang="en-US" sz="1200" b="0" dirty="0">
                        <a:solidFill>
                          <a:schemeClr val="tx1"/>
                        </a:solidFill>
                        <a:effectLst/>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2" name="表格 11"/>
          <p:cNvGraphicFramePr>
            <a:graphicFrameLocks noGrp="1"/>
          </p:cNvGraphicFramePr>
          <p:nvPr>
            <p:extLst>
              <p:ext uri="{D42A27DB-BD31-4B8C-83A1-F6EECF244321}">
                <p14:modId xmlns:p14="http://schemas.microsoft.com/office/powerpoint/2010/main" val="1832111017"/>
              </p:ext>
            </p:extLst>
          </p:nvPr>
        </p:nvGraphicFramePr>
        <p:xfrm>
          <a:off x="1566773" y="3505041"/>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S</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T</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F</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3" name="表格 12"/>
          <p:cNvGraphicFramePr>
            <a:graphicFrameLocks noGrp="1"/>
          </p:cNvGraphicFramePr>
          <p:nvPr>
            <p:extLst>
              <p:ext uri="{D42A27DB-BD31-4B8C-83A1-F6EECF244321}">
                <p14:modId xmlns:p14="http://schemas.microsoft.com/office/powerpoint/2010/main" val="394216506"/>
              </p:ext>
            </p:extLst>
          </p:nvPr>
        </p:nvGraphicFramePr>
        <p:xfrm>
          <a:off x="1566773" y="3957105"/>
          <a:ext cx="7408992" cy="288000"/>
        </p:xfrm>
        <a:graphic>
          <a:graphicData uri="http://schemas.openxmlformats.org/drawingml/2006/table">
            <a:tbl>
              <a:tblPr firstRow="1" bandRow="1">
                <a:tableStyleId>{5C22544A-7EE6-4342-B048-85BDC9FD1C3A}</a:tableStyleId>
              </a:tblPr>
              <a:tblGrid>
                <a:gridCol w="231531">
                  <a:extLst>
                    <a:ext uri="{9D8B030D-6E8A-4147-A177-3AD203B41FA5}">
                      <a16:colId xmlns:a16="http://schemas.microsoft.com/office/drawing/2014/main" val="20000"/>
                    </a:ext>
                  </a:extLst>
                </a:gridCol>
                <a:gridCol w="231531">
                  <a:extLst>
                    <a:ext uri="{9D8B030D-6E8A-4147-A177-3AD203B41FA5}">
                      <a16:colId xmlns:a16="http://schemas.microsoft.com/office/drawing/2014/main" val="20001"/>
                    </a:ext>
                  </a:extLst>
                </a:gridCol>
                <a:gridCol w="231531">
                  <a:extLst>
                    <a:ext uri="{9D8B030D-6E8A-4147-A177-3AD203B41FA5}">
                      <a16:colId xmlns:a16="http://schemas.microsoft.com/office/drawing/2014/main" val="20002"/>
                    </a:ext>
                  </a:extLst>
                </a:gridCol>
                <a:gridCol w="231531">
                  <a:extLst>
                    <a:ext uri="{9D8B030D-6E8A-4147-A177-3AD203B41FA5}">
                      <a16:colId xmlns:a16="http://schemas.microsoft.com/office/drawing/2014/main" val="20003"/>
                    </a:ext>
                  </a:extLst>
                </a:gridCol>
                <a:gridCol w="231531">
                  <a:extLst>
                    <a:ext uri="{9D8B030D-6E8A-4147-A177-3AD203B41FA5}">
                      <a16:colId xmlns:a16="http://schemas.microsoft.com/office/drawing/2014/main" val="20004"/>
                    </a:ext>
                  </a:extLst>
                </a:gridCol>
                <a:gridCol w="231531">
                  <a:extLst>
                    <a:ext uri="{9D8B030D-6E8A-4147-A177-3AD203B41FA5}">
                      <a16:colId xmlns:a16="http://schemas.microsoft.com/office/drawing/2014/main" val="20005"/>
                    </a:ext>
                  </a:extLst>
                </a:gridCol>
                <a:gridCol w="231531">
                  <a:extLst>
                    <a:ext uri="{9D8B030D-6E8A-4147-A177-3AD203B41FA5}">
                      <a16:colId xmlns:a16="http://schemas.microsoft.com/office/drawing/2014/main" val="20006"/>
                    </a:ext>
                  </a:extLst>
                </a:gridCol>
                <a:gridCol w="231531">
                  <a:extLst>
                    <a:ext uri="{9D8B030D-6E8A-4147-A177-3AD203B41FA5}">
                      <a16:colId xmlns:a16="http://schemas.microsoft.com/office/drawing/2014/main" val="20007"/>
                    </a:ext>
                  </a:extLst>
                </a:gridCol>
                <a:gridCol w="231531">
                  <a:extLst>
                    <a:ext uri="{9D8B030D-6E8A-4147-A177-3AD203B41FA5}">
                      <a16:colId xmlns:a16="http://schemas.microsoft.com/office/drawing/2014/main" val="20008"/>
                    </a:ext>
                  </a:extLst>
                </a:gridCol>
                <a:gridCol w="231531">
                  <a:extLst>
                    <a:ext uri="{9D8B030D-6E8A-4147-A177-3AD203B41FA5}">
                      <a16:colId xmlns:a16="http://schemas.microsoft.com/office/drawing/2014/main" val="20009"/>
                    </a:ext>
                  </a:extLst>
                </a:gridCol>
                <a:gridCol w="231531">
                  <a:extLst>
                    <a:ext uri="{9D8B030D-6E8A-4147-A177-3AD203B41FA5}">
                      <a16:colId xmlns:a16="http://schemas.microsoft.com/office/drawing/2014/main" val="20010"/>
                    </a:ext>
                  </a:extLst>
                </a:gridCol>
                <a:gridCol w="231531">
                  <a:extLst>
                    <a:ext uri="{9D8B030D-6E8A-4147-A177-3AD203B41FA5}">
                      <a16:colId xmlns:a16="http://schemas.microsoft.com/office/drawing/2014/main" val="20011"/>
                    </a:ext>
                  </a:extLst>
                </a:gridCol>
                <a:gridCol w="231531">
                  <a:extLst>
                    <a:ext uri="{9D8B030D-6E8A-4147-A177-3AD203B41FA5}">
                      <a16:colId xmlns:a16="http://schemas.microsoft.com/office/drawing/2014/main" val="20012"/>
                    </a:ext>
                  </a:extLst>
                </a:gridCol>
                <a:gridCol w="231531">
                  <a:extLst>
                    <a:ext uri="{9D8B030D-6E8A-4147-A177-3AD203B41FA5}">
                      <a16:colId xmlns:a16="http://schemas.microsoft.com/office/drawing/2014/main" val="20013"/>
                    </a:ext>
                  </a:extLst>
                </a:gridCol>
                <a:gridCol w="231531">
                  <a:extLst>
                    <a:ext uri="{9D8B030D-6E8A-4147-A177-3AD203B41FA5}">
                      <a16:colId xmlns:a16="http://schemas.microsoft.com/office/drawing/2014/main" val="20014"/>
                    </a:ext>
                  </a:extLst>
                </a:gridCol>
                <a:gridCol w="231531">
                  <a:extLst>
                    <a:ext uri="{9D8B030D-6E8A-4147-A177-3AD203B41FA5}">
                      <a16:colId xmlns:a16="http://schemas.microsoft.com/office/drawing/2014/main" val="20015"/>
                    </a:ext>
                  </a:extLst>
                </a:gridCol>
                <a:gridCol w="231531">
                  <a:extLst>
                    <a:ext uri="{9D8B030D-6E8A-4147-A177-3AD203B41FA5}">
                      <a16:colId xmlns:a16="http://schemas.microsoft.com/office/drawing/2014/main" val="20016"/>
                    </a:ext>
                  </a:extLst>
                </a:gridCol>
                <a:gridCol w="231531">
                  <a:extLst>
                    <a:ext uri="{9D8B030D-6E8A-4147-A177-3AD203B41FA5}">
                      <a16:colId xmlns:a16="http://schemas.microsoft.com/office/drawing/2014/main" val="20017"/>
                    </a:ext>
                  </a:extLst>
                </a:gridCol>
                <a:gridCol w="231531">
                  <a:extLst>
                    <a:ext uri="{9D8B030D-6E8A-4147-A177-3AD203B41FA5}">
                      <a16:colId xmlns:a16="http://schemas.microsoft.com/office/drawing/2014/main" val="20018"/>
                    </a:ext>
                  </a:extLst>
                </a:gridCol>
                <a:gridCol w="231531">
                  <a:extLst>
                    <a:ext uri="{9D8B030D-6E8A-4147-A177-3AD203B41FA5}">
                      <a16:colId xmlns:a16="http://schemas.microsoft.com/office/drawing/2014/main" val="20019"/>
                    </a:ext>
                  </a:extLst>
                </a:gridCol>
                <a:gridCol w="231531">
                  <a:extLst>
                    <a:ext uri="{9D8B030D-6E8A-4147-A177-3AD203B41FA5}">
                      <a16:colId xmlns:a16="http://schemas.microsoft.com/office/drawing/2014/main" val="20020"/>
                    </a:ext>
                  </a:extLst>
                </a:gridCol>
                <a:gridCol w="231531">
                  <a:extLst>
                    <a:ext uri="{9D8B030D-6E8A-4147-A177-3AD203B41FA5}">
                      <a16:colId xmlns:a16="http://schemas.microsoft.com/office/drawing/2014/main" val="20021"/>
                    </a:ext>
                  </a:extLst>
                </a:gridCol>
                <a:gridCol w="231531">
                  <a:extLst>
                    <a:ext uri="{9D8B030D-6E8A-4147-A177-3AD203B41FA5}">
                      <a16:colId xmlns:a16="http://schemas.microsoft.com/office/drawing/2014/main" val="20022"/>
                    </a:ext>
                  </a:extLst>
                </a:gridCol>
                <a:gridCol w="231531">
                  <a:extLst>
                    <a:ext uri="{9D8B030D-6E8A-4147-A177-3AD203B41FA5}">
                      <a16:colId xmlns:a16="http://schemas.microsoft.com/office/drawing/2014/main" val="20023"/>
                    </a:ext>
                  </a:extLst>
                </a:gridCol>
                <a:gridCol w="231531">
                  <a:extLst>
                    <a:ext uri="{9D8B030D-6E8A-4147-A177-3AD203B41FA5}">
                      <a16:colId xmlns:a16="http://schemas.microsoft.com/office/drawing/2014/main" val="20024"/>
                    </a:ext>
                  </a:extLst>
                </a:gridCol>
                <a:gridCol w="231531">
                  <a:extLst>
                    <a:ext uri="{9D8B030D-6E8A-4147-A177-3AD203B41FA5}">
                      <a16:colId xmlns:a16="http://schemas.microsoft.com/office/drawing/2014/main" val="20025"/>
                    </a:ext>
                  </a:extLst>
                </a:gridCol>
                <a:gridCol w="231531">
                  <a:extLst>
                    <a:ext uri="{9D8B030D-6E8A-4147-A177-3AD203B41FA5}">
                      <a16:colId xmlns:a16="http://schemas.microsoft.com/office/drawing/2014/main" val="20026"/>
                    </a:ext>
                  </a:extLst>
                </a:gridCol>
                <a:gridCol w="231531">
                  <a:extLst>
                    <a:ext uri="{9D8B030D-6E8A-4147-A177-3AD203B41FA5}">
                      <a16:colId xmlns:a16="http://schemas.microsoft.com/office/drawing/2014/main" val="20027"/>
                    </a:ext>
                  </a:extLst>
                </a:gridCol>
                <a:gridCol w="231531">
                  <a:extLst>
                    <a:ext uri="{9D8B030D-6E8A-4147-A177-3AD203B41FA5}">
                      <a16:colId xmlns:a16="http://schemas.microsoft.com/office/drawing/2014/main" val="20028"/>
                    </a:ext>
                  </a:extLst>
                </a:gridCol>
                <a:gridCol w="231531">
                  <a:extLst>
                    <a:ext uri="{9D8B030D-6E8A-4147-A177-3AD203B41FA5}">
                      <a16:colId xmlns:a16="http://schemas.microsoft.com/office/drawing/2014/main" val="20029"/>
                    </a:ext>
                  </a:extLst>
                </a:gridCol>
                <a:gridCol w="231531">
                  <a:extLst>
                    <a:ext uri="{9D8B030D-6E8A-4147-A177-3AD203B41FA5}">
                      <a16:colId xmlns:a16="http://schemas.microsoft.com/office/drawing/2014/main" val="20030"/>
                    </a:ext>
                  </a:extLst>
                </a:gridCol>
                <a:gridCol w="231531">
                  <a:extLst>
                    <a:ext uri="{9D8B030D-6E8A-4147-A177-3AD203B41FA5}">
                      <a16:colId xmlns:a16="http://schemas.microsoft.com/office/drawing/2014/main" val="20031"/>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F7964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4" name="矩形 13"/>
          <p:cNvSpPr/>
          <p:nvPr/>
        </p:nvSpPr>
        <p:spPr>
          <a:xfrm>
            <a:off x="761916" y="2606414"/>
            <a:ext cx="8066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 </a:t>
            </a:r>
            <a:r>
              <a:rPr lang="zh-CN" altLang="en-US" sz="1200" dirty="0">
                <a:solidFill>
                  <a:srgbClr val="020202"/>
                </a:solidFill>
                <a:latin typeface="Montserrat" panose="00000500000000000000" pitchFamily="2" charset="0"/>
                <a:ea typeface="微软雅黑 Light" panose="020B0502040204020203" pitchFamily="34" charset="-122"/>
              </a:rPr>
              <a:t>位</a:t>
            </a:r>
          </a:p>
        </p:txBody>
      </p:sp>
      <p:sp>
        <p:nvSpPr>
          <p:cNvPr id="15" name="矩形 14"/>
          <p:cNvSpPr/>
          <p:nvPr/>
        </p:nvSpPr>
        <p:spPr>
          <a:xfrm>
            <a:off x="851391" y="3510542"/>
            <a:ext cx="753731"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6" name="矩形 15"/>
          <p:cNvSpPr/>
          <p:nvPr/>
        </p:nvSpPr>
        <p:spPr>
          <a:xfrm>
            <a:off x="975115" y="3962606"/>
            <a:ext cx="5934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ASCII</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graphicFrame>
        <p:nvGraphicFramePr>
          <p:cNvPr id="25" name="表格 24">
            <a:extLst>
              <a:ext uri="{FF2B5EF4-FFF2-40B4-BE49-F238E27FC236}">
                <a16:creationId xmlns:a16="http://schemas.microsoft.com/office/drawing/2014/main" id="{F0F21F05-9012-222E-05CA-6D5368176F42}"/>
              </a:ext>
            </a:extLst>
          </p:cNvPr>
          <p:cNvGraphicFramePr>
            <a:graphicFrameLocks noGrp="1"/>
          </p:cNvGraphicFramePr>
          <p:nvPr>
            <p:extLst>
              <p:ext uri="{D42A27DB-BD31-4B8C-83A1-F6EECF244321}">
                <p14:modId xmlns:p14="http://schemas.microsoft.com/office/powerpoint/2010/main" val="2630815663"/>
              </p:ext>
            </p:extLst>
          </p:nvPr>
        </p:nvGraphicFramePr>
        <p:xfrm>
          <a:off x="1566773" y="3052977"/>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18</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19</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57</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3">
                        <a:lumMod val="40000"/>
                        <a:lumOff val="60000"/>
                      </a:schemeClr>
                    </a:solidFill>
                  </a:tcPr>
                </a:tc>
                <a:extLst>
                  <a:ext uri="{0D108BD9-81ED-4DB2-BD59-A6C34878D82A}">
                    <a16:rowId xmlns:a16="http://schemas.microsoft.com/office/drawing/2014/main" val="10000"/>
                  </a:ext>
                </a:extLst>
              </a:tr>
            </a:tbl>
          </a:graphicData>
        </a:graphic>
      </p:graphicFrame>
      <p:sp>
        <p:nvSpPr>
          <p:cNvPr id="32" name="矩形 31">
            <a:extLst>
              <a:ext uri="{FF2B5EF4-FFF2-40B4-BE49-F238E27FC236}">
                <a16:creationId xmlns:a16="http://schemas.microsoft.com/office/drawing/2014/main" id="{32EDBB4D-4404-AECC-54EF-2A35DF303121}"/>
              </a:ext>
            </a:extLst>
          </p:cNvPr>
          <p:cNvSpPr/>
          <p:nvPr/>
        </p:nvSpPr>
        <p:spPr>
          <a:xfrm>
            <a:off x="1112680" y="3058478"/>
            <a:ext cx="492443"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编号</a:t>
            </a:r>
          </a:p>
        </p:txBody>
      </p:sp>
      <p:sp>
        <p:nvSpPr>
          <p:cNvPr id="37" name="箭头: 右 36">
            <a:extLst>
              <a:ext uri="{FF2B5EF4-FFF2-40B4-BE49-F238E27FC236}">
                <a16:creationId xmlns:a16="http://schemas.microsoft.com/office/drawing/2014/main" id="{1F4F1EE8-34A8-4318-E6AE-342061E7E097}"/>
              </a:ext>
            </a:extLst>
          </p:cNvPr>
          <p:cNvSpPr/>
          <p:nvPr/>
        </p:nvSpPr>
        <p:spPr>
          <a:xfrm>
            <a:off x="7249361" y="3568239"/>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文本框 37">
            <a:extLst>
              <a:ext uri="{FF2B5EF4-FFF2-40B4-BE49-F238E27FC236}">
                <a16:creationId xmlns:a16="http://schemas.microsoft.com/office/drawing/2014/main" id="{CE5BC466-1019-8A6E-C460-4F0F6D62B945}"/>
              </a:ext>
            </a:extLst>
          </p:cNvPr>
          <p:cNvSpPr txBox="1"/>
          <p:nvPr/>
        </p:nvSpPr>
        <p:spPr>
          <a:xfrm>
            <a:off x="7505395" y="3510542"/>
            <a:ext cx="55175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STF5</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5903590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FAB8E987-C8DF-E71E-ADD9-7A0EAC7A28FC}"/>
              </a:ext>
            </a:extLst>
          </p:cNvPr>
          <p:cNvSpPr>
            <a:spLocks noGrp="1"/>
          </p:cNvSpPr>
          <p:nvPr>
            <p:ph sz="quarter" idx="11"/>
          </p:nvPr>
        </p:nvSpPr>
        <p:spPr/>
        <p:txBody>
          <a:bodyPr/>
          <a:lstStyle/>
          <a:p>
            <a:r>
              <a:rPr lang="zh-CN" altLang="en-US" dirty="0"/>
              <a:t>实例</a:t>
            </a:r>
            <a:r>
              <a:rPr lang="en-US" altLang="zh-CN" dirty="0"/>
              <a:t>2</a:t>
            </a:r>
          </a:p>
          <a:p>
            <a:pPr lvl="1"/>
            <a:r>
              <a:rPr lang="zh-CN" altLang="en-US" dirty="0"/>
              <a:t>原始数据只有</a:t>
            </a:r>
            <a:r>
              <a:rPr lang="en-US" altLang="zh-CN" dirty="0"/>
              <a:t>1</a:t>
            </a:r>
            <a:r>
              <a:rPr lang="zh-CN" altLang="en-US" dirty="0"/>
              <a:t>个字节</a:t>
            </a:r>
            <a:endParaRPr lang="en-US" altLang="zh-CN" dirty="0"/>
          </a:p>
          <a:p>
            <a:pPr lvl="1"/>
            <a:r>
              <a:rPr lang="zh-CN" altLang="en-US" dirty="0"/>
              <a:t>需要填充</a:t>
            </a:r>
            <a:r>
              <a:rPr lang="en-US" altLang="zh-CN" dirty="0"/>
              <a:t>2</a:t>
            </a:r>
            <a:r>
              <a:rPr lang="zh-CN" altLang="en-US" dirty="0"/>
              <a:t>个字节补足</a:t>
            </a:r>
            <a:r>
              <a:rPr lang="en-US" altLang="zh-CN" dirty="0"/>
              <a:t>24bit</a:t>
            </a:r>
            <a:endParaRPr lang="zh-CN" altLang="en-US" dirty="0"/>
          </a:p>
        </p:txBody>
      </p:sp>
      <p:sp>
        <p:nvSpPr>
          <p:cNvPr id="14" name="矩形 13"/>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p:cNvGraphicFramePr>
            <a:graphicFrameLocks noGrp="1"/>
          </p:cNvGraphicFramePr>
          <p:nvPr>
            <p:extLst>
              <p:ext uri="{D42A27DB-BD31-4B8C-83A1-F6EECF244321}">
                <p14:modId xmlns:p14="http://schemas.microsoft.com/office/powerpoint/2010/main" val="2619781897"/>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p:cNvGraphicFramePr>
            <a:graphicFrameLocks noGrp="1"/>
          </p:cNvGraphicFramePr>
          <p:nvPr>
            <p:extLst>
              <p:ext uri="{D42A27DB-BD31-4B8C-83A1-F6EECF244321}">
                <p14:modId xmlns:p14="http://schemas.microsoft.com/office/powerpoint/2010/main" val="703290848"/>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p:cNvGraphicFramePr>
            <a:graphicFrameLocks noGrp="1"/>
          </p:cNvGraphicFramePr>
          <p:nvPr>
            <p:extLst>
              <p:ext uri="{D42A27DB-BD31-4B8C-83A1-F6EECF244321}">
                <p14:modId xmlns:p14="http://schemas.microsoft.com/office/powerpoint/2010/main" val="1377849663"/>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T</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Q</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C4D94E0B-A7CA-3E9A-22D5-7B81F14D2093}"/>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CEDE7A20-2882-CA26-9134-0D8DC36847A7}"/>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619BA66D-7403-8100-26EB-75999A6E7C0C}"/>
              </a:ext>
            </a:extLst>
          </p:cNvPr>
          <p:cNvSpPr txBox="1"/>
          <p:nvPr/>
        </p:nvSpPr>
        <p:spPr>
          <a:xfrm>
            <a:off x="7505395" y="3201364"/>
            <a:ext cx="800219"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Light" panose="020B0502040204020203" pitchFamily="34" charset="-122"/>
              </a:rPr>
              <a:t>TQAA==</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95027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68F7BB-2EC9-A872-07C5-C030DB57260E}"/>
            </a:ext>
          </a:extLst>
        </p:cNvPr>
        <p:cNvGrpSpPr/>
        <p:nvPr/>
      </p:nvGrpSpPr>
      <p:grpSpPr>
        <a:xfrm>
          <a:off x="0" y="0"/>
          <a:ext cx="0" cy="0"/>
          <a:chOff x="0" y="0"/>
          <a:chExt cx="0" cy="0"/>
        </a:xfrm>
      </p:grpSpPr>
      <p:sp>
        <p:nvSpPr>
          <p:cNvPr id="7" name="内容占位符 6">
            <a:extLst>
              <a:ext uri="{FF2B5EF4-FFF2-40B4-BE49-F238E27FC236}">
                <a16:creationId xmlns:a16="http://schemas.microsoft.com/office/drawing/2014/main" id="{66F3376B-7AE5-6FE6-5C5D-130933DD85E9}"/>
              </a:ext>
            </a:extLst>
          </p:cNvPr>
          <p:cNvSpPr>
            <a:spLocks noGrp="1"/>
          </p:cNvSpPr>
          <p:nvPr>
            <p:ph sz="quarter" idx="11"/>
          </p:nvPr>
        </p:nvSpPr>
        <p:spPr/>
        <p:txBody>
          <a:bodyPr/>
          <a:lstStyle/>
          <a:p>
            <a:r>
              <a:rPr lang="zh-CN" altLang="en-US" dirty="0"/>
              <a:t>实例</a:t>
            </a:r>
            <a:r>
              <a:rPr lang="en-US" altLang="zh-CN" dirty="0"/>
              <a:t>3</a:t>
            </a:r>
          </a:p>
          <a:p>
            <a:pPr lvl="1"/>
            <a:r>
              <a:rPr lang="zh-CN" altLang="en-US" dirty="0"/>
              <a:t>原始数据只有</a:t>
            </a:r>
            <a:r>
              <a:rPr lang="en-US" altLang="zh-CN" dirty="0"/>
              <a:t>2</a:t>
            </a:r>
            <a:r>
              <a:rPr lang="zh-CN" altLang="en-US" dirty="0"/>
              <a:t>个字节</a:t>
            </a:r>
            <a:endParaRPr lang="en-US" altLang="zh-CN" dirty="0"/>
          </a:p>
          <a:p>
            <a:pPr lvl="1"/>
            <a:r>
              <a:rPr lang="zh-CN" altLang="en-US" dirty="0"/>
              <a:t>需要填充</a:t>
            </a:r>
            <a:r>
              <a:rPr lang="en-US" altLang="zh-CN" dirty="0"/>
              <a:t>1</a:t>
            </a:r>
            <a:r>
              <a:rPr lang="zh-CN" altLang="en-US" dirty="0"/>
              <a:t>个字节补足</a:t>
            </a:r>
            <a:r>
              <a:rPr lang="en-US" altLang="zh-CN" dirty="0"/>
              <a:t>24bit</a:t>
            </a:r>
            <a:endParaRPr lang="zh-CN" altLang="en-US" dirty="0"/>
          </a:p>
        </p:txBody>
      </p:sp>
      <p:sp>
        <p:nvSpPr>
          <p:cNvPr id="14" name="矩形 13">
            <a:extLst>
              <a:ext uri="{FF2B5EF4-FFF2-40B4-BE49-F238E27FC236}">
                <a16:creationId xmlns:a16="http://schemas.microsoft.com/office/drawing/2014/main" id="{7B6F06D8-E7FA-7C5B-2938-6C6DEAC93EC2}"/>
              </a:ext>
            </a:extLst>
          </p:cNvPr>
          <p:cNvSpPr/>
          <p:nvPr/>
        </p:nvSpPr>
        <p:spPr>
          <a:xfrm>
            <a:off x="764500" y="2351866"/>
            <a:ext cx="800219" cy="276999"/>
          </a:xfrm>
          <a:prstGeom prst="rect">
            <a:avLst/>
          </a:prstGeom>
        </p:spPr>
        <p:txBody>
          <a:bodyPr wrap="none">
            <a:spAutoFit/>
          </a:bodyPr>
          <a:lstStyle/>
          <a:p>
            <a:pPr algn="r"/>
            <a:r>
              <a:rPr lang="zh-CN" altLang="en-US" sz="1200" dirty="0">
                <a:solidFill>
                  <a:srgbClr val="020202"/>
                </a:solidFill>
                <a:latin typeface="Montserrat" panose="00000500000000000000" pitchFamily="2" charset="0"/>
                <a:ea typeface="微软雅黑 Light" panose="020B0502040204020203" pitchFamily="34" charset="-122"/>
              </a:rPr>
              <a:t>原始字节</a:t>
            </a:r>
          </a:p>
        </p:txBody>
      </p:sp>
      <p:graphicFrame>
        <p:nvGraphicFramePr>
          <p:cNvPr id="15" name="表格 14">
            <a:extLst>
              <a:ext uri="{FF2B5EF4-FFF2-40B4-BE49-F238E27FC236}">
                <a16:creationId xmlns:a16="http://schemas.microsoft.com/office/drawing/2014/main" id="{2DDB1391-C332-6043-E10C-CFA88978A697}"/>
              </a:ext>
            </a:extLst>
          </p:cNvPr>
          <p:cNvGraphicFramePr>
            <a:graphicFrameLocks noGrp="1"/>
          </p:cNvGraphicFramePr>
          <p:nvPr>
            <p:extLst>
              <p:ext uri="{D42A27DB-BD31-4B8C-83A1-F6EECF244321}">
                <p14:modId xmlns:p14="http://schemas.microsoft.com/office/powerpoint/2010/main" val="3428794331"/>
              </p:ext>
            </p:extLst>
          </p:nvPr>
        </p:nvGraphicFramePr>
        <p:xfrm>
          <a:off x="1570259" y="2346365"/>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4BACC6"/>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pPr algn="ct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0000"/>
                  </a:ext>
                </a:extLst>
              </a:tr>
            </a:tbl>
          </a:graphicData>
        </a:graphic>
      </p:graphicFrame>
      <p:graphicFrame>
        <p:nvGraphicFramePr>
          <p:cNvPr id="16" name="表格 15">
            <a:extLst>
              <a:ext uri="{FF2B5EF4-FFF2-40B4-BE49-F238E27FC236}">
                <a16:creationId xmlns:a16="http://schemas.microsoft.com/office/drawing/2014/main" id="{20597802-8C56-860F-D9CE-FCA4A417E531}"/>
              </a:ext>
            </a:extLst>
          </p:cNvPr>
          <p:cNvGraphicFramePr>
            <a:graphicFrameLocks noGrp="1"/>
          </p:cNvGraphicFramePr>
          <p:nvPr>
            <p:extLst>
              <p:ext uri="{D42A27DB-BD31-4B8C-83A1-F6EECF244321}">
                <p14:modId xmlns:p14="http://schemas.microsoft.com/office/powerpoint/2010/main" val="2855668567"/>
              </p:ext>
            </p:extLst>
          </p:nvPr>
        </p:nvGraphicFramePr>
        <p:xfrm>
          <a:off x="1570259" y="2771114"/>
          <a:ext cx="5549904" cy="288000"/>
        </p:xfrm>
        <a:graphic>
          <a:graphicData uri="http://schemas.openxmlformats.org/drawingml/2006/table">
            <a:tbl>
              <a:tblPr firstRow="1" bandRow="1">
                <a:tableStyleId>{5C22544A-7EE6-4342-B048-85BDC9FD1C3A}</a:tableStyleId>
              </a:tblPr>
              <a:tblGrid>
                <a:gridCol w="231246">
                  <a:extLst>
                    <a:ext uri="{9D8B030D-6E8A-4147-A177-3AD203B41FA5}">
                      <a16:colId xmlns:a16="http://schemas.microsoft.com/office/drawing/2014/main" val="20000"/>
                    </a:ext>
                  </a:extLst>
                </a:gridCol>
                <a:gridCol w="231246">
                  <a:extLst>
                    <a:ext uri="{9D8B030D-6E8A-4147-A177-3AD203B41FA5}">
                      <a16:colId xmlns:a16="http://schemas.microsoft.com/office/drawing/2014/main" val="20001"/>
                    </a:ext>
                  </a:extLst>
                </a:gridCol>
                <a:gridCol w="231246">
                  <a:extLst>
                    <a:ext uri="{9D8B030D-6E8A-4147-A177-3AD203B41FA5}">
                      <a16:colId xmlns:a16="http://schemas.microsoft.com/office/drawing/2014/main" val="20002"/>
                    </a:ext>
                  </a:extLst>
                </a:gridCol>
                <a:gridCol w="231246">
                  <a:extLst>
                    <a:ext uri="{9D8B030D-6E8A-4147-A177-3AD203B41FA5}">
                      <a16:colId xmlns:a16="http://schemas.microsoft.com/office/drawing/2014/main" val="20003"/>
                    </a:ext>
                  </a:extLst>
                </a:gridCol>
                <a:gridCol w="231246">
                  <a:extLst>
                    <a:ext uri="{9D8B030D-6E8A-4147-A177-3AD203B41FA5}">
                      <a16:colId xmlns:a16="http://schemas.microsoft.com/office/drawing/2014/main" val="20004"/>
                    </a:ext>
                  </a:extLst>
                </a:gridCol>
                <a:gridCol w="231246">
                  <a:extLst>
                    <a:ext uri="{9D8B030D-6E8A-4147-A177-3AD203B41FA5}">
                      <a16:colId xmlns:a16="http://schemas.microsoft.com/office/drawing/2014/main" val="20005"/>
                    </a:ext>
                  </a:extLst>
                </a:gridCol>
                <a:gridCol w="231246">
                  <a:extLst>
                    <a:ext uri="{9D8B030D-6E8A-4147-A177-3AD203B41FA5}">
                      <a16:colId xmlns:a16="http://schemas.microsoft.com/office/drawing/2014/main" val="20006"/>
                    </a:ext>
                  </a:extLst>
                </a:gridCol>
                <a:gridCol w="231246">
                  <a:extLst>
                    <a:ext uri="{9D8B030D-6E8A-4147-A177-3AD203B41FA5}">
                      <a16:colId xmlns:a16="http://schemas.microsoft.com/office/drawing/2014/main" val="20007"/>
                    </a:ext>
                  </a:extLst>
                </a:gridCol>
                <a:gridCol w="231246">
                  <a:extLst>
                    <a:ext uri="{9D8B030D-6E8A-4147-A177-3AD203B41FA5}">
                      <a16:colId xmlns:a16="http://schemas.microsoft.com/office/drawing/2014/main" val="20008"/>
                    </a:ext>
                  </a:extLst>
                </a:gridCol>
                <a:gridCol w="231246">
                  <a:extLst>
                    <a:ext uri="{9D8B030D-6E8A-4147-A177-3AD203B41FA5}">
                      <a16:colId xmlns:a16="http://schemas.microsoft.com/office/drawing/2014/main" val="20009"/>
                    </a:ext>
                  </a:extLst>
                </a:gridCol>
                <a:gridCol w="231246">
                  <a:extLst>
                    <a:ext uri="{9D8B030D-6E8A-4147-A177-3AD203B41FA5}">
                      <a16:colId xmlns:a16="http://schemas.microsoft.com/office/drawing/2014/main" val="20010"/>
                    </a:ext>
                  </a:extLst>
                </a:gridCol>
                <a:gridCol w="231246">
                  <a:extLst>
                    <a:ext uri="{9D8B030D-6E8A-4147-A177-3AD203B41FA5}">
                      <a16:colId xmlns:a16="http://schemas.microsoft.com/office/drawing/2014/main" val="20011"/>
                    </a:ext>
                  </a:extLst>
                </a:gridCol>
                <a:gridCol w="231246">
                  <a:extLst>
                    <a:ext uri="{9D8B030D-6E8A-4147-A177-3AD203B41FA5}">
                      <a16:colId xmlns:a16="http://schemas.microsoft.com/office/drawing/2014/main" val="20012"/>
                    </a:ext>
                  </a:extLst>
                </a:gridCol>
                <a:gridCol w="231246">
                  <a:extLst>
                    <a:ext uri="{9D8B030D-6E8A-4147-A177-3AD203B41FA5}">
                      <a16:colId xmlns:a16="http://schemas.microsoft.com/office/drawing/2014/main" val="20013"/>
                    </a:ext>
                  </a:extLst>
                </a:gridCol>
                <a:gridCol w="231246">
                  <a:extLst>
                    <a:ext uri="{9D8B030D-6E8A-4147-A177-3AD203B41FA5}">
                      <a16:colId xmlns:a16="http://schemas.microsoft.com/office/drawing/2014/main" val="20014"/>
                    </a:ext>
                  </a:extLst>
                </a:gridCol>
                <a:gridCol w="231246">
                  <a:extLst>
                    <a:ext uri="{9D8B030D-6E8A-4147-A177-3AD203B41FA5}">
                      <a16:colId xmlns:a16="http://schemas.microsoft.com/office/drawing/2014/main" val="20015"/>
                    </a:ext>
                  </a:extLst>
                </a:gridCol>
                <a:gridCol w="231246">
                  <a:extLst>
                    <a:ext uri="{9D8B030D-6E8A-4147-A177-3AD203B41FA5}">
                      <a16:colId xmlns:a16="http://schemas.microsoft.com/office/drawing/2014/main" val="20016"/>
                    </a:ext>
                  </a:extLst>
                </a:gridCol>
                <a:gridCol w="231246">
                  <a:extLst>
                    <a:ext uri="{9D8B030D-6E8A-4147-A177-3AD203B41FA5}">
                      <a16:colId xmlns:a16="http://schemas.microsoft.com/office/drawing/2014/main" val="20017"/>
                    </a:ext>
                  </a:extLst>
                </a:gridCol>
                <a:gridCol w="231246">
                  <a:extLst>
                    <a:ext uri="{9D8B030D-6E8A-4147-A177-3AD203B41FA5}">
                      <a16:colId xmlns:a16="http://schemas.microsoft.com/office/drawing/2014/main" val="20018"/>
                    </a:ext>
                  </a:extLst>
                </a:gridCol>
                <a:gridCol w="231246">
                  <a:extLst>
                    <a:ext uri="{9D8B030D-6E8A-4147-A177-3AD203B41FA5}">
                      <a16:colId xmlns:a16="http://schemas.microsoft.com/office/drawing/2014/main" val="20019"/>
                    </a:ext>
                  </a:extLst>
                </a:gridCol>
                <a:gridCol w="231246">
                  <a:extLst>
                    <a:ext uri="{9D8B030D-6E8A-4147-A177-3AD203B41FA5}">
                      <a16:colId xmlns:a16="http://schemas.microsoft.com/office/drawing/2014/main" val="20020"/>
                    </a:ext>
                  </a:extLst>
                </a:gridCol>
                <a:gridCol w="231246">
                  <a:extLst>
                    <a:ext uri="{9D8B030D-6E8A-4147-A177-3AD203B41FA5}">
                      <a16:colId xmlns:a16="http://schemas.microsoft.com/office/drawing/2014/main" val="20021"/>
                    </a:ext>
                  </a:extLst>
                </a:gridCol>
                <a:gridCol w="231246">
                  <a:extLst>
                    <a:ext uri="{9D8B030D-6E8A-4147-A177-3AD203B41FA5}">
                      <a16:colId xmlns:a16="http://schemas.microsoft.com/office/drawing/2014/main" val="20022"/>
                    </a:ext>
                  </a:extLst>
                </a:gridCol>
                <a:gridCol w="231246">
                  <a:extLst>
                    <a:ext uri="{9D8B030D-6E8A-4147-A177-3AD203B41FA5}">
                      <a16:colId xmlns:a16="http://schemas.microsoft.com/office/drawing/2014/main" val="2002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0</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1</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0</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graphicFrame>
        <p:nvGraphicFramePr>
          <p:cNvPr id="17" name="表格 16">
            <a:extLst>
              <a:ext uri="{FF2B5EF4-FFF2-40B4-BE49-F238E27FC236}">
                <a16:creationId xmlns:a16="http://schemas.microsoft.com/office/drawing/2014/main" id="{6ED6DF97-1DB4-0D6D-2148-B5293567DF8E}"/>
              </a:ext>
            </a:extLst>
          </p:cNvPr>
          <p:cNvGraphicFramePr>
            <a:graphicFrameLocks noGrp="1"/>
          </p:cNvGraphicFramePr>
          <p:nvPr>
            <p:extLst>
              <p:ext uri="{D42A27DB-BD31-4B8C-83A1-F6EECF244321}">
                <p14:modId xmlns:p14="http://schemas.microsoft.com/office/powerpoint/2010/main" val="2734008615"/>
              </p:ext>
            </p:extLst>
          </p:nvPr>
        </p:nvGraphicFramePr>
        <p:xfrm>
          <a:off x="1570259" y="3195863"/>
          <a:ext cx="5549904" cy="288000"/>
        </p:xfrm>
        <a:graphic>
          <a:graphicData uri="http://schemas.openxmlformats.org/drawingml/2006/table">
            <a:tbl>
              <a:tblPr firstRow="1" bandRow="1">
                <a:tableStyleId>{5C22544A-7EE6-4342-B048-85BDC9FD1C3A}</a:tableStyleId>
              </a:tblPr>
              <a:tblGrid>
                <a:gridCol w="1387476">
                  <a:extLst>
                    <a:ext uri="{9D8B030D-6E8A-4147-A177-3AD203B41FA5}">
                      <a16:colId xmlns:a16="http://schemas.microsoft.com/office/drawing/2014/main" val="20000"/>
                    </a:ext>
                  </a:extLst>
                </a:gridCol>
                <a:gridCol w="1387476">
                  <a:extLst>
                    <a:ext uri="{9D8B030D-6E8A-4147-A177-3AD203B41FA5}">
                      <a16:colId xmlns:a16="http://schemas.microsoft.com/office/drawing/2014/main" val="20001"/>
                    </a:ext>
                  </a:extLst>
                </a:gridCol>
                <a:gridCol w="1387476">
                  <a:extLst>
                    <a:ext uri="{9D8B030D-6E8A-4147-A177-3AD203B41FA5}">
                      <a16:colId xmlns:a16="http://schemas.microsoft.com/office/drawing/2014/main" val="20002"/>
                    </a:ext>
                  </a:extLst>
                </a:gridCol>
                <a:gridCol w="1387476">
                  <a:extLst>
                    <a:ext uri="{9D8B030D-6E8A-4147-A177-3AD203B41FA5}">
                      <a16:colId xmlns:a16="http://schemas.microsoft.com/office/drawing/2014/main" val="20003"/>
                    </a:ext>
                  </a:extLst>
                </a:gridCol>
              </a:tblGrid>
              <a:tr h="288000">
                <a:tc>
                  <a:txBody>
                    <a:bodyPr/>
                    <a:lstStyle/>
                    <a:p>
                      <a:pPr marL="0" algn="ctr" defTabSz="914400" rtl="0" eaLnBrk="1" latinLnBrk="0" hangingPunct="1"/>
                      <a:r>
                        <a:rPr lang="en-US" altLang="zh-CN" sz="1200" b="0" kern="1200" dirty="0">
                          <a:solidFill>
                            <a:schemeClr val="tx1"/>
                          </a:solidFill>
                          <a:latin typeface="Montserrat" panose="00000500000000000000" pitchFamily="2" charset="0"/>
                          <a:ea typeface="微软雅黑 Light" panose="020B0502040204020203" pitchFamily="34" charset="-122"/>
                          <a:cs typeface="+mn-cs"/>
                        </a:rPr>
                        <a:t>Q</a:t>
                      </a:r>
                      <a:endParaRPr lang="zh-CN" altLang="en-US" sz="1200" b="0" kern="1200" dirty="0">
                        <a:solidFill>
                          <a:schemeClr val="tx1"/>
                        </a:solidFill>
                        <a:latin typeface="Montserrat" panose="00000500000000000000" pitchFamily="2" charset="0"/>
                        <a:ea typeface="微软雅黑 Light" panose="020B0502040204020203" pitchFamily="34" charset="-122"/>
                        <a:cs typeface="+mn-cs"/>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S</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k</a:t>
                      </a:r>
                      <a:endParaRPr lang="zh-CN" altLang="en-US" sz="1200" b="0" dirty="0">
                        <a:solidFill>
                          <a:schemeClr val="tx1"/>
                        </a:solidFill>
                        <a:latin typeface="Montserrat" panose="00000500000000000000" pitchFamily="2" charset="0"/>
                        <a:ea typeface="微软雅黑 Light" panose="020B0502040204020203" pitchFamily="34" charset="-122"/>
                      </a:endParaRP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noFill/>
                  </a:tcPr>
                </a:tc>
                <a:tc>
                  <a:txBody>
                    <a:bodyPr/>
                    <a:lstStyle/>
                    <a:p>
                      <a:pPr algn="ctr"/>
                      <a:r>
                        <a:rPr lang="en-US" altLang="zh-CN" sz="1200" b="0" dirty="0">
                          <a:solidFill>
                            <a:schemeClr val="tx1"/>
                          </a:solidFill>
                          <a:latin typeface="Montserrat" panose="00000500000000000000" pitchFamily="2" charset="0"/>
                          <a:ea typeface="微软雅黑 Light" panose="020B0502040204020203" pitchFamily="34" charset="-122"/>
                        </a:rPr>
                        <a:t>A</a:t>
                      </a:r>
                    </a:p>
                  </a:txBody>
                  <a:tcPr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D7E4BD"/>
                    </a:solidFill>
                  </a:tcPr>
                </a:tc>
                <a:extLst>
                  <a:ext uri="{0D108BD9-81ED-4DB2-BD59-A6C34878D82A}">
                    <a16:rowId xmlns:a16="http://schemas.microsoft.com/office/drawing/2014/main" val="10000"/>
                  </a:ext>
                </a:extLst>
              </a:tr>
            </a:tbl>
          </a:graphicData>
        </a:graphic>
      </p:graphicFrame>
      <p:sp>
        <p:nvSpPr>
          <p:cNvPr id="18" name="矩形 17">
            <a:extLst>
              <a:ext uri="{FF2B5EF4-FFF2-40B4-BE49-F238E27FC236}">
                <a16:creationId xmlns:a16="http://schemas.microsoft.com/office/drawing/2014/main" id="{6584FD4D-D539-9F90-7A8F-4984E320D306}"/>
              </a:ext>
            </a:extLst>
          </p:cNvPr>
          <p:cNvSpPr/>
          <p:nvPr/>
        </p:nvSpPr>
        <p:spPr>
          <a:xfrm>
            <a:off x="743660" y="2776615"/>
            <a:ext cx="821059"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4 </a:t>
            </a:r>
            <a:r>
              <a:rPr lang="zh-CN" altLang="en-US" sz="1200" dirty="0">
                <a:solidFill>
                  <a:srgbClr val="020202"/>
                </a:solidFill>
                <a:latin typeface="Montserrat" panose="00000500000000000000" pitchFamily="2" charset="0"/>
                <a:ea typeface="微软雅黑 Light" panose="020B0502040204020203" pitchFamily="34" charset="-122"/>
              </a:rPr>
              <a:t>个 </a:t>
            </a:r>
            <a:r>
              <a:rPr lang="en-US" altLang="zh-CN" sz="1200" dirty="0">
                <a:solidFill>
                  <a:srgbClr val="020202"/>
                </a:solidFill>
                <a:latin typeface="Montserrat" panose="00000500000000000000" pitchFamily="2" charset="0"/>
                <a:ea typeface="微软雅黑 Light" panose="020B0502040204020203" pitchFamily="34" charset="-122"/>
              </a:rPr>
              <a:t>6bit</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19" name="矩形 18">
            <a:extLst>
              <a:ext uri="{FF2B5EF4-FFF2-40B4-BE49-F238E27FC236}">
                <a16:creationId xmlns:a16="http://schemas.microsoft.com/office/drawing/2014/main" id="{75DBB6E5-C772-C8BD-20DC-86F61434A43A}"/>
              </a:ext>
            </a:extLst>
          </p:cNvPr>
          <p:cNvSpPr/>
          <p:nvPr/>
        </p:nvSpPr>
        <p:spPr>
          <a:xfrm>
            <a:off x="810987" y="3201364"/>
            <a:ext cx="753732" cy="276999"/>
          </a:xfrm>
          <a:prstGeom prst="rect">
            <a:avLst/>
          </a:prstGeom>
        </p:spPr>
        <p:txBody>
          <a:bodyPr wrap="none">
            <a:spAutoFit/>
          </a:bodyPr>
          <a:lstStyle/>
          <a:p>
            <a:pPr algn="r"/>
            <a:r>
              <a:rPr lang="en-US" altLang="zh-CN" sz="1200" dirty="0">
                <a:solidFill>
                  <a:srgbClr val="020202"/>
                </a:solidFill>
                <a:latin typeface="Montserrat" panose="00000500000000000000" pitchFamily="2" charset="0"/>
                <a:ea typeface="微软雅黑 Light" panose="020B0502040204020203" pitchFamily="34" charset="-122"/>
              </a:rPr>
              <a:t>Base64</a:t>
            </a:r>
            <a:endParaRPr lang="zh-CN" altLang="en-US" sz="1200" dirty="0">
              <a:solidFill>
                <a:srgbClr val="020202"/>
              </a:solidFill>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98A2B91D-2B1B-D871-004A-BAB7CA609809}"/>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3" name="箭头: 右 2">
            <a:extLst>
              <a:ext uri="{FF2B5EF4-FFF2-40B4-BE49-F238E27FC236}">
                <a16:creationId xmlns:a16="http://schemas.microsoft.com/office/drawing/2014/main" id="{8FC4E2E4-99F2-1938-793F-E48AA84B6FD1}"/>
              </a:ext>
            </a:extLst>
          </p:cNvPr>
          <p:cNvSpPr/>
          <p:nvPr/>
        </p:nvSpPr>
        <p:spPr>
          <a:xfrm>
            <a:off x="7249361" y="3259061"/>
            <a:ext cx="219456" cy="161605"/>
          </a:xfrm>
          <a:prstGeom prst="right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文本框 3">
            <a:extLst>
              <a:ext uri="{FF2B5EF4-FFF2-40B4-BE49-F238E27FC236}">
                <a16:creationId xmlns:a16="http://schemas.microsoft.com/office/drawing/2014/main" id="{A3AF5B7B-EE9A-898F-9DD5-9274DEA5244F}"/>
              </a:ext>
            </a:extLst>
          </p:cNvPr>
          <p:cNvSpPr txBox="1"/>
          <p:nvPr/>
        </p:nvSpPr>
        <p:spPr>
          <a:xfrm>
            <a:off x="7505395" y="3201364"/>
            <a:ext cx="700833" cy="276999"/>
          </a:xfrm>
          <a:prstGeom prst="rect">
            <a:avLst/>
          </a:prstGeom>
          <a:noFill/>
        </p:spPr>
        <p:txBody>
          <a:bodyPr wrap="none" rtlCol="0">
            <a:spAutoFit/>
          </a:bodyPr>
          <a:lstStyle/>
          <a:p>
            <a:pPr algn="l"/>
            <a:r>
              <a:rPr lang="en-US" altLang="zh-CN" sz="1200" dirty="0" err="1">
                <a:latin typeface="Montserrat" panose="00000500000000000000" pitchFamily="2" charset="0"/>
                <a:ea typeface="微软雅黑 Light" panose="020B0502040204020203" pitchFamily="34" charset="-122"/>
              </a:rPr>
              <a:t>QSkA</a:t>
            </a:r>
            <a:r>
              <a:rPr lang="en-US" altLang="zh-CN" sz="1200" dirty="0">
                <a:latin typeface="Montserrat" panose="00000500000000000000" pitchFamily="2" charset="0"/>
                <a:ea typeface="微软雅黑 Light" panose="020B0502040204020203" pitchFamily="34" charset="-122"/>
              </a:rPr>
              <a:t>=</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77819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A05018F-84B0-0905-0908-3761B31EB790}"/>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9" name="内容占位符 8">
            <a:extLst>
              <a:ext uri="{FF2B5EF4-FFF2-40B4-BE49-F238E27FC236}">
                <a16:creationId xmlns:a16="http://schemas.microsoft.com/office/drawing/2014/main" id="{8D1CC7A3-17CD-1179-028B-9492FC9AF0CB}"/>
              </a:ext>
            </a:extLst>
          </p:cNvPr>
          <p:cNvSpPr>
            <a:spLocks noGrp="1"/>
          </p:cNvSpPr>
          <p:nvPr>
            <p:ph sz="quarter" idx="11"/>
          </p:nvPr>
        </p:nvSpPr>
        <p:spPr>
          <a:xfrm>
            <a:off x="486000" y="687518"/>
            <a:ext cx="8172000" cy="4079035"/>
          </a:xfrm>
        </p:spPr>
        <p:txBody>
          <a:bodyPr/>
          <a:lstStyle/>
          <a:p>
            <a:r>
              <a:rPr lang="en-US" altLang="zh-CN" dirty="0"/>
              <a:t>MIME </a:t>
            </a:r>
            <a:r>
              <a:rPr lang="zh-CN" altLang="en-US" dirty="0"/>
              <a:t>标准规定：</a:t>
            </a:r>
            <a:r>
              <a:rPr lang="en-US" altLang="zh-CN" dirty="0"/>
              <a:t>Content-Type </a:t>
            </a:r>
            <a:r>
              <a:rPr lang="zh-CN" altLang="en-US" dirty="0"/>
              <a:t>说明必须含有两个标识符：</a:t>
            </a:r>
            <a:endParaRPr lang="en-US" altLang="zh-CN" dirty="0"/>
          </a:p>
          <a:p>
            <a:pPr lvl="1"/>
            <a:r>
              <a:rPr lang="zh-CN" altLang="en-US" dirty="0"/>
              <a:t>内容类型 </a:t>
            </a:r>
            <a:r>
              <a:rPr lang="en-US" altLang="zh-CN" dirty="0"/>
              <a:t>(type) </a:t>
            </a:r>
            <a:r>
              <a:rPr lang="zh-CN" altLang="en-US" dirty="0"/>
              <a:t>和子类型 </a:t>
            </a:r>
            <a:r>
              <a:rPr lang="en-US" altLang="zh-CN" dirty="0"/>
              <a:t>(subtype)</a:t>
            </a:r>
            <a:r>
              <a:rPr lang="zh-CN" altLang="en-US" dirty="0"/>
              <a:t>，中间用“</a:t>
            </a:r>
            <a:r>
              <a:rPr lang="en-US" altLang="zh-CN" dirty="0"/>
              <a:t>/”</a:t>
            </a:r>
            <a:r>
              <a:rPr lang="zh-CN" altLang="en-US" dirty="0"/>
              <a:t>分开。 </a:t>
            </a:r>
          </a:p>
          <a:p>
            <a:r>
              <a:rPr lang="en-US" altLang="zh-CN" dirty="0"/>
              <a:t>MIME </a:t>
            </a:r>
            <a:r>
              <a:rPr lang="zh-CN" altLang="en-US" dirty="0"/>
              <a:t>标准原先定义了 </a:t>
            </a:r>
            <a:r>
              <a:rPr lang="en-US" altLang="zh-CN" dirty="0"/>
              <a:t>7 </a:t>
            </a:r>
            <a:r>
              <a:rPr lang="zh-CN" altLang="en-US" dirty="0"/>
              <a:t>个基本内容类型和 </a:t>
            </a:r>
            <a:r>
              <a:rPr lang="en-US" altLang="zh-CN" dirty="0"/>
              <a:t>15 </a:t>
            </a:r>
            <a:r>
              <a:rPr lang="zh-CN" altLang="en-US" dirty="0"/>
              <a:t>种子类型。 </a:t>
            </a:r>
            <a:endParaRPr lang="en-US" altLang="zh-CN" dirty="0"/>
          </a:p>
          <a:p>
            <a:r>
              <a:rPr lang="en-US" altLang="zh-CN" dirty="0"/>
              <a:t>MIME </a:t>
            </a:r>
            <a:r>
              <a:rPr lang="zh-CN" altLang="en-US" dirty="0"/>
              <a:t>允许发件人和收件人自己定义专用的内容类型。但为避免可能出现名字冲突，标准要求为专用内容类型选择的名字要以字符串 </a:t>
            </a:r>
            <a:r>
              <a:rPr lang="en-US" altLang="zh-CN" dirty="0"/>
              <a:t>X-</a:t>
            </a:r>
            <a:r>
              <a:rPr lang="zh-CN" altLang="en-US" dirty="0"/>
              <a:t>开始。</a:t>
            </a:r>
          </a:p>
          <a:p>
            <a:endParaRPr lang="zh-CN" altLang="en-US" dirty="0"/>
          </a:p>
        </p:txBody>
      </p:sp>
    </p:spTree>
    <p:extLst>
      <p:ext uri="{BB962C8B-B14F-4D97-AF65-F5344CB8AC3E}">
        <p14:creationId xmlns:p14="http://schemas.microsoft.com/office/powerpoint/2010/main" val="3378604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E6ECEB7-0704-9C21-880D-4D101C480D14}"/>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内容类型</a:t>
            </a:r>
            <a:r>
              <a:rPr lang="en-US" altLang="zh-CN" dirty="0"/>
              <a:t> </a:t>
            </a:r>
            <a:endParaRPr lang="zh-CN" altLang="en-US" dirty="0"/>
          </a:p>
        </p:txBody>
      </p:sp>
      <p:sp>
        <p:nvSpPr>
          <p:cNvPr id="10" name="内容占位符 9">
            <a:extLst>
              <a:ext uri="{FF2B5EF4-FFF2-40B4-BE49-F238E27FC236}">
                <a16:creationId xmlns:a16="http://schemas.microsoft.com/office/drawing/2014/main" id="{515F3E20-72E7-39E0-3EA0-8FABF51059A4}"/>
              </a:ext>
            </a:extLst>
          </p:cNvPr>
          <p:cNvSpPr>
            <a:spLocks noGrp="1"/>
          </p:cNvSpPr>
          <p:nvPr>
            <p:ph sz="quarter" idx="11"/>
          </p:nvPr>
        </p:nvSpPr>
        <p:spPr/>
        <p:txBody>
          <a:bodyPr/>
          <a:lstStyle/>
          <a:p>
            <a:endParaRPr lang="zh-CN" altLang="en-US"/>
          </a:p>
        </p:txBody>
      </p:sp>
      <p:graphicFrame>
        <p:nvGraphicFramePr>
          <p:cNvPr id="8" name="内容占位符 4"/>
          <p:cNvGraphicFramePr>
            <a:graphicFrameLocks/>
          </p:cNvGraphicFramePr>
          <p:nvPr>
            <p:extLst>
              <p:ext uri="{D42A27DB-BD31-4B8C-83A1-F6EECF244321}">
                <p14:modId xmlns:p14="http://schemas.microsoft.com/office/powerpoint/2010/main" val="3908407240"/>
              </p:ext>
            </p:extLst>
          </p:nvPr>
        </p:nvGraphicFramePr>
        <p:xfrm>
          <a:off x="485775" y="1631191"/>
          <a:ext cx="8172000" cy="2655432"/>
        </p:xfrm>
        <a:graphic>
          <a:graphicData uri="http://schemas.openxmlformats.org/drawingml/2006/table">
            <a:tbl>
              <a:tblPr firstRow="1" firstCol="1" bandRow="1" bandCol="1">
                <a:tableStyleId>{912C8C85-51F0-491E-9774-3900AFEF0FD7}</a:tableStyleId>
              </a:tblPr>
              <a:tblGrid>
                <a:gridCol w="2363395">
                  <a:extLst>
                    <a:ext uri="{9D8B030D-6E8A-4147-A177-3AD203B41FA5}">
                      <a16:colId xmlns:a16="http://schemas.microsoft.com/office/drawing/2014/main" val="20000"/>
                    </a:ext>
                  </a:extLst>
                </a:gridCol>
                <a:gridCol w="2941706">
                  <a:extLst>
                    <a:ext uri="{9D8B030D-6E8A-4147-A177-3AD203B41FA5}">
                      <a16:colId xmlns:a16="http://schemas.microsoft.com/office/drawing/2014/main" val="20001"/>
                    </a:ext>
                  </a:extLst>
                </a:gridCol>
                <a:gridCol w="2866899">
                  <a:extLst>
                    <a:ext uri="{9D8B030D-6E8A-4147-A177-3AD203B41FA5}">
                      <a16:colId xmlns:a16="http://schemas.microsoft.com/office/drawing/2014/main" val="20002"/>
                    </a:ext>
                  </a:extLst>
                </a:gridCol>
              </a:tblGrid>
              <a:tr h="360000">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内容类型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子类型举例</a:t>
                      </a:r>
                    </a:p>
                  </a:txBody>
                  <a:tcPr marL="31190" marR="31190" marT="0" marB="0" anchor="ctr"/>
                </a:tc>
                <a:tc>
                  <a:txBody>
                    <a:bodyPr/>
                    <a:lstStyle/>
                    <a:p>
                      <a:pPr algn="ctr" hangingPunct="0">
                        <a:lnSpc>
                          <a:spcPct val="100000"/>
                        </a:lnSpc>
                        <a:spcAft>
                          <a:spcPts val="0"/>
                        </a:spcAft>
                      </a:pPr>
                      <a:r>
                        <a:rPr lang="zh-CN" sz="1200" b="0" dirty="0">
                          <a:solidFill>
                            <a:schemeClr val="bg1"/>
                          </a:solidFill>
                          <a:effectLst/>
                          <a:latin typeface="微软雅黑" panose="020B0503020204020204" pitchFamily="34" charset="-122"/>
                          <a:ea typeface="微软雅黑" panose="020B0503020204020204" pitchFamily="34" charset="-122"/>
                        </a:rPr>
                        <a:t>说明</a:t>
                      </a:r>
                    </a:p>
                  </a:txBody>
                  <a:tcPr marL="31190" marR="31190" marT="0" marB="0" anchor="ctr"/>
                </a:tc>
                <a:extLst>
                  <a:ext uri="{0D108BD9-81ED-4DB2-BD59-A6C34878D82A}">
                    <a16:rowId xmlns:a16="http://schemas.microsoft.com/office/drawing/2014/main" val="10000"/>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text</a:t>
                      </a:r>
                      <a:r>
                        <a:rPr lang="zh-CN" sz="1200" b="0" dirty="0">
                          <a:effectLst/>
                          <a:latin typeface="Montserrat" panose="00000500000000000000" pitchFamily="2" charset="0"/>
                          <a:ea typeface="微软雅黑 Light" panose="020B0502040204020203" pitchFamily="34" charset="-122"/>
                        </a:rPr>
                        <a:t>（文本）</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plain, html, xml, </a:t>
                      </a:r>
                      <a:r>
                        <a:rPr lang="en-US" sz="1200" b="0" dirty="0" err="1">
                          <a:effectLst/>
                          <a:latin typeface="Montserrat" panose="00000500000000000000" pitchFamily="2" charset="0"/>
                          <a:ea typeface="微软雅黑 Light" panose="020B0502040204020203" pitchFamily="34" charset="-122"/>
                        </a:rPr>
                        <a:t>css</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不同格式的文本</a:t>
                      </a:r>
                    </a:p>
                  </a:txBody>
                  <a:tcPr marL="31190" marR="31190" marT="0" marB="0" anchor="ctr"/>
                </a:tc>
                <a:extLst>
                  <a:ext uri="{0D108BD9-81ED-4DB2-BD59-A6C34878D82A}">
                    <a16:rowId xmlns:a16="http://schemas.microsoft.com/office/drawing/2014/main" val="10001"/>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image</a:t>
                      </a:r>
                      <a:r>
                        <a:rPr lang="zh-CN" sz="1200" b="0" dirty="0">
                          <a:effectLst/>
                          <a:latin typeface="Montserrat" panose="00000500000000000000" pitchFamily="2" charset="0"/>
                          <a:ea typeface="微软雅黑 Light" panose="020B0502040204020203" pitchFamily="34" charset="-122"/>
                        </a:rPr>
                        <a:t>（图像）</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gif, jpeg, tiff</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不同格式的静止图像</a:t>
                      </a:r>
                    </a:p>
                  </a:txBody>
                  <a:tcPr marL="31190" marR="31190" marT="0" marB="0" anchor="ctr"/>
                </a:tc>
                <a:extLst>
                  <a:ext uri="{0D108BD9-81ED-4DB2-BD59-A6C34878D82A}">
                    <a16:rowId xmlns:a16="http://schemas.microsoft.com/office/drawing/2014/main" val="10002"/>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audio</a:t>
                      </a:r>
                      <a:r>
                        <a:rPr lang="zh-CN" sz="1200" b="0" dirty="0">
                          <a:effectLst/>
                          <a:latin typeface="Montserrat" panose="00000500000000000000" pitchFamily="2" charset="0"/>
                          <a:ea typeface="微软雅黑 Light" panose="020B0502040204020203" pitchFamily="34" charset="-122"/>
                        </a:rPr>
                        <a:t>（音频）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basic, mpeg, mp4</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可听见的声音</a:t>
                      </a:r>
                    </a:p>
                  </a:txBody>
                  <a:tcPr marL="31190" marR="31190" marT="0" marB="0" anchor="ctr"/>
                </a:tc>
                <a:extLst>
                  <a:ext uri="{0D108BD9-81ED-4DB2-BD59-A6C34878D82A}">
                    <a16:rowId xmlns:a16="http://schemas.microsoft.com/office/drawing/2014/main" val="10003"/>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video</a:t>
                      </a:r>
                      <a:r>
                        <a:rPr lang="zh-CN" sz="1200" b="0" dirty="0">
                          <a:effectLst/>
                          <a:latin typeface="Montserrat" panose="00000500000000000000" pitchFamily="2" charset="0"/>
                          <a:ea typeface="微软雅黑 Light" panose="020B0502040204020203" pitchFamily="34" charset="-122"/>
                        </a:rPr>
                        <a:t>（视频）</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mpeg, mp4, </a:t>
                      </a:r>
                      <a:r>
                        <a:rPr lang="en-US" sz="1200" b="0" dirty="0" err="1">
                          <a:effectLst/>
                          <a:latin typeface="Montserrat" panose="00000500000000000000" pitchFamily="2" charset="0"/>
                          <a:ea typeface="微软雅黑 Light" panose="020B0502040204020203" pitchFamily="34" charset="-122"/>
                        </a:rPr>
                        <a:t>quicktime</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不同格式的影片</a:t>
                      </a:r>
                    </a:p>
                  </a:txBody>
                  <a:tcPr marL="31190" marR="31190" marT="0" marB="0" anchor="ctr"/>
                </a:tc>
                <a:extLst>
                  <a:ext uri="{0D108BD9-81ED-4DB2-BD59-A6C34878D82A}">
                    <a16:rowId xmlns:a16="http://schemas.microsoft.com/office/drawing/2014/main" val="10004"/>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model</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tc>
                  <a:txBody>
                    <a:bodyPr/>
                    <a:lstStyle/>
                    <a:p>
                      <a:pPr algn="ctr" hangingPunct="0">
                        <a:lnSpc>
                          <a:spcPct val="100000"/>
                        </a:lnSpc>
                        <a:spcAft>
                          <a:spcPts val="0"/>
                        </a:spcAft>
                      </a:pPr>
                      <a:r>
                        <a:rPr lang="en-US" sz="1200" b="0" dirty="0" err="1">
                          <a:effectLst/>
                          <a:latin typeface="Montserrat" panose="00000500000000000000" pitchFamily="2" charset="0"/>
                          <a:ea typeface="微软雅黑 Light" panose="020B0502040204020203" pitchFamily="34" charset="-122"/>
                        </a:rPr>
                        <a:t>vrml</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3D</a:t>
                      </a:r>
                      <a:r>
                        <a:rPr lang="zh-CN" sz="1200" b="0" dirty="0">
                          <a:effectLst/>
                          <a:latin typeface="Montserrat" panose="00000500000000000000" pitchFamily="2" charset="0"/>
                          <a:ea typeface="微软雅黑 Light" panose="020B0502040204020203" pitchFamily="34" charset="-122"/>
                        </a:rPr>
                        <a:t>模型</a:t>
                      </a:r>
                    </a:p>
                  </a:txBody>
                  <a:tcPr marL="31190" marR="31190" marT="0" marB="0" anchor="ctr"/>
                </a:tc>
                <a:extLst>
                  <a:ext uri="{0D108BD9-81ED-4DB2-BD59-A6C34878D82A}">
                    <a16:rowId xmlns:a16="http://schemas.microsoft.com/office/drawing/2014/main" val="10005"/>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application</a:t>
                      </a:r>
                      <a:r>
                        <a:rPr lang="zh-CN" sz="1200" b="0" dirty="0">
                          <a:effectLst/>
                          <a:latin typeface="Montserrat" panose="00000500000000000000" pitchFamily="2" charset="0"/>
                          <a:ea typeface="微软雅黑 Light" panose="020B0502040204020203" pitchFamily="34" charset="-122"/>
                        </a:rPr>
                        <a:t>（应用）</a:t>
                      </a:r>
                    </a:p>
                  </a:txBody>
                  <a:tcPr marL="31190" marR="31190" marT="0" marB="0" anchor="ctr"/>
                </a:tc>
                <a:tc>
                  <a:txBody>
                    <a:bodyPr/>
                    <a:lstStyle/>
                    <a:p>
                      <a:pPr algn="ctr" hangingPunct="0">
                        <a:lnSpc>
                          <a:spcPct val="100000"/>
                        </a:lnSpc>
                        <a:spcAft>
                          <a:spcPts val="0"/>
                        </a:spcAft>
                      </a:pPr>
                      <a:r>
                        <a:rPr lang="en-US" sz="1200" b="0" dirty="0" err="1">
                          <a:solidFill>
                            <a:srgbClr val="C00000"/>
                          </a:solidFill>
                          <a:effectLst/>
                          <a:latin typeface="Montserrat" panose="00000500000000000000" pitchFamily="2" charset="0"/>
                          <a:ea typeface="微软雅黑 Light" panose="020B0502040204020203" pitchFamily="34" charset="-122"/>
                        </a:rPr>
                        <a:t>json</a:t>
                      </a:r>
                      <a:r>
                        <a:rPr lang="en-US" sz="1200" b="0" dirty="0">
                          <a:effectLst/>
                          <a:latin typeface="Montserrat" panose="00000500000000000000" pitchFamily="2" charset="0"/>
                          <a:ea typeface="微软雅黑 Light" panose="020B0502040204020203" pitchFamily="34" charset="-122"/>
                        </a:rPr>
                        <a:t>, octet-stream, pdf, </a:t>
                      </a:r>
                      <a:r>
                        <a:rPr lang="en-US" sz="1200" b="0" dirty="0" err="1">
                          <a:effectLst/>
                          <a:latin typeface="Montserrat" panose="00000500000000000000" pitchFamily="2" charset="0"/>
                          <a:ea typeface="微软雅黑 Light" panose="020B0502040204020203" pitchFamily="34" charset="-122"/>
                        </a:rPr>
                        <a:t>javascript</a:t>
                      </a:r>
                      <a:r>
                        <a:rPr lang="en-US" sz="1200" b="0" dirty="0">
                          <a:effectLst/>
                          <a:latin typeface="Montserrat" panose="00000500000000000000" pitchFamily="2" charset="0"/>
                          <a:ea typeface="微软雅黑 Light" panose="020B0502040204020203" pitchFamily="34" charset="-122"/>
                        </a:rPr>
                        <a:t>, zip</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不同应用程序产生的数据</a:t>
                      </a:r>
                    </a:p>
                  </a:txBody>
                  <a:tcPr marL="31190" marR="31190" marT="0" marB="0" anchor="ctr"/>
                </a:tc>
                <a:extLst>
                  <a:ext uri="{0D108BD9-81ED-4DB2-BD59-A6C34878D82A}">
                    <a16:rowId xmlns:a16="http://schemas.microsoft.com/office/drawing/2014/main" val="10006"/>
                  </a:ext>
                </a:extLst>
              </a:tr>
              <a:tr h="286929">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message</a:t>
                      </a:r>
                      <a:r>
                        <a:rPr lang="zh-CN" sz="1200" b="0" strike="sngStrike" baseline="0" dirty="0">
                          <a:effectLst/>
                          <a:latin typeface="Montserrat" panose="00000500000000000000" pitchFamily="2" charset="0"/>
                          <a:ea typeface="微软雅黑 Light" panose="020B0502040204020203" pitchFamily="34" charset="-122"/>
                        </a:rPr>
                        <a:t>（报文）</a:t>
                      </a:r>
                    </a:p>
                  </a:txBody>
                  <a:tcPr marL="31190" marR="31190" marT="0" marB="0" anchor="ctr"/>
                </a:tc>
                <a:tc>
                  <a:txBody>
                    <a:bodyPr/>
                    <a:lstStyle/>
                    <a:p>
                      <a:pPr algn="ctr" hangingPunct="0">
                        <a:lnSpc>
                          <a:spcPct val="100000"/>
                        </a:lnSpc>
                        <a:spcAft>
                          <a:spcPts val="0"/>
                        </a:spcAft>
                      </a:pPr>
                      <a:r>
                        <a:rPr lang="en-US" sz="1200" b="0" strike="sngStrike" baseline="0" dirty="0">
                          <a:effectLst/>
                          <a:latin typeface="Montserrat" panose="00000500000000000000" pitchFamily="2" charset="0"/>
                          <a:ea typeface="微软雅黑 Light" panose="020B0502040204020203" pitchFamily="34" charset="-122"/>
                        </a:rPr>
                        <a:t>http, rfc822</a:t>
                      </a:r>
                      <a:endParaRPr lang="zh-CN" sz="1200" b="0" strike="sngStrike" baseline="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strike="sngStrike" baseline="0" dirty="0">
                          <a:effectLst/>
                          <a:latin typeface="Montserrat" panose="00000500000000000000" pitchFamily="2" charset="0"/>
                          <a:ea typeface="微软雅黑 Light" panose="020B0502040204020203" pitchFamily="34" charset="-122"/>
                        </a:rPr>
                        <a:t>封装的报文</a:t>
                      </a:r>
                    </a:p>
                  </a:txBody>
                  <a:tcPr marL="31190" marR="31190" marT="0" marB="0" anchor="ctr"/>
                </a:tc>
                <a:extLst>
                  <a:ext uri="{0D108BD9-81ED-4DB2-BD59-A6C34878D82A}">
                    <a16:rowId xmlns:a16="http://schemas.microsoft.com/office/drawing/2014/main" val="10007"/>
                  </a:ext>
                </a:extLst>
              </a:tr>
              <a:tr h="286929">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multipart</a:t>
                      </a:r>
                      <a:r>
                        <a:rPr lang="zh-CN" sz="1200" b="0" dirty="0">
                          <a:effectLst/>
                          <a:latin typeface="Montserrat" panose="00000500000000000000" pitchFamily="2" charset="0"/>
                          <a:ea typeface="微软雅黑 Light" panose="020B0502040204020203" pitchFamily="34" charset="-122"/>
                        </a:rPr>
                        <a:t>（多部分）</a:t>
                      </a:r>
                    </a:p>
                  </a:txBody>
                  <a:tcPr marL="31190" marR="31190" marT="0" marB="0" anchor="ctr"/>
                </a:tc>
                <a:tc>
                  <a:txBody>
                    <a:bodyPr/>
                    <a:lstStyle/>
                    <a:p>
                      <a:pPr algn="ctr" hangingPunct="0">
                        <a:lnSpc>
                          <a:spcPct val="100000"/>
                        </a:lnSpc>
                        <a:spcAft>
                          <a:spcPts val="0"/>
                        </a:spcAft>
                      </a:pPr>
                      <a:r>
                        <a:rPr lang="en-US" sz="1200" b="0" dirty="0">
                          <a:effectLst/>
                          <a:latin typeface="Montserrat" panose="00000500000000000000" pitchFamily="2" charset="0"/>
                          <a:ea typeface="微软雅黑 Light" panose="020B0502040204020203" pitchFamily="34" charset="-122"/>
                        </a:rPr>
                        <a:t>mixed, alternative, parallel, digest</a:t>
                      </a:r>
                      <a:endParaRPr lang="zh-CN" sz="1200" b="0" dirty="0">
                        <a:effectLst/>
                        <a:latin typeface="Montserrat" panose="00000500000000000000" pitchFamily="2" charset="0"/>
                        <a:ea typeface="微软雅黑 Light" panose="020B0502040204020203" pitchFamily="34" charset="-122"/>
                      </a:endParaRPr>
                    </a:p>
                  </a:txBody>
                  <a:tcPr marL="31190" marR="31190" marT="0" marB="0" anchor="ctr"/>
                </a:tc>
                <a:tc>
                  <a:txBody>
                    <a:bodyPr/>
                    <a:lstStyle/>
                    <a:p>
                      <a:pPr algn="ctr" hangingPunct="0">
                        <a:lnSpc>
                          <a:spcPct val="100000"/>
                        </a:lnSpc>
                        <a:spcAft>
                          <a:spcPts val="0"/>
                        </a:spcAft>
                      </a:pPr>
                      <a:r>
                        <a:rPr lang="zh-CN" sz="1200" b="0" dirty="0">
                          <a:effectLst/>
                          <a:latin typeface="Montserrat" panose="00000500000000000000" pitchFamily="2" charset="0"/>
                          <a:ea typeface="微软雅黑 Light" panose="020B0502040204020203" pitchFamily="34" charset="-122"/>
                        </a:rPr>
                        <a:t>多种类型的组合</a:t>
                      </a:r>
                    </a:p>
                  </a:txBody>
                  <a:tcPr marL="31190" marR="31190" marT="0" marB="0" anchor="ct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29817713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2C70938-592E-95DC-4B8D-9989A716B2E6}"/>
              </a:ext>
            </a:extLst>
          </p:cNvPr>
          <p:cNvSpPr>
            <a:spLocks noGrp="1"/>
          </p:cNvSpPr>
          <p:nvPr>
            <p:ph type="title"/>
          </p:nvPr>
        </p:nvSpPr>
        <p:spPr>
          <a:xfrm>
            <a:off x="485999" y="174482"/>
            <a:ext cx="8171999" cy="338554"/>
          </a:xfrm>
        </p:spPr>
        <p:txBody>
          <a:bodyPr/>
          <a:lstStyle/>
          <a:p>
            <a:r>
              <a:rPr lang="en-US" altLang="zh-CN" dirty="0"/>
              <a:t>6.5.6  </a:t>
            </a:r>
            <a:r>
              <a:rPr lang="zh-CN" altLang="en-US" dirty="0"/>
              <a:t>通用互联网邮件扩充 </a:t>
            </a:r>
            <a:r>
              <a:rPr lang="en-US" altLang="zh-CN" dirty="0"/>
              <a:t>MIME - </a:t>
            </a:r>
            <a:r>
              <a:rPr lang="zh-CN" altLang="en-US" dirty="0"/>
              <a:t>内容传送编码 </a:t>
            </a:r>
            <a:r>
              <a:rPr lang="en-US" altLang="zh-CN" dirty="0"/>
              <a:t>- Base64</a:t>
            </a:r>
            <a:endParaRPr lang="zh-CN" altLang="en-US" dirty="0"/>
          </a:p>
        </p:txBody>
      </p:sp>
      <p:sp>
        <p:nvSpPr>
          <p:cNvPr id="9" name="内容占位符 8">
            <a:extLst>
              <a:ext uri="{FF2B5EF4-FFF2-40B4-BE49-F238E27FC236}">
                <a16:creationId xmlns:a16="http://schemas.microsoft.com/office/drawing/2014/main" id="{EF5D295B-C249-5779-2780-B0FADE2042E2}"/>
              </a:ext>
            </a:extLst>
          </p:cNvPr>
          <p:cNvSpPr>
            <a:spLocks noGrp="1"/>
          </p:cNvSpPr>
          <p:nvPr>
            <p:ph sz="quarter" idx="11"/>
          </p:nvPr>
        </p:nvSpPr>
        <p:spPr>
          <a:xfrm>
            <a:off x="486000" y="687518"/>
            <a:ext cx="8172000" cy="4079035"/>
          </a:xfrm>
        </p:spPr>
        <p:txBody>
          <a:bodyPr/>
          <a:lstStyle/>
          <a:p>
            <a:r>
              <a:rPr lang="zh-CN" altLang="en-US" dirty="0"/>
              <a:t>检查邮件细节</a:t>
            </a:r>
          </a:p>
        </p:txBody>
      </p:sp>
      <p:pic>
        <p:nvPicPr>
          <p:cNvPr id="5" name="图片 4">
            <a:extLst>
              <a:ext uri="{FF2B5EF4-FFF2-40B4-BE49-F238E27FC236}">
                <a16:creationId xmlns:a16="http://schemas.microsoft.com/office/drawing/2014/main" id="{B70F87CF-D2BF-10E4-BED9-E2975A32F517}"/>
              </a:ext>
            </a:extLst>
          </p:cNvPr>
          <p:cNvPicPr>
            <a:picLocks noChangeAspect="1"/>
          </p:cNvPicPr>
          <p:nvPr/>
        </p:nvPicPr>
        <p:blipFill>
          <a:blip r:embed="rId2"/>
          <a:stretch>
            <a:fillRect/>
          </a:stretch>
        </p:blipFill>
        <p:spPr>
          <a:xfrm>
            <a:off x="2408464" y="0"/>
            <a:ext cx="6735536" cy="5143500"/>
          </a:xfrm>
          <a:prstGeom prst="rect">
            <a:avLst/>
          </a:prstGeom>
        </p:spPr>
      </p:pic>
    </p:spTree>
    <p:extLst>
      <p:ext uri="{BB962C8B-B14F-4D97-AF65-F5344CB8AC3E}">
        <p14:creationId xmlns:p14="http://schemas.microsoft.com/office/powerpoint/2010/main" val="2758159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56D039C3-7D25-6374-09E6-0A03396E5BBA}"/>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6.6</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动态主机配置协议 </a:t>
            </a:r>
            <a:r>
              <a:rPr lang="en-US" altLang="zh-CN" sz="2000" dirty="0">
                <a:latin typeface="Montserrat" panose="00000500000000000000" pitchFamily="2" charset="0"/>
                <a:ea typeface="微软雅黑 Light" panose="020B0502040204020203" pitchFamily="34" charset="-122"/>
              </a:rPr>
              <a:t>DHCP</a:t>
            </a:r>
            <a:endParaRPr lang="zh-CN" altLang="fr-FR" sz="2000" dirty="0">
              <a:latin typeface="Montserrat" panose="00000500000000000000" pitchFamily="2" charset="0"/>
              <a:ea typeface="微软雅黑 Light" panose="020B0502040204020203" pitchFamily="34" charset="-122"/>
            </a:endParaRPr>
          </a:p>
        </p:txBody>
      </p:sp>
      <p:sp>
        <p:nvSpPr>
          <p:cNvPr id="5" name="Rectangle 8">
            <a:extLst>
              <a:ext uri="{FF2B5EF4-FFF2-40B4-BE49-F238E27FC236}">
                <a16:creationId xmlns:a16="http://schemas.microsoft.com/office/drawing/2014/main" id="{A40E25A0-A071-74D2-8E3C-31776C65185C}"/>
              </a:ext>
            </a:extLst>
          </p:cNvPr>
          <p:cNvSpPr>
            <a:spLocks noChangeArrowheads="1"/>
          </p:cNvSpPr>
          <p:nvPr/>
        </p:nvSpPr>
        <p:spPr bwMode="auto">
          <a:xfrm>
            <a:off x="3563766" y="1354881"/>
            <a:ext cx="4197661" cy="22665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简单邮件传送协议 </a:t>
            </a:r>
            <a:r>
              <a:rPr lang="en-US" altLang="zh-CN" sz="1600" dirty="0">
                <a:latin typeface="Montserrat" panose="00000500000000000000" pitchFamily="2" charset="0"/>
                <a:ea typeface="微软雅黑 Light" panose="020B0502040204020203" pitchFamily="34" charset="-122"/>
              </a:rPr>
              <a:t>SMTP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电子邮件的信息格式</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6.5.4</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邮件读取协议 </a:t>
            </a:r>
            <a:r>
              <a:rPr lang="en-US" altLang="zh-CN" sz="1600" dirty="0">
                <a:latin typeface="Montserrat" panose="00000500000000000000" pitchFamily="2" charset="0"/>
                <a:ea typeface="微软雅黑 Light" panose="020B0502040204020203" pitchFamily="34" charset="-122"/>
              </a:rPr>
              <a:t>POP3 </a:t>
            </a:r>
            <a:r>
              <a:rPr lang="zh-CN" altLang="en-US" sz="1600" dirty="0">
                <a:latin typeface="Montserrat" panose="00000500000000000000" pitchFamily="2" charset="0"/>
                <a:ea typeface="微软雅黑 Light" panose="020B0502040204020203" pitchFamily="34" charset="-122"/>
              </a:rPr>
              <a:t>和 </a:t>
            </a:r>
            <a:r>
              <a:rPr lang="en-US" altLang="zh-CN" sz="1600" dirty="0">
                <a:latin typeface="Montserrat" panose="00000500000000000000" pitchFamily="2" charset="0"/>
                <a:ea typeface="微软雅黑 Light" panose="020B0502040204020203" pitchFamily="34" charset="-122"/>
              </a:rPr>
              <a:t>IMAP</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6.5.5</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基于万维网的电子邮件</a:t>
            </a: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6.5.6</a:t>
            </a:r>
            <a:r>
              <a:rPr lang="en-US" altLang="zh-CN" sz="1600" dirty="0">
                <a:latin typeface="Montserrat" panose="00000500000000000000" pitchFamily="2" charset="0"/>
                <a:ea typeface="微软雅黑 Light" panose="020B0502040204020203" pitchFamily="34" charset="-122"/>
              </a:rPr>
              <a:t> </a:t>
            </a:r>
            <a:r>
              <a:rPr lang="zh-CN" altLang="en-US" sz="1600" dirty="0">
                <a:latin typeface="Montserrat" panose="00000500000000000000" pitchFamily="2" charset="0"/>
                <a:ea typeface="微软雅黑 Light" panose="020B0502040204020203" pitchFamily="34" charset="-122"/>
              </a:rPr>
              <a:t>通用互联网邮件扩充 </a:t>
            </a:r>
            <a:r>
              <a:rPr lang="en-US" altLang="zh-CN" sz="1600" dirty="0">
                <a:latin typeface="Montserrat" panose="00000500000000000000" pitchFamily="2" charset="0"/>
                <a:ea typeface="微软雅黑 Light" panose="020B0502040204020203" pitchFamily="34" charset="-122"/>
              </a:rPr>
              <a:t>MIME</a:t>
            </a:r>
          </a:p>
        </p:txBody>
      </p:sp>
    </p:spTree>
    <p:extLst>
      <p:ext uri="{BB962C8B-B14F-4D97-AF65-F5344CB8AC3E}">
        <p14:creationId xmlns:p14="http://schemas.microsoft.com/office/powerpoint/2010/main" val="24976033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78C857-9E2A-B03B-64F6-62B6B7DD256E}"/>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p>
        </p:txBody>
      </p:sp>
      <p:sp>
        <p:nvSpPr>
          <p:cNvPr id="3" name="内容占位符 2">
            <a:extLst>
              <a:ext uri="{FF2B5EF4-FFF2-40B4-BE49-F238E27FC236}">
                <a16:creationId xmlns:a16="http://schemas.microsoft.com/office/drawing/2014/main" id="{D6C53FF5-B414-77C6-A0DA-7BAA47EB43A8}"/>
              </a:ext>
            </a:extLst>
          </p:cNvPr>
          <p:cNvSpPr>
            <a:spLocks noGrp="1"/>
          </p:cNvSpPr>
          <p:nvPr>
            <p:ph sz="quarter" idx="11"/>
          </p:nvPr>
        </p:nvSpPr>
        <p:spPr>
          <a:xfrm>
            <a:off x="486000" y="687518"/>
            <a:ext cx="8172000" cy="4079035"/>
          </a:xfrm>
        </p:spPr>
        <p:txBody>
          <a:bodyPr/>
          <a:lstStyle/>
          <a:p>
            <a:r>
              <a:rPr lang="zh-CN" altLang="en-US" dirty="0"/>
              <a:t>在协议软件中，给协议参数赋值的动作叫做协议配置</a:t>
            </a:r>
          </a:p>
          <a:p>
            <a:r>
              <a:rPr lang="zh-CN" altLang="en-US" dirty="0"/>
              <a:t>一个协议软件在使用之前必须是已正确配置的</a:t>
            </a:r>
            <a:endParaRPr lang="en-US" altLang="zh-CN" dirty="0"/>
          </a:p>
          <a:p>
            <a:r>
              <a:rPr lang="zh-CN" altLang="en-US" dirty="0"/>
              <a:t>具体的配置信息取决于协议栈</a:t>
            </a:r>
            <a:endParaRPr lang="en-US" altLang="zh-CN" dirty="0"/>
          </a:p>
          <a:p>
            <a:r>
              <a:rPr lang="zh-CN" altLang="en-US" dirty="0"/>
              <a:t>连接到互联网的计算机的协议软件需要正确配置的参数包括：</a:t>
            </a:r>
          </a:p>
          <a:p>
            <a:pPr lvl="1"/>
            <a:r>
              <a:rPr lang="en-US" altLang="zh-CN" dirty="0"/>
              <a:t>IP </a:t>
            </a:r>
            <a:r>
              <a:rPr lang="zh-CN" altLang="en-US" dirty="0"/>
              <a:t>地址</a:t>
            </a:r>
          </a:p>
          <a:p>
            <a:pPr lvl="1"/>
            <a:r>
              <a:rPr lang="zh-CN" altLang="en-US" dirty="0"/>
              <a:t>子网掩码</a:t>
            </a:r>
          </a:p>
          <a:p>
            <a:pPr lvl="1"/>
            <a:r>
              <a:rPr lang="zh-CN" altLang="en-US" dirty="0"/>
              <a:t>默认路由器的 </a:t>
            </a:r>
            <a:r>
              <a:rPr lang="en-US" altLang="zh-CN" dirty="0"/>
              <a:t>IP </a:t>
            </a:r>
            <a:r>
              <a:rPr lang="zh-CN" altLang="en-US" dirty="0"/>
              <a:t>地址</a:t>
            </a:r>
          </a:p>
          <a:p>
            <a:pPr lvl="1"/>
            <a:r>
              <a:rPr lang="zh-CN" altLang="en-US" dirty="0"/>
              <a:t>域名服务器的 </a:t>
            </a:r>
            <a:r>
              <a:rPr lang="en-US" altLang="zh-CN" dirty="0"/>
              <a:t>IP </a:t>
            </a:r>
            <a:r>
              <a:rPr lang="zh-CN" altLang="en-US" dirty="0"/>
              <a:t>地址</a:t>
            </a:r>
          </a:p>
          <a:p>
            <a:endParaRPr lang="zh-CN" altLang="en-US" dirty="0"/>
          </a:p>
        </p:txBody>
      </p:sp>
    </p:spTree>
    <p:extLst>
      <p:ext uri="{BB962C8B-B14F-4D97-AF65-F5344CB8AC3E}">
        <p14:creationId xmlns:p14="http://schemas.microsoft.com/office/powerpoint/2010/main" val="41090460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A201D2B-4944-BBD8-DE94-0DD3ECC36695}"/>
              </a:ext>
            </a:extLst>
          </p:cNvPr>
          <p:cNvSpPr>
            <a:spLocks noGrp="1"/>
          </p:cNvSpPr>
          <p:nvPr>
            <p:ph type="title"/>
          </p:nvPr>
        </p:nvSpPr>
        <p:spPr>
          <a:xfrm>
            <a:off x="485999" y="174482"/>
            <a:ext cx="8171999" cy="338554"/>
          </a:xfrm>
        </p:spPr>
        <p:txBody>
          <a:bodyPr/>
          <a:lstStyle/>
          <a:p>
            <a:r>
              <a:rPr lang="en-US" altLang="zh-CN" dirty="0"/>
              <a:t>6.6 </a:t>
            </a:r>
            <a:r>
              <a:rPr lang="zh-CN" altLang="en-US" dirty="0"/>
              <a:t>动态主机配置协议 </a:t>
            </a:r>
            <a:r>
              <a:rPr lang="en-US" altLang="zh-CN" dirty="0"/>
              <a:t>DHCP</a:t>
            </a:r>
            <a:endParaRPr lang="zh-CN" altLang="en-US" dirty="0"/>
          </a:p>
        </p:txBody>
      </p:sp>
      <p:sp>
        <p:nvSpPr>
          <p:cNvPr id="6" name="内容占位符 5">
            <a:extLst>
              <a:ext uri="{FF2B5EF4-FFF2-40B4-BE49-F238E27FC236}">
                <a16:creationId xmlns:a16="http://schemas.microsoft.com/office/drawing/2014/main" id="{1893E757-5E3D-59E2-6E09-D80065C7B853}"/>
              </a:ext>
            </a:extLst>
          </p:cNvPr>
          <p:cNvSpPr>
            <a:spLocks noGrp="1"/>
          </p:cNvSpPr>
          <p:nvPr>
            <p:ph sz="quarter" idx="11"/>
          </p:nvPr>
        </p:nvSpPr>
        <p:spPr>
          <a:xfrm>
            <a:off x="486000" y="687518"/>
            <a:ext cx="8172000" cy="4079035"/>
          </a:xfrm>
        </p:spPr>
        <p:txBody>
          <a:bodyPr/>
          <a:lstStyle/>
          <a:p>
            <a:r>
              <a:rPr lang="zh-CN" altLang="en-US" dirty="0"/>
              <a:t>动态主机配置协议 </a:t>
            </a:r>
            <a:r>
              <a:rPr lang="en-US" altLang="zh-CN" dirty="0"/>
              <a:t>DHCP</a:t>
            </a:r>
          </a:p>
          <a:p>
            <a:pPr lvl="1"/>
            <a:r>
              <a:rPr lang="en-US" altLang="zh-CN" dirty="0"/>
              <a:t>Dynamic Host Configuration Protocol</a:t>
            </a:r>
          </a:p>
          <a:p>
            <a:pPr lvl="1"/>
            <a:r>
              <a:rPr lang="zh-CN" altLang="en-US" dirty="0"/>
              <a:t>提供了即插即用连网 </a:t>
            </a:r>
            <a:r>
              <a:rPr lang="en-US" altLang="zh-CN" dirty="0"/>
              <a:t>(plug-and-play networking) </a:t>
            </a:r>
            <a:r>
              <a:rPr lang="zh-CN" altLang="en-US" dirty="0"/>
              <a:t>的机制，允许一台计算机加入网络和获取 </a:t>
            </a:r>
            <a:r>
              <a:rPr lang="en-US" altLang="zh-CN" dirty="0"/>
              <a:t>IP </a:t>
            </a:r>
            <a:r>
              <a:rPr lang="zh-CN" altLang="en-US" dirty="0"/>
              <a:t>地址，而不用手工配置</a:t>
            </a:r>
            <a:endParaRPr lang="en-US" altLang="zh-CN" dirty="0"/>
          </a:p>
          <a:p>
            <a:pPr lvl="1"/>
            <a:r>
              <a:rPr lang="zh-CN" altLang="en-US" dirty="0"/>
              <a:t>给运行服务器软件且位置固定的计算机指派一个永久地址</a:t>
            </a:r>
            <a:endParaRPr lang="en-US" altLang="zh-CN" dirty="0"/>
          </a:p>
          <a:p>
            <a:pPr lvl="1"/>
            <a:r>
              <a:rPr lang="zh-CN" altLang="en-US" dirty="0"/>
              <a:t>给运行客户端软件的计算机分配一个临时地址</a:t>
            </a:r>
          </a:p>
          <a:p>
            <a:endParaRPr lang="zh-CN" altLang="en-US" dirty="0"/>
          </a:p>
        </p:txBody>
      </p:sp>
    </p:spTree>
    <p:extLst>
      <p:ext uri="{BB962C8B-B14F-4D97-AF65-F5344CB8AC3E}">
        <p14:creationId xmlns:p14="http://schemas.microsoft.com/office/powerpoint/2010/main" val="23075215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58BD16E-1F11-2EDD-A0E8-2D3A620BCF88}"/>
              </a:ext>
            </a:extLst>
          </p:cNvPr>
          <p:cNvSpPr>
            <a:spLocks noGrp="1"/>
          </p:cNvSpPr>
          <p:nvPr>
            <p:ph type="title"/>
          </p:nvPr>
        </p:nvSpPr>
        <p:spPr>
          <a:xfrm>
            <a:off x="485999" y="174482"/>
            <a:ext cx="8171999" cy="338554"/>
          </a:xfrm>
        </p:spPr>
        <p:txBody>
          <a:bodyPr/>
          <a:lstStyle/>
          <a:p>
            <a:r>
              <a:rPr lang="en-US" altLang="zh-CN" dirty="0"/>
              <a:t>DHCP </a:t>
            </a:r>
            <a:r>
              <a:rPr lang="zh-CN" altLang="en-US" dirty="0"/>
              <a:t>使用客户服务器方式</a:t>
            </a:r>
          </a:p>
        </p:txBody>
      </p:sp>
      <p:sp>
        <p:nvSpPr>
          <p:cNvPr id="6" name="内容占位符 5">
            <a:extLst>
              <a:ext uri="{FF2B5EF4-FFF2-40B4-BE49-F238E27FC236}">
                <a16:creationId xmlns:a16="http://schemas.microsoft.com/office/drawing/2014/main" id="{75DD4FFF-D70B-83AF-D214-A5D44E2F388A}"/>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地址的主机在启动时就向 </a:t>
            </a:r>
            <a:r>
              <a:rPr lang="en-US" altLang="zh-CN" dirty="0"/>
              <a:t>DHCP </a:t>
            </a:r>
            <a:r>
              <a:rPr lang="zh-CN" altLang="en-US" dirty="0"/>
              <a:t>服务器广播发送发现报文</a:t>
            </a:r>
            <a:r>
              <a:rPr lang="en-US" altLang="zh-CN" dirty="0"/>
              <a:t>DHCP DISCOVER</a:t>
            </a:r>
          </a:p>
          <a:p>
            <a:r>
              <a:rPr lang="zh-CN" altLang="en-US" dirty="0"/>
              <a:t>该主机就成为 </a:t>
            </a:r>
            <a:r>
              <a:rPr lang="en-US" altLang="zh-CN" dirty="0"/>
              <a:t>DHCP </a:t>
            </a:r>
            <a:r>
              <a:rPr lang="zh-CN" altLang="en-US" dirty="0"/>
              <a:t>客户</a:t>
            </a:r>
          </a:p>
          <a:p>
            <a:r>
              <a:rPr lang="zh-CN" altLang="en-US" dirty="0"/>
              <a:t>本地网络上所有主机都能收到此广播报文</a:t>
            </a:r>
            <a:endParaRPr lang="en-US" altLang="zh-CN" dirty="0"/>
          </a:p>
          <a:p>
            <a:r>
              <a:rPr lang="zh-CN" altLang="en-US" dirty="0"/>
              <a:t>只有 </a:t>
            </a:r>
            <a:r>
              <a:rPr lang="en-US" altLang="zh-CN" dirty="0"/>
              <a:t>DHCP </a:t>
            </a:r>
            <a:r>
              <a:rPr lang="zh-CN" altLang="en-US" dirty="0"/>
              <a:t>服务器回答此广播报文</a:t>
            </a:r>
          </a:p>
          <a:p>
            <a:r>
              <a:rPr lang="en-US" altLang="zh-CN" dirty="0"/>
              <a:t>DHCP </a:t>
            </a:r>
            <a:r>
              <a:rPr lang="zh-CN" altLang="en-US" dirty="0"/>
              <a:t>服务器先在其数据库中查找该计算机的配置信息</a:t>
            </a:r>
            <a:endParaRPr lang="en-US" altLang="zh-CN" dirty="0"/>
          </a:p>
          <a:p>
            <a:r>
              <a:rPr lang="zh-CN" altLang="en-US" dirty="0"/>
              <a:t>若找到，则返回找到的信息</a:t>
            </a:r>
            <a:endParaRPr lang="en-US" altLang="zh-CN" dirty="0"/>
          </a:p>
          <a:p>
            <a:r>
              <a:rPr lang="zh-CN" altLang="en-US" dirty="0"/>
              <a:t>若找不到，则从服务器的 </a:t>
            </a:r>
            <a:r>
              <a:rPr lang="en-US" altLang="zh-CN" dirty="0"/>
              <a:t>IP </a:t>
            </a:r>
            <a:r>
              <a:rPr lang="zh-CN" altLang="en-US" dirty="0"/>
              <a:t>地址池 </a:t>
            </a:r>
            <a:r>
              <a:rPr lang="en-US" altLang="zh-CN" dirty="0"/>
              <a:t>address pool </a:t>
            </a:r>
            <a:r>
              <a:rPr lang="zh-CN" altLang="en-US" dirty="0"/>
              <a:t>中取一个地址分配给该计算机</a:t>
            </a:r>
            <a:endParaRPr lang="en-US" altLang="zh-CN" dirty="0"/>
          </a:p>
          <a:p>
            <a:r>
              <a:rPr lang="en-US" altLang="zh-CN" dirty="0"/>
              <a:t>DHCP</a:t>
            </a:r>
            <a:r>
              <a:rPr lang="zh-CN" altLang="en-US" dirty="0"/>
              <a:t>服务器的回答报文叫做提供报文 </a:t>
            </a:r>
            <a:r>
              <a:rPr lang="en-US" altLang="zh-CN" dirty="0"/>
              <a:t>DHCP OFFER</a:t>
            </a:r>
            <a:endParaRPr lang="zh-CN" altLang="en-US" dirty="0"/>
          </a:p>
        </p:txBody>
      </p:sp>
    </p:spTree>
    <p:extLst>
      <p:ext uri="{BB962C8B-B14F-4D97-AF65-F5344CB8AC3E}">
        <p14:creationId xmlns:p14="http://schemas.microsoft.com/office/powerpoint/2010/main" val="3459514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3AAA6FE-F921-8342-875B-8207A383D7E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6" name="内容占位符 5">
            <a:extLst>
              <a:ext uri="{FF2B5EF4-FFF2-40B4-BE49-F238E27FC236}">
                <a16:creationId xmlns:a16="http://schemas.microsoft.com/office/drawing/2014/main" id="{3B0E77A6-665D-1A74-C3B1-7F714DC41959}"/>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使用客户服务器 </a:t>
            </a:r>
            <a:r>
              <a:rPr lang="en-US" altLang="zh-CN" dirty="0"/>
              <a:t>C/S </a:t>
            </a:r>
            <a:r>
              <a:rPr lang="zh-CN" altLang="en-US" dirty="0"/>
              <a:t>方式，采用请求</a:t>
            </a:r>
            <a:r>
              <a:rPr lang="en-US" altLang="zh-CN" dirty="0"/>
              <a:t>/</a:t>
            </a:r>
            <a:r>
              <a:rPr lang="zh-CN" altLang="en-US" dirty="0"/>
              <a:t>应答方式工作</a:t>
            </a:r>
          </a:p>
          <a:p>
            <a:r>
              <a:rPr lang="en-US" altLang="zh-CN" dirty="0"/>
              <a:t>DHCP </a:t>
            </a:r>
            <a:r>
              <a:rPr lang="zh-CN" altLang="en-US" dirty="0"/>
              <a:t>基于 </a:t>
            </a:r>
            <a:r>
              <a:rPr lang="en-US" altLang="zh-CN" dirty="0"/>
              <a:t>UDP </a:t>
            </a:r>
            <a:r>
              <a:rPr lang="zh-CN" altLang="en-US" dirty="0"/>
              <a:t>工作</a:t>
            </a:r>
            <a:endParaRPr lang="en-US" altLang="zh-CN" dirty="0"/>
          </a:p>
          <a:p>
            <a:pPr lvl="1"/>
            <a:r>
              <a:rPr lang="en-US" altLang="zh-CN" dirty="0"/>
              <a:t>DHCP </a:t>
            </a:r>
            <a:r>
              <a:rPr lang="zh-CN" altLang="en-US" dirty="0"/>
              <a:t>服务器运行在 </a:t>
            </a:r>
            <a:r>
              <a:rPr lang="en-US" altLang="zh-CN" dirty="0"/>
              <a:t>67 </a:t>
            </a:r>
            <a:r>
              <a:rPr lang="zh-CN" altLang="en-US" dirty="0"/>
              <a:t>号端口</a:t>
            </a:r>
            <a:endParaRPr lang="en-US" altLang="zh-CN" dirty="0"/>
          </a:p>
          <a:p>
            <a:pPr lvl="1"/>
            <a:r>
              <a:rPr lang="en-US" altLang="zh-CN" dirty="0"/>
              <a:t>DHCP</a:t>
            </a:r>
            <a:r>
              <a:rPr lang="zh-CN" altLang="en-US" dirty="0"/>
              <a:t>客户运行在 </a:t>
            </a:r>
            <a:r>
              <a:rPr lang="en-US" altLang="zh-CN" dirty="0"/>
              <a:t>68 </a:t>
            </a:r>
            <a:r>
              <a:rPr lang="zh-CN" altLang="en-US" dirty="0"/>
              <a:t>号端口</a:t>
            </a:r>
          </a:p>
          <a:p>
            <a:endParaRPr lang="zh-CN" altLang="en-US" dirty="0"/>
          </a:p>
        </p:txBody>
      </p:sp>
      <p:sp>
        <p:nvSpPr>
          <p:cNvPr id="8" name="矩形 7"/>
          <p:cNvSpPr/>
          <p:nvPr/>
        </p:nvSpPr>
        <p:spPr>
          <a:xfrm>
            <a:off x="2050228" y="2770852"/>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9" name="矩形 8"/>
          <p:cNvSpPr/>
          <p:nvPr/>
        </p:nvSpPr>
        <p:spPr>
          <a:xfrm>
            <a:off x="5970583" y="2770852"/>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1" name="矩形 10"/>
          <p:cNvSpPr/>
          <p:nvPr/>
        </p:nvSpPr>
        <p:spPr>
          <a:xfrm>
            <a:off x="5550173" y="2796750"/>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2" name="矩形 11"/>
          <p:cNvSpPr/>
          <p:nvPr/>
        </p:nvSpPr>
        <p:spPr>
          <a:xfrm>
            <a:off x="2050228" y="3301476"/>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3" name="矩形 12"/>
          <p:cNvSpPr/>
          <p:nvPr/>
        </p:nvSpPr>
        <p:spPr>
          <a:xfrm>
            <a:off x="5970583" y="3301476"/>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4" name="矩形 13"/>
          <p:cNvSpPr/>
          <p:nvPr/>
        </p:nvSpPr>
        <p:spPr>
          <a:xfrm>
            <a:off x="5550173" y="3327374"/>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5" name="矩形 14"/>
          <p:cNvSpPr/>
          <p:nvPr/>
        </p:nvSpPr>
        <p:spPr>
          <a:xfrm>
            <a:off x="3044671" y="3327374"/>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6" name="矩形 15"/>
          <p:cNvSpPr/>
          <p:nvPr/>
        </p:nvSpPr>
        <p:spPr>
          <a:xfrm>
            <a:off x="2050228" y="3837505"/>
            <a:ext cx="998486" cy="261610"/>
          </a:xfrm>
          <a:prstGeom prst="rect">
            <a:avLst/>
          </a:prstGeom>
          <a:noFill/>
          <a:ln w="9525">
            <a:solidFill>
              <a:schemeClr val="tx1"/>
            </a:solidFill>
          </a:ln>
          <a:effectLst/>
        </p:spPr>
        <p:style>
          <a:lnRef idx="1">
            <a:schemeClr val="accent3"/>
          </a:lnRef>
          <a:fillRef idx="2">
            <a:schemeClr val="accent3"/>
          </a:fillRef>
          <a:effectRef idx="1">
            <a:schemeClr val="accent3"/>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7" name="矩形 16"/>
          <p:cNvSpPr/>
          <p:nvPr/>
        </p:nvSpPr>
        <p:spPr>
          <a:xfrm>
            <a:off x="5970583" y="3837505"/>
            <a:ext cx="998486" cy="261610"/>
          </a:xfrm>
          <a:prstGeom prst="rect">
            <a:avLst/>
          </a:prstGeom>
          <a:noFill/>
          <a:ln w="9525">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ysClr val="windowText" lastClr="000000"/>
                </a:solidFill>
                <a:latin typeface="Montserrat" panose="00000500000000000000" pitchFamily="2" charset="0"/>
                <a:ea typeface="微软雅黑 Light" panose="020B0502040204020203" pitchFamily="34" charset="-122"/>
              </a:rPr>
              <a:t>DHCP </a:t>
            </a:r>
            <a:r>
              <a:rPr lang="zh-CN" altLang="en-US" sz="1100" dirty="0">
                <a:solidFill>
                  <a:sysClr val="windowText" lastClr="000000"/>
                </a:solidFill>
                <a:latin typeface="Montserrat" panose="00000500000000000000" pitchFamily="2" charset="0"/>
                <a:ea typeface="微软雅黑 Light" panose="020B0502040204020203" pitchFamily="34" charset="-122"/>
              </a:rPr>
              <a:t>客户</a:t>
            </a:r>
          </a:p>
        </p:txBody>
      </p:sp>
      <p:sp>
        <p:nvSpPr>
          <p:cNvPr id="18" name="矩形 17"/>
          <p:cNvSpPr/>
          <p:nvPr/>
        </p:nvSpPr>
        <p:spPr>
          <a:xfrm>
            <a:off x="5550173" y="3863403"/>
            <a:ext cx="420410" cy="230832"/>
          </a:xfrm>
          <a:prstGeom prst="rect">
            <a:avLst/>
          </a:prstGeom>
          <a:solidFill>
            <a:srgbClr val="00CCFF"/>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67</a:t>
            </a:r>
            <a:endParaRPr lang="zh-CN" altLang="en-US" sz="900" dirty="0">
              <a:solidFill>
                <a:schemeClr val="tx1"/>
              </a:solidFill>
              <a:latin typeface="Montserrat" panose="00000500000000000000" pitchFamily="2" charset="0"/>
              <a:ea typeface="微软雅黑 Light" panose="020B0502040204020203" pitchFamily="34" charset="-122"/>
            </a:endParaRPr>
          </a:p>
        </p:txBody>
      </p:sp>
      <p:sp>
        <p:nvSpPr>
          <p:cNvPr id="19" name="矩形 18"/>
          <p:cNvSpPr/>
          <p:nvPr/>
        </p:nvSpPr>
        <p:spPr>
          <a:xfrm>
            <a:off x="3044671" y="3863403"/>
            <a:ext cx="420410" cy="230832"/>
          </a:xfrm>
          <a:prstGeom prst="rect">
            <a:avLst/>
          </a:prstGeom>
          <a:solidFill>
            <a:srgbClr val="66FF66"/>
          </a:solidFill>
          <a:ln>
            <a:solidFill>
              <a:schemeClr val="tx1"/>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900" dirty="0">
                <a:solidFill>
                  <a:schemeClr val="tx1"/>
                </a:solidFill>
                <a:latin typeface="Montserrat" panose="00000500000000000000" pitchFamily="2" charset="0"/>
                <a:ea typeface="微软雅黑 Light" panose="020B0502040204020203" pitchFamily="34" charset="-122"/>
              </a:rPr>
              <a:t>68</a:t>
            </a:r>
            <a:endParaRPr lang="zh-CN" altLang="en-US" sz="900" dirty="0">
              <a:solidFill>
                <a:schemeClr val="tx1"/>
              </a:solidFill>
              <a:latin typeface="Montserrat" panose="00000500000000000000" pitchFamily="2" charset="0"/>
              <a:ea typeface="微软雅黑 Light" panose="020B0502040204020203" pitchFamily="34" charset="-122"/>
            </a:endParaRPr>
          </a:p>
        </p:txBody>
      </p:sp>
      <p:cxnSp>
        <p:nvCxnSpPr>
          <p:cNvPr id="21" name="直接箭头连接符 20"/>
          <p:cNvCxnSpPr>
            <a:stCxn id="15" idx="3"/>
            <a:endCxn id="14" idx="1"/>
          </p:cNvCxnSpPr>
          <p:nvPr/>
        </p:nvCxnSpPr>
        <p:spPr>
          <a:xfrm>
            <a:off x="3465081" y="3442790"/>
            <a:ext cx="2085092" cy="0"/>
          </a:xfrm>
          <a:prstGeom prst="straightConnector1">
            <a:avLst/>
          </a:prstGeom>
          <a:ln w="28575">
            <a:solidFill>
              <a:srgbClr val="0000FF"/>
            </a:solidFill>
            <a:tailEnd type="triangle" w="med" len="lg"/>
          </a:ln>
        </p:spPr>
        <p:style>
          <a:lnRef idx="1">
            <a:schemeClr val="accent1"/>
          </a:lnRef>
          <a:fillRef idx="0">
            <a:schemeClr val="accent1"/>
          </a:fillRef>
          <a:effectRef idx="0">
            <a:schemeClr val="accent1"/>
          </a:effectRef>
          <a:fontRef idx="minor">
            <a:schemeClr val="tx1"/>
          </a:fontRef>
        </p:style>
      </p:cxnSp>
      <p:sp>
        <p:nvSpPr>
          <p:cNvPr id="23" name="矩形 22"/>
          <p:cNvSpPr/>
          <p:nvPr/>
        </p:nvSpPr>
        <p:spPr>
          <a:xfrm>
            <a:off x="3980088" y="3306731"/>
            <a:ext cx="1032035" cy="261610"/>
          </a:xfrm>
          <a:prstGeom prst="rect">
            <a:avLst/>
          </a:prstGeom>
          <a:solidFill>
            <a:srgbClr val="00FF99"/>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REQ</a:t>
            </a:r>
            <a:endParaRPr lang="zh-CN" altLang="en-US" sz="1100" dirty="0">
              <a:solidFill>
                <a:schemeClr val="tx1"/>
              </a:solidFill>
              <a:latin typeface="Montserrat" panose="00000500000000000000" pitchFamily="2" charset="0"/>
              <a:ea typeface="微软雅黑 Light" panose="020B0502040204020203" pitchFamily="34" charset="-122"/>
            </a:endParaRPr>
          </a:p>
        </p:txBody>
      </p:sp>
      <p:cxnSp>
        <p:nvCxnSpPr>
          <p:cNvPr id="24" name="直接箭头连接符 23"/>
          <p:cNvCxnSpPr>
            <a:stCxn id="18" idx="1"/>
            <a:endCxn id="19" idx="3"/>
          </p:cNvCxnSpPr>
          <p:nvPr/>
        </p:nvCxnSpPr>
        <p:spPr>
          <a:xfrm flipH="1">
            <a:off x="3465081" y="3978819"/>
            <a:ext cx="2085092" cy="0"/>
          </a:xfrm>
          <a:prstGeom prst="straightConnector1">
            <a:avLst/>
          </a:prstGeom>
          <a:ln w="28575">
            <a:solidFill>
              <a:srgbClr val="CC00CC"/>
            </a:solidFill>
            <a:tailEnd type="triangle" w="med" len="lg"/>
          </a:ln>
        </p:spPr>
        <p:style>
          <a:lnRef idx="1">
            <a:schemeClr val="accent1"/>
          </a:lnRef>
          <a:fillRef idx="0">
            <a:schemeClr val="accent1"/>
          </a:fillRef>
          <a:effectRef idx="0">
            <a:schemeClr val="accent1"/>
          </a:effectRef>
          <a:fontRef idx="minor">
            <a:schemeClr val="tx1"/>
          </a:fontRef>
        </p:style>
      </p:cxnSp>
      <p:sp>
        <p:nvSpPr>
          <p:cNvPr id="25" name="矩形 24"/>
          <p:cNvSpPr/>
          <p:nvPr/>
        </p:nvSpPr>
        <p:spPr>
          <a:xfrm flipH="1">
            <a:off x="3980088" y="3842760"/>
            <a:ext cx="1032035" cy="261610"/>
          </a:xfrm>
          <a:prstGeom prst="rect">
            <a:avLst/>
          </a:prstGeom>
          <a:solidFill>
            <a:srgbClr val="66FFFF"/>
          </a:solidFill>
          <a:ln/>
          <a:effectLst/>
        </p:spPr>
        <p:style>
          <a:lnRef idx="1">
            <a:schemeClr val="accent5"/>
          </a:lnRef>
          <a:fillRef idx="2">
            <a:schemeClr val="accent5"/>
          </a:fillRef>
          <a:effectRef idx="1">
            <a:schemeClr val="accent5"/>
          </a:effectRef>
          <a:fontRef idx="minor">
            <a:schemeClr val="dk1"/>
          </a:fontRef>
        </p:style>
        <p:txBody>
          <a:bodyPr rtlCol="0" anchor="ctr">
            <a:spAutoFit/>
          </a:bodyPr>
          <a:lstStyle/>
          <a:p>
            <a:pPr algn="ctr"/>
            <a:r>
              <a:rPr lang="en-US" altLang="zh-CN" sz="1100" dirty="0">
                <a:solidFill>
                  <a:schemeClr val="tx1"/>
                </a:solidFill>
                <a:latin typeface="Montserrat" panose="00000500000000000000" pitchFamily="2" charset="0"/>
                <a:ea typeface="微软雅黑 Light" panose="020B0502040204020203" pitchFamily="34" charset="-122"/>
              </a:rPr>
              <a:t>RES</a:t>
            </a:r>
            <a:endParaRPr lang="zh-CN" altLang="en-US" sz="1100" dirty="0">
              <a:solidFill>
                <a:schemeClr val="tx1"/>
              </a:solidFill>
              <a:latin typeface="Montserrat" panose="00000500000000000000" pitchFamily="2" charset="0"/>
              <a:ea typeface="微软雅黑 Light" panose="020B0502040204020203" pitchFamily="34" charset="-122"/>
            </a:endParaRPr>
          </a:p>
        </p:txBody>
      </p:sp>
      <p:sp>
        <p:nvSpPr>
          <p:cNvPr id="30" name="矩形 29"/>
          <p:cNvSpPr/>
          <p:nvPr/>
        </p:nvSpPr>
        <p:spPr>
          <a:xfrm>
            <a:off x="5379045" y="2554149"/>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被动打开</a:t>
            </a:r>
          </a:p>
        </p:txBody>
      </p:sp>
      <p:sp>
        <p:nvSpPr>
          <p:cNvPr id="31" name="矩形 30"/>
          <p:cNvSpPr/>
          <p:nvPr/>
        </p:nvSpPr>
        <p:spPr>
          <a:xfrm>
            <a:off x="5410824" y="2977168"/>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
        <p:nvSpPr>
          <p:cNvPr id="32" name="矩形 31"/>
          <p:cNvSpPr/>
          <p:nvPr/>
        </p:nvSpPr>
        <p:spPr>
          <a:xfrm>
            <a:off x="2905037" y="3092030"/>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zh-CN" altLang="en-US" sz="1000" dirty="0">
                <a:latin typeface="Montserrat" panose="00000500000000000000" pitchFamily="2" charset="0"/>
                <a:ea typeface="微软雅黑 Light" panose="020B0502040204020203" pitchFamily="34" charset="-122"/>
              </a:rPr>
              <a:t>主动打开</a:t>
            </a:r>
          </a:p>
        </p:txBody>
      </p:sp>
      <p:sp>
        <p:nvSpPr>
          <p:cNvPr id="33" name="矩形 32"/>
          <p:cNvSpPr/>
          <p:nvPr/>
        </p:nvSpPr>
        <p:spPr>
          <a:xfrm>
            <a:off x="2908041" y="3519053"/>
            <a:ext cx="748923" cy="246221"/>
          </a:xfrm>
          <a:prstGeom prst="rect">
            <a:avLst/>
          </a:prstGeom>
          <a:noFill/>
          <a:ln>
            <a:noFill/>
          </a:ln>
          <a:effectLst/>
        </p:spPr>
        <p:style>
          <a:lnRef idx="1">
            <a:schemeClr val="accent5"/>
          </a:lnRef>
          <a:fillRef idx="2">
            <a:schemeClr val="accent5"/>
          </a:fillRef>
          <a:effectRef idx="1">
            <a:schemeClr val="accent5"/>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US" altLang="zh-CN" sz="1000" dirty="0">
                <a:latin typeface="Montserrat" panose="00000500000000000000" pitchFamily="2" charset="0"/>
                <a:ea typeface="微软雅黑 Light" panose="020B0502040204020203" pitchFamily="34" charset="-122"/>
              </a:rPr>
              <a:t>UDP</a:t>
            </a:r>
            <a:endParaRPr lang="zh-CN" altLang="en-US" sz="10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7411663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F566039-915E-DCD7-ADC7-0A5A536D46A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8" name="内容占位符 7">
            <a:extLst>
              <a:ext uri="{FF2B5EF4-FFF2-40B4-BE49-F238E27FC236}">
                <a16:creationId xmlns:a16="http://schemas.microsoft.com/office/drawing/2014/main" id="{880B68C6-2121-787E-9E2C-4A384ED2835F}"/>
              </a:ext>
            </a:extLst>
          </p:cNvPr>
          <p:cNvSpPr>
            <a:spLocks noGrp="1"/>
          </p:cNvSpPr>
          <p:nvPr>
            <p:ph sz="quarter" idx="11"/>
          </p:nvPr>
        </p:nvSpPr>
        <p:spPr>
          <a:xfrm>
            <a:off x="486000" y="687518"/>
            <a:ext cx="8172000" cy="4079035"/>
          </a:xfrm>
        </p:spPr>
        <p:txBody>
          <a:bodyPr/>
          <a:lstStyle/>
          <a:p>
            <a:r>
              <a:rPr lang="zh-CN" altLang="en-US" dirty="0"/>
              <a:t>需要 </a:t>
            </a:r>
            <a:r>
              <a:rPr lang="en-US" altLang="zh-CN" dirty="0"/>
              <a:t>IP </a:t>
            </a:r>
            <a:r>
              <a:rPr lang="zh-CN" altLang="en-US" dirty="0"/>
              <a:t>地址的主机向 </a:t>
            </a:r>
            <a:r>
              <a:rPr lang="en-US" altLang="zh-CN" dirty="0"/>
              <a:t>DHCP </a:t>
            </a:r>
            <a:r>
              <a:rPr lang="zh-CN" altLang="en-US" dirty="0"/>
              <a:t>服务器广播发送发现报文 </a:t>
            </a:r>
            <a:r>
              <a:rPr lang="en-US" altLang="zh-CN" dirty="0"/>
              <a:t>DHCP DISCOVER </a:t>
            </a:r>
            <a:endParaRPr lang="zh-CN" altLang="en-US" dirty="0"/>
          </a:p>
          <a:p>
            <a:endParaRPr lang="zh-CN" altLang="en-US" dirty="0"/>
          </a:p>
        </p:txBody>
      </p:sp>
      <p:grpSp>
        <p:nvGrpSpPr>
          <p:cNvPr id="6" name="组合 5">
            <a:extLst>
              <a:ext uri="{FF2B5EF4-FFF2-40B4-BE49-F238E27FC236}">
                <a16:creationId xmlns:a16="http://schemas.microsoft.com/office/drawing/2014/main" id="{0FC0C875-78DA-5EAE-C93A-638D1F297A4E}"/>
              </a:ext>
            </a:extLst>
          </p:cNvPr>
          <p:cNvGrpSpPr/>
          <p:nvPr/>
        </p:nvGrpSpPr>
        <p:grpSpPr>
          <a:xfrm>
            <a:off x="872193" y="2131929"/>
            <a:ext cx="7399615" cy="2224755"/>
            <a:chOff x="819222" y="1203018"/>
            <a:chExt cx="7399615" cy="2224755"/>
          </a:xfrm>
        </p:grpSpPr>
        <p:sp>
          <p:nvSpPr>
            <p:cNvPr id="22" name="弧形 21"/>
            <p:cNvSpPr/>
            <p:nvPr/>
          </p:nvSpPr>
          <p:spPr>
            <a:xfrm>
              <a:off x="3766248"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0" name="弧形 99"/>
            <p:cNvSpPr/>
            <p:nvPr/>
          </p:nvSpPr>
          <p:spPr>
            <a:xfrm>
              <a:off x="4613181"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sp>
          <p:nvSpPr>
            <p:cNvPr id="101" name="弧形 100"/>
            <p:cNvSpPr/>
            <p:nvPr/>
          </p:nvSpPr>
          <p:spPr>
            <a:xfrm>
              <a:off x="5430600" y="1942283"/>
              <a:ext cx="1066208" cy="941014"/>
            </a:xfrm>
            <a:prstGeom prst="arc">
              <a:avLst>
                <a:gd name="adj1" fmla="val 16200000"/>
                <a:gd name="adj2" fmla="val 21266938"/>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b="1" dirty="0">
                <a:latin typeface="Montserrat" panose="00000500000000000000" pitchFamily="2" charset="0"/>
                <a:ea typeface="微软雅黑 Light" panose="020B0502040204020203" pitchFamily="34" charset="-122"/>
              </a:endParaRPr>
            </a:p>
          </p:txBody>
        </p:sp>
        <p:cxnSp>
          <p:nvCxnSpPr>
            <p:cNvPr id="7" name="直接箭头连接符 6"/>
            <p:cNvCxnSpPr>
              <a:cxnSpLocks/>
            </p:cNvCxnSpPr>
            <p:nvPr/>
          </p:nvCxnSpPr>
          <p:spPr>
            <a:xfrm>
              <a:off x="1690236" y="1942283"/>
              <a:ext cx="5619324" cy="0"/>
            </a:xfrm>
            <a:prstGeom prst="straightConnector1">
              <a:avLst/>
            </a:prstGeom>
            <a:ln w="28575">
              <a:solidFill>
                <a:srgbClr val="CC00CC"/>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2428999" y="1480618"/>
              <a:ext cx="1930337" cy="461665"/>
            </a:xfrm>
            <a:prstGeom prst="rect">
              <a:avLst/>
            </a:prstGeom>
            <a:noFill/>
            <a:ln w="9525">
              <a:noFill/>
              <a:miter lim="800000"/>
              <a:headEnd/>
              <a:tailEnd/>
            </a:ln>
            <a:effectLst/>
          </p:spPr>
          <p:txBody>
            <a:bodyPr wrap="none" anchor="ctr">
              <a:spAutoFit/>
            </a:bodyPr>
            <a:lstStyle/>
            <a:p>
              <a:pPr algn="just"/>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DHCP DISCOVER </a:t>
              </a:r>
            </a:p>
            <a:p>
              <a:pPr algn="just"/>
              <a:r>
                <a:rPr kumimoji="1" lang="zh-CN" altLang="en-US" sz="1200" b="1" dirty="0">
                  <a:solidFill>
                    <a:sysClr val="windowText" lastClr="000000"/>
                  </a:solidFill>
                  <a:latin typeface="微软雅黑 Light" panose="020B0502040204020203" pitchFamily="34" charset="-122"/>
                  <a:ea typeface="微软雅黑 Light" panose="020B0502040204020203" pitchFamily="34" charset="-122"/>
                </a:rPr>
                <a:t>发送到：</a:t>
              </a:r>
              <a:r>
                <a:rPr kumimoji="1" lang="en-US" altLang="zh-CN" sz="1200" b="1" dirty="0">
                  <a:solidFill>
                    <a:sysClr val="windowText" lastClr="000000"/>
                  </a:solidFill>
                  <a:latin typeface="微软雅黑 Light" panose="020B0502040204020203" pitchFamily="34" charset="-122"/>
                  <a:ea typeface="微软雅黑 Light" panose="020B0502040204020203" pitchFamily="34" charset="-122"/>
                </a:rPr>
                <a:t>255.255.255.255</a:t>
              </a:r>
            </a:p>
          </p:txBody>
        </p:sp>
        <p:sp>
          <p:nvSpPr>
            <p:cNvPr id="35" name="Line 5"/>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8"/>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38" name="Text Box 9"/>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51" name="Line 22"/>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Line 23"/>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Text Box 34"/>
            <p:cNvSpPr txBox="1">
              <a:spLocks noChangeArrowheads="1"/>
            </p:cNvSpPr>
            <p:nvPr/>
          </p:nvSpPr>
          <p:spPr bwMode="auto">
            <a:xfrm>
              <a:off x="5339174" y="1622278"/>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广播</a:t>
              </a:r>
            </a:p>
          </p:txBody>
        </p:sp>
        <p:pic>
          <p:nvPicPr>
            <p:cNvPr id="6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71" name="Line 24"/>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Line 5"/>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Line 5"/>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76" name="Group 50"/>
            <p:cNvGrpSpPr>
              <a:grpSpLocks noChangeAspect="1"/>
            </p:cNvGrpSpPr>
            <p:nvPr/>
          </p:nvGrpSpPr>
          <p:grpSpPr bwMode="auto">
            <a:xfrm>
              <a:off x="5545250" y="2693555"/>
              <a:ext cx="478479" cy="734218"/>
              <a:chOff x="3104" y="1028"/>
              <a:chExt cx="406" cy="623"/>
            </a:xfrm>
          </p:grpSpPr>
          <p:sp>
            <p:nvSpPr>
              <p:cNvPr id="77"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8"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79"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0"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1"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2"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3"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4"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85"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88" name="Group 50"/>
            <p:cNvGrpSpPr>
              <a:grpSpLocks noChangeAspect="1"/>
            </p:cNvGrpSpPr>
            <p:nvPr/>
          </p:nvGrpSpPr>
          <p:grpSpPr bwMode="auto">
            <a:xfrm>
              <a:off x="6388810" y="2693555"/>
              <a:ext cx="478479" cy="734218"/>
              <a:chOff x="3104" y="1028"/>
              <a:chExt cx="406" cy="623"/>
            </a:xfrm>
          </p:grpSpPr>
          <p:sp>
            <p:nvSpPr>
              <p:cNvPr id="89" name="AutoShape 51"/>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90" name="Freeform 52"/>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1" name="Rectangle 53"/>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2" name="Freeform 54"/>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3" name="Freeform 55"/>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4" name="Rectangle 56"/>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5" name="Rectangle 57"/>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6" name="Rectangle 58"/>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7" name="Rectangle 59"/>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70"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67" name="图片 6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33072344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260E287-EC43-DA56-DCF2-A467FFB5E58B}"/>
              </a:ext>
            </a:extLst>
          </p:cNvPr>
          <p:cNvSpPr>
            <a:spLocks noGrp="1"/>
          </p:cNvSpPr>
          <p:nvPr>
            <p:ph type="title"/>
          </p:nvPr>
        </p:nvSpPr>
        <p:spPr>
          <a:xfrm>
            <a:off x="485999" y="174482"/>
            <a:ext cx="8171999" cy="338554"/>
          </a:xfrm>
        </p:spPr>
        <p:txBody>
          <a:bodyPr/>
          <a:lstStyle/>
          <a:p>
            <a:r>
              <a:rPr lang="en-US" altLang="zh-CN" dirty="0"/>
              <a:t>DHCP </a:t>
            </a:r>
            <a:r>
              <a:rPr lang="zh-CN" altLang="en-US" dirty="0"/>
              <a:t>工作方式</a:t>
            </a:r>
          </a:p>
        </p:txBody>
      </p:sp>
      <p:sp>
        <p:nvSpPr>
          <p:cNvPr id="150" name="内容占位符 149">
            <a:extLst>
              <a:ext uri="{FF2B5EF4-FFF2-40B4-BE49-F238E27FC236}">
                <a16:creationId xmlns:a16="http://schemas.microsoft.com/office/drawing/2014/main" id="{E1900CCD-0AAD-979B-726C-8B906CB1B03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服务器单播回答提供报文 </a:t>
            </a:r>
            <a:r>
              <a:rPr lang="en-US" altLang="zh-CN" dirty="0"/>
              <a:t>DHCP OFFER</a:t>
            </a:r>
            <a:r>
              <a:rPr lang="zh-CN" altLang="en-US" dirty="0"/>
              <a:t>，提供 </a:t>
            </a:r>
            <a:r>
              <a:rPr lang="en-US" altLang="zh-CN" dirty="0"/>
              <a:t>IP </a:t>
            </a:r>
            <a:r>
              <a:rPr lang="zh-CN" altLang="en-US" dirty="0"/>
              <a:t>地址等配置信息</a:t>
            </a:r>
          </a:p>
          <a:p>
            <a:endParaRPr lang="zh-CN" altLang="en-US" dirty="0"/>
          </a:p>
        </p:txBody>
      </p:sp>
      <p:grpSp>
        <p:nvGrpSpPr>
          <p:cNvPr id="111" name="组合 110">
            <a:extLst>
              <a:ext uri="{FF2B5EF4-FFF2-40B4-BE49-F238E27FC236}">
                <a16:creationId xmlns:a16="http://schemas.microsoft.com/office/drawing/2014/main" id="{E5A15E4C-AC4F-B1AF-3736-AF5FE79BBD66}"/>
              </a:ext>
            </a:extLst>
          </p:cNvPr>
          <p:cNvGrpSpPr/>
          <p:nvPr/>
        </p:nvGrpSpPr>
        <p:grpSpPr>
          <a:xfrm>
            <a:off x="872193" y="2040197"/>
            <a:ext cx="7399615" cy="2316487"/>
            <a:chOff x="819222" y="1111286"/>
            <a:chExt cx="7399615" cy="2316487"/>
          </a:xfrm>
        </p:grpSpPr>
        <p:cxnSp>
          <p:nvCxnSpPr>
            <p:cNvPr id="7" name="直接箭头连接符 6"/>
            <p:cNvCxnSpPr>
              <a:cxnSpLocks/>
            </p:cNvCxnSpPr>
            <p:nvPr/>
          </p:nvCxnSpPr>
          <p:spPr>
            <a:xfrm>
              <a:off x="1910946" y="1942283"/>
              <a:ext cx="5398614" cy="0"/>
            </a:xfrm>
            <a:prstGeom prst="straightConnector1">
              <a:avLst/>
            </a:prstGeom>
            <a:ln w="28575">
              <a:solidFill>
                <a:srgbClr val="CC00CC"/>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0" name="Rectangle 33"/>
            <p:cNvSpPr>
              <a:spLocks noChangeArrowheads="1"/>
            </p:cNvSpPr>
            <p:nvPr/>
          </p:nvSpPr>
          <p:spPr bwMode="auto">
            <a:xfrm>
              <a:off x="3967809" y="1111286"/>
              <a:ext cx="2140330" cy="830997"/>
            </a:xfrm>
            <a:prstGeom prst="rect">
              <a:avLst/>
            </a:prstGeom>
            <a:noFill/>
            <a:ln w="9525">
              <a:noFill/>
              <a:miter lim="800000"/>
              <a:headEnd/>
              <a:tailEnd/>
            </a:ln>
            <a:effectLst/>
          </p:spPr>
          <p:txBody>
            <a:bodyPr wrap="none" anchor="ctr">
              <a:spAutoFit/>
            </a:bodyP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OFFER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IP address: 10.12.18.112 </a:t>
              </a:r>
            </a:p>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Default gateway: 10.12.18.1</a:t>
              </a:r>
            </a:p>
            <a:p>
              <a:r>
                <a:rPr kumimoji="1" lang="en-US" altLang="zh-CN" sz="1200" dirty="0" err="1">
                  <a:solidFill>
                    <a:sysClr val="windowText" lastClr="000000"/>
                  </a:solidFill>
                  <a:latin typeface="Montserrat" panose="00000500000000000000" pitchFamily="2" charset="0"/>
                  <a:ea typeface="微软雅黑 Light" panose="020B0502040204020203" pitchFamily="34" charset="-122"/>
                </a:rPr>
                <a:t>Netmask</a:t>
              </a:r>
              <a:r>
                <a:rPr kumimoji="1" lang="en-US" altLang="zh-CN" sz="1200" dirty="0">
                  <a:solidFill>
                    <a:sysClr val="windowText" lastClr="000000"/>
                  </a:solidFill>
                  <a:latin typeface="Montserrat" panose="00000500000000000000" pitchFamily="2" charset="0"/>
                  <a:ea typeface="微软雅黑 Light" panose="020B0502040204020203" pitchFamily="34" charset="-122"/>
                </a:rPr>
                <a:t>: 255.255.0.0</a:t>
              </a:r>
            </a:p>
          </p:txBody>
        </p:sp>
        <p:sp>
          <p:nvSpPr>
            <p:cNvPr id="44" name="Line 5">
              <a:extLst>
                <a:ext uri="{FF2B5EF4-FFF2-40B4-BE49-F238E27FC236}">
                  <a16:creationId xmlns:a16="http://schemas.microsoft.com/office/drawing/2014/main" id="{9A59F1CC-D7D8-5DC5-296A-BB03D2E36AC2}"/>
                </a:ext>
              </a:extLst>
            </p:cNvPr>
            <p:cNvSpPr>
              <a:spLocks noChangeShapeType="1"/>
            </p:cNvSpPr>
            <p:nvPr/>
          </p:nvSpPr>
          <p:spPr bwMode="auto">
            <a:xfrm>
              <a:off x="4937556"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Text Box 8">
              <a:extLst>
                <a:ext uri="{FF2B5EF4-FFF2-40B4-BE49-F238E27FC236}">
                  <a16:creationId xmlns:a16="http://schemas.microsoft.com/office/drawing/2014/main" id="{5E622F4D-4CA7-D2AE-C959-C4421EC4C50F}"/>
                </a:ext>
              </a:extLst>
            </p:cNvPr>
            <p:cNvSpPr txBox="1">
              <a:spLocks noChangeArrowheads="1"/>
            </p:cNvSpPr>
            <p:nvPr/>
          </p:nvSpPr>
          <p:spPr bwMode="auto">
            <a:xfrm>
              <a:off x="819222" y="1230287"/>
              <a:ext cx="1700030"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Client</a:t>
              </a:r>
              <a:r>
                <a:rPr kumimoji="1" lang="zh-CN" altLang="en-US" sz="1200" b="1" dirty="0">
                  <a:latin typeface="微软雅黑 Light" panose="020B0502040204020203" pitchFamily="34" charset="-122"/>
                  <a:ea typeface="微软雅黑 Light" panose="020B0502040204020203" pitchFamily="34" charset="-122"/>
                </a:rPr>
                <a:t> </a:t>
              </a:r>
              <a:r>
                <a:rPr kumimoji="1" lang="en-US" altLang="zh-CN" sz="1200" b="1" dirty="0">
                  <a:latin typeface="微软雅黑 Light" panose="020B0502040204020203" pitchFamily="34" charset="-122"/>
                  <a:ea typeface="微软雅黑 Light" panose="020B0502040204020203" pitchFamily="34" charset="-122"/>
                </a:rPr>
                <a:t>A</a:t>
              </a:r>
            </a:p>
            <a:p>
              <a:pPr algn="ctr"/>
              <a:r>
                <a:rPr kumimoji="1" lang="en-US" altLang="zh-CN" sz="1200" b="1" dirty="0">
                  <a:latin typeface="微软雅黑 Light" panose="020B0502040204020203" pitchFamily="34" charset="-122"/>
                  <a:ea typeface="微软雅黑 Light" panose="020B0502040204020203" pitchFamily="34" charset="-122"/>
                </a:rPr>
                <a:t>00:a0:24:71:e4:44</a:t>
              </a:r>
              <a:endParaRPr kumimoji="1" lang="zh-CN" altLang="en-US" sz="1200" b="1" dirty="0">
                <a:latin typeface="微软雅黑 Light" panose="020B0502040204020203" pitchFamily="34" charset="-122"/>
                <a:ea typeface="微软雅黑 Light" panose="020B0502040204020203" pitchFamily="34" charset="-122"/>
              </a:endParaRPr>
            </a:p>
          </p:txBody>
        </p:sp>
        <p:sp>
          <p:nvSpPr>
            <p:cNvPr id="46" name="Text Box 9">
              <a:extLst>
                <a:ext uri="{FF2B5EF4-FFF2-40B4-BE49-F238E27FC236}">
                  <a16:creationId xmlns:a16="http://schemas.microsoft.com/office/drawing/2014/main" id="{F68710C3-FC53-A60C-BF2F-0C5EA197281C}"/>
                </a:ext>
              </a:extLst>
            </p:cNvPr>
            <p:cNvSpPr txBox="1">
              <a:spLocks noChangeArrowheads="1"/>
            </p:cNvSpPr>
            <p:nvPr/>
          </p:nvSpPr>
          <p:spPr bwMode="auto">
            <a:xfrm>
              <a:off x="6875698" y="1203018"/>
              <a:ext cx="13431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Server</a:t>
              </a:r>
              <a:endParaRPr kumimoji="1" lang="zh-CN" altLang="en-US" sz="1400" b="1" dirty="0">
                <a:latin typeface="微软雅黑 Light" panose="020B0502040204020203" pitchFamily="34" charset="-122"/>
                <a:ea typeface="微软雅黑 Light" panose="020B0502040204020203" pitchFamily="34" charset="-122"/>
              </a:endParaRPr>
            </a:p>
          </p:txBody>
        </p:sp>
        <p:sp>
          <p:nvSpPr>
            <p:cNvPr id="47" name="Line 22">
              <a:extLst>
                <a:ext uri="{FF2B5EF4-FFF2-40B4-BE49-F238E27FC236}">
                  <a16:creationId xmlns:a16="http://schemas.microsoft.com/office/drawing/2014/main" id="{E75CEFE7-B163-EBAE-B027-779CAA611ED5}"/>
                </a:ext>
              </a:extLst>
            </p:cNvPr>
            <p:cNvSpPr>
              <a:spLocks noChangeShapeType="1"/>
            </p:cNvSpPr>
            <p:nvPr/>
          </p:nvSpPr>
          <p:spPr bwMode="auto">
            <a:xfrm>
              <a:off x="1198175" y="2473236"/>
              <a:ext cx="6421817"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Line 23">
              <a:extLst>
                <a:ext uri="{FF2B5EF4-FFF2-40B4-BE49-F238E27FC236}">
                  <a16:creationId xmlns:a16="http://schemas.microsoft.com/office/drawing/2014/main" id="{A7243AE0-799A-28DA-E3B2-F044EB3812A2}"/>
                </a:ext>
              </a:extLst>
            </p:cNvPr>
            <p:cNvSpPr>
              <a:spLocks noChangeShapeType="1"/>
            </p:cNvSpPr>
            <p:nvPr/>
          </p:nvSpPr>
          <p:spPr bwMode="auto">
            <a:xfrm>
              <a:off x="1630353" y="2176210"/>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49" name="Picture 197" descr="jisuanji">
              <a:extLst>
                <a:ext uri="{FF2B5EF4-FFF2-40B4-BE49-F238E27FC236}">
                  <a16:creationId xmlns:a16="http://schemas.microsoft.com/office/drawing/2014/main" id="{5ED6F1C6-8B71-649B-5EE6-BCF66CD1C7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665981" y="2746730"/>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50" name="Line 24">
              <a:extLst>
                <a:ext uri="{FF2B5EF4-FFF2-40B4-BE49-F238E27FC236}">
                  <a16:creationId xmlns:a16="http://schemas.microsoft.com/office/drawing/2014/main" id="{CBDE6430-9D8C-41E7-2273-F5F814B22F2F}"/>
                </a:ext>
              </a:extLst>
            </p:cNvPr>
            <p:cNvSpPr>
              <a:spLocks noChangeShapeType="1"/>
            </p:cNvSpPr>
            <p:nvPr/>
          </p:nvSpPr>
          <p:spPr bwMode="auto">
            <a:xfrm>
              <a:off x="7609482" y="2159436"/>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Line 5">
              <a:extLst>
                <a:ext uri="{FF2B5EF4-FFF2-40B4-BE49-F238E27FC236}">
                  <a16:creationId xmlns:a16="http://schemas.microsoft.com/office/drawing/2014/main" id="{3B3EFAB1-2141-E69E-1664-02A19C027C49}"/>
                </a:ext>
              </a:extLst>
            </p:cNvPr>
            <p:cNvSpPr>
              <a:spLocks noChangeShapeType="1"/>
            </p:cNvSpPr>
            <p:nvPr/>
          </p:nvSpPr>
          <p:spPr bwMode="auto">
            <a:xfrm>
              <a:off x="578449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4" name="Line 5">
              <a:extLst>
                <a:ext uri="{FF2B5EF4-FFF2-40B4-BE49-F238E27FC236}">
                  <a16:creationId xmlns:a16="http://schemas.microsoft.com/office/drawing/2014/main" id="{654F3FA6-B792-CC5A-A763-3FDE3E4D20AF}"/>
                </a:ext>
              </a:extLst>
            </p:cNvPr>
            <p:cNvSpPr>
              <a:spLocks noChangeShapeType="1"/>
            </p:cNvSpPr>
            <p:nvPr/>
          </p:nvSpPr>
          <p:spPr bwMode="auto">
            <a:xfrm>
              <a:off x="6628050" y="2489671"/>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55" name="Group 50">
              <a:extLst>
                <a:ext uri="{FF2B5EF4-FFF2-40B4-BE49-F238E27FC236}">
                  <a16:creationId xmlns:a16="http://schemas.microsoft.com/office/drawing/2014/main" id="{F92C7DD9-6B89-7605-0BB7-12DEED27CE1D}"/>
                </a:ext>
              </a:extLst>
            </p:cNvPr>
            <p:cNvGrpSpPr>
              <a:grpSpLocks noChangeAspect="1"/>
            </p:cNvGrpSpPr>
            <p:nvPr/>
          </p:nvGrpSpPr>
          <p:grpSpPr bwMode="auto">
            <a:xfrm>
              <a:off x="5545250" y="2693555"/>
              <a:ext cx="478479" cy="734218"/>
              <a:chOff x="3104" y="1028"/>
              <a:chExt cx="406" cy="623"/>
            </a:xfrm>
          </p:grpSpPr>
          <p:sp>
            <p:nvSpPr>
              <p:cNvPr id="56" name="AutoShape 51">
                <a:extLst>
                  <a:ext uri="{FF2B5EF4-FFF2-40B4-BE49-F238E27FC236}">
                    <a16:creationId xmlns:a16="http://schemas.microsoft.com/office/drawing/2014/main" id="{17DB6A96-FB31-18D9-FBFE-80C3AC907F56}"/>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57" name="Freeform 52">
                <a:extLst>
                  <a:ext uri="{FF2B5EF4-FFF2-40B4-BE49-F238E27FC236}">
                    <a16:creationId xmlns:a16="http://schemas.microsoft.com/office/drawing/2014/main" id="{C472CA2C-68F1-B836-857A-BC8979B2EF1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59" name="Rectangle 53">
                <a:extLst>
                  <a:ext uri="{FF2B5EF4-FFF2-40B4-BE49-F238E27FC236}">
                    <a16:creationId xmlns:a16="http://schemas.microsoft.com/office/drawing/2014/main" id="{75B8BC76-A461-1BE1-E6F7-002F929BA958}"/>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1" name="Freeform 54">
                <a:extLst>
                  <a:ext uri="{FF2B5EF4-FFF2-40B4-BE49-F238E27FC236}">
                    <a16:creationId xmlns:a16="http://schemas.microsoft.com/office/drawing/2014/main" id="{F5B98F55-66FF-6AFA-61E2-334A2C2E58BB}"/>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2" name="Freeform 55">
                <a:extLst>
                  <a:ext uri="{FF2B5EF4-FFF2-40B4-BE49-F238E27FC236}">
                    <a16:creationId xmlns:a16="http://schemas.microsoft.com/office/drawing/2014/main" id="{E7B9BBB3-1C06-C692-F12C-6D0F480A68F5}"/>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63" name="Rectangle 56">
                <a:extLst>
                  <a:ext uri="{FF2B5EF4-FFF2-40B4-BE49-F238E27FC236}">
                    <a16:creationId xmlns:a16="http://schemas.microsoft.com/office/drawing/2014/main" id="{006CCEE4-FFD3-D60A-0406-3154D1AE1FCA}"/>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4" name="Rectangle 57">
                <a:extLst>
                  <a:ext uri="{FF2B5EF4-FFF2-40B4-BE49-F238E27FC236}">
                    <a16:creationId xmlns:a16="http://schemas.microsoft.com/office/drawing/2014/main" id="{8ED9BBF2-96AB-2A29-B2D0-A4496E68EF8D}"/>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5" name="Rectangle 58">
                <a:extLst>
                  <a:ext uri="{FF2B5EF4-FFF2-40B4-BE49-F238E27FC236}">
                    <a16:creationId xmlns:a16="http://schemas.microsoft.com/office/drawing/2014/main" id="{F3F1E05F-9E2B-70A3-64F9-AEC6C10D4BE8}"/>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68" name="Rectangle 59">
                <a:extLst>
                  <a:ext uri="{FF2B5EF4-FFF2-40B4-BE49-F238E27FC236}">
                    <a16:creationId xmlns:a16="http://schemas.microsoft.com/office/drawing/2014/main" id="{C308DFBA-2001-3D0B-23BA-8073C8627381}"/>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grpSp>
          <p:nvGrpSpPr>
            <p:cNvPr id="73" name="Group 50">
              <a:extLst>
                <a:ext uri="{FF2B5EF4-FFF2-40B4-BE49-F238E27FC236}">
                  <a16:creationId xmlns:a16="http://schemas.microsoft.com/office/drawing/2014/main" id="{48DF0D6E-F2CF-2262-80B7-046BBD348670}"/>
                </a:ext>
              </a:extLst>
            </p:cNvPr>
            <p:cNvGrpSpPr>
              <a:grpSpLocks noChangeAspect="1"/>
            </p:cNvGrpSpPr>
            <p:nvPr/>
          </p:nvGrpSpPr>
          <p:grpSpPr bwMode="auto">
            <a:xfrm>
              <a:off x="6388810" y="2693555"/>
              <a:ext cx="478479" cy="734218"/>
              <a:chOff x="3104" y="1028"/>
              <a:chExt cx="406" cy="623"/>
            </a:xfrm>
          </p:grpSpPr>
          <p:sp>
            <p:nvSpPr>
              <p:cNvPr id="75" name="AutoShape 51">
                <a:extLst>
                  <a:ext uri="{FF2B5EF4-FFF2-40B4-BE49-F238E27FC236}">
                    <a16:creationId xmlns:a16="http://schemas.microsoft.com/office/drawing/2014/main" id="{5C2D373C-0F73-D2D2-069D-1782F7338AB2}"/>
                  </a:ext>
                </a:extLst>
              </p:cNvPr>
              <p:cNvSpPr>
                <a:spLocks noChangeAspect="1" noChangeArrowheads="1" noTextEdit="1"/>
              </p:cNvSpPr>
              <p:nvPr/>
            </p:nvSpPr>
            <p:spPr bwMode="auto">
              <a:xfrm>
                <a:off x="3104" y="1028"/>
                <a:ext cx="406" cy="6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86" name="Freeform 52">
                <a:extLst>
                  <a:ext uri="{FF2B5EF4-FFF2-40B4-BE49-F238E27FC236}">
                    <a16:creationId xmlns:a16="http://schemas.microsoft.com/office/drawing/2014/main" id="{1A0227CA-E92A-26D5-9191-2954CA3A60BB}"/>
                  </a:ext>
                </a:extLst>
              </p:cNvPr>
              <p:cNvSpPr>
                <a:spLocks/>
              </p:cNvSpPr>
              <p:nvPr/>
            </p:nvSpPr>
            <p:spPr bwMode="auto">
              <a:xfrm>
                <a:off x="3104" y="1028"/>
                <a:ext cx="406" cy="623"/>
              </a:xfrm>
              <a:custGeom>
                <a:avLst/>
                <a:gdLst>
                  <a:gd name="T0" fmla="*/ 406 w 10555"/>
                  <a:gd name="T1" fmla="*/ 0 h 16198"/>
                  <a:gd name="T2" fmla="*/ 406 w 10555"/>
                  <a:gd name="T3" fmla="*/ 579 h 16198"/>
                  <a:gd name="T4" fmla="*/ 336 w 10555"/>
                  <a:gd name="T5" fmla="*/ 623 h 16198"/>
                  <a:gd name="T6" fmla="*/ 0 w 10555"/>
                  <a:gd name="T7" fmla="*/ 623 h 16198"/>
                  <a:gd name="T8" fmla="*/ 0 w 10555"/>
                  <a:gd name="T9" fmla="*/ 45 h 16198"/>
                  <a:gd name="T10" fmla="*/ 70 w 10555"/>
                  <a:gd name="T11" fmla="*/ 0 h 16198"/>
                  <a:gd name="T12" fmla="*/ 406 w 10555"/>
                  <a:gd name="T13" fmla="*/ 0 h 16198"/>
                  <a:gd name="T14" fmla="*/ 406 w 10555"/>
                  <a:gd name="T15" fmla="*/ 0 h 16198"/>
                  <a:gd name="T16" fmla="*/ 406 w 10555"/>
                  <a:gd name="T17" fmla="*/ 0 h 16198"/>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0555" h="16198">
                    <a:moveTo>
                      <a:pt x="10555" y="0"/>
                    </a:moveTo>
                    <a:lnTo>
                      <a:pt x="10555" y="15043"/>
                    </a:lnTo>
                    <a:lnTo>
                      <a:pt x="8741" y="16198"/>
                    </a:lnTo>
                    <a:lnTo>
                      <a:pt x="0" y="16198"/>
                    </a:lnTo>
                    <a:lnTo>
                      <a:pt x="0" y="1157"/>
                    </a:lnTo>
                    <a:lnTo>
                      <a:pt x="1812" y="0"/>
                    </a:lnTo>
                    <a:lnTo>
                      <a:pt x="10555" y="0"/>
                    </a:lnTo>
                    <a:close/>
                  </a:path>
                </a:pathLst>
              </a:custGeom>
              <a:solidFill>
                <a:srgbClr val="7FA6C8"/>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87" name="Rectangle 53">
                <a:extLst>
                  <a:ext uri="{FF2B5EF4-FFF2-40B4-BE49-F238E27FC236}">
                    <a16:creationId xmlns:a16="http://schemas.microsoft.com/office/drawing/2014/main" id="{A53E12CD-0B11-A238-44D5-3DEE948C2303}"/>
                  </a:ext>
                </a:extLst>
              </p:cNvPr>
              <p:cNvSpPr>
                <a:spLocks noChangeArrowheads="1"/>
              </p:cNvSpPr>
              <p:nvPr/>
            </p:nvSpPr>
            <p:spPr bwMode="auto">
              <a:xfrm>
                <a:off x="3104" y="1073"/>
                <a:ext cx="336" cy="578"/>
              </a:xfrm>
              <a:prstGeom prst="rect">
                <a:avLst/>
              </a:prstGeom>
              <a:solidFill>
                <a:srgbClr val="0000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98" name="Freeform 54">
                <a:extLst>
                  <a:ext uri="{FF2B5EF4-FFF2-40B4-BE49-F238E27FC236}">
                    <a16:creationId xmlns:a16="http://schemas.microsoft.com/office/drawing/2014/main" id="{00031C9E-D563-DDCC-4808-36CED86D8EFA}"/>
                  </a:ext>
                </a:extLst>
              </p:cNvPr>
              <p:cNvSpPr>
                <a:spLocks/>
              </p:cNvSpPr>
              <p:nvPr/>
            </p:nvSpPr>
            <p:spPr bwMode="auto">
              <a:xfrm>
                <a:off x="3440" y="1028"/>
                <a:ext cx="70" cy="623"/>
              </a:xfrm>
              <a:custGeom>
                <a:avLst/>
                <a:gdLst>
                  <a:gd name="T0" fmla="*/ 70 w 1814"/>
                  <a:gd name="T1" fmla="*/ 0 h 16198"/>
                  <a:gd name="T2" fmla="*/ 0 w 1814"/>
                  <a:gd name="T3" fmla="*/ 45 h 16198"/>
                  <a:gd name="T4" fmla="*/ 0 w 1814"/>
                  <a:gd name="T5" fmla="*/ 623 h 16198"/>
                  <a:gd name="T6" fmla="*/ 70 w 1814"/>
                  <a:gd name="T7" fmla="*/ 579 h 16198"/>
                  <a:gd name="T8" fmla="*/ 70 w 1814"/>
                  <a:gd name="T9" fmla="*/ 0 h 1619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14" h="16198">
                    <a:moveTo>
                      <a:pt x="1814" y="0"/>
                    </a:moveTo>
                    <a:lnTo>
                      <a:pt x="0" y="1157"/>
                    </a:lnTo>
                    <a:lnTo>
                      <a:pt x="0" y="16198"/>
                    </a:lnTo>
                    <a:lnTo>
                      <a:pt x="1814" y="15043"/>
                    </a:lnTo>
                    <a:lnTo>
                      <a:pt x="1814" y="0"/>
                    </a:lnTo>
                    <a:close/>
                  </a:path>
                </a:pathLst>
              </a:custGeom>
              <a:solidFill>
                <a:srgbClr val="0066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99" name="Freeform 55">
                <a:extLst>
                  <a:ext uri="{FF2B5EF4-FFF2-40B4-BE49-F238E27FC236}">
                    <a16:creationId xmlns:a16="http://schemas.microsoft.com/office/drawing/2014/main" id="{FCC0D601-F06F-08DB-544D-C518EA89AF91}"/>
                  </a:ext>
                </a:extLst>
              </p:cNvPr>
              <p:cNvSpPr>
                <a:spLocks/>
              </p:cNvSpPr>
              <p:nvPr/>
            </p:nvSpPr>
            <p:spPr bwMode="auto">
              <a:xfrm>
                <a:off x="3104" y="1028"/>
                <a:ext cx="406" cy="45"/>
              </a:xfrm>
              <a:custGeom>
                <a:avLst/>
                <a:gdLst>
                  <a:gd name="T0" fmla="*/ 0 w 10555"/>
                  <a:gd name="T1" fmla="*/ 45 h 1157"/>
                  <a:gd name="T2" fmla="*/ 336 w 10555"/>
                  <a:gd name="T3" fmla="*/ 45 h 1157"/>
                  <a:gd name="T4" fmla="*/ 406 w 10555"/>
                  <a:gd name="T5" fmla="*/ 0 h 1157"/>
                  <a:gd name="T6" fmla="*/ 70 w 10555"/>
                  <a:gd name="T7" fmla="*/ 0 h 1157"/>
                  <a:gd name="T8" fmla="*/ 0 w 10555"/>
                  <a:gd name="T9" fmla="*/ 45 h 11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555" h="1157">
                    <a:moveTo>
                      <a:pt x="0" y="1157"/>
                    </a:moveTo>
                    <a:lnTo>
                      <a:pt x="8741" y="1157"/>
                    </a:lnTo>
                    <a:lnTo>
                      <a:pt x="10555" y="0"/>
                    </a:lnTo>
                    <a:lnTo>
                      <a:pt x="1812" y="0"/>
                    </a:lnTo>
                    <a:lnTo>
                      <a:pt x="0" y="1157"/>
                    </a:lnTo>
                    <a:close/>
                  </a:path>
                </a:pathLst>
              </a:custGeom>
              <a:solidFill>
                <a:srgbClr val="3399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b="1" dirty="0">
                  <a:latin typeface="Montserrat" panose="00000500000000000000" pitchFamily="2" charset="0"/>
                  <a:ea typeface="微软雅黑 Light" panose="020B0502040204020203" pitchFamily="34" charset="-122"/>
                </a:endParaRPr>
              </a:p>
            </p:txBody>
          </p:sp>
          <p:sp>
            <p:nvSpPr>
              <p:cNvPr id="100" name="Rectangle 56">
                <a:extLst>
                  <a:ext uri="{FF2B5EF4-FFF2-40B4-BE49-F238E27FC236}">
                    <a16:creationId xmlns:a16="http://schemas.microsoft.com/office/drawing/2014/main" id="{07FA9924-9D94-FC49-003F-6902B0DD87CB}"/>
                  </a:ext>
                </a:extLst>
              </p:cNvPr>
              <p:cNvSpPr>
                <a:spLocks noChangeArrowheads="1"/>
              </p:cNvSpPr>
              <p:nvPr/>
            </p:nvSpPr>
            <p:spPr bwMode="auto">
              <a:xfrm>
                <a:off x="3104" y="1268"/>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1" name="Rectangle 57">
                <a:extLst>
                  <a:ext uri="{FF2B5EF4-FFF2-40B4-BE49-F238E27FC236}">
                    <a16:creationId xmlns:a16="http://schemas.microsoft.com/office/drawing/2014/main" id="{8C5C7CC1-14B2-BF7A-362A-FA3706E67E28}"/>
                  </a:ext>
                </a:extLst>
              </p:cNvPr>
              <p:cNvSpPr>
                <a:spLocks noChangeArrowheads="1"/>
              </p:cNvSpPr>
              <p:nvPr/>
            </p:nvSpPr>
            <p:spPr bwMode="auto">
              <a:xfrm>
                <a:off x="3104" y="1294"/>
                <a:ext cx="336" cy="25"/>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2" name="Rectangle 58">
                <a:extLst>
                  <a:ext uri="{FF2B5EF4-FFF2-40B4-BE49-F238E27FC236}">
                    <a16:creationId xmlns:a16="http://schemas.microsoft.com/office/drawing/2014/main" id="{8F601F62-8E2B-CB24-6508-D0BFBD5D7AE2}"/>
                  </a:ext>
                </a:extLst>
              </p:cNvPr>
              <p:cNvSpPr>
                <a:spLocks noChangeArrowheads="1"/>
              </p:cNvSpPr>
              <p:nvPr/>
            </p:nvSpPr>
            <p:spPr bwMode="auto">
              <a:xfrm>
                <a:off x="3104" y="1151"/>
                <a:ext cx="336" cy="26"/>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sp>
            <p:nvSpPr>
              <p:cNvPr id="103" name="Rectangle 59">
                <a:extLst>
                  <a:ext uri="{FF2B5EF4-FFF2-40B4-BE49-F238E27FC236}">
                    <a16:creationId xmlns:a16="http://schemas.microsoft.com/office/drawing/2014/main" id="{F025246F-EABA-AC59-375F-645178488C1D}"/>
                  </a:ext>
                </a:extLst>
              </p:cNvPr>
              <p:cNvSpPr>
                <a:spLocks noChangeArrowheads="1"/>
              </p:cNvSpPr>
              <p:nvPr/>
            </p:nvSpPr>
            <p:spPr bwMode="auto">
              <a:xfrm>
                <a:off x="3104" y="1176"/>
                <a:ext cx="336" cy="26"/>
              </a:xfrm>
              <a:prstGeom prst="rect">
                <a:avLst/>
              </a:prstGeom>
              <a:solidFill>
                <a:srgbClr val="A7CDED"/>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lgn="r" eaLnBrk="1" hangingPunct="1"/>
                <a:endParaRPr lang="zh-CN" altLang="en-US" b="1" dirty="0">
                  <a:latin typeface="Montserrat" panose="00000500000000000000" pitchFamily="2" charset="0"/>
                  <a:ea typeface="微软雅黑 Light" panose="020B0502040204020203" pitchFamily="34" charset="-122"/>
                </a:endParaRPr>
              </a:p>
            </p:txBody>
          </p:sp>
        </p:grpSp>
        <p:pic>
          <p:nvPicPr>
            <p:cNvPr id="104" name="Picture 197" descr="jisuanji">
              <a:extLst>
                <a:ext uri="{FF2B5EF4-FFF2-40B4-BE49-F238E27FC236}">
                  <a16:creationId xmlns:a16="http://schemas.microsoft.com/office/drawing/2014/main" id="{3A4C433D-21A0-392D-4454-67981B38F55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345055" y="1659337"/>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105" name="图片 104">
              <a:extLst>
                <a:ext uri="{FF2B5EF4-FFF2-40B4-BE49-F238E27FC236}">
                  <a16:creationId xmlns:a16="http://schemas.microsoft.com/office/drawing/2014/main" id="{0AC207F0-BEFC-B8E7-3A06-29F47C003D92}"/>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309560" y="1459714"/>
              <a:ext cx="582712" cy="815797"/>
            </a:xfrm>
            <a:prstGeom prst="rect">
              <a:avLst/>
            </a:prstGeom>
          </p:spPr>
        </p:pic>
      </p:grpSp>
    </p:spTree>
    <p:extLst>
      <p:ext uri="{BB962C8B-B14F-4D97-AF65-F5344CB8AC3E}">
        <p14:creationId xmlns:p14="http://schemas.microsoft.com/office/powerpoint/2010/main" val="2724531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30FEE5C-0F50-B61D-54AC-F65AB5412757}"/>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3" name="内容占位符 2">
            <a:extLst>
              <a:ext uri="{FF2B5EF4-FFF2-40B4-BE49-F238E27FC236}">
                <a16:creationId xmlns:a16="http://schemas.microsoft.com/office/drawing/2014/main" id="{BDE52F03-C58B-9E1A-374B-CFF003A30C4B}"/>
              </a:ext>
            </a:extLst>
          </p:cNvPr>
          <p:cNvSpPr>
            <a:spLocks noGrp="1"/>
          </p:cNvSpPr>
          <p:nvPr>
            <p:ph sz="quarter" idx="11"/>
          </p:nvPr>
        </p:nvSpPr>
        <p:spPr>
          <a:xfrm>
            <a:off x="486000" y="687518"/>
            <a:ext cx="8172000" cy="4079035"/>
          </a:xfrm>
        </p:spPr>
        <p:txBody>
          <a:bodyPr/>
          <a:lstStyle/>
          <a:p>
            <a:r>
              <a:rPr lang="zh-CN" altLang="en-US" dirty="0"/>
              <a:t>中继代理 </a:t>
            </a:r>
            <a:r>
              <a:rPr lang="en-US" altLang="zh-CN" dirty="0"/>
              <a:t>Relay Agent</a:t>
            </a:r>
          </a:p>
          <a:p>
            <a:pPr lvl="1"/>
            <a:r>
              <a:rPr lang="en-US" altLang="zh-CN" dirty="0"/>
              <a:t>Q</a:t>
            </a:r>
            <a:r>
              <a:rPr lang="zh-CN" altLang="en-US" dirty="0"/>
              <a:t>：每个网络上都需要有 </a:t>
            </a:r>
            <a:r>
              <a:rPr lang="en-US" altLang="zh-CN" dirty="0"/>
              <a:t>DHCP </a:t>
            </a:r>
            <a:r>
              <a:rPr lang="zh-CN" altLang="en-US" dirty="0"/>
              <a:t>服务器吗？</a:t>
            </a:r>
            <a:endParaRPr lang="en-US" altLang="zh-CN" dirty="0"/>
          </a:p>
          <a:p>
            <a:pPr lvl="1"/>
            <a:r>
              <a:rPr lang="en-US" altLang="zh-CN" dirty="0"/>
              <a:t>A</a:t>
            </a:r>
            <a:r>
              <a:rPr lang="zh-CN" altLang="en-US" dirty="0"/>
              <a:t>：不需要，因为会使 </a:t>
            </a:r>
            <a:r>
              <a:rPr lang="en-US" altLang="zh-CN" dirty="0"/>
              <a:t>DHCP </a:t>
            </a:r>
            <a:r>
              <a:rPr lang="zh-CN" altLang="en-US" dirty="0"/>
              <a:t>服务器的数量太多</a:t>
            </a:r>
            <a:endParaRPr lang="en-US" altLang="zh-CN" dirty="0"/>
          </a:p>
          <a:p>
            <a:pPr lvl="1"/>
            <a:r>
              <a:rPr lang="en-US" altLang="zh-CN" dirty="0"/>
              <a:t>Q</a:t>
            </a:r>
            <a:r>
              <a:rPr lang="zh-CN" altLang="en-US" dirty="0"/>
              <a:t>：若没有 </a:t>
            </a:r>
            <a:r>
              <a:rPr lang="en-US" altLang="zh-CN" dirty="0"/>
              <a:t>DHCP </a:t>
            </a:r>
            <a:r>
              <a:rPr lang="zh-CN" altLang="en-US" dirty="0"/>
              <a:t>服务器，如何自动获得地址？</a:t>
            </a:r>
            <a:endParaRPr lang="en-US" altLang="zh-CN" dirty="0"/>
          </a:p>
          <a:p>
            <a:pPr lvl="1"/>
            <a:r>
              <a:rPr lang="en-US" altLang="zh-CN" dirty="0"/>
              <a:t>A</a:t>
            </a:r>
            <a:r>
              <a:rPr lang="zh-CN" altLang="en-US" dirty="0"/>
              <a:t>：每一个网络至少有一个 </a:t>
            </a:r>
            <a:r>
              <a:rPr lang="en-US" altLang="zh-CN" dirty="0"/>
              <a:t>DHCP </a:t>
            </a:r>
            <a:r>
              <a:rPr lang="zh-CN" altLang="en-US" dirty="0"/>
              <a:t>中继代理，它配置了 </a:t>
            </a:r>
            <a:r>
              <a:rPr lang="en-US" altLang="zh-CN" dirty="0"/>
              <a:t>DHCP </a:t>
            </a:r>
            <a:r>
              <a:rPr lang="zh-CN" altLang="en-US" dirty="0"/>
              <a:t>服务器的 </a:t>
            </a:r>
            <a:r>
              <a:rPr lang="en-US" altLang="zh-CN" dirty="0"/>
              <a:t>IP </a:t>
            </a:r>
            <a:r>
              <a:rPr lang="zh-CN" altLang="en-US" dirty="0"/>
              <a:t>地址信息</a:t>
            </a:r>
          </a:p>
        </p:txBody>
      </p:sp>
    </p:spTree>
    <p:extLst>
      <p:ext uri="{BB962C8B-B14F-4D97-AF65-F5344CB8AC3E}">
        <p14:creationId xmlns:p14="http://schemas.microsoft.com/office/powerpoint/2010/main" val="19796433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08285A-01DA-B2BB-AF02-BED2B8FD546F}"/>
              </a:ext>
            </a:extLst>
          </p:cNvPr>
          <p:cNvSpPr>
            <a:spLocks noGrp="1"/>
          </p:cNvSpPr>
          <p:nvPr>
            <p:ph type="title"/>
          </p:nvPr>
        </p:nvSpPr>
        <p:spPr>
          <a:xfrm>
            <a:off x="485999" y="174482"/>
            <a:ext cx="8171999" cy="338554"/>
          </a:xfrm>
        </p:spPr>
        <p:txBody>
          <a:bodyPr/>
          <a:lstStyle/>
          <a:p>
            <a:r>
              <a:rPr lang="en-US" altLang="zh-CN" dirty="0"/>
              <a:t>DHCP </a:t>
            </a:r>
            <a:r>
              <a:rPr lang="zh-CN" altLang="en-US" dirty="0"/>
              <a:t>中继代理</a:t>
            </a:r>
          </a:p>
        </p:txBody>
      </p:sp>
      <p:sp>
        <p:nvSpPr>
          <p:cNvPr id="25" name="内容占位符 24">
            <a:extLst>
              <a:ext uri="{FF2B5EF4-FFF2-40B4-BE49-F238E27FC236}">
                <a16:creationId xmlns:a16="http://schemas.microsoft.com/office/drawing/2014/main" id="{766A6BDD-85F0-2F25-4AE3-DADAF7820BFA}"/>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中继代理以单播方式转发发现报文</a:t>
            </a:r>
            <a:endParaRPr lang="en-US" altLang="zh-CN" dirty="0"/>
          </a:p>
          <a:p>
            <a:r>
              <a:rPr lang="en-US" altLang="zh-CN" dirty="0"/>
              <a:t>DHCP </a:t>
            </a:r>
            <a:r>
              <a:rPr lang="zh-CN" altLang="en-US" dirty="0"/>
              <a:t>中继代理收到主机广播发送的发现报文后，就以单播方式向 </a:t>
            </a:r>
            <a:r>
              <a:rPr lang="en-US" altLang="zh-CN" dirty="0"/>
              <a:t>DHCP </a:t>
            </a:r>
            <a:r>
              <a:rPr lang="zh-CN" altLang="en-US" dirty="0"/>
              <a:t>服务器转发此报文，并等待其回答</a:t>
            </a:r>
            <a:endParaRPr lang="en-US" altLang="zh-CN" dirty="0"/>
          </a:p>
          <a:p>
            <a:r>
              <a:rPr lang="zh-CN" altLang="en-US" dirty="0"/>
              <a:t>收到 </a:t>
            </a:r>
            <a:r>
              <a:rPr lang="en-US" altLang="zh-CN" dirty="0"/>
              <a:t>DHCP </a:t>
            </a:r>
            <a:r>
              <a:rPr lang="zh-CN" altLang="en-US" dirty="0"/>
              <a:t>服务器回答的提供报文后，</a:t>
            </a:r>
            <a:r>
              <a:rPr lang="en-US" altLang="zh-CN" dirty="0"/>
              <a:t>DHCP </a:t>
            </a:r>
            <a:r>
              <a:rPr lang="zh-CN" altLang="en-US" dirty="0"/>
              <a:t>中继代理再将其发回给主机</a:t>
            </a:r>
          </a:p>
        </p:txBody>
      </p:sp>
      <p:sp>
        <p:nvSpPr>
          <p:cNvPr id="5" name="Line 5"/>
          <p:cNvSpPr>
            <a:spLocks noChangeShapeType="1"/>
          </p:cNvSpPr>
          <p:nvPr/>
        </p:nvSpPr>
        <p:spPr bwMode="auto">
          <a:xfrm>
            <a:off x="1946778"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 name="Line 6"/>
          <p:cNvSpPr>
            <a:spLocks noChangeShapeType="1"/>
          </p:cNvSpPr>
          <p:nvPr/>
        </p:nvSpPr>
        <p:spPr bwMode="auto">
          <a:xfrm flipV="1">
            <a:off x="3782056" y="4006654"/>
            <a:ext cx="3898213"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 name="Text Box 8"/>
          <p:cNvSpPr txBox="1">
            <a:spLocks noChangeArrowheads="1"/>
          </p:cNvSpPr>
          <p:nvPr/>
        </p:nvSpPr>
        <p:spPr bwMode="auto">
          <a:xfrm>
            <a:off x="916225" y="2404557"/>
            <a:ext cx="71365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Client</a:t>
            </a:r>
            <a:endParaRPr kumimoji="1" lang="zh-CN" altLang="en-US" sz="1400" dirty="0">
              <a:latin typeface="Montserrat" panose="00000500000000000000" pitchFamily="2" charset="0"/>
              <a:ea typeface="微软雅黑 Light" panose="020B0502040204020203" pitchFamily="34" charset="-122"/>
            </a:endParaRPr>
          </a:p>
        </p:txBody>
      </p:sp>
      <p:sp>
        <p:nvSpPr>
          <p:cNvPr id="9" name="Text Box 9"/>
          <p:cNvSpPr txBox="1">
            <a:spLocks noChangeArrowheads="1"/>
          </p:cNvSpPr>
          <p:nvPr/>
        </p:nvSpPr>
        <p:spPr bwMode="auto">
          <a:xfrm>
            <a:off x="7506095" y="2909686"/>
            <a:ext cx="75533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Server</a:t>
            </a:r>
            <a:endParaRPr kumimoji="1" lang="zh-CN" altLang="en-US" sz="1400" dirty="0">
              <a:latin typeface="Montserrat" panose="00000500000000000000" pitchFamily="2" charset="0"/>
              <a:ea typeface="微软雅黑 Light" panose="020B0502040204020203" pitchFamily="34" charset="-122"/>
            </a:endParaRPr>
          </a:p>
        </p:txBody>
      </p:sp>
      <p:sp>
        <p:nvSpPr>
          <p:cNvPr id="22" name="Line 22"/>
          <p:cNvSpPr>
            <a:spLocks noChangeShapeType="1"/>
          </p:cNvSpPr>
          <p:nvPr/>
        </p:nvSpPr>
        <p:spPr bwMode="auto">
          <a:xfrm>
            <a:off x="1073020" y="3365644"/>
            <a:ext cx="2860385"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Line 23"/>
          <p:cNvSpPr>
            <a:spLocks noChangeShapeType="1"/>
          </p:cNvSpPr>
          <p:nvPr/>
        </p:nvSpPr>
        <p:spPr bwMode="auto">
          <a:xfrm>
            <a:off x="1258709" y="3068618"/>
            <a:ext cx="0" cy="313461"/>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Line 24"/>
          <p:cNvSpPr>
            <a:spLocks noChangeShapeType="1"/>
          </p:cNvSpPr>
          <p:nvPr/>
        </p:nvSpPr>
        <p:spPr bwMode="auto">
          <a:xfrm>
            <a:off x="3628161" y="3382079"/>
            <a:ext cx="0" cy="312287"/>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Text Box 27"/>
          <p:cNvSpPr txBox="1">
            <a:spLocks noChangeArrowheads="1"/>
          </p:cNvSpPr>
          <p:nvPr/>
        </p:nvSpPr>
        <p:spPr bwMode="auto">
          <a:xfrm>
            <a:off x="3020529" y="4111142"/>
            <a:ext cx="12763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dirty="0">
                <a:latin typeface="Montserrat" panose="00000500000000000000" pitchFamily="2" charset="0"/>
                <a:ea typeface="微软雅黑 Light" panose="020B0502040204020203" pitchFamily="34" charset="-122"/>
              </a:rPr>
              <a:t>Relay Agent</a:t>
            </a:r>
            <a:endParaRPr kumimoji="1" lang="zh-CN" altLang="en-US" sz="1400" dirty="0">
              <a:latin typeface="Montserrat" panose="00000500000000000000" pitchFamily="2" charset="0"/>
              <a:ea typeface="微软雅黑 Light" panose="020B0502040204020203" pitchFamily="34" charset="-122"/>
            </a:endParaRPr>
          </a:p>
        </p:txBody>
      </p:sp>
      <p:sp>
        <p:nvSpPr>
          <p:cNvPr id="31" name="AutoShape 32"/>
          <p:cNvSpPr>
            <a:spLocks noChangeArrowheads="1"/>
          </p:cNvSpPr>
          <p:nvPr/>
        </p:nvSpPr>
        <p:spPr bwMode="auto">
          <a:xfrm>
            <a:off x="3177145" y="2990840"/>
            <a:ext cx="382261" cy="156731"/>
          </a:xfrm>
          <a:prstGeom prst="rightArrow">
            <a:avLst>
              <a:gd name="adj1" fmla="val 50000"/>
              <a:gd name="adj2" fmla="val 62500"/>
            </a:avLst>
          </a:prstGeom>
          <a:solidFill>
            <a:schemeClr val="bg1">
              <a:lumMod val="85000"/>
            </a:schemeClr>
          </a:solidFill>
          <a:ln w="9525">
            <a:noFill/>
            <a:miter lim="800000"/>
            <a:headEnd/>
            <a:tailEnd/>
          </a:ln>
          <a:effectLst/>
        </p:spPr>
        <p:txBody>
          <a:bodyPr wrap="none" anchor="ctr"/>
          <a:lstStyle/>
          <a:p>
            <a:pPr eaLnBrk="1" hangingPunct="1"/>
            <a:endParaRPr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30" name="Text Box 34"/>
          <p:cNvSpPr txBox="1">
            <a:spLocks noChangeArrowheads="1"/>
          </p:cNvSpPr>
          <p:nvPr/>
        </p:nvSpPr>
        <p:spPr bwMode="auto">
          <a:xfrm>
            <a:off x="2259936" y="2590795"/>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广播</a:t>
            </a:r>
          </a:p>
        </p:txBody>
      </p:sp>
      <p:sp>
        <p:nvSpPr>
          <p:cNvPr id="36" name="AutoShape 29"/>
          <p:cNvSpPr>
            <a:spLocks noChangeArrowheads="1"/>
          </p:cNvSpPr>
          <p:nvPr/>
        </p:nvSpPr>
        <p:spPr bwMode="auto">
          <a:xfrm>
            <a:off x="6093721" y="3602554"/>
            <a:ext cx="382496" cy="156144"/>
          </a:xfrm>
          <a:prstGeom prst="rightArrow">
            <a:avLst>
              <a:gd name="adj1" fmla="val 50000"/>
              <a:gd name="adj2" fmla="val 62500"/>
            </a:avLst>
          </a:prstGeom>
          <a:solidFill>
            <a:srgbClr val="00B050"/>
          </a:solidFill>
          <a:ln w="9525">
            <a:noFill/>
            <a:miter lim="800000"/>
            <a:headEnd/>
            <a:tailEnd/>
          </a:ln>
          <a:effectLst/>
        </p:spPr>
        <p:txBody>
          <a:bodyPr wrap="none" anchor="ctr"/>
          <a:lstStyle/>
          <a:p>
            <a:pPr eaLnBrk="1" hangingPunct="1"/>
            <a:endParaRPr lang="zh-CN" altLang="en-US" sz="1400" b="1" dirty="0">
              <a:solidFill>
                <a:schemeClr val="bg1"/>
              </a:solidFill>
              <a:latin typeface="Montserrat" panose="00000500000000000000" pitchFamily="2" charset="0"/>
              <a:ea typeface="微软雅黑 Light" panose="020B0502040204020203" pitchFamily="34" charset="-122"/>
            </a:endParaRPr>
          </a:p>
        </p:txBody>
      </p:sp>
      <p:sp>
        <p:nvSpPr>
          <p:cNvPr id="35" name="Text Box 35"/>
          <p:cNvSpPr txBox="1">
            <a:spLocks noChangeArrowheads="1"/>
          </p:cNvSpPr>
          <p:nvPr/>
        </p:nvSpPr>
        <p:spPr bwMode="auto">
          <a:xfrm>
            <a:off x="5190508" y="3208507"/>
            <a:ext cx="544351" cy="30759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dirty="0">
                <a:latin typeface="微软雅黑 Light" panose="020B0502040204020203" pitchFamily="34" charset="-122"/>
                <a:ea typeface="微软雅黑 Light" panose="020B0502040204020203" pitchFamily="34" charset="-122"/>
              </a:rPr>
              <a:t>单播</a:t>
            </a:r>
          </a:p>
        </p:txBody>
      </p:sp>
      <p:pic>
        <p:nvPicPr>
          <p:cNvPr id="43" name="图片 42"/>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7549301" y="3212000"/>
            <a:ext cx="728974" cy="1020563"/>
          </a:xfrm>
          <a:prstGeom prst="rect">
            <a:avLst/>
          </a:prstGeom>
        </p:spPr>
      </p:pic>
      <p:pic>
        <p:nvPicPr>
          <p:cNvPr id="44"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67514"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75203" y="3502508"/>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973411" y="2688375"/>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2" name="Rectangle 33"/>
          <p:cNvSpPr>
            <a:spLocks noChangeArrowheads="1"/>
          </p:cNvSpPr>
          <p:nvPr/>
        </p:nvSpPr>
        <p:spPr bwMode="auto">
          <a:xfrm>
            <a:off x="1691138" y="2912475"/>
            <a:ext cx="1681947" cy="313461"/>
          </a:xfrm>
          <a:prstGeom prst="rect">
            <a:avLst/>
          </a:prstGeom>
          <a:solidFill>
            <a:schemeClr val="bg1">
              <a:lumMod val="85000"/>
            </a:schemeClr>
          </a:solidFill>
          <a:ln w="9525">
            <a:noFill/>
            <a:miter lim="800000"/>
            <a:headEnd/>
            <a:tailEnd/>
          </a:ln>
          <a:effectLst/>
        </p:spPr>
        <p:txBody>
          <a:bodyPr wrap="none" anchor="ctr"/>
          <a:lstStyle/>
          <a:p>
            <a:pPr algn="ctr" eaLnBrk="1" hangingPunct="1"/>
            <a:r>
              <a:rPr kumimoji="1" lang="en-US" altLang="zh-CN" sz="1200" dirty="0">
                <a:solidFill>
                  <a:sysClr val="windowText" lastClr="000000"/>
                </a:solidFill>
                <a:latin typeface="Montserrat" panose="00000500000000000000" pitchFamily="2" charset="0"/>
                <a:ea typeface="微软雅黑 Light" panose="020B0502040204020203" pitchFamily="34" charset="-122"/>
              </a:rPr>
              <a:t>DHCP DISCOVER</a:t>
            </a:r>
          </a:p>
        </p:txBody>
      </p:sp>
      <p:sp>
        <p:nvSpPr>
          <p:cNvPr id="37" name="Rectangle 30"/>
          <p:cNvSpPr>
            <a:spLocks noChangeArrowheads="1"/>
          </p:cNvSpPr>
          <p:nvPr/>
        </p:nvSpPr>
        <p:spPr bwMode="auto">
          <a:xfrm>
            <a:off x="4621191" y="3524482"/>
            <a:ext cx="1682985" cy="312288"/>
          </a:xfrm>
          <a:prstGeom prst="rect">
            <a:avLst/>
          </a:prstGeom>
          <a:solidFill>
            <a:srgbClr val="00B050"/>
          </a:solidFill>
          <a:ln w="9525">
            <a:noFill/>
            <a:miter lim="800000"/>
            <a:headEnd/>
            <a:tailEnd/>
          </a:ln>
          <a:effectLst/>
        </p:spPr>
        <p:txBody>
          <a:bodyPr wrap="none" anchor="ctr"/>
          <a:lstStyle/>
          <a:p>
            <a:pPr algn="ctr" eaLnBrk="1" hangingPunct="1"/>
            <a:r>
              <a:rPr kumimoji="1" lang="en-US" altLang="zh-CN" sz="1200" dirty="0">
                <a:solidFill>
                  <a:schemeClr val="bg1"/>
                </a:solidFill>
                <a:latin typeface="Montserrat" panose="00000500000000000000" pitchFamily="2" charset="0"/>
                <a:ea typeface="微软雅黑 Light" panose="020B0502040204020203" pitchFamily="34" charset="-122"/>
              </a:rPr>
              <a:t>DHCP DISCOVER</a:t>
            </a:r>
          </a:p>
        </p:txBody>
      </p:sp>
    </p:spTree>
    <p:extLst>
      <p:ext uri="{BB962C8B-B14F-4D97-AF65-F5344CB8AC3E}">
        <p14:creationId xmlns:p14="http://schemas.microsoft.com/office/powerpoint/2010/main" val="25681124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39E535D7-CDF3-A35D-6C06-B2E631D92428}"/>
              </a:ext>
            </a:extLst>
          </p:cNvPr>
          <p:cNvSpPr>
            <a:spLocks noGrp="1"/>
          </p:cNvSpPr>
          <p:nvPr>
            <p:ph type="title"/>
          </p:nvPr>
        </p:nvSpPr>
        <p:spPr>
          <a:xfrm>
            <a:off x="485999" y="174482"/>
            <a:ext cx="8171999" cy="338554"/>
          </a:xfrm>
        </p:spPr>
        <p:txBody>
          <a:bodyPr/>
          <a:lstStyle/>
          <a:p>
            <a:r>
              <a:rPr lang="zh-CN" altLang="en-US" dirty="0"/>
              <a:t>租用期 </a:t>
            </a:r>
            <a:r>
              <a:rPr lang="en-US" altLang="zh-CN" dirty="0"/>
              <a:t>Lease Period</a:t>
            </a:r>
            <a:endParaRPr lang="zh-CN" altLang="en-US" dirty="0"/>
          </a:p>
        </p:txBody>
      </p:sp>
      <p:sp>
        <p:nvSpPr>
          <p:cNvPr id="6" name="内容占位符 5">
            <a:extLst>
              <a:ext uri="{FF2B5EF4-FFF2-40B4-BE49-F238E27FC236}">
                <a16:creationId xmlns:a16="http://schemas.microsoft.com/office/drawing/2014/main" id="{4BB52EE0-3EFA-BC13-5401-800E7DEAE553}"/>
              </a:ext>
            </a:extLst>
          </p:cNvPr>
          <p:cNvSpPr>
            <a:spLocks noGrp="1"/>
          </p:cNvSpPr>
          <p:nvPr>
            <p:ph sz="quarter" idx="11"/>
          </p:nvPr>
        </p:nvSpPr>
        <p:spPr>
          <a:xfrm>
            <a:off x="486000" y="687518"/>
            <a:ext cx="8172000" cy="4079035"/>
          </a:xfrm>
        </p:spPr>
        <p:txBody>
          <a:bodyPr/>
          <a:lstStyle/>
          <a:p>
            <a:r>
              <a:rPr lang="en-US" altLang="zh-CN" dirty="0"/>
              <a:t>DHCP </a:t>
            </a:r>
            <a:r>
              <a:rPr lang="zh-CN" altLang="en-US" dirty="0"/>
              <a:t>服务器分配给 </a:t>
            </a:r>
            <a:r>
              <a:rPr lang="en-US" altLang="zh-CN" dirty="0"/>
              <a:t>DHCP </a:t>
            </a:r>
            <a:r>
              <a:rPr lang="zh-CN" altLang="en-US" dirty="0"/>
              <a:t>客户的 </a:t>
            </a:r>
            <a:r>
              <a:rPr lang="en-US" altLang="zh-CN" dirty="0"/>
              <a:t>IP </a:t>
            </a:r>
            <a:r>
              <a:rPr lang="zh-CN" altLang="en-US" dirty="0"/>
              <a:t>地址是临时的，因此 </a:t>
            </a:r>
            <a:r>
              <a:rPr lang="en-US" altLang="zh-CN" dirty="0"/>
              <a:t>DHCP </a:t>
            </a:r>
            <a:r>
              <a:rPr lang="zh-CN" altLang="en-US" dirty="0"/>
              <a:t>客户只能在一段有限的时间内使用这个分配到的 </a:t>
            </a:r>
            <a:r>
              <a:rPr lang="en-US" altLang="zh-CN" dirty="0"/>
              <a:t>IP </a:t>
            </a:r>
            <a:r>
              <a:rPr lang="zh-CN" altLang="en-US" dirty="0"/>
              <a:t>地址</a:t>
            </a:r>
            <a:endParaRPr lang="en-US" altLang="zh-CN" dirty="0"/>
          </a:p>
          <a:p>
            <a:r>
              <a:rPr lang="en-US" altLang="zh-CN" dirty="0"/>
              <a:t>DHCP </a:t>
            </a:r>
            <a:r>
              <a:rPr lang="zh-CN" altLang="en-US" dirty="0"/>
              <a:t>协议称这段时间为租用期</a:t>
            </a:r>
          </a:p>
          <a:p>
            <a:r>
              <a:rPr lang="zh-CN" altLang="en-US" dirty="0"/>
              <a:t>租用期的数值应由 </a:t>
            </a:r>
            <a:r>
              <a:rPr lang="en-US" altLang="zh-CN" dirty="0"/>
              <a:t>DHCP </a:t>
            </a:r>
            <a:r>
              <a:rPr lang="zh-CN" altLang="en-US" dirty="0"/>
              <a:t>服务器自己决定</a:t>
            </a:r>
          </a:p>
          <a:p>
            <a:r>
              <a:rPr lang="en-US" altLang="zh-CN" dirty="0"/>
              <a:t>DHCP </a:t>
            </a:r>
            <a:r>
              <a:rPr lang="zh-CN" altLang="en-US" dirty="0"/>
              <a:t>客户也可在自己发送的报文中（例如，发现报文）提出对租用期的要求</a:t>
            </a:r>
          </a:p>
          <a:p>
            <a:endParaRPr lang="zh-CN" altLang="en-US" dirty="0"/>
          </a:p>
        </p:txBody>
      </p:sp>
    </p:spTree>
    <p:extLst>
      <p:ext uri="{BB962C8B-B14F-4D97-AF65-F5344CB8AC3E}">
        <p14:creationId xmlns:p14="http://schemas.microsoft.com/office/powerpoint/2010/main" val="4130610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2" name="组合 161"/>
          <p:cNvGrpSpPr/>
          <p:nvPr/>
        </p:nvGrpSpPr>
        <p:grpSpPr>
          <a:xfrm>
            <a:off x="1933015" y="1048868"/>
            <a:ext cx="5259764" cy="3304264"/>
            <a:chOff x="-34130" y="587046"/>
            <a:chExt cx="9932621" cy="6239826"/>
          </a:xfrm>
        </p:grpSpPr>
        <p:sp>
          <p:nvSpPr>
            <p:cNvPr id="83"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5"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87"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88"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89"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0"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1"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3"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5"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96"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97"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98"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99"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1"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03"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04"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05"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06"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7"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09"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1"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2"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13"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14"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5"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17"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19"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0"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1"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22"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3"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24"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26"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127"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28"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9"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0"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1"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2"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33"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34"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135"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36"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37"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8"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39"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0"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41"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42"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143"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4"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45"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46"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7"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8"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49"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50"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1"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152"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3"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4"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5"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6"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7"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8"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59"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160"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161"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168" name="组合 167"/>
          <p:cNvGrpSpPr/>
          <p:nvPr/>
        </p:nvGrpSpPr>
        <p:grpSpPr>
          <a:xfrm>
            <a:off x="1252728" y="3180649"/>
            <a:ext cx="6757416" cy="1081681"/>
            <a:chOff x="1252728" y="3207283"/>
            <a:chExt cx="6757416" cy="1081681"/>
          </a:xfrm>
        </p:grpSpPr>
        <p:sp>
          <p:nvSpPr>
            <p:cNvPr id="167"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166" name="矩形 165"/>
            <p:cNvSpPr/>
            <p:nvPr/>
          </p:nvSpPr>
          <p:spPr>
            <a:xfrm>
              <a:off x="2304328" y="3317290"/>
              <a:ext cx="4885718" cy="759182"/>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sym typeface="Wingdings" pitchFamily="2" charset="2"/>
                </a:rPr>
                <a:t></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被动</a:t>
              </a:r>
              <a:r>
                <a:rPr lang="zh-CN" altLang="en-US" b="1" dirty="0">
                  <a:latin typeface="微软雅黑 Light" panose="020B0502040204020203" pitchFamily="34" charset="-122"/>
                  <a:ea typeface="微软雅黑 Light" panose="020B0502040204020203" pitchFamily="34" charset="-122"/>
                </a:rPr>
                <a:t>打开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67</a:t>
              </a:r>
              <a:r>
                <a:rPr lang="zh-CN" altLang="en-US" b="1" dirty="0">
                  <a:latin typeface="微软雅黑 Light" panose="020B0502040204020203" pitchFamily="34" charset="-122"/>
                  <a:ea typeface="微软雅黑 Light" panose="020B0502040204020203" pitchFamily="34" charset="-122"/>
                </a:rPr>
                <a:t>，等待客户端发来的报文。</a:t>
              </a:r>
            </a:p>
          </p:txBody>
        </p:sp>
      </p:grpSp>
      <p:sp>
        <p:nvSpPr>
          <p:cNvPr id="2" name="标题 1">
            <a:extLst>
              <a:ext uri="{FF2B5EF4-FFF2-40B4-BE49-F238E27FC236}">
                <a16:creationId xmlns:a16="http://schemas.microsoft.com/office/drawing/2014/main" id="{3A6DDFDA-4F48-9ED6-AF2B-0FAEAB0EDD12}"/>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640151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lnSpc>
                <a:spcPts val="2800"/>
              </a:lnSpc>
            </a:pPr>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2281675" y="3284521"/>
            <a:ext cx="491110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cs typeface="Adobe Arabic" panose="02040503050201020203" pitchFamily="18" charset="-78"/>
              </a:rPr>
              <a:t>❷</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 </a:t>
            </a:r>
            <a:r>
              <a:rPr lang="en-US" altLang="zh-CN" b="1" dirty="0">
                <a:latin typeface="微软雅黑 Light" panose="020B0502040204020203" pitchFamily="34" charset="-122"/>
                <a:ea typeface="微软雅黑 Light" panose="020B0502040204020203" pitchFamily="34" charset="-122"/>
              </a:rPr>
              <a:t>UDP </a:t>
            </a:r>
            <a:r>
              <a:rPr lang="zh-CN" altLang="en-US" b="1" dirty="0">
                <a:latin typeface="微软雅黑 Light" panose="020B0502040204020203" pitchFamily="34" charset="-122"/>
                <a:ea typeface="微软雅黑 Light" panose="020B0502040204020203" pitchFamily="34" charset="-122"/>
              </a:rPr>
              <a:t>端口 </a:t>
            </a:r>
            <a:r>
              <a:rPr lang="en-US" altLang="zh-CN" b="1" dirty="0">
                <a:latin typeface="微软雅黑 Light" panose="020B0502040204020203" pitchFamily="34" charset="-122"/>
                <a:ea typeface="微软雅黑 Light" panose="020B0502040204020203" pitchFamily="34" charset="-122"/>
              </a:rPr>
              <a:t>68 </a:t>
            </a:r>
            <a:r>
              <a:rPr lang="zh-CN" altLang="en-US" b="1" dirty="0">
                <a:latin typeface="微软雅黑 Light" panose="020B0502040204020203" pitchFamily="34" charset="-122"/>
                <a:ea typeface="微软雅黑 Light" panose="020B0502040204020203" pitchFamily="34" charset="-122"/>
              </a:rPr>
              <a:t>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 </a:t>
            </a:r>
            <a:r>
              <a:rPr lang="en-US" altLang="zh-CN" b="1" dirty="0">
                <a:latin typeface="微软雅黑 Light" panose="020B0502040204020203" pitchFamily="34" charset="-122"/>
                <a:ea typeface="微软雅黑 Light" panose="020B0502040204020203" pitchFamily="34" charset="-122"/>
              </a:rPr>
              <a:t>DHCPDISCOVER</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66673C28-A538-FBFC-177D-E88266683DB4}"/>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070172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89103" y="3156056"/>
            <a:ext cx="6134470"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❸：凡收到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发现报文的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a:t>
            </a:r>
            <a:r>
              <a:rPr lang="zh-CN" altLang="en-US" b="1" dirty="0">
                <a:solidFill>
                  <a:srgbClr val="0000FF"/>
                </a:solidFill>
                <a:latin typeface="微软雅黑 Light" panose="020B0502040204020203" pitchFamily="34" charset="-122"/>
                <a:ea typeface="微软雅黑 Light" panose="020B0502040204020203" pitchFamily="34" charset="-122"/>
              </a:rPr>
              <a:t>都发出</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r>
              <a:rPr lang="en-US" altLang="zh-CN" b="1" dirty="0">
                <a:latin typeface="微软雅黑 Light" panose="020B0502040204020203" pitchFamily="34" charset="-122"/>
                <a:ea typeface="微软雅黑 Light" panose="020B0502040204020203" pitchFamily="34" charset="-122"/>
              </a:rPr>
              <a:t>DHCPOFFER</a:t>
            </a:r>
            <a:r>
              <a:rPr lang="zh-CN" altLang="en-US" b="1" dirty="0">
                <a:latin typeface="微软雅黑 Light" panose="020B0502040204020203" pitchFamily="34" charset="-122"/>
                <a:ea typeface="微软雅黑 Light" panose="020B0502040204020203" pitchFamily="34" charset="-122"/>
              </a:rPr>
              <a:t>，因此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客户可能收到多个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提供报文 。</a:t>
            </a:r>
          </a:p>
        </p:txBody>
      </p:sp>
      <p:sp>
        <p:nvSpPr>
          <p:cNvPr id="2" name="标题 1">
            <a:extLst>
              <a:ext uri="{FF2B5EF4-FFF2-40B4-BE49-F238E27FC236}">
                <a16:creationId xmlns:a16="http://schemas.microsoft.com/office/drawing/2014/main" id="{48D1DF7E-9F9E-1E32-E4EA-FABDC77AF95C}"/>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9819794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65668"/>
            <a:ext cx="6116714"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❹：</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客户从几个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服务器中</a:t>
            </a:r>
            <a:r>
              <a:rPr lang="zh-CN" altLang="en-US" b="1" dirty="0">
                <a:solidFill>
                  <a:srgbClr val="0000FF"/>
                </a:solidFill>
                <a:latin typeface="微软雅黑 Light" panose="020B0502040204020203" pitchFamily="34" charset="-122"/>
                <a:ea typeface="微软雅黑 Light" panose="020B0502040204020203" pitchFamily="34" charset="-122"/>
              </a:rPr>
              <a:t>选择其中的一个，</a:t>
            </a:r>
            <a:r>
              <a:rPr lang="zh-CN" altLang="en-US" b="1" dirty="0">
                <a:latin typeface="微软雅黑 Light" panose="020B0502040204020203" pitchFamily="34" charset="-122"/>
                <a:ea typeface="微软雅黑 Light" panose="020B0502040204020203" pitchFamily="34" charset="-122"/>
              </a:rPr>
              <a:t>并向所选择的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a:t>
            </a:r>
          </a:p>
        </p:txBody>
      </p:sp>
      <p:sp>
        <p:nvSpPr>
          <p:cNvPr id="2" name="标题 1">
            <a:extLst>
              <a:ext uri="{FF2B5EF4-FFF2-40B4-BE49-F238E27FC236}">
                <a16:creationId xmlns:a16="http://schemas.microsoft.com/office/drawing/2014/main" id="{70744E2B-B65C-E91D-C5DC-33C9B7F7275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519411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45" y="3184095"/>
            <a:ext cx="6010182"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❺：被选择的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客户可开始使用得到的</a:t>
            </a:r>
            <a:r>
              <a:rPr lang="zh-CN" altLang="en-US" b="1" dirty="0">
                <a:solidFill>
                  <a:srgbClr val="0000FF"/>
                </a:solidFill>
                <a:latin typeface="微软雅黑 Light" panose="020B0502040204020203" pitchFamily="34" charset="-122"/>
                <a:ea typeface="微软雅黑 Light" panose="020B0502040204020203" pitchFamily="34" charset="-122"/>
              </a:rPr>
              <a:t>临时</a:t>
            </a:r>
            <a:r>
              <a:rPr lang="zh-CN" altLang="en-US" b="1" dirty="0">
                <a:latin typeface="微软雅黑 Light" panose="020B0502040204020203" pitchFamily="34" charset="-122"/>
                <a:ea typeface="微软雅黑 Light" panose="020B0502040204020203" pitchFamily="34" charset="-122"/>
              </a:rPr>
              <a:t>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地址了，进入已绑定状态。 </a:t>
            </a:r>
          </a:p>
        </p:txBody>
      </p:sp>
      <p:sp>
        <p:nvSpPr>
          <p:cNvPr id="2" name="标题 1">
            <a:extLst>
              <a:ext uri="{FF2B5EF4-FFF2-40B4-BE49-F238E27FC236}">
                <a16:creationId xmlns:a16="http://schemas.microsoft.com/office/drawing/2014/main" id="{AEEBB52E-02E6-6A0E-7A78-14439087E338}"/>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12710836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4614" y="3189032"/>
            <a:ext cx="6223246" cy="1092607"/>
          </a:xfrm>
          <a:prstGeom prst="rect">
            <a:avLst/>
          </a:prstGeom>
          <a:noFill/>
        </p:spPr>
        <p:txBody>
          <a:bodyPr wrap="square">
            <a:spAutoFit/>
          </a:bodyPr>
          <a:lstStyle/>
          <a:p>
            <a:pPr>
              <a:lnSpc>
                <a:spcPts val="2600"/>
              </a:lnSpc>
            </a:pP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客户现在要根据服务器提供的</a:t>
            </a:r>
            <a:r>
              <a:rPr lang="zh-CN" altLang="en-US" b="1" dirty="0">
                <a:solidFill>
                  <a:srgbClr val="0000FF"/>
                </a:solidFill>
                <a:latin typeface="微软雅黑 Light" panose="020B0502040204020203" pitchFamily="34" charset="-122"/>
                <a:ea typeface="微软雅黑 Light" panose="020B0502040204020203" pitchFamily="34" charset="-122"/>
              </a:rPr>
              <a:t>租用期 </a:t>
            </a:r>
            <a:r>
              <a:rPr lang="en-US" altLang="zh-CN" b="1" dirty="0">
                <a:solidFill>
                  <a:srgbClr val="0000FF"/>
                </a:solidFill>
                <a:latin typeface="微软雅黑 Light" panose="020B0502040204020203" pitchFamily="34" charset="-122"/>
                <a:ea typeface="微软雅黑 Light" panose="020B0502040204020203" pitchFamily="34" charset="-122"/>
              </a:rPr>
              <a:t>T </a:t>
            </a:r>
            <a:r>
              <a:rPr lang="zh-CN" altLang="en-US" b="1" dirty="0">
                <a:latin typeface="微软雅黑 Light" panose="020B0502040204020203" pitchFamily="34" charset="-122"/>
                <a:ea typeface="微软雅黑 Light" panose="020B0502040204020203" pitchFamily="34" charset="-122"/>
              </a:rPr>
              <a:t>设置</a:t>
            </a:r>
            <a:r>
              <a:rPr lang="zh-CN" altLang="en-US" b="1" dirty="0">
                <a:solidFill>
                  <a:srgbClr val="0000FF"/>
                </a:solidFill>
                <a:latin typeface="微软雅黑 Light" panose="020B0502040204020203" pitchFamily="34" charset="-122"/>
                <a:ea typeface="微软雅黑 Light" panose="020B0502040204020203" pitchFamily="34" charset="-122"/>
              </a:rPr>
              <a:t>两个</a:t>
            </a:r>
            <a:r>
              <a:rPr lang="zh-CN" altLang="en-US" b="1" dirty="0">
                <a:latin typeface="微软雅黑 Light" panose="020B0502040204020203" pitchFamily="34" charset="-122"/>
                <a:ea typeface="微软雅黑 Light" panose="020B0502040204020203" pitchFamily="34" charset="-122"/>
              </a:rPr>
              <a:t>计时器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2</a:t>
            </a:r>
            <a:r>
              <a:rPr lang="zh-CN" altLang="en-US" b="1" dirty="0">
                <a:latin typeface="微软雅黑 Light" panose="020B0502040204020203" pitchFamily="34" charset="-122"/>
                <a:ea typeface="微软雅黑 Light" panose="020B0502040204020203" pitchFamily="34" charset="-122"/>
              </a:rPr>
              <a:t>，它们的超时时间分别是 </a:t>
            </a:r>
            <a:r>
              <a:rPr lang="en-US" altLang="zh-CN" b="1" dirty="0">
                <a:latin typeface="微软雅黑 Light" panose="020B0502040204020203" pitchFamily="34" charset="-122"/>
                <a:ea typeface="微软雅黑 Light" panose="020B0502040204020203" pitchFamily="34" charset="-122"/>
              </a:rPr>
              <a:t>0.5T </a:t>
            </a:r>
            <a:r>
              <a:rPr lang="zh-CN" altLang="en-US" b="1" dirty="0">
                <a:latin typeface="微软雅黑 Light" panose="020B0502040204020203" pitchFamily="34" charset="-122"/>
                <a:ea typeface="微软雅黑 Light" panose="020B0502040204020203" pitchFamily="34" charset="-122"/>
              </a:rPr>
              <a:t>和 </a:t>
            </a:r>
            <a:r>
              <a:rPr lang="en-US" altLang="zh-CN" b="1" dirty="0">
                <a:latin typeface="微软雅黑 Light" panose="020B0502040204020203" pitchFamily="34" charset="-122"/>
                <a:ea typeface="微软雅黑 Light" panose="020B0502040204020203" pitchFamily="34" charset="-122"/>
              </a:rPr>
              <a:t>0.875T</a:t>
            </a:r>
            <a:r>
              <a:rPr lang="zh-CN" altLang="en-US" b="1" dirty="0">
                <a:latin typeface="微软雅黑 Light" panose="020B0502040204020203" pitchFamily="34" charset="-122"/>
                <a:ea typeface="微软雅黑 Light" panose="020B0502040204020203" pitchFamily="34" charset="-122"/>
              </a:rPr>
              <a:t>。当超时时间到时，就要请求更新租用期。</a:t>
            </a:r>
          </a:p>
        </p:txBody>
      </p:sp>
      <p:sp>
        <p:nvSpPr>
          <p:cNvPr id="2" name="标题 1">
            <a:extLst>
              <a:ext uri="{FF2B5EF4-FFF2-40B4-BE49-F238E27FC236}">
                <a16:creationId xmlns:a16="http://schemas.microsoft.com/office/drawing/2014/main" id="{E55B4FF0-0225-3500-D22E-92EB34CC17B5}"/>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2631353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sp>
        <p:nvSpPr>
          <p:cNvPr id="85" name="Rectangle 88"/>
          <p:cNvSpPr>
            <a:spLocks noChangeArrowheads="1"/>
          </p:cNvSpPr>
          <p:nvPr/>
        </p:nvSpPr>
        <p:spPr bwMode="auto">
          <a:xfrm>
            <a:off x="1252728" y="3180649"/>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26384" y="3253058"/>
            <a:ext cx="6114944" cy="759182"/>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❻：租用期过了</a:t>
            </a:r>
            <a:r>
              <a:rPr lang="zh-CN" altLang="en-US" b="1" dirty="0">
                <a:solidFill>
                  <a:srgbClr val="0000FF"/>
                </a:solidFill>
                <a:latin typeface="微软雅黑 Light" panose="020B0502040204020203" pitchFamily="34" charset="-122"/>
                <a:ea typeface="微软雅黑 Light" panose="020B0502040204020203" pitchFamily="34" charset="-122"/>
              </a:rPr>
              <a:t>一半</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T</a:t>
            </a:r>
            <a:r>
              <a:rPr lang="en-US" altLang="zh-CN" b="1" baseline="-25000" dirty="0">
                <a:latin typeface="微软雅黑 Light" panose="020B0502040204020203" pitchFamily="34" charset="-122"/>
                <a:ea typeface="微软雅黑 Light" panose="020B0502040204020203" pitchFamily="34" charset="-122"/>
              </a:rPr>
              <a:t>1</a:t>
            </a:r>
            <a:r>
              <a:rPr lang="en-US" altLang="zh-CN" b="1" dirty="0">
                <a:latin typeface="微软雅黑 Light" panose="020B0502040204020203" pitchFamily="34" charset="-122"/>
                <a:ea typeface="微软雅黑 Light" panose="020B0502040204020203" pitchFamily="34" charset="-122"/>
              </a:rPr>
              <a:t> </a:t>
            </a:r>
            <a:r>
              <a:rPr lang="zh-CN" altLang="en-US" b="1" dirty="0">
                <a:latin typeface="微软雅黑 Light" panose="020B0502040204020203" pitchFamily="34" charset="-122"/>
                <a:ea typeface="微软雅黑 Light" panose="020B0502040204020203" pitchFamily="34" charset="-122"/>
              </a:rPr>
              <a:t>时间到），</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发送请求报文 </a:t>
            </a:r>
            <a:r>
              <a:rPr lang="en-US" altLang="zh-CN" b="1" dirty="0">
                <a:latin typeface="微软雅黑 Light" panose="020B0502040204020203" pitchFamily="34" charset="-122"/>
                <a:ea typeface="微软雅黑 Light" panose="020B0502040204020203" pitchFamily="34" charset="-122"/>
              </a:rPr>
              <a:t>DHCPREQUEST</a:t>
            </a:r>
            <a:r>
              <a:rPr lang="zh-CN" altLang="en-US" b="1" dirty="0">
                <a:latin typeface="微软雅黑 Light" panose="020B0502040204020203" pitchFamily="34" charset="-122"/>
                <a:ea typeface="微软雅黑 Light" panose="020B0502040204020203" pitchFamily="34" charset="-122"/>
              </a:rPr>
              <a:t>，要求</a:t>
            </a:r>
            <a:r>
              <a:rPr lang="zh-CN" altLang="en-US" b="1" dirty="0">
                <a:solidFill>
                  <a:srgbClr val="0000FF"/>
                </a:solidFill>
                <a:latin typeface="微软雅黑 Light" panose="020B0502040204020203" pitchFamily="34" charset="-122"/>
                <a:ea typeface="微软雅黑 Light" panose="020B0502040204020203" pitchFamily="34" charset="-122"/>
              </a:rPr>
              <a:t>更新</a:t>
            </a:r>
            <a:r>
              <a:rPr lang="zh-CN" altLang="en-US" b="1" dirty="0">
                <a:latin typeface="微软雅黑 Light" panose="020B0502040204020203" pitchFamily="34" charset="-122"/>
                <a:ea typeface="微软雅黑 Light" panose="020B0502040204020203" pitchFamily="34" charset="-122"/>
              </a:rPr>
              <a:t>租用期。 </a:t>
            </a:r>
          </a:p>
        </p:txBody>
      </p:sp>
      <p:sp>
        <p:nvSpPr>
          <p:cNvPr id="2" name="标题 1">
            <a:extLst>
              <a:ext uri="{FF2B5EF4-FFF2-40B4-BE49-F238E27FC236}">
                <a16:creationId xmlns:a16="http://schemas.microsoft.com/office/drawing/2014/main" id="{5BC80951-6849-1AD8-A2BF-B4084A42BF00}"/>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1847310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83034"/>
            <a:chOff x="1252728" y="3207284"/>
            <a:chExt cx="6757416" cy="824984"/>
          </a:xfrm>
          <a:solidFill>
            <a:schemeClr val="accent6">
              <a:lumMod val="60000"/>
              <a:lumOff val="40000"/>
            </a:schemeClr>
          </a:solidFill>
        </p:grpSpPr>
        <p:sp>
          <p:nvSpPr>
            <p:cNvPr id="85" name="Rectangle 88"/>
            <p:cNvSpPr>
              <a:spLocks noChangeArrowheads="1"/>
            </p:cNvSpPr>
            <p:nvPr/>
          </p:nvSpPr>
          <p:spPr bwMode="auto">
            <a:xfrm>
              <a:off x="1252728" y="3207284"/>
              <a:ext cx="6757416" cy="824984"/>
            </a:xfrm>
            <a:prstGeom prst="rect">
              <a:avLst/>
            </a:prstGeom>
            <a:grp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1855" y="3218788"/>
              <a:ext cx="5939161" cy="578295"/>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❼：</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同意，</a:t>
              </a:r>
              <a:r>
                <a:rPr lang="zh-CN" altLang="en-US" b="1" dirty="0">
                  <a:latin typeface="微软雅黑 Light" panose="020B0502040204020203" pitchFamily="34" charset="-122"/>
                  <a:ea typeface="微软雅黑 Light" panose="020B0502040204020203" pitchFamily="34" charset="-122"/>
                </a:rPr>
                <a:t>则发回确认报文 </a:t>
              </a:r>
              <a:r>
                <a:rPr lang="en-US" altLang="zh-CN" b="1" dirty="0">
                  <a:latin typeface="微软雅黑 Light" panose="020B0502040204020203" pitchFamily="34" charset="-122"/>
                  <a:ea typeface="微软雅黑 Light" panose="020B0502040204020203" pitchFamily="34" charset="-122"/>
                </a:rPr>
                <a:t>DHCPACK</a:t>
              </a:r>
              <a:r>
                <a:rPr lang="zh-CN" altLang="en-US" b="1" dirty="0">
                  <a:latin typeface="微软雅黑 Light" panose="020B0502040204020203" pitchFamily="34" charset="-122"/>
                  <a:ea typeface="微软雅黑 Light" panose="020B0502040204020203" pitchFamily="34" charset="-122"/>
                </a:rPr>
                <a:t>。</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客户得到了新的租用期，重新设置计时器。</a:t>
              </a:r>
            </a:p>
          </p:txBody>
        </p:sp>
      </p:grpSp>
      <p:sp>
        <p:nvSpPr>
          <p:cNvPr id="2" name="标题 1">
            <a:extLst>
              <a:ext uri="{FF2B5EF4-FFF2-40B4-BE49-F238E27FC236}">
                <a16:creationId xmlns:a16="http://schemas.microsoft.com/office/drawing/2014/main" id="{BE23A109-1773-A8D2-D618-BDB2C8F7998A}"/>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459998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5" name="Line 56"/>
            <p:cNvSpPr>
              <a:spLocks noChangeShapeType="1"/>
            </p:cNvSpPr>
            <p:nvPr/>
          </p:nvSpPr>
          <p:spPr bwMode="auto">
            <a:xfrm flipH="1">
              <a:off x="2452423" y="5411788"/>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7" name="Rectangle 58"/>
            <p:cNvSpPr>
              <a:spLocks noChangeArrowheads="1"/>
            </p:cNvSpPr>
            <p:nvPr/>
          </p:nvSpPr>
          <p:spPr bwMode="auto">
            <a:xfrm>
              <a:off x="3529012" y="5283200"/>
              <a:ext cx="2904729" cy="255588"/>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DHCPNACK</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98575"/>
            <a:ext cx="6757416" cy="1094614"/>
            <a:chOff x="1252728" y="3207283"/>
            <a:chExt cx="6757416" cy="1094614"/>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95636" y="3209290"/>
              <a:ext cx="6098958"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❽：</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服务器若</a:t>
              </a:r>
              <a:r>
                <a:rPr lang="zh-CN" altLang="en-US" b="1" dirty="0">
                  <a:solidFill>
                    <a:srgbClr val="0000FF"/>
                  </a:solidFill>
                  <a:latin typeface="微软雅黑 Light" panose="020B0502040204020203" pitchFamily="34" charset="-122"/>
                  <a:ea typeface="微软雅黑 Light" panose="020B0502040204020203" pitchFamily="34" charset="-122"/>
                </a:rPr>
                <a:t>不同意，</a:t>
              </a:r>
              <a:r>
                <a:rPr lang="zh-CN" altLang="en-US" b="1" dirty="0">
                  <a:latin typeface="微软雅黑 Light" panose="020B0502040204020203" pitchFamily="34" charset="-122"/>
                  <a:ea typeface="微软雅黑 Light" panose="020B0502040204020203" pitchFamily="34" charset="-122"/>
                </a:rPr>
                <a:t>则发回否认报 </a:t>
              </a:r>
              <a:r>
                <a:rPr lang="en-US" altLang="zh-CN" b="1" dirty="0">
                  <a:latin typeface="微软雅黑 Light" panose="020B0502040204020203" pitchFamily="34" charset="-122"/>
                  <a:ea typeface="微软雅黑 Light" panose="020B0502040204020203" pitchFamily="34" charset="-122"/>
                </a:rPr>
                <a:t>DHCPNACK</a:t>
              </a:r>
              <a:r>
                <a:rPr lang="zh-CN" altLang="en-US" b="1" dirty="0">
                  <a:latin typeface="微软雅黑 Light" panose="020B0502040204020203" pitchFamily="34" charset="-122"/>
                  <a:ea typeface="微软雅黑 Light" panose="020B0502040204020203" pitchFamily="34" charset="-122"/>
                </a:rPr>
                <a:t>。这时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客户必须立即停止使用原来的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地址，而必须重新申请 </a:t>
              </a:r>
              <a:r>
                <a:rPr lang="en-US" altLang="zh-CN" b="1" dirty="0">
                  <a:latin typeface="微软雅黑 Light" panose="020B0502040204020203" pitchFamily="34" charset="-122"/>
                  <a:ea typeface="微软雅黑 Light" panose="020B0502040204020203" pitchFamily="34" charset="-122"/>
                </a:rPr>
                <a:t>IP </a:t>
              </a:r>
              <a:r>
                <a:rPr lang="zh-CN" altLang="en-US" b="1" dirty="0">
                  <a:latin typeface="微软雅黑 Light" panose="020B0502040204020203" pitchFamily="34" charset="-122"/>
                  <a:ea typeface="微软雅黑 Light" panose="020B0502040204020203" pitchFamily="34" charset="-122"/>
                </a:rPr>
                <a:t>地址（回到步骤  ❷）。</a:t>
              </a:r>
            </a:p>
          </p:txBody>
        </p:sp>
      </p:grpSp>
      <p:sp>
        <p:nvSpPr>
          <p:cNvPr id="2" name="标题 1">
            <a:extLst>
              <a:ext uri="{FF2B5EF4-FFF2-40B4-BE49-F238E27FC236}">
                <a16:creationId xmlns:a16="http://schemas.microsoft.com/office/drawing/2014/main" id="{EEC7FA99-61B2-EAF5-F107-2F02C5F5B4BF}"/>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35087109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3111"/>
            <a:ext cx="6757416" cy="1097145"/>
            <a:chOff x="1252728" y="3191819"/>
            <a:chExt cx="6757416" cy="1097145"/>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502057" y="3191819"/>
              <a:ext cx="6258757" cy="1092607"/>
            </a:xfrm>
            <a:prstGeom prst="rect">
              <a:avLst/>
            </a:prstGeom>
            <a:noFill/>
          </p:spPr>
          <p:txBody>
            <a:bodyPr wrap="square">
              <a:spAutoFit/>
            </a:bodyPr>
            <a:lstStyle/>
            <a:p>
              <a:pPr>
                <a:lnSpc>
                  <a:spcPts val="2600"/>
                </a:lnSpc>
              </a:pPr>
              <a:r>
                <a:rPr lang="zh-CN" altLang="en-US" sz="1600" b="1" dirty="0">
                  <a:latin typeface="微软雅黑 Light" panose="020B0502040204020203" pitchFamily="34" charset="-122"/>
                  <a:ea typeface="微软雅黑 Light" panose="020B0502040204020203" pitchFamily="34" charset="-122"/>
                </a:rPr>
                <a:t>若 </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服务器不响应步骤  ❻ 的请求报文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，则在租用期过了 </a:t>
              </a:r>
              <a:r>
                <a:rPr lang="en-US" altLang="zh-CN" sz="1600" b="1" dirty="0">
                  <a:solidFill>
                    <a:srgbClr val="0000FF"/>
                  </a:solidFill>
                  <a:latin typeface="微软雅黑 Light" panose="020B0502040204020203" pitchFamily="34" charset="-122"/>
                  <a:ea typeface="微软雅黑 Light" panose="020B0502040204020203" pitchFamily="34" charset="-122"/>
                </a:rPr>
                <a:t>87.5% </a:t>
              </a:r>
              <a:r>
                <a:rPr lang="zh-CN" altLang="en-US" sz="1600" b="1" dirty="0">
                  <a:latin typeface="微软雅黑 Light" panose="020B0502040204020203" pitchFamily="34" charset="-122"/>
                  <a:ea typeface="微软雅黑 Light" panose="020B0502040204020203" pitchFamily="34" charset="-122"/>
                </a:rPr>
                <a:t>时 </a:t>
              </a:r>
              <a:r>
                <a:rPr lang="en-US" altLang="zh-CN" sz="1600" b="1" dirty="0">
                  <a:latin typeface="微软雅黑 Light" panose="020B0502040204020203" pitchFamily="34" charset="-122"/>
                  <a:ea typeface="微软雅黑 Light" panose="020B0502040204020203" pitchFamily="34" charset="-122"/>
                </a:rPr>
                <a:t>(T</a:t>
              </a:r>
              <a:r>
                <a:rPr lang="en-US" altLang="zh-CN" sz="1600" b="1" baseline="-25000" dirty="0">
                  <a:latin typeface="微软雅黑 Light" panose="020B0502040204020203" pitchFamily="34" charset="-122"/>
                  <a:ea typeface="微软雅黑 Light" panose="020B0502040204020203" pitchFamily="34" charset="-122"/>
                </a:rPr>
                <a:t>2</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时间到</a:t>
              </a:r>
              <a:r>
                <a:rPr lang="en-US" altLang="zh-CN" sz="1600" b="1" dirty="0">
                  <a:latin typeface="微软雅黑 Light" panose="020B0502040204020203" pitchFamily="34" charset="-122"/>
                  <a:ea typeface="微软雅黑 Light" panose="020B0502040204020203" pitchFamily="34" charset="-122"/>
                </a:rPr>
                <a:t>)</a:t>
              </a:r>
              <a:r>
                <a:rPr lang="zh-CN" altLang="en-US" sz="1600" b="1" dirty="0">
                  <a:latin typeface="微软雅黑 Light" panose="020B0502040204020203" pitchFamily="34" charset="-122"/>
                  <a:ea typeface="微软雅黑 Light" panose="020B0502040204020203" pitchFamily="34" charset="-122"/>
                </a:rPr>
                <a:t>，</a:t>
              </a:r>
              <a:r>
                <a:rPr lang="en-US" altLang="zh-CN" sz="1600" b="1" dirty="0">
                  <a:latin typeface="微软雅黑 Light" panose="020B0502040204020203" pitchFamily="34" charset="-122"/>
                  <a:ea typeface="微软雅黑 Light" panose="020B0502040204020203" pitchFamily="34" charset="-122"/>
                </a:rPr>
                <a:t>DHCP </a:t>
              </a:r>
              <a:r>
                <a:rPr lang="zh-CN" altLang="en-US" sz="1600" b="1" dirty="0">
                  <a:latin typeface="微软雅黑 Light" panose="020B0502040204020203" pitchFamily="34" charset="-122"/>
                  <a:ea typeface="微软雅黑 Light" panose="020B0502040204020203" pitchFamily="34" charset="-122"/>
                </a:rPr>
                <a:t>客户必须重新发送请求报文 </a:t>
              </a:r>
              <a:r>
                <a:rPr lang="en-US" altLang="zh-CN" sz="1600" b="1" dirty="0">
                  <a:latin typeface="微软雅黑 Light" panose="020B0502040204020203" pitchFamily="34" charset="-122"/>
                  <a:ea typeface="微软雅黑 Light" panose="020B0502040204020203" pitchFamily="34" charset="-122"/>
                </a:rPr>
                <a:t>DHCPREQUEST</a:t>
              </a:r>
              <a:r>
                <a:rPr lang="zh-CN" altLang="en-US" sz="1600" b="1" dirty="0">
                  <a:latin typeface="微软雅黑 Light" panose="020B0502040204020203" pitchFamily="34" charset="-122"/>
                  <a:ea typeface="微软雅黑 Light" panose="020B0502040204020203" pitchFamily="34" charset="-122"/>
                </a:rPr>
                <a:t>（重复步骤  ❻），然后又继续后面的步骤。 </a:t>
              </a:r>
            </a:p>
          </p:txBody>
        </p:sp>
      </p:grpSp>
      <p:sp>
        <p:nvSpPr>
          <p:cNvPr id="2" name="标题 1">
            <a:extLst>
              <a:ext uri="{FF2B5EF4-FFF2-40B4-BE49-F238E27FC236}">
                <a16:creationId xmlns:a16="http://schemas.microsoft.com/office/drawing/2014/main" id="{099C9C55-3388-7ECF-9DAD-05A153149973}"/>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7135350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933015" y="1048868"/>
            <a:ext cx="5259764" cy="3304264"/>
            <a:chOff x="-34130" y="587046"/>
            <a:chExt cx="9932621" cy="6239826"/>
          </a:xfrm>
        </p:grpSpPr>
        <p:sp>
          <p:nvSpPr>
            <p:cNvPr id="6" name="Line 4"/>
            <p:cNvSpPr>
              <a:spLocks noChangeShapeType="1"/>
            </p:cNvSpPr>
            <p:nvPr/>
          </p:nvSpPr>
          <p:spPr bwMode="auto">
            <a:xfrm flipH="1">
              <a:off x="6131058" y="1100138"/>
              <a:ext cx="1506538"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7" name="Line 6"/>
            <p:cNvSpPr>
              <a:spLocks noChangeShapeType="1"/>
            </p:cNvSpPr>
            <p:nvPr/>
          </p:nvSpPr>
          <p:spPr bwMode="auto">
            <a:xfrm>
              <a:off x="2454143" y="17478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8" name="Rectangle 7"/>
            <p:cNvSpPr>
              <a:spLocks noChangeArrowheads="1"/>
            </p:cNvSpPr>
            <p:nvPr/>
          </p:nvSpPr>
          <p:spPr bwMode="auto">
            <a:xfrm>
              <a:off x="624285" y="1576388"/>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9" name="Rectangle 8"/>
            <p:cNvSpPr>
              <a:spLocks noChangeArrowheads="1"/>
            </p:cNvSpPr>
            <p:nvPr/>
          </p:nvSpPr>
          <p:spPr bwMode="auto">
            <a:xfrm>
              <a:off x="3529012" y="1617664"/>
              <a:ext cx="2904729"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DHCPDISCOVER</a:t>
              </a:r>
            </a:p>
          </p:txBody>
        </p:sp>
        <p:sp>
          <p:nvSpPr>
            <p:cNvPr id="10" name="Rectangle 9"/>
            <p:cNvSpPr>
              <a:spLocks noChangeArrowheads="1"/>
            </p:cNvSpPr>
            <p:nvPr/>
          </p:nvSpPr>
          <p:spPr bwMode="auto">
            <a:xfrm>
              <a:off x="8155252" y="1576388"/>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1" name="Rectangle 10"/>
            <p:cNvSpPr>
              <a:spLocks noChangeArrowheads="1"/>
            </p:cNvSpPr>
            <p:nvPr/>
          </p:nvSpPr>
          <p:spPr bwMode="auto">
            <a:xfrm>
              <a:off x="7618677" y="1617664"/>
              <a:ext cx="536575" cy="25717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12" name="Rectangle 11"/>
            <p:cNvSpPr>
              <a:spLocks noChangeArrowheads="1"/>
            </p:cNvSpPr>
            <p:nvPr/>
          </p:nvSpPr>
          <p:spPr bwMode="auto">
            <a:xfrm>
              <a:off x="1700875" y="1617664"/>
              <a:ext cx="753269" cy="257175"/>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13" name="Text Box 12"/>
            <p:cNvSpPr txBox="1">
              <a:spLocks noChangeArrowheads="1"/>
            </p:cNvSpPr>
            <p:nvPr/>
          </p:nvSpPr>
          <p:spPr bwMode="auto">
            <a:xfrm>
              <a:off x="1697436" y="1771317"/>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4" name="Text Box 13"/>
            <p:cNvSpPr txBox="1">
              <a:spLocks noChangeArrowheads="1"/>
            </p:cNvSpPr>
            <p:nvPr/>
          </p:nvSpPr>
          <p:spPr bwMode="auto">
            <a:xfrm>
              <a:off x="7419182" y="174051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15" name="Line 14"/>
            <p:cNvSpPr>
              <a:spLocks noChangeShapeType="1"/>
            </p:cNvSpPr>
            <p:nvPr/>
          </p:nvSpPr>
          <p:spPr bwMode="auto">
            <a:xfrm flipH="1">
              <a:off x="2452423" y="2359025"/>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16" name="Rectangle 15"/>
            <p:cNvSpPr>
              <a:spLocks noChangeArrowheads="1"/>
            </p:cNvSpPr>
            <p:nvPr/>
          </p:nvSpPr>
          <p:spPr bwMode="auto">
            <a:xfrm>
              <a:off x="624286" y="2187576"/>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17" name="Rectangle 16"/>
            <p:cNvSpPr>
              <a:spLocks noChangeArrowheads="1"/>
            </p:cNvSpPr>
            <p:nvPr/>
          </p:nvSpPr>
          <p:spPr bwMode="auto">
            <a:xfrm>
              <a:off x="3529012" y="2230439"/>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DHCPOFFER</a:t>
              </a:r>
            </a:p>
          </p:txBody>
        </p:sp>
        <p:sp>
          <p:nvSpPr>
            <p:cNvPr id="18" name="Rectangle 17"/>
            <p:cNvSpPr>
              <a:spLocks noChangeArrowheads="1"/>
            </p:cNvSpPr>
            <p:nvPr/>
          </p:nvSpPr>
          <p:spPr bwMode="auto">
            <a:xfrm>
              <a:off x="8155252" y="2187576"/>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19" name="Rectangle 18"/>
            <p:cNvSpPr>
              <a:spLocks noChangeArrowheads="1"/>
            </p:cNvSpPr>
            <p:nvPr/>
          </p:nvSpPr>
          <p:spPr bwMode="auto">
            <a:xfrm>
              <a:off x="7618677" y="2230439"/>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0" name="Rectangle 19"/>
            <p:cNvSpPr>
              <a:spLocks noChangeArrowheads="1"/>
            </p:cNvSpPr>
            <p:nvPr/>
          </p:nvSpPr>
          <p:spPr bwMode="auto">
            <a:xfrm>
              <a:off x="1699155" y="2230439"/>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1" name="Text Box 20"/>
            <p:cNvSpPr txBox="1">
              <a:spLocks noChangeArrowheads="1"/>
            </p:cNvSpPr>
            <p:nvPr/>
          </p:nvSpPr>
          <p:spPr bwMode="auto">
            <a:xfrm>
              <a:off x="1697436" y="2379330"/>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2" name="Text Box 21"/>
            <p:cNvSpPr txBox="1">
              <a:spLocks noChangeArrowheads="1"/>
            </p:cNvSpPr>
            <p:nvPr/>
          </p:nvSpPr>
          <p:spPr bwMode="auto">
            <a:xfrm>
              <a:off x="7419182" y="23517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23" name="Line 23"/>
            <p:cNvSpPr>
              <a:spLocks noChangeShapeType="1"/>
            </p:cNvSpPr>
            <p:nvPr/>
          </p:nvSpPr>
          <p:spPr bwMode="auto">
            <a:xfrm>
              <a:off x="2454143" y="29686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24" name="Rectangle 24"/>
            <p:cNvSpPr>
              <a:spLocks noChangeArrowheads="1"/>
            </p:cNvSpPr>
            <p:nvPr/>
          </p:nvSpPr>
          <p:spPr bwMode="auto">
            <a:xfrm>
              <a:off x="624285" y="2798763"/>
              <a:ext cx="1076590" cy="341312"/>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25" name="Rectangle 25"/>
            <p:cNvSpPr>
              <a:spLocks noChangeArrowheads="1"/>
            </p:cNvSpPr>
            <p:nvPr/>
          </p:nvSpPr>
          <p:spPr bwMode="auto">
            <a:xfrm>
              <a:off x="3529012" y="2841625"/>
              <a:ext cx="2904729"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26" name="Rectangle 26"/>
            <p:cNvSpPr>
              <a:spLocks noChangeArrowheads="1"/>
            </p:cNvSpPr>
            <p:nvPr/>
          </p:nvSpPr>
          <p:spPr bwMode="auto">
            <a:xfrm>
              <a:off x="8155252" y="2798763"/>
              <a:ext cx="1076590" cy="341312"/>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27" name="Rectangle 27"/>
            <p:cNvSpPr>
              <a:spLocks noChangeArrowheads="1"/>
            </p:cNvSpPr>
            <p:nvPr/>
          </p:nvSpPr>
          <p:spPr bwMode="auto">
            <a:xfrm>
              <a:off x="7618677" y="2841625"/>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28" name="Rectangle 28"/>
            <p:cNvSpPr>
              <a:spLocks noChangeArrowheads="1"/>
            </p:cNvSpPr>
            <p:nvPr/>
          </p:nvSpPr>
          <p:spPr bwMode="auto">
            <a:xfrm>
              <a:off x="1700875" y="2841625"/>
              <a:ext cx="753269"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29" name="Text Box 29"/>
            <p:cNvSpPr txBox="1">
              <a:spLocks noChangeArrowheads="1"/>
            </p:cNvSpPr>
            <p:nvPr/>
          </p:nvSpPr>
          <p:spPr bwMode="auto">
            <a:xfrm>
              <a:off x="1697436" y="29921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0" name="Text Box 30"/>
            <p:cNvSpPr txBox="1">
              <a:spLocks noChangeArrowheads="1"/>
            </p:cNvSpPr>
            <p:nvPr/>
          </p:nvSpPr>
          <p:spPr bwMode="auto">
            <a:xfrm>
              <a:off x="7419182" y="296448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1" name="Line 31"/>
            <p:cNvSpPr>
              <a:spLocks noChangeShapeType="1"/>
            </p:cNvSpPr>
            <p:nvPr/>
          </p:nvSpPr>
          <p:spPr bwMode="auto">
            <a:xfrm flipH="1">
              <a:off x="2452423" y="3579813"/>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32" name="Rectangle 32"/>
            <p:cNvSpPr>
              <a:spLocks noChangeArrowheads="1"/>
            </p:cNvSpPr>
            <p:nvPr/>
          </p:nvSpPr>
          <p:spPr bwMode="auto">
            <a:xfrm>
              <a:off x="624286" y="3409950"/>
              <a:ext cx="1074869" cy="339725"/>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33" name="Rectangle 33"/>
            <p:cNvSpPr>
              <a:spLocks noChangeArrowheads="1"/>
            </p:cNvSpPr>
            <p:nvPr/>
          </p:nvSpPr>
          <p:spPr bwMode="auto">
            <a:xfrm>
              <a:off x="3529012" y="3452813"/>
              <a:ext cx="2904729" cy="254000"/>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34" name="Rectangle 34"/>
            <p:cNvSpPr>
              <a:spLocks noChangeArrowheads="1"/>
            </p:cNvSpPr>
            <p:nvPr/>
          </p:nvSpPr>
          <p:spPr bwMode="auto">
            <a:xfrm>
              <a:off x="8155252" y="3409950"/>
              <a:ext cx="1076590" cy="339725"/>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35" name="Rectangle 35"/>
            <p:cNvSpPr>
              <a:spLocks noChangeArrowheads="1"/>
            </p:cNvSpPr>
            <p:nvPr/>
          </p:nvSpPr>
          <p:spPr bwMode="auto">
            <a:xfrm>
              <a:off x="7618677" y="3452813"/>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36" name="Rectangle 36"/>
            <p:cNvSpPr>
              <a:spLocks noChangeArrowheads="1"/>
            </p:cNvSpPr>
            <p:nvPr/>
          </p:nvSpPr>
          <p:spPr bwMode="auto">
            <a:xfrm>
              <a:off x="1699155" y="3452813"/>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37" name="Text Box 37"/>
            <p:cNvSpPr txBox="1">
              <a:spLocks noChangeArrowheads="1"/>
            </p:cNvSpPr>
            <p:nvPr/>
          </p:nvSpPr>
          <p:spPr bwMode="auto">
            <a:xfrm>
              <a:off x="1697436" y="360170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8" name="Text Box 38"/>
            <p:cNvSpPr txBox="1">
              <a:spLocks noChangeArrowheads="1"/>
            </p:cNvSpPr>
            <p:nvPr/>
          </p:nvSpPr>
          <p:spPr bwMode="auto">
            <a:xfrm>
              <a:off x="7419182" y="357407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39" name="Line 40"/>
            <p:cNvSpPr>
              <a:spLocks noChangeShapeType="1"/>
            </p:cNvSpPr>
            <p:nvPr/>
          </p:nvSpPr>
          <p:spPr bwMode="auto">
            <a:xfrm>
              <a:off x="2454143" y="4187825"/>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0" name="Rectangle 41"/>
            <p:cNvSpPr>
              <a:spLocks noChangeArrowheads="1"/>
            </p:cNvSpPr>
            <p:nvPr/>
          </p:nvSpPr>
          <p:spPr bwMode="auto">
            <a:xfrm>
              <a:off x="624285" y="4017964"/>
              <a:ext cx="1076590"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1" name="Rectangle 42"/>
            <p:cNvSpPr>
              <a:spLocks noChangeArrowheads="1"/>
            </p:cNvSpPr>
            <p:nvPr/>
          </p:nvSpPr>
          <p:spPr bwMode="auto">
            <a:xfrm>
              <a:off x="3529012" y="4060825"/>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DHCPREQUEST</a:t>
              </a:r>
            </a:p>
          </p:txBody>
        </p:sp>
        <p:sp>
          <p:nvSpPr>
            <p:cNvPr id="42" name="Rectangle 43"/>
            <p:cNvSpPr>
              <a:spLocks noChangeArrowheads="1"/>
            </p:cNvSpPr>
            <p:nvPr/>
          </p:nvSpPr>
          <p:spPr bwMode="auto">
            <a:xfrm>
              <a:off x="8155252" y="4017964"/>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43" name="Rectangle 44"/>
            <p:cNvSpPr>
              <a:spLocks noChangeArrowheads="1"/>
            </p:cNvSpPr>
            <p:nvPr/>
          </p:nvSpPr>
          <p:spPr bwMode="auto">
            <a:xfrm>
              <a:off x="7618677" y="4060825"/>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44" name="Rectangle 45"/>
            <p:cNvSpPr>
              <a:spLocks noChangeArrowheads="1"/>
            </p:cNvSpPr>
            <p:nvPr/>
          </p:nvSpPr>
          <p:spPr bwMode="auto">
            <a:xfrm>
              <a:off x="1700875" y="4060825"/>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45" name="Text Box 46"/>
            <p:cNvSpPr txBox="1">
              <a:spLocks noChangeArrowheads="1"/>
            </p:cNvSpPr>
            <p:nvPr/>
          </p:nvSpPr>
          <p:spPr bwMode="auto">
            <a:xfrm>
              <a:off x="1697436" y="4209719"/>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6" name="Text Box 47"/>
            <p:cNvSpPr txBox="1">
              <a:spLocks noChangeArrowheads="1"/>
            </p:cNvSpPr>
            <p:nvPr/>
          </p:nvSpPr>
          <p:spPr bwMode="auto">
            <a:xfrm>
              <a:off x="7419182" y="418209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47" name="Line 48"/>
            <p:cNvSpPr>
              <a:spLocks noChangeShapeType="1"/>
            </p:cNvSpPr>
            <p:nvPr/>
          </p:nvSpPr>
          <p:spPr bwMode="auto">
            <a:xfrm flipH="1">
              <a:off x="2452423" y="4800600"/>
              <a:ext cx="5166254"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48" name="Rectangle 49"/>
            <p:cNvSpPr>
              <a:spLocks noChangeArrowheads="1"/>
            </p:cNvSpPr>
            <p:nvPr/>
          </p:nvSpPr>
          <p:spPr bwMode="auto">
            <a:xfrm>
              <a:off x="624286" y="4629150"/>
              <a:ext cx="1074869"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49" name="Rectangle 50"/>
            <p:cNvSpPr>
              <a:spLocks noChangeArrowheads="1"/>
            </p:cNvSpPr>
            <p:nvPr/>
          </p:nvSpPr>
          <p:spPr bwMode="auto">
            <a:xfrm>
              <a:off x="3529012" y="4672014"/>
              <a:ext cx="2904729" cy="255587"/>
            </a:xfrm>
            <a:prstGeom prst="rect">
              <a:avLst/>
            </a:prstGeom>
            <a:solidFill>
              <a:srgbClr val="FF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DHCPACK</a:t>
              </a:r>
            </a:p>
          </p:txBody>
        </p:sp>
        <p:sp>
          <p:nvSpPr>
            <p:cNvPr id="50" name="Rectangle 51"/>
            <p:cNvSpPr>
              <a:spLocks noChangeArrowheads="1"/>
            </p:cNvSpPr>
            <p:nvPr/>
          </p:nvSpPr>
          <p:spPr bwMode="auto">
            <a:xfrm>
              <a:off x="8155252" y="4629150"/>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1" name="Rectangle 52"/>
            <p:cNvSpPr>
              <a:spLocks noChangeArrowheads="1"/>
            </p:cNvSpPr>
            <p:nvPr/>
          </p:nvSpPr>
          <p:spPr bwMode="auto">
            <a:xfrm>
              <a:off x="7618677" y="4672014"/>
              <a:ext cx="536575" cy="25558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52" name="Rectangle 53"/>
            <p:cNvSpPr>
              <a:spLocks noChangeArrowheads="1"/>
            </p:cNvSpPr>
            <p:nvPr/>
          </p:nvSpPr>
          <p:spPr bwMode="auto">
            <a:xfrm>
              <a:off x="1699155" y="4672014"/>
              <a:ext cx="753269" cy="255587"/>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53" name="Text Box 54"/>
            <p:cNvSpPr txBox="1">
              <a:spLocks noChangeArrowheads="1"/>
            </p:cNvSpPr>
            <p:nvPr/>
          </p:nvSpPr>
          <p:spPr bwMode="auto">
            <a:xfrm>
              <a:off x="1697436" y="48209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4" name="Text Box 55"/>
            <p:cNvSpPr txBox="1">
              <a:spLocks noChangeArrowheads="1"/>
            </p:cNvSpPr>
            <p:nvPr/>
          </p:nvSpPr>
          <p:spPr bwMode="auto">
            <a:xfrm>
              <a:off x="7419182" y="4793276"/>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56" name="Rectangle 57"/>
            <p:cNvSpPr>
              <a:spLocks noChangeArrowheads="1"/>
            </p:cNvSpPr>
            <p:nvPr/>
          </p:nvSpPr>
          <p:spPr bwMode="auto">
            <a:xfrm>
              <a:off x="624286" y="5240339"/>
              <a:ext cx="1074869" cy="338137"/>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58" name="Rectangle 59"/>
            <p:cNvSpPr>
              <a:spLocks noChangeArrowheads="1"/>
            </p:cNvSpPr>
            <p:nvPr/>
          </p:nvSpPr>
          <p:spPr bwMode="auto">
            <a:xfrm>
              <a:off x="8155252" y="5240339"/>
              <a:ext cx="1076590" cy="338137"/>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59" name="Rectangle 60"/>
            <p:cNvSpPr>
              <a:spLocks noChangeArrowheads="1"/>
            </p:cNvSpPr>
            <p:nvPr/>
          </p:nvSpPr>
          <p:spPr bwMode="auto">
            <a:xfrm>
              <a:off x="7618677" y="5283200"/>
              <a:ext cx="536575" cy="2555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0" name="Rectangle 61"/>
            <p:cNvSpPr>
              <a:spLocks noChangeArrowheads="1"/>
            </p:cNvSpPr>
            <p:nvPr/>
          </p:nvSpPr>
          <p:spPr bwMode="auto">
            <a:xfrm>
              <a:off x="1699155" y="5283200"/>
              <a:ext cx="753268" cy="255588"/>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1" name="Text Box 62"/>
            <p:cNvSpPr txBox="1">
              <a:spLocks noChangeArrowheads="1"/>
            </p:cNvSpPr>
            <p:nvPr/>
          </p:nvSpPr>
          <p:spPr bwMode="auto">
            <a:xfrm>
              <a:off x="1697436" y="5432091"/>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2" name="Text Box 63"/>
            <p:cNvSpPr txBox="1">
              <a:spLocks noChangeArrowheads="1"/>
            </p:cNvSpPr>
            <p:nvPr/>
          </p:nvSpPr>
          <p:spPr bwMode="auto">
            <a:xfrm>
              <a:off x="7419182" y="5404464"/>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63" name="Line 65"/>
            <p:cNvSpPr>
              <a:spLocks noChangeShapeType="1"/>
            </p:cNvSpPr>
            <p:nvPr/>
          </p:nvSpPr>
          <p:spPr bwMode="auto">
            <a:xfrm>
              <a:off x="2454143" y="6256338"/>
              <a:ext cx="516453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700"/>
                </a:lnSpc>
              </a:pPr>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66"/>
            <p:cNvSpPr>
              <a:spLocks noChangeArrowheads="1"/>
            </p:cNvSpPr>
            <p:nvPr/>
          </p:nvSpPr>
          <p:spPr bwMode="auto">
            <a:xfrm>
              <a:off x="624285" y="6086475"/>
              <a:ext cx="1076590" cy="33813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客户</a:t>
              </a:r>
            </a:p>
          </p:txBody>
        </p:sp>
        <p:sp>
          <p:nvSpPr>
            <p:cNvPr id="65" name="Rectangle 67"/>
            <p:cNvSpPr>
              <a:spLocks noChangeArrowheads="1"/>
            </p:cNvSpPr>
            <p:nvPr/>
          </p:nvSpPr>
          <p:spPr bwMode="auto">
            <a:xfrm>
              <a:off x="3529012" y="6129338"/>
              <a:ext cx="2904729"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DHCPRELEASE</a:t>
              </a:r>
            </a:p>
          </p:txBody>
        </p:sp>
        <p:sp>
          <p:nvSpPr>
            <p:cNvPr id="66" name="Rectangle 68"/>
            <p:cNvSpPr>
              <a:spLocks noChangeArrowheads="1"/>
            </p:cNvSpPr>
            <p:nvPr/>
          </p:nvSpPr>
          <p:spPr bwMode="auto">
            <a:xfrm>
              <a:off x="8155252" y="608647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67" name="Rectangle 69"/>
            <p:cNvSpPr>
              <a:spLocks noChangeArrowheads="1"/>
            </p:cNvSpPr>
            <p:nvPr/>
          </p:nvSpPr>
          <p:spPr bwMode="auto">
            <a:xfrm>
              <a:off x="7618677" y="6129338"/>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68" name="Rectangle 70"/>
            <p:cNvSpPr>
              <a:spLocks noChangeArrowheads="1"/>
            </p:cNvSpPr>
            <p:nvPr/>
          </p:nvSpPr>
          <p:spPr bwMode="auto">
            <a:xfrm>
              <a:off x="1700875" y="6129338"/>
              <a:ext cx="753269" cy="254000"/>
            </a:xfrm>
            <a:prstGeom prst="rect">
              <a:avLst/>
            </a:prstGeom>
            <a:solidFill>
              <a:srgbClr val="CC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68</a:t>
              </a:r>
            </a:p>
          </p:txBody>
        </p:sp>
        <p:sp>
          <p:nvSpPr>
            <p:cNvPr id="69" name="Text Box 71"/>
            <p:cNvSpPr txBox="1">
              <a:spLocks noChangeArrowheads="1"/>
            </p:cNvSpPr>
            <p:nvPr/>
          </p:nvSpPr>
          <p:spPr bwMode="auto">
            <a:xfrm>
              <a:off x="1697436" y="6278232"/>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0" name="Text Box 72"/>
            <p:cNvSpPr txBox="1">
              <a:spLocks noChangeArrowheads="1"/>
            </p:cNvSpPr>
            <p:nvPr/>
          </p:nvSpPr>
          <p:spPr bwMode="auto">
            <a:xfrm>
              <a:off x="7419182" y="6250605"/>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1" name="Rectangle 73"/>
            <p:cNvSpPr>
              <a:spLocks noChangeArrowheads="1"/>
            </p:cNvSpPr>
            <p:nvPr/>
          </p:nvSpPr>
          <p:spPr bwMode="auto">
            <a:xfrm>
              <a:off x="8155252" y="936625"/>
              <a:ext cx="1076590" cy="338138"/>
            </a:xfrm>
            <a:prstGeom prst="rect">
              <a:avLst/>
            </a:prstGeom>
            <a:solidFill>
              <a:srgbClr val="0066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zh-CN" altLang="en-US" sz="1100" b="1" dirty="0">
                  <a:solidFill>
                    <a:schemeClr val="bg1"/>
                  </a:solidFill>
                  <a:latin typeface="微软雅黑 Light" panose="020B0502040204020203" pitchFamily="34" charset="-122"/>
                  <a:ea typeface="微软雅黑 Light" panose="020B0502040204020203" pitchFamily="34" charset="-122"/>
                </a:rPr>
                <a:t>服务器</a:t>
              </a:r>
            </a:p>
          </p:txBody>
        </p:sp>
        <p:sp>
          <p:nvSpPr>
            <p:cNvPr id="72" name="Rectangle 74"/>
            <p:cNvSpPr>
              <a:spLocks noChangeArrowheads="1"/>
            </p:cNvSpPr>
            <p:nvPr/>
          </p:nvSpPr>
          <p:spPr bwMode="auto">
            <a:xfrm>
              <a:off x="7618677" y="977900"/>
              <a:ext cx="536575" cy="254000"/>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67</a:t>
              </a:r>
            </a:p>
          </p:txBody>
        </p:sp>
        <p:sp>
          <p:nvSpPr>
            <p:cNvPr id="73" name="Text Box 75"/>
            <p:cNvSpPr txBox="1">
              <a:spLocks noChangeArrowheads="1"/>
            </p:cNvSpPr>
            <p:nvPr/>
          </p:nvSpPr>
          <p:spPr bwMode="auto">
            <a:xfrm>
              <a:off x="7419182" y="1099168"/>
              <a:ext cx="887555"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solidFill>
                    <a:srgbClr val="0000FF"/>
                  </a:solidFill>
                  <a:latin typeface="微软雅黑 Light" panose="020B0502040204020203" pitchFamily="34" charset="-122"/>
                  <a:ea typeface="微软雅黑 Light" panose="020B0502040204020203" pitchFamily="34" charset="-122"/>
                </a:rPr>
                <a:t>UDP</a:t>
              </a:r>
            </a:p>
          </p:txBody>
        </p:sp>
        <p:sp>
          <p:nvSpPr>
            <p:cNvPr id="74" name="Text Box 76"/>
            <p:cNvSpPr txBox="1">
              <a:spLocks noChangeArrowheads="1"/>
            </p:cNvSpPr>
            <p:nvPr/>
          </p:nvSpPr>
          <p:spPr bwMode="auto">
            <a:xfrm>
              <a:off x="6398943" y="587046"/>
              <a:ext cx="1414278"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zh-CN" altLang="en-US" sz="1100" b="1" dirty="0">
                  <a:latin typeface="微软雅黑 Light" panose="020B0502040204020203" pitchFamily="34" charset="-122"/>
                  <a:ea typeface="微软雅黑 Light" panose="020B0502040204020203" pitchFamily="34" charset="-122"/>
                </a:rPr>
                <a:t>被动打开</a:t>
              </a:r>
            </a:p>
          </p:txBody>
        </p:sp>
        <p:sp>
          <p:nvSpPr>
            <p:cNvPr id="75" name="Text Box 77"/>
            <p:cNvSpPr txBox="1">
              <a:spLocks noChangeArrowheads="1"/>
            </p:cNvSpPr>
            <p:nvPr/>
          </p:nvSpPr>
          <p:spPr bwMode="auto">
            <a:xfrm>
              <a:off x="9116883" y="910828"/>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6" name="Text Box 78"/>
            <p:cNvSpPr txBox="1">
              <a:spLocks noChangeArrowheads="1"/>
            </p:cNvSpPr>
            <p:nvPr/>
          </p:nvSpPr>
          <p:spPr bwMode="auto">
            <a:xfrm>
              <a:off x="-34130" y="15251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7" name="Text Box 79"/>
            <p:cNvSpPr txBox="1">
              <a:spLocks noChangeArrowheads="1"/>
            </p:cNvSpPr>
            <p:nvPr/>
          </p:nvSpPr>
          <p:spPr bwMode="auto">
            <a:xfrm>
              <a:off x="9116883" y="2147490"/>
              <a:ext cx="781608" cy="6004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8" name="Text Box 80"/>
            <p:cNvSpPr txBox="1">
              <a:spLocks noChangeArrowheads="1"/>
            </p:cNvSpPr>
            <p:nvPr/>
          </p:nvSpPr>
          <p:spPr bwMode="auto">
            <a:xfrm>
              <a:off x="-34130" y="274439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79" name="Text Box 81"/>
            <p:cNvSpPr txBox="1">
              <a:spLocks noChangeArrowheads="1"/>
            </p:cNvSpPr>
            <p:nvPr/>
          </p:nvSpPr>
          <p:spPr bwMode="auto">
            <a:xfrm>
              <a:off x="9111722" y="3368277"/>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0" name="Text Box 82"/>
            <p:cNvSpPr txBox="1">
              <a:spLocks noChangeArrowheads="1"/>
            </p:cNvSpPr>
            <p:nvPr/>
          </p:nvSpPr>
          <p:spPr bwMode="auto">
            <a:xfrm>
              <a:off x="-34130" y="3992166"/>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1" name="Text Box 83"/>
            <p:cNvSpPr txBox="1">
              <a:spLocks noChangeArrowheads="1"/>
            </p:cNvSpPr>
            <p:nvPr/>
          </p:nvSpPr>
          <p:spPr bwMode="auto">
            <a:xfrm>
              <a:off x="9111722" y="4576363"/>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2" name="Text Box 84"/>
            <p:cNvSpPr txBox="1">
              <a:spLocks noChangeArrowheads="1"/>
            </p:cNvSpPr>
            <p:nvPr/>
          </p:nvSpPr>
          <p:spPr bwMode="auto">
            <a:xfrm>
              <a:off x="9111722" y="5200250"/>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sp>
          <p:nvSpPr>
            <p:cNvPr id="83" name="Text Box 85"/>
            <p:cNvSpPr txBox="1">
              <a:spLocks noChangeArrowheads="1"/>
            </p:cNvSpPr>
            <p:nvPr/>
          </p:nvSpPr>
          <p:spPr bwMode="auto">
            <a:xfrm rot="16200000">
              <a:off x="4439072" y="5529581"/>
              <a:ext cx="539437" cy="54864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1100" b="1" dirty="0">
                  <a:latin typeface="微软雅黑 Light" panose="020B0502040204020203" pitchFamily="34" charset="-122"/>
                  <a:ea typeface="微软雅黑 Light" panose="020B0502040204020203" pitchFamily="34" charset="-122"/>
                </a:rPr>
                <a:t>…</a:t>
              </a:r>
            </a:p>
          </p:txBody>
        </p:sp>
        <p:sp>
          <p:nvSpPr>
            <p:cNvPr id="84" name="Text Box 86"/>
            <p:cNvSpPr txBox="1">
              <a:spLocks noChangeArrowheads="1"/>
            </p:cNvSpPr>
            <p:nvPr/>
          </p:nvSpPr>
          <p:spPr bwMode="auto">
            <a:xfrm>
              <a:off x="-34130" y="6057965"/>
              <a:ext cx="781608" cy="5974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ts val="1700"/>
                </a:lnSpc>
              </a:pPr>
              <a:r>
                <a:rPr kumimoji="1" lang="en-US" altLang="zh-CN" sz="2000" b="1" dirty="0">
                  <a:latin typeface="微软雅黑 Light" panose="020B0502040204020203" pitchFamily="34" charset="-122"/>
                  <a:ea typeface="微软雅黑 Light" panose="020B0502040204020203" pitchFamily="34" charset="-122"/>
                  <a:sym typeface="Wingdings" pitchFamily="2" charset="2"/>
                </a:rPr>
                <a:t></a:t>
              </a:r>
            </a:p>
          </p:txBody>
        </p:sp>
      </p:grpSp>
      <p:grpSp>
        <p:nvGrpSpPr>
          <p:cNvPr id="87" name="组合 86"/>
          <p:cNvGrpSpPr/>
          <p:nvPr/>
        </p:nvGrpSpPr>
        <p:grpSpPr>
          <a:xfrm>
            <a:off x="1252728" y="1082845"/>
            <a:ext cx="6757416" cy="1097411"/>
            <a:chOff x="1252728" y="3191553"/>
            <a:chExt cx="6757416" cy="1097411"/>
          </a:xfrm>
        </p:grpSpPr>
        <p:sp>
          <p:nvSpPr>
            <p:cNvPr id="85" name="Rectangle 88"/>
            <p:cNvSpPr>
              <a:spLocks noChangeArrowheads="1"/>
            </p:cNvSpPr>
            <p:nvPr/>
          </p:nvSpPr>
          <p:spPr bwMode="auto">
            <a:xfrm>
              <a:off x="1252728" y="3207283"/>
              <a:ext cx="6757416" cy="1081681"/>
            </a:xfrm>
            <a:prstGeom prst="rect">
              <a:avLst/>
            </a:prstGeom>
            <a:solidFill>
              <a:schemeClr val="accent6">
                <a:lumMod val="60000"/>
                <a:lumOff val="40000"/>
              </a:schemeClr>
            </a:solidFill>
            <a:ln w="19050">
              <a:solidFill>
                <a:schemeClr val="tx1"/>
              </a:solidFill>
            </a:ln>
            <a:effectLst/>
          </p:spPr>
          <p:txBody>
            <a:bodyPr wrap="none" anchor="ctr"/>
            <a:lstStyle/>
            <a:p>
              <a:pPr algn="ctr" eaLnBrk="1" hangingPunct="1"/>
              <a:endParaRPr lang="zh-CN" altLang="zh-CN" sz="2800" b="1" dirty="0">
                <a:solidFill>
                  <a:srgbClr val="000099"/>
                </a:solidFill>
                <a:latin typeface="Montserrat" panose="00000500000000000000" pitchFamily="2" charset="0"/>
                <a:ea typeface="微软雅黑 Light" panose="020B0502040204020203" pitchFamily="34" charset="-122"/>
              </a:endParaRPr>
            </a:p>
          </p:txBody>
        </p:sp>
        <p:sp>
          <p:nvSpPr>
            <p:cNvPr id="86" name="矩形 85"/>
            <p:cNvSpPr/>
            <p:nvPr/>
          </p:nvSpPr>
          <p:spPr>
            <a:xfrm>
              <a:off x="1669001" y="3191553"/>
              <a:ext cx="6036815" cy="1092607"/>
            </a:xfrm>
            <a:prstGeom prst="rect">
              <a:avLst/>
            </a:prstGeom>
            <a:noFill/>
          </p:spPr>
          <p:txBody>
            <a:bodyPr wrap="square">
              <a:spAutoFit/>
            </a:bodyPr>
            <a:lstStyle/>
            <a:p>
              <a:pPr>
                <a:lnSpc>
                  <a:spcPts val="2600"/>
                </a:lnSpc>
              </a:pPr>
              <a:r>
                <a:rPr lang="zh-CN" altLang="en-US" b="1" dirty="0">
                  <a:latin typeface="微软雅黑 Light" panose="020B0502040204020203" pitchFamily="34" charset="-122"/>
                  <a:ea typeface="微软雅黑 Light" panose="020B0502040204020203" pitchFamily="34" charset="-122"/>
                </a:rPr>
                <a:t>❾：</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客户</a:t>
              </a:r>
              <a:r>
                <a:rPr lang="zh-CN" altLang="en-US" b="1" dirty="0">
                  <a:solidFill>
                    <a:srgbClr val="0000FF"/>
                  </a:solidFill>
                  <a:latin typeface="微软雅黑 Light" panose="020B0502040204020203" pitchFamily="34" charset="-122"/>
                  <a:ea typeface="微软雅黑 Light" panose="020B0502040204020203" pitchFamily="34" charset="-122"/>
                </a:rPr>
                <a:t>可随时提前终止</a:t>
              </a:r>
              <a:r>
                <a:rPr lang="zh-CN" altLang="en-US" b="1" dirty="0">
                  <a:latin typeface="微软雅黑 Light" panose="020B0502040204020203" pitchFamily="34" charset="-122"/>
                  <a:ea typeface="微软雅黑 Light" panose="020B0502040204020203" pitchFamily="34" charset="-122"/>
                </a:rPr>
                <a:t>服务器所提供的租用期，这时只需向 </a:t>
              </a:r>
              <a:r>
                <a:rPr lang="en-US" altLang="zh-CN" b="1" dirty="0">
                  <a:latin typeface="微软雅黑 Light" panose="020B0502040204020203" pitchFamily="34" charset="-122"/>
                  <a:ea typeface="微软雅黑 Light" panose="020B0502040204020203" pitchFamily="34" charset="-122"/>
                </a:rPr>
                <a:t>DHCP </a:t>
              </a:r>
              <a:r>
                <a:rPr lang="zh-CN" altLang="en-US" b="1" dirty="0">
                  <a:latin typeface="微软雅黑 Light" panose="020B0502040204020203" pitchFamily="34" charset="-122"/>
                  <a:ea typeface="微软雅黑 Light" panose="020B0502040204020203" pitchFamily="34" charset="-122"/>
                </a:rPr>
                <a:t>服务器发送释放报文 </a:t>
              </a:r>
              <a:r>
                <a:rPr lang="en-US" altLang="zh-CN" b="1" dirty="0">
                  <a:latin typeface="微软雅黑 Light" panose="020B0502040204020203" pitchFamily="34" charset="-122"/>
                  <a:ea typeface="微软雅黑 Light" panose="020B0502040204020203" pitchFamily="34" charset="-122"/>
                </a:rPr>
                <a:t>DHCPRELEASE </a:t>
              </a:r>
              <a:r>
                <a:rPr lang="zh-CN" altLang="en-US" b="1" dirty="0">
                  <a:latin typeface="微软雅黑 Light" panose="020B0502040204020203" pitchFamily="34" charset="-122"/>
                  <a:ea typeface="微软雅黑 Light" panose="020B0502040204020203" pitchFamily="34" charset="-122"/>
                </a:rPr>
                <a:t>即可。</a:t>
              </a:r>
            </a:p>
          </p:txBody>
        </p:sp>
      </p:grpSp>
      <p:sp>
        <p:nvSpPr>
          <p:cNvPr id="2" name="标题 1">
            <a:extLst>
              <a:ext uri="{FF2B5EF4-FFF2-40B4-BE49-F238E27FC236}">
                <a16:creationId xmlns:a16="http://schemas.microsoft.com/office/drawing/2014/main" id="{3CEA08F0-1E49-6F7E-5E3D-346C148971BE}"/>
              </a:ext>
            </a:extLst>
          </p:cNvPr>
          <p:cNvSpPr>
            <a:spLocks noGrp="1"/>
          </p:cNvSpPr>
          <p:nvPr>
            <p:ph type="title"/>
          </p:nvPr>
        </p:nvSpPr>
        <p:spPr>
          <a:xfrm>
            <a:off x="2880000" y="144000"/>
            <a:ext cx="3384000" cy="338554"/>
          </a:xfrm>
        </p:spPr>
        <p:txBody>
          <a:bodyPr/>
          <a:lstStyle/>
          <a:p>
            <a:r>
              <a:rPr lang="en-US" altLang="zh-CN" dirty="0"/>
              <a:t>DHCP </a:t>
            </a:r>
            <a:r>
              <a:rPr lang="zh-CN" altLang="en-US" dirty="0"/>
              <a:t>协议的工作过程</a:t>
            </a:r>
          </a:p>
        </p:txBody>
      </p:sp>
    </p:spTree>
    <p:extLst>
      <p:ext uri="{BB962C8B-B14F-4D97-AF65-F5344CB8AC3E}">
        <p14:creationId xmlns:p14="http://schemas.microsoft.com/office/powerpoint/2010/main" val="42826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16"/>
          <p:cNvSpPr>
            <a:spLocks noChangeShapeType="1"/>
          </p:cNvSpPr>
          <p:nvPr/>
        </p:nvSpPr>
        <p:spPr bwMode="auto">
          <a:xfrm>
            <a:off x="3637198" y="1059744"/>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2" name="Rectangle 29">
            <a:extLst>
              <a:ext uri="{FF2B5EF4-FFF2-40B4-BE49-F238E27FC236}">
                <a16:creationId xmlns:a16="http://schemas.microsoft.com/office/drawing/2014/main" id="{06D79B33-D078-59A6-9D28-6FE9C5727600}"/>
              </a:ext>
            </a:extLst>
          </p:cNvPr>
          <p:cNvSpPr>
            <a:spLocks noChangeArrowheads="1"/>
          </p:cNvSpPr>
          <p:nvPr/>
        </p:nvSpPr>
        <p:spPr bwMode="auto">
          <a:xfrm>
            <a:off x="3563766" y="711857"/>
            <a:ext cx="3809956"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6.7</a:t>
            </a:r>
            <a:r>
              <a:rPr lang="en-US" altLang="zh-CN" sz="2000" dirty="0">
                <a:latin typeface="Montserrat" panose="00000500000000000000" pitchFamily="2" charset="0"/>
                <a:ea typeface="微软雅黑 Light" panose="020B0502040204020203" pitchFamily="34" charset="-122"/>
              </a:rPr>
              <a:t> </a:t>
            </a:r>
            <a:r>
              <a:rPr lang="zh-CN" altLang="en-US" sz="2000" dirty="0">
                <a:latin typeface="Montserrat" panose="00000500000000000000" pitchFamily="2" charset="0"/>
                <a:ea typeface="微软雅黑 Light" panose="020B0502040204020203" pitchFamily="34" charset="-122"/>
              </a:rPr>
              <a:t>简单网络管理协议 </a:t>
            </a:r>
            <a:r>
              <a:rPr lang="en-US" altLang="zh-CN" sz="2000" dirty="0">
                <a:latin typeface="Montserrat" panose="00000500000000000000" pitchFamily="2" charset="0"/>
                <a:ea typeface="微软雅黑 Light" panose="020B0502040204020203" pitchFamily="34" charset="-122"/>
              </a:rPr>
              <a:t>SNMP</a:t>
            </a:r>
            <a:endParaRPr lang="zh-CN" altLang="fr-FR" sz="2000" dirty="0">
              <a:latin typeface="Montserrat" panose="00000500000000000000" pitchFamily="2" charset="0"/>
              <a:ea typeface="微软雅黑 Light" panose="020B0502040204020203" pitchFamily="34" charset="-122"/>
            </a:endParaRPr>
          </a:p>
        </p:txBody>
      </p:sp>
      <p:sp>
        <p:nvSpPr>
          <p:cNvPr id="3" name="Rectangle 8">
            <a:extLst>
              <a:ext uri="{FF2B5EF4-FFF2-40B4-BE49-F238E27FC236}">
                <a16:creationId xmlns:a16="http://schemas.microsoft.com/office/drawing/2014/main" id="{F49089EA-437D-A296-6F51-BB62F2C6ED9E}"/>
              </a:ext>
            </a:extLst>
          </p:cNvPr>
          <p:cNvSpPr>
            <a:spLocks noChangeArrowheads="1"/>
          </p:cNvSpPr>
          <p:nvPr/>
        </p:nvSpPr>
        <p:spPr bwMode="auto">
          <a:xfrm>
            <a:off x="3563766" y="1354881"/>
            <a:ext cx="4197661" cy="152791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6.7.1</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网络管理的基本概念</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6.7.2</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管理信息结构 </a:t>
            </a:r>
            <a:r>
              <a:rPr lang="en-US" altLang="zh-CN" sz="1600" dirty="0">
                <a:latin typeface="微软雅黑 Light" panose="020B0502040204020203" pitchFamily="34" charset="-122"/>
                <a:ea typeface="微软雅黑 Light" panose="020B0502040204020203" pitchFamily="34" charset="-122"/>
              </a:rPr>
              <a:t>SMI</a:t>
            </a:r>
            <a:endParaRPr lang="en-US" altLang="zh-CN"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6.7.3</a:t>
            </a:r>
            <a:r>
              <a:rPr lang="en-US" altLang="zh-CN" sz="1600" dirty="0">
                <a:latin typeface="Montserrat" panose="00000500000000000000" pitchFamily="2" charset="0"/>
                <a:ea typeface="微软雅黑 Light" panose="020B0502040204020203" pitchFamily="34" charset="-122"/>
              </a:rPr>
              <a:t> </a:t>
            </a:r>
            <a:r>
              <a:rPr lang="zh-CN" altLang="en-US" sz="1600" dirty="0">
                <a:latin typeface="微软雅黑 Light" panose="020B0502040204020203" pitchFamily="34" charset="-122"/>
                <a:ea typeface="微软雅黑 Light" panose="020B0502040204020203" pitchFamily="34" charset="-122"/>
              </a:rPr>
              <a:t>管理信息库 </a:t>
            </a:r>
            <a:r>
              <a:rPr lang="en-US" altLang="zh-CN" sz="1600" dirty="0">
                <a:latin typeface="微软雅黑 Light" panose="020B0502040204020203" pitchFamily="34" charset="-122"/>
                <a:ea typeface="微软雅黑 Light" panose="020B0502040204020203" pitchFamily="34" charset="-122"/>
              </a:rPr>
              <a:t>MIB</a:t>
            </a:r>
            <a:endParaRPr lang="zh-CN" altLang="en-US" sz="1600" dirty="0">
              <a:latin typeface="Montserrat" panose="00000500000000000000" pitchFamily="2" charset="0"/>
              <a:ea typeface="微软雅黑 Light" panose="020B0502040204020203" pitchFamily="34" charset="-122"/>
            </a:endParaRPr>
          </a:p>
          <a:p>
            <a:pPr eaLnBrk="0" hangingPunct="0">
              <a:lnSpc>
                <a:spcPct val="150000"/>
              </a:lnSpc>
            </a:pPr>
            <a:r>
              <a:rPr lang="en-US" altLang="zh-CN" sz="1600" dirty="0">
                <a:solidFill>
                  <a:srgbClr val="FF0000"/>
                </a:solidFill>
                <a:latin typeface="Montserrat" panose="00000500000000000000" pitchFamily="2" charset="0"/>
                <a:ea typeface="微软雅黑 Light" panose="020B0502040204020203" pitchFamily="34" charset="-122"/>
              </a:rPr>
              <a:t>6.7.4</a:t>
            </a:r>
            <a:r>
              <a:rPr lang="en-US" altLang="zh-CN" sz="1600" dirty="0">
                <a:latin typeface="Montserrat" panose="00000500000000000000" pitchFamily="2" charset="0"/>
                <a:ea typeface="微软雅黑 Light" panose="020B0502040204020203" pitchFamily="34" charset="-122"/>
              </a:rPr>
              <a:t> </a:t>
            </a:r>
            <a:r>
              <a:rPr lang="en-US" altLang="zh-CN" sz="1600" dirty="0">
                <a:latin typeface="微软雅黑 Light" panose="020B0502040204020203" pitchFamily="34" charset="-122"/>
                <a:ea typeface="微软雅黑 Light" panose="020B0502040204020203" pitchFamily="34" charset="-122"/>
              </a:rPr>
              <a:t>SNMP </a:t>
            </a:r>
            <a:r>
              <a:rPr lang="zh-CN" altLang="en-US" sz="1600" dirty="0">
                <a:latin typeface="微软雅黑 Light" panose="020B0502040204020203" pitchFamily="34" charset="-122"/>
                <a:ea typeface="微软雅黑 Light" panose="020B0502040204020203" pitchFamily="34" charset="-122"/>
              </a:rPr>
              <a:t>的协议数据单元和报文</a:t>
            </a:r>
            <a:endParaRPr lang="en-US" altLang="zh-CN" sz="16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643503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5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631408" y="568687"/>
            <a:ext cx="3881192"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6.7.1  </a:t>
            </a:r>
            <a:r>
              <a:rPr lang="zh-CN" altLang="en-US" sz="2400" b="1" dirty="0">
                <a:solidFill>
                  <a:schemeClr val="bg1"/>
                </a:solidFill>
                <a:latin typeface="微软雅黑 Light" panose="020B0502040204020203" pitchFamily="34" charset="-122"/>
                <a:ea typeface="微软雅黑 Light" panose="020B0502040204020203" pitchFamily="34" charset="-122"/>
              </a:rPr>
              <a:t>网络管理的基本概念</a:t>
            </a:r>
          </a:p>
        </p:txBody>
      </p:sp>
      <p:sp>
        <p:nvSpPr>
          <p:cNvPr id="4" name="Rectangle 68"/>
          <p:cNvSpPr>
            <a:spLocks noChangeArrowheads="1"/>
          </p:cNvSpPr>
          <p:nvPr/>
        </p:nvSpPr>
        <p:spPr bwMode="auto">
          <a:xfrm>
            <a:off x="556963" y="1005176"/>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a:t>
            </a:r>
            <a:r>
              <a:rPr lang="zh-CN" altLang="en-US" sz="2000" b="1" dirty="0">
                <a:latin typeface="微软雅黑 Light" panose="020B0502040204020203" pitchFamily="34" charset="-122"/>
                <a:ea typeface="微软雅黑 Light" panose="020B0502040204020203" pitchFamily="34" charset="-122"/>
              </a:rPr>
              <a:t>包括对硬件、软件和人力的使用、综合与协调，以便对网络资源进行监视、测试、配置、分析、评价和控制，这样就能以合理的价格满足网络的一些需求，如实时运行性能，服务质量等。</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网络管理常简称为</a:t>
            </a:r>
            <a:r>
              <a:rPr lang="zh-CN" altLang="en-US" sz="2000" b="1" dirty="0">
                <a:solidFill>
                  <a:srgbClr val="C00000"/>
                </a:solidFill>
                <a:latin typeface="微软雅黑 Light" panose="020B0502040204020203" pitchFamily="34" charset="-122"/>
                <a:ea typeface="微软雅黑 Light" panose="020B0502040204020203" pitchFamily="34" charset="-122"/>
              </a:rPr>
              <a:t>网管。</a:t>
            </a:r>
          </a:p>
        </p:txBody>
      </p:sp>
    </p:spTree>
    <p:extLst>
      <p:ext uri="{BB962C8B-B14F-4D97-AF65-F5344CB8AC3E}">
        <p14:creationId xmlns:p14="http://schemas.microsoft.com/office/powerpoint/2010/main" val="17940728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71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6382"/>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网络管理的五大功能</a:t>
            </a:r>
          </a:p>
        </p:txBody>
      </p:sp>
      <p:sp>
        <p:nvSpPr>
          <p:cNvPr id="4" name="Rectangle 68"/>
          <p:cNvSpPr>
            <a:spLocks noChangeArrowheads="1"/>
          </p:cNvSpPr>
          <p:nvPr/>
        </p:nvSpPr>
        <p:spPr bwMode="auto">
          <a:xfrm>
            <a:off x="556962" y="971805"/>
            <a:ext cx="816978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故障管理</a:t>
            </a:r>
            <a:r>
              <a:rPr lang="zh-CN" altLang="en-US" sz="2000" b="1" dirty="0">
                <a:latin typeface="微软雅黑 Light" panose="020B0502040204020203" pitchFamily="34" charset="-122"/>
                <a:ea typeface="微软雅黑 Light" panose="020B0502040204020203" pitchFamily="34" charset="-122"/>
              </a:rPr>
              <a:t>：故障检测、隔离和纠正。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配置管理</a:t>
            </a:r>
            <a:r>
              <a:rPr lang="zh-CN" altLang="en-US" sz="2000" b="1" dirty="0">
                <a:latin typeface="微软雅黑 Light" panose="020B0502040204020203" pitchFamily="34" charset="-122"/>
                <a:ea typeface="微软雅黑 Light" panose="020B0502040204020203" pitchFamily="34" charset="-122"/>
              </a:rPr>
              <a:t>：初始化网络、并配置网络。</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计费管理</a:t>
            </a:r>
            <a:r>
              <a:rPr lang="zh-CN" altLang="en-US" sz="2000" b="1" dirty="0">
                <a:latin typeface="微软雅黑 Light" panose="020B0502040204020203" pitchFamily="34" charset="-122"/>
                <a:ea typeface="微软雅黑 Light" panose="020B0502040204020203" pitchFamily="34" charset="-122"/>
              </a:rPr>
              <a:t>：记录网络资源的使用。</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性能管理</a:t>
            </a:r>
            <a:r>
              <a:rPr lang="zh-CN" altLang="en-US" sz="2000" b="1" dirty="0">
                <a:latin typeface="微软雅黑 Light" panose="020B0502040204020203" pitchFamily="34" charset="-122"/>
                <a:ea typeface="微软雅黑 Light" panose="020B0502040204020203" pitchFamily="34" charset="-122"/>
              </a:rPr>
              <a:t>：估价系统资源的运行状况及通信效率等。</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网络安全管理</a:t>
            </a:r>
            <a:r>
              <a:rPr lang="zh-CN" altLang="en-US" sz="2000" b="1" dirty="0">
                <a:latin typeface="微软雅黑 Light" panose="020B0502040204020203" pitchFamily="34" charset="-122"/>
                <a:ea typeface="微软雅黑 Light" panose="020B0502040204020203" pitchFamily="34" charset="-122"/>
              </a:rPr>
              <a:t>：对授权机制、访问控制、加密和加密关键字的管理。</a:t>
            </a:r>
          </a:p>
        </p:txBody>
      </p:sp>
    </p:spTree>
    <p:extLst>
      <p:ext uri="{BB962C8B-B14F-4D97-AF65-F5344CB8AC3E}">
        <p14:creationId xmlns:p14="http://schemas.microsoft.com/office/powerpoint/2010/main" val="1251054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4754889" y="1607402"/>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20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270584" y="1591602"/>
            <a:ext cx="565891" cy="565892"/>
          </a:xfrm>
          <a:prstGeom prst="rect">
            <a:avLst/>
          </a:prstGeom>
          <a:noFill/>
          <a:extLst>
            <a:ext uri="{909E8E84-426E-40DD-AFC4-6F175D3DCCD1}">
              <a14:hiddenFill xmlns:a14="http://schemas.microsoft.com/office/drawing/2010/main">
                <a:solidFill>
                  <a:srgbClr val="FFFFFF"/>
                </a:solidFill>
              </a14:hiddenFill>
            </a:ext>
          </a:extLst>
        </p:spPr>
      </p:pic>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296385" y="582898"/>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网络管理的一般模型</a:t>
            </a:r>
          </a:p>
        </p:txBody>
      </p:sp>
      <p:grpSp>
        <p:nvGrpSpPr>
          <p:cNvPr id="5" name="Group 5"/>
          <p:cNvGrpSpPr>
            <a:grpSpLocks/>
          </p:cNvGrpSpPr>
          <p:nvPr/>
        </p:nvGrpSpPr>
        <p:grpSpPr bwMode="auto">
          <a:xfrm>
            <a:off x="5114868" y="2672006"/>
            <a:ext cx="1313973" cy="1543910"/>
            <a:chOff x="3072" y="2208"/>
            <a:chExt cx="1056" cy="1056"/>
          </a:xfrm>
        </p:grpSpPr>
        <p:grpSp>
          <p:nvGrpSpPr>
            <p:cNvPr id="6" name="Group 6"/>
            <p:cNvGrpSpPr>
              <a:grpSpLocks/>
            </p:cNvGrpSpPr>
            <p:nvPr/>
          </p:nvGrpSpPr>
          <p:grpSpPr bwMode="auto">
            <a:xfrm flipH="1">
              <a:off x="3072" y="2543"/>
              <a:ext cx="888" cy="721"/>
              <a:chOff x="2565" y="2202"/>
              <a:chExt cx="355" cy="297"/>
            </a:xfrm>
          </p:grpSpPr>
          <p:sp>
            <p:nvSpPr>
              <p:cNvPr id="146" name="Freeform 7"/>
              <p:cNvSpPr>
                <a:spLocks/>
              </p:cNvSpPr>
              <p:nvPr/>
            </p:nvSpPr>
            <p:spPr bwMode="auto">
              <a:xfrm>
                <a:off x="2646" y="2242"/>
                <a:ext cx="125" cy="189"/>
              </a:xfrm>
              <a:custGeom>
                <a:avLst/>
                <a:gdLst>
                  <a:gd name="T0" fmla="*/ 0 w 876"/>
                  <a:gd name="T1" fmla="*/ 0 h 1326"/>
                  <a:gd name="T2" fmla="*/ 0 w 876"/>
                  <a:gd name="T3" fmla="*/ 0 h 1326"/>
                  <a:gd name="T4" fmla="*/ 0 w 876"/>
                  <a:gd name="T5" fmla="*/ 0 h 1326"/>
                  <a:gd name="T6" fmla="*/ 0 w 876"/>
                  <a:gd name="T7" fmla="*/ 0 h 1326"/>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76" h="1326">
                    <a:moveTo>
                      <a:pt x="582" y="23"/>
                    </a:moveTo>
                    <a:lnTo>
                      <a:pt x="876" y="1209"/>
                    </a:lnTo>
                    <a:lnTo>
                      <a:pt x="0" y="1326"/>
                    </a:lnTo>
                    <a:lnTo>
                      <a:pt x="225" y="0"/>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47" name="Group 8"/>
              <p:cNvGrpSpPr>
                <a:grpSpLocks/>
              </p:cNvGrpSpPr>
              <p:nvPr/>
            </p:nvGrpSpPr>
            <p:grpSpPr bwMode="auto">
              <a:xfrm>
                <a:off x="2565" y="2202"/>
                <a:ext cx="351" cy="78"/>
                <a:chOff x="2565" y="2202"/>
                <a:chExt cx="351" cy="78"/>
              </a:xfrm>
            </p:grpSpPr>
            <p:sp>
              <p:nvSpPr>
                <p:cNvPr id="149" name="Freeform 9"/>
                <p:cNvSpPr>
                  <a:spLocks/>
                </p:cNvSpPr>
                <p:nvPr/>
              </p:nvSpPr>
              <p:spPr bwMode="auto">
                <a:xfrm>
                  <a:off x="2565" y="2202"/>
                  <a:ext cx="351" cy="66"/>
                </a:xfrm>
                <a:custGeom>
                  <a:avLst/>
                  <a:gdLst>
                    <a:gd name="T0" fmla="*/ 0 w 2454"/>
                    <a:gd name="T1" fmla="*/ 0 h 468"/>
                    <a:gd name="T2" fmla="*/ 0 w 2454"/>
                    <a:gd name="T3" fmla="*/ 0 h 468"/>
                    <a:gd name="T4" fmla="*/ 0 w 2454"/>
                    <a:gd name="T5" fmla="*/ 0 h 468"/>
                    <a:gd name="T6" fmla="*/ 0 w 2454"/>
                    <a:gd name="T7" fmla="*/ 0 h 468"/>
                    <a:gd name="T8" fmla="*/ 0 w 2454"/>
                    <a:gd name="T9" fmla="*/ 0 h 46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454" h="468">
                      <a:moveTo>
                        <a:pt x="2454" y="242"/>
                      </a:moveTo>
                      <a:lnTo>
                        <a:pt x="906" y="468"/>
                      </a:lnTo>
                      <a:lnTo>
                        <a:pt x="0" y="118"/>
                      </a:lnTo>
                      <a:lnTo>
                        <a:pt x="1162" y="0"/>
                      </a:lnTo>
                      <a:lnTo>
                        <a:pt x="2454" y="242"/>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0" name="Freeform 10"/>
                <p:cNvSpPr>
                  <a:spLocks/>
                </p:cNvSpPr>
                <p:nvPr/>
              </p:nvSpPr>
              <p:spPr bwMode="auto">
                <a:xfrm>
                  <a:off x="2694" y="2236"/>
                  <a:ext cx="221" cy="44"/>
                </a:xfrm>
                <a:custGeom>
                  <a:avLst/>
                  <a:gdLst>
                    <a:gd name="T0" fmla="*/ 0 w 1542"/>
                    <a:gd name="T1" fmla="*/ 0 h 303"/>
                    <a:gd name="T2" fmla="*/ 0 w 1542"/>
                    <a:gd name="T3" fmla="*/ 0 h 303"/>
                    <a:gd name="T4" fmla="*/ 0 w 1542"/>
                    <a:gd name="T5" fmla="*/ 0 h 303"/>
                    <a:gd name="T6" fmla="*/ 0 w 1542"/>
                    <a:gd name="T7" fmla="*/ 0 h 303"/>
                    <a:gd name="T8" fmla="*/ 0 w 1542"/>
                    <a:gd name="T9" fmla="*/ 0 h 30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542" h="303">
                      <a:moveTo>
                        <a:pt x="1542" y="0"/>
                      </a:moveTo>
                      <a:lnTo>
                        <a:pt x="0" y="225"/>
                      </a:lnTo>
                      <a:lnTo>
                        <a:pt x="0" y="303"/>
                      </a:lnTo>
                      <a:lnTo>
                        <a:pt x="1542" y="79"/>
                      </a:lnTo>
                      <a:lnTo>
                        <a:pt x="1542" y="0"/>
                      </a:lnTo>
                      <a:close/>
                    </a:path>
                  </a:pathLst>
                </a:custGeom>
                <a:solidFill>
                  <a:srgbClr val="E0E0E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1" name="Freeform 11"/>
                <p:cNvSpPr>
                  <a:spLocks/>
                </p:cNvSpPr>
                <p:nvPr/>
              </p:nvSpPr>
              <p:spPr bwMode="auto">
                <a:xfrm>
                  <a:off x="2565" y="2218"/>
                  <a:ext cx="129" cy="62"/>
                </a:xfrm>
                <a:custGeom>
                  <a:avLst/>
                  <a:gdLst>
                    <a:gd name="T0" fmla="*/ 0 w 906"/>
                    <a:gd name="T1" fmla="*/ 0 h 428"/>
                    <a:gd name="T2" fmla="*/ 0 w 906"/>
                    <a:gd name="T3" fmla="*/ 0 h 428"/>
                    <a:gd name="T4" fmla="*/ 0 w 906"/>
                    <a:gd name="T5" fmla="*/ 0 h 428"/>
                    <a:gd name="T6" fmla="*/ 0 w 906"/>
                    <a:gd name="T7" fmla="*/ 0 h 428"/>
                    <a:gd name="T8" fmla="*/ 0 w 906"/>
                    <a:gd name="T9" fmla="*/ 0 h 4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906" h="428">
                      <a:moveTo>
                        <a:pt x="906" y="428"/>
                      </a:moveTo>
                      <a:lnTo>
                        <a:pt x="906" y="350"/>
                      </a:lnTo>
                      <a:lnTo>
                        <a:pt x="0" y="0"/>
                      </a:lnTo>
                      <a:lnTo>
                        <a:pt x="0" y="54"/>
                      </a:lnTo>
                      <a:lnTo>
                        <a:pt x="906" y="428"/>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48" name="Freeform 12"/>
              <p:cNvSpPr>
                <a:spLocks/>
              </p:cNvSpPr>
              <p:nvPr/>
            </p:nvSpPr>
            <p:spPr bwMode="auto">
              <a:xfrm>
                <a:off x="2767" y="2256"/>
                <a:ext cx="153" cy="243"/>
              </a:xfrm>
              <a:custGeom>
                <a:avLst/>
                <a:gdLst>
                  <a:gd name="T0" fmla="*/ 0 w 1066"/>
                  <a:gd name="T1" fmla="*/ 0 h 1700"/>
                  <a:gd name="T2" fmla="*/ 0 w 1066"/>
                  <a:gd name="T3" fmla="*/ 0 h 1700"/>
                  <a:gd name="T4" fmla="*/ 0 w 1066"/>
                  <a:gd name="T5" fmla="*/ 0 h 1700"/>
                  <a:gd name="T6" fmla="*/ 0 w 1066"/>
                  <a:gd name="T7" fmla="*/ 0 h 170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066" h="1700">
                    <a:moveTo>
                      <a:pt x="589" y="0"/>
                    </a:moveTo>
                    <a:lnTo>
                      <a:pt x="1066" y="1569"/>
                    </a:lnTo>
                    <a:lnTo>
                      <a:pt x="0" y="1700"/>
                    </a:lnTo>
                    <a:lnTo>
                      <a:pt x="170" y="32"/>
                    </a:lnTo>
                  </a:path>
                </a:pathLst>
              </a:custGeom>
              <a:noFill/>
              <a:ln w="11113">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7" name="Group 13"/>
            <p:cNvGrpSpPr>
              <a:grpSpLocks/>
            </p:cNvGrpSpPr>
            <p:nvPr/>
          </p:nvGrpSpPr>
          <p:grpSpPr bwMode="auto">
            <a:xfrm flipH="1">
              <a:off x="3225" y="2269"/>
              <a:ext cx="610" cy="417"/>
              <a:chOff x="2615" y="2089"/>
              <a:chExt cx="244" cy="172"/>
            </a:xfrm>
          </p:grpSpPr>
          <p:grpSp>
            <p:nvGrpSpPr>
              <p:cNvPr id="95" name="Group 14"/>
              <p:cNvGrpSpPr>
                <a:grpSpLocks/>
              </p:cNvGrpSpPr>
              <p:nvPr/>
            </p:nvGrpSpPr>
            <p:grpSpPr bwMode="auto">
              <a:xfrm>
                <a:off x="2671" y="2089"/>
                <a:ext cx="188" cy="156"/>
                <a:chOff x="2671" y="2089"/>
                <a:chExt cx="188" cy="156"/>
              </a:xfrm>
            </p:grpSpPr>
            <p:grpSp>
              <p:nvGrpSpPr>
                <p:cNvPr id="128" name="Group 15"/>
                <p:cNvGrpSpPr>
                  <a:grpSpLocks/>
                </p:cNvGrpSpPr>
                <p:nvPr/>
              </p:nvGrpSpPr>
              <p:grpSpPr bwMode="auto">
                <a:xfrm>
                  <a:off x="2671" y="2089"/>
                  <a:ext cx="188" cy="156"/>
                  <a:chOff x="2671" y="2089"/>
                  <a:chExt cx="188" cy="156"/>
                </a:xfrm>
              </p:grpSpPr>
              <p:grpSp>
                <p:nvGrpSpPr>
                  <p:cNvPr id="137" name="Group 16"/>
                  <p:cNvGrpSpPr>
                    <a:grpSpLocks/>
                  </p:cNvGrpSpPr>
                  <p:nvPr/>
                </p:nvGrpSpPr>
                <p:grpSpPr bwMode="auto">
                  <a:xfrm>
                    <a:off x="2671" y="2177"/>
                    <a:ext cx="188" cy="68"/>
                    <a:chOff x="2671" y="2177"/>
                    <a:chExt cx="188" cy="68"/>
                  </a:xfrm>
                </p:grpSpPr>
                <p:sp>
                  <p:nvSpPr>
                    <p:cNvPr id="143" name="Freeform 17"/>
                    <p:cNvSpPr>
                      <a:spLocks/>
                    </p:cNvSpPr>
                    <p:nvPr/>
                  </p:nvSpPr>
                  <p:spPr bwMode="auto">
                    <a:xfrm>
                      <a:off x="2671" y="2177"/>
                      <a:ext cx="108" cy="68"/>
                    </a:xfrm>
                    <a:custGeom>
                      <a:avLst/>
                      <a:gdLst>
                        <a:gd name="T0" fmla="*/ 0 w 758"/>
                        <a:gd name="T1" fmla="*/ 0 h 475"/>
                        <a:gd name="T2" fmla="*/ 0 w 758"/>
                        <a:gd name="T3" fmla="*/ 0 h 475"/>
                        <a:gd name="T4" fmla="*/ 0 w 758"/>
                        <a:gd name="T5" fmla="*/ 0 h 475"/>
                        <a:gd name="T6" fmla="*/ 0 w 758"/>
                        <a:gd name="T7" fmla="*/ 0 h 475"/>
                        <a:gd name="T8" fmla="*/ 0 w 758"/>
                        <a:gd name="T9" fmla="*/ 0 h 47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58" h="475">
                          <a:moveTo>
                            <a:pt x="758" y="146"/>
                          </a:moveTo>
                          <a:lnTo>
                            <a:pt x="758" y="475"/>
                          </a:lnTo>
                          <a:lnTo>
                            <a:pt x="0" y="232"/>
                          </a:lnTo>
                          <a:lnTo>
                            <a:pt x="0" y="0"/>
                          </a:lnTo>
                          <a:lnTo>
                            <a:pt x="758" y="146"/>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4" name="Freeform 18"/>
                    <p:cNvSpPr>
                      <a:spLocks/>
                    </p:cNvSpPr>
                    <p:nvPr/>
                  </p:nvSpPr>
                  <p:spPr bwMode="auto">
                    <a:xfrm>
                      <a:off x="2779" y="2193"/>
                      <a:ext cx="80" cy="52"/>
                    </a:xfrm>
                    <a:custGeom>
                      <a:avLst/>
                      <a:gdLst>
                        <a:gd name="T0" fmla="*/ 0 w 563"/>
                        <a:gd name="T1" fmla="*/ 0 h 362"/>
                        <a:gd name="T2" fmla="*/ 0 w 563"/>
                        <a:gd name="T3" fmla="*/ 0 h 362"/>
                        <a:gd name="T4" fmla="*/ 0 w 563"/>
                        <a:gd name="T5" fmla="*/ 0 h 362"/>
                        <a:gd name="T6" fmla="*/ 0 w 563"/>
                        <a:gd name="T7" fmla="*/ 0 h 362"/>
                        <a:gd name="T8" fmla="*/ 0 w 563"/>
                        <a:gd name="T9" fmla="*/ 0 h 36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63" h="362">
                          <a:moveTo>
                            <a:pt x="0" y="33"/>
                          </a:moveTo>
                          <a:lnTo>
                            <a:pt x="0" y="362"/>
                          </a:lnTo>
                          <a:lnTo>
                            <a:pt x="563" y="280"/>
                          </a:lnTo>
                          <a:lnTo>
                            <a:pt x="563" y="0"/>
                          </a:lnTo>
                          <a:lnTo>
                            <a:pt x="0" y="33"/>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5" name="Freeform 19"/>
                    <p:cNvSpPr>
                      <a:spLocks/>
                    </p:cNvSpPr>
                    <p:nvPr/>
                  </p:nvSpPr>
                  <p:spPr bwMode="auto">
                    <a:xfrm>
                      <a:off x="2671" y="2177"/>
                      <a:ext cx="188" cy="21"/>
                    </a:xfrm>
                    <a:custGeom>
                      <a:avLst/>
                      <a:gdLst>
                        <a:gd name="T0" fmla="*/ 0 w 1321"/>
                        <a:gd name="T1" fmla="*/ 0 h 146"/>
                        <a:gd name="T2" fmla="*/ 0 w 1321"/>
                        <a:gd name="T3" fmla="*/ 0 h 146"/>
                        <a:gd name="T4" fmla="*/ 0 w 1321"/>
                        <a:gd name="T5" fmla="*/ 0 h 146"/>
                        <a:gd name="T6" fmla="*/ 0 w 1321"/>
                        <a:gd name="T7" fmla="*/ 0 h 146"/>
                        <a:gd name="T8" fmla="*/ 0 w 1321"/>
                        <a:gd name="T9" fmla="*/ 0 h 14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321" h="146">
                          <a:moveTo>
                            <a:pt x="1321" y="113"/>
                          </a:moveTo>
                          <a:lnTo>
                            <a:pt x="752" y="146"/>
                          </a:lnTo>
                          <a:lnTo>
                            <a:pt x="0" y="0"/>
                          </a:lnTo>
                          <a:lnTo>
                            <a:pt x="553" y="0"/>
                          </a:lnTo>
                          <a:lnTo>
                            <a:pt x="1321" y="11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8" name="Freeform 20"/>
                  <p:cNvSpPr>
                    <a:spLocks/>
                  </p:cNvSpPr>
                  <p:nvPr/>
                </p:nvSpPr>
                <p:spPr bwMode="auto">
                  <a:xfrm>
                    <a:off x="2730" y="2171"/>
                    <a:ext cx="68" cy="20"/>
                  </a:xfrm>
                  <a:custGeom>
                    <a:avLst/>
                    <a:gdLst>
                      <a:gd name="T0" fmla="*/ 0 w 479"/>
                      <a:gd name="T1" fmla="*/ 0 h 136"/>
                      <a:gd name="T2" fmla="*/ 0 w 479"/>
                      <a:gd name="T3" fmla="*/ 0 h 136"/>
                      <a:gd name="T4" fmla="*/ 0 w 479"/>
                      <a:gd name="T5" fmla="*/ 0 h 136"/>
                      <a:gd name="T6" fmla="*/ 0 w 479"/>
                      <a:gd name="T7" fmla="*/ 0 h 136"/>
                      <a:gd name="T8" fmla="*/ 0 w 479"/>
                      <a:gd name="T9" fmla="*/ 0 h 136"/>
                      <a:gd name="T10" fmla="*/ 0 w 479"/>
                      <a:gd name="T11" fmla="*/ 0 h 136"/>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79" h="136">
                        <a:moveTo>
                          <a:pt x="479" y="77"/>
                        </a:moveTo>
                        <a:lnTo>
                          <a:pt x="479" y="121"/>
                        </a:lnTo>
                        <a:lnTo>
                          <a:pt x="255" y="136"/>
                        </a:lnTo>
                        <a:lnTo>
                          <a:pt x="0" y="87"/>
                        </a:lnTo>
                        <a:lnTo>
                          <a:pt x="0" y="0"/>
                        </a:lnTo>
                        <a:lnTo>
                          <a:pt x="479" y="77"/>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139" name="Group 21"/>
                  <p:cNvGrpSpPr>
                    <a:grpSpLocks/>
                  </p:cNvGrpSpPr>
                  <p:nvPr/>
                </p:nvGrpSpPr>
                <p:grpSpPr bwMode="auto">
                  <a:xfrm>
                    <a:off x="2692" y="2089"/>
                    <a:ext cx="153" cy="97"/>
                    <a:chOff x="2692" y="2089"/>
                    <a:chExt cx="153" cy="97"/>
                  </a:xfrm>
                </p:grpSpPr>
                <p:sp>
                  <p:nvSpPr>
                    <p:cNvPr id="140" name="Freeform 22"/>
                    <p:cNvSpPr>
                      <a:spLocks/>
                    </p:cNvSpPr>
                    <p:nvPr/>
                  </p:nvSpPr>
                  <p:spPr bwMode="auto">
                    <a:xfrm>
                      <a:off x="2692" y="2089"/>
                      <a:ext cx="88" cy="95"/>
                    </a:xfrm>
                    <a:custGeom>
                      <a:avLst/>
                      <a:gdLst>
                        <a:gd name="T0" fmla="*/ 0 w 612"/>
                        <a:gd name="T1" fmla="*/ 0 h 664"/>
                        <a:gd name="T2" fmla="*/ 0 w 612"/>
                        <a:gd name="T3" fmla="*/ 0 h 664"/>
                        <a:gd name="T4" fmla="*/ 0 w 612"/>
                        <a:gd name="T5" fmla="*/ 0 h 664"/>
                        <a:gd name="T6" fmla="*/ 0 w 612"/>
                        <a:gd name="T7" fmla="*/ 0 h 664"/>
                        <a:gd name="T8" fmla="*/ 0 w 612"/>
                        <a:gd name="T9" fmla="*/ 0 h 66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12" h="664">
                          <a:moveTo>
                            <a:pt x="525" y="664"/>
                          </a:moveTo>
                          <a:lnTo>
                            <a:pt x="612" y="22"/>
                          </a:lnTo>
                          <a:lnTo>
                            <a:pt x="85" y="0"/>
                          </a:lnTo>
                          <a:lnTo>
                            <a:pt x="0" y="572"/>
                          </a:lnTo>
                          <a:lnTo>
                            <a:pt x="525" y="664"/>
                          </a:lnTo>
                          <a:close/>
                        </a:path>
                      </a:pathLst>
                    </a:custGeom>
                    <a:solidFill>
                      <a:srgbClr val="A0A0A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1" name="Freeform 23"/>
                    <p:cNvSpPr>
                      <a:spLocks/>
                    </p:cNvSpPr>
                    <p:nvPr/>
                  </p:nvSpPr>
                  <p:spPr bwMode="auto">
                    <a:xfrm>
                      <a:off x="2767" y="2092"/>
                      <a:ext cx="78" cy="94"/>
                    </a:xfrm>
                    <a:custGeom>
                      <a:avLst/>
                      <a:gdLst>
                        <a:gd name="T0" fmla="*/ 0 w 543"/>
                        <a:gd name="T1" fmla="*/ 0 h 660"/>
                        <a:gd name="T2" fmla="*/ 0 w 543"/>
                        <a:gd name="T3" fmla="*/ 0 h 660"/>
                        <a:gd name="T4" fmla="*/ 0 w 543"/>
                        <a:gd name="T5" fmla="*/ 0 h 660"/>
                        <a:gd name="T6" fmla="*/ 0 w 543"/>
                        <a:gd name="T7" fmla="*/ 0 h 660"/>
                        <a:gd name="T8" fmla="*/ 0 w 543"/>
                        <a:gd name="T9" fmla="*/ 0 h 66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3" h="660">
                          <a:moveTo>
                            <a:pt x="87" y="0"/>
                          </a:moveTo>
                          <a:lnTo>
                            <a:pt x="543" y="146"/>
                          </a:lnTo>
                          <a:lnTo>
                            <a:pt x="479" y="660"/>
                          </a:lnTo>
                          <a:lnTo>
                            <a:pt x="0" y="643"/>
                          </a:lnTo>
                          <a:lnTo>
                            <a:pt x="87" y="0"/>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2" name="Freeform 24"/>
                    <p:cNvSpPr>
                      <a:spLocks/>
                    </p:cNvSpPr>
                    <p:nvPr/>
                  </p:nvSpPr>
                  <p:spPr bwMode="auto">
                    <a:xfrm>
                      <a:off x="2702" y="2098"/>
                      <a:ext cx="63" cy="72"/>
                    </a:xfrm>
                    <a:custGeom>
                      <a:avLst/>
                      <a:gdLst>
                        <a:gd name="T0" fmla="*/ 0 w 440"/>
                        <a:gd name="T1" fmla="*/ 0 h 499"/>
                        <a:gd name="T2" fmla="*/ 0 w 440"/>
                        <a:gd name="T3" fmla="*/ 0 h 499"/>
                        <a:gd name="T4" fmla="*/ 0 w 440"/>
                        <a:gd name="T5" fmla="*/ 0 h 499"/>
                        <a:gd name="T6" fmla="*/ 0 w 440"/>
                        <a:gd name="T7" fmla="*/ 0 h 499"/>
                        <a:gd name="T8" fmla="*/ 0 w 440"/>
                        <a:gd name="T9" fmla="*/ 0 h 4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40" h="499">
                          <a:moveTo>
                            <a:pt x="440" y="22"/>
                          </a:moveTo>
                          <a:lnTo>
                            <a:pt x="378" y="499"/>
                          </a:lnTo>
                          <a:lnTo>
                            <a:pt x="0" y="443"/>
                          </a:lnTo>
                          <a:lnTo>
                            <a:pt x="65" y="0"/>
                          </a:lnTo>
                          <a:lnTo>
                            <a:pt x="440" y="22"/>
                          </a:lnTo>
                          <a:close/>
                        </a:path>
                      </a:pathLst>
                    </a:custGeom>
                    <a:solidFill>
                      <a:srgbClr val="0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129" name="Group 25"/>
                <p:cNvGrpSpPr>
                  <a:grpSpLocks/>
                </p:cNvGrpSpPr>
                <p:nvPr/>
              </p:nvGrpSpPr>
              <p:grpSpPr bwMode="auto">
                <a:xfrm>
                  <a:off x="2678" y="2184"/>
                  <a:ext cx="62" cy="44"/>
                  <a:chOff x="2678" y="2184"/>
                  <a:chExt cx="62" cy="44"/>
                </a:xfrm>
              </p:grpSpPr>
              <p:sp>
                <p:nvSpPr>
                  <p:cNvPr id="130" name="Freeform 26"/>
                  <p:cNvSpPr>
                    <a:spLocks/>
                  </p:cNvSpPr>
                  <p:nvPr/>
                </p:nvSpPr>
                <p:spPr bwMode="auto">
                  <a:xfrm>
                    <a:off x="2678" y="2184"/>
                    <a:ext cx="62" cy="44"/>
                  </a:xfrm>
                  <a:custGeom>
                    <a:avLst/>
                    <a:gdLst>
                      <a:gd name="T0" fmla="*/ 0 w 431"/>
                      <a:gd name="T1" fmla="*/ 0 h 311"/>
                      <a:gd name="T2" fmla="*/ 0 w 431"/>
                      <a:gd name="T3" fmla="*/ 0 h 311"/>
                      <a:gd name="T4" fmla="*/ 0 w 431"/>
                      <a:gd name="T5" fmla="*/ 0 h 311"/>
                      <a:gd name="T6" fmla="*/ 0 w 431"/>
                      <a:gd name="T7" fmla="*/ 0 h 311"/>
                      <a:gd name="T8" fmla="*/ 0 w 431"/>
                      <a:gd name="T9" fmla="*/ 0 h 31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31" h="311">
                        <a:moveTo>
                          <a:pt x="0" y="0"/>
                        </a:moveTo>
                        <a:lnTo>
                          <a:pt x="431" y="94"/>
                        </a:lnTo>
                        <a:lnTo>
                          <a:pt x="431" y="311"/>
                        </a:lnTo>
                        <a:lnTo>
                          <a:pt x="0" y="176"/>
                        </a:lnTo>
                        <a:lnTo>
                          <a:pt x="0" y="0"/>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1" name="Line 27"/>
                  <p:cNvSpPr>
                    <a:spLocks noChangeShapeType="1"/>
                  </p:cNvSpPr>
                  <p:nvPr/>
                </p:nvSpPr>
                <p:spPr bwMode="auto">
                  <a:xfrm flipH="1" flipV="1">
                    <a:off x="2684" y="2196"/>
                    <a:ext cx="17" cy="3"/>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2" name="Line 28"/>
                  <p:cNvSpPr>
                    <a:spLocks noChangeShapeType="1"/>
                  </p:cNvSpPr>
                  <p:nvPr/>
                </p:nvSpPr>
                <p:spPr bwMode="auto">
                  <a:xfrm>
                    <a:off x="2709" y="2201"/>
                    <a:ext cx="22" cy="5"/>
                  </a:xfrm>
                  <a:prstGeom prst="line">
                    <a:avLst/>
                  </a:prstGeom>
                  <a:noFill/>
                  <a:ln w="3175">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3" name="Line 29"/>
                  <p:cNvSpPr>
                    <a:spLocks noChangeShapeType="1"/>
                  </p:cNvSpPr>
                  <p:nvPr/>
                </p:nvSpPr>
                <p:spPr bwMode="auto">
                  <a:xfrm>
                    <a:off x="2704" y="2189"/>
                    <a:ext cx="1" cy="29"/>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4" name="Line 30"/>
                  <p:cNvSpPr>
                    <a:spLocks noChangeShapeType="1"/>
                  </p:cNvSpPr>
                  <p:nvPr/>
                </p:nvSpPr>
                <p:spPr bwMode="auto">
                  <a:xfrm>
                    <a:off x="2734" y="2196"/>
                    <a:ext cx="1" cy="32"/>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5" name="Line 31"/>
                  <p:cNvSpPr>
                    <a:spLocks noChangeShapeType="1"/>
                  </p:cNvSpPr>
                  <p:nvPr/>
                </p:nvSpPr>
                <p:spPr bwMode="auto">
                  <a:xfrm>
                    <a:off x="2679" y="2195"/>
                    <a:ext cx="56" cy="14"/>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6" name="Line 32"/>
                  <p:cNvSpPr>
                    <a:spLocks noChangeShapeType="1"/>
                  </p:cNvSpPr>
                  <p:nvPr/>
                </p:nvSpPr>
                <p:spPr bwMode="auto">
                  <a:xfrm flipH="1" flipV="1">
                    <a:off x="2678" y="2191"/>
                    <a:ext cx="57" cy="13"/>
                  </a:xfrm>
                  <a:prstGeom prst="line">
                    <a:avLst/>
                  </a:prstGeom>
                  <a:noFill/>
                  <a:ln w="158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nvGrpSpPr>
              <p:cNvPr id="96" name="Group 33"/>
              <p:cNvGrpSpPr>
                <a:grpSpLocks/>
              </p:cNvGrpSpPr>
              <p:nvPr/>
            </p:nvGrpSpPr>
            <p:grpSpPr bwMode="auto">
              <a:xfrm>
                <a:off x="2615" y="2185"/>
                <a:ext cx="147" cy="76"/>
                <a:chOff x="2615" y="2185"/>
                <a:chExt cx="147" cy="76"/>
              </a:xfrm>
            </p:grpSpPr>
            <p:grpSp>
              <p:nvGrpSpPr>
                <p:cNvPr id="97" name="Group 34"/>
                <p:cNvGrpSpPr>
                  <a:grpSpLocks/>
                </p:cNvGrpSpPr>
                <p:nvPr/>
              </p:nvGrpSpPr>
              <p:grpSpPr bwMode="auto">
                <a:xfrm>
                  <a:off x="2729" y="2226"/>
                  <a:ext cx="24" cy="18"/>
                  <a:chOff x="2729" y="2226"/>
                  <a:chExt cx="24" cy="18"/>
                </a:xfrm>
              </p:grpSpPr>
              <p:sp>
                <p:nvSpPr>
                  <p:cNvPr id="126" name="Freeform 35"/>
                  <p:cNvSpPr>
                    <a:spLocks/>
                  </p:cNvSpPr>
                  <p:nvPr/>
                </p:nvSpPr>
                <p:spPr bwMode="auto">
                  <a:xfrm>
                    <a:off x="2746" y="2226"/>
                    <a:ext cx="7" cy="18"/>
                  </a:xfrm>
                  <a:custGeom>
                    <a:avLst/>
                    <a:gdLst>
                      <a:gd name="T0" fmla="*/ 0 w 48"/>
                      <a:gd name="T1" fmla="*/ 0 h 126"/>
                      <a:gd name="T2" fmla="*/ 0 w 48"/>
                      <a:gd name="T3" fmla="*/ 0 h 126"/>
                      <a:gd name="T4" fmla="*/ 0 w 48"/>
                      <a:gd name="T5" fmla="*/ 0 h 126"/>
                      <a:gd name="T6" fmla="*/ 0 w 48"/>
                      <a:gd name="T7" fmla="*/ 0 h 126"/>
                      <a:gd name="T8" fmla="*/ 0 w 48"/>
                      <a:gd name="T9" fmla="*/ 0 h 12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8" h="126">
                        <a:moveTo>
                          <a:pt x="33" y="0"/>
                        </a:moveTo>
                        <a:lnTo>
                          <a:pt x="48" y="118"/>
                        </a:lnTo>
                        <a:lnTo>
                          <a:pt x="13" y="126"/>
                        </a:lnTo>
                        <a:lnTo>
                          <a:pt x="0" y="6"/>
                        </a:lnTo>
                        <a:lnTo>
                          <a:pt x="33"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7" name="Freeform 36"/>
                  <p:cNvSpPr>
                    <a:spLocks/>
                  </p:cNvSpPr>
                  <p:nvPr/>
                </p:nvSpPr>
                <p:spPr bwMode="auto">
                  <a:xfrm>
                    <a:off x="2729" y="2229"/>
                    <a:ext cx="19" cy="15"/>
                  </a:xfrm>
                  <a:custGeom>
                    <a:avLst/>
                    <a:gdLst>
                      <a:gd name="T0" fmla="*/ 0 w 132"/>
                      <a:gd name="T1" fmla="*/ 0 h 109"/>
                      <a:gd name="T2" fmla="*/ 0 w 132"/>
                      <a:gd name="T3" fmla="*/ 0 h 109"/>
                      <a:gd name="T4" fmla="*/ 0 w 132"/>
                      <a:gd name="T5" fmla="*/ 0 h 109"/>
                      <a:gd name="T6" fmla="*/ 0 w 132"/>
                      <a:gd name="T7" fmla="*/ 0 h 109"/>
                      <a:gd name="T8" fmla="*/ 0 w 132"/>
                      <a:gd name="T9" fmla="*/ 0 h 109"/>
                      <a:gd name="T10" fmla="*/ 0 w 132"/>
                      <a:gd name="T11" fmla="*/ 0 h 109"/>
                      <a:gd name="T12" fmla="*/ 0 w 132"/>
                      <a:gd name="T13" fmla="*/ 0 h 10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2" h="109">
                        <a:moveTo>
                          <a:pt x="121" y="4"/>
                        </a:moveTo>
                        <a:lnTo>
                          <a:pt x="132" y="109"/>
                        </a:lnTo>
                        <a:lnTo>
                          <a:pt x="0" y="54"/>
                        </a:lnTo>
                        <a:lnTo>
                          <a:pt x="52" y="38"/>
                        </a:lnTo>
                        <a:lnTo>
                          <a:pt x="98" y="62"/>
                        </a:lnTo>
                        <a:lnTo>
                          <a:pt x="83" y="0"/>
                        </a:lnTo>
                        <a:lnTo>
                          <a:pt x="121" y="4"/>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8" name="Group 37"/>
                <p:cNvGrpSpPr>
                  <a:grpSpLocks/>
                </p:cNvGrpSpPr>
                <p:nvPr/>
              </p:nvGrpSpPr>
              <p:grpSpPr bwMode="auto">
                <a:xfrm>
                  <a:off x="2615" y="2185"/>
                  <a:ext cx="147" cy="76"/>
                  <a:chOff x="2615" y="2185"/>
                  <a:chExt cx="147" cy="76"/>
                </a:xfrm>
              </p:grpSpPr>
              <p:sp>
                <p:nvSpPr>
                  <p:cNvPr id="99" name="Freeform 38"/>
                  <p:cNvSpPr>
                    <a:spLocks/>
                  </p:cNvSpPr>
                  <p:nvPr/>
                </p:nvSpPr>
                <p:spPr bwMode="auto">
                  <a:xfrm>
                    <a:off x="2616" y="2185"/>
                    <a:ext cx="144" cy="67"/>
                  </a:xfrm>
                  <a:custGeom>
                    <a:avLst/>
                    <a:gdLst>
                      <a:gd name="T0" fmla="*/ 0 w 1009"/>
                      <a:gd name="T1" fmla="*/ 0 h 471"/>
                      <a:gd name="T2" fmla="*/ 0 w 1009"/>
                      <a:gd name="T3" fmla="*/ 0 h 471"/>
                      <a:gd name="T4" fmla="*/ 0 w 1009"/>
                      <a:gd name="T5" fmla="*/ 0 h 471"/>
                      <a:gd name="T6" fmla="*/ 0 w 1009"/>
                      <a:gd name="T7" fmla="*/ 0 h 471"/>
                      <a:gd name="T8" fmla="*/ 0 w 1009"/>
                      <a:gd name="T9" fmla="*/ 0 h 47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09" h="471">
                        <a:moveTo>
                          <a:pt x="1009" y="199"/>
                        </a:moveTo>
                        <a:lnTo>
                          <a:pt x="525" y="471"/>
                        </a:lnTo>
                        <a:lnTo>
                          <a:pt x="0" y="205"/>
                        </a:lnTo>
                        <a:lnTo>
                          <a:pt x="403" y="0"/>
                        </a:lnTo>
                        <a:lnTo>
                          <a:pt x="1009" y="199"/>
                        </a:lnTo>
                        <a:close/>
                      </a:path>
                    </a:pathLst>
                  </a:custGeom>
                  <a:solidFill>
                    <a:srgbClr val="80808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0" name="Freeform 39"/>
                  <p:cNvSpPr>
                    <a:spLocks/>
                  </p:cNvSpPr>
                  <p:nvPr/>
                </p:nvSpPr>
                <p:spPr bwMode="auto">
                  <a:xfrm>
                    <a:off x="2690" y="2213"/>
                    <a:ext cx="72" cy="48"/>
                  </a:xfrm>
                  <a:custGeom>
                    <a:avLst/>
                    <a:gdLst>
                      <a:gd name="T0" fmla="*/ 0 w 505"/>
                      <a:gd name="T1" fmla="*/ 0 h 333"/>
                      <a:gd name="T2" fmla="*/ 0 w 505"/>
                      <a:gd name="T3" fmla="*/ 0 h 333"/>
                      <a:gd name="T4" fmla="*/ 0 w 505"/>
                      <a:gd name="T5" fmla="*/ 0 h 333"/>
                      <a:gd name="T6" fmla="*/ 0 w 505"/>
                      <a:gd name="T7" fmla="*/ 0 h 333"/>
                      <a:gd name="T8" fmla="*/ 0 w 505"/>
                      <a:gd name="T9" fmla="*/ 0 h 333"/>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05" h="333">
                        <a:moveTo>
                          <a:pt x="487" y="0"/>
                        </a:moveTo>
                        <a:lnTo>
                          <a:pt x="0" y="276"/>
                        </a:lnTo>
                        <a:lnTo>
                          <a:pt x="14" y="333"/>
                        </a:lnTo>
                        <a:lnTo>
                          <a:pt x="505" y="53"/>
                        </a:lnTo>
                        <a:lnTo>
                          <a:pt x="487" y="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1" name="Freeform 40"/>
                  <p:cNvSpPr>
                    <a:spLocks/>
                  </p:cNvSpPr>
                  <p:nvPr/>
                </p:nvSpPr>
                <p:spPr bwMode="auto">
                  <a:xfrm>
                    <a:off x="2615" y="2214"/>
                    <a:ext cx="77" cy="47"/>
                  </a:xfrm>
                  <a:custGeom>
                    <a:avLst/>
                    <a:gdLst>
                      <a:gd name="T0" fmla="*/ 0 w 540"/>
                      <a:gd name="T1" fmla="*/ 0 h 327"/>
                      <a:gd name="T2" fmla="*/ 0 w 540"/>
                      <a:gd name="T3" fmla="*/ 0 h 327"/>
                      <a:gd name="T4" fmla="*/ 0 w 540"/>
                      <a:gd name="T5" fmla="*/ 0 h 327"/>
                      <a:gd name="T6" fmla="*/ 0 w 540"/>
                      <a:gd name="T7" fmla="*/ 0 h 327"/>
                      <a:gd name="T8" fmla="*/ 0 w 540"/>
                      <a:gd name="T9" fmla="*/ 0 h 3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0" h="327">
                        <a:moveTo>
                          <a:pt x="540" y="327"/>
                        </a:moveTo>
                        <a:lnTo>
                          <a:pt x="524" y="266"/>
                        </a:lnTo>
                        <a:lnTo>
                          <a:pt x="0" y="0"/>
                        </a:lnTo>
                        <a:lnTo>
                          <a:pt x="19" y="49"/>
                        </a:lnTo>
                        <a:lnTo>
                          <a:pt x="540" y="327"/>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2" name="Freeform 41"/>
                  <p:cNvSpPr>
                    <a:spLocks/>
                  </p:cNvSpPr>
                  <p:nvPr/>
                </p:nvSpPr>
                <p:spPr bwMode="auto">
                  <a:xfrm>
                    <a:off x="2674" y="2217"/>
                    <a:ext cx="57" cy="29"/>
                  </a:xfrm>
                  <a:custGeom>
                    <a:avLst/>
                    <a:gdLst>
                      <a:gd name="T0" fmla="*/ 0 w 405"/>
                      <a:gd name="T1" fmla="*/ 0 h 207"/>
                      <a:gd name="T2" fmla="*/ 0 w 405"/>
                      <a:gd name="T3" fmla="*/ 0 h 207"/>
                      <a:gd name="T4" fmla="*/ 0 w 405"/>
                      <a:gd name="T5" fmla="*/ 0 h 207"/>
                      <a:gd name="T6" fmla="*/ 0 w 405"/>
                      <a:gd name="T7" fmla="*/ 0 h 207"/>
                      <a:gd name="T8" fmla="*/ 0 w 405"/>
                      <a:gd name="T9" fmla="*/ 0 h 20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405" h="207">
                        <a:moveTo>
                          <a:pt x="405" y="53"/>
                        </a:moveTo>
                        <a:lnTo>
                          <a:pt x="264" y="0"/>
                        </a:lnTo>
                        <a:lnTo>
                          <a:pt x="0" y="144"/>
                        </a:lnTo>
                        <a:lnTo>
                          <a:pt x="134" y="207"/>
                        </a:lnTo>
                        <a:lnTo>
                          <a:pt x="405" y="53"/>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3" name="Freeform 42"/>
                  <p:cNvSpPr>
                    <a:spLocks/>
                  </p:cNvSpPr>
                  <p:nvPr/>
                </p:nvSpPr>
                <p:spPr bwMode="auto">
                  <a:xfrm>
                    <a:off x="2622" y="2196"/>
                    <a:ext cx="86" cy="39"/>
                  </a:xfrm>
                  <a:custGeom>
                    <a:avLst/>
                    <a:gdLst>
                      <a:gd name="T0" fmla="*/ 0 w 597"/>
                      <a:gd name="T1" fmla="*/ 0 h 278"/>
                      <a:gd name="T2" fmla="*/ 0 w 597"/>
                      <a:gd name="T3" fmla="*/ 0 h 278"/>
                      <a:gd name="T4" fmla="*/ 0 w 597"/>
                      <a:gd name="T5" fmla="*/ 0 h 278"/>
                      <a:gd name="T6" fmla="*/ 0 w 597"/>
                      <a:gd name="T7" fmla="*/ 0 h 278"/>
                      <a:gd name="T8" fmla="*/ 0 w 597"/>
                      <a:gd name="T9" fmla="*/ 0 h 27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97" h="278">
                        <a:moveTo>
                          <a:pt x="597" y="136"/>
                        </a:moveTo>
                        <a:lnTo>
                          <a:pt x="336" y="278"/>
                        </a:lnTo>
                        <a:lnTo>
                          <a:pt x="0" y="119"/>
                        </a:lnTo>
                        <a:lnTo>
                          <a:pt x="244" y="0"/>
                        </a:lnTo>
                        <a:lnTo>
                          <a:pt x="597" y="136"/>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4" name="Freeform 43"/>
                  <p:cNvSpPr>
                    <a:spLocks/>
                  </p:cNvSpPr>
                  <p:nvPr/>
                </p:nvSpPr>
                <p:spPr bwMode="auto">
                  <a:xfrm>
                    <a:off x="2659" y="2187"/>
                    <a:ext cx="94" cy="36"/>
                  </a:xfrm>
                  <a:custGeom>
                    <a:avLst/>
                    <a:gdLst>
                      <a:gd name="T0" fmla="*/ 0 w 658"/>
                      <a:gd name="T1" fmla="*/ 0 h 254"/>
                      <a:gd name="T2" fmla="*/ 0 w 658"/>
                      <a:gd name="T3" fmla="*/ 0 h 254"/>
                      <a:gd name="T4" fmla="*/ 0 w 658"/>
                      <a:gd name="T5" fmla="*/ 0 h 254"/>
                      <a:gd name="T6" fmla="*/ 0 w 658"/>
                      <a:gd name="T7" fmla="*/ 0 h 254"/>
                      <a:gd name="T8" fmla="*/ 0 w 658"/>
                      <a:gd name="T9" fmla="*/ 0 h 25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658" h="254">
                        <a:moveTo>
                          <a:pt x="521" y="254"/>
                        </a:moveTo>
                        <a:lnTo>
                          <a:pt x="658" y="183"/>
                        </a:lnTo>
                        <a:lnTo>
                          <a:pt x="106" y="0"/>
                        </a:lnTo>
                        <a:lnTo>
                          <a:pt x="0" y="53"/>
                        </a:lnTo>
                        <a:lnTo>
                          <a:pt x="521" y="25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5" name="Line 44"/>
                  <p:cNvSpPr>
                    <a:spLocks noChangeShapeType="1"/>
                  </p:cNvSpPr>
                  <p:nvPr/>
                </p:nvSpPr>
                <p:spPr bwMode="auto">
                  <a:xfrm flipH="1" flipV="1">
                    <a:off x="2670" y="2189"/>
                    <a:ext cx="81" cy="2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6" name="Line 45"/>
                  <p:cNvSpPr>
                    <a:spLocks noChangeShapeType="1"/>
                  </p:cNvSpPr>
                  <p:nvPr/>
                </p:nvSpPr>
                <p:spPr bwMode="auto">
                  <a:xfrm flipH="1" flipV="1">
                    <a:off x="2665" y="2191"/>
                    <a:ext cx="80" cy="2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7" name="Line 46"/>
                  <p:cNvSpPr>
                    <a:spLocks noChangeShapeType="1"/>
                  </p:cNvSpPr>
                  <p:nvPr/>
                </p:nvSpPr>
                <p:spPr bwMode="auto">
                  <a:xfrm flipH="1" flipV="1">
                    <a:off x="2662" y="2193"/>
                    <a:ext cx="78"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8" name="Line 47"/>
                  <p:cNvSpPr>
                    <a:spLocks noChangeShapeType="1"/>
                  </p:cNvSpPr>
                  <p:nvPr/>
                </p:nvSpPr>
                <p:spPr bwMode="auto">
                  <a:xfrm flipH="1" flipV="1">
                    <a:off x="2652" y="2198"/>
                    <a:ext cx="76"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09" name="Line 48"/>
                  <p:cNvSpPr>
                    <a:spLocks noChangeShapeType="1"/>
                  </p:cNvSpPr>
                  <p:nvPr/>
                </p:nvSpPr>
                <p:spPr bwMode="auto">
                  <a:xfrm flipH="1" flipV="1">
                    <a:off x="2647" y="2202"/>
                    <a:ext cx="75" cy="3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0" name="Line 49"/>
                  <p:cNvSpPr>
                    <a:spLocks noChangeShapeType="1"/>
                  </p:cNvSpPr>
                  <p:nvPr/>
                </p:nvSpPr>
                <p:spPr bwMode="auto">
                  <a:xfrm flipH="1" flipV="1">
                    <a:off x="2641" y="2204"/>
                    <a:ext cx="75"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1" name="Line 50"/>
                  <p:cNvSpPr>
                    <a:spLocks noChangeShapeType="1"/>
                  </p:cNvSpPr>
                  <p:nvPr/>
                </p:nvSpPr>
                <p:spPr bwMode="auto">
                  <a:xfrm flipH="1" flipV="1">
                    <a:off x="2636" y="2208"/>
                    <a:ext cx="73" cy="3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2" name="Line 51"/>
                  <p:cNvSpPr>
                    <a:spLocks noChangeShapeType="1"/>
                  </p:cNvSpPr>
                  <p:nvPr/>
                </p:nvSpPr>
                <p:spPr bwMode="auto">
                  <a:xfrm flipH="1" flipV="1">
                    <a:off x="2629" y="2210"/>
                    <a:ext cx="73" cy="33"/>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3" name="Line 52"/>
                  <p:cNvSpPr>
                    <a:spLocks noChangeShapeType="1"/>
                  </p:cNvSpPr>
                  <p:nvPr/>
                </p:nvSpPr>
                <p:spPr bwMode="auto">
                  <a:xfrm flipH="1">
                    <a:off x="2687" y="2222"/>
                    <a:ext cx="38" cy="22"/>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4" name="Line 53"/>
                  <p:cNvSpPr>
                    <a:spLocks noChangeShapeType="1"/>
                  </p:cNvSpPr>
                  <p:nvPr/>
                </p:nvSpPr>
                <p:spPr bwMode="auto">
                  <a:xfrm flipH="1">
                    <a:off x="2679" y="2219"/>
                    <a:ext cx="38" cy="21"/>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5" name="Line 54"/>
                  <p:cNvSpPr>
                    <a:spLocks noChangeShapeType="1"/>
                  </p:cNvSpPr>
                  <p:nvPr/>
                </p:nvSpPr>
                <p:spPr bwMode="auto">
                  <a:xfrm flipH="1">
                    <a:off x="2663" y="2212"/>
                    <a:ext cx="37" cy="2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6" name="Line 55"/>
                  <p:cNvSpPr>
                    <a:spLocks noChangeShapeType="1"/>
                  </p:cNvSpPr>
                  <p:nvPr/>
                </p:nvSpPr>
                <p:spPr bwMode="auto">
                  <a:xfrm flipH="1">
                    <a:off x="2655" y="2209"/>
                    <a:ext cx="36" cy="1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7" name="Line 56"/>
                  <p:cNvSpPr>
                    <a:spLocks noChangeShapeType="1"/>
                  </p:cNvSpPr>
                  <p:nvPr/>
                </p:nvSpPr>
                <p:spPr bwMode="auto">
                  <a:xfrm flipH="1">
                    <a:off x="2647" y="2206"/>
                    <a:ext cx="34"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8" name="Line 57"/>
                  <p:cNvSpPr>
                    <a:spLocks noChangeShapeType="1"/>
                  </p:cNvSpPr>
                  <p:nvPr/>
                </p:nvSpPr>
                <p:spPr bwMode="auto">
                  <a:xfrm flipH="1">
                    <a:off x="2640" y="2203"/>
                    <a:ext cx="33"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9" name="Line 58"/>
                  <p:cNvSpPr>
                    <a:spLocks noChangeShapeType="1"/>
                  </p:cNvSpPr>
                  <p:nvPr/>
                </p:nvSpPr>
                <p:spPr bwMode="auto">
                  <a:xfrm flipH="1">
                    <a:off x="2632" y="2199"/>
                    <a:ext cx="35" cy="18"/>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0" name="Line 59"/>
                  <p:cNvSpPr>
                    <a:spLocks noChangeShapeType="1"/>
                  </p:cNvSpPr>
                  <p:nvPr/>
                </p:nvSpPr>
                <p:spPr bwMode="auto">
                  <a:xfrm flipH="1">
                    <a:off x="2723" y="2210"/>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1" name="Line 60"/>
                  <p:cNvSpPr>
                    <a:spLocks noChangeShapeType="1"/>
                  </p:cNvSpPr>
                  <p:nvPr/>
                </p:nvSpPr>
                <p:spPr bwMode="auto">
                  <a:xfrm flipH="1">
                    <a:off x="2712" y="2205"/>
                    <a:ext cx="18" cy="10"/>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2" name="Line 61"/>
                  <p:cNvSpPr>
                    <a:spLocks noChangeShapeType="1"/>
                  </p:cNvSpPr>
                  <p:nvPr/>
                </p:nvSpPr>
                <p:spPr bwMode="auto">
                  <a:xfrm flipH="1">
                    <a:off x="2701" y="2202"/>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3" name="Line 62"/>
                  <p:cNvSpPr>
                    <a:spLocks noChangeShapeType="1"/>
                  </p:cNvSpPr>
                  <p:nvPr/>
                </p:nvSpPr>
                <p:spPr bwMode="auto">
                  <a:xfrm flipH="1">
                    <a:off x="2690" y="2198"/>
                    <a:ext cx="18"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4" name="Line 63"/>
                  <p:cNvSpPr>
                    <a:spLocks noChangeShapeType="1"/>
                  </p:cNvSpPr>
                  <p:nvPr/>
                </p:nvSpPr>
                <p:spPr bwMode="auto">
                  <a:xfrm flipH="1">
                    <a:off x="2680" y="2194"/>
                    <a:ext cx="17"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25" name="Line 64"/>
                  <p:cNvSpPr>
                    <a:spLocks noChangeShapeType="1"/>
                  </p:cNvSpPr>
                  <p:nvPr/>
                </p:nvSpPr>
                <p:spPr bwMode="auto">
                  <a:xfrm flipH="1">
                    <a:off x="2668" y="2190"/>
                    <a:ext cx="16" cy="9"/>
                  </a:xfrm>
                  <a:prstGeom prst="line">
                    <a:avLst/>
                  </a:prstGeom>
                  <a:noFill/>
                  <a:ln w="3175">
                    <a:solidFill>
                      <a:srgbClr val="808080"/>
                    </a:solidFill>
                    <a:round/>
                    <a:headEnd/>
                    <a:tailEnd/>
                  </a:ln>
                  <a:extLst>
                    <a:ext uri="{909E8E84-426E-40DD-AFC4-6F175D3DCCD1}">
                      <a14:hiddenFill xmlns:a14="http://schemas.microsoft.com/office/drawing/2010/main">
                        <a:no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grpSp>
        <p:grpSp>
          <p:nvGrpSpPr>
            <p:cNvPr id="8" name="Group 65"/>
            <p:cNvGrpSpPr>
              <a:grpSpLocks/>
            </p:cNvGrpSpPr>
            <p:nvPr/>
          </p:nvGrpSpPr>
          <p:grpSpPr bwMode="auto">
            <a:xfrm flipH="1">
              <a:off x="3808" y="2431"/>
              <a:ext cx="87" cy="168"/>
              <a:chOff x="2591" y="2156"/>
              <a:chExt cx="35" cy="69"/>
            </a:xfrm>
          </p:grpSpPr>
          <p:sp>
            <p:nvSpPr>
              <p:cNvPr id="93" name="Freeform 66"/>
              <p:cNvSpPr>
                <a:spLocks/>
              </p:cNvSpPr>
              <p:nvPr/>
            </p:nvSpPr>
            <p:spPr bwMode="auto">
              <a:xfrm>
                <a:off x="2591" y="2156"/>
                <a:ext cx="35" cy="69"/>
              </a:xfrm>
              <a:custGeom>
                <a:avLst/>
                <a:gdLst>
                  <a:gd name="T0" fmla="*/ 0 w 246"/>
                  <a:gd name="T1" fmla="*/ 0 h 485"/>
                  <a:gd name="T2" fmla="*/ 0 w 246"/>
                  <a:gd name="T3" fmla="*/ 0 h 485"/>
                  <a:gd name="T4" fmla="*/ 0 w 246"/>
                  <a:gd name="T5" fmla="*/ 0 h 485"/>
                  <a:gd name="T6" fmla="*/ 0 w 246"/>
                  <a:gd name="T7" fmla="*/ 0 h 485"/>
                  <a:gd name="T8" fmla="*/ 0 w 246"/>
                  <a:gd name="T9" fmla="*/ 0 h 485"/>
                  <a:gd name="T10" fmla="*/ 0 w 246"/>
                  <a:gd name="T11" fmla="*/ 0 h 485"/>
                  <a:gd name="T12" fmla="*/ 0 w 246"/>
                  <a:gd name="T13" fmla="*/ 0 h 485"/>
                  <a:gd name="T14" fmla="*/ 0 w 246"/>
                  <a:gd name="T15" fmla="*/ 0 h 485"/>
                  <a:gd name="T16" fmla="*/ 0 w 246"/>
                  <a:gd name="T17" fmla="*/ 0 h 485"/>
                  <a:gd name="T18" fmla="*/ 0 w 246"/>
                  <a:gd name="T19" fmla="*/ 0 h 485"/>
                  <a:gd name="T20" fmla="*/ 0 w 246"/>
                  <a:gd name="T21" fmla="*/ 0 h 485"/>
                  <a:gd name="T22" fmla="*/ 0 w 246"/>
                  <a:gd name="T23" fmla="*/ 0 h 4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46" h="485">
                    <a:moveTo>
                      <a:pt x="0" y="173"/>
                    </a:moveTo>
                    <a:lnTo>
                      <a:pt x="46" y="108"/>
                    </a:lnTo>
                    <a:lnTo>
                      <a:pt x="92" y="76"/>
                    </a:lnTo>
                    <a:lnTo>
                      <a:pt x="111" y="28"/>
                    </a:lnTo>
                    <a:lnTo>
                      <a:pt x="122" y="6"/>
                    </a:lnTo>
                    <a:lnTo>
                      <a:pt x="174" y="0"/>
                    </a:lnTo>
                    <a:lnTo>
                      <a:pt x="246" y="41"/>
                    </a:lnTo>
                    <a:lnTo>
                      <a:pt x="227" y="129"/>
                    </a:lnTo>
                    <a:lnTo>
                      <a:pt x="206" y="178"/>
                    </a:lnTo>
                    <a:lnTo>
                      <a:pt x="159" y="328"/>
                    </a:lnTo>
                    <a:lnTo>
                      <a:pt x="81" y="485"/>
                    </a:lnTo>
                    <a:lnTo>
                      <a:pt x="0" y="173"/>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4" name="Freeform 67"/>
              <p:cNvSpPr>
                <a:spLocks/>
              </p:cNvSpPr>
              <p:nvPr/>
            </p:nvSpPr>
            <p:spPr bwMode="auto">
              <a:xfrm>
                <a:off x="2596" y="2162"/>
                <a:ext cx="28" cy="49"/>
              </a:xfrm>
              <a:custGeom>
                <a:avLst/>
                <a:gdLst>
                  <a:gd name="T0" fmla="*/ 0 w 193"/>
                  <a:gd name="T1" fmla="*/ 0 h 346"/>
                  <a:gd name="T2" fmla="*/ 0 w 193"/>
                  <a:gd name="T3" fmla="*/ 0 h 346"/>
                  <a:gd name="T4" fmla="*/ 0 w 193"/>
                  <a:gd name="T5" fmla="*/ 0 h 346"/>
                  <a:gd name="T6" fmla="*/ 0 w 193"/>
                  <a:gd name="T7" fmla="*/ 0 h 346"/>
                  <a:gd name="T8" fmla="*/ 0 w 193"/>
                  <a:gd name="T9" fmla="*/ 0 h 346"/>
                  <a:gd name="T10" fmla="*/ 0 w 193"/>
                  <a:gd name="T11" fmla="*/ 0 h 346"/>
                  <a:gd name="T12" fmla="*/ 0 w 193"/>
                  <a:gd name="T13" fmla="*/ 0 h 346"/>
                  <a:gd name="T14" fmla="*/ 0 w 193"/>
                  <a:gd name="T15" fmla="*/ 0 h 346"/>
                  <a:gd name="T16" fmla="*/ 0 w 193"/>
                  <a:gd name="T17" fmla="*/ 0 h 346"/>
                  <a:gd name="T18" fmla="*/ 0 w 193"/>
                  <a:gd name="T19" fmla="*/ 0 h 346"/>
                  <a:gd name="T20" fmla="*/ 0 w 193"/>
                  <a:gd name="T21" fmla="*/ 0 h 346"/>
                  <a:gd name="T22" fmla="*/ 0 w 193"/>
                  <a:gd name="T23" fmla="*/ 0 h 346"/>
                  <a:gd name="T24" fmla="*/ 0 w 193"/>
                  <a:gd name="T25" fmla="*/ 0 h 346"/>
                  <a:gd name="T26" fmla="*/ 0 w 193"/>
                  <a:gd name="T27" fmla="*/ 0 h 346"/>
                  <a:gd name="T28" fmla="*/ 0 w 193"/>
                  <a:gd name="T29" fmla="*/ 0 h 346"/>
                  <a:gd name="T30" fmla="*/ 0 w 193"/>
                  <a:gd name="T31" fmla="*/ 0 h 346"/>
                  <a:gd name="T32" fmla="*/ 0 w 193"/>
                  <a:gd name="T33" fmla="*/ 0 h 346"/>
                  <a:gd name="T34" fmla="*/ 0 w 193"/>
                  <a:gd name="T35" fmla="*/ 0 h 346"/>
                  <a:gd name="T36" fmla="*/ 0 w 193"/>
                  <a:gd name="T37" fmla="*/ 0 h 346"/>
                  <a:gd name="T38" fmla="*/ 0 w 193"/>
                  <a:gd name="T39" fmla="*/ 0 h 346"/>
                  <a:gd name="T40" fmla="*/ 0 w 193"/>
                  <a:gd name="T41" fmla="*/ 0 h 346"/>
                  <a:gd name="T42" fmla="*/ 0 w 193"/>
                  <a:gd name="T43" fmla="*/ 0 h 346"/>
                  <a:gd name="T44" fmla="*/ 0 w 193"/>
                  <a:gd name="T45" fmla="*/ 0 h 346"/>
                  <a:gd name="T46" fmla="*/ 0 w 193"/>
                  <a:gd name="T47" fmla="*/ 0 h 346"/>
                  <a:gd name="T48" fmla="*/ 0 w 193"/>
                  <a:gd name="T49" fmla="*/ 0 h 346"/>
                  <a:gd name="T50" fmla="*/ 0 w 193"/>
                  <a:gd name="T51" fmla="*/ 0 h 346"/>
                  <a:gd name="T52" fmla="*/ 0 w 193"/>
                  <a:gd name="T53" fmla="*/ 0 h 346"/>
                  <a:gd name="T54" fmla="*/ 0 w 193"/>
                  <a:gd name="T55" fmla="*/ 0 h 34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Lst>
                <a:ahLst/>
                <a:cxnLst>
                  <a:cxn ang="T56">
                    <a:pos x="T0" y="T1"/>
                  </a:cxn>
                  <a:cxn ang="T57">
                    <a:pos x="T2" y="T3"/>
                  </a:cxn>
                  <a:cxn ang="T58">
                    <a:pos x="T4" y="T5"/>
                  </a:cxn>
                  <a:cxn ang="T59">
                    <a:pos x="T6" y="T7"/>
                  </a:cxn>
                  <a:cxn ang="T60">
                    <a:pos x="T8" y="T9"/>
                  </a:cxn>
                  <a:cxn ang="T61">
                    <a:pos x="T10" y="T11"/>
                  </a:cxn>
                  <a:cxn ang="T62">
                    <a:pos x="T12" y="T13"/>
                  </a:cxn>
                  <a:cxn ang="T63">
                    <a:pos x="T14" y="T15"/>
                  </a:cxn>
                  <a:cxn ang="T64">
                    <a:pos x="T16" y="T17"/>
                  </a:cxn>
                  <a:cxn ang="T65">
                    <a:pos x="T18" y="T19"/>
                  </a:cxn>
                  <a:cxn ang="T66">
                    <a:pos x="T20" y="T21"/>
                  </a:cxn>
                  <a:cxn ang="T67">
                    <a:pos x="T22" y="T23"/>
                  </a:cxn>
                  <a:cxn ang="T68">
                    <a:pos x="T24" y="T25"/>
                  </a:cxn>
                  <a:cxn ang="T69">
                    <a:pos x="T26" y="T27"/>
                  </a:cxn>
                  <a:cxn ang="T70">
                    <a:pos x="T28" y="T29"/>
                  </a:cxn>
                  <a:cxn ang="T71">
                    <a:pos x="T30" y="T31"/>
                  </a:cxn>
                  <a:cxn ang="T72">
                    <a:pos x="T32" y="T33"/>
                  </a:cxn>
                  <a:cxn ang="T73">
                    <a:pos x="T34" y="T35"/>
                  </a:cxn>
                  <a:cxn ang="T74">
                    <a:pos x="T36" y="T37"/>
                  </a:cxn>
                  <a:cxn ang="T75">
                    <a:pos x="T38" y="T39"/>
                  </a:cxn>
                  <a:cxn ang="T76">
                    <a:pos x="T40" y="T41"/>
                  </a:cxn>
                  <a:cxn ang="T77">
                    <a:pos x="T42" y="T43"/>
                  </a:cxn>
                  <a:cxn ang="T78">
                    <a:pos x="T44" y="T45"/>
                  </a:cxn>
                  <a:cxn ang="T79">
                    <a:pos x="T46" y="T47"/>
                  </a:cxn>
                  <a:cxn ang="T80">
                    <a:pos x="T48" y="T49"/>
                  </a:cxn>
                  <a:cxn ang="T81">
                    <a:pos x="T50" y="T51"/>
                  </a:cxn>
                  <a:cxn ang="T82">
                    <a:pos x="T52" y="T53"/>
                  </a:cxn>
                  <a:cxn ang="T83">
                    <a:pos x="T54" y="T55"/>
                  </a:cxn>
                </a:cxnLst>
                <a:rect l="0" t="0" r="r" b="b"/>
                <a:pathLst>
                  <a:path w="193" h="346">
                    <a:moveTo>
                      <a:pt x="81" y="0"/>
                    </a:moveTo>
                    <a:lnTo>
                      <a:pt x="102" y="22"/>
                    </a:lnTo>
                    <a:lnTo>
                      <a:pt x="147" y="41"/>
                    </a:lnTo>
                    <a:lnTo>
                      <a:pt x="193" y="40"/>
                    </a:lnTo>
                    <a:lnTo>
                      <a:pt x="165" y="119"/>
                    </a:lnTo>
                    <a:lnTo>
                      <a:pt x="131" y="115"/>
                    </a:lnTo>
                    <a:lnTo>
                      <a:pt x="105" y="100"/>
                    </a:lnTo>
                    <a:lnTo>
                      <a:pt x="119" y="124"/>
                    </a:lnTo>
                    <a:lnTo>
                      <a:pt x="158" y="131"/>
                    </a:lnTo>
                    <a:lnTo>
                      <a:pt x="130" y="217"/>
                    </a:lnTo>
                    <a:lnTo>
                      <a:pt x="110" y="280"/>
                    </a:lnTo>
                    <a:lnTo>
                      <a:pt x="102" y="244"/>
                    </a:lnTo>
                    <a:lnTo>
                      <a:pt x="92" y="177"/>
                    </a:lnTo>
                    <a:lnTo>
                      <a:pt x="91" y="139"/>
                    </a:lnTo>
                    <a:lnTo>
                      <a:pt x="84" y="155"/>
                    </a:lnTo>
                    <a:lnTo>
                      <a:pt x="84" y="200"/>
                    </a:lnTo>
                    <a:lnTo>
                      <a:pt x="92" y="260"/>
                    </a:lnTo>
                    <a:lnTo>
                      <a:pt x="98" y="299"/>
                    </a:lnTo>
                    <a:lnTo>
                      <a:pt x="81" y="346"/>
                    </a:lnTo>
                    <a:lnTo>
                      <a:pt x="49" y="224"/>
                    </a:lnTo>
                    <a:lnTo>
                      <a:pt x="35" y="183"/>
                    </a:lnTo>
                    <a:lnTo>
                      <a:pt x="11" y="121"/>
                    </a:lnTo>
                    <a:lnTo>
                      <a:pt x="0" y="103"/>
                    </a:lnTo>
                    <a:lnTo>
                      <a:pt x="15" y="79"/>
                    </a:lnTo>
                    <a:lnTo>
                      <a:pt x="57" y="57"/>
                    </a:lnTo>
                    <a:lnTo>
                      <a:pt x="73" y="78"/>
                    </a:lnTo>
                    <a:lnTo>
                      <a:pt x="63" y="41"/>
                    </a:lnTo>
                    <a:lnTo>
                      <a:pt x="8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9" name="Group 68"/>
            <p:cNvGrpSpPr>
              <a:grpSpLocks/>
            </p:cNvGrpSpPr>
            <p:nvPr/>
          </p:nvGrpSpPr>
          <p:grpSpPr bwMode="auto">
            <a:xfrm flipH="1">
              <a:off x="3798" y="2334"/>
              <a:ext cx="112" cy="119"/>
              <a:chOff x="2585" y="2116"/>
              <a:chExt cx="45" cy="49"/>
            </a:xfrm>
          </p:grpSpPr>
          <p:sp>
            <p:nvSpPr>
              <p:cNvPr id="78" name="Freeform 69"/>
              <p:cNvSpPr>
                <a:spLocks/>
              </p:cNvSpPr>
              <p:nvPr/>
            </p:nvSpPr>
            <p:spPr bwMode="auto">
              <a:xfrm>
                <a:off x="2597" y="2120"/>
                <a:ext cx="33" cy="45"/>
              </a:xfrm>
              <a:custGeom>
                <a:avLst/>
                <a:gdLst>
                  <a:gd name="T0" fmla="*/ 0 w 228"/>
                  <a:gd name="T1" fmla="*/ 0 h 319"/>
                  <a:gd name="T2" fmla="*/ 0 w 228"/>
                  <a:gd name="T3" fmla="*/ 0 h 319"/>
                  <a:gd name="T4" fmla="*/ 0 w 228"/>
                  <a:gd name="T5" fmla="*/ 0 h 319"/>
                  <a:gd name="T6" fmla="*/ 0 w 228"/>
                  <a:gd name="T7" fmla="*/ 0 h 319"/>
                  <a:gd name="T8" fmla="*/ 0 w 228"/>
                  <a:gd name="T9" fmla="*/ 0 h 319"/>
                  <a:gd name="T10" fmla="*/ 0 w 228"/>
                  <a:gd name="T11" fmla="*/ 0 h 319"/>
                  <a:gd name="T12" fmla="*/ 0 w 228"/>
                  <a:gd name="T13" fmla="*/ 0 h 319"/>
                  <a:gd name="T14" fmla="*/ 0 w 228"/>
                  <a:gd name="T15" fmla="*/ 0 h 319"/>
                  <a:gd name="T16" fmla="*/ 0 w 228"/>
                  <a:gd name="T17" fmla="*/ 0 h 319"/>
                  <a:gd name="T18" fmla="*/ 0 w 228"/>
                  <a:gd name="T19" fmla="*/ 0 h 319"/>
                  <a:gd name="T20" fmla="*/ 0 w 228"/>
                  <a:gd name="T21" fmla="*/ 0 h 319"/>
                  <a:gd name="T22" fmla="*/ 0 w 228"/>
                  <a:gd name="T23" fmla="*/ 0 h 319"/>
                  <a:gd name="T24" fmla="*/ 0 w 228"/>
                  <a:gd name="T25" fmla="*/ 0 h 319"/>
                  <a:gd name="T26" fmla="*/ 0 w 228"/>
                  <a:gd name="T27" fmla="*/ 0 h 319"/>
                  <a:gd name="T28" fmla="*/ 0 w 228"/>
                  <a:gd name="T29" fmla="*/ 0 h 319"/>
                  <a:gd name="T30" fmla="*/ 0 w 228"/>
                  <a:gd name="T31" fmla="*/ 0 h 319"/>
                  <a:gd name="T32" fmla="*/ 0 w 228"/>
                  <a:gd name="T33" fmla="*/ 0 h 319"/>
                  <a:gd name="T34" fmla="*/ 0 w 228"/>
                  <a:gd name="T35" fmla="*/ 0 h 319"/>
                  <a:gd name="T36" fmla="*/ 0 w 228"/>
                  <a:gd name="T37" fmla="*/ 0 h 319"/>
                  <a:gd name="T38" fmla="*/ 0 w 228"/>
                  <a:gd name="T39" fmla="*/ 0 h 319"/>
                  <a:gd name="T40" fmla="*/ 0 w 228"/>
                  <a:gd name="T41" fmla="*/ 0 h 319"/>
                  <a:gd name="T42" fmla="*/ 0 w 228"/>
                  <a:gd name="T43" fmla="*/ 0 h 319"/>
                  <a:gd name="T44" fmla="*/ 0 w 228"/>
                  <a:gd name="T45" fmla="*/ 0 h 319"/>
                  <a:gd name="T46" fmla="*/ 0 w 228"/>
                  <a:gd name="T47" fmla="*/ 0 h 319"/>
                  <a:gd name="T48" fmla="*/ 0 w 228"/>
                  <a:gd name="T49" fmla="*/ 0 h 319"/>
                  <a:gd name="T50" fmla="*/ 0 w 228"/>
                  <a:gd name="T51" fmla="*/ 0 h 319"/>
                  <a:gd name="T52" fmla="*/ 0 w 228"/>
                  <a:gd name="T53" fmla="*/ 0 h 319"/>
                  <a:gd name="T54" fmla="*/ 0 w 228"/>
                  <a:gd name="T55" fmla="*/ 0 h 319"/>
                  <a:gd name="T56" fmla="*/ 0 w 228"/>
                  <a:gd name="T57" fmla="*/ 0 h 319"/>
                  <a:gd name="T58" fmla="*/ 0 w 228"/>
                  <a:gd name="T59" fmla="*/ 0 h 319"/>
                  <a:gd name="T60" fmla="*/ 0 w 228"/>
                  <a:gd name="T61" fmla="*/ 0 h 319"/>
                  <a:gd name="T62" fmla="*/ 0 w 228"/>
                  <a:gd name="T63" fmla="*/ 0 h 319"/>
                  <a:gd name="T64" fmla="*/ 0 w 228"/>
                  <a:gd name="T65" fmla="*/ 0 h 319"/>
                  <a:gd name="T66" fmla="*/ 0 w 228"/>
                  <a:gd name="T67" fmla="*/ 0 h 319"/>
                  <a:gd name="T68" fmla="*/ 0 w 228"/>
                  <a:gd name="T69" fmla="*/ 0 h 319"/>
                  <a:gd name="T70" fmla="*/ 0 w 228"/>
                  <a:gd name="T71" fmla="*/ 0 h 319"/>
                  <a:gd name="T72" fmla="*/ 0 w 228"/>
                  <a:gd name="T73" fmla="*/ 0 h 319"/>
                  <a:gd name="T74" fmla="*/ 0 w 228"/>
                  <a:gd name="T75" fmla="*/ 0 h 319"/>
                  <a:gd name="T76" fmla="*/ 0 w 228"/>
                  <a:gd name="T77" fmla="*/ 0 h 319"/>
                  <a:gd name="T78" fmla="*/ 0 w 228"/>
                  <a:gd name="T79" fmla="*/ 0 h 319"/>
                  <a:gd name="T80" fmla="*/ 0 w 228"/>
                  <a:gd name="T81" fmla="*/ 0 h 319"/>
                  <a:gd name="T82" fmla="*/ 0 w 228"/>
                  <a:gd name="T83" fmla="*/ 0 h 319"/>
                  <a:gd name="T84" fmla="*/ 0 w 228"/>
                  <a:gd name="T85" fmla="*/ 0 h 319"/>
                  <a:gd name="T86" fmla="*/ 0 w 228"/>
                  <a:gd name="T87" fmla="*/ 0 h 319"/>
                  <a:gd name="T88" fmla="*/ 0 w 228"/>
                  <a:gd name="T89" fmla="*/ 0 h 319"/>
                  <a:gd name="T90" fmla="*/ 0 w 228"/>
                  <a:gd name="T91" fmla="*/ 0 h 319"/>
                  <a:gd name="T92" fmla="*/ 0 w 228"/>
                  <a:gd name="T93" fmla="*/ 0 h 319"/>
                  <a:gd name="T94" fmla="*/ 0 w 228"/>
                  <a:gd name="T95" fmla="*/ 0 h 319"/>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Lst>
                <a:ahLst/>
                <a:cxnLst>
                  <a:cxn ang="T96">
                    <a:pos x="T0" y="T1"/>
                  </a:cxn>
                  <a:cxn ang="T97">
                    <a:pos x="T2" y="T3"/>
                  </a:cxn>
                  <a:cxn ang="T98">
                    <a:pos x="T4" y="T5"/>
                  </a:cxn>
                  <a:cxn ang="T99">
                    <a:pos x="T6" y="T7"/>
                  </a:cxn>
                  <a:cxn ang="T100">
                    <a:pos x="T8" y="T9"/>
                  </a:cxn>
                  <a:cxn ang="T101">
                    <a:pos x="T10" y="T11"/>
                  </a:cxn>
                  <a:cxn ang="T102">
                    <a:pos x="T12" y="T13"/>
                  </a:cxn>
                  <a:cxn ang="T103">
                    <a:pos x="T14" y="T15"/>
                  </a:cxn>
                  <a:cxn ang="T104">
                    <a:pos x="T16" y="T17"/>
                  </a:cxn>
                  <a:cxn ang="T105">
                    <a:pos x="T18" y="T19"/>
                  </a:cxn>
                  <a:cxn ang="T106">
                    <a:pos x="T20" y="T21"/>
                  </a:cxn>
                  <a:cxn ang="T107">
                    <a:pos x="T22" y="T23"/>
                  </a:cxn>
                  <a:cxn ang="T108">
                    <a:pos x="T24" y="T25"/>
                  </a:cxn>
                  <a:cxn ang="T109">
                    <a:pos x="T26" y="T27"/>
                  </a:cxn>
                  <a:cxn ang="T110">
                    <a:pos x="T28" y="T29"/>
                  </a:cxn>
                  <a:cxn ang="T111">
                    <a:pos x="T30" y="T31"/>
                  </a:cxn>
                  <a:cxn ang="T112">
                    <a:pos x="T32" y="T33"/>
                  </a:cxn>
                  <a:cxn ang="T113">
                    <a:pos x="T34" y="T35"/>
                  </a:cxn>
                  <a:cxn ang="T114">
                    <a:pos x="T36" y="T37"/>
                  </a:cxn>
                  <a:cxn ang="T115">
                    <a:pos x="T38" y="T39"/>
                  </a:cxn>
                  <a:cxn ang="T116">
                    <a:pos x="T40" y="T41"/>
                  </a:cxn>
                  <a:cxn ang="T117">
                    <a:pos x="T42" y="T43"/>
                  </a:cxn>
                  <a:cxn ang="T118">
                    <a:pos x="T44" y="T45"/>
                  </a:cxn>
                  <a:cxn ang="T119">
                    <a:pos x="T46" y="T47"/>
                  </a:cxn>
                  <a:cxn ang="T120">
                    <a:pos x="T48" y="T49"/>
                  </a:cxn>
                  <a:cxn ang="T121">
                    <a:pos x="T50" y="T51"/>
                  </a:cxn>
                  <a:cxn ang="T122">
                    <a:pos x="T52" y="T53"/>
                  </a:cxn>
                  <a:cxn ang="T123">
                    <a:pos x="T54" y="T55"/>
                  </a:cxn>
                  <a:cxn ang="T124">
                    <a:pos x="T56" y="T57"/>
                  </a:cxn>
                  <a:cxn ang="T125">
                    <a:pos x="T58" y="T59"/>
                  </a:cxn>
                  <a:cxn ang="T126">
                    <a:pos x="T60" y="T61"/>
                  </a:cxn>
                  <a:cxn ang="T127">
                    <a:pos x="T62" y="T63"/>
                  </a:cxn>
                  <a:cxn ang="T128">
                    <a:pos x="T64" y="T65"/>
                  </a:cxn>
                  <a:cxn ang="T129">
                    <a:pos x="T66" y="T67"/>
                  </a:cxn>
                  <a:cxn ang="T130">
                    <a:pos x="T68" y="T69"/>
                  </a:cxn>
                  <a:cxn ang="T131">
                    <a:pos x="T70" y="T71"/>
                  </a:cxn>
                  <a:cxn ang="T132">
                    <a:pos x="T72" y="T73"/>
                  </a:cxn>
                  <a:cxn ang="T133">
                    <a:pos x="T74" y="T75"/>
                  </a:cxn>
                  <a:cxn ang="T134">
                    <a:pos x="T76" y="T77"/>
                  </a:cxn>
                  <a:cxn ang="T135">
                    <a:pos x="T78" y="T79"/>
                  </a:cxn>
                  <a:cxn ang="T136">
                    <a:pos x="T80" y="T81"/>
                  </a:cxn>
                  <a:cxn ang="T137">
                    <a:pos x="T82" y="T83"/>
                  </a:cxn>
                  <a:cxn ang="T138">
                    <a:pos x="T84" y="T85"/>
                  </a:cxn>
                  <a:cxn ang="T139">
                    <a:pos x="T86" y="T87"/>
                  </a:cxn>
                  <a:cxn ang="T140">
                    <a:pos x="T88" y="T89"/>
                  </a:cxn>
                  <a:cxn ang="T141">
                    <a:pos x="T90" y="T91"/>
                  </a:cxn>
                  <a:cxn ang="T142">
                    <a:pos x="T92" y="T93"/>
                  </a:cxn>
                  <a:cxn ang="T143">
                    <a:pos x="T94" y="T95"/>
                  </a:cxn>
                </a:cxnLst>
                <a:rect l="0" t="0" r="r" b="b"/>
                <a:pathLst>
                  <a:path w="228" h="319">
                    <a:moveTo>
                      <a:pt x="2" y="117"/>
                    </a:moveTo>
                    <a:lnTo>
                      <a:pt x="10" y="139"/>
                    </a:lnTo>
                    <a:lnTo>
                      <a:pt x="23" y="151"/>
                    </a:lnTo>
                    <a:lnTo>
                      <a:pt x="31" y="168"/>
                    </a:lnTo>
                    <a:lnTo>
                      <a:pt x="40" y="182"/>
                    </a:lnTo>
                    <a:lnTo>
                      <a:pt x="54" y="196"/>
                    </a:lnTo>
                    <a:lnTo>
                      <a:pt x="66" y="204"/>
                    </a:lnTo>
                    <a:lnTo>
                      <a:pt x="83" y="214"/>
                    </a:lnTo>
                    <a:lnTo>
                      <a:pt x="86" y="226"/>
                    </a:lnTo>
                    <a:lnTo>
                      <a:pt x="86" y="243"/>
                    </a:lnTo>
                    <a:lnTo>
                      <a:pt x="81" y="283"/>
                    </a:lnTo>
                    <a:lnTo>
                      <a:pt x="113" y="306"/>
                    </a:lnTo>
                    <a:lnTo>
                      <a:pt x="140" y="318"/>
                    </a:lnTo>
                    <a:lnTo>
                      <a:pt x="162" y="319"/>
                    </a:lnTo>
                    <a:lnTo>
                      <a:pt x="185" y="318"/>
                    </a:lnTo>
                    <a:lnTo>
                      <a:pt x="193" y="292"/>
                    </a:lnTo>
                    <a:lnTo>
                      <a:pt x="198" y="233"/>
                    </a:lnTo>
                    <a:lnTo>
                      <a:pt x="211" y="213"/>
                    </a:lnTo>
                    <a:lnTo>
                      <a:pt x="221" y="183"/>
                    </a:lnTo>
                    <a:lnTo>
                      <a:pt x="223" y="156"/>
                    </a:lnTo>
                    <a:lnTo>
                      <a:pt x="227" y="118"/>
                    </a:lnTo>
                    <a:lnTo>
                      <a:pt x="228" y="96"/>
                    </a:lnTo>
                    <a:lnTo>
                      <a:pt x="227" y="83"/>
                    </a:lnTo>
                    <a:lnTo>
                      <a:pt x="221" y="59"/>
                    </a:lnTo>
                    <a:lnTo>
                      <a:pt x="209" y="47"/>
                    </a:lnTo>
                    <a:lnTo>
                      <a:pt x="192" y="43"/>
                    </a:lnTo>
                    <a:lnTo>
                      <a:pt x="186" y="30"/>
                    </a:lnTo>
                    <a:lnTo>
                      <a:pt x="170" y="21"/>
                    </a:lnTo>
                    <a:lnTo>
                      <a:pt x="154" y="30"/>
                    </a:lnTo>
                    <a:lnTo>
                      <a:pt x="143" y="11"/>
                    </a:lnTo>
                    <a:lnTo>
                      <a:pt x="125" y="5"/>
                    </a:lnTo>
                    <a:lnTo>
                      <a:pt x="105" y="22"/>
                    </a:lnTo>
                    <a:lnTo>
                      <a:pt x="96" y="0"/>
                    </a:lnTo>
                    <a:lnTo>
                      <a:pt x="70" y="3"/>
                    </a:lnTo>
                    <a:lnTo>
                      <a:pt x="56" y="38"/>
                    </a:lnTo>
                    <a:lnTo>
                      <a:pt x="53" y="57"/>
                    </a:lnTo>
                    <a:lnTo>
                      <a:pt x="51" y="84"/>
                    </a:lnTo>
                    <a:lnTo>
                      <a:pt x="45" y="118"/>
                    </a:lnTo>
                    <a:lnTo>
                      <a:pt x="38" y="105"/>
                    </a:lnTo>
                    <a:lnTo>
                      <a:pt x="35" y="80"/>
                    </a:lnTo>
                    <a:lnTo>
                      <a:pt x="30" y="64"/>
                    </a:lnTo>
                    <a:lnTo>
                      <a:pt x="24" y="55"/>
                    </a:lnTo>
                    <a:lnTo>
                      <a:pt x="11" y="49"/>
                    </a:lnTo>
                    <a:lnTo>
                      <a:pt x="4" y="51"/>
                    </a:lnTo>
                    <a:lnTo>
                      <a:pt x="0" y="59"/>
                    </a:lnTo>
                    <a:lnTo>
                      <a:pt x="5" y="72"/>
                    </a:lnTo>
                    <a:lnTo>
                      <a:pt x="7" y="96"/>
                    </a:lnTo>
                    <a:lnTo>
                      <a:pt x="2" y="1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9" name="Freeform 70"/>
              <p:cNvSpPr>
                <a:spLocks/>
              </p:cNvSpPr>
              <p:nvPr/>
            </p:nvSpPr>
            <p:spPr bwMode="auto">
              <a:xfrm>
                <a:off x="2612" y="2123"/>
                <a:ext cx="16" cy="17"/>
              </a:xfrm>
              <a:custGeom>
                <a:avLst/>
                <a:gdLst>
                  <a:gd name="T0" fmla="*/ 0 w 115"/>
                  <a:gd name="T1" fmla="*/ 0 h 120"/>
                  <a:gd name="T2" fmla="*/ 0 w 115"/>
                  <a:gd name="T3" fmla="*/ 0 h 120"/>
                  <a:gd name="T4" fmla="*/ 0 w 115"/>
                  <a:gd name="T5" fmla="*/ 0 h 120"/>
                  <a:gd name="T6" fmla="*/ 0 w 115"/>
                  <a:gd name="T7" fmla="*/ 0 h 120"/>
                  <a:gd name="T8" fmla="*/ 0 w 115"/>
                  <a:gd name="T9" fmla="*/ 0 h 120"/>
                  <a:gd name="T10" fmla="*/ 0 w 115"/>
                  <a:gd name="T11" fmla="*/ 0 h 120"/>
                  <a:gd name="T12" fmla="*/ 0 w 115"/>
                  <a:gd name="T13" fmla="*/ 0 h 120"/>
                  <a:gd name="T14" fmla="*/ 0 w 115"/>
                  <a:gd name="T15" fmla="*/ 0 h 120"/>
                  <a:gd name="T16" fmla="*/ 0 w 115"/>
                  <a:gd name="T17" fmla="*/ 0 h 120"/>
                  <a:gd name="T18" fmla="*/ 0 w 115"/>
                  <a:gd name="T19" fmla="*/ 0 h 120"/>
                  <a:gd name="T20" fmla="*/ 0 w 115"/>
                  <a:gd name="T21" fmla="*/ 0 h 120"/>
                  <a:gd name="T22" fmla="*/ 0 w 115"/>
                  <a:gd name="T23" fmla="*/ 0 h 120"/>
                  <a:gd name="T24" fmla="*/ 0 w 115"/>
                  <a:gd name="T25" fmla="*/ 0 h 120"/>
                  <a:gd name="T26" fmla="*/ 0 w 115"/>
                  <a:gd name="T27" fmla="*/ 0 h 120"/>
                  <a:gd name="T28" fmla="*/ 0 w 115"/>
                  <a:gd name="T29" fmla="*/ 0 h 120"/>
                  <a:gd name="T30" fmla="*/ 0 w 115"/>
                  <a:gd name="T31" fmla="*/ 0 h 120"/>
                  <a:gd name="T32" fmla="*/ 0 w 115"/>
                  <a:gd name="T33" fmla="*/ 0 h 120"/>
                  <a:gd name="T34" fmla="*/ 0 w 115"/>
                  <a:gd name="T35" fmla="*/ 0 h 120"/>
                  <a:gd name="T36" fmla="*/ 0 w 115"/>
                  <a:gd name="T37" fmla="*/ 0 h 120"/>
                  <a:gd name="T38" fmla="*/ 0 w 115"/>
                  <a:gd name="T39" fmla="*/ 0 h 120"/>
                  <a:gd name="T40" fmla="*/ 0 w 115"/>
                  <a:gd name="T41" fmla="*/ 0 h 120"/>
                  <a:gd name="T42" fmla="*/ 0 w 115"/>
                  <a:gd name="T43" fmla="*/ 0 h 120"/>
                  <a:gd name="T44" fmla="*/ 0 w 115"/>
                  <a:gd name="T45" fmla="*/ 0 h 120"/>
                  <a:gd name="T46" fmla="*/ 0 w 115"/>
                  <a:gd name="T47" fmla="*/ 0 h 120"/>
                  <a:gd name="T48" fmla="*/ 0 w 115"/>
                  <a:gd name="T49" fmla="*/ 0 h 120"/>
                  <a:gd name="T50" fmla="*/ 0 w 115"/>
                  <a:gd name="T51" fmla="*/ 0 h 120"/>
                  <a:gd name="T52" fmla="*/ 0 w 115"/>
                  <a:gd name="T53" fmla="*/ 0 h 120"/>
                  <a:gd name="T54" fmla="*/ 0 w 115"/>
                  <a:gd name="T55" fmla="*/ 0 h 120"/>
                  <a:gd name="T56" fmla="*/ 0 w 115"/>
                  <a:gd name="T57" fmla="*/ 0 h 120"/>
                  <a:gd name="T58" fmla="*/ 0 w 115"/>
                  <a:gd name="T59" fmla="*/ 0 h 120"/>
                  <a:gd name="T60" fmla="*/ 0 w 115"/>
                  <a:gd name="T61" fmla="*/ 0 h 120"/>
                  <a:gd name="T62" fmla="*/ 0 w 115"/>
                  <a:gd name="T63" fmla="*/ 0 h 120"/>
                  <a:gd name="T64" fmla="*/ 0 w 115"/>
                  <a:gd name="T65" fmla="*/ 0 h 120"/>
                  <a:gd name="T66" fmla="*/ 0 w 115"/>
                  <a:gd name="T67" fmla="*/ 0 h 120"/>
                  <a:gd name="T68" fmla="*/ 0 w 115"/>
                  <a:gd name="T69" fmla="*/ 0 h 120"/>
                  <a:gd name="T70" fmla="*/ 0 w 115"/>
                  <a:gd name="T71" fmla="*/ 0 h 120"/>
                  <a:gd name="T72" fmla="*/ 0 w 115"/>
                  <a:gd name="T73" fmla="*/ 0 h 120"/>
                  <a:gd name="T74" fmla="*/ 0 w 115"/>
                  <a:gd name="T75" fmla="*/ 0 h 120"/>
                  <a:gd name="T76" fmla="*/ 0 w 115"/>
                  <a:gd name="T77" fmla="*/ 0 h 120"/>
                  <a:gd name="T78" fmla="*/ 0 w 115"/>
                  <a:gd name="T79" fmla="*/ 0 h 120"/>
                  <a:gd name="T80" fmla="*/ 0 w 115"/>
                  <a:gd name="T81" fmla="*/ 0 h 120"/>
                  <a:gd name="T82" fmla="*/ 0 w 115"/>
                  <a:gd name="T83" fmla="*/ 0 h 120"/>
                  <a:gd name="T84" fmla="*/ 0 w 115"/>
                  <a:gd name="T85" fmla="*/ 0 h 120"/>
                  <a:gd name="T86" fmla="*/ 0 w 115"/>
                  <a:gd name="T87" fmla="*/ 0 h 120"/>
                  <a:gd name="T88" fmla="*/ 0 w 115"/>
                  <a:gd name="T89" fmla="*/ 0 h 120"/>
                  <a:gd name="T90" fmla="*/ 0 w 115"/>
                  <a:gd name="T91" fmla="*/ 0 h 120"/>
                  <a:gd name="T92" fmla="*/ 0 w 115"/>
                  <a:gd name="T93" fmla="*/ 0 h 120"/>
                  <a:gd name="T94" fmla="*/ 0 w 115"/>
                  <a:gd name="T95" fmla="*/ 0 h 120"/>
                  <a:gd name="T96" fmla="*/ 0 w 115"/>
                  <a:gd name="T97" fmla="*/ 0 h 120"/>
                  <a:gd name="T98" fmla="*/ 0 w 115"/>
                  <a:gd name="T99" fmla="*/ 0 h 120"/>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115" h="120">
                    <a:moveTo>
                      <a:pt x="5" y="2"/>
                    </a:moveTo>
                    <a:lnTo>
                      <a:pt x="11" y="27"/>
                    </a:lnTo>
                    <a:lnTo>
                      <a:pt x="20" y="44"/>
                    </a:lnTo>
                    <a:lnTo>
                      <a:pt x="9" y="81"/>
                    </a:lnTo>
                    <a:lnTo>
                      <a:pt x="15" y="90"/>
                    </a:lnTo>
                    <a:lnTo>
                      <a:pt x="25" y="94"/>
                    </a:lnTo>
                    <a:lnTo>
                      <a:pt x="37" y="92"/>
                    </a:lnTo>
                    <a:lnTo>
                      <a:pt x="45" y="71"/>
                    </a:lnTo>
                    <a:lnTo>
                      <a:pt x="53" y="55"/>
                    </a:lnTo>
                    <a:lnTo>
                      <a:pt x="49" y="32"/>
                    </a:lnTo>
                    <a:lnTo>
                      <a:pt x="47" y="8"/>
                    </a:lnTo>
                    <a:lnTo>
                      <a:pt x="53" y="11"/>
                    </a:lnTo>
                    <a:lnTo>
                      <a:pt x="55" y="33"/>
                    </a:lnTo>
                    <a:lnTo>
                      <a:pt x="58" y="49"/>
                    </a:lnTo>
                    <a:lnTo>
                      <a:pt x="58" y="61"/>
                    </a:lnTo>
                    <a:lnTo>
                      <a:pt x="50" y="74"/>
                    </a:lnTo>
                    <a:lnTo>
                      <a:pt x="42" y="90"/>
                    </a:lnTo>
                    <a:lnTo>
                      <a:pt x="41" y="104"/>
                    </a:lnTo>
                    <a:lnTo>
                      <a:pt x="50" y="110"/>
                    </a:lnTo>
                    <a:lnTo>
                      <a:pt x="66" y="108"/>
                    </a:lnTo>
                    <a:lnTo>
                      <a:pt x="77" y="95"/>
                    </a:lnTo>
                    <a:lnTo>
                      <a:pt x="93" y="75"/>
                    </a:lnTo>
                    <a:lnTo>
                      <a:pt x="92" y="63"/>
                    </a:lnTo>
                    <a:lnTo>
                      <a:pt x="90" y="41"/>
                    </a:lnTo>
                    <a:lnTo>
                      <a:pt x="95" y="58"/>
                    </a:lnTo>
                    <a:lnTo>
                      <a:pt x="96" y="75"/>
                    </a:lnTo>
                    <a:lnTo>
                      <a:pt x="84" y="93"/>
                    </a:lnTo>
                    <a:lnTo>
                      <a:pt x="83" y="105"/>
                    </a:lnTo>
                    <a:lnTo>
                      <a:pt x="86" y="115"/>
                    </a:lnTo>
                    <a:lnTo>
                      <a:pt x="93" y="117"/>
                    </a:lnTo>
                    <a:lnTo>
                      <a:pt x="101" y="112"/>
                    </a:lnTo>
                    <a:lnTo>
                      <a:pt x="115" y="98"/>
                    </a:lnTo>
                    <a:lnTo>
                      <a:pt x="103" y="114"/>
                    </a:lnTo>
                    <a:lnTo>
                      <a:pt x="99" y="120"/>
                    </a:lnTo>
                    <a:lnTo>
                      <a:pt x="87" y="120"/>
                    </a:lnTo>
                    <a:lnTo>
                      <a:pt x="81" y="113"/>
                    </a:lnTo>
                    <a:lnTo>
                      <a:pt x="78" y="102"/>
                    </a:lnTo>
                    <a:lnTo>
                      <a:pt x="70" y="112"/>
                    </a:lnTo>
                    <a:lnTo>
                      <a:pt x="56" y="114"/>
                    </a:lnTo>
                    <a:lnTo>
                      <a:pt x="44" y="114"/>
                    </a:lnTo>
                    <a:lnTo>
                      <a:pt x="38" y="104"/>
                    </a:lnTo>
                    <a:lnTo>
                      <a:pt x="37" y="95"/>
                    </a:lnTo>
                    <a:lnTo>
                      <a:pt x="31" y="98"/>
                    </a:lnTo>
                    <a:lnTo>
                      <a:pt x="22" y="98"/>
                    </a:lnTo>
                    <a:lnTo>
                      <a:pt x="9" y="91"/>
                    </a:lnTo>
                    <a:lnTo>
                      <a:pt x="7" y="77"/>
                    </a:lnTo>
                    <a:lnTo>
                      <a:pt x="15" y="46"/>
                    </a:lnTo>
                    <a:lnTo>
                      <a:pt x="6" y="26"/>
                    </a:lnTo>
                    <a:lnTo>
                      <a:pt x="0" y="0"/>
                    </a:lnTo>
                    <a:lnTo>
                      <a:pt x="5"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0" name="Freeform 71"/>
              <p:cNvSpPr>
                <a:spLocks/>
              </p:cNvSpPr>
              <p:nvPr/>
            </p:nvSpPr>
            <p:spPr bwMode="auto">
              <a:xfrm>
                <a:off x="2615" y="2132"/>
                <a:ext cx="3" cy="1"/>
              </a:xfrm>
              <a:custGeom>
                <a:avLst/>
                <a:gdLst>
                  <a:gd name="T0" fmla="*/ 0 w 18"/>
                  <a:gd name="T1" fmla="*/ 0 h 5"/>
                  <a:gd name="T2" fmla="*/ 0 w 18"/>
                  <a:gd name="T3" fmla="*/ 0 h 5"/>
                  <a:gd name="T4" fmla="*/ 0 w 18"/>
                  <a:gd name="T5" fmla="*/ 0 h 5"/>
                  <a:gd name="T6" fmla="*/ 0 w 18"/>
                  <a:gd name="T7" fmla="*/ 0 h 5"/>
                  <a:gd name="T8" fmla="*/ 0 w 18"/>
                  <a:gd name="T9" fmla="*/ 0 h 5"/>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 h="5">
                    <a:moveTo>
                      <a:pt x="0" y="5"/>
                    </a:moveTo>
                    <a:lnTo>
                      <a:pt x="6" y="4"/>
                    </a:lnTo>
                    <a:lnTo>
                      <a:pt x="18" y="4"/>
                    </a:lnTo>
                    <a:lnTo>
                      <a:pt x="5" y="0"/>
                    </a:lnTo>
                    <a:lnTo>
                      <a:pt x="0"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1" name="Freeform 72"/>
              <p:cNvSpPr>
                <a:spLocks/>
              </p:cNvSpPr>
              <p:nvPr/>
            </p:nvSpPr>
            <p:spPr bwMode="auto">
              <a:xfrm>
                <a:off x="2619" y="2135"/>
                <a:ext cx="3" cy="1"/>
              </a:xfrm>
              <a:custGeom>
                <a:avLst/>
                <a:gdLst>
                  <a:gd name="T0" fmla="*/ 0 w 24"/>
                  <a:gd name="T1" fmla="*/ 0 h 8"/>
                  <a:gd name="T2" fmla="*/ 0 w 24"/>
                  <a:gd name="T3" fmla="*/ 0 h 8"/>
                  <a:gd name="T4" fmla="*/ 0 w 24"/>
                  <a:gd name="T5" fmla="*/ 0 h 8"/>
                  <a:gd name="T6" fmla="*/ 0 w 24"/>
                  <a:gd name="T7" fmla="*/ 0 h 8"/>
                  <a:gd name="T8" fmla="*/ 0 w 24"/>
                  <a:gd name="T9" fmla="*/ 0 h 8"/>
                  <a:gd name="T10" fmla="*/ 0 w 24"/>
                  <a:gd name="T11" fmla="*/ 0 h 8"/>
                  <a:gd name="T12" fmla="*/ 0 w 24"/>
                  <a:gd name="T13" fmla="*/ 0 h 8"/>
                  <a:gd name="T14" fmla="*/ 0 w 24"/>
                  <a:gd name="T15" fmla="*/ 0 h 8"/>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 h="8">
                    <a:moveTo>
                      <a:pt x="24" y="6"/>
                    </a:moveTo>
                    <a:lnTo>
                      <a:pt x="20" y="3"/>
                    </a:lnTo>
                    <a:lnTo>
                      <a:pt x="15" y="1"/>
                    </a:lnTo>
                    <a:lnTo>
                      <a:pt x="5" y="0"/>
                    </a:lnTo>
                    <a:lnTo>
                      <a:pt x="0" y="8"/>
                    </a:lnTo>
                    <a:lnTo>
                      <a:pt x="7" y="3"/>
                    </a:lnTo>
                    <a:lnTo>
                      <a:pt x="13" y="2"/>
                    </a:lnTo>
                    <a:lnTo>
                      <a:pt x="24"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2" name="Freeform 73"/>
              <p:cNvSpPr>
                <a:spLocks/>
              </p:cNvSpPr>
              <p:nvPr/>
            </p:nvSpPr>
            <p:spPr bwMode="auto">
              <a:xfrm>
                <a:off x="2625" y="2137"/>
                <a:ext cx="2" cy="1"/>
              </a:xfrm>
              <a:custGeom>
                <a:avLst/>
                <a:gdLst>
                  <a:gd name="T0" fmla="*/ 0 w 18"/>
                  <a:gd name="T1" fmla="*/ 0 h 4"/>
                  <a:gd name="T2" fmla="*/ 0 w 18"/>
                  <a:gd name="T3" fmla="*/ 0 h 4"/>
                  <a:gd name="T4" fmla="*/ 0 w 18"/>
                  <a:gd name="T5" fmla="*/ 0 h 4"/>
                  <a:gd name="T6" fmla="*/ 0 w 18"/>
                  <a:gd name="T7" fmla="*/ 0 h 4"/>
                  <a:gd name="T8" fmla="*/ 0 w 18"/>
                  <a:gd name="T9" fmla="*/ 0 h 4"/>
                  <a:gd name="T10" fmla="*/ 0 w 18"/>
                  <a:gd name="T11" fmla="*/ 0 h 4"/>
                  <a:gd name="T12" fmla="*/ 0 w 18"/>
                  <a:gd name="T13" fmla="*/ 0 h 4"/>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8" h="4">
                    <a:moveTo>
                      <a:pt x="0" y="2"/>
                    </a:moveTo>
                    <a:lnTo>
                      <a:pt x="4" y="0"/>
                    </a:lnTo>
                    <a:lnTo>
                      <a:pt x="10" y="0"/>
                    </a:lnTo>
                    <a:lnTo>
                      <a:pt x="18" y="4"/>
                    </a:lnTo>
                    <a:lnTo>
                      <a:pt x="13" y="3"/>
                    </a:lnTo>
                    <a:lnTo>
                      <a:pt x="10" y="1"/>
                    </a:lnTo>
                    <a:lnTo>
                      <a:pt x="0"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3" name="Freeform 74"/>
              <p:cNvSpPr>
                <a:spLocks/>
              </p:cNvSpPr>
              <p:nvPr/>
            </p:nvSpPr>
            <p:spPr bwMode="auto">
              <a:xfrm>
                <a:off x="2614" y="2139"/>
                <a:ext cx="4" cy="10"/>
              </a:xfrm>
              <a:custGeom>
                <a:avLst/>
                <a:gdLst>
                  <a:gd name="T0" fmla="*/ 0 w 28"/>
                  <a:gd name="T1" fmla="*/ 0 h 67"/>
                  <a:gd name="T2" fmla="*/ 0 w 28"/>
                  <a:gd name="T3" fmla="*/ 0 h 67"/>
                  <a:gd name="T4" fmla="*/ 0 w 28"/>
                  <a:gd name="T5" fmla="*/ 0 h 67"/>
                  <a:gd name="T6" fmla="*/ 0 w 28"/>
                  <a:gd name="T7" fmla="*/ 0 h 67"/>
                  <a:gd name="T8" fmla="*/ 0 w 28"/>
                  <a:gd name="T9" fmla="*/ 0 h 67"/>
                  <a:gd name="T10" fmla="*/ 0 w 28"/>
                  <a:gd name="T11" fmla="*/ 0 h 67"/>
                  <a:gd name="T12" fmla="*/ 0 w 28"/>
                  <a:gd name="T13" fmla="*/ 0 h 67"/>
                  <a:gd name="T14" fmla="*/ 0 w 28"/>
                  <a:gd name="T15" fmla="*/ 0 h 6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8" h="67">
                    <a:moveTo>
                      <a:pt x="0" y="0"/>
                    </a:moveTo>
                    <a:lnTo>
                      <a:pt x="16" y="17"/>
                    </a:lnTo>
                    <a:lnTo>
                      <a:pt x="23" y="38"/>
                    </a:lnTo>
                    <a:lnTo>
                      <a:pt x="24" y="67"/>
                    </a:lnTo>
                    <a:lnTo>
                      <a:pt x="28" y="44"/>
                    </a:lnTo>
                    <a:lnTo>
                      <a:pt x="26" y="26"/>
                    </a:lnTo>
                    <a:lnTo>
                      <a:pt x="22" y="1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4" name="Freeform 75"/>
              <p:cNvSpPr>
                <a:spLocks/>
              </p:cNvSpPr>
              <p:nvPr/>
            </p:nvSpPr>
            <p:spPr bwMode="auto">
              <a:xfrm>
                <a:off x="2604" y="2135"/>
                <a:ext cx="7" cy="4"/>
              </a:xfrm>
              <a:custGeom>
                <a:avLst/>
                <a:gdLst>
                  <a:gd name="T0" fmla="*/ 0 w 45"/>
                  <a:gd name="T1" fmla="*/ 0 h 22"/>
                  <a:gd name="T2" fmla="*/ 0 w 45"/>
                  <a:gd name="T3" fmla="*/ 0 h 22"/>
                  <a:gd name="T4" fmla="*/ 0 w 45"/>
                  <a:gd name="T5" fmla="*/ 0 h 22"/>
                  <a:gd name="T6" fmla="*/ 0 w 45"/>
                  <a:gd name="T7" fmla="*/ 0 h 22"/>
                  <a:gd name="T8" fmla="*/ 0 w 45"/>
                  <a:gd name="T9" fmla="*/ 0 h 22"/>
                  <a:gd name="T10" fmla="*/ 0 w 45"/>
                  <a:gd name="T11" fmla="*/ 0 h 2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45" h="22">
                    <a:moveTo>
                      <a:pt x="0" y="10"/>
                    </a:moveTo>
                    <a:lnTo>
                      <a:pt x="18" y="12"/>
                    </a:lnTo>
                    <a:lnTo>
                      <a:pt x="45" y="22"/>
                    </a:lnTo>
                    <a:lnTo>
                      <a:pt x="26" y="8"/>
                    </a:lnTo>
                    <a:lnTo>
                      <a:pt x="1" y="0"/>
                    </a:lnTo>
                    <a:lnTo>
                      <a:pt x="0" y="1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5" name="Freeform 76"/>
              <p:cNvSpPr>
                <a:spLocks/>
              </p:cNvSpPr>
              <p:nvPr/>
            </p:nvSpPr>
            <p:spPr bwMode="auto">
              <a:xfrm>
                <a:off x="2612" y="2150"/>
                <a:ext cx="5" cy="4"/>
              </a:xfrm>
              <a:custGeom>
                <a:avLst/>
                <a:gdLst>
                  <a:gd name="T0" fmla="*/ 0 w 35"/>
                  <a:gd name="T1" fmla="*/ 0 h 30"/>
                  <a:gd name="T2" fmla="*/ 0 w 35"/>
                  <a:gd name="T3" fmla="*/ 0 h 30"/>
                  <a:gd name="T4" fmla="*/ 0 w 35"/>
                  <a:gd name="T5" fmla="*/ 0 h 30"/>
                  <a:gd name="T6" fmla="*/ 0 w 35"/>
                  <a:gd name="T7" fmla="*/ 0 h 30"/>
                  <a:gd name="T8" fmla="*/ 0 w 35"/>
                  <a:gd name="T9" fmla="*/ 0 h 3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 h="30">
                    <a:moveTo>
                      <a:pt x="35" y="0"/>
                    </a:moveTo>
                    <a:lnTo>
                      <a:pt x="19" y="19"/>
                    </a:lnTo>
                    <a:lnTo>
                      <a:pt x="0" y="30"/>
                    </a:lnTo>
                    <a:lnTo>
                      <a:pt x="24" y="22"/>
                    </a:lnTo>
                    <a:lnTo>
                      <a:pt x="35"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6" name="Freeform 77"/>
              <p:cNvSpPr>
                <a:spLocks/>
              </p:cNvSpPr>
              <p:nvPr/>
            </p:nvSpPr>
            <p:spPr bwMode="auto">
              <a:xfrm>
                <a:off x="2619" y="2147"/>
                <a:ext cx="5" cy="5"/>
              </a:xfrm>
              <a:custGeom>
                <a:avLst/>
                <a:gdLst>
                  <a:gd name="T0" fmla="*/ 0 w 35"/>
                  <a:gd name="T1" fmla="*/ 0 h 31"/>
                  <a:gd name="T2" fmla="*/ 0 w 35"/>
                  <a:gd name="T3" fmla="*/ 0 h 31"/>
                  <a:gd name="T4" fmla="*/ 0 w 35"/>
                  <a:gd name="T5" fmla="*/ 0 h 31"/>
                  <a:gd name="T6" fmla="*/ 0 w 35"/>
                  <a:gd name="T7" fmla="*/ 0 h 31"/>
                  <a:gd name="T8" fmla="*/ 0 w 35"/>
                  <a:gd name="T9" fmla="*/ 0 h 31"/>
                  <a:gd name="T10" fmla="*/ 0 w 35"/>
                  <a:gd name="T11" fmla="*/ 0 h 31"/>
                  <a:gd name="T12" fmla="*/ 0 w 35"/>
                  <a:gd name="T13" fmla="*/ 0 h 31"/>
                  <a:gd name="T14" fmla="*/ 0 w 35"/>
                  <a:gd name="T15" fmla="*/ 0 h 3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5" h="31">
                    <a:moveTo>
                      <a:pt x="0" y="0"/>
                    </a:moveTo>
                    <a:lnTo>
                      <a:pt x="3" y="11"/>
                    </a:lnTo>
                    <a:lnTo>
                      <a:pt x="20" y="25"/>
                    </a:lnTo>
                    <a:lnTo>
                      <a:pt x="35" y="31"/>
                    </a:lnTo>
                    <a:lnTo>
                      <a:pt x="11" y="28"/>
                    </a:lnTo>
                    <a:lnTo>
                      <a:pt x="3" y="18"/>
                    </a:lnTo>
                    <a:lnTo>
                      <a:pt x="2" y="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7" name="Freeform 78"/>
              <p:cNvSpPr>
                <a:spLocks/>
              </p:cNvSpPr>
              <p:nvPr/>
            </p:nvSpPr>
            <p:spPr bwMode="auto">
              <a:xfrm>
                <a:off x="2585" y="2116"/>
                <a:ext cx="26" cy="21"/>
              </a:xfrm>
              <a:custGeom>
                <a:avLst/>
                <a:gdLst>
                  <a:gd name="T0" fmla="*/ 0 w 179"/>
                  <a:gd name="T1" fmla="*/ 0 h 141"/>
                  <a:gd name="T2" fmla="*/ 0 w 179"/>
                  <a:gd name="T3" fmla="*/ 0 h 141"/>
                  <a:gd name="T4" fmla="*/ 0 w 179"/>
                  <a:gd name="T5" fmla="*/ 0 h 141"/>
                  <a:gd name="T6" fmla="*/ 0 w 179"/>
                  <a:gd name="T7" fmla="*/ 0 h 141"/>
                  <a:gd name="T8" fmla="*/ 0 w 179"/>
                  <a:gd name="T9" fmla="*/ 0 h 141"/>
                  <a:gd name="T10" fmla="*/ 0 w 179"/>
                  <a:gd name="T11" fmla="*/ 0 h 141"/>
                  <a:gd name="T12" fmla="*/ 0 w 179"/>
                  <a:gd name="T13" fmla="*/ 0 h 14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79" h="141">
                    <a:moveTo>
                      <a:pt x="148" y="141"/>
                    </a:moveTo>
                    <a:lnTo>
                      <a:pt x="179" y="67"/>
                    </a:lnTo>
                    <a:lnTo>
                      <a:pt x="118" y="27"/>
                    </a:lnTo>
                    <a:lnTo>
                      <a:pt x="26" y="0"/>
                    </a:lnTo>
                    <a:lnTo>
                      <a:pt x="0" y="77"/>
                    </a:lnTo>
                    <a:lnTo>
                      <a:pt x="84" y="102"/>
                    </a:lnTo>
                    <a:lnTo>
                      <a:pt x="148" y="141"/>
                    </a:lnTo>
                    <a:close/>
                  </a:path>
                </a:pathLst>
              </a:custGeom>
              <a:solidFill>
                <a:srgbClr val="FFFFFF"/>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88" name="Oval 79"/>
              <p:cNvSpPr>
                <a:spLocks noChangeArrowheads="1"/>
              </p:cNvSpPr>
              <p:nvPr/>
            </p:nvSpPr>
            <p:spPr bwMode="auto">
              <a:xfrm>
                <a:off x="2601" y="2125"/>
                <a:ext cx="6" cy="7"/>
              </a:xfrm>
              <a:prstGeom prst="ellipse">
                <a:avLst/>
              </a:prstGeom>
              <a:solidFill>
                <a:srgbClr val="FFFFFF"/>
              </a:solidFill>
              <a:ln w="1588">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89" name="Freeform 80"/>
              <p:cNvSpPr>
                <a:spLocks/>
              </p:cNvSpPr>
              <p:nvPr/>
            </p:nvSpPr>
            <p:spPr bwMode="auto">
              <a:xfrm>
                <a:off x="2597" y="2127"/>
                <a:ext cx="7" cy="14"/>
              </a:xfrm>
              <a:custGeom>
                <a:avLst/>
                <a:gdLst>
                  <a:gd name="T0" fmla="*/ 0 w 46"/>
                  <a:gd name="T1" fmla="*/ 0 h 100"/>
                  <a:gd name="T2" fmla="*/ 0 w 46"/>
                  <a:gd name="T3" fmla="*/ 0 h 100"/>
                  <a:gd name="T4" fmla="*/ 0 w 46"/>
                  <a:gd name="T5" fmla="*/ 0 h 100"/>
                  <a:gd name="T6" fmla="*/ 0 w 46"/>
                  <a:gd name="T7" fmla="*/ 0 h 100"/>
                  <a:gd name="T8" fmla="*/ 0 w 46"/>
                  <a:gd name="T9" fmla="*/ 0 h 100"/>
                  <a:gd name="T10" fmla="*/ 0 w 46"/>
                  <a:gd name="T11" fmla="*/ 0 h 100"/>
                  <a:gd name="T12" fmla="*/ 0 w 46"/>
                  <a:gd name="T13" fmla="*/ 0 h 100"/>
                  <a:gd name="T14" fmla="*/ 0 w 46"/>
                  <a:gd name="T15" fmla="*/ 0 h 100"/>
                  <a:gd name="T16" fmla="*/ 0 w 46"/>
                  <a:gd name="T17" fmla="*/ 0 h 100"/>
                  <a:gd name="T18" fmla="*/ 0 w 46"/>
                  <a:gd name="T19" fmla="*/ 0 h 100"/>
                  <a:gd name="T20" fmla="*/ 0 w 46"/>
                  <a:gd name="T21" fmla="*/ 0 h 100"/>
                  <a:gd name="T22" fmla="*/ 0 w 46"/>
                  <a:gd name="T23" fmla="*/ 0 h 100"/>
                  <a:gd name="T24" fmla="*/ 0 w 46"/>
                  <a:gd name="T25" fmla="*/ 0 h 100"/>
                  <a:gd name="T26" fmla="*/ 0 w 46"/>
                  <a:gd name="T27" fmla="*/ 0 h 100"/>
                  <a:gd name="T28" fmla="*/ 0 w 46"/>
                  <a:gd name="T29" fmla="*/ 0 h 100"/>
                  <a:gd name="T30" fmla="*/ 0 w 46"/>
                  <a:gd name="T31" fmla="*/ 0 h 10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46" h="100">
                    <a:moveTo>
                      <a:pt x="3" y="67"/>
                    </a:moveTo>
                    <a:lnTo>
                      <a:pt x="7" y="49"/>
                    </a:lnTo>
                    <a:lnTo>
                      <a:pt x="5" y="32"/>
                    </a:lnTo>
                    <a:lnTo>
                      <a:pt x="3" y="21"/>
                    </a:lnTo>
                    <a:lnTo>
                      <a:pt x="0" y="11"/>
                    </a:lnTo>
                    <a:lnTo>
                      <a:pt x="3" y="3"/>
                    </a:lnTo>
                    <a:lnTo>
                      <a:pt x="10" y="0"/>
                    </a:lnTo>
                    <a:lnTo>
                      <a:pt x="24" y="5"/>
                    </a:lnTo>
                    <a:lnTo>
                      <a:pt x="30" y="15"/>
                    </a:lnTo>
                    <a:lnTo>
                      <a:pt x="33" y="24"/>
                    </a:lnTo>
                    <a:lnTo>
                      <a:pt x="35" y="35"/>
                    </a:lnTo>
                    <a:lnTo>
                      <a:pt x="36" y="52"/>
                    </a:lnTo>
                    <a:lnTo>
                      <a:pt x="46" y="71"/>
                    </a:lnTo>
                    <a:lnTo>
                      <a:pt x="21" y="100"/>
                    </a:lnTo>
                    <a:lnTo>
                      <a:pt x="10" y="92"/>
                    </a:lnTo>
                    <a:lnTo>
                      <a:pt x="3" y="6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0" name="Freeform 81"/>
              <p:cNvSpPr>
                <a:spLocks/>
              </p:cNvSpPr>
              <p:nvPr/>
            </p:nvSpPr>
            <p:spPr bwMode="auto">
              <a:xfrm>
                <a:off x="2600" y="2137"/>
                <a:ext cx="4" cy="4"/>
              </a:xfrm>
              <a:custGeom>
                <a:avLst/>
                <a:gdLst>
                  <a:gd name="T0" fmla="*/ 0 w 31"/>
                  <a:gd name="T1" fmla="*/ 0 h 31"/>
                  <a:gd name="T2" fmla="*/ 0 w 31"/>
                  <a:gd name="T3" fmla="*/ 0 h 31"/>
                  <a:gd name="T4" fmla="*/ 0 w 31"/>
                  <a:gd name="T5" fmla="*/ 0 h 31"/>
                  <a:gd name="T6" fmla="*/ 0 w 31"/>
                  <a:gd name="T7" fmla="*/ 0 h 31"/>
                  <a:gd name="T8" fmla="*/ 0 w 31"/>
                  <a:gd name="T9" fmla="*/ 0 h 3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 h="31">
                    <a:moveTo>
                      <a:pt x="21" y="0"/>
                    </a:moveTo>
                    <a:lnTo>
                      <a:pt x="31" y="4"/>
                    </a:lnTo>
                    <a:lnTo>
                      <a:pt x="8" y="31"/>
                    </a:lnTo>
                    <a:lnTo>
                      <a:pt x="0" y="23"/>
                    </a:lnTo>
                    <a:lnTo>
                      <a:pt x="21" y="0"/>
                    </a:lnTo>
                    <a:close/>
                  </a:path>
                </a:pathLst>
              </a:custGeom>
              <a:solidFill>
                <a:srgbClr val="FFC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1" name="Freeform 82"/>
              <p:cNvSpPr>
                <a:spLocks/>
              </p:cNvSpPr>
              <p:nvPr/>
            </p:nvSpPr>
            <p:spPr bwMode="auto">
              <a:xfrm>
                <a:off x="2607" y="2120"/>
                <a:ext cx="6" cy="12"/>
              </a:xfrm>
              <a:custGeom>
                <a:avLst/>
                <a:gdLst>
                  <a:gd name="T0" fmla="*/ 0 w 42"/>
                  <a:gd name="T1" fmla="*/ 0 h 87"/>
                  <a:gd name="T2" fmla="*/ 0 w 42"/>
                  <a:gd name="T3" fmla="*/ 0 h 87"/>
                  <a:gd name="T4" fmla="*/ 0 w 42"/>
                  <a:gd name="T5" fmla="*/ 0 h 87"/>
                  <a:gd name="T6" fmla="*/ 0 w 42"/>
                  <a:gd name="T7" fmla="*/ 0 h 87"/>
                  <a:gd name="T8" fmla="*/ 0 w 42"/>
                  <a:gd name="T9" fmla="*/ 0 h 87"/>
                  <a:gd name="T10" fmla="*/ 0 w 42"/>
                  <a:gd name="T11" fmla="*/ 0 h 87"/>
                  <a:gd name="T12" fmla="*/ 0 w 42"/>
                  <a:gd name="T13" fmla="*/ 0 h 87"/>
                  <a:gd name="T14" fmla="*/ 0 w 42"/>
                  <a:gd name="T15" fmla="*/ 0 h 87"/>
                  <a:gd name="T16" fmla="*/ 0 w 42"/>
                  <a:gd name="T17" fmla="*/ 0 h 87"/>
                  <a:gd name="T18" fmla="*/ 0 w 42"/>
                  <a:gd name="T19" fmla="*/ 0 h 87"/>
                  <a:gd name="T20" fmla="*/ 0 w 42"/>
                  <a:gd name="T21" fmla="*/ 0 h 87"/>
                  <a:gd name="T22" fmla="*/ 0 w 42"/>
                  <a:gd name="T23" fmla="*/ 0 h 87"/>
                  <a:gd name="T24" fmla="*/ 0 w 42"/>
                  <a:gd name="T25" fmla="*/ 0 h 87"/>
                  <a:gd name="T26" fmla="*/ 0 w 42"/>
                  <a:gd name="T27" fmla="*/ 0 h 87"/>
                  <a:gd name="T28" fmla="*/ 0 w 42"/>
                  <a:gd name="T29" fmla="*/ 0 h 87"/>
                  <a:gd name="T30" fmla="*/ 0 w 42"/>
                  <a:gd name="T31" fmla="*/ 0 h 87"/>
                  <a:gd name="T32" fmla="*/ 0 w 42"/>
                  <a:gd name="T33" fmla="*/ 0 h 87"/>
                  <a:gd name="T34" fmla="*/ 0 w 42"/>
                  <a:gd name="T35" fmla="*/ 0 h 87"/>
                  <a:gd name="T36" fmla="*/ 0 w 42"/>
                  <a:gd name="T37" fmla="*/ 0 h 87"/>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42" h="87">
                    <a:moveTo>
                      <a:pt x="0" y="21"/>
                    </a:moveTo>
                    <a:lnTo>
                      <a:pt x="3" y="39"/>
                    </a:lnTo>
                    <a:lnTo>
                      <a:pt x="5" y="46"/>
                    </a:lnTo>
                    <a:lnTo>
                      <a:pt x="6" y="57"/>
                    </a:lnTo>
                    <a:lnTo>
                      <a:pt x="4" y="66"/>
                    </a:lnTo>
                    <a:lnTo>
                      <a:pt x="6" y="76"/>
                    </a:lnTo>
                    <a:lnTo>
                      <a:pt x="12" y="85"/>
                    </a:lnTo>
                    <a:lnTo>
                      <a:pt x="18" y="86"/>
                    </a:lnTo>
                    <a:lnTo>
                      <a:pt x="29" y="87"/>
                    </a:lnTo>
                    <a:lnTo>
                      <a:pt x="37" y="82"/>
                    </a:lnTo>
                    <a:lnTo>
                      <a:pt x="40" y="79"/>
                    </a:lnTo>
                    <a:lnTo>
                      <a:pt x="42" y="70"/>
                    </a:lnTo>
                    <a:lnTo>
                      <a:pt x="42" y="53"/>
                    </a:lnTo>
                    <a:lnTo>
                      <a:pt x="42" y="43"/>
                    </a:lnTo>
                    <a:lnTo>
                      <a:pt x="40" y="29"/>
                    </a:lnTo>
                    <a:lnTo>
                      <a:pt x="38" y="20"/>
                    </a:lnTo>
                    <a:lnTo>
                      <a:pt x="31" y="0"/>
                    </a:lnTo>
                    <a:lnTo>
                      <a:pt x="6" y="1"/>
                    </a:lnTo>
                    <a:lnTo>
                      <a:pt x="0" y="21"/>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92" name="Freeform 83"/>
              <p:cNvSpPr>
                <a:spLocks/>
              </p:cNvSpPr>
              <p:nvPr/>
            </p:nvSpPr>
            <p:spPr bwMode="auto">
              <a:xfrm>
                <a:off x="2609" y="2128"/>
                <a:ext cx="3" cy="3"/>
              </a:xfrm>
              <a:custGeom>
                <a:avLst/>
                <a:gdLst>
                  <a:gd name="T0" fmla="*/ 0 w 21"/>
                  <a:gd name="T1" fmla="*/ 0 h 19"/>
                  <a:gd name="T2" fmla="*/ 0 w 21"/>
                  <a:gd name="T3" fmla="*/ 0 h 19"/>
                  <a:gd name="T4" fmla="*/ 0 w 21"/>
                  <a:gd name="T5" fmla="*/ 0 h 19"/>
                  <a:gd name="T6" fmla="*/ 0 w 21"/>
                  <a:gd name="T7" fmla="*/ 0 h 19"/>
                  <a:gd name="T8" fmla="*/ 0 w 21"/>
                  <a:gd name="T9" fmla="*/ 0 h 19"/>
                  <a:gd name="T10" fmla="*/ 0 w 21"/>
                  <a:gd name="T11" fmla="*/ 0 h 19"/>
                  <a:gd name="T12" fmla="*/ 0 w 21"/>
                  <a:gd name="T13" fmla="*/ 0 h 19"/>
                  <a:gd name="T14" fmla="*/ 0 w 21"/>
                  <a:gd name="T15" fmla="*/ 0 h 19"/>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 h="19">
                    <a:moveTo>
                      <a:pt x="21" y="6"/>
                    </a:moveTo>
                    <a:lnTo>
                      <a:pt x="11" y="0"/>
                    </a:lnTo>
                    <a:lnTo>
                      <a:pt x="3" y="1"/>
                    </a:lnTo>
                    <a:lnTo>
                      <a:pt x="0" y="6"/>
                    </a:lnTo>
                    <a:lnTo>
                      <a:pt x="1" y="19"/>
                    </a:lnTo>
                    <a:lnTo>
                      <a:pt x="3" y="8"/>
                    </a:lnTo>
                    <a:lnTo>
                      <a:pt x="5" y="5"/>
                    </a:lnTo>
                    <a:lnTo>
                      <a:pt x="21" y="6"/>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0" name="Group 84"/>
            <p:cNvGrpSpPr>
              <a:grpSpLocks/>
            </p:cNvGrpSpPr>
            <p:nvPr/>
          </p:nvGrpSpPr>
          <p:grpSpPr bwMode="auto">
            <a:xfrm flipH="1">
              <a:off x="3535" y="3121"/>
              <a:ext cx="220" cy="111"/>
              <a:chOff x="2647" y="2440"/>
              <a:chExt cx="88" cy="46"/>
            </a:xfrm>
          </p:grpSpPr>
          <p:sp>
            <p:nvSpPr>
              <p:cNvPr id="73" name="Freeform 85"/>
              <p:cNvSpPr>
                <a:spLocks/>
              </p:cNvSpPr>
              <p:nvPr/>
            </p:nvSpPr>
            <p:spPr bwMode="auto">
              <a:xfrm>
                <a:off x="2647" y="2440"/>
                <a:ext cx="88" cy="46"/>
              </a:xfrm>
              <a:custGeom>
                <a:avLst/>
                <a:gdLst>
                  <a:gd name="T0" fmla="*/ 0 w 616"/>
                  <a:gd name="T1" fmla="*/ 0 h 319"/>
                  <a:gd name="T2" fmla="*/ 0 w 616"/>
                  <a:gd name="T3" fmla="*/ 0 h 319"/>
                  <a:gd name="T4" fmla="*/ 0 w 616"/>
                  <a:gd name="T5" fmla="*/ 0 h 319"/>
                  <a:gd name="T6" fmla="*/ 0 w 616"/>
                  <a:gd name="T7" fmla="*/ 0 h 319"/>
                  <a:gd name="T8" fmla="*/ 0 w 616"/>
                  <a:gd name="T9" fmla="*/ 0 h 319"/>
                  <a:gd name="T10" fmla="*/ 0 w 616"/>
                  <a:gd name="T11" fmla="*/ 0 h 319"/>
                  <a:gd name="T12" fmla="*/ 0 w 616"/>
                  <a:gd name="T13" fmla="*/ 0 h 319"/>
                  <a:gd name="T14" fmla="*/ 0 w 616"/>
                  <a:gd name="T15" fmla="*/ 0 h 319"/>
                  <a:gd name="T16" fmla="*/ 0 w 616"/>
                  <a:gd name="T17" fmla="*/ 0 h 319"/>
                  <a:gd name="T18" fmla="*/ 0 w 616"/>
                  <a:gd name="T19" fmla="*/ 0 h 319"/>
                  <a:gd name="T20" fmla="*/ 0 w 616"/>
                  <a:gd name="T21" fmla="*/ 0 h 319"/>
                  <a:gd name="T22" fmla="*/ 0 w 616"/>
                  <a:gd name="T23" fmla="*/ 0 h 319"/>
                  <a:gd name="T24" fmla="*/ 0 w 616"/>
                  <a:gd name="T25" fmla="*/ 0 h 319"/>
                  <a:gd name="T26" fmla="*/ 0 w 616"/>
                  <a:gd name="T27" fmla="*/ 0 h 319"/>
                  <a:gd name="T28" fmla="*/ 0 w 616"/>
                  <a:gd name="T29" fmla="*/ 0 h 319"/>
                  <a:gd name="T30" fmla="*/ 0 w 616"/>
                  <a:gd name="T31" fmla="*/ 0 h 319"/>
                  <a:gd name="T32" fmla="*/ 0 w 616"/>
                  <a:gd name="T33" fmla="*/ 0 h 319"/>
                  <a:gd name="T34" fmla="*/ 0 w 616"/>
                  <a:gd name="T35" fmla="*/ 0 h 319"/>
                  <a:gd name="T36" fmla="*/ 0 w 616"/>
                  <a:gd name="T37" fmla="*/ 0 h 319"/>
                  <a:gd name="T38" fmla="*/ 0 w 616"/>
                  <a:gd name="T39" fmla="*/ 0 h 319"/>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16" h="319">
                    <a:moveTo>
                      <a:pt x="249" y="10"/>
                    </a:moveTo>
                    <a:lnTo>
                      <a:pt x="244" y="93"/>
                    </a:lnTo>
                    <a:lnTo>
                      <a:pt x="406" y="170"/>
                    </a:lnTo>
                    <a:lnTo>
                      <a:pt x="541" y="203"/>
                    </a:lnTo>
                    <a:lnTo>
                      <a:pt x="616" y="237"/>
                    </a:lnTo>
                    <a:lnTo>
                      <a:pt x="612" y="281"/>
                    </a:lnTo>
                    <a:lnTo>
                      <a:pt x="515" y="308"/>
                    </a:lnTo>
                    <a:lnTo>
                      <a:pt x="368" y="319"/>
                    </a:lnTo>
                    <a:lnTo>
                      <a:pt x="244" y="297"/>
                    </a:lnTo>
                    <a:lnTo>
                      <a:pt x="167" y="276"/>
                    </a:lnTo>
                    <a:lnTo>
                      <a:pt x="163" y="300"/>
                    </a:lnTo>
                    <a:lnTo>
                      <a:pt x="66" y="297"/>
                    </a:lnTo>
                    <a:lnTo>
                      <a:pt x="6" y="286"/>
                    </a:lnTo>
                    <a:lnTo>
                      <a:pt x="6" y="243"/>
                    </a:lnTo>
                    <a:lnTo>
                      <a:pt x="0" y="217"/>
                    </a:lnTo>
                    <a:lnTo>
                      <a:pt x="0" y="156"/>
                    </a:lnTo>
                    <a:lnTo>
                      <a:pt x="16" y="121"/>
                    </a:lnTo>
                    <a:lnTo>
                      <a:pt x="47" y="82"/>
                    </a:lnTo>
                    <a:lnTo>
                      <a:pt x="53" y="0"/>
                    </a:lnTo>
                    <a:lnTo>
                      <a:pt x="249" y="10"/>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Freeform 86"/>
              <p:cNvSpPr>
                <a:spLocks/>
              </p:cNvSpPr>
              <p:nvPr/>
            </p:nvSpPr>
            <p:spPr bwMode="auto">
              <a:xfrm>
                <a:off x="2677" y="2457"/>
                <a:ext cx="26" cy="14"/>
              </a:xfrm>
              <a:custGeom>
                <a:avLst/>
                <a:gdLst>
                  <a:gd name="T0" fmla="*/ 0 w 185"/>
                  <a:gd name="T1" fmla="*/ 0 h 99"/>
                  <a:gd name="T2" fmla="*/ 0 w 185"/>
                  <a:gd name="T3" fmla="*/ 0 h 99"/>
                  <a:gd name="T4" fmla="*/ 0 w 185"/>
                  <a:gd name="T5" fmla="*/ 0 h 99"/>
                  <a:gd name="T6" fmla="*/ 0 w 185"/>
                  <a:gd name="T7" fmla="*/ 0 h 99"/>
                  <a:gd name="T8" fmla="*/ 0 w 185"/>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5" h="99">
                    <a:moveTo>
                      <a:pt x="47" y="0"/>
                    </a:moveTo>
                    <a:lnTo>
                      <a:pt x="0" y="52"/>
                    </a:lnTo>
                    <a:lnTo>
                      <a:pt x="166" y="99"/>
                    </a:lnTo>
                    <a:lnTo>
                      <a:pt x="185"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5" name="Freeform 87"/>
              <p:cNvSpPr>
                <a:spLocks/>
              </p:cNvSpPr>
              <p:nvPr/>
            </p:nvSpPr>
            <p:spPr bwMode="auto">
              <a:xfrm>
                <a:off x="2703" y="2467"/>
                <a:ext cx="30" cy="8"/>
              </a:xfrm>
              <a:custGeom>
                <a:avLst/>
                <a:gdLst>
                  <a:gd name="T0" fmla="*/ 0 w 209"/>
                  <a:gd name="T1" fmla="*/ 0 h 61"/>
                  <a:gd name="T2" fmla="*/ 0 w 209"/>
                  <a:gd name="T3" fmla="*/ 0 h 61"/>
                  <a:gd name="T4" fmla="*/ 0 w 209"/>
                  <a:gd name="T5" fmla="*/ 0 h 61"/>
                  <a:gd name="T6" fmla="*/ 0 w 209"/>
                  <a:gd name="T7" fmla="*/ 0 h 61"/>
                  <a:gd name="T8" fmla="*/ 0 w 209"/>
                  <a:gd name="T9" fmla="*/ 0 h 61"/>
                  <a:gd name="T10" fmla="*/ 0 w 209"/>
                  <a:gd name="T11" fmla="*/ 0 h 61"/>
                  <a:gd name="T12" fmla="*/ 0 w 209"/>
                  <a:gd name="T13" fmla="*/ 0 h 6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09" h="61">
                    <a:moveTo>
                      <a:pt x="25" y="0"/>
                    </a:moveTo>
                    <a:lnTo>
                      <a:pt x="0" y="29"/>
                    </a:lnTo>
                    <a:lnTo>
                      <a:pt x="103" y="56"/>
                    </a:lnTo>
                    <a:lnTo>
                      <a:pt x="151" y="61"/>
                    </a:lnTo>
                    <a:lnTo>
                      <a:pt x="209" y="58"/>
                    </a:lnTo>
                    <a:lnTo>
                      <a:pt x="148" y="27"/>
                    </a:lnTo>
                    <a:lnTo>
                      <a:pt x="25"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6" name="Freeform 88"/>
              <p:cNvSpPr>
                <a:spLocks/>
              </p:cNvSpPr>
              <p:nvPr/>
            </p:nvSpPr>
            <p:spPr bwMode="auto">
              <a:xfrm>
                <a:off x="2648" y="2457"/>
                <a:ext cx="85" cy="27"/>
              </a:xfrm>
              <a:custGeom>
                <a:avLst/>
                <a:gdLst>
                  <a:gd name="T0" fmla="*/ 0 w 597"/>
                  <a:gd name="T1" fmla="*/ 0 h 188"/>
                  <a:gd name="T2" fmla="*/ 0 w 597"/>
                  <a:gd name="T3" fmla="*/ 0 h 188"/>
                  <a:gd name="T4" fmla="*/ 0 w 597"/>
                  <a:gd name="T5" fmla="*/ 0 h 188"/>
                  <a:gd name="T6" fmla="*/ 0 w 597"/>
                  <a:gd name="T7" fmla="*/ 0 h 188"/>
                  <a:gd name="T8" fmla="*/ 0 w 597"/>
                  <a:gd name="T9" fmla="*/ 0 h 188"/>
                  <a:gd name="T10" fmla="*/ 0 w 597"/>
                  <a:gd name="T11" fmla="*/ 0 h 188"/>
                  <a:gd name="T12" fmla="*/ 0 w 597"/>
                  <a:gd name="T13" fmla="*/ 0 h 188"/>
                  <a:gd name="T14" fmla="*/ 0 w 597"/>
                  <a:gd name="T15" fmla="*/ 0 h 188"/>
                  <a:gd name="T16" fmla="*/ 0 w 597"/>
                  <a:gd name="T17" fmla="*/ 0 h 188"/>
                  <a:gd name="T18" fmla="*/ 0 w 597"/>
                  <a:gd name="T19" fmla="*/ 0 h 188"/>
                  <a:gd name="T20" fmla="*/ 0 w 597"/>
                  <a:gd name="T21" fmla="*/ 0 h 188"/>
                  <a:gd name="T22" fmla="*/ 0 w 597"/>
                  <a:gd name="T23" fmla="*/ 0 h 188"/>
                  <a:gd name="T24" fmla="*/ 0 w 597"/>
                  <a:gd name="T25" fmla="*/ 0 h 188"/>
                  <a:gd name="T26" fmla="*/ 0 w 597"/>
                  <a:gd name="T27" fmla="*/ 0 h 188"/>
                  <a:gd name="T28" fmla="*/ 0 w 597"/>
                  <a:gd name="T29" fmla="*/ 0 h 188"/>
                  <a:gd name="T30" fmla="*/ 0 w 597"/>
                  <a:gd name="T31" fmla="*/ 0 h 188"/>
                  <a:gd name="T32" fmla="*/ 0 w 597"/>
                  <a:gd name="T33" fmla="*/ 0 h 188"/>
                  <a:gd name="T34" fmla="*/ 0 w 597"/>
                  <a:gd name="T35" fmla="*/ 0 h 188"/>
                  <a:gd name="T36" fmla="*/ 0 w 597"/>
                  <a:gd name="T37" fmla="*/ 0 h 188"/>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597" h="188">
                    <a:moveTo>
                      <a:pt x="597" y="160"/>
                    </a:moveTo>
                    <a:lnTo>
                      <a:pt x="597" y="131"/>
                    </a:lnTo>
                    <a:lnTo>
                      <a:pt x="519" y="139"/>
                    </a:lnTo>
                    <a:lnTo>
                      <a:pt x="394" y="121"/>
                    </a:lnTo>
                    <a:lnTo>
                      <a:pt x="321" y="104"/>
                    </a:lnTo>
                    <a:lnTo>
                      <a:pt x="183" y="59"/>
                    </a:lnTo>
                    <a:lnTo>
                      <a:pt x="124" y="52"/>
                    </a:lnTo>
                    <a:lnTo>
                      <a:pt x="65" y="31"/>
                    </a:lnTo>
                    <a:lnTo>
                      <a:pt x="35" y="0"/>
                    </a:lnTo>
                    <a:lnTo>
                      <a:pt x="0" y="39"/>
                    </a:lnTo>
                    <a:lnTo>
                      <a:pt x="0" y="119"/>
                    </a:lnTo>
                    <a:lnTo>
                      <a:pt x="43" y="131"/>
                    </a:lnTo>
                    <a:lnTo>
                      <a:pt x="151" y="145"/>
                    </a:lnTo>
                    <a:lnTo>
                      <a:pt x="194" y="150"/>
                    </a:lnTo>
                    <a:lnTo>
                      <a:pt x="265" y="176"/>
                    </a:lnTo>
                    <a:lnTo>
                      <a:pt x="346" y="188"/>
                    </a:lnTo>
                    <a:lnTo>
                      <a:pt x="403" y="188"/>
                    </a:lnTo>
                    <a:lnTo>
                      <a:pt x="492" y="188"/>
                    </a:lnTo>
                    <a:lnTo>
                      <a:pt x="597"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7" name="Freeform 89"/>
              <p:cNvSpPr>
                <a:spLocks/>
              </p:cNvSpPr>
              <p:nvPr/>
            </p:nvSpPr>
            <p:spPr bwMode="auto">
              <a:xfrm>
                <a:off x="2654" y="2441"/>
                <a:ext cx="28" cy="22"/>
              </a:xfrm>
              <a:custGeom>
                <a:avLst/>
                <a:gdLst>
                  <a:gd name="T0" fmla="*/ 0 w 196"/>
                  <a:gd name="T1" fmla="*/ 0 h 154"/>
                  <a:gd name="T2" fmla="*/ 0 w 196"/>
                  <a:gd name="T3" fmla="*/ 0 h 154"/>
                  <a:gd name="T4" fmla="*/ 0 w 196"/>
                  <a:gd name="T5" fmla="*/ 0 h 154"/>
                  <a:gd name="T6" fmla="*/ 0 w 196"/>
                  <a:gd name="T7" fmla="*/ 0 h 154"/>
                  <a:gd name="T8" fmla="*/ 0 w 196"/>
                  <a:gd name="T9" fmla="*/ 0 h 154"/>
                  <a:gd name="T10" fmla="*/ 0 w 196"/>
                  <a:gd name="T11" fmla="*/ 0 h 154"/>
                  <a:gd name="T12" fmla="*/ 0 w 196"/>
                  <a:gd name="T13" fmla="*/ 0 h 154"/>
                  <a:gd name="T14" fmla="*/ 0 w 196"/>
                  <a:gd name="T15" fmla="*/ 0 h 154"/>
                  <a:gd name="T16" fmla="*/ 0 w 196"/>
                  <a:gd name="T17" fmla="*/ 0 h 154"/>
                  <a:gd name="T18" fmla="*/ 0 w 196"/>
                  <a:gd name="T19" fmla="*/ 0 h 154"/>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96" h="154">
                    <a:moveTo>
                      <a:pt x="191" y="11"/>
                    </a:moveTo>
                    <a:lnTo>
                      <a:pt x="185" y="86"/>
                    </a:lnTo>
                    <a:lnTo>
                      <a:pt x="196" y="103"/>
                    </a:lnTo>
                    <a:lnTo>
                      <a:pt x="152" y="154"/>
                    </a:lnTo>
                    <a:lnTo>
                      <a:pt x="92" y="154"/>
                    </a:lnTo>
                    <a:lnTo>
                      <a:pt x="24" y="131"/>
                    </a:lnTo>
                    <a:lnTo>
                      <a:pt x="0" y="101"/>
                    </a:lnTo>
                    <a:lnTo>
                      <a:pt x="14" y="80"/>
                    </a:lnTo>
                    <a:lnTo>
                      <a:pt x="18" y="0"/>
                    </a:lnTo>
                    <a:lnTo>
                      <a:pt x="191"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1" name="Group 90"/>
            <p:cNvGrpSpPr>
              <a:grpSpLocks/>
            </p:cNvGrpSpPr>
            <p:nvPr/>
          </p:nvGrpSpPr>
          <p:grpSpPr bwMode="auto">
            <a:xfrm flipH="1">
              <a:off x="3658" y="2929"/>
              <a:ext cx="92" cy="221"/>
              <a:chOff x="2649" y="2361"/>
              <a:chExt cx="37" cy="91"/>
            </a:xfrm>
          </p:grpSpPr>
          <p:sp>
            <p:nvSpPr>
              <p:cNvPr id="71" name="Freeform 91"/>
              <p:cNvSpPr>
                <a:spLocks/>
              </p:cNvSpPr>
              <p:nvPr/>
            </p:nvSpPr>
            <p:spPr bwMode="auto">
              <a:xfrm>
                <a:off x="2649" y="2361"/>
                <a:ext cx="37" cy="91"/>
              </a:xfrm>
              <a:custGeom>
                <a:avLst/>
                <a:gdLst>
                  <a:gd name="T0" fmla="*/ 0 w 260"/>
                  <a:gd name="T1" fmla="*/ 0 h 637"/>
                  <a:gd name="T2" fmla="*/ 0 w 260"/>
                  <a:gd name="T3" fmla="*/ 0 h 637"/>
                  <a:gd name="T4" fmla="*/ 0 w 260"/>
                  <a:gd name="T5" fmla="*/ 0 h 637"/>
                  <a:gd name="T6" fmla="*/ 0 w 260"/>
                  <a:gd name="T7" fmla="*/ 0 h 637"/>
                  <a:gd name="T8" fmla="*/ 0 w 260"/>
                  <a:gd name="T9" fmla="*/ 0 h 637"/>
                  <a:gd name="T10" fmla="*/ 0 w 260"/>
                  <a:gd name="T11" fmla="*/ 0 h 637"/>
                  <a:gd name="T12" fmla="*/ 0 w 260"/>
                  <a:gd name="T13" fmla="*/ 0 h 637"/>
                  <a:gd name="T14" fmla="*/ 0 w 260"/>
                  <a:gd name="T15" fmla="*/ 0 h 63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60" h="637">
                    <a:moveTo>
                      <a:pt x="21" y="14"/>
                    </a:moveTo>
                    <a:lnTo>
                      <a:pt x="5" y="230"/>
                    </a:lnTo>
                    <a:lnTo>
                      <a:pt x="9" y="408"/>
                    </a:lnTo>
                    <a:lnTo>
                      <a:pt x="0" y="608"/>
                    </a:lnTo>
                    <a:lnTo>
                      <a:pt x="128" y="637"/>
                    </a:lnTo>
                    <a:lnTo>
                      <a:pt x="252" y="637"/>
                    </a:lnTo>
                    <a:lnTo>
                      <a:pt x="260" y="0"/>
                    </a:lnTo>
                    <a:lnTo>
                      <a:pt x="21" y="14"/>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2" name="Freeform 92"/>
              <p:cNvSpPr>
                <a:spLocks/>
              </p:cNvSpPr>
              <p:nvPr/>
            </p:nvSpPr>
            <p:spPr bwMode="auto">
              <a:xfrm>
                <a:off x="2652" y="2362"/>
                <a:ext cx="32" cy="87"/>
              </a:xfrm>
              <a:custGeom>
                <a:avLst/>
                <a:gdLst>
                  <a:gd name="T0" fmla="*/ 0 w 225"/>
                  <a:gd name="T1" fmla="*/ 0 h 612"/>
                  <a:gd name="T2" fmla="*/ 0 w 225"/>
                  <a:gd name="T3" fmla="*/ 0 h 612"/>
                  <a:gd name="T4" fmla="*/ 0 w 225"/>
                  <a:gd name="T5" fmla="*/ 0 h 612"/>
                  <a:gd name="T6" fmla="*/ 0 w 225"/>
                  <a:gd name="T7" fmla="*/ 0 h 612"/>
                  <a:gd name="T8" fmla="*/ 0 w 225"/>
                  <a:gd name="T9" fmla="*/ 0 h 612"/>
                  <a:gd name="T10" fmla="*/ 0 w 225"/>
                  <a:gd name="T11" fmla="*/ 0 h 612"/>
                  <a:gd name="T12" fmla="*/ 0 w 225"/>
                  <a:gd name="T13" fmla="*/ 0 h 612"/>
                  <a:gd name="T14" fmla="*/ 0 w 225"/>
                  <a:gd name="T15" fmla="*/ 0 h 612"/>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25" h="612">
                    <a:moveTo>
                      <a:pt x="20" y="20"/>
                    </a:moveTo>
                    <a:lnTo>
                      <a:pt x="0" y="201"/>
                    </a:lnTo>
                    <a:lnTo>
                      <a:pt x="4" y="346"/>
                    </a:lnTo>
                    <a:lnTo>
                      <a:pt x="4" y="569"/>
                    </a:lnTo>
                    <a:lnTo>
                      <a:pt x="114" y="612"/>
                    </a:lnTo>
                    <a:lnTo>
                      <a:pt x="212" y="612"/>
                    </a:lnTo>
                    <a:lnTo>
                      <a:pt x="225" y="0"/>
                    </a:lnTo>
                    <a:lnTo>
                      <a:pt x="20"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12" name="Group 93"/>
            <p:cNvGrpSpPr>
              <a:grpSpLocks/>
            </p:cNvGrpSpPr>
            <p:nvPr/>
          </p:nvGrpSpPr>
          <p:grpSpPr bwMode="auto">
            <a:xfrm flipH="1">
              <a:off x="3477" y="3152"/>
              <a:ext cx="226" cy="112"/>
              <a:chOff x="2668" y="2453"/>
              <a:chExt cx="90" cy="46"/>
            </a:xfrm>
          </p:grpSpPr>
          <p:sp>
            <p:nvSpPr>
              <p:cNvPr id="66" name="Freeform 94"/>
              <p:cNvSpPr>
                <a:spLocks/>
              </p:cNvSpPr>
              <p:nvPr/>
            </p:nvSpPr>
            <p:spPr bwMode="auto">
              <a:xfrm>
                <a:off x="2668" y="2453"/>
                <a:ext cx="90" cy="46"/>
              </a:xfrm>
              <a:custGeom>
                <a:avLst/>
                <a:gdLst>
                  <a:gd name="T0" fmla="*/ 0 w 627"/>
                  <a:gd name="T1" fmla="*/ 0 h 320"/>
                  <a:gd name="T2" fmla="*/ 0 w 627"/>
                  <a:gd name="T3" fmla="*/ 0 h 320"/>
                  <a:gd name="T4" fmla="*/ 0 w 627"/>
                  <a:gd name="T5" fmla="*/ 0 h 320"/>
                  <a:gd name="T6" fmla="*/ 0 w 627"/>
                  <a:gd name="T7" fmla="*/ 0 h 320"/>
                  <a:gd name="T8" fmla="*/ 0 w 627"/>
                  <a:gd name="T9" fmla="*/ 0 h 320"/>
                  <a:gd name="T10" fmla="*/ 0 w 627"/>
                  <a:gd name="T11" fmla="*/ 0 h 320"/>
                  <a:gd name="T12" fmla="*/ 0 w 627"/>
                  <a:gd name="T13" fmla="*/ 0 h 320"/>
                  <a:gd name="T14" fmla="*/ 0 w 627"/>
                  <a:gd name="T15" fmla="*/ 0 h 320"/>
                  <a:gd name="T16" fmla="*/ 0 w 627"/>
                  <a:gd name="T17" fmla="*/ 0 h 320"/>
                  <a:gd name="T18" fmla="*/ 0 w 627"/>
                  <a:gd name="T19" fmla="*/ 0 h 320"/>
                  <a:gd name="T20" fmla="*/ 0 w 627"/>
                  <a:gd name="T21" fmla="*/ 0 h 320"/>
                  <a:gd name="T22" fmla="*/ 0 w 627"/>
                  <a:gd name="T23" fmla="*/ 0 h 320"/>
                  <a:gd name="T24" fmla="*/ 0 w 627"/>
                  <a:gd name="T25" fmla="*/ 0 h 320"/>
                  <a:gd name="T26" fmla="*/ 0 w 627"/>
                  <a:gd name="T27" fmla="*/ 0 h 320"/>
                  <a:gd name="T28" fmla="*/ 0 w 627"/>
                  <a:gd name="T29" fmla="*/ 0 h 320"/>
                  <a:gd name="T30" fmla="*/ 0 w 627"/>
                  <a:gd name="T31" fmla="*/ 0 h 320"/>
                  <a:gd name="T32" fmla="*/ 0 w 627"/>
                  <a:gd name="T33" fmla="*/ 0 h 320"/>
                  <a:gd name="T34" fmla="*/ 0 w 627"/>
                  <a:gd name="T35" fmla="*/ 0 h 320"/>
                  <a:gd name="T36" fmla="*/ 0 w 627"/>
                  <a:gd name="T37" fmla="*/ 0 h 320"/>
                  <a:gd name="T38" fmla="*/ 0 w 627"/>
                  <a:gd name="T39" fmla="*/ 0 h 320"/>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Lst>
                <a:ahLst/>
                <a:cxnLst>
                  <a:cxn ang="T40">
                    <a:pos x="T0" y="T1"/>
                  </a:cxn>
                  <a:cxn ang="T41">
                    <a:pos x="T2" y="T3"/>
                  </a:cxn>
                  <a:cxn ang="T42">
                    <a:pos x="T4" y="T5"/>
                  </a:cxn>
                  <a:cxn ang="T43">
                    <a:pos x="T6" y="T7"/>
                  </a:cxn>
                  <a:cxn ang="T44">
                    <a:pos x="T8" y="T9"/>
                  </a:cxn>
                  <a:cxn ang="T45">
                    <a:pos x="T10" y="T11"/>
                  </a:cxn>
                  <a:cxn ang="T46">
                    <a:pos x="T12" y="T13"/>
                  </a:cxn>
                  <a:cxn ang="T47">
                    <a:pos x="T14" y="T15"/>
                  </a:cxn>
                  <a:cxn ang="T48">
                    <a:pos x="T16" y="T17"/>
                  </a:cxn>
                  <a:cxn ang="T49">
                    <a:pos x="T18" y="T19"/>
                  </a:cxn>
                  <a:cxn ang="T50">
                    <a:pos x="T20" y="T21"/>
                  </a:cxn>
                  <a:cxn ang="T51">
                    <a:pos x="T22" y="T23"/>
                  </a:cxn>
                  <a:cxn ang="T52">
                    <a:pos x="T24" y="T25"/>
                  </a:cxn>
                  <a:cxn ang="T53">
                    <a:pos x="T26" y="T27"/>
                  </a:cxn>
                  <a:cxn ang="T54">
                    <a:pos x="T28" y="T29"/>
                  </a:cxn>
                  <a:cxn ang="T55">
                    <a:pos x="T30" y="T31"/>
                  </a:cxn>
                  <a:cxn ang="T56">
                    <a:pos x="T32" y="T33"/>
                  </a:cxn>
                  <a:cxn ang="T57">
                    <a:pos x="T34" y="T35"/>
                  </a:cxn>
                  <a:cxn ang="T58">
                    <a:pos x="T36" y="T37"/>
                  </a:cxn>
                  <a:cxn ang="T59">
                    <a:pos x="T38" y="T39"/>
                  </a:cxn>
                </a:cxnLst>
                <a:rect l="0" t="0" r="r" b="b"/>
                <a:pathLst>
                  <a:path w="627" h="320">
                    <a:moveTo>
                      <a:pt x="255" y="12"/>
                    </a:moveTo>
                    <a:lnTo>
                      <a:pt x="249" y="93"/>
                    </a:lnTo>
                    <a:lnTo>
                      <a:pt x="413" y="171"/>
                    </a:lnTo>
                    <a:lnTo>
                      <a:pt x="551" y="204"/>
                    </a:lnTo>
                    <a:lnTo>
                      <a:pt x="627" y="237"/>
                    </a:lnTo>
                    <a:lnTo>
                      <a:pt x="623" y="282"/>
                    </a:lnTo>
                    <a:lnTo>
                      <a:pt x="524" y="309"/>
                    </a:lnTo>
                    <a:lnTo>
                      <a:pt x="375" y="320"/>
                    </a:lnTo>
                    <a:lnTo>
                      <a:pt x="249" y="298"/>
                    </a:lnTo>
                    <a:lnTo>
                      <a:pt x="173" y="276"/>
                    </a:lnTo>
                    <a:lnTo>
                      <a:pt x="168" y="300"/>
                    </a:lnTo>
                    <a:lnTo>
                      <a:pt x="68" y="298"/>
                    </a:lnTo>
                    <a:lnTo>
                      <a:pt x="7" y="287"/>
                    </a:lnTo>
                    <a:lnTo>
                      <a:pt x="7" y="243"/>
                    </a:lnTo>
                    <a:lnTo>
                      <a:pt x="0" y="218"/>
                    </a:lnTo>
                    <a:lnTo>
                      <a:pt x="0" y="156"/>
                    </a:lnTo>
                    <a:lnTo>
                      <a:pt x="19" y="122"/>
                    </a:lnTo>
                    <a:lnTo>
                      <a:pt x="50" y="84"/>
                    </a:lnTo>
                    <a:lnTo>
                      <a:pt x="57" y="0"/>
                    </a:lnTo>
                    <a:lnTo>
                      <a:pt x="255" y="12"/>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7" name="Freeform 95"/>
              <p:cNvSpPr>
                <a:spLocks/>
              </p:cNvSpPr>
              <p:nvPr/>
            </p:nvSpPr>
            <p:spPr bwMode="auto">
              <a:xfrm>
                <a:off x="2698" y="2470"/>
                <a:ext cx="27" cy="14"/>
              </a:xfrm>
              <a:custGeom>
                <a:avLst/>
                <a:gdLst>
                  <a:gd name="T0" fmla="*/ 0 w 187"/>
                  <a:gd name="T1" fmla="*/ 0 h 99"/>
                  <a:gd name="T2" fmla="*/ 0 w 187"/>
                  <a:gd name="T3" fmla="*/ 0 h 99"/>
                  <a:gd name="T4" fmla="*/ 0 w 187"/>
                  <a:gd name="T5" fmla="*/ 0 h 99"/>
                  <a:gd name="T6" fmla="*/ 0 w 187"/>
                  <a:gd name="T7" fmla="*/ 0 h 99"/>
                  <a:gd name="T8" fmla="*/ 0 w 187"/>
                  <a:gd name="T9" fmla="*/ 0 h 99"/>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87" h="99">
                    <a:moveTo>
                      <a:pt x="47" y="0"/>
                    </a:moveTo>
                    <a:lnTo>
                      <a:pt x="0" y="54"/>
                    </a:lnTo>
                    <a:lnTo>
                      <a:pt x="167" y="99"/>
                    </a:lnTo>
                    <a:lnTo>
                      <a:pt x="187" y="63"/>
                    </a:lnTo>
                    <a:lnTo>
                      <a:pt x="47"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8" name="Freeform 96"/>
              <p:cNvSpPr>
                <a:spLocks/>
              </p:cNvSpPr>
              <p:nvPr/>
            </p:nvSpPr>
            <p:spPr bwMode="auto">
              <a:xfrm>
                <a:off x="2725" y="2480"/>
                <a:ext cx="30" cy="8"/>
              </a:xfrm>
              <a:custGeom>
                <a:avLst/>
                <a:gdLst>
                  <a:gd name="T0" fmla="*/ 0 w 212"/>
                  <a:gd name="T1" fmla="*/ 0 h 59"/>
                  <a:gd name="T2" fmla="*/ 0 w 212"/>
                  <a:gd name="T3" fmla="*/ 0 h 59"/>
                  <a:gd name="T4" fmla="*/ 0 w 212"/>
                  <a:gd name="T5" fmla="*/ 0 h 59"/>
                  <a:gd name="T6" fmla="*/ 0 w 212"/>
                  <a:gd name="T7" fmla="*/ 0 h 59"/>
                  <a:gd name="T8" fmla="*/ 0 w 212"/>
                  <a:gd name="T9" fmla="*/ 0 h 59"/>
                  <a:gd name="T10" fmla="*/ 0 w 212"/>
                  <a:gd name="T11" fmla="*/ 0 h 59"/>
                  <a:gd name="T12" fmla="*/ 0 w 212"/>
                  <a:gd name="T13" fmla="*/ 0 h 5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12" h="59">
                    <a:moveTo>
                      <a:pt x="24" y="0"/>
                    </a:moveTo>
                    <a:lnTo>
                      <a:pt x="0" y="27"/>
                    </a:lnTo>
                    <a:lnTo>
                      <a:pt x="104" y="53"/>
                    </a:lnTo>
                    <a:lnTo>
                      <a:pt x="153" y="59"/>
                    </a:lnTo>
                    <a:lnTo>
                      <a:pt x="212" y="55"/>
                    </a:lnTo>
                    <a:lnTo>
                      <a:pt x="150" y="25"/>
                    </a:lnTo>
                    <a:lnTo>
                      <a:pt x="24"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9" name="Freeform 97"/>
              <p:cNvSpPr>
                <a:spLocks/>
              </p:cNvSpPr>
              <p:nvPr/>
            </p:nvSpPr>
            <p:spPr bwMode="auto">
              <a:xfrm>
                <a:off x="2669" y="2470"/>
                <a:ext cx="87" cy="27"/>
              </a:xfrm>
              <a:custGeom>
                <a:avLst/>
                <a:gdLst>
                  <a:gd name="T0" fmla="*/ 0 w 605"/>
                  <a:gd name="T1" fmla="*/ 0 h 189"/>
                  <a:gd name="T2" fmla="*/ 0 w 605"/>
                  <a:gd name="T3" fmla="*/ 0 h 189"/>
                  <a:gd name="T4" fmla="*/ 0 w 605"/>
                  <a:gd name="T5" fmla="*/ 0 h 189"/>
                  <a:gd name="T6" fmla="*/ 0 w 605"/>
                  <a:gd name="T7" fmla="*/ 0 h 189"/>
                  <a:gd name="T8" fmla="*/ 0 w 605"/>
                  <a:gd name="T9" fmla="*/ 0 h 189"/>
                  <a:gd name="T10" fmla="*/ 0 w 605"/>
                  <a:gd name="T11" fmla="*/ 0 h 189"/>
                  <a:gd name="T12" fmla="*/ 0 w 605"/>
                  <a:gd name="T13" fmla="*/ 0 h 189"/>
                  <a:gd name="T14" fmla="*/ 0 w 605"/>
                  <a:gd name="T15" fmla="*/ 0 h 189"/>
                  <a:gd name="T16" fmla="*/ 0 w 605"/>
                  <a:gd name="T17" fmla="*/ 0 h 189"/>
                  <a:gd name="T18" fmla="*/ 0 w 605"/>
                  <a:gd name="T19" fmla="*/ 0 h 189"/>
                  <a:gd name="T20" fmla="*/ 0 w 605"/>
                  <a:gd name="T21" fmla="*/ 0 h 189"/>
                  <a:gd name="T22" fmla="*/ 0 w 605"/>
                  <a:gd name="T23" fmla="*/ 0 h 189"/>
                  <a:gd name="T24" fmla="*/ 0 w 605"/>
                  <a:gd name="T25" fmla="*/ 0 h 189"/>
                  <a:gd name="T26" fmla="*/ 0 w 605"/>
                  <a:gd name="T27" fmla="*/ 0 h 189"/>
                  <a:gd name="T28" fmla="*/ 0 w 605"/>
                  <a:gd name="T29" fmla="*/ 0 h 189"/>
                  <a:gd name="T30" fmla="*/ 0 w 605"/>
                  <a:gd name="T31" fmla="*/ 0 h 189"/>
                  <a:gd name="T32" fmla="*/ 0 w 605"/>
                  <a:gd name="T33" fmla="*/ 0 h 189"/>
                  <a:gd name="T34" fmla="*/ 0 w 605"/>
                  <a:gd name="T35" fmla="*/ 0 h 189"/>
                  <a:gd name="T36" fmla="*/ 0 w 605"/>
                  <a:gd name="T37" fmla="*/ 0 h 189"/>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605" h="189">
                    <a:moveTo>
                      <a:pt x="605" y="160"/>
                    </a:moveTo>
                    <a:lnTo>
                      <a:pt x="605" y="132"/>
                    </a:lnTo>
                    <a:lnTo>
                      <a:pt x="526" y="140"/>
                    </a:lnTo>
                    <a:lnTo>
                      <a:pt x="398" y="122"/>
                    </a:lnTo>
                    <a:lnTo>
                      <a:pt x="326" y="105"/>
                    </a:lnTo>
                    <a:lnTo>
                      <a:pt x="187" y="59"/>
                    </a:lnTo>
                    <a:lnTo>
                      <a:pt x="125" y="54"/>
                    </a:lnTo>
                    <a:lnTo>
                      <a:pt x="66" y="32"/>
                    </a:lnTo>
                    <a:lnTo>
                      <a:pt x="35" y="0"/>
                    </a:lnTo>
                    <a:lnTo>
                      <a:pt x="0" y="40"/>
                    </a:lnTo>
                    <a:lnTo>
                      <a:pt x="0" y="120"/>
                    </a:lnTo>
                    <a:lnTo>
                      <a:pt x="45" y="132"/>
                    </a:lnTo>
                    <a:lnTo>
                      <a:pt x="153" y="145"/>
                    </a:lnTo>
                    <a:lnTo>
                      <a:pt x="197" y="152"/>
                    </a:lnTo>
                    <a:lnTo>
                      <a:pt x="268" y="177"/>
                    </a:lnTo>
                    <a:lnTo>
                      <a:pt x="350" y="189"/>
                    </a:lnTo>
                    <a:lnTo>
                      <a:pt x="408" y="189"/>
                    </a:lnTo>
                    <a:lnTo>
                      <a:pt x="500" y="189"/>
                    </a:lnTo>
                    <a:lnTo>
                      <a:pt x="605" y="16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0" name="Freeform 98"/>
              <p:cNvSpPr>
                <a:spLocks/>
              </p:cNvSpPr>
              <p:nvPr/>
            </p:nvSpPr>
            <p:spPr bwMode="auto">
              <a:xfrm>
                <a:off x="2675" y="2454"/>
                <a:ext cx="29" cy="22"/>
              </a:xfrm>
              <a:custGeom>
                <a:avLst/>
                <a:gdLst>
                  <a:gd name="T0" fmla="*/ 0 w 200"/>
                  <a:gd name="T1" fmla="*/ 0 h 153"/>
                  <a:gd name="T2" fmla="*/ 0 w 200"/>
                  <a:gd name="T3" fmla="*/ 0 h 153"/>
                  <a:gd name="T4" fmla="*/ 0 w 200"/>
                  <a:gd name="T5" fmla="*/ 0 h 153"/>
                  <a:gd name="T6" fmla="*/ 0 w 200"/>
                  <a:gd name="T7" fmla="*/ 0 h 153"/>
                  <a:gd name="T8" fmla="*/ 0 w 200"/>
                  <a:gd name="T9" fmla="*/ 0 h 153"/>
                  <a:gd name="T10" fmla="*/ 0 w 200"/>
                  <a:gd name="T11" fmla="*/ 0 h 153"/>
                  <a:gd name="T12" fmla="*/ 0 w 200"/>
                  <a:gd name="T13" fmla="*/ 0 h 153"/>
                  <a:gd name="T14" fmla="*/ 0 w 200"/>
                  <a:gd name="T15" fmla="*/ 0 h 153"/>
                  <a:gd name="T16" fmla="*/ 0 w 200"/>
                  <a:gd name="T17" fmla="*/ 0 h 153"/>
                  <a:gd name="T18" fmla="*/ 0 w 200"/>
                  <a:gd name="T19" fmla="*/ 0 h 15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00" h="153">
                    <a:moveTo>
                      <a:pt x="193" y="11"/>
                    </a:moveTo>
                    <a:lnTo>
                      <a:pt x="187" y="85"/>
                    </a:lnTo>
                    <a:lnTo>
                      <a:pt x="200" y="103"/>
                    </a:lnTo>
                    <a:lnTo>
                      <a:pt x="155" y="153"/>
                    </a:lnTo>
                    <a:lnTo>
                      <a:pt x="94" y="153"/>
                    </a:lnTo>
                    <a:lnTo>
                      <a:pt x="25" y="130"/>
                    </a:lnTo>
                    <a:lnTo>
                      <a:pt x="0" y="101"/>
                    </a:lnTo>
                    <a:lnTo>
                      <a:pt x="14" y="80"/>
                    </a:lnTo>
                    <a:lnTo>
                      <a:pt x="18" y="0"/>
                    </a:lnTo>
                    <a:lnTo>
                      <a:pt x="193" y="11"/>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3" name="Rectangle 99"/>
            <p:cNvSpPr>
              <a:spLocks noChangeArrowheads="1"/>
            </p:cNvSpPr>
            <p:nvPr/>
          </p:nvSpPr>
          <p:spPr bwMode="auto">
            <a:xfrm flipH="1">
              <a:off x="3868" y="2951"/>
              <a:ext cx="75" cy="233"/>
            </a:xfrm>
            <a:prstGeom prst="rect">
              <a:avLst/>
            </a:prstGeom>
            <a:solidFill>
              <a:srgbClr val="606060"/>
            </a:solidFill>
            <a:ln w="1588">
              <a:solidFill>
                <a:srgbClr val="000000"/>
              </a:solidFill>
              <a:miter lim="800000"/>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pSp>
          <p:nvGrpSpPr>
            <p:cNvPr id="14" name="Group 100"/>
            <p:cNvGrpSpPr>
              <a:grpSpLocks/>
            </p:cNvGrpSpPr>
            <p:nvPr/>
          </p:nvGrpSpPr>
          <p:grpSpPr bwMode="auto">
            <a:xfrm flipH="1">
              <a:off x="3710" y="2866"/>
              <a:ext cx="353" cy="121"/>
              <a:chOff x="2524" y="2335"/>
              <a:chExt cx="141" cy="50"/>
            </a:xfrm>
          </p:grpSpPr>
          <p:sp>
            <p:nvSpPr>
              <p:cNvPr id="64" name="Freeform 101"/>
              <p:cNvSpPr>
                <a:spLocks/>
              </p:cNvSpPr>
              <p:nvPr/>
            </p:nvSpPr>
            <p:spPr bwMode="auto">
              <a:xfrm>
                <a:off x="2524" y="2335"/>
                <a:ext cx="141" cy="50"/>
              </a:xfrm>
              <a:custGeom>
                <a:avLst/>
                <a:gdLst>
                  <a:gd name="T0" fmla="*/ 0 w 987"/>
                  <a:gd name="T1" fmla="*/ 0 h 347"/>
                  <a:gd name="T2" fmla="*/ 0 w 987"/>
                  <a:gd name="T3" fmla="*/ 0 h 347"/>
                  <a:gd name="T4" fmla="*/ 0 w 987"/>
                  <a:gd name="T5" fmla="*/ 0 h 347"/>
                  <a:gd name="T6" fmla="*/ 0 w 987"/>
                  <a:gd name="T7" fmla="*/ 0 h 347"/>
                  <a:gd name="T8" fmla="*/ 0 w 987"/>
                  <a:gd name="T9" fmla="*/ 0 h 347"/>
                  <a:gd name="T10" fmla="*/ 0 w 987"/>
                  <a:gd name="T11" fmla="*/ 0 h 347"/>
                  <a:gd name="T12" fmla="*/ 0 w 987"/>
                  <a:gd name="T13" fmla="*/ 0 h 347"/>
                  <a:gd name="T14" fmla="*/ 0 w 987"/>
                  <a:gd name="T15" fmla="*/ 0 h 347"/>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987" h="347">
                    <a:moveTo>
                      <a:pt x="987" y="181"/>
                    </a:moveTo>
                    <a:lnTo>
                      <a:pt x="981" y="289"/>
                    </a:lnTo>
                    <a:lnTo>
                      <a:pt x="656" y="347"/>
                    </a:lnTo>
                    <a:lnTo>
                      <a:pt x="298" y="347"/>
                    </a:lnTo>
                    <a:lnTo>
                      <a:pt x="17" y="259"/>
                    </a:lnTo>
                    <a:lnTo>
                      <a:pt x="0" y="9"/>
                    </a:lnTo>
                    <a:lnTo>
                      <a:pt x="557" y="0"/>
                    </a:lnTo>
                    <a:lnTo>
                      <a:pt x="987" y="18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5" name="Freeform 102"/>
              <p:cNvSpPr>
                <a:spLocks/>
              </p:cNvSpPr>
              <p:nvPr/>
            </p:nvSpPr>
            <p:spPr bwMode="auto">
              <a:xfrm>
                <a:off x="2527" y="2354"/>
                <a:ext cx="135" cy="28"/>
              </a:xfrm>
              <a:custGeom>
                <a:avLst/>
                <a:gdLst>
                  <a:gd name="T0" fmla="*/ 0 w 940"/>
                  <a:gd name="T1" fmla="*/ 0 h 199"/>
                  <a:gd name="T2" fmla="*/ 0 w 940"/>
                  <a:gd name="T3" fmla="*/ 0 h 199"/>
                  <a:gd name="T4" fmla="*/ 0 w 940"/>
                  <a:gd name="T5" fmla="*/ 0 h 199"/>
                  <a:gd name="T6" fmla="*/ 0 w 940"/>
                  <a:gd name="T7" fmla="*/ 0 h 199"/>
                  <a:gd name="T8" fmla="*/ 0 w 940"/>
                  <a:gd name="T9" fmla="*/ 0 h 199"/>
                  <a:gd name="T10" fmla="*/ 0 w 940"/>
                  <a:gd name="T11" fmla="*/ 0 h 199"/>
                  <a:gd name="T12" fmla="*/ 0 w 940"/>
                  <a:gd name="T13" fmla="*/ 0 h 199"/>
                  <a:gd name="T14" fmla="*/ 0 w 940"/>
                  <a:gd name="T15" fmla="*/ 0 h 199"/>
                  <a:gd name="T16" fmla="*/ 0 w 940"/>
                  <a:gd name="T17" fmla="*/ 0 h 19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940" h="199">
                    <a:moveTo>
                      <a:pt x="940" y="68"/>
                    </a:moveTo>
                    <a:lnTo>
                      <a:pt x="935" y="146"/>
                    </a:lnTo>
                    <a:lnTo>
                      <a:pt x="643" y="199"/>
                    </a:lnTo>
                    <a:lnTo>
                      <a:pt x="263" y="199"/>
                    </a:lnTo>
                    <a:lnTo>
                      <a:pt x="0" y="107"/>
                    </a:lnTo>
                    <a:lnTo>
                      <a:pt x="0" y="0"/>
                    </a:lnTo>
                    <a:lnTo>
                      <a:pt x="252" y="107"/>
                    </a:lnTo>
                    <a:lnTo>
                      <a:pt x="638" y="112"/>
                    </a:lnTo>
                    <a:lnTo>
                      <a:pt x="940"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 name="Freeform 103"/>
            <p:cNvSpPr>
              <a:spLocks/>
            </p:cNvSpPr>
            <p:nvPr/>
          </p:nvSpPr>
          <p:spPr bwMode="auto">
            <a:xfrm flipH="1">
              <a:off x="3592" y="2740"/>
              <a:ext cx="481" cy="437"/>
            </a:xfrm>
            <a:custGeom>
              <a:avLst/>
              <a:gdLst>
                <a:gd name="T0" fmla="*/ 3 w 1344"/>
                <a:gd name="T1" fmla="*/ 1 h 1258"/>
                <a:gd name="T2" fmla="*/ 3 w 1344"/>
                <a:gd name="T3" fmla="*/ 1 h 1258"/>
                <a:gd name="T4" fmla="*/ 3 w 1344"/>
                <a:gd name="T5" fmla="*/ 1 h 1258"/>
                <a:gd name="T6" fmla="*/ 3 w 1344"/>
                <a:gd name="T7" fmla="*/ 1 h 1258"/>
                <a:gd name="T8" fmla="*/ 3 w 1344"/>
                <a:gd name="T9" fmla="*/ 0 h 1258"/>
                <a:gd name="T10" fmla="*/ 3 w 1344"/>
                <a:gd name="T11" fmla="*/ 0 h 1258"/>
                <a:gd name="T12" fmla="*/ 2 w 1344"/>
                <a:gd name="T13" fmla="*/ 0 h 1258"/>
                <a:gd name="T14" fmla="*/ 2 w 1344"/>
                <a:gd name="T15" fmla="*/ 0 h 1258"/>
                <a:gd name="T16" fmla="*/ 2 w 1344"/>
                <a:gd name="T17" fmla="*/ 0 h 1258"/>
                <a:gd name="T18" fmla="*/ 1 w 1344"/>
                <a:gd name="T19" fmla="*/ 0 h 1258"/>
                <a:gd name="T20" fmla="*/ 1 w 1344"/>
                <a:gd name="T21" fmla="*/ 0 h 1258"/>
                <a:gd name="T22" fmla="*/ 1 w 1344"/>
                <a:gd name="T23" fmla="*/ 0 h 1258"/>
                <a:gd name="T24" fmla="*/ 1 w 1344"/>
                <a:gd name="T25" fmla="*/ 0 h 1258"/>
                <a:gd name="T26" fmla="*/ 1 w 1344"/>
                <a:gd name="T27" fmla="*/ 0 h 1258"/>
                <a:gd name="T28" fmla="*/ 1 w 1344"/>
                <a:gd name="T29" fmla="*/ 0 h 1258"/>
                <a:gd name="T30" fmla="*/ 1 w 1344"/>
                <a:gd name="T31" fmla="*/ 0 h 1258"/>
                <a:gd name="T32" fmla="*/ 1 w 1344"/>
                <a:gd name="T33" fmla="*/ 0 h 1258"/>
                <a:gd name="T34" fmla="*/ 1 w 1344"/>
                <a:gd name="T35" fmla="*/ 0 h 1258"/>
                <a:gd name="T36" fmla="*/ 1 w 1344"/>
                <a:gd name="T37" fmla="*/ 0 h 1258"/>
                <a:gd name="T38" fmla="*/ 1 w 1344"/>
                <a:gd name="T39" fmla="*/ 0 h 1258"/>
                <a:gd name="T40" fmla="*/ 0 w 1344"/>
                <a:gd name="T41" fmla="*/ 0 h 1258"/>
                <a:gd name="T42" fmla="*/ 0 w 1344"/>
                <a:gd name="T43" fmla="*/ 0 h 1258"/>
                <a:gd name="T44" fmla="*/ 0 w 1344"/>
                <a:gd name="T45" fmla="*/ 0 h 1258"/>
                <a:gd name="T46" fmla="*/ 0 w 1344"/>
                <a:gd name="T47" fmla="*/ 0 h 1258"/>
                <a:gd name="T48" fmla="*/ 0 w 1344"/>
                <a:gd name="T49" fmla="*/ 0 h 1258"/>
                <a:gd name="T50" fmla="*/ 0 w 1344"/>
                <a:gd name="T51" fmla="*/ 0 h 1258"/>
                <a:gd name="T52" fmla="*/ 0 w 1344"/>
                <a:gd name="T53" fmla="*/ 1 h 1258"/>
                <a:gd name="T54" fmla="*/ 0 w 1344"/>
                <a:gd name="T55" fmla="*/ 1 h 1258"/>
                <a:gd name="T56" fmla="*/ 0 w 1344"/>
                <a:gd name="T57" fmla="*/ 1 h 1258"/>
                <a:gd name="T58" fmla="*/ 0 w 1344"/>
                <a:gd name="T59" fmla="*/ 1 h 1258"/>
                <a:gd name="T60" fmla="*/ 0 w 1344"/>
                <a:gd name="T61" fmla="*/ 1 h 1258"/>
                <a:gd name="T62" fmla="*/ 0 w 1344"/>
                <a:gd name="T63" fmla="*/ 1 h 1258"/>
                <a:gd name="T64" fmla="*/ 0 w 1344"/>
                <a:gd name="T65" fmla="*/ 1 h 1258"/>
                <a:gd name="T66" fmla="*/ 0 w 1344"/>
                <a:gd name="T67" fmla="*/ 1 h 1258"/>
                <a:gd name="T68" fmla="*/ 0 w 1344"/>
                <a:gd name="T69" fmla="*/ 1 h 1258"/>
                <a:gd name="T70" fmla="*/ 1 w 1344"/>
                <a:gd name="T71" fmla="*/ 1 h 1258"/>
                <a:gd name="T72" fmla="*/ 1 w 1344"/>
                <a:gd name="T73" fmla="*/ 1 h 1258"/>
                <a:gd name="T74" fmla="*/ 1 w 1344"/>
                <a:gd name="T75" fmla="*/ 1 h 1258"/>
                <a:gd name="T76" fmla="*/ 1 w 1344"/>
                <a:gd name="T77" fmla="*/ 1 h 1258"/>
                <a:gd name="T78" fmla="*/ 1 w 1344"/>
                <a:gd name="T79" fmla="*/ 1 h 1258"/>
                <a:gd name="T80" fmla="*/ 1 w 1344"/>
                <a:gd name="T81" fmla="*/ 1 h 1258"/>
                <a:gd name="T82" fmla="*/ 1 w 1344"/>
                <a:gd name="T83" fmla="*/ 1 h 1258"/>
                <a:gd name="T84" fmla="*/ 2 w 1344"/>
                <a:gd name="T85" fmla="*/ 1 h 1258"/>
                <a:gd name="T86" fmla="*/ 2 w 1344"/>
                <a:gd name="T87" fmla="*/ 1 h 1258"/>
                <a:gd name="T88" fmla="*/ 2 w 1344"/>
                <a:gd name="T89" fmla="*/ 1 h 1258"/>
                <a:gd name="T90" fmla="*/ 2 w 1344"/>
                <a:gd name="T91" fmla="*/ 1 h 1258"/>
                <a:gd name="T92" fmla="*/ 2 w 1344"/>
                <a:gd name="T93" fmla="*/ 2 h 1258"/>
                <a:gd name="T94" fmla="*/ 2 w 1344"/>
                <a:gd name="T95" fmla="*/ 2 h 1258"/>
                <a:gd name="T96" fmla="*/ 2 w 1344"/>
                <a:gd name="T97" fmla="*/ 2 h 1258"/>
                <a:gd name="T98" fmla="*/ 2 w 1344"/>
                <a:gd name="T99" fmla="*/ 2 h 1258"/>
                <a:gd name="T100" fmla="*/ 3 w 1344"/>
                <a:gd name="T101" fmla="*/ 2 h 1258"/>
                <a:gd name="T102" fmla="*/ 3 w 1344"/>
                <a:gd name="T103" fmla="*/ 2 h 1258"/>
                <a:gd name="T104" fmla="*/ 3 w 1344"/>
                <a:gd name="T105" fmla="*/ 2 h 1258"/>
                <a:gd name="T106" fmla="*/ 3 w 1344"/>
                <a:gd name="T107" fmla="*/ 2 h 1258"/>
                <a:gd name="T108" fmla="*/ 3 w 1344"/>
                <a:gd name="T109" fmla="*/ 2 h 1258"/>
                <a:gd name="T110" fmla="*/ 3 w 1344"/>
                <a:gd name="T111" fmla="*/ 1 h 1258"/>
                <a:gd name="T112" fmla="*/ 3 w 1344"/>
                <a:gd name="T113" fmla="*/ 1 h 1258"/>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Lst>
              <a:ahLst/>
              <a:cxnLst>
                <a:cxn ang="T114">
                  <a:pos x="T0" y="T1"/>
                </a:cxn>
                <a:cxn ang="T115">
                  <a:pos x="T2" y="T3"/>
                </a:cxn>
                <a:cxn ang="T116">
                  <a:pos x="T4" y="T5"/>
                </a:cxn>
                <a:cxn ang="T117">
                  <a:pos x="T6" y="T7"/>
                </a:cxn>
                <a:cxn ang="T118">
                  <a:pos x="T8" y="T9"/>
                </a:cxn>
                <a:cxn ang="T119">
                  <a:pos x="T10" y="T11"/>
                </a:cxn>
                <a:cxn ang="T120">
                  <a:pos x="T12" y="T13"/>
                </a:cxn>
                <a:cxn ang="T121">
                  <a:pos x="T14" y="T15"/>
                </a:cxn>
                <a:cxn ang="T122">
                  <a:pos x="T16" y="T17"/>
                </a:cxn>
                <a:cxn ang="T123">
                  <a:pos x="T18" y="T19"/>
                </a:cxn>
                <a:cxn ang="T124">
                  <a:pos x="T20" y="T21"/>
                </a:cxn>
                <a:cxn ang="T125">
                  <a:pos x="T22" y="T23"/>
                </a:cxn>
                <a:cxn ang="T126">
                  <a:pos x="T24" y="T25"/>
                </a:cxn>
                <a:cxn ang="T127">
                  <a:pos x="T26" y="T27"/>
                </a:cxn>
                <a:cxn ang="T128">
                  <a:pos x="T28" y="T29"/>
                </a:cxn>
                <a:cxn ang="T129">
                  <a:pos x="T30" y="T31"/>
                </a:cxn>
                <a:cxn ang="T130">
                  <a:pos x="T32" y="T33"/>
                </a:cxn>
                <a:cxn ang="T131">
                  <a:pos x="T34" y="T35"/>
                </a:cxn>
                <a:cxn ang="T132">
                  <a:pos x="T36" y="T37"/>
                </a:cxn>
                <a:cxn ang="T133">
                  <a:pos x="T38" y="T39"/>
                </a:cxn>
                <a:cxn ang="T134">
                  <a:pos x="T40" y="T41"/>
                </a:cxn>
                <a:cxn ang="T135">
                  <a:pos x="T42" y="T43"/>
                </a:cxn>
                <a:cxn ang="T136">
                  <a:pos x="T44" y="T45"/>
                </a:cxn>
                <a:cxn ang="T137">
                  <a:pos x="T46" y="T47"/>
                </a:cxn>
                <a:cxn ang="T138">
                  <a:pos x="T48" y="T49"/>
                </a:cxn>
                <a:cxn ang="T139">
                  <a:pos x="T50" y="T51"/>
                </a:cxn>
                <a:cxn ang="T140">
                  <a:pos x="T52" y="T53"/>
                </a:cxn>
                <a:cxn ang="T141">
                  <a:pos x="T54" y="T55"/>
                </a:cxn>
                <a:cxn ang="T142">
                  <a:pos x="T56" y="T57"/>
                </a:cxn>
                <a:cxn ang="T143">
                  <a:pos x="T58" y="T59"/>
                </a:cxn>
                <a:cxn ang="T144">
                  <a:pos x="T60" y="T61"/>
                </a:cxn>
                <a:cxn ang="T145">
                  <a:pos x="T62" y="T63"/>
                </a:cxn>
                <a:cxn ang="T146">
                  <a:pos x="T64" y="T65"/>
                </a:cxn>
                <a:cxn ang="T147">
                  <a:pos x="T66" y="T67"/>
                </a:cxn>
                <a:cxn ang="T148">
                  <a:pos x="T68" y="T69"/>
                </a:cxn>
                <a:cxn ang="T149">
                  <a:pos x="T70" y="T71"/>
                </a:cxn>
                <a:cxn ang="T150">
                  <a:pos x="T72" y="T73"/>
                </a:cxn>
                <a:cxn ang="T151">
                  <a:pos x="T74" y="T75"/>
                </a:cxn>
                <a:cxn ang="T152">
                  <a:pos x="T76" y="T77"/>
                </a:cxn>
                <a:cxn ang="T153">
                  <a:pos x="T78" y="T79"/>
                </a:cxn>
                <a:cxn ang="T154">
                  <a:pos x="T80" y="T81"/>
                </a:cxn>
                <a:cxn ang="T155">
                  <a:pos x="T82" y="T83"/>
                </a:cxn>
                <a:cxn ang="T156">
                  <a:pos x="T84" y="T85"/>
                </a:cxn>
                <a:cxn ang="T157">
                  <a:pos x="T86" y="T87"/>
                </a:cxn>
                <a:cxn ang="T158">
                  <a:pos x="T88" y="T89"/>
                </a:cxn>
                <a:cxn ang="T159">
                  <a:pos x="T90" y="T91"/>
                </a:cxn>
                <a:cxn ang="T160">
                  <a:pos x="T92" y="T93"/>
                </a:cxn>
                <a:cxn ang="T161">
                  <a:pos x="T94" y="T95"/>
                </a:cxn>
                <a:cxn ang="T162">
                  <a:pos x="T96" y="T97"/>
                </a:cxn>
                <a:cxn ang="T163">
                  <a:pos x="T98" y="T99"/>
                </a:cxn>
                <a:cxn ang="T164">
                  <a:pos x="T100" y="T101"/>
                </a:cxn>
                <a:cxn ang="T165">
                  <a:pos x="T102" y="T103"/>
                </a:cxn>
                <a:cxn ang="T166">
                  <a:pos x="T104" y="T105"/>
                </a:cxn>
                <a:cxn ang="T167">
                  <a:pos x="T106" y="T107"/>
                </a:cxn>
                <a:cxn ang="T168">
                  <a:pos x="T108" y="T109"/>
                </a:cxn>
                <a:cxn ang="T169">
                  <a:pos x="T110" y="T111"/>
                </a:cxn>
                <a:cxn ang="T170">
                  <a:pos x="T112" y="T113"/>
                </a:cxn>
              </a:cxnLst>
              <a:rect l="0" t="0" r="r" b="b"/>
              <a:pathLst>
                <a:path w="1344" h="1258">
                  <a:moveTo>
                    <a:pt x="1338" y="708"/>
                  </a:moveTo>
                  <a:lnTo>
                    <a:pt x="1331" y="582"/>
                  </a:lnTo>
                  <a:lnTo>
                    <a:pt x="1333" y="448"/>
                  </a:lnTo>
                  <a:lnTo>
                    <a:pt x="1328" y="346"/>
                  </a:lnTo>
                  <a:lnTo>
                    <a:pt x="1270" y="284"/>
                  </a:lnTo>
                  <a:lnTo>
                    <a:pt x="1200" y="249"/>
                  </a:lnTo>
                  <a:lnTo>
                    <a:pt x="1040" y="191"/>
                  </a:lnTo>
                  <a:lnTo>
                    <a:pt x="805" y="134"/>
                  </a:lnTo>
                  <a:lnTo>
                    <a:pt x="760" y="130"/>
                  </a:lnTo>
                  <a:lnTo>
                    <a:pt x="729" y="134"/>
                  </a:lnTo>
                  <a:lnTo>
                    <a:pt x="722" y="121"/>
                  </a:lnTo>
                  <a:lnTo>
                    <a:pt x="708" y="109"/>
                  </a:lnTo>
                  <a:lnTo>
                    <a:pt x="693" y="112"/>
                  </a:lnTo>
                  <a:lnTo>
                    <a:pt x="673" y="113"/>
                  </a:lnTo>
                  <a:lnTo>
                    <a:pt x="665" y="90"/>
                  </a:lnTo>
                  <a:lnTo>
                    <a:pt x="647" y="76"/>
                  </a:lnTo>
                  <a:lnTo>
                    <a:pt x="628" y="73"/>
                  </a:lnTo>
                  <a:lnTo>
                    <a:pt x="605" y="73"/>
                  </a:lnTo>
                  <a:lnTo>
                    <a:pt x="608" y="53"/>
                  </a:lnTo>
                  <a:lnTo>
                    <a:pt x="580" y="0"/>
                  </a:lnTo>
                  <a:lnTo>
                    <a:pt x="32" y="14"/>
                  </a:lnTo>
                  <a:lnTo>
                    <a:pt x="35" y="71"/>
                  </a:lnTo>
                  <a:lnTo>
                    <a:pt x="24" y="121"/>
                  </a:lnTo>
                  <a:lnTo>
                    <a:pt x="16" y="157"/>
                  </a:lnTo>
                  <a:lnTo>
                    <a:pt x="7" y="202"/>
                  </a:lnTo>
                  <a:lnTo>
                    <a:pt x="0" y="275"/>
                  </a:lnTo>
                  <a:lnTo>
                    <a:pt x="8" y="318"/>
                  </a:lnTo>
                  <a:lnTo>
                    <a:pt x="24" y="358"/>
                  </a:lnTo>
                  <a:lnTo>
                    <a:pt x="44" y="393"/>
                  </a:lnTo>
                  <a:lnTo>
                    <a:pt x="69" y="405"/>
                  </a:lnTo>
                  <a:lnTo>
                    <a:pt x="109" y="416"/>
                  </a:lnTo>
                  <a:lnTo>
                    <a:pt x="161" y="434"/>
                  </a:lnTo>
                  <a:lnTo>
                    <a:pt x="185" y="461"/>
                  </a:lnTo>
                  <a:lnTo>
                    <a:pt x="214" y="486"/>
                  </a:lnTo>
                  <a:lnTo>
                    <a:pt x="257" y="506"/>
                  </a:lnTo>
                  <a:lnTo>
                    <a:pt x="310" y="523"/>
                  </a:lnTo>
                  <a:lnTo>
                    <a:pt x="393" y="533"/>
                  </a:lnTo>
                  <a:lnTo>
                    <a:pt x="464" y="533"/>
                  </a:lnTo>
                  <a:lnTo>
                    <a:pt x="518" y="527"/>
                  </a:lnTo>
                  <a:lnTo>
                    <a:pt x="568" y="523"/>
                  </a:lnTo>
                  <a:lnTo>
                    <a:pt x="605" y="542"/>
                  </a:lnTo>
                  <a:lnTo>
                    <a:pt x="676" y="538"/>
                  </a:lnTo>
                  <a:lnTo>
                    <a:pt x="962" y="579"/>
                  </a:lnTo>
                  <a:lnTo>
                    <a:pt x="1039" y="588"/>
                  </a:lnTo>
                  <a:lnTo>
                    <a:pt x="1011" y="758"/>
                  </a:lnTo>
                  <a:lnTo>
                    <a:pt x="1008" y="845"/>
                  </a:lnTo>
                  <a:lnTo>
                    <a:pt x="1025" y="957"/>
                  </a:lnTo>
                  <a:lnTo>
                    <a:pt x="1042" y="1088"/>
                  </a:lnTo>
                  <a:lnTo>
                    <a:pt x="1042" y="1223"/>
                  </a:lnTo>
                  <a:lnTo>
                    <a:pt x="1109" y="1243"/>
                  </a:lnTo>
                  <a:lnTo>
                    <a:pt x="1194" y="1252"/>
                  </a:lnTo>
                  <a:lnTo>
                    <a:pt x="1266" y="1258"/>
                  </a:lnTo>
                  <a:lnTo>
                    <a:pt x="1344" y="1249"/>
                  </a:lnTo>
                  <a:lnTo>
                    <a:pt x="1338" y="1124"/>
                  </a:lnTo>
                  <a:lnTo>
                    <a:pt x="1338" y="919"/>
                  </a:lnTo>
                  <a:lnTo>
                    <a:pt x="1338" y="740"/>
                  </a:lnTo>
                  <a:lnTo>
                    <a:pt x="1338" y="708"/>
                  </a:lnTo>
                  <a:close/>
                </a:path>
              </a:pathLst>
            </a:custGeom>
            <a:solidFill>
              <a:srgbClr val="60606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Freeform 104"/>
            <p:cNvSpPr>
              <a:spLocks/>
            </p:cNvSpPr>
            <p:nvPr/>
          </p:nvSpPr>
          <p:spPr bwMode="auto">
            <a:xfrm flipH="1">
              <a:off x="3597" y="2759"/>
              <a:ext cx="471" cy="410"/>
            </a:xfrm>
            <a:custGeom>
              <a:avLst/>
              <a:gdLst>
                <a:gd name="T0" fmla="*/ 0 w 1314"/>
                <a:gd name="T1" fmla="*/ 0 h 1188"/>
                <a:gd name="T2" fmla="*/ 0 w 1314"/>
                <a:gd name="T3" fmla="*/ 0 h 1188"/>
                <a:gd name="T4" fmla="*/ 0 w 1314"/>
                <a:gd name="T5" fmla="*/ 0 h 1188"/>
                <a:gd name="T6" fmla="*/ 0 w 1314"/>
                <a:gd name="T7" fmla="*/ 0 h 1188"/>
                <a:gd name="T8" fmla="*/ 0 w 1314"/>
                <a:gd name="T9" fmla="*/ 1 h 1188"/>
                <a:gd name="T10" fmla="*/ 1 w 1314"/>
                <a:gd name="T11" fmla="*/ 1 h 1188"/>
                <a:gd name="T12" fmla="*/ 1 w 1314"/>
                <a:gd name="T13" fmla="*/ 1 h 1188"/>
                <a:gd name="T14" fmla="*/ 1 w 1314"/>
                <a:gd name="T15" fmla="*/ 1 h 1188"/>
                <a:gd name="T16" fmla="*/ 1 w 1314"/>
                <a:gd name="T17" fmla="*/ 1 h 1188"/>
                <a:gd name="T18" fmla="*/ 1 w 1314"/>
                <a:gd name="T19" fmla="*/ 1 h 1188"/>
                <a:gd name="T20" fmla="*/ 1 w 1314"/>
                <a:gd name="T21" fmla="*/ 1 h 1188"/>
                <a:gd name="T22" fmla="*/ 1 w 1314"/>
                <a:gd name="T23" fmla="*/ 1 h 1188"/>
                <a:gd name="T24" fmla="*/ 2 w 1314"/>
                <a:gd name="T25" fmla="*/ 1 h 1188"/>
                <a:gd name="T26" fmla="*/ 2 w 1314"/>
                <a:gd name="T27" fmla="*/ 1 h 1188"/>
                <a:gd name="T28" fmla="*/ 2 w 1314"/>
                <a:gd name="T29" fmla="*/ 2 h 1188"/>
                <a:gd name="T30" fmla="*/ 3 w 1314"/>
                <a:gd name="T31" fmla="*/ 2 h 1188"/>
                <a:gd name="T32" fmla="*/ 3 w 1314"/>
                <a:gd name="T33" fmla="*/ 1 h 1188"/>
                <a:gd name="T34" fmla="*/ 3 w 1314"/>
                <a:gd name="T35" fmla="*/ 1 h 1188"/>
                <a:gd name="T36" fmla="*/ 3 w 1314"/>
                <a:gd name="T37" fmla="*/ 1 h 1188"/>
                <a:gd name="T38" fmla="*/ 3 w 1314"/>
                <a:gd name="T39" fmla="*/ 0 h 1188"/>
                <a:gd name="T40" fmla="*/ 2 w 1314"/>
                <a:gd name="T41" fmla="*/ 0 h 1188"/>
                <a:gd name="T42" fmla="*/ 1 w 1314"/>
                <a:gd name="T43" fmla="*/ 0 h 1188"/>
                <a:gd name="T44" fmla="*/ 1 w 1314"/>
                <a:gd name="T45" fmla="*/ 0 h 1188"/>
                <a:gd name="T46" fmla="*/ 1 w 1314"/>
                <a:gd name="T47" fmla="*/ 0 h 1188"/>
                <a:gd name="T48" fmla="*/ 1 w 1314"/>
                <a:gd name="T49" fmla="*/ 0 h 1188"/>
                <a:gd name="T50" fmla="*/ 1 w 1314"/>
                <a:gd name="T51" fmla="*/ 0 h 1188"/>
                <a:gd name="T52" fmla="*/ 1 w 1314"/>
                <a:gd name="T53" fmla="*/ 0 h 1188"/>
                <a:gd name="T54" fmla="*/ 1 w 1314"/>
                <a:gd name="T55" fmla="*/ 0 h 1188"/>
                <a:gd name="T56" fmla="*/ 1 w 1314"/>
                <a:gd name="T57" fmla="*/ 0 h 1188"/>
                <a:gd name="T58" fmla="*/ 1 w 1314"/>
                <a:gd name="T59" fmla="*/ 0 h 1188"/>
                <a:gd name="T60" fmla="*/ 1 w 1314"/>
                <a:gd name="T61" fmla="*/ 0 h 1188"/>
                <a:gd name="T62" fmla="*/ 1 w 1314"/>
                <a:gd name="T63" fmla="*/ 0 h 1188"/>
                <a:gd name="T64" fmla="*/ 1 w 1314"/>
                <a:gd name="T65" fmla="*/ 0 h 1188"/>
                <a:gd name="T66" fmla="*/ 1 w 1314"/>
                <a:gd name="T67" fmla="*/ 0 h 1188"/>
                <a:gd name="T68" fmla="*/ 1 w 1314"/>
                <a:gd name="T69" fmla="*/ 0 h 1188"/>
                <a:gd name="T70" fmla="*/ 0 w 1314"/>
                <a:gd name="T71" fmla="*/ 0 h 1188"/>
                <a:gd name="T72" fmla="*/ 0 w 1314"/>
                <a:gd name="T73" fmla="*/ 0 h 1188"/>
                <a:gd name="T74" fmla="*/ 0 w 1314"/>
                <a:gd name="T75" fmla="*/ 0 h 1188"/>
                <a:gd name="T76" fmla="*/ 0 w 1314"/>
                <a:gd name="T77" fmla="*/ 0 h 1188"/>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1314" h="1188">
                  <a:moveTo>
                    <a:pt x="44" y="20"/>
                  </a:moveTo>
                  <a:lnTo>
                    <a:pt x="41" y="59"/>
                  </a:lnTo>
                  <a:lnTo>
                    <a:pt x="26" y="44"/>
                  </a:lnTo>
                  <a:lnTo>
                    <a:pt x="8" y="129"/>
                  </a:lnTo>
                  <a:lnTo>
                    <a:pt x="0" y="228"/>
                  </a:lnTo>
                  <a:lnTo>
                    <a:pt x="35" y="329"/>
                  </a:lnTo>
                  <a:lnTo>
                    <a:pt x="116" y="353"/>
                  </a:lnTo>
                  <a:lnTo>
                    <a:pt x="107" y="329"/>
                  </a:lnTo>
                  <a:lnTo>
                    <a:pt x="151" y="364"/>
                  </a:lnTo>
                  <a:lnTo>
                    <a:pt x="189" y="403"/>
                  </a:lnTo>
                  <a:lnTo>
                    <a:pt x="273" y="443"/>
                  </a:lnTo>
                  <a:lnTo>
                    <a:pt x="376" y="452"/>
                  </a:lnTo>
                  <a:lnTo>
                    <a:pt x="501" y="458"/>
                  </a:lnTo>
                  <a:lnTo>
                    <a:pt x="553" y="452"/>
                  </a:lnTo>
                  <a:lnTo>
                    <a:pt x="507" y="432"/>
                  </a:lnTo>
                  <a:lnTo>
                    <a:pt x="487" y="380"/>
                  </a:lnTo>
                  <a:lnTo>
                    <a:pt x="524" y="423"/>
                  </a:lnTo>
                  <a:lnTo>
                    <a:pt x="571" y="449"/>
                  </a:lnTo>
                  <a:lnTo>
                    <a:pt x="614" y="473"/>
                  </a:lnTo>
                  <a:lnTo>
                    <a:pt x="658" y="467"/>
                  </a:lnTo>
                  <a:lnTo>
                    <a:pt x="629" y="446"/>
                  </a:lnTo>
                  <a:lnTo>
                    <a:pt x="600" y="421"/>
                  </a:lnTo>
                  <a:lnTo>
                    <a:pt x="647" y="438"/>
                  </a:lnTo>
                  <a:lnTo>
                    <a:pt x="692" y="473"/>
                  </a:lnTo>
                  <a:lnTo>
                    <a:pt x="844" y="490"/>
                  </a:lnTo>
                  <a:lnTo>
                    <a:pt x="994" y="514"/>
                  </a:lnTo>
                  <a:lnTo>
                    <a:pt x="1039" y="525"/>
                  </a:lnTo>
                  <a:lnTo>
                    <a:pt x="1001" y="747"/>
                  </a:lnTo>
                  <a:lnTo>
                    <a:pt x="1030" y="954"/>
                  </a:lnTo>
                  <a:lnTo>
                    <a:pt x="1033" y="1156"/>
                  </a:lnTo>
                  <a:lnTo>
                    <a:pt x="1129" y="1176"/>
                  </a:lnTo>
                  <a:lnTo>
                    <a:pt x="1213" y="1188"/>
                  </a:lnTo>
                  <a:lnTo>
                    <a:pt x="1314" y="1185"/>
                  </a:lnTo>
                  <a:lnTo>
                    <a:pt x="1309" y="896"/>
                  </a:lnTo>
                  <a:lnTo>
                    <a:pt x="1309" y="654"/>
                  </a:lnTo>
                  <a:lnTo>
                    <a:pt x="1294" y="520"/>
                  </a:lnTo>
                  <a:lnTo>
                    <a:pt x="1307" y="435"/>
                  </a:lnTo>
                  <a:lnTo>
                    <a:pt x="1298" y="342"/>
                  </a:lnTo>
                  <a:lnTo>
                    <a:pt x="1281" y="281"/>
                  </a:lnTo>
                  <a:lnTo>
                    <a:pt x="1208" y="234"/>
                  </a:lnTo>
                  <a:lnTo>
                    <a:pt x="1118" y="193"/>
                  </a:lnTo>
                  <a:lnTo>
                    <a:pt x="943" y="135"/>
                  </a:lnTo>
                  <a:lnTo>
                    <a:pt x="800" y="94"/>
                  </a:lnTo>
                  <a:lnTo>
                    <a:pt x="722" y="88"/>
                  </a:lnTo>
                  <a:lnTo>
                    <a:pt x="689" y="135"/>
                  </a:lnTo>
                  <a:lnTo>
                    <a:pt x="591" y="184"/>
                  </a:lnTo>
                  <a:lnTo>
                    <a:pt x="643" y="141"/>
                  </a:lnTo>
                  <a:lnTo>
                    <a:pt x="684" y="118"/>
                  </a:lnTo>
                  <a:lnTo>
                    <a:pt x="698" y="85"/>
                  </a:lnTo>
                  <a:lnTo>
                    <a:pt x="692" y="70"/>
                  </a:lnTo>
                  <a:lnTo>
                    <a:pt x="664" y="70"/>
                  </a:lnTo>
                  <a:lnTo>
                    <a:pt x="647" y="88"/>
                  </a:lnTo>
                  <a:lnTo>
                    <a:pt x="629" y="105"/>
                  </a:lnTo>
                  <a:lnTo>
                    <a:pt x="585" y="123"/>
                  </a:lnTo>
                  <a:lnTo>
                    <a:pt x="626" y="88"/>
                  </a:lnTo>
                  <a:lnTo>
                    <a:pt x="643" y="61"/>
                  </a:lnTo>
                  <a:lnTo>
                    <a:pt x="631" y="44"/>
                  </a:lnTo>
                  <a:lnTo>
                    <a:pt x="597" y="33"/>
                  </a:lnTo>
                  <a:lnTo>
                    <a:pt x="551" y="74"/>
                  </a:lnTo>
                  <a:lnTo>
                    <a:pt x="507" y="100"/>
                  </a:lnTo>
                  <a:lnTo>
                    <a:pt x="559" y="41"/>
                  </a:lnTo>
                  <a:lnTo>
                    <a:pt x="576" y="18"/>
                  </a:lnTo>
                  <a:lnTo>
                    <a:pt x="576" y="0"/>
                  </a:lnTo>
                  <a:lnTo>
                    <a:pt x="533" y="6"/>
                  </a:lnTo>
                  <a:lnTo>
                    <a:pt x="493" y="36"/>
                  </a:lnTo>
                  <a:lnTo>
                    <a:pt x="466" y="56"/>
                  </a:lnTo>
                  <a:lnTo>
                    <a:pt x="341" y="67"/>
                  </a:lnTo>
                  <a:lnTo>
                    <a:pt x="344" y="36"/>
                  </a:lnTo>
                  <a:lnTo>
                    <a:pt x="308" y="23"/>
                  </a:lnTo>
                  <a:lnTo>
                    <a:pt x="308" y="64"/>
                  </a:lnTo>
                  <a:lnTo>
                    <a:pt x="270" y="74"/>
                  </a:lnTo>
                  <a:lnTo>
                    <a:pt x="189" y="85"/>
                  </a:lnTo>
                  <a:lnTo>
                    <a:pt x="195" y="41"/>
                  </a:lnTo>
                  <a:lnTo>
                    <a:pt x="165" y="41"/>
                  </a:lnTo>
                  <a:lnTo>
                    <a:pt x="162" y="85"/>
                  </a:lnTo>
                  <a:lnTo>
                    <a:pt x="116" y="82"/>
                  </a:lnTo>
                  <a:lnTo>
                    <a:pt x="66" y="70"/>
                  </a:lnTo>
                  <a:lnTo>
                    <a:pt x="64" y="36"/>
                  </a:lnTo>
                  <a:lnTo>
                    <a:pt x="44" y="2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Freeform 105"/>
            <p:cNvSpPr>
              <a:spLocks/>
            </p:cNvSpPr>
            <p:nvPr/>
          </p:nvSpPr>
          <p:spPr bwMode="auto">
            <a:xfrm flipH="1">
              <a:off x="3938" y="2827"/>
              <a:ext cx="65" cy="10"/>
            </a:xfrm>
            <a:custGeom>
              <a:avLst/>
              <a:gdLst>
                <a:gd name="T0" fmla="*/ 0 w 179"/>
                <a:gd name="T1" fmla="*/ 0 h 30"/>
                <a:gd name="T2" fmla="*/ 0 w 179"/>
                <a:gd name="T3" fmla="*/ 0 h 30"/>
                <a:gd name="T4" fmla="*/ 0 w 179"/>
                <a:gd name="T5" fmla="*/ 0 h 30"/>
                <a:gd name="T6" fmla="*/ 0 w 179"/>
                <a:gd name="T7" fmla="*/ 0 h 30"/>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179" h="30">
                  <a:moveTo>
                    <a:pt x="0" y="0"/>
                  </a:moveTo>
                  <a:lnTo>
                    <a:pt x="84" y="30"/>
                  </a:lnTo>
                  <a:lnTo>
                    <a:pt x="179" y="2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Freeform 106"/>
            <p:cNvSpPr>
              <a:spLocks/>
            </p:cNvSpPr>
            <p:nvPr/>
          </p:nvSpPr>
          <p:spPr bwMode="auto">
            <a:xfrm flipH="1">
              <a:off x="4028" y="2808"/>
              <a:ext cx="37" cy="14"/>
            </a:xfrm>
            <a:custGeom>
              <a:avLst/>
              <a:gdLst>
                <a:gd name="T0" fmla="*/ 0 w 109"/>
                <a:gd name="T1" fmla="*/ 0 h 36"/>
                <a:gd name="T2" fmla="*/ 0 w 109"/>
                <a:gd name="T3" fmla="*/ 0 h 36"/>
                <a:gd name="T4" fmla="*/ 0 w 109"/>
                <a:gd name="T5" fmla="*/ 0 h 36"/>
                <a:gd name="T6" fmla="*/ 0 w 109"/>
                <a:gd name="T7" fmla="*/ 0 h 36"/>
                <a:gd name="T8" fmla="*/ 0 w 109"/>
                <a:gd name="T9" fmla="*/ 0 h 3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9" h="36">
                  <a:moveTo>
                    <a:pt x="0" y="0"/>
                  </a:moveTo>
                  <a:lnTo>
                    <a:pt x="29" y="23"/>
                  </a:lnTo>
                  <a:lnTo>
                    <a:pt x="109" y="34"/>
                  </a:lnTo>
                  <a:lnTo>
                    <a:pt x="27" y="3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Freeform 107"/>
            <p:cNvSpPr>
              <a:spLocks/>
            </p:cNvSpPr>
            <p:nvPr/>
          </p:nvSpPr>
          <p:spPr bwMode="auto">
            <a:xfrm flipH="1">
              <a:off x="3843" y="2798"/>
              <a:ext cx="60" cy="31"/>
            </a:xfrm>
            <a:custGeom>
              <a:avLst/>
              <a:gdLst>
                <a:gd name="T0" fmla="*/ 0 w 167"/>
                <a:gd name="T1" fmla="*/ 0 h 91"/>
                <a:gd name="T2" fmla="*/ 0 w 167"/>
                <a:gd name="T3" fmla="*/ 0 h 91"/>
                <a:gd name="T4" fmla="*/ 0 w 167"/>
                <a:gd name="T5" fmla="*/ 0 h 91"/>
                <a:gd name="T6" fmla="*/ 0 w 167"/>
                <a:gd name="T7" fmla="*/ 0 h 91"/>
                <a:gd name="T8" fmla="*/ 0 w 167"/>
                <a:gd name="T9" fmla="*/ 0 h 91"/>
                <a:gd name="T10" fmla="*/ 0 w 167"/>
                <a:gd name="T11" fmla="*/ 0 h 91"/>
                <a:gd name="T12" fmla="*/ 0 w 167"/>
                <a:gd name="T13" fmla="*/ 0 h 91"/>
                <a:gd name="T14" fmla="*/ 0 w 167"/>
                <a:gd name="T15" fmla="*/ 0 h 91"/>
                <a:gd name="T16" fmla="*/ 0 w 167"/>
                <a:gd name="T17" fmla="*/ 0 h 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167" h="91">
                  <a:moveTo>
                    <a:pt x="0" y="0"/>
                  </a:moveTo>
                  <a:lnTo>
                    <a:pt x="75" y="8"/>
                  </a:lnTo>
                  <a:lnTo>
                    <a:pt x="90" y="20"/>
                  </a:lnTo>
                  <a:lnTo>
                    <a:pt x="90" y="48"/>
                  </a:lnTo>
                  <a:lnTo>
                    <a:pt x="95" y="79"/>
                  </a:lnTo>
                  <a:lnTo>
                    <a:pt x="167" y="91"/>
                  </a:lnTo>
                  <a:lnTo>
                    <a:pt x="81" y="88"/>
                  </a:lnTo>
                  <a:lnTo>
                    <a:pt x="66" y="30"/>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Freeform 108"/>
            <p:cNvSpPr>
              <a:spLocks/>
            </p:cNvSpPr>
            <p:nvPr/>
          </p:nvSpPr>
          <p:spPr bwMode="auto">
            <a:xfrm flipH="1">
              <a:off x="3648" y="2871"/>
              <a:ext cx="195" cy="48"/>
            </a:xfrm>
            <a:custGeom>
              <a:avLst/>
              <a:gdLst>
                <a:gd name="T0" fmla="*/ 0 w 544"/>
                <a:gd name="T1" fmla="*/ 0 h 136"/>
                <a:gd name="T2" fmla="*/ 0 w 544"/>
                <a:gd name="T3" fmla="*/ 0 h 136"/>
                <a:gd name="T4" fmla="*/ 1 w 544"/>
                <a:gd name="T5" fmla="*/ 0 h 136"/>
                <a:gd name="T6" fmla="*/ 1 w 544"/>
                <a:gd name="T7" fmla="*/ 0 h 136"/>
                <a:gd name="T8" fmla="*/ 1 w 544"/>
                <a:gd name="T9" fmla="*/ 0 h 136"/>
                <a:gd name="T10" fmla="*/ 1 w 544"/>
                <a:gd name="T11" fmla="*/ 0 h 136"/>
                <a:gd name="T12" fmla="*/ 1 w 544"/>
                <a:gd name="T13" fmla="*/ 0 h 136"/>
                <a:gd name="T14" fmla="*/ 1 w 544"/>
                <a:gd name="T15" fmla="*/ 0 h 136"/>
                <a:gd name="T16" fmla="*/ 1 w 544"/>
                <a:gd name="T17" fmla="*/ 0 h 136"/>
                <a:gd name="T18" fmla="*/ 1 w 544"/>
                <a:gd name="T19" fmla="*/ 0 h 136"/>
                <a:gd name="T20" fmla="*/ 1 w 544"/>
                <a:gd name="T21" fmla="*/ 0 h 136"/>
                <a:gd name="T22" fmla="*/ 0 w 544"/>
                <a:gd name="T23" fmla="*/ 0 h 136"/>
                <a:gd name="T24" fmla="*/ 0 w 544"/>
                <a:gd name="T25" fmla="*/ 0 h 136"/>
                <a:gd name="T26" fmla="*/ 0 w 544"/>
                <a:gd name="T27" fmla="*/ 0 h 1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544" h="136">
                  <a:moveTo>
                    <a:pt x="0" y="0"/>
                  </a:moveTo>
                  <a:lnTo>
                    <a:pt x="138" y="7"/>
                  </a:lnTo>
                  <a:lnTo>
                    <a:pt x="280" y="40"/>
                  </a:lnTo>
                  <a:lnTo>
                    <a:pt x="385" y="46"/>
                  </a:lnTo>
                  <a:lnTo>
                    <a:pt x="470" y="64"/>
                  </a:lnTo>
                  <a:lnTo>
                    <a:pt x="503" y="110"/>
                  </a:lnTo>
                  <a:lnTo>
                    <a:pt x="544" y="136"/>
                  </a:lnTo>
                  <a:lnTo>
                    <a:pt x="503" y="127"/>
                  </a:lnTo>
                  <a:lnTo>
                    <a:pt x="465" y="76"/>
                  </a:lnTo>
                  <a:lnTo>
                    <a:pt x="350" y="53"/>
                  </a:lnTo>
                  <a:lnTo>
                    <a:pt x="280" y="53"/>
                  </a:lnTo>
                  <a:lnTo>
                    <a:pt x="225" y="40"/>
                  </a:lnTo>
                  <a:lnTo>
                    <a:pt x="131" y="16"/>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Freeform 109"/>
            <p:cNvSpPr>
              <a:spLocks/>
            </p:cNvSpPr>
            <p:nvPr/>
          </p:nvSpPr>
          <p:spPr bwMode="auto">
            <a:xfrm flipH="1">
              <a:off x="3868" y="2235"/>
              <a:ext cx="170" cy="179"/>
            </a:xfrm>
            <a:custGeom>
              <a:avLst/>
              <a:gdLst>
                <a:gd name="T0" fmla="*/ 1 w 472"/>
                <a:gd name="T1" fmla="*/ 0 h 520"/>
                <a:gd name="T2" fmla="*/ 1 w 472"/>
                <a:gd name="T3" fmla="*/ 0 h 520"/>
                <a:gd name="T4" fmla="*/ 1 w 472"/>
                <a:gd name="T5" fmla="*/ 0 h 520"/>
                <a:gd name="T6" fmla="*/ 1 w 472"/>
                <a:gd name="T7" fmla="*/ 0 h 520"/>
                <a:gd name="T8" fmla="*/ 1 w 472"/>
                <a:gd name="T9" fmla="*/ 0 h 520"/>
                <a:gd name="T10" fmla="*/ 1 w 472"/>
                <a:gd name="T11" fmla="*/ 0 h 520"/>
                <a:gd name="T12" fmla="*/ 1 w 472"/>
                <a:gd name="T13" fmla="*/ 0 h 520"/>
                <a:gd name="T14" fmla="*/ 1 w 472"/>
                <a:gd name="T15" fmla="*/ 0 h 520"/>
                <a:gd name="T16" fmla="*/ 1 w 472"/>
                <a:gd name="T17" fmla="*/ 0 h 520"/>
                <a:gd name="T18" fmla="*/ 1 w 472"/>
                <a:gd name="T19" fmla="*/ 0 h 520"/>
                <a:gd name="T20" fmla="*/ 1 w 472"/>
                <a:gd name="T21" fmla="*/ 0 h 520"/>
                <a:gd name="T22" fmla="*/ 1 w 472"/>
                <a:gd name="T23" fmla="*/ 0 h 520"/>
                <a:gd name="T24" fmla="*/ 1 w 472"/>
                <a:gd name="T25" fmla="*/ 0 h 520"/>
                <a:gd name="T26" fmla="*/ 1 w 472"/>
                <a:gd name="T27" fmla="*/ 0 h 520"/>
                <a:gd name="T28" fmla="*/ 1 w 472"/>
                <a:gd name="T29" fmla="*/ 0 h 520"/>
                <a:gd name="T30" fmla="*/ 1 w 472"/>
                <a:gd name="T31" fmla="*/ 1 h 520"/>
                <a:gd name="T32" fmla="*/ 1 w 472"/>
                <a:gd name="T33" fmla="*/ 1 h 520"/>
                <a:gd name="T34" fmla="*/ 1 w 472"/>
                <a:gd name="T35" fmla="*/ 1 h 520"/>
                <a:gd name="T36" fmla="*/ 1 w 472"/>
                <a:gd name="T37" fmla="*/ 1 h 520"/>
                <a:gd name="T38" fmla="*/ 1 w 472"/>
                <a:gd name="T39" fmla="*/ 1 h 520"/>
                <a:gd name="T40" fmla="*/ 1 w 472"/>
                <a:gd name="T41" fmla="*/ 1 h 520"/>
                <a:gd name="T42" fmla="*/ 1 w 472"/>
                <a:gd name="T43" fmla="*/ 1 h 520"/>
                <a:gd name="T44" fmla="*/ 1 w 472"/>
                <a:gd name="T45" fmla="*/ 1 h 520"/>
                <a:gd name="T46" fmla="*/ 1 w 472"/>
                <a:gd name="T47" fmla="*/ 1 h 520"/>
                <a:gd name="T48" fmla="*/ 1 w 472"/>
                <a:gd name="T49" fmla="*/ 1 h 520"/>
                <a:gd name="T50" fmla="*/ 1 w 472"/>
                <a:gd name="T51" fmla="*/ 1 h 520"/>
                <a:gd name="T52" fmla="*/ 0 w 472"/>
                <a:gd name="T53" fmla="*/ 1 h 520"/>
                <a:gd name="T54" fmla="*/ 0 w 472"/>
                <a:gd name="T55" fmla="*/ 1 h 520"/>
                <a:gd name="T56" fmla="*/ 0 w 472"/>
                <a:gd name="T57" fmla="*/ 1 h 520"/>
                <a:gd name="T58" fmla="*/ 0 w 472"/>
                <a:gd name="T59" fmla="*/ 0 h 520"/>
                <a:gd name="T60" fmla="*/ 0 w 472"/>
                <a:gd name="T61" fmla="*/ 0 h 520"/>
                <a:gd name="T62" fmla="*/ 0 w 472"/>
                <a:gd name="T63" fmla="*/ 0 h 520"/>
                <a:gd name="T64" fmla="*/ 0 w 472"/>
                <a:gd name="T65" fmla="*/ 0 h 520"/>
                <a:gd name="T66" fmla="*/ 0 w 472"/>
                <a:gd name="T67" fmla="*/ 0 h 520"/>
                <a:gd name="T68" fmla="*/ 0 w 472"/>
                <a:gd name="T69" fmla="*/ 0 h 520"/>
                <a:gd name="T70" fmla="*/ 1 w 472"/>
                <a:gd name="T71" fmla="*/ 0 h 520"/>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Lst>
              <a:ahLst/>
              <a:cxnLst>
                <a:cxn ang="T72">
                  <a:pos x="T0" y="T1"/>
                </a:cxn>
                <a:cxn ang="T73">
                  <a:pos x="T2" y="T3"/>
                </a:cxn>
                <a:cxn ang="T74">
                  <a:pos x="T4" y="T5"/>
                </a:cxn>
                <a:cxn ang="T75">
                  <a:pos x="T6" y="T7"/>
                </a:cxn>
                <a:cxn ang="T76">
                  <a:pos x="T8" y="T9"/>
                </a:cxn>
                <a:cxn ang="T77">
                  <a:pos x="T10" y="T11"/>
                </a:cxn>
                <a:cxn ang="T78">
                  <a:pos x="T12" y="T13"/>
                </a:cxn>
                <a:cxn ang="T79">
                  <a:pos x="T14" y="T15"/>
                </a:cxn>
                <a:cxn ang="T80">
                  <a:pos x="T16" y="T17"/>
                </a:cxn>
                <a:cxn ang="T81">
                  <a:pos x="T18" y="T19"/>
                </a:cxn>
                <a:cxn ang="T82">
                  <a:pos x="T20" y="T21"/>
                </a:cxn>
                <a:cxn ang="T83">
                  <a:pos x="T22" y="T23"/>
                </a:cxn>
                <a:cxn ang="T84">
                  <a:pos x="T24" y="T25"/>
                </a:cxn>
                <a:cxn ang="T85">
                  <a:pos x="T26" y="T27"/>
                </a:cxn>
                <a:cxn ang="T86">
                  <a:pos x="T28" y="T29"/>
                </a:cxn>
                <a:cxn ang="T87">
                  <a:pos x="T30" y="T31"/>
                </a:cxn>
                <a:cxn ang="T88">
                  <a:pos x="T32" y="T33"/>
                </a:cxn>
                <a:cxn ang="T89">
                  <a:pos x="T34" y="T35"/>
                </a:cxn>
                <a:cxn ang="T90">
                  <a:pos x="T36" y="T37"/>
                </a:cxn>
                <a:cxn ang="T91">
                  <a:pos x="T38" y="T39"/>
                </a:cxn>
                <a:cxn ang="T92">
                  <a:pos x="T40" y="T41"/>
                </a:cxn>
                <a:cxn ang="T93">
                  <a:pos x="T42" y="T43"/>
                </a:cxn>
                <a:cxn ang="T94">
                  <a:pos x="T44" y="T45"/>
                </a:cxn>
                <a:cxn ang="T95">
                  <a:pos x="T46" y="T47"/>
                </a:cxn>
                <a:cxn ang="T96">
                  <a:pos x="T48" y="T49"/>
                </a:cxn>
                <a:cxn ang="T97">
                  <a:pos x="T50" y="T51"/>
                </a:cxn>
                <a:cxn ang="T98">
                  <a:pos x="T52" y="T53"/>
                </a:cxn>
                <a:cxn ang="T99">
                  <a:pos x="T54" y="T55"/>
                </a:cxn>
                <a:cxn ang="T100">
                  <a:pos x="T56" y="T57"/>
                </a:cxn>
                <a:cxn ang="T101">
                  <a:pos x="T58" y="T59"/>
                </a:cxn>
                <a:cxn ang="T102">
                  <a:pos x="T60" y="T61"/>
                </a:cxn>
                <a:cxn ang="T103">
                  <a:pos x="T62" y="T63"/>
                </a:cxn>
                <a:cxn ang="T104">
                  <a:pos x="T64" y="T65"/>
                </a:cxn>
                <a:cxn ang="T105">
                  <a:pos x="T66" y="T67"/>
                </a:cxn>
                <a:cxn ang="T106">
                  <a:pos x="T68" y="T69"/>
                </a:cxn>
                <a:cxn ang="T107">
                  <a:pos x="T70" y="T71"/>
                </a:cxn>
              </a:cxnLst>
              <a:rect l="0" t="0" r="r" b="b"/>
              <a:pathLst>
                <a:path w="472" h="520">
                  <a:moveTo>
                    <a:pt x="318" y="17"/>
                  </a:moveTo>
                  <a:lnTo>
                    <a:pt x="359" y="47"/>
                  </a:lnTo>
                  <a:lnTo>
                    <a:pt x="381" y="84"/>
                  </a:lnTo>
                  <a:lnTo>
                    <a:pt x="402" y="124"/>
                  </a:lnTo>
                  <a:lnTo>
                    <a:pt x="414" y="144"/>
                  </a:lnTo>
                  <a:lnTo>
                    <a:pt x="414" y="167"/>
                  </a:lnTo>
                  <a:lnTo>
                    <a:pt x="404" y="193"/>
                  </a:lnTo>
                  <a:lnTo>
                    <a:pt x="424" y="214"/>
                  </a:lnTo>
                  <a:lnTo>
                    <a:pt x="456" y="270"/>
                  </a:lnTo>
                  <a:lnTo>
                    <a:pt x="472" y="300"/>
                  </a:lnTo>
                  <a:lnTo>
                    <a:pt x="472" y="310"/>
                  </a:lnTo>
                  <a:lnTo>
                    <a:pt x="469" y="320"/>
                  </a:lnTo>
                  <a:lnTo>
                    <a:pt x="455" y="323"/>
                  </a:lnTo>
                  <a:lnTo>
                    <a:pt x="434" y="324"/>
                  </a:lnTo>
                  <a:lnTo>
                    <a:pt x="423" y="328"/>
                  </a:lnTo>
                  <a:lnTo>
                    <a:pt x="424" y="351"/>
                  </a:lnTo>
                  <a:lnTo>
                    <a:pt x="430" y="377"/>
                  </a:lnTo>
                  <a:lnTo>
                    <a:pt x="418" y="392"/>
                  </a:lnTo>
                  <a:lnTo>
                    <a:pt x="422" y="411"/>
                  </a:lnTo>
                  <a:lnTo>
                    <a:pt x="412" y="424"/>
                  </a:lnTo>
                  <a:lnTo>
                    <a:pt x="403" y="458"/>
                  </a:lnTo>
                  <a:lnTo>
                    <a:pt x="388" y="469"/>
                  </a:lnTo>
                  <a:lnTo>
                    <a:pt x="366" y="469"/>
                  </a:lnTo>
                  <a:lnTo>
                    <a:pt x="335" y="463"/>
                  </a:lnTo>
                  <a:lnTo>
                    <a:pt x="302" y="458"/>
                  </a:lnTo>
                  <a:lnTo>
                    <a:pt x="305" y="520"/>
                  </a:lnTo>
                  <a:lnTo>
                    <a:pt x="54" y="438"/>
                  </a:lnTo>
                  <a:lnTo>
                    <a:pt x="74" y="390"/>
                  </a:lnTo>
                  <a:lnTo>
                    <a:pt x="69" y="353"/>
                  </a:lnTo>
                  <a:lnTo>
                    <a:pt x="0" y="283"/>
                  </a:lnTo>
                  <a:lnTo>
                    <a:pt x="0" y="99"/>
                  </a:lnTo>
                  <a:lnTo>
                    <a:pt x="46" y="49"/>
                  </a:lnTo>
                  <a:lnTo>
                    <a:pt x="105" y="22"/>
                  </a:lnTo>
                  <a:lnTo>
                    <a:pt x="166" y="0"/>
                  </a:lnTo>
                  <a:lnTo>
                    <a:pt x="246" y="11"/>
                  </a:lnTo>
                  <a:lnTo>
                    <a:pt x="318" y="17"/>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2" name="Freeform 110"/>
            <p:cNvSpPr>
              <a:spLocks/>
            </p:cNvSpPr>
            <p:nvPr/>
          </p:nvSpPr>
          <p:spPr bwMode="auto">
            <a:xfrm flipH="1">
              <a:off x="3878" y="2342"/>
              <a:ext cx="10" cy="2"/>
            </a:xfrm>
            <a:custGeom>
              <a:avLst/>
              <a:gdLst>
                <a:gd name="T0" fmla="*/ 0 w 26"/>
                <a:gd name="T1" fmla="*/ 0 h 5"/>
                <a:gd name="T2" fmla="*/ 0 w 26"/>
                <a:gd name="T3" fmla="*/ 0 h 5"/>
                <a:gd name="T4" fmla="*/ 0 w 26"/>
                <a:gd name="T5" fmla="*/ 0 h 5"/>
                <a:gd name="T6" fmla="*/ 0 w 26"/>
                <a:gd name="T7" fmla="*/ 0 h 5"/>
                <a:gd name="T8" fmla="*/ 0 w 26"/>
                <a:gd name="T9" fmla="*/ 0 h 5"/>
                <a:gd name="T10" fmla="*/ 0 w 26"/>
                <a:gd name="T11" fmla="*/ 0 h 5"/>
                <a:gd name="T12" fmla="*/ 0 w 26"/>
                <a:gd name="T13" fmla="*/ 0 h 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5">
                  <a:moveTo>
                    <a:pt x="26" y="2"/>
                  </a:moveTo>
                  <a:lnTo>
                    <a:pt x="20" y="5"/>
                  </a:lnTo>
                  <a:lnTo>
                    <a:pt x="7" y="4"/>
                  </a:lnTo>
                  <a:lnTo>
                    <a:pt x="2" y="5"/>
                  </a:lnTo>
                  <a:lnTo>
                    <a:pt x="0" y="1"/>
                  </a:lnTo>
                  <a:lnTo>
                    <a:pt x="8" y="0"/>
                  </a:lnTo>
                  <a:lnTo>
                    <a:pt x="26" y="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3" name="Freeform 111"/>
            <p:cNvSpPr>
              <a:spLocks/>
            </p:cNvSpPr>
            <p:nvPr/>
          </p:nvSpPr>
          <p:spPr bwMode="auto">
            <a:xfrm flipH="1">
              <a:off x="3888" y="2334"/>
              <a:ext cx="2" cy="8"/>
            </a:xfrm>
            <a:custGeom>
              <a:avLst/>
              <a:gdLst>
                <a:gd name="T0" fmla="*/ 0 w 10"/>
                <a:gd name="T1" fmla="*/ 0 h 19"/>
                <a:gd name="T2" fmla="*/ 0 w 10"/>
                <a:gd name="T3" fmla="*/ 0 h 19"/>
                <a:gd name="T4" fmla="*/ 0 w 10"/>
                <a:gd name="T5" fmla="*/ 0 h 19"/>
                <a:gd name="T6" fmla="*/ 0 w 10"/>
                <a:gd name="T7" fmla="*/ 0 h 19"/>
                <a:gd name="T8" fmla="*/ 0 w 10"/>
                <a:gd name="T9" fmla="*/ 0 h 19"/>
                <a:gd name="T10" fmla="*/ 0 w 10"/>
                <a:gd name="T11" fmla="*/ 0 h 19"/>
                <a:gd name="T12" fmla="*/ 0 w 10"/>
                <a:gd name="T13" fmla="*/ 0 h 19"/>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0" h="19">
                  <a:moveTo>
                    <a:pt x="10" y="0"/>
                  </a:moveTo>
                  <a:lnTo>
                    <a:pt x="3" y="5"/>
                  </a:lnTo>
                  <a:lnTo>
                    <a:pt x="3" y="10"/>
                  </a:lnTo>
                  <a:lnTo>
                    <a:pt x="2" y="19"/>
                  </a:lnTo>
                  <a:lnTo>
                    <a:pt x="0" y="7"/>
                  </a:lnTo>
                  <a:lnTo>
                    <a:pt x="0" y="1"/>
                  </a:lnTo>
                  <a:lnTo>
                    <a:pt x="1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4" name="Freeform 112"/>
            <p:cNvSpPr>
              <a:spLocks/>
            </p:cNvSpPr>
            <p:nvPr/>
          </p:nvSpPr>
          <p:spPr bwMode="auto">
            <a:xfrm flipH="1">
              <a:off x="3893" y="2312"/>
              <a:ext cx="5" cy="15"/>
            </a:xfrm>
            <a:custGeom>
              <a:avLst/>
              <a:gdLst>
                <a:gd name="T0" fmla="*/ 0 w 11"/>
                <a:gd name="T1" fmla="*/ 0 h 38"/>
                <a:gd name="T2" fmla="*/ 0 w 11"/>
                <a:gd name="T3" fmla="*/ 0 h 38"/>
                <a:gd name="T4" fmla="*/ 0 w 11"/>
                <a:gd name="T5" fmla="*/ 0 h 38"/>
                <a:gd name="T6" fmla="*/ 0 w 11"/>
                <a:gd name="T7" fmla="*/ 0 h 38"/>
                <a:gd name="T8" fmla="*/ 0 w 11"/>
                <a:gd name="T9" fmla="*/ 0 h 3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1" h="38">
                  <a:moveTo>
                    <a:pt x="0" y="0"/>
                  </a:moveTo>
                  <a:lnTo>
                    <a:pt x="8" y="22"/>
                  </a:lnTo>
                  <a:lnTo>
                    <a:pt x="11" y="38"/>
                  </a:lnTo>
                  <a:lnTo>
                    <a:pt x="5" y="28"/>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5" name="Freeform 113"/>
            <p:cNvSpPr>
              <a:spLocks/>
            </p:cNvSpPr>
            <p:nvPr/>
          </p:nvSpPr>
          <p:spPr bwMode="auto">
            <a:xfrm flipH="1">
              <a:off x="3898" y="2300"/>
              <a:ext cx="17" cy="10"/>
            </a:xfrm>
            <a:custGeom>
              <a:avLst/>
              <a:gdLst>
                <a:gd name="T0" fmla="*/ 0 w 50"/>
                <a:gd name="T1" fmla="*/ 0 h 32"/>
                <a:gd name="T2" fmla="*/ 0 w 50"/>
                <a:gd name="T3" fmla="*/ 0 h 32"/>
                <a:gd name="T4" fmla="*/ 0 w 50"/>
                <a:gd name="T5" fmla="*/ 0 h 32"/>
                <a:gd name="T6" fmla="*/ 0 w 50"/>
                <a:gd name="T7" fmla="*/ 0 h 32"/>
                <a:gd name="T8" fmla="*/ 0 w 50"/>
                <a:gd name="T9" fmla="*/ 0 h 32"/>
                <a:gd name="T10" fmla="*/ 0 w 50"/>
                <a:gd name="T11" fmla="*/ 0 h 32"/>
                <a:gd name="T12" fmla="*/ 0 w 50"/>
                <a:gd name="T13" fmla="*/ 0 h 32"/>
                <a:gd name="T14" fmla="*/ 0 w 50"/>
                <a:gd name="T15" fmla="*/ 0 h 32"/>
                <a:gd name="T16" fmla="*/ 0 w 50"/>
                <a:gd name="T17" fmla="*/ 0 h 32"/>
                <a:gd name="T18" fmla="*/ 0 w 50"/>
                <a:gd name="T19" fmla="*/ 0 h 32"/>
                <a:gd name="T20" fmla="*/ 0 w 50"/>
                <a:gd name="T21" fmla="*/ 0 h 3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50" h="32">
                  <a:moveTo>
                    <a:pt x="50" y="0"/>
                  </a:moveTo>
                  <a:lnTo>
                    <a:pt x="39" y="18"/>
                  </a:lnTo>
                  <a:lnTo>
                    <a:pt x="41" y="23"/>
                  </a:lnTo>
                  <a:lnTo>
                    <a:pt x="41" y="26"/>
                  </a:lnTo>
                  <a:lnTo>
                    <a:pt x="44" y="32"/>
                  </a:lnTo>
                  <a:lnTo>
                    <a:pt x="37" y="22"/>
                  </a:lnTo>
                  <a:lnTo>
                    <a:pt x="28" y="22"/>
                  </a:lnTo>
                  <a:lnTo>
                    <a:pt x="17" y="18"/>
                  </a:lnTo>
                  <a:lnTo>
                    <a:pt x="0" y="17"/>
                  </a:lnTo>
                  <a:lnTo>
                    <a:pt x="17" y="6"/>
                  </a:lnTo>
                  <a:lnTo>
                    <a:pt x="5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Freeform 114"/>
            <p:cNvSpPr>
              <a:spLocks/>
            </p:cNvSpPr>
            <p:nvPr/>
          </p:nvSpPr>
          <p:spPr bwMode="auto">
            <a:xfrm flipH="1">
              <a:off x="3893" y="2283"/>
              <a:ext cx="30" cy="10"/>
            </a:xfrm>
            <a:custGeom>
              <a:avLst/>
              <a:gdLst>
                <a:gd name="T0" fmla="*/ 0 w 86"/>
                <a:gd name="T1" fmla="*/ 0 h 31"/>
                <a:gd name="T2" fmla="*/ 0 w 86"/>
                <a:gd name="T3" fmla="*/ 0 h 31"/>
                <a:gd name="T4" fmla="*/ 0 w 86"/>
                <a:gd name="T5" fmla="*/ 0 h 31"/>
                <a:gd name="T6" fmla="*/ 0 w 86"/>
                <a:gd name="T7" fmla="*/ 0 h 31"/>
                <a:gd name="T8" fmla="*/ 0 w 86"/>
                <a:gd name="T9" fmla="*/ 0 h 31"/>
                <a:gd name="T10" fmla="*/ 0 w 86"/>
                <a:gd name="T11" fmla="*/ 0 h 31"/>
                <a:gd name="T12" fmla="*/ 0 w 86"/>
                <a:gd name="T13" fmla="*/ 0 h 31"/>
                <a:gd name="T14" fmla="*/ 0 w 86"/>
                <a:gd name="T15" fmla="*/ 0 h 31"/>
                <a:gd name="T16" fmla="*/ 0 w 86"/>
                <a:gd name="T17" fmla="*/ 0 h 31"/>
                <a:gd name="T18" fmla="*/ 0 w 86"/>
                <a:gd name="T19" fmla="*/ 0 h 31"/>
                <a:gd name="T20" fmla="*/ 0 w 86"/>
                <a:gd name="T21" fmla="*/ 0 h 31"/>
                <a:gd name="T22" fmla="*/ 0 w 86"/>
                <a:gd name="T23" fmla="*/ 0 h 31"/>
                <a:gd name="T24" fmla="*/ 0 w 86"/>
                <a:gd name="T25" fmla="*/ 0 h 31"/>
                <a:gd name="T26" fmla="*/ 0 w 86"/>
                <a:gd name="T27" fmla="*/ 0 h 31"/>
                <a:gd name="T28" fmla="*/ 0 w 86"/>
                <a:gd name="T29" fmla="*/ 0 h 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86" h="31">
                  <a:moveTo>
                    <a:pt x="86" y="15"/>
                  </a:moveTo>
                  <a:lnTo>
                    <a:pt x="82" y="27"/>
                  </a:lnTo>
                  <a:lnTo>
                    <a:pt x="73" y="31"/>
                  </a:lnTo>
                  <a:lnTo>
                    <a:pt x="59" y="22"/>
                  </a:lnTo>
                  <a:lnTo>
                    <a:pt x="42" y="15"/>
                  </a:lnTo>
                  <a:lnTo>
                    <a:pt x="14" y="15"/>
                  </a:lnTo>
                  <a:lnTo>
                    <a:pt x="0" y="16"/>
                  </a:lnTo>
                  <a:lnTo>
                    <a:pt x="22" y="8"/>
                  </a:lnTo>
                  <a:lnTo>
                    <a:pt x="37" y="4"/>
                  </a:lnTo>
                  <a:lnTo>
                    <a:pt x="35" y="0"/>
                  </a:lnTo>
                  <a:lnTo>
                    <a:pt x="50" y="6"/>
                  </a:lnTo>
                  <a:lnTo>
                    <a:pt x="48" y="2"/>
                  </a:lnTo>
                  <a:lnTo>
                    <a:pt x="60" y="8"/>
                  </a:lnTo>
                  <a:lnTo>
                    <a:pt x="71" y="8"/>
                  </a:lnTo>
                  <a:lnTo>
                    <a:pt x="86" y="1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Freeform 115"/>
            <p:cNvSpPr>
              <a:spLocks/>
            </p:cNvSpPr>
            <p:nvPr/>
          </p:nvSpPr>
          <p:spPr bwMode="auto">
            <a:xfrm flipH="1">
              <a:off x="3963" y="2298"/>
              <a:ext cx="17" cy="34"/>
            </a:xfrm>
            <a:custGeom>
              <a:avLst/>
              <a:gdLst>
                <a:gd name="T0" fmla="*/ 0 w 49"/>
                <a:gd name="T1" fmla="*/ 0 h 101"/>
                <a:gd name="T2" fmla="*/ 0 w 49"/>
                <a:gd name="T3" fmla="*/ 0 h 101"/>
                <a:gd name="T4" fmla="*/ 0 w 49"/>
                <a:gd name="T5" fmla="*/ 0 h 101"/>
                <a:gd name="T6" fmla="*/ 0 w 49"/>
                <a:gd name="T7" fmla="*/ 0 h 101"/>
                <a:gd name="T8" fmla="*/ 0 w 49"/>
                <a:gd name="T9" fmla="*/ 0 h 101"/>
                <a:gd name="T10" fmla="*/ 0 w 49"/>
                <a:gd name="T11" fmla="*/ 0 h 101"/>
                <a:gd name="T12" fmla="*/ 0 w 49"/>
                <a:gd name="T13" fmla="*/ 0 h 101"/>
                <a:gd name="T14" fmla="*/ 0 w 49"/>
                <a:gd name="T15" fmla="*/ 0 h 101"/>
                <a:gd name="T16" fmla="*/ 0 w 49"/>
                <a:gd name="T17" fmla="*/ 0 h 101"/>
                <a:gd name="T18" fmla="*/ 0 w 49"/>
                <a:gd name="T19" fmla="*/ 0 h 101"/>
                <a:gd name="T20" fmla="*/ 0 w 49"/>
                <a:gd name="T21" fmla="*/ 0 h 101"/>
                <a:gd name="T22" fmla="*/ 0 w 49"/>
                <a:gd name="T23" fmla="*/ 0 h 101"/>
                <a:gd name="T24" fmla="*/ 0 w 49"/>
                <a:gd name="T25" fmla="*/ 0 h 101"/>
                <a:gd name="T26" fmla="*/ 0 w 49"/>
                <a:gd name="T27" fmla="*/ 0 h 101"/>
                <a:gd name="T28" fmla="*/ 0 w 49"/>
                <a:gd name="T29" fmla="*/ 0 h 101"/>
                <a:gd name="T30" fmla="*/ 0 w 49"/>
                <a:gd name="T31" fmla="*/ 0 h 101"/>
                <a:gd name="T32" fmla="*/ 0 w 49"/>
                <a:gd name="T33" fmla="*/ 0 h 101"/>
                <a:gd name="T34" fmla="*/ 0 w 49"/>
                <a:gd name="T35" fmla="*/ 0 h 101"/>
                <a:gd name="T36" fmla="*/ 0 w 49"/>
                <a:gd name="T37" fmla="*/ 0 h 101"/>
                <a:gd name="T38" fmla="*/ 0 w 49"/>
                <a:gd name="T39" fmla="*/ 0 h 101"/>
                <a:gd name="T40" fmla="*/ 0 w 49"/>
                <a:gd name="T41" fmla="*/ 0 h 101"/>
                <a:gd name="T42" fmla="*/ 0 w 49"/>
                <a:gd name="T43" fmla="*/ 0 h 101"/>
                <a:gd name="T44" fmla="*/ 0 w 49"/>
                <a:gd name="T45" fmla="*/ 0 h 101"/>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49" h="101">
                  <a:moveTo>
                    <a:pt x="49" y="19"/>
                  </a:moveTo>
                  <a:lnTo>
                    <a:pt x="34" y="7"/>
                  </a:lnTo>
                  <a:lnTo>
                    <a:pt x="16" y="10"/>
                  </a:lnTo>
                  <a:lnTo>
                    <a:pt x="7" y="27"/>
                  </a:lnTo>
                  <a:lnTo>
                    <a:pt x="5" y="50"/>
                  </a:lnTo>
                  <a:lnTo>
                    <a:pt x="7" y="68"/>
                  </a:lnTo>
                  <a:lnTo>
                    <a:pt x="13" y="82"/>
                  </a:lnTo>
                  <a:lnTo>
                    <a:pt x="21" y="59"/>
                  </a:lnTo>
                  <a:lnTo>
                    <a:pt x="30" y="47"/>
                  </a:lnTo>
                  <a:lnTo>
                    <a:pt x="46" y="38"/>
                  </a:lnTo>
                  <a:lnTo>
                    <a:pt x="33" y="56"/>
                  </a:lnTo>
                  <a:lnTo>
                    <a:pt x="19" y="72"/>
                  </a:lnTo>
                  <a:lnTo>
                    <a:pt x="18" y="86"/>
                  </a:lnTo>
                  <a:lnTo>
                    <a:pt x="24" y="99"/>
                  </a:lnTo>
                  <a:lnTo>
                    <a:pt x="32" y="101"/>
                  </a:lnTo>
                  <a:lnTo>
                    <a:pt x="12" y="96"/>
                  </a:lnTo>
                  <a:lnTo>
                    <a:pt x="1" y="75"/>
                  </a:lnTo>
                  <a:lnTo>
                    <a:pt x="0" y="47"/>
                  </a:lnTo>
                  <a:lnTo>
                    <a:pt x="1" y="22"/>
                  </a:lnTo>
                  <a:lnTo>
                    <a:pt x="13" y="5"/>
                  </a:lnTo>
                  <a:lnTo>
                    <a:pt x="28" y="0"/>
                  </a:lnTo>
                  <a:lnTo>
                    <a:pt x="42" y="3"/>
                  </a:lnTo>
                  <a:lnTo>
                    <a:pt x="49" y="19"/>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Freeform 116"/>
            <p:cNvSpPr>
              <a:spLocks/>
            </p:cNvSpPr>
            <p:nvPr/>
          </p:nvSpPr>
          <p:spPr bwMode="auto">
            <a:xfrm flipH="1">
              <a:off x="3958" y="2293"/>
              <a:ext cx="27" cy="46"/>
            </a:xfrm>
            <a:custGeom>
              <a:avLst/>
              <a:gdLst>
                <a:gd name="T0" fmla="*/ 0 w 82"/>
                <a:gd name="T1" fmla="*/ 0 h 137"/>
                <a:gd name="T2" fmla="*/ 0 w 82"/>
                <a:gd name="T3" fmla="*/ 0 h 137"/>
                <a:gd name="T4" fmla="*/ 0 w 82"/>
                <a:gd name="T5" fmla="*/ 0 h 137"/>
                <a:gd name="T6" fmla="*/ 0 w 82"/>
                <a:gd name="T7" fmla="*/ 0 h 137"/>
                <a:gd name="T8" fmla="*/ 0 w 82"/>
                <a:gd name="T9" fmla="*/ 0 h 137"/>
                <a:gd name="T10" fmla="*/ 0 w 82"/>
                <a:gd name="T11" fmla="*/ 0 h 137"/>
                <a:gd name="T12" fmla="*/ 0 w 82"/>
                <a:gd name="T13" fmla="*/ 0 h 137"/>
                <a:gd name="T14" fmla="*/ 0 w 82"/>
                <a:gd name="T15" fmla="*/ 0 h 137"/>
                <a:gd name="T16" fmla="*/ 0 w 82"/>
                <a:gd name="T17" fmla="*/ 0 h 137"/>
                <a:gd name="T18" fmla="*/ 0 w 82"/>
                <a:gd name="T19" fmla="*/ 0 h 137"/>
                <a:gd name="T20" fmla="*/ 0 w 82"/>
                <a:gd name="T21" fmla="*/ 0 h 137"/>
                <a:gd name="T22" fmla="*/ 0 w 82"/>
                <a:gd name="T23" fmla="*/ 0 h 137"/>
                <a:gd name="T24" fmla="*/ 0 w 82"/>
                <a:gd name="T25" fmla="*/ 0 h 137"/>
                <a:gd name="T26" fmla="*/ 0 w 82"/>
                <a:gd name="T27" fmla="*/ 0 h 137"/>
                <a:gd name="T28" fmla="*/ 0 w 82"/>
                <a:gd name="T29" fmla="*/ 0 h 137"/>
                <a:gd name="T30" fmla="*/ 0 w 82"/>
                <a:gd name="T31" fmla="*/ 0 h 137"/>
                <a:gd name="T32" fmla="*/ 0 w 82"/>
                <a:gd name="T33" fmla="*/ 0 h 137"/>
                <a:gd name="T34" fmla="*/ 0 w 82"/>
                <a:gd name="T35" fmla="*/ 0 h 137"/>
                <a:gd name="T36" fmla="*/ 0 w 82"/>
                <a:gd name="T37" fmla="*/ 0 h 137"/>
                <a:gd name="T38" fmla="*/ 0 w 82"/>
                <a:gd name="T39" fmla="*/ 0 h 137"/>
                <a:gd name="T40" fmla="*/ 0 w 82"/>
                <a:gd name="T41" fmla="*/ 0 h 137"/>
                <a:gd name="T42" fmla="*/ 0 w 82"/>
                <a:gd name="T43" fmla="*/ 0 h 137"/>
                <a:gd name="T44" fmla="*/ 0 w 82"/>
                <a:gd name="T45" fmla="*/ 0 h 137"/>
                <a:gd name="T46" fmla="*/ 0 w 82"/>
                <a:gd name="T47" fmla="*/ 0 h 137"/>
                <a:gd name="T48" fmla="*/ 0 w 82"/>
                <a:gd name="T49" fmla="*/ 0 h 137"/>
                <a:gd name="T50" fmla="*/ 0 w 82"/>
                <a:gd name="T51" fmla="*/ 0 h 137"/>
                <a:gd name="T52" fmla="*/ 0 w 82"/>
                <a:gd name="T53" fmla="*/ 0 h 137"/>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Lst>
              <a:ahLst/>
              <a:cxnLst>
                <a:cxn ang="T54">
                  <a:pos x="T0" y="T1"/>
                </a:cxn>
                <a:cxn ang="T55">
                  <a:pos x="T2" y="T3"/>
                </a:cxn>
                <a:cxn ang="T56">
                  <a:pos x="T4" y="T5"/>
                </a:cxn>
                <a:cxn ang="T57">
                  <a:pos x="T6" y="T7"/>
                </a:cxn>
                <a:cxn ang="T58">
                  <a:pos x="T8" y="T9"/>
                </a:cxn>
                <a:cxn ang="T59">
                  <a:pos x="T10" y="T11"/>
                </a:cxn>
                <a:cxn ang="T60">
                  <a:pos x="T12" y="T13"/>
                </a:cxn>
                <a:cxn ang="T61">
                  <a:pos x="T14" y="T15"/>
                </a:cxn>
                <a:cxn ang="T62">
                  <a:pos x="T16" y="T17"/>
                </a:cxn>
                <a:cxn ang="T63">
                  <a:pos x="T18" y="T19"/>
                </a:cxn>
                <a:cxn ang="T64">
                  <a:pos x="T20" y="T21"/>
                </a:cxn>
                <a:cxn ang="T65">
                  <a:pos x="T22" y="T23"/>
                </a:cxn>
                <a:cxn ang="T66">
                  <a:pos x="T24" y="T25"/>
                </a:cxn>
                <a:cxn ang="T67">
                  <a:pos x="T26" y="T27"/>
                </a:cxn>
                <a:cxn ang="T68">
                  <a:pos x="T28" y="T29"/>
                </a:cxn>
                <a:cxn ang="T69">
                  <a:pos x="T30" y="T31"/>
                </a:cxn>
                <a:cxn ang="T70">
                  <a:pos x="T32" y="T33"/>
                </a:cxn>
                <a:cxn ang="T71">
                  <a:pos x="T34" y="T35"/>
                </a:cxn>
                <a:cxn ang="T72">
                  <a:pos x="T36" y="T37"/>
                </a:cxn>
                <a:cxn ang="T73">
                  <a:pos x="T38" y="T39"/>
                </a:cxn>
                <a:cxn ang="T74">
                  <a:pos x="T40" y="T41"/>
                </a:cxn>
                <a:cxn ang="T75">
                  <a:pos x="T42" y="T43"/>
                </a:cxn>
                <a:cxn ang="T76">
                  <a:pos x="T44" y="T45"/>
                </a:cxn>
                <a:cxn ang="T77">
                  <a:pos x="T46" y="T47"/>
                </a:cxn>
                <a:cxn ang="T78">
                  <a:pos x="T48" y="T49"/>
                </a:cxn>
                <a:cxn ang="T79">
                  <a:pos x="T50" y="T51"/>
                </a:cxn>
                <a:cxn ang="T80">
                  <a:pos x="T52" y="T53"/>
                </a:cxn>
              </a:cxnLst>
              <a:rect l="0" t="0" r="r" b="b"/>
              <a:pathLst>
                <a:path w="82" h="137">
                  <a:moveTo>
                    <a:pt x="82" y="33"/>
                  </a:moveTo>
                  <a:lnTo>
                    <a:pt x="68" y="11"/>
                  </a:lnTo>
                  <a:lnTo>
                    <a:pt x="48" y="6"/>
                  </a:lnTo>
                  <a:lnTo>
                    <a:pt x="22" y="10"/>
                  </a:lnTo>
                  <a:lnTo>
                    <a:pt x="12" y="22"/>
                  </a:lnTo>
                  <a:lnTo>
                    <a:pt x="6" y="43"/>
                  </a:lnTo>
                  <a:lnTo>
                    <a:pt x="6" y="59"/>
                  </a:lnTo>
                  <a:lnTo>
                    <a:pt x="10" y="70"/>
                  </a:lnTo>
                  <a:lnTo>
                    <a:pt x="10" y="88"/>
                  </a:lnTo>
                  <a:lnTo>
                    <a:pt x="13" y="107"/>
                  </a:lnTo>
                  <a:lnTo>
                    <a:pt x="31" y="127"/>
                  </a:lnTo>
                  <a:lnTo>
                    <a:pt x="42" y="127"/>
                  </a:lnTo>
                  <a:lnTo>
                    <a:pt x="56" y="127"/>
                  </a:lnTo>
                  <a:lnTo>
                    <a:pt x="56" y="129"/>
                  </a:lnTo>
                  <a:lnTo>
                    <a:pt x="46" y="137"/>
                  </a:lnTo>
                  <a:lnTo>
                    <a:pt x="33" y="135"/>
                  </a:lnTo>
                  <a:lnTo>
                    <a:pt x="18" y="129"/>
                  </a:lnTo>
                  <a:lnTo>
                    <a:pt x="5" y="108"/>
                  </a:lnTo>
                  <a:lnTo>
                    <a:pt x="4" y="76"/>
                  </a:lnTo>
                  <a:lnTo>
                    <a:pt x="0" y="55"/>
                  </a:lnTo>
                  <a:lnTo>
                    <a:pt x="0" y="36"/>
                  </a:lnTo>
                  <a:lnTo>
                    <a:pt x="8" y="20"/>
                  </a:lnTo>
                  <a:lnTo>
                    <a:pt x="16" y="6"/>
                  </a:lnTo>
                  <a:lnTo>
                    <a:pt x="38" y="0"/>
                  </a:lnTo>
                  <a:lnTo>
                    <a:pt x="68" y="4"/>
                  </a:lnTo>
                  <a:lnTo>
                    <a:pt x="80" y="11"/>
                  </a:lnTo>
                  <a:lnTo>
                    <a:pt x="82" y="33"/>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117"/>
            <p:cNvSpPr>
              <a:spLocks/>
            </p:cNvSpPr>
            <p:nvPr/>
          </p:nvSpPr>
          <p:spPr bwMode="auto">
            <a:xfrm flipH="1">
              <a:off x="3943" y="2344"/>
              <a:ext cx="25" cy="39"/>
            </a:xfrm>
            <a:custGeom>
              <a:avLst/>
              <a:gdLst>
                <a:gd name="T0" fmla="*/ 0 w 74"/>
                <a:gd name="T1" fmla="*/ 0 h 115"/>
                <a:gd name="T2" fmla="*/ 0 w 74"/>
                <a:gd name="T3" fmla="*/ 0 h 115"/>
                <a:gd name="T4" fmla="*/ 0 w 74"/>
                <a:gd name="T5" fmla="*/ 0 h 115"/>
                <a:gd name="T6" fmla="*/ 0 w 74"/>
                <a:gd name="T7" fmla="*/ 0 h 115"/>
                <a:gd name="T8" fmla="*/ 0 w 74"/>
                <a:gd name="T9" fmla="*/ 0 h 115"/>
                <a:gd name="T10" fmla="*/ 0 w 74"/>
                <a:gd name="T11" fmla="*/ 0 h 115"/>
                <a:gd name="T12" fmla="*/ 0 w 74"/>
                <a:gd name="T13" fmla="*/ 0 h 115"/>
                <a:gd name="T14" fmla="*/ 0 w 74"/>
                <a:gd name="T15" fmla="*/ 0 h 115"/>
                <a:gd name="T16" fmla="*/ 0 w 74"/>
                <a:gd name="T17" fmla="*/ 0 h 115"/>
                <a:gd name="T18" fmla="*/ 0 w 74"/>
                <a:gd name="T19" fmla="*/ 0 h 11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74" h="115">
                  <a:moveTo>
                    <a:pt x="0" y="0"/>
                  </a:moveTo>
                  <a:lnTo>
                    <a:pt x="9" y="25"/>
                  </a:lnTo>
                  <a:lnTo>
                    <a:pt x="24" y="51"/>
                  </a:lnTo>
                  <a:lnTo>
                    <a:pt x="41" y="75"/>
                  </a:lnTo>
                  <a:lnTo>
                    <a:pt x="63" y="105"/>
                  </a:lnTo>
                  <a:lnTo>
                    <a:pt x="74" y="115"/>
                  </a:lnTo>
                  <a:lnTo>
                    <a:pt x="49" y="101"/>
                  </a:lnTo>
                  <a:lnTo>
                    <a:pt x="30" y="74"/>
                  </a:lnTo>
                  <a:lnTo>
                    <a:pt x="11" y="42"/>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118"/>
            <p:cNvSpPr>
              <a:spLocks/>
            </p:cNvSpPr>
            <p:nvPr/>
          </p:nvSpPr>
          <p:spPr bwMode="auto">
            <a:xfrm flipH="1">
              <a:off x="3898" y="2208"/>
              <a:ext cx="152" cy="151"/>
            </a:xfrm>
            <a:custGeom>
              <a:avLst/>
              <a:gdLst>
                <a:gd name="T0" fmla="*/ 1 w 427"/>
                <a:gd name="T1" fmla="*/ 0 h 431"/>
                <a:gd name="T2" fmla="*/ 1 w 427"/>
                <a:gd name="T3" fmla="*/ 0 h 431"/>
                <a:gd name="T4" fmla="*/ 1 w 427"/>
                <a:gd name="T5" fmla="*/ 0 h 431"/>
                <a:gd name="T6" fmla="*/ 0 w 427"/>
                <a:gd name="T7" fmla="*/ 0 h 431"/>
                <a:gd name="T8" fmla="*/ 0 w 427"/>
                <a:gd name="T9" fmla="*/ 0 h 431"/>
                <a:gd name="T10" fmla="*/ 1 w 427"/>
                <a:gd name="T11" fmla="*/ 0 h 431"/>
                <a:gd name="T12" fmla="*/ 1 w 427"/>
                <a:gd name="T13" fmla="*/ 0 h 431"/>
                <a:gd name="T14" fmla="*/ 1 w 427"/>
                <a:gd name="T15" fmla="*/ 0 h 431"/>
                <a:gd name="T16" fmla="*/ 1 w 427"/>
                <a:gd name="T17" fmla="*/ 1 h 431"/>
                <a:gd name="T18" fmla="*/ 0 w 427"/>
                <a:gd name="T19" fmla="*/ 1 h 431"/>
                <a:gd name="T20" fmla="*/ 0 w 427"/>
                <a:gd name="T21" fmla="*/ 0 h 431"/>
                <a:gd name="T22" fmla="*/ 0 w 427"/>
                <a:gd name="T23" fmla="*/ 0 h 431"/>
                <a:gd name="T24" fmla="*/ 0 w 427"/>
                <a:gd name="T25" fmla="*/ 0 h 431"/>
                <a:gd name="T26" fmla="*/ 0 w 427"/>
                <a:gd name="T27" fmla="*/ 0 h 431"/>
                <a:gd name="T28" fmla="*/ 0 w 427"/>
                <a:gd name="T29" fmla="*/ 0 h 431"/>
                <a:gd name="T30" fmla="*/ 0 w 427"/>
                <a:gd name="T31" fmla="*/ 1 h 431"/>
                <a:gd name="T32" fmla="*/ 0 w 427"/>
                <a:gd name="T33" fmla="*/ 1 h 431"/>
                <a:gd name="T34" fmla="*/ 0 w 427"/>
                <a:gd name="T35" fmla="*/ 1 h 431"/>
                <a:gd name="T36" fmla="*/ 0 w 427"/>
                <a:gd name="T37" fmla="*/ 1 h 431"/>
                <a:gd name="T38" fmla="*/ 0 w 427"/>
                <a:gd name="T39" fmla="*/ 1 h 431"/>
                <a:gd name="T40" fmla="*/ 0 w 427"/>
                <a:gd name="T41" fmla="*/ 1 h 431"/>
                <a:gd name="T42" fmla="*/ 0 w 427"/>
                <a:gd name="T43" fmla="*/ 1 h 431"/>
                <a:gd name="T44" fmla="*/ 0 w 427"/>
                <a:gd name="T45" fmla="*/ 1 h 431"/>
                <a:gd name="T46" fmla="*/ 0 w 427"/>
                <a:gd name="T47" fmla="*/ 1 h 431"/>
                <a:gd name="T48" fmla="*/ 0 w 427"/>
                <a:gd name="T49" fmla="*/ 0 h 431"/>
                <a:gd name="T50" fmla="*/ 0 w 427"/>
                <a:gd name="T51" fmla="*/ 0 h 431"/>
                <a:gd name="T52" fmla="*/ 0 w 427"/>
                <a:gd name="T53" fmla="*/ 0 h 431"/>
                <a:gd name="T54" fmla="*/ 0 w 427"/>
                <a:gd name="T55" fmla="*/ 0 h 431"/>
                <a:gd name="T56" fmla="*/ 0 w 427"/>
                <a:gd name="T57" fmla="*/ 0 h 431"/>
                <a:gd name="T58" fmla="*/ 0 w 427"/>
                <a:gd name="T59" fmla="*/ 0 h 431"/>
                <a:gd name="T60" fmla="*/ 0 w 427"/>
                <a:gd name="T61" fmla="*/ 0 h 431"/>
                <a:gd name="T62" fmla="*/ 0 w 427"/>
                <a:gd name="T63" fmla="*/ 0 h 431"/>
                <a:gd name="T64" fmla="*/ 1 w 427"/>
                <a:gd name="T65" fmla="*/ 0 h 431"/>
                <a:gd name="T66" fmla="*/ 1 w 427"/>
                <a:gd name="T67" fmla="*/ 0 h 431"/>
                <a:gd name="T68" fmla="*/ 1 w 427"/>
                <a:gd name="T69" fmla="*/ 0 h 431"/>
                <a:gd name="T70" fmla="*/ 1 w 427"/>
                <a:gd name="T71" fmla="*/ 0 h 431"/>
                <a:gd name="T72" fmla="*/ 1 w 427"/>
                <a:gd name="T73" fmla="*/ 0 h 431"/>
                <a:gd name="T74" fmla="*/ 1 w 427"/>
                <a:gd name="T75" fmla="*/ 0 h 431"/>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Lst>
              <a:ahLst/>
              <a:cxnLst>
                <a:cxn ang="T76">
                  <a:pos x="T0" y="T1"/>
                </a:cxn>
                <a:cxn ang="T77">
                  <a:pos x="T2" y="T3"/>
                </a:cxn>
                <a:cxn ang="T78">
                  <a:pos x="T4" y="T5"/>
                </a:cxn>
                <a:cxn ang="T79">
                  <a:pos x="T6" y="T7"/>
                </a:cxn>
                <a:cxn ang="T80">
                  <a:pos x="T8" y="T9"/>
                </a:cxn>
                <a:cxn ang="T81">
                  <a:pos x="T10" y="T11"/>
                </a:cxn>
                <a:cxn ang="T82">
                  <a:pos x="T12" y="T13"/>
                </a:cxn>
                <a:cxn ang="T83">
                  <a:pos x="T14" y="T15"/>
                </a:cxn>
                <a:cxn ang="T84">
                  <a:pos x="T16" y="T17"/>
                </a:cxn>
                <a:cxn ang="T85">
                  <a:pos x="T18" y="T19"/>
                </a:cxn>
                <a:cxn ang="T86">
                  <a:pos x="T20" y="T21"/>
                </a:cxn>
                <a:cxn ang="T87">
                  <a:pos x="T22" y="T23"/>
                </a:cxn>
                <a:cxn ang="T88">
                  <a:pos x="T24" y="T25"/>
                </a:cxn>
                <a:cxn ang="T89">
                  <a:pos x="T26" y="T27"/>
                </a:cxn>
                <a:cxn ang="T90">
                  <a:pos x="T28" y="T29"/>
                </a:cxn>
                <a:cxn ang="T91">
                  <a:pos x="T30" y="T31"/>
                </a:cxn>
                <a:cxn ang="T92">
                  <a:pos x="T32" y="T33"/>
                </a:cxn>
                <a:cxn ang="T93">
                  <a:pos x="T34" y="T35"/>
                </a:cxn>
                <a:cxn ang="T94">
                  <a:pos x="T36" y="T37"/>
                </a:cxn>
                <a:cxn ang="T95">
                  <a:pos x="T38" y="T39"/>
                </a:cxn>
                <a:cxn ang="T96">
                  <a:pos x="T40" y="T41"/>
                </a:cxn>
                <a:cxn ang="T97">
                  <a:pos x="T42" y="T43"/>
                </a:cxn>
                <a:cxn ang="T98">
                  <a:pos x="T44" y="T45"/>
                </a:cxn>
                <a:cxn ang="T99">
                  <a:pos x="T46" y="T47"/>
                </a:cxn>
                <a:cxn ang="T100">
                  <a:pos x="T48" y="T49"/>
                </a:cxn>
                <a:cxn ang="T101">
                  <a:pos x="T50" y="T51"/>
                </a:cxn>
                <a:cxn ang="T102">
                  <a:pos x="T52" y="T53"/>
                </a:cxn>
                <a:cxn ang="T103">
                  <a:pos x="T54" y="T55"/>
                </a:cxn>
                <a:cxn ang="T104">
                  <a:pos x="T56" y="T57"/>
                </a:cxn>
                <a:cxn ang="T105">
                  <a:pos x="T58" y="T59"/>
                </a:cxn>
                <a:cxn ang="T106">
                  <a:pos x="T60" y="T61"/>
                </a:cxn>
                <a:cxn ang="T107">
                  <a:pos x="T62" y="T63"/>
                </a:cxn>
                <a:cxn ang="T108">
                  <a:pos x="T64" y="T65"/>
                </a:cxn>
                <a:cxn ang="T109">
                  <a:pos x="T66" y="T67"/>
                </a:cxn>
                <a:cxn ang="T110">
                  <a:pos x="T68" y="T69"/>
                </a:cxn>
                <a:cxn ang="T111">
                  <a:pos x="T70" y="T71"/>
                </a:cxn>
                <a:cxn ang="T112">
                  <a:pos x="T72" y="T73"/>
                </a:cxn>
                <a:cxn ang="T113">
                  <a:pos x="T74" y="T75"/>
                </a:cxn>
              </a:cxnLst>
              <a:rect l="0" t="0" r="r" b="b"/>
              <a:pathLst>
                <a:path w="427" h="431">
                  <a:moveTo>
                    <a:pt x="393" y="124"/>
                  </a:moveTo>
                  <a:lnTo>
                    <a:pt x="328" y="114"/>
                  </a:lnTo>
                  <a:lnTo>
                    <a:pt x="285" y="120"/>
                  </a:lnTo>
                  <a:lnTo>
                    <a:pt x="259" y="150"/>
                  </a:lnTo>
                  <a:lnTo>
                    <a:pt x="275" y="187"/>
                  </a:lnTo>
                  <a:lnTo>
                    <a:pt x="295" y="201"/>
                  </a:lnTo>
                  <a:lnTo>
                    <a:pt x="301" y="235"/>
                  </a:lnTo>
                  <a:lnTo>
                    <a:pt x="289" y="258"/>
                  </a:lnTo>
                  <a:lnTo>
                    <a:pt x="299" y="292"/>
                  </a:lnTo>
                  <a:lnTo>
                    <a:pt x="273" y="292"/>
                  </a:lnTo>
                  <a:lnTo>
                    <a:pt x="266" y="253"/>
                  </a:lnTo>
                  <a:lnTo>
                    <a:pt x="249" y="235"/>
                  </a:lnTo>
                  <a:lnTo>
                    <a:pt x="217" y="235"/>
                  </a:lnTo>
                  <a:lnTo>
                    <a:pt x="186" y="244"/>
                  </a:lnTo>
                  <a:lnTo>
                    <a:pt x="176" y="270"/>
                  </a:lnTo>
                  <a:lnTo>
                    <a:pt x="172" y="306"/>
                  </a:lnTo>
                  <a:lnTo>
                    <a:pt x="176" y="332"/>
                  </a:lnTo>
                  <a:lnTo>
                    <a:pt x="176" y="351"/>
                  </a:lnTo>
                  <a:lnTo>
                    <a:pt x="174" y="374"/>
                  </a:lnTo>
                  <a:lnTo>
                    <a:pt x="154" y="394"/>
                  </a:lnTo>
                  <a:lnTo>
                    <a:pt x="139" y="406"/>
                  </a:lnTo>
                  <a:lnTo>
                    <a:pt x="103" y="431"/>
                  </a:lnTo>
                  <a:lnTo>
                    <a:pt x="33" y="358"/>
                  </a:lnTo>
                  <a:lnTo>
                    <a:pt x="12" y="300"/>
                  </a:lnTo>
                  <a:lnTo>
                    <a:pt x="4" y="206"/>
                  </a:lnTo>
                  <a:lnTo>
                    <a:pt x="0" y="138"/>
                  </a:lnTo>
                  <a:lnTo>
                    <a:pt x="8" y="74"/>
                  </a:lnTo>
                  <a:lnTo>
                    <a:pt x="27" y="38"/>
                  </a:lnTo>
                  <a:lnTo>
                    <a:pt x="69" y="13"/>
                  </a:lnTo>
                  <a:lnTo>
                    <a:pt x="108" y="6"/>
                  </a:lnTo>
                  <a:lnTo>
                    <a:pt x="182" y="0"/>
                  </a:lnTo>
                  <a:lnTo>
                    <a:pt x="255" y="4"/>
                  </a:lnTo>
                  <a:lnTo>
                    <a:pt x="345" y="19"/>
                  </a:lnTo>
                  <a:lnTo>
                    <a:pt x="386" y="40"/>
                  </a:lnTo>
                  <a:lnTo>
                    <a:pt x="406" y="60"/>
                  </a:lnTo>
                  <a:lnTo>
                    <a:pt x="427" y="91"/>
                  </a:lnTo>
                  <a:lnTo>
                    <a:pt x="423" y="107"/>
                  </a:lnTo>
                  <a:lnTo>
                    <a:pt x="393" y="124"/>
                  </a:lnTo>
                  <a:close/>
                </a:path>
              </a:pathLst>
            </a:custGeom>
            <a:solidFill>
              <a:srgbClr val="603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119"/>
            <p:cNvSpPr>
              <a:spLocks/>
            </p:cNvSpPr>
            <p:nvPr/>
          </p:nvSpPr>
          <p:spPr bwMode="auto">
            <a:xfrm flipH="1">
              <a:off x="3903" y="2210"/>
              <a:ext cx="145" cy="144"/>
            </a:xfrm>
            <a:custGeom>
              <a:avLst/>
              <a:gdLst>
                <a:gd name="T0" fmla="*/ 1 w 405"/>
                <a:gd name="T1" fmla="*/ 0 h 413"/>
                <a:gd name="T2" fmla="*/ 1 w 405"/>
                <a:gd name="T3" fmla="*/ 0 h 413"/>
                <a:gd name="T4" fmla="*/ 1 w 405"/>
                <a:gd name="T5" fmla="*/ 0 h 413"/>
                <a:gd name="T6" fmla="*/ 0 w 405"/>
                <a:gd name="T7" fmla="*/ 0 h 413"/>
                <a:gd name="T8" fmla="*/ 0 w 405"/>
                <a:gd name="T9" fmla="*/ 0 h 413"/>
                <a:gd name="T10" fmla="*/ 0 w 405"/>
                <a:gd name="T11" fmla="*/ 0 h 413"/>
                <a:gd name="T12" fmla="*/ 0 w 405"/>
                <a:gd name="T13" fmla="*/ 0 h 413"/>
                <a:gd name="T14" fmla="*/ 0 w 405"/>
                <a:gd name="T15" fmla="*/ 0 h 413"/>
                <a:gd name="T16" fmla="*/ 0 w 405"/>
                <a:gd name="T17" fmla="*/ 0 h 413"/>
                <a:gd name="T18" fmla="*/ 0 w 405"/>
                <a:gd name="T19" fmla="*/ 0 h 413"/>
                <a:gd name="T20" fmla="*/ 0 w 405"/>
                <a:gd name="T21" fmla="*/ 0 h 413"/>
                <a:gd name="T22" fmla="*/ 0 w 405"/>
                <a:gd name="T23" fmla="*/ 0 h 413"/>
                <a:gd name="T24" fmla="*/ 1 w 405"/>
                <a:gd name="T25" fmla="*/ 0 h 413"/>
                <a:gd name="T26" fmla="*/ 0 w 405"/>
                <a:gd name="T27" fmla="*/ 0 h 413"/>
                <a:gd name="T28" fmla="*/ 1 w 405"/>
                <a:gd name="T29" fmla="*/ 0 h 413"/>
                <a:gd name="T30" fmla="*/ 0 w 405"/>
                <a:gd name="T31" fmla="*/ 0 h 413"/>
                <a:gd name="T32" fmla="*/ 0 w 405"/>
                <a:gd name="T33" fmla="*/ 0 h 413"/>
                <a:gd name="T34" fmla="*/ 0 w 405"/>
                <a:gd name="T35" fmla="*/ 0 h 413"/>
                <a:gd name="T36" fmla="*/ 0 w 405"/>
                <a:gd name="T37" fmla="*/ 0 h 413"/>
                <a:gd name="T38" fmla="*/ 0 w 405"/>
                <a:gd name="T39" fmla="*/ 0 h 413"/>
                <a:gd name="T40" fmla="*/ 0 w 405"/>
                <a:gd name="T41" fmla="*/ 0 h 413"/>
                <a:gd name="T42" fmla="*/ 0 w 405"/>
                <a:gd name="T43" fmla="*/ 0 h 413"/>
                <a:gd name="T44" fmla="*/ 0 w 405"/>
                <a:gd name="T45" fmla="*/ 1 h 413"/>
                <a:gd name="T46" fmla="*/ 0 w 405"/>
                <a:gd name="T47" fmla="*/ 1 h 413"/>
                <a:gd name="T48" fmla="*/ 0 w 405"/>
                <a:gd name="T49" fmla="*/ 1 h 413"/>
                <a:gd name="T50" fmla="*/ 0 w 405"/>
                <a:gd name="T51" fmla="*/ 1 h 413"/>
                <a:gd name="T52" fmla="*/ 0 w 405"/>
                <a:gd name="T53" fmla="*/ 1 h 413"/>
                <a:gd name="T54" fmla="*/ 0 w 405"/>
                <a:gd name="T55" fmla="*/ 1 h 413"/>
                <a:gd name="T56" fmla="*/ 0 w 405"/>
                <a:gd name="T57" fmla="*/ 1 h 413"/>
                <a:gd name="T58" fmla="*/ 0 w 405"/>
                <a:gd name="T59" fmla="*/ 1 h 413"/>
                <a:gd name="T60" fmla="*/ 0 w 405"/>
                <a:gd name="T61" fmla="*/ 0 h 413"/>
                <a:gd name="T62" fmla="*/ 0 w 405"/>
                <a:gd name="T63" fmla="*/ 0 h 413"/>
                <a:gd name="T64" fmla="*/ 0 w 405"/>
                <a:gd name="T65" fmla="*/ 0 h 413"/>
                <a:gd name="T66" fmla="*/ 0 w 405"/>
                <a:gd name="T67" fmla="*/ 0 h 413"/>
                <a:gd name="T68" fmla="*/ 0 w 405"/>
                <a:gd name="T69" fmla="*/ 0 h 413"/>
                <a:gd name="T70" fmla="*/ 0 w 405"/>
                <a:gd name="T71" fmla="*/ 0 h 413"/>
                <a:gd name="T72" fmla="*/ 0 w 405"/>
                <a:gd name="T73" fmla="*/ 0 h 413"/>
                <a:gd name="T74" fmla="*/ 0 w 405"/>
                <a:gd name="T75" fmla="*/ 0 h 413"/>
                <a:gd name="T76" fmla="*/ 0 w 405"/>
                <a:gd name="T77" fmla="*/ 0 h 413"/>
                <a:gd name="T78" fmla="*/ 0 w 405"/>
                <a:gd name="T79" fmla="*/ 0 h 413"/>
                <a:gd name="T80" fmla="*/ 0 w 405"/>
                <a:gd name="T81" fmla="*/ 0 h 413"/>
                <a:gd name="T82" fmla="*/ 0 w 405"/>
                <a:gd name="T83" fmla="*/ 0 h 413"/>
                <a:gd name="T84" fmla="*/ 1 w 405"/>
                <a:gd name="T85" fmla="*/ 0 h 413"/>
                <a:gd name="T86" fmla="*/ 1 w 405"/>
                <a:gd name="T87" fmla="*/ 0 h 413"/>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Lst>
              <a:ahLst/>
              <a:cxnLst>
                <a:cxn ang="T88">
                  <a:pos x="T0" y="T1"/>
                </a:cxn>
                <a:cxn ang="T89">
                  <a:pos x="T2" y="T3"/>
                </a:cxn>
                <a:cxn ang="T90">
                  <a:pos x="T4" y="T5"/>
                </a:cxn>
                <a:cxn ang="T91">
                  <a:pos x="T6" y="T7"/>
                </a:cxn>
                <a:cxn ang="T92">
                  <a:pos x="T8" y="T9"/>
                </a:cxn>
                <a:cxn ang="T93">
                  <a:pos x="T10" y="T11"/>
                </a:cxn>
                <a:cxn ang="T94">
                  <a:pos x="T12" y="T13"/>
                </a:cxn>
                <a:cxn ang="T95">
                  <a:pos x="T14" y="T15"/>
                </a:cxn>
                <a:cxn ang="T96">
                  <a:pos x="T16" y="T17"/>
                </a:cxn>
                <a:cxn ang="T97">
                  <a:pos x="T18" y="T19"/>
                </a:cxn>
                <a:cxn ang="T98">
                  <a:pos x="T20" y="T21"/>
                </a:cxn>
                <a:cxn ang="T99">
                  <a:pos x="T22" y="T23"/>
                </a:cxn>
                <a:cxn ang="T100">
                  <a:pos x="T24" y="T25"/>
                </a:cxn>
                <a:cxn ang="T101">
                  <a:pos x="T26" y="T27"/>
                </a:cxn>
                <a:cxn ang="T102">
                  <a:pos x="T28" y="T29"/>
                </a:cxn>
                <a:cxn ang="T103">
                  <a:pos x="T30" y="T31"/>
                </a:cxn>
                <a:cxn ang="T104">
                  <a:pos x="T32" y="T33"/>
                </a:cxn>
                <a:cxn ang="T105">
                  <a:pos x="T34" y="T35"/>
                </a:cxn>
                <a:cxn ang="T106">
                  <a:pos x="T36" y="T37"/>
                </a:cxn>
                <a:cxn ang="T107">
                  <a:pos x="T38" y="T39"/>
                </a:cxn>
                <a:cxn ang="T108">
                  <a:pos x="T40" y="T41"/>
                </a:cxn>
                <a:cxn ang="T109">
                  <a:pos x="T42" y="T43"/>
                </a:cxn>
                <a:cxn ang="T110">
                  <a:pos x="T44" y="T45"/>
                </a:cxn>
                <a:cxn ang="T111">
                  <a:pos x="T46" y="T47"/>
                </a:cxn>
                <a:cxn ang="T112">
                  <a:pos x="T48" y="T49"/>
                </a:cxn>
                <a:cxn ang="T113">
                  <a:pos x="T50" y="T51"/>
                </a:cxn>
                <a:cxn ang="T114">
                  <a:pos x="T52" y="T53"/>
                </a:cxn>
                <a:cxn ang="T115">
                  <a:pos x="T54" y="T55"/>
                </a:cxn>
                <a:cxn ang="T116">
                  <a:pos x="T56" y="T57"/>
                </a:cxn>
                <a:cxn ang="T117">
                  <a:pos x="T58" y="T59"/>
                </a:cxn>
                <a:cxn ang="T118">
                  <a:pos x="T60" y="T61"/>
                </a:cxn>
                <a:cxn ang="T119">
                  <a:pos x="T62" y="T63"/>
                </a:cxn>
                <a:cxn ang="T120">
                  <a:pos x="T64" y="T65"/>
                </a:cxn>
                <a:cxn ang="T121">
                  <a:pos x="T66" y="T67"/>
                </a:cxn>
                <a:cxn ang="T122">
                  <a:pos x="T68" y="T69"/>
                </a:cxn>
                <a:cxn ang="T123">
                  <a:pos x="T70" y="T71"/>
                </a:cxn>
                <a:cxn ang="T124">
                  <a:pos x="T72" y="T73"/>
                </a:cxn>
                <a:cxn ang="T125">
                  <a:pos x="T74" y="T75"/>
                </a:cxn>
                <a:cxn ang="T126">
                  <a:pos x="T76" y="T77"/>
                </a:cxn>
                <a:cxn ang="T127">
                  <a:pos x="T78" y="T79"/>
                </a:cxn>
                <a:cxn ang="T128">
                  <a:pos x="T80" y="T81"/>
                </a:cxn>
                <a:cxn ang="T129">
                  <a:pos x="T82" y="T83"/>
                </a:cxn>
                <a:cxn ang="T130">
                  <a:pos x="T84" y="T85"/>
                </a:cxn>
                <a:cxn ang="T131">
                  <a:pos x="T86" y="T87"/>
                </a:cxn>
              </a:cxnLst>
              <a:rect l="0" t="0" r="r" b="b"/>
              <a:pathLst>
                <a:path w="405" h="413">
                  <a:moveTo>
                    <a:pt x="338" y="26"/>
                  </a:moveTo>
                  <a:lnTo>
                    <a:pt x="373" y="40"/>
                  </a:lnTo>
                  <a:lnTo>
                    <a:pt x="389" y="63"/>
                  </a:lnTo>
                  <a:lnTo>
                    <a:pt x="398" y="77"/>
                  </a:lnTo>
                  <a:lnTo>
                    <a:pt x="405" y="88"/>
                  </a:lnTo>
                  <a:lnTo>
                    <a:pt x="396" y="97"/>
                  </a:lnTo>
                  <a:lnTo>
                    <a:pt x="379" y="108"/>
                  </a:lnTo>
                  <a:lnTo>
                    <a:pt x="335" y="101"/>
                  </a:lnTo>
                  <a:lnTo>
                    <a:pt x="303" y="101"/>
                  </a:lnTo>
                  <a:lnTo>
                    <a:pt x="281" y="90"/>
                  </a:lnTo>
                  <a:lnTo>
                    <a:pt x="249" y="83"/>
                  </a:lnTo>
                  <a:lnTo>
                    <a:pt x="220" y="81"/>
                  </a:lnTo>
                  <a:lnTo>
                    <a:pt x="186" y="83"/>
                  </a:lnTo>
                  <a:lnTo>
                    <a:pt x="235" y="88"/>
                  </a:lnTo>
                  <a:lnTo>
                    <a:pt x="260" y="94"/>
                  </a:lnTo>
                  <a:lnTo>
                    <a:pt x="277" y="101"/>
                  </a:lnTo>
                  <a:lnTo>
                    <a:pt x="281" y="104"/>
                  </a:lnTo>
                  <a:lnTo>
                    <a:pt x="269" y="108"/>
                  </a:lnTo>
                  <a:lnTo>
                    <a:pt x="260" y="118"/>
                  </a:lnTo>
                  <a:lnTo>
                    <a:pt x="242" y="108"/>
                  </a:lnTo>
                  <a:lnTo>
                    <a:pt x="228" y="105"/>
                  </a:lnTo>
                  <a:lnTo>
                    <a:pt x="199" y="99"/>
                  </a:lnTo>
                  <a:lnTo>
                    <a:pt x="189" y="99"/>
                  </a:lnTo>
                  <a:lnTo>
                    <a:pt x="219" y="110"/>
                  </a:lnTo>
                  <a:lnTo>
                    <a:pt x="240" y="120"/>
                  </a:lnTo>
                  <a:lnTo>
                    <a:pt x="253" y="128"/>
                  </a:lnTo>
                  <a:lnTo>
                    <a:pt x="242" y="138"/>
                  </a:lnTo>
                  <a:lnTo>
                    <a:pt x="219" y="130"/>
                  </a:lnTo>
                  <a:lnTo>
                    <a:pt x="199" y="126"/>
                  </a:lnTo>
                  <a:lnTo>
                    <a:pt x="235" y="144"/>
                  </a:lnTo>
                  <a:lnTo>
                    <a:pt x="247" y="153"/>
                  </a:lnTo>
                  <a:lnTo>
                    <a:pt x="251" y="170"/>
                  </a:lnTo>
                  <a:lnTo>
                    <a:pt x="258" y="179"/>
                  </a:lnTo>
                  <a:lnTo>
                    <a:pt x="235" y="168"/>
                  </a:lnTo>
                  <a:lnTo>
                    <a:pt x="215" y="165"/>
                  </a:lnTo>
                  <a:lnTo>
                    <a:pt x="182" y="163"/>
                  </a:lnTo>
                  <a:lnTo>
                    <a:pt x="231" y="177"/>
                  </a:lnTo>
                  <a:lnTo>
                    <a:pt x="261" y="189"/>
                  </a:lnTo>
                  <a:lnTo>
                    <a:pt x="281" y="200"/>
                  </a:lnTo>
                  <a:lnTo>
                    <a:pt x="283" y="215"/>
                  </a:lnTo>
                  <a:lnTo>
                    <a:pt x="260" y="204"/>
                  </a:lnTo>
                  <a:lnTo>
                    <a:pt x="226" y="193"/>
                  </a:lnTo>
                  <a:lnTo>
                    <a:pt x="211" y="193"/>
                  </a:lnTo>
                  <a:lnTo>
                    <a:pt x="247" y="205"/>
                  </a:lnTo>
                  <a:lnTo>
                    <a:pt x="275" y="217"/>
                  </a:lnTo>
                  <a:lnTo>
                    <a:pt x="285" y="227"/>
                  </a:lnTo>
                  <a:lnTo>
                    <a:pt x="281" y="238"/>
                  </a:lnTo>
                  <a:lnTo>
                    <a:pt x="260" y="229"/>
                  </a:lnTo>
                  <a:lnTo>
                    <a:pt x="239" y="221"/>
                  </a:lnTo>
                  <a:lnTo>
                    <a:pt x="197" y="219"/>
                  </a:lnTo>
                  <a:lnTo>
                    <a:pt x="180" y="221"/>
                  </a:lnTo>
                  <a:lnTo>
                    <a:pt x="141" y="223"/>
                  </a:lnTo>
                  <a:lnTo>
                    <a:pt x="95" y="217"/>
                  </a:lnTo>
                  <a:lnTo>
                    <a:pt x="122" y="227"/>
                  </a:lnTo>
                  <a:lnTo>
                    <a:pt x="170" y="236"/>
                  </a:lnTo>
                  <a:lnTo>
                    <a:pt x="161" y="252"/>
                  </a:lnTo>
                  <a:lnTo>
                    <a:pt x="125" y="244"/>
                  </a:lnTo>
                  <a:lnTo>
                    <a:pt x="93" y="232"/>
                  </a:lnTo>
                  <a:lnTo>
                    <a:pt x="70" y="221"/>
                  </a:lnTo>
                  <a:lnTo>
                    <a:pt x="112" y="252"/>
                  </a:lnTo>
                  <a:lnTo>
                    <a:pt x="139" y="260"/>
                  </a:lnTo>
                  <a:lnTo>
                    <a:pt x="161" y="267"/>
                  </a:lnTo>
                  <a:lnTo>
                    <a:pt x="159" y="285"/>
                  </a:lnTo>
                  <a:lnTo>
                    <a:pt x="125" y="279"/>
                  </a:lnTo>
                  <a:lnTo>
                    <a:pt x="101" y="271"/>
                  </a:lnTo>
                  <a:lnTo>
                    <a:pt x="116" y="283"/>
                  </a:lnTo>
                  <a:lnTo>
                    <a:pt x="144" y="290"/>
                  </a:lnTo>
                  <a:lnTo>
                    <a:pt x="159" y="292"/>
                  </a:lnTo>
                  <a:lnTo>
                    <a:pt x="159" y="328"/>
                  </a:lnTo>
                  <a:lnTo>
                    <a:pt x="127" y="315"/>
                  </a:lnTo>
                  <a:lnTo>
                    <a:pt x="103" y="306"/>
                  </a:lnTo>
                  <a:lnTo>
                    <a:pt x="129" y="326"/>
                  </a:lnTo>
                  <a:lnTo>
                    <a:pt x="162" y="340"/>
                  </a:lnTo>
                  <a:lnTo>
                    <a:pt x="161" y="356"/>
                  </a:lnTo>
                  <a:lnTo>
                    <a:pt x="142" y="376"/>
                  </a:lnTo>
                  <a:lnTo>
                    <a:pt x="125" y="354"/>
                  </a:lnTo>
                  <a:lnTo>
                    <a:pt x="103" y="328"/>
                  </a:lnTo>
                  <a:lnTo>
                    <a:pt x="89" y="303"/>
                  </a:lnTo>
                  <a:lnTo>
                    <a:pt x="103" y="342"/>
                  </a:lnTo>
                  <a:lnTo>
                    <a:pt x="116" y="356"/>
                  </a:lnTo>
                  <a:lnTo>
                    <a:pt x="139" y="385"/>
                  </a:lnTo>
                  <a:lnTo>
                    <a:pt x="122" y="404"/>
                  </a:lnTo>
                  <a:lnTo>
                    <a:pt x="97" y="381"/>
                  </a:lnTo>
                  <a:lnTo>
                    <a:pt x="79" y="354"/>
                  </a:lnTo>
                  <a:lnTo>
                    <a:pt x="61" y="326"/>
                  </a:lnTo>
                  <a:lnTo>
                    <a:pt x="77" y="368"/>
                  </a:lnTo>
                  <a:lnTo>
                    <a:pt x="93" y="386"/>
                  </a:lnTo>
                  <a:lnTo>
                    <a:pt x="108" y="406"/>
                  </a:lnTo>
                  <a:lnTo>
                    <a:pt x="95" y="413"/>
                  </a:lnTo>
                  <a:lnTo>
                    <a:pt x="61" y="385"/>
                  </a:lnTo>
                  <a:lnTo>
                    <a:pt x="30" y="340"/>
                  </a:lnTo>
                  <a:lnTo>
                    <a:pt x="19" y="306"/>
                  </a:lnTo>
                  <a:lnTo>
                    <a:pt x="10" y="247"/>
                  </a:lnTo>
                  <a:lnTo>
                    <a:pt x="6" y="204"/>
                  </a:lnTo>
                  <a:lnTo>
                    <a:pt x="0" y="153"/>
                  </a:lnTo>
                  <a:lnTo>
                    <a:pt x="35" y="163"/>
                  </a:lnTo>
                  <a:lnTo>
                    <a:pt x="72" y="177"/>
                  </a:lnTo>
                  <a:lnTo>
                    <a:pt x="129" y="191"/>
                  </a:lnTo>
                  <a:lnTo>
                    <a:pt x="79" y="170"/>
                  </a:lnTo>
                  <a:lnTo>
                    <a:pt x="59" y="159"/>
                  </a:lnTo>
                  <a:lnTo>
                    <a:pt x="23" y="146"/>
                  </a:lnTo>
                  <a:lnTo>
                    <a:pt x="4" y="142"/>
                  </a:lnTo>
                  <a:lnTo>
                    <a:pt x="4" y="116"/>
                  </a:lnTo>
                  <a:lnTo>
                    <a:pt x="8" y="83"/>
                  </a:lnTo>
                  <a:lnTo>
                    <a:pt x="54" y="90"/>
                  </a:lnTo>
                  <a:lnTo>
                    <a:pt x="84" y="99"/>
                  </a:lnTo>
                  <a:lnTo>
                    <a:pt x="120" y="116"/>
                  </a:lnTo>
                  <a:lnTo>
                    <a:pt x="87" y="90"/>
                  </a:lnTo>
                  <a:lnTo>
                    <a:pt x="48" y="79"/>
                  </a:lnTo>
                  <a:lnTo>
                    <a:pt x="10" y="70"/>
                  </a:lnTo>
                  <a:lnTo>
                    <a:pt x="19" y="44"/>
                  </a:lnTo>
                  <a:lnTo>
                    <a:pt x="30" y="28"/>
                  </a:lnTo>
                  <a:lnTo>
                    <a:pt x="65" y="18"/>
                  </a:lnTo>
                  <a:lnTo>
                    <a:pt x="99" y="26"/>
                  </a:lnTo>
                  <a:lnTo>
                    <a:pt x="129" y="48"/>
                  </a:lnTo>
                  <a:lnTo>
                    <a:pt x="108" y="23"/>
                  </a:lnTo>
                  <a:lnTo>
                    <a:pt x="77" y="9"/>
                  </a:lnTo>
                  <a:lnTo>
                    <a:pt x="112" y="4"/>
                  </a:lnTo>
                  <a:lnTo>
                    <a:pt x="139" y="2"/>
                  </a:lnTo>
                  <a:lnTo>
                    <a:pt x="176" y="7"/>
                  </a:lnTo>
                  <a:lnTo>
                    <a:pt x="202" y="25"/>
                  </a:lnTo>
                  <a:lnTo>
                    <a:pt x="242" y="32"/>
                  </a:lnTo>
                  <a:lnTo>
                    <a:pt x="215" y="21"/>
                  </a:lnTo>
                  <a:lnTo>
                    <a:pt x="195" y="7"/>
                  </a:lnTo>
                  <a:lnTo>
                    <a:pt x="182" y="0"/>
                  </a:lnTo>
                  <a:lnTo>
                    <a:pt x="222" y="2"/>
                  </a:lnTo>
                  <a:lnTo>
                    <a:pt x="258" y="4"/>
                  </a:lnTo>
                  <a:lnTo>
                    <a:pt x="279" y="13"/>
                  </a:lnTo>
                  <a:lnTo>
                    <a:pt x="300" y="34"/>
                  </a:lnTo>
                  <a:lnTo>
                    <a:pt x="318" y="61"/>
                  </a:lnTo>
                  <a:lnTo>
                    <a:pt x="309" y="30"/>
                  </a:lnTo>
                  <a:lnTo>
                    <a:pt x="287" y="9"/>
                  </a:lnTo>
                  <a:lnTo>
                    <a:pt x="338" y="26"/>
                  </a:lnTo>
                  <a:close/>
                </a:path>
              </a:pathLst>
            </a:custGeom>
            <a:solidFill>
              <a:schemeClr val="tx1"/>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32" name="Group 120"/>
            <p:cNvGrpSpPr>
              <a:grpSpLocks/>
            </p:cNvGrpSpPr>
            <p:nvPr/>
          </p:nvGrpSpPr>
          <p:grpSpPr bwMode="auto">
            <a:xfrm flipH="1">
              <a:off x="3595" y="2572"/>
              <a:ext cx="158" cy="95"/>
              <a:chOff x="2648" y="2214"/>
              <a:chExt cx="63" cy="39"/>
            </a:xfrm>
          </p:grpSpPr>
          <p:sp>
            <p:nvSpPr>
              <p:cNvPr id="54" name="Freeform 121"/>
              <p:cNvSpPr>
                <a:spLocks/>
              </p:cNvSpPr>
              <p:nvPr/>
            </p:nvSpPr>
            <p:spPr bwMode="auto">
              <a:xfrm>
                <a:off x="2648" y="2214"/>
                <a:ext cx="63" cy="39"/>
              </a:xfrm>
              <a:custGeom>
                <a:avLst/>
                <a:gdLst>
                  <a:gd name="T0" fmla="*/ 0 w 443"/>
                  <a:gd name="T1" fmla="*/ 0 h 274"/>
                  <a:gd name="T2" fmla="*/ 0 w 443"/>
                  <a:gd name="T3" fmla="*/ 0 h 274"/>
                  <a:gd name="T4" fmla="*/ 0 w 443"/>
                  <a:gd name="T5" fmla="*/ 0 h 274"/>
                  <a:gd name="T6" fmla="*/ 0 w 443"/>
                  <a:gd name="T7" fmla="*/ 0 h 274"/>
                  <a:gd name="T8" fmla="*/ 0 w 443"/>
                  <a:gd name="T9" fmla="*/ 0 h 274"/>
                  <a:gd name="T10" fmla="*/ 0 w 443"/>
                  <a:gd name="T11" fmla="*/ 0 h 274"/>
                  <a:gd name="T12" fmla="*/ 0 w 443"/>
                  <a:gd name="T13" fmla="*/ 0 h 274"/>
                  <a:gd name="T14" fmla="*/ 0 w 443"/>
                  <a:gd name="T15" fmla="*/ 0 h 274"/>
                  <a:gd name="T16" fmla="*/ 0 w 443"/>
                  <a:gd name="T17" fmla="*/ 0 h 274"/>
                  <a:gd name="T18" fmla="*/ 0 w 443"/>
                  <a:gd name="T19" fmla="*/ 0 h 274"/>
                  <a:gd name="T20" fmla="*/ 0 w 443"/>
                  <a:gd name="T21" fmla="*/ 0 h 274"/>
                  <a:gd name="T22" fmla="*/ 0 w 443"/>
                  <a:gd name="T23" fmla="*/ 0 h 274"/>
                  <a:gd name="T24" fmla="*/ 0 w 443"/>
                  <a:gd name="T25" fmla="*/ 0 h 274"/>
                  <a:gd name="T26" fmla="*/ 0 w 443"/>
                  <a:gd name="T27" fmla="*/ 0 h 274"/>
                  <a:gd name="T28" fmla="*/ 0 w 443"/>
                  <a:gd name="T29" fmla="*/ 0 h 274"/>
                  <a:gd name="T30" fmla="*/ 0 w 443"/>
                  <a:gd name="T31" fmla="*/ 0 h 274"/>
                  <a:gd name="T32" fmla="*/ 0 w 443"/>
                  <a:gd name="T33" fmla="*/ 0 h 274"/>
                  <a:gd name="T34" fmla="*/ 0 w 443"/>
                  <a:gd name="T35" fmla="*/ 0 h 274"/>
                  <a:gd name="T36" fmla="*/ 0 w 443"/>
                  <a:gd name="T37" fmla="*/ 0 h 274"/>
                  <a:gd name="T38" fmla="*/ 0 w 443"/>
                  <a:gd name="T39" fmla="*/ 0 h 274"/>
                  <a:gd name="T40" fmla="*/ 0 w 443"/>
                  <a:gd name="T41" fmla="*/ 0 h 274"/>
                  <a:gd name="T42" fmla="*/ 0 w 443"/>
                  <a:gd name="T43" fmla="*/ 0 h 274"/>
                  <a:gd name="T44" fmla="*/ 0 w 443"/>
                  <a:gd name="T45" fmla="*/ 0 h 274"/>
                  <a:gd name="T46" fmla="*/ 0 w 443"/>
                  <a:gd name="T47" fmla="*/ 0 h 274"/>
                  <a:gd name="T48" fmla="*/ 0 w 443"/>
                  <a:gd name="T49" fmla="*/ 0 h 274"/>
                  <a:gd name="T50" fmla="*/ 0 w 443"/>
                  <a:gd name="T51" fmla="*/ 0 h 274"/>
                  <a:gd name="T52" fmla="*/ 0 w 443"/>
                  <a:gd name="T53" fmla="*/ 0 h 274"/>
                  <a:gd name="T54" fmla="*/ 0 w 443"/>
                  <a:gd name="T55" fmla="*/ 0 h 274"/>
                  <a:gd name="T56" fmla="*/ 0 w 443"/>
                  <a:gd name="T57" fmla="*/ 0 h 274"/>
                  <a:gd name="T58" fmla="*/ 0 w 443"/>
                  <a:gd name="T59" fmla="*/ 0 h 274"/>
                  <a:gd name="T60" fmla="*/ 0 w 443"/>
                  <a:gd name="T61" fmla="*/ 0 h 274"/>
                  <a:gd name="T62" fmla="*/ 0 w 443"/>
                  <a:gd name="T63" fmla="*/ 0 h 274"/>
                  <a:gd name="T64" fmla="*/ 0 w 443"/>
                  <a:gd name="T65" fmla="*/ 0 h 274"/>
                  <a:gd name="T66" fmla="*/ 0 w 443"/>
                  <a:gd name="T67" fmla="*/ 0 h 274"/>
                  <a:gd name="T68" fmla="*/ 0 w 443"/>
                  <a:gd name="T69" fmla="*/ 0 h 274"/>
                  <a:gd name="T70" fmla="*/ 0 w 443"/>
                  <a:gd name="T71" fmla="*/ 0 h 274"/>
                  <a:gd name="T72" fmla="*/ 0 w 443"/>
                  <a:gd name="T73" fmla="*/ 0 h 274"/>
                  <a:gd name="T74" fmla="*/ 0 w 443"/>
                  <a:gd name="T75" fmla="*/ 0 h 274"/>
                  <a:gd name="T76" fmla="*/ 0 w 443"/>
                  <a:gd name="T77" fmla="*/ 0 h 274"/>
                  <a:gd name="T78" fmla="*/ 0 w 443"/>
                  <a:gd name="T79" fmla="*/ 0 h 274"/>
                  <a:gd name="T80" fmla="*/ 0 w 443"/>
                  <a:gd name="T81" fmla="*/ 0 h 274"/>
                  <a:gd name="T82" fmla="*/ 0 w 443"/>
                  <a:gd name="T83" fmla="*/ 0 h 274"/>
                  <a:gd name="T84" fmla="*/ 0 w 443"/>
                  <a:gd name="T85" fmla="*/ 0 h 274"/>
                  <a:gd name="T86" fmla="*/ 0 w 443"/>
                  <a:gd name="T87" fmla="*/ 0 h 274"/>
                  <a:gd name="T88" fmla="*/ 0 w 443"/>
                  <a:gd name="T89" fmla="*/ 0 h 274"/>
                  <a:gd name="T90" fmla="*/ 0 w 443"/>
                  <a:gd name="T91" fmla="*/ 0 h 274"/>
                  <a:gd name="T92" fmla="*/ 0 w 443"/>
                  <a:gd name="T93" fmla="*/ 0 h 274"/>
                  <a:gd name="T94" fmla="*/ 0 w 443"/>
                  <a:gd name="T95" fmla="*/ 0 h 274"/>
                  <a:gd name="T96" fmla="*/ 0 w 443"/>
                  <a:gd name="T97" fmla="*/ 0 h 274"/>
                  <a:gd name="T98" fmla="*/ 0 w 443"/>
                  <a:gd name="T99" fmla="*/ 0 h 274"/>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Lst>
                <a:ahLst/>
                <a:cxnLst>
                  <a:cxn ang="T100">
                    <a:pos x="T0" y="T1"/>
                  </a:cxn>
                  <a:cxn ang="T101">
                    <a:pos x="T2" y="T3"/>
                  </a:cxn>
                  <a:cxn ang="T102">
                    <a:pos x="T4" y="T5"/>
                  </a:cxn>
                  <a:cxn ang="T103">
                    <a:pos x="T6" y="T7"/>
                  </a:cxn>
                  <a:cxn ang="T104">
                    <a:pos x="T8" y="T9"/>
                  </a:cxn>
                  <a:cxn ang="T105">
                    <a:pos x="T10" y="T11"/>
                  </a:cxn>
                  <a:cxn ang="T106">
                    <a:pos x="T12" y="T13"/>
                  </a:cxn>
                  <a:cxn ang="T107">
                    <a:pos x="T14" y="T15"/>
                  </a:cxn>
                  <a:cxn ang="T108">
                    <a:pos x="T16" y="T17"/>
                  </a:cxn>
                  <a:cxn ang="T109">
                    <a:pos x="T18" y="T19"/>
                  </a:cxn>
                  <a:cxn ang="T110">
                    <a:pos x="T20" y="T21"/>
                  </a:cxn>
                  <a:cxn ang="T111">
                    <a:pos x="T22" y="T23"/>
                  </a:cxn>
                  <a:cxn ang="T112">
                    <a:pos x="T24" y="T25"/>
                  </a:cxn>
                  <a:cxn ang="T113">
                    <a:pos x="T26" y="T27"/>
                  </a:cxn>
                  <a:cxn ang="T114">
                    <a:pos x="T28" y="T29"/>
                  </a:cxn>
                  <a:cxn ang="T115">
                    <a:pos x="T30" y="T31"/>
                  </a:cxn>
                  <a:cxn ang="T116">
                    <a:pos x="T32" y="T33"/>
                  </a:cxn>
                  <a:cxn ang="T117">
                    <a:pos x="T34" y="T35"/>
                  </a:cxn>
                  <a:cxn ang="T118">
                    <a:pos x="T36" y="T37"/>
                  </a:cxn>
                  <a:cxn ang="T119">
                    <a:pos x="T38" y="T39"/>
                  </a:cxn>
                  <a:cxn ang="T120">
                    <a:pos x="T40" y="T41"/>
                  </a:cxn>
                  <a:cxn ang="T121">
                    <a:pos x="T42" y="T43"/>
                  </a:cxn>
                  <a:cxn ang="T122">
                    <a:pos x="T44" y="T45"/>
                  </a:cxn>
                  <a:cxn ang="T123">
                    <a:pos x="T46" y="T47"/>
                  </a:cxn>
                  <a:cxn ang="T124">
                    <a:pos x="T48" y="T49"/>
                  </a:cxn>
                  <a:cxn ang="T125">
                    <a:pos x="T50" y="T51"/>
                  </a:cxn>
                  <a:cxn ang="T126">
                    <a:pos x="T52" y="T53"/>
                  </a:cxn>
                  <a:cxn ang="T127">
                    <a:pos x="T54" y="T55"/>
                  </a:cxn>
                  <a:cxn ang="T128">
                    <a:pos x="T56" y="T57"/>
                  </a:cxn>
                  <a:cxn ang="T129">
                    <a:pos x="T58" y="T59"/>
                  </a:cxn>
                  <a:cxn ang="T130">
                    <a:pos x="T60" y="T61"/>
                  </a:cxn>
                  <a:cxn ang="T131">
                    <a:pos x="T62" y="T63"/>
                  </a:cxn>
                  <a:cxn ang="T132">
                    <a:pos x="T64" y="T65"/>
                  </a:cxn>
                  <a:cxn ang="T133">
                    <a:pos x="T66" y="T67"/>
                  </a:cxn>
                  <a:cxn ang="T134">
                    <a:pos x="T68" y="T69"/>
                  </a:cxn>
                  <a:cxn ang="T135">
                    <a:pos x="T70" y="T71"/>
                  </a:cxn>
                  <a:cxn ang="T136">
                    <a:pos x="T72" y="T73"/>
                  </a:cxn>
                  <a:cxn ang="T137">
                    <a:pos x="T74" y="T75"/>
                  </a:cxn>
                  <a:cxn ang="T138">
                    <a:pos x="T76" y="T77"/>
                  </a:cxn>
                  <a:cxn ang="T139">
                    <a:pos x="T78" y="T79"/>
                  </a:cxn>
                  <a:cxn ang="T140">
                    <a:pos x="T80" y="T81"/>
                  </a:cxn>
                  <a:cxn ang="T141">
                    <a:pos x="T82" y="T83"/>
                  </a:cxn>
                  <a:cxn ang="T142">
                    <a:pos x="T84" y="T85"/>
                  </a:cxn>
                  <a:cxn ang="T143">
                    <a:pos x="T86" y="T87"/>
                  </a:cxn>
                  <a:cxn ang="T144">
                    <a:pos x="T88" y="T89"/>
                  </a:cxn>
                  <a:cxn ang="T145">
                    <a:pos x="T90" y="T91"/>
                  </a:cxn>
                  <a:cxn ang="T146">
                    <a:pos x="T92" y="T93"/>
                  </a:cxn>
                  <a:cxn ang="T147">
                    <a:pos x="T94" y="T95"/>
                  </a:cxn>
                  <a:cxn ang="T148">
                    <a:pos x="T96" y="T97"/>
                  </a:cxn>
                  <a:cxn ang="T149">
                    <a:pos x="T98" y="T99"/>
                  </a:cxn>
                </a:cxnLst>
                <a:rect l="0" t="0" r="r" b="b"/>
                <a:pathLst>
                  <a:path w="443" h="274">
                    <a:moveTo>
                      <a:pt x="0" y="163"/>
                    </a:moveTo>
                    <a:lnTo>
                      <a:pt x="55" y="151"/>
                    </a:lnTo>
                    <a:lnTo>
                      <a:pt x="75" y="147"/>
                    </a:lnTo>
                    <a:lnTo>
                      <a:pt x="87" y="135"/>
                    </a:lnTo>
                    <a:lnTo>
                      <a:pt x="100" y="117"/>
                    </a:lnTo>
                    <a:lnTo>
                      <a:pt x="127" y="92"/>
                    </a:lnTo>
                    <a:lnTo>
                      <a:pt x="176" y="51"/>
                    </a:lnTo>
                    <a:lnTo>
                      <a:pt x="184" y="37"/>
                    </a:lnTo>
                    <a:lnTo>
                      <a:pt x="197" y="25"/>
                    </a:lnTo>
                    <a:lnTo>
                      <a:pt x="223" y="21"/>
                    </a:lnTo>
                    <a:lnTo>
                      <a:pt x="300" y="8"/>
                    </a:lnTo>
                    <a:lnTo>
                      <a:pt x="321" y="0"/>
                    </a:lnTo>
                    <a:lnTo>
                      <a:pt x="341" y="10"/>
                    </a:lnTo>
                    <a:lnTo>
                      <a:pt x="351" y="18"/>
                    </a:lnTo>
                    <a:lnTo>
                      <a:pt x="396" y="33"/>
                    </a:lnTo>
                    <a:lnTo>
                      <a:pt x="414" y="40"/>
                    </a:lnTo>
                    <a:lnTo>
                      <a:pt x="420" y="47"/>
                    </a:lnTo>
                    <a:lnTo>
                      <a:pt x="429" y="73"/>
                    </a:lnTo>
                    <a:lnTo>
                      <a:pt x="433" y="86"/>
                    </a:lnTo>
                    <a:lnTo>
                      <a:pt x="437" y="94"/>
                    </a:lnTo>
                    <a:lnTo>
                      <a:pt x="443" y="107"/>
                    </a:lnTo>
                    <a:lnTo>
                      <a:pt x="443" y="116"/>
                    </a:lnTo>
                    <a:lnTo>
                      <a:pt x="434" y="123"/>
                    </a:lnTo>
                    <a:lnTo>
                      <a:pt x="416" y="122"/>
                    </a:lnTo>
                    <a:lnTo>
                      <a:pt x="387" y="109"/>
                    </a:lnTo>
                    <a:lnTo>
                      <a:pt x="351" y="102"/>
                    </a:lnTo>
                    <a:lnTo>
                      <a:pt x="317" y="107"/>
                    </a:lnTo>
                    <a:lnTo>
                      <a:pt x="353" y="115"/>
                    </a:lnTo>
                    <a:lnTo>
                      <a:pt x="376" y="123"/>
                    </a:lnTo>
                    <a:lnTo>
                      <a:pt x="405" y="135"/>
                    </a:lnTo>
                    <a:lnTo>
                      <a:pt x="412" y="145"/>
                    </a:lnTo>
                    <a:lnTo>
                      <a:pt x="412" y="155"/>
                    </a:lnTo>
                    <a:lnTo>
                      <a:pt x="401" y="163"/>
                    </a:lnTo>
                    <a:lnTo>
                      <a:pt x="388" y="161"/>
                    </a:lnTo>
                    <a:lnTo>
                      <a:pt x="349" y="151"/>
                    </a:lnTo>
                    <a:lnTo>
                      <a:pt x="313" y="149"/>
                    </a:lnTo>
                    <a:lnTo>
                      <a:pt x="286" y="151"/>
                    </a:lnTo>
                    <a:lnTo>
                      <a:pt x="270" y="161"/>
                    </a:lnTo>
                    <a:lnTo>
                      <a:pt x="252" y="180"/>
                    </a:lnTo>
                    <a:lnTo>
                      <a:pt x="238" y="200"/>
                    </a:lnTo>
                    <a:lnTo>
                      <a:pt x="224" y="220"/>
                    </a:lnTo>
                    <a:lnTo>
                      <a:pt x="211" y="236"/>
                    </a:lnTo>
                    <a:lnTo>
                      <a:pt x="190" y="251"/>
                    </a:lnTo>
                    <a:lnTo>
                      <a:pt x="170" y="255"/>
                    </a:lnTo>
                    <a:lnTo>
                      <a:pt x="147" y="257"/>
                    </a:lnTo>
                    <a:lnTo>
                      <a:pt x="121" y="255"/>
                    </a:lnTo>
                    <a:lnTo>
                      <a:pt x="100" y="253"/>
                    </a:lnTo>
                    <a:lnTo>
                      <a:pt x="73" y="260"/>
                    </a:lnTo>
                    <a:lnTo>
                      <a:pt x="0" y="274"/>
                    </a:lnTo>
                    <a:lnTo>
                      <a:pt x="0" y="163"/>
                    </a:lnTo>
                    <a:close/>
                  </a:path>
                </a:pathLst>
              </a:custGeom>
              <a:solidFill>
                <a:srgbClr val="FFC080"/>
              </a:solidFill>
              <a:ln w="1588">
                <a:solidFill>
                  <a:srgbClr val="402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5" name="Freeform 122"/>
              <p:cNvSpPr>
                <a:spLocks/>
              </p:cNvSpPr>
              <p:nvPr/>
            </p:nvSpPr>
            <p:spPr bwMode="auto">
              <a:xfrm>
                <a:off x="2688" y="2221"/>
                <a:ext cx="20" cy="5"/>
              </a:xfrm>
              <a:custGeom>
                <a:avLst/>
                <a:gdLst>
                  <a:gd name="T0" fmla="*/ 0 w 141"/>
                  <a:gd name="T1" fmla="*/ 0 h 32"/>
                  <a:gd name="T2" fmla="*/ 0 w 141"/>
                  <a:gd name="T3" fmla="*/ 0 h 32"/>
                  <a:gd name="T4" fmla="*/ 0 w 141"/>
                  <a:gd name="T5" fmla="*/ 0 h 32"/>
                  <a:gd name="T6" fmla="*/ 0 w 141"/>
                  <a:gd name="T7" fmla="*/ 0 h 32"/>
                  <a:gd name="T8" fmla="*/ 0 w 141"/>
                  <a:gd name="T9" fmla="*/ 0 h 32"/>
                  <a:gd name="T10" fmla="*/ 0 w 141"/>
                  <a:gd name="T11" fmla="*/ 0 h 32"/>
                  <a:gd name="T12" fmla="*/ 0 w 141"/>
                  <a:gd name="T13" fmla="*/ 0 h 32"/>
                  <a:gd name="T14" fmla="*/ 0 w 141"/>
                  <a:gd name="T15" fmla="*/ 0 h 32"/>
                  <a:gd name="T16" fmla="*/ 0 w 141"/>
                  <a:gd name="T17" fmla="*/ 0 h 32"/>
                  <a:gd name="T18" fmla="*/ 0 w 141"/>
                  <a:gd name="T19" fmla="*/ 0 h 32"/>
                  <a:gd name="T20" fmla="*/ 0 w 141"/>
                  <a:gd name="T21" fmla="*/ 0 h 32"/>
                  <a:gd name="T22" fmla="*/ 0 w 141"/>
                  <a:gd name="T23" fmla="*/ 0 h 32"/>
                  <a:gd name="T24" fmla="*/ 0 w 141"/>
                  <a:gd name="T25" fmla="*/ 0 h 32"/>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41" h="32">
                    <a:moveTo>
                      <a:pt x="141" y="32"/>
                    </a:moveTo>
                    <a:lnTo>
                      <a:pt x="117" y="21"/>
                    </a:lnTo>
                    <a:lnTo>
                      <a:pt x="97" y="18"/>
                    </a:lnTo>
                    <a:lnTo>
                      <a:pt x="74" y="11"/>
                    </a:lnTo>
                    <a:lnTo>
                      <a:pt x="54" y="6"/>
                    </a:lnTo>
                    <a:lnTo>
                      <a:pt x="22" y="9"/>
                    </a:lnTo>
                    <a:lnTo>
                      <a:pt x="0" y="11"/>
                    </a:lnTo>
                    <a:lnTo>
                      <a:pt x="33" y="4"/>
                    </a:lnTo>
                    <a:lnTo>
                      <a:pt x="61" y="0"/>
                    </a:lnTo>
                    <a:lnTo>
                      <a:pt x="97" y="15"/>
                    </a:lnTo>
                    <a:lnTo>
                      <a:pt x="117" y="17"/>
                    </a:lnTo>
                    <a:lnTo>
                      <a:pt x="139" y="27"/>
                    </a:lnTo>
                    <a:lnTo>
                      <a:pt x="141" y="32"/>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6" name="Freeform 123"/>
              <p:cNvSpPr>
                <a:spLocks/>
              </p:cNvSpPr>
              <p:nvPr/>
            </p:nvSpPr>
            <p:spPr bwMode="auto">
              <a:xfrm>
                <a:off x="2680" y="2216"/>
                <a:ext cx="17" cy="3"/>
              </a:xfrm>
              <a:custGeom>
                <a:avLst/>
                <a:gdLst>
                  <a:gd name="T0" fmla="*/ 0 w 119"/>
                  <a:gd name="T1" fmla="*/ 0 h 22"/>
                  <a:gd name="T2" fmla="*/ 0 w 119"/>
                  <a:gd name="T3" fmla="*/ 0 h 22"/>
                  <a:gd name="T4" fmla="*/ 0 w 119"/>
                  <a:gd name="T5" fmla="*/ 0 h 22"/>
                  <a:gd name="T6" fmla="*/ 0 w 119"/>
                  <a:gd name="T7" fmla="*/ 0 h 22"/>
                  <a:gd name="T8" fmla="*/ 0 w 119"/>
                  <a:gd name="T9" fmla="*/ 0 h 22"/>
                  <a:gd name="T10" fmla="*/ 0 w 119"/>
                  <a:gd name="T11" fmla="*/ 0 h 22"/>
                  <a:gd name="T12" fmla="*/ 0 w 119"/>
                  <a:gd name="T13" fmla="*/ 0 h 22"/>
                  <a:gd name="T14" fmla="*/ 0 w 119"/>
                  <a:gd name="T15" fmla="*/ 0 h 22"/>
                  <a:gd name="T16" fmla="*/ 0 w 119"/>
                  <a:gd name="T17" fmla="*/ 0 h 22"/>
                  <a:gd name="T18" fmla="*/ 0 w 119"/>
                  <a:gd name="T19" fmla="*/ 0 h 22"/>
                  <a:gd name="T20" fmla="*/ 0 w 119"/>
                  <a:gd name="T21" fmla="*/ 0 h 22"/>
                  <a:gd name="T22" fmla="*/ 0 w 119"/>
                  <a:gd name="T23" fmla="*/ 0 h 2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19" h="22">
                    <a:moveTo>
                      <a:pt x="86" y="0"/>
                    </a:moveTo>
                    <a:lnTo>
                      <a:pt x="100" y="1"/>
                    </a:lnTo>
                    <a:lnTo>
                      <a:pt x="119" y="7"/>
                    </a:lnTo>
                    <a:lnTo>
                      <a:pt x="106" y="6"/>
                    </a:lnTo>
                    <a:lnTo>
                      <a:pt x="88" y="3"/>
                    </a:lnTo>
                    <a:lnTo>
                      <a:pt x="49" y="13"/>
                    </a:lnTo>
                    <a:lnTo>
                      <a:pt x="28" y="18"/>
                    </a:lnTo>
                    <a:lnTo>
                      <a:pt x="4" y="22"/>
                    </a:lnTo>
                    <a:lnTo>
                      <a:pt x="0" y="18"/>
                    </a:lnTo>
                    <a:lnTo>
                      <a:pt x="26" y="14"/>
                    </a:lnTo>
                    <a:lnTo>
                      <a:pt x="57" y="7"/>
                    </a:lnTo>
                    <a:lnTo>
                      <a:pt x="86"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7" name="Freeform 124"/>
              <p:cNvSpPr>
                <a:spLocks/>
              </p:cNvSpPr>
              <p:nvPr/>
            </p:nvSpPr>
            <p:spPr bwMode="auto">
              <a:xfrm>
                <a:off x="2687" y="2228"/>
                <a:ext cx="7" cy="2"/>
              </a:xfrm>
              <a:custGeom>
                <a:avLst/>
                <a:gdLst>
                  <a:gd name="T0" fmla="*/ 0 w 48"/>
                  <a:gd name="T1" fmla="*/ 0 h 11"/>
                  <a:gd name="T2" fmla="*/ 0 w 48"/>
                  <a:gd name="T3" fmla="*/ 0 h 11"/>
                  <a:gd name="T4" fmla="*/ 0 w 48"/>
                  <a:gd name="T5" fmla="*/ 0 h 11"/>
                  <a:gd name="T6" fmla="*/ 0 w 48"/>
                  <a:gd name="T7" fmla="*/ 0 h 11"/>
                  <a:gd name="T8" fmla="*/ 0 w 48"/>
                  <a:gd name="T9" fmla="*/ 0 h 11"/>
                  <a:gd name="T10" fmla="*/ 0 w 48"/>
                  <a:gd name="T11" fmla="*/ 0 h 11"/>
                  <a:gd name="T12" fmla="*/ 0 w 48"/>
                  <a:gd name="T13" fmla="*/ 0 h 11"/>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8" h="11">
                    <a:moveTo>
                      <a:pt x="48" y="5"/>
                    </a:moveTo>
                    <a:lnTo>
                      <a:pt x="42" y="11"/>
                    </a:lnTo>
                    <a:lnTo>
                      <a:pt x="25" y="8"/>
                    </a:lnTo>
                    <a:lnTo>
                      <a:pt x="6" y="8"/>
                    </a:lnTo>
                    <a:lnTo>
                      <a:pt x="0" y="0"/>
                    </a:lnTo>
                    <a:lnTo>
                      <a:pt x="14" y="3"/>
                    </a:lnTo>
                    <a:lnTo>
                      <a:pt x="48" y="5"/>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8" name="Freeform 125"/>
              <p:cNvSpPr>
                <a:spLocks/>
              </p:cNvSpPr>
              <p:nvPr/>
            </p:nvSpPr>
            <p:spPr bwMode="auto">
              <a:xfrm>
                <a:off x="2707" y="2227"/>
                <a:ext cx="2" cy="3"/>
              </a:xfrm>
              <a:custGeom>
                <a:avLst/>
                <a:gdLst>
                  <a:gd name="T0" fmla="*/ 0 w 10"/>
                  <a:gd name="T1" fmla="*/ 0 h 21"/>
                  <a:gd name="T2" fmla="*/ 0 w 10"/>
                  <a:gd name="T3" fmla="*/ 0 h 21"/>
                  <a:gd name="T4" fmla="*/ 0 w 10"/>
                  <a:gd name="T5" fmla="*/ 0 h 21"/>
                  <a:gd name="T6" fmla="*/ 0 w 10"/>
                  <a:gd name="T7" fmla="*/ 0 h 21"/>
                  <a:gd name="T8" fmla="*/ 0 w 10"/>
                  <a:gd name="T9" fmla="*/ 0 h 21"/>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 h="21">
                    <a:moveTo>
                      <a:pt x="0" y="0"/>
                    </a:moveTo>
                    <a:lnTo>
                      <a:pt x="0" y="6"/>
                    </a:lnTo>
                    <a:lnTo>
                      <a:pt x="2" y="16"/>
                    </a:lnTo>
                    <a:lnTo>
                      <a:pt x="10" y="2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9" name="Freeform 126"/>
              <p:cNvSpPr>
                <a:spLocks/>
              </p:cNvSpPr>
              <p:nvPr/>
            </p:nvSpPr>
            <p:spPr bwMode="auto">
              <a:xfrm>
                <a:off x="2702" y="2234"/>
                <a:ext cx="2" cy="1"/>
              </a:xfrm>
              <a:custGeom>
                <a:avLst/>
                <a:gdLst>
                  <a:gd name="T0" fmla="*/ 0 w 9"/>
                  <a:gd name="T1" fmla="*/ 0 h 11"/>
                  <a:gd name="T2" fmla="*/ 0 w 9"/>
                  <a:gd name="T3" fmla="*/ 0 h 11"/>
                  <a:gd name="T4" fmla="*/ 0 w 9"/>
                  <a:gd name="T5" fmla="*/ 0 h 11"/>
                  <a:gd name="T6" fmla="*/ 0 w 9"/>
                  <a:gd name="T7" fmla="*/ 0 h 1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9" h="11">
                    <a:moveTo>
                      <a:pt x="0" y="0"/>
                    </a:moveTo>
                    <a:lnTo>
                      <a:pt x="2" y="6"/>
                    </a:lnTo>
                    <a:lnTo>
                      <a:pt x="9" y="11"/>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0" name="Freeform 127"/>
              <p:cNvSpPr>
                <a:spLocks/>
              </p:cNvSpPr>
              <p:nvPr/>
            </p:nvSpPr>
            <p:spPr bwMode="auto">
              <a:xfrm>
                <a:off x="2678" y="2224"/>
                <a:ext cx="3" cy="4"/>
              </a:xfrm>
              <a:custGeom>
                <a:avLst/>
                <a:gdLst>
                  <a:gd name="T0" fmla="*/ 0 w 23"/>
                  <a:gd name="T1" fmla="*/ 0 h 27"/>
                  <a:gd name="T2" fmla="*/ 0 w 23"/>
                  <a:gd name="T3" fmla="*/ 0 h 27"/>
                  <a:gd name="T4" fmla="*/ 0 w 23"/>
                  <a:gd name="T5" fmla="*/ 0 h 27"/>
                  <a:gd name="T6" fmla="*/ 0 w 23"/>
                  <a:gd name="T7" fmla="*/ 0 h 27"/>
                  <a:gd name="T8" fmla="*/ 0 w 23"/>
                  <a:gd name="T9" fmla="*/ 0 h 2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3" h="27">
                    <a:moveTo>
                      <a:pt x="23" y="0"/>
                    </a:moveTo>
                    <a:lnTo>
                      <a:pt x="19" y="8"/>
                    </a:lnTo>
                    <a:lnTo>
                      <a:pt x="19" y="15"/>
                    </a:lnTo>
                    <a:lnTo>
                      <a:pt x="0" y="27"/>
                    </a:lnTo>
                    <a:lnTo>
                      <a:pt x="23"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1" name="Freeform 128"/>
              <p:cNvSpPr>
                <a:spLocks/>
              </p:cNvSpPr>
              <p:nvPr/>
            </p:nvSpPr>
            <p:spPr bwMode="auto">
              <a:xfrm>
                <a:off x="2665" y="2224"/>
                <a:ext cx="10" cy="10"/>
              </a:xfrm>
              <a:custGeom>
                <a:avLst/>
                <a:gdLst>
                  <a:gd name="T0" fmla="*/ 0 w 71"/>
                  <a:gd name="T1" fmla="*/ 0 h 73"/>
                  <a:gd name="T2" fmla="*/ 0 w 71"/>
                  <a:gd name="T3" fmla="*/ 0 h 73"/>
                  <a:gd name="T4" fmla="*/ 0 w 71"/>
                  <a:gd name="T5" fmla="*/ 0 h 73"/>
                  <a:gd name="T6" fmla="*/ 0 w 71"/>
                  <a:gd name="T7" fmla="*/ 0 h 73"/>
                  <a:gd name="T8" fmla="*/ 0 w 71"/>
                  <a:gd name="T9" fmla="*/ 0 h 73"/>
                  <a:gd name="T10" fmla="*/ 0 w 71"/>
                  <a:gd name="T11" fmla="*/ 0 h 73"/>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71" h="73">
                    <a:moveTo>
                      <a:pt x="71" y="0"/>
                    </a:moveTo>
                    <a:lnTo>
                      <a:pt x="59" y="22"/>
                    </a:lnTo>
                    <a:lnTo>
                      <a:pt x="44" y="41"/>
                    </a:lnTo>
                    <a:lnTo>
                      <a:pt x="0" y="73"/>
                    </a:lnTo>
                    <a:lnTo>
                      <a:pt x="41" y="34"/>
                    </a:lnTo>
                    <a:lnTo>
                      <a:pt x="71"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2" name="Freeform 129"/>
              <p:cNvSpPr>
                <a:spLocks/>
              </p:cNvSpPr>
              <p:nvPr/>
            </p:nvSpPr>
            <p:spPr bwMode="auto">
              <a:xfrm>
                <a:off x="2660" y="2238"/>
                <a:ext cx="2" cy="8"/>
              </a:xfrm>
              <a:custGeom>
                <a:avLst/>
                <a:gdLst>
                  <a:gd name="T0" fmla="*/ 0 w 16"/>
                  <a:gd name="T1" fmla="*/ 0 h 53"/>
                  <a:gd name="T2" fmla="*/ 0 w 16"/>
                  <a:gd name="T3" fmla="*/ 0 h 53"/>
                  <a:gd name="T4" fmla="*/ 0 w 16"/>
                  <a:gd name="T5" fmla="*/ 0 h 53"/>
                  <a:gd name="T6" fmla="*/ 0 w 16"/>
                  <a:gd name="T7" fmla="*/ 0 h 53"/>
                  <a:gd name="T8" fmla="*/ 0 w 16"/>
                  <a:gd name="T9" fmla="*/ 0 h 53"/>
                  <a:gd name="T10" fmla="*/ 0 w 16"/>
                  <a:gd name="T11" fmla="*/ 0 h 53"/>
                  <a:gd name="T12" fmla="*/ 0 w 16"/>
                  <a:gd name="T13" fmla="*/ 0 h 53"/>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6" h="53">
                    <a:moveTo>
                      <a:pt x="0" y="0"/>
                    </a:moveTo>
                    <a:lnTo>
                      <a:pt x="10" y="19"/>
                    </a:lnTo>
                    <a:lnTo>
                      <a:pt x="13" y="37"/>
                    </a:lnTo>
                    <a:lnTo>
                      <a:pt x="14" y="53"/>
                    </a:lnTo>
                    <a:lnTo>
                      <a:pt x="16" y="30"/>
                    </a:lnTo>
                    <a:lnTo>
                      <a:pt x="14" y="14"/>
                    </a:lnTo>
                    <a:lnTo>
                      <a:pt x="0"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63" name="Freeform 130"/>
              <p:cNvSpPr>
                <a:spLocks/>
              </p:cNvSpPr>
              <p:nvPr/>
            </p:nvSpPr>
            <p:spPr bwMode="auto">
              <a:xfrm>
                <a:off x="2684" y="2231"/>
                <a:ext cx="1" cy="2"/>
              </a:xfrm>
              <a:custGeom>
                <a:avLst/>
                <a:gdLst>
                  <a:gd name="T0" fmla="*/ 0 w 8"/>
                  <a:gd name="T1" fmla="*/ 0 h 19"/>
                  <a:gd name="T2" fmla="*/ 0 w 8"/>
                  <a:gd name="T3" fmla="*/ 0 h 19"/>
                  <a:gd name="T4" fmla="*/ 0 w 8"/>
                  <a:gd name="T5" fmla="*/ 0 h 19"/>
                  <a:gd name="T6" fmla="*/ 0 w 8"/>
                  <a:gd name="T7" fmla="*/ 0 h 1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9">
                    <a:moveTo>
                      <a:pt x="2" y="0"/>
                    </a:moveTo>
                    <a:lnTo>
                      <a:pt x="0" y="8"/>
                    </a:lnTo>
                    <a:lnTo>
                      <a:pt x="8" y="19"/>
                    </a:lnTo>
                    <a:lnTo>
                      <a:pt x="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3" name="Group 131"/>
            <p:cNvGrpSpPr>
              <a:grpSpLocks/>
            </p:cNvGrpSpPr>
            <p:nvPr/>
          </p:nvGrpSpPr>
          <p:grpSpPr bwMode="auto">
            <a:xfrm flipH="1">
              <a:off x="3730" y="2363"/>
              <a:ext cx="365" cy="408"/>
              <a:chOff x="2511" y="2128"/>
              <a:chExt cx="146" cy="168"/>
            </a:xfrm>
          </p:grpSpPr>
          <p:sp>
            <p:nvSpPr>
              <p:cNvPr id="40" name="Freeform 132"/>
              <p:cNvSpPr>
                <a:spLocks/>
              </p:cNvSpPr>
              <p:nvPr/>
            </p:nvSpPr>
            <p:spPr bwMode="auto">
              <a:xfrm>
                <a:off x="2590" y="2128"/>
                <a:ext cx="5" cy="4"/>
              </a:xfrm>
              <a:custGeom>
                <a:avLst/>
                <a:gdLst>
                  <a:gd name="T0" fmla="*/ 0 w 32"/>
                  <a:gd name="T1" fmla="*/ 0 h 23"/>
                  <a:gd name="T2" fmla="*/ 0 w 32"/>
                  <a:gd name="T3" fmla="*/ 0 h 23"/>
                  <a:gd name="T4" fmla="*/ 0 w 32"/>
                  <a:gd name="T5" fmla="*/ 0 h 23"/>
                  <a:gd name="T6" fmla="*/ 0 w 32"/>
                  <a:gd name="T7" fmla="*/ 0 h 23"/>
                  <a:gd name="T8" fmla="*/ 0 w 32"/>
                  <a:gd name="T9" fmla="*/ 0 h 23"/>
                  <a:gd name="T10" fmla="*/ 0 w 32"/>
                  <a:gd name="T11" fmla="*/ 0 h 23"/>
                  <a:gd name="T12" fmla="*/ 0 w 32"/>
                  <a:gd name="T13" fmla="*/ 0 h 23"/>
                  <a:gd name="T14" fmla="*/ 0 w 32"/>
                  <a:gd name="T15" fmla="*/ 0 h 23"/>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32" h="23">
                    <a:moveTo>
                      <a:pt x="32" y="0"/>
                    </a:moveTo>
                    <a:lnTo>
                      <a:pt x="23" y="7"/>
                    </a:lnTo>
                    <a:lnTo>
                      <a:pt x="14" y="10"/>
                    </a:lnTo>
                    <a:lnTo>
                      <a:pt x="5" y="15"/>
                    </a:lnTo>
                    <a:lnTo>
                      <a:pt x="0" y="23"/>
                    </a:lnTo>
                    <a:lnTo>
                      <a:pt x="8" y="20"/>
                    </a:lnTo>
                    <a:lnTo>
                      <a:pt x="23" y="16"/>
                    </a:lnTo>
                    <a:lnTo>
                      <a:pt x="32"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Freeform 133"/>
              <p:cNvSpPr>
                <a:spLocks/>
              </p:cNvSpPr>
              <p:nvPr/>
            </p:nvSpPr>
            <p:spPr bwMode="auto">
              <a:xfrm>
                <a:off x="2592" y="2134"/>
                <a:ext cx="2" cy="2"/>
              </a:xfrm>
              <a:custGeom>
                <a:avLst/>
                <a:gdLst>
                  <a:gd name="T0" fmla="*/ 0 w 8"/>
                  <a:gd name="T1" fmla="*/ 0 h 15"/>
                  <a:gd name="T2" fmla="*/ 0 w 8"/>
                  <a:gd name="T3" fmla="*/ 0 h 15"/>
                  <a:gd name="T4" fmla="*/ 0 w 8"/>
                  <a:gd name="T5" fmla="*/ 0 h 15"/>
                  <a:gd name="T6" fmla="*/ 0 w 8"/>
                  <a:gd name="T7" fmla="*/ 0 h 15"/>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 h="15">
                    <a:moveTo>
                      <a:pt x="8" y="0"/>
                    </a:moveTo>
                    <a:lnTo>
                      <a:pt x="0" y="0"/>
                    </a:lnTo>
                    <a:lnTo>
                      <a:pt x="0" y="15"/>
                    </a:lnTo>
                    <a:lnTo>
                      <a:pt x="8" y="0"/>
                    </a:lnTo>
                    <a:close/>
                  </a:path>
                </a:pathLst>
              </a:custGeom>
              <a:solidFill>
                <a:srgbClr val="402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Freeform 134"/>
              <p:cNvSpPr>
                <a:spLocks/>
              </p:cNvSpPr>
              <p:nvPr/>
            </p:nvSpPr>
            <p:spPr bwMode="auto">
              <a:xfrm>
                <a:off x="2574" y="2150"/>
                <a:ext cx="39" cy="99"/>
              </a:xfrm>
              <a:custGeom>
                <a:avLst/>
                <a:gdLst>
                  <a:gd name="T0" fmla="*/ 0 w 274"/>
                  <a:gd name="T1" fmla="*/ 0 h 693"/>
                  <a:gd name="T2" fmla="*/ 0 w 274"/>
                  <a:gd name="T3" fmla="*/ 0 h 693"/>
                  <a:gd name="T4" fmla="*/ 0 w 274"/>
                  <a:gd name="T5" fmla="*/ 0 h 693"/>
                  <a:gd name="T6" fmla="*/ 0 w 274"/>
                  <a:gd name="T7" fmla="*/ 0 h 693"/>
                  <a:gd name="T8" fmla="*/ 0 w 274"/>
                  <a:gd name="T9" fmla="*/ 0 h 693"/>
                  <a:gd name="T10" fmla="*/ 0 w 274"/>
                  <a:gd name="T11" fmla="*/ 0 h 693"/>
                  <a:gd name="T12" fmla="*/ 0 w 274"/>
                  <a:gd name="T13" fmla="*/ 0 h 693"/>
                  <a:gd name="T14" fmla="*/ 0 w 274"/>
                  <a:gd name="T15" fmla="*/ 0 h 693"/>
                  <a:gd name="T16" fmla="*/ 0 w 274"/>
                  <a:gd name="T17" fmla="*/ 0 h 693"/>
                  <a:gd name="T18" fmla="*/ 0 w 274"/>
                  <a:gd name="T19" fmla="*/ 0 h 69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274" h="693">
                    <a:moveTo>
                      <a:pt x="40" y="0"/>
                    </a:moveTo>
                    <a:lnTo>
                      <a:pt x="66" y="29"/>
                    </a:lnTo>
                    <a:lnTo>
                      <a:pt x="74" y="70"/>
                    </a:lnTo>
                    <a:lnTo>
                      <a:pt x="113" y="110"/>
                    </a:lnTo>
                    <a:lnTo>
                      <a:pt x="194" y="296"/>
                    </a:lnTo>
                    <a:lnTo>
                      <a:pt x="239" y="466"/>
                    </a:lnTo>
                    <a:lnTo>
                      <a:pt x="274" y="693"/>
                    </a:lnTo>
                    <a:lnTo>
                      <a:pt x="161" y="592"/>
                    </a:lnTo>
                    <a:lnTo>
                      <a:pt x="0" y="90"/>
                    </a:lnTo>
                    <a:lnTo>
                      <a:pt x="40" y="0"/>
                    </a:lnTo>
                    <a:close/>
                  </a:path>
                </a:pathLst>
              </a:custGeom>
              <a:solidFill>
                <a:srgbClr val="40000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3" name="Freeform 135"/>
              <p:cNvSpPr>
                <a:spLocks/>
              </p:cNvSpPr>
              <p:nvPr/>
            </p:nvSpPr>
            <p:spPr bwMode="auto">
              <a:xfrm>
                <a:off x="2511" y="2131"/>
                <a:ext cx="146" cy="165"/>
              </a:xfrm>
              <a:custGeom>
                <a:avLst/>
                <a:gdLst>
                  <a:gd name="T0" fmla="*/ 0 w 1023"/>
                  <a:gd name="T1" fmla="*/ 0 h 1154"/>
                  <a:gd name="T2" fmla="*/ 0 w 1023"/>
                  <a:gd name="T3" fmla="*/ 0 h 1154"/>
                  <a:gd name="T4" fmla="*/ 0 w 1023"/>
                  <a:gd name="T5" fmla="*/ 0 h 1154"/>
                  <a:gd name="T6" fmla="*/ 0 w 1023"/>
                  <a:gd name="T7" fmla="*/ 0 h 1154"/>
                  <a:gd name="T8" fmla="*/ 0 w 1023"/>
                  <a:gd name="T9" fmla="*/ 0 h 1154"/>
                  <a:gd name="T10" fmla="*/ 0 w 1023"/>
                  <a:gd name="T11" fmla="*/ 0 h 1154"/>
                  <a:gd name="T12" fmla="*/ 0 w 1023"/>
                  <a:gd name="T13" fmla="*/ 0 h 1154"/>
                  <a:gd name="T14" fmla="*/ 0 w 1023"/>
                  <a:gd name="T15" fmla="*/ 0 h 1154"/>
                  <a:gd name="T16" fmla="*/ 0 w 1023"/>
                  <a:gd name="T17" fmla="*/ 0 h 1154"/>
                  <a:gd name="T18" fmla="*/ 0 w 1023"/>
                  <a:gd name="T19" fmla="*/ 0 h 1154"/>
                  <a:gd name="T20" fmla="*/ 0 w 1023"/>
                  <a:gd name="T21" fmla="*/ 0 h 1154"/>
                  <a:gd name="T22" fmla="*/ 0 w 1023"/>
                  <a:gd name="T23" fmla="*/ 0 h 1154"/>
                  <a:gd name="T24" fmla="*/ 0 w 1023"/>
                  <a:gd name="T25" fmla="*/ 0 h 1154"/>
                  <a:gd name="T26" fmla="*/ 0 w 1023"/>
                  <a:gd name="T27" fmla="*/ 0 h 1154"/>
                  <a:gd name="T28" fmla="*/ 0 w 1023"/>
                  <a:gd name="T29" fmla="*/ 0 h 1154"/>
                  <a:gd name="T30" fmla="*/ 0 w 1023"/>
                  <a:gd name="T31" fmla="*/ 0 h 1154"/>
                  <a:gd name="T32" fmla="*/ 0 w 1023"/>
                  <a:gd name="T33" fmla="*/ 0 h 1154"/>
                  <a:gd name="T34" fmla="*/ 0 w 1023"/>
                  <a:gd name="T35" fmla="*/ 0 h 1154"/>
                  <a:gd name="T36" fmla="*/ 0 w 1023"/>
                  <a:gd name="T37" fmla="*/ 0 h 1154"/>
                  <a:gd name="T38" fmla="*/ 0 w 1023"/>
                  <a:gd name="T39" fmla="*/ 0 h 1154"/>
                  <a:gd name="T40" fmla="*/ 0 w 1023"/>
                  <a:gd name="T41" fmla="*/ 0 h 1154"/>
                  <a:gd name="T42" fmla="*/ 0 w 1023"/>
                  <a:gd name="T43" fmla="*/ 0 h 1154"/>
                  <a:gd name="T44" fmla="*/ 0 w 1023"/>
                  <a:gd name="T45" fmla="*/ 0 h 1154"/>
                  <a:gd name="T46" fmla="*/ 0 w 1023"/>
                  <a:gd name="T47" fmla="*/ 0 h 1154"/>
                  <a:gd name="T48" fmla="*/ 0 w 1023"/>
                  <a:gd name="T49" fmla="*/ 0 h 1154"/>
                  <a:gd name="T50" fmla="*/ 0 w 1023"/>
                  <a:gd name="T51" fmla="*/ 0 h 1154"/>
                  <a:gd name="T52" fmla="*/ 0 w 1023"/>
                  <a:gd name="T53" fmla="*/ 0 h 1154"/>
                  <a:gd name="T54" fmla="*/ 0 w 1023"/>
                  <a:gd name="T55" fmla="*/ 0 h 1154"/>
                  <a:gd name="T56" fmla="*/ 0 w 1023"/>
                  <a:gd name="T57" fmla="*/ 0 h 1154"/>
                  <a:gd name="T58" fmla="*/ 0 w 1023"/>
                  <a:gd name="T59" fmla="*/ 0 h 1154"/>
                  <a:gd name="T60" fmla="*/ 0 w 1023"/>
                  <a:gd name="T61" fmla="*/ 0 h 1154"/>
                  <a:gd name="T62" fmla="*/ 0 w 1023"/>
                  <a:gd name="T63" fmla="*/ 0 h 1154"/>
                  <a:gd name="T64" fmla="*/ 0 w 1023"/>
                  <a:gd name="T65" fmla="*/ 0 h 1154"/>
                  <a:gd name="T66" fmla="*/ 0 w 1023"/>
                  <a:gd name="T67" fmla="*/ 0 h 1154"/>
                  <a:gd name="T68" fmla="*/ 0 w 1023"/>
                  <a:gd name="T69" fmla="*/ 0 h 1154"/>
                  <a:gd name="T70" fmla="*/ 0 w 1023"/>
                  <a:gd name="T71" fmla="*/ 0 h 1154"/>
                  <a:gd name="T72" fmla="*/ 0 w 1023"/>
                  <a:gd name="T73" fmla="*/ 0 h 1154"/>
                  <a:gd name="T74" fmla="*/ 0 w 1023"/>
                  <a:gd name="T75" fmla="*/ 0 h 1154"/>
                  <a:gd name="T76" fmla="*/ 0 w 1023"/>
                  <a:gd name="T77" fmla="*/ 0 h 1154"/>
                  <a:gd name="T78" fmla="*/ 0 w 1023"/>
                  <a:gd name="T79" fmla="*/ 0 h 1154"/>
                  <a:gd name="T80" fmla="*/ 0 w 1023"/>
                  <a:gd name="T81" fmla="*/ 0 h 1154"/>
                  <a:gd name="T82" fmla="*/ 0 w 1023"/>
                  <a:gd name="T83" fmla="*/ 0 h 1154"/>
                  <a:gd name="T84" fmla="*/ 0 w 1023"/>
                  <a:gd name="T85" fmla="*/ 0 h 1154"/>
                  <a:gd name="T86" fmla="*/ 0 w 1023"/>
                  <a:gd name="T87" fmla="*/ 0 h 1154"/>
                  <a:gd name="T88" fmla="*/ 0 w 1023"/>
                  <a:gd name="T89" fmla="*/ 0 h 1154"/>
                  <a:gd name="T90" fmla="*/ 0 w 1023"/>
                  <a:gd name="T91" fmla="*/ 0 h 1154"/>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0" t="0" r="r" b="b"/>
                <a:pathLst>
                  <a:path w="1023" h="1154">
                    <a:moveTo>
                      <a:pt x="189" y="60"/>
                    </a:moveTo>
                    <a:lnTo>
                      <a:pt x="221" y="0"/>
                    </a:lnTo>
                    <a:lnTo>
                      <a:pt x="471" y="104"/>
                    </a:lnTo>
                    <a:lnTo>
                      <a:pt x="482" y="185"/>
                    </a:lnTo>
                    <a:lnTo>
                      <a:pt x="503" y="214"/>
                    </a:lnTo>
                    <a:lnTo>
                      <a:pt x="531" y="246"/>
                    </a:lnTo>
                    <a:lnTo>
                      <a:pt x="547" y="304"/>
                    </a:lnTo>
                    <a:lnTo>
                      <a:pt x="603" y="437"/>
                    </a:lnTo>
                    <a:lnTo>
                      <a:pt x="648" y="595"/>
                    </a:lnTo>
                    <a:lnTo>
                      <a:pt x="668" y="700"/>
                    </a:lnTo>
                    <a:lnTo>
                      <a:pt x="869" y="704"/>
                    </a:lnTo>
                    <a:lnTo>
                      <a:pt x="902" y="725"/>
                    </a:lnTo>
                    <a:lnTo>
                      <a:pt x="994" y="725"/>
                    </a:lnTo>
                    <a:lnTo>
                      <a:pt x="1020" y="766"/>
                    </a:lnTo>
                    <a:lnTo>
                      <a:pt x="1023" y="814"/>
                    </a:lnTo>
                    <a:lnTo>
                      <a:pt x="1015" y="858"/>
                    </a:lnTo>
                    <a:lnTo>
                      <a:pt x="929" y="874"/>
                    </a:lnTo>
                    <a:lnTo>
                      <a:pt x="889" y="935"/>
                    </a:lnTo>
                    <a:lnTo>
                      <a:pt x="809" y="955"/>
                    </a:lnTo>
                    <a:lnTo>
                      <a:pt x="749" y="955"/>
                    </a:lnTo>
                    <a:lnTo>
                      <a:pt x="681" y="968"/>
                    </a:lnTo>
                    <a:lnTo>
                      <a:pt x="677" y="996"/>
                    </a:lnTo>
                    <a:lnTo>
                      <a:pt x="681" y="1056"/>
                    </a:lnTo>
                    <a:lnTo>
                      <a:pt x="673" y="1097"/>
                    </a:lnTo>
                    <a:lnTo>
                      <a:pt x="636" y="1102"/>
                    </a:lnTo>
                    <a:lnTo>
                      <a:pt x="591" y="1110"/>
                    </a:lnTo>
                    <a:lnTo>
                      <a:pt x="547" y="1151"/>
                    </a:lnTo>
                    <a:lnTo>
                      <a:pt x="495" y="1151"/>
                    </a:lnTo>
                    <a:lnTo>
                      <a:pt x="447" y="1146"/>
                    </a:lnTo>
                    <a:lnTo>
                      <a:pt x="374" y="1122"/>
                    </a:lnTo>
                    <a:lnTo>
                      <a:pt x="294" y="1130"/>
                    </a:lnTo>
                    <a:lnTo>
                      <a:pt x="213" y="1154"/>
                    </a:lnTo>
                    <a:lnTo>
                      <a:pt x="136" y="1137"/>
                    </a:lnTo>
                    <a:lnTo>
                      <a:pt x="84" y="1077"/>
                    </a:lnTo>
                    <a:lnTo>
                      <a:pt x="88" y="1012"/>
                    </a:lnTo>
                    <a:lnTo>
                      <a:pt x="68" y="932"/>
                    </a:lnTo>
                    <a:lnTo>
                      <a:pt x="57" y="826"/>
                    </a:lnTo>
                    <a:lnTo>
                      <a:pt x="32" y="729"/>
                    </a:lnTo>
                    <a:lnTo>
                      <a:pt x="0" y="584"/>
                    </a:lnTo>
                    <a:lnTo>
                      <a:pt x="4" y="437"/>
                    </a:lnTo>
                    <a:lnTo>
                      <a:pt x="4" y="307"/>
                    </a:lnTo>
                    <a:lnTo>
                      <a:pt x="12" y="218"/>
                    </a:lnTo>
                    <a:lnTo>
                      <a:pt x="32" y="178"/>
                    </a:lnTo>
                    <a:lnTo>
                      <a:pt x="77" y="145"/>
                    </a:lnTo>
                    <a:lnTo>
                      <a:pt x="129" y="92"/>
                    </a:lnTo>
                    <a:lnTo>
                      <a:pt x="189" y="60"/>
                    </a:lnTo>
                    <a:close/>
                  </a:path>
                </a:pathLst>
              </a:custGeom>
              <a:solidFill>
                <a:srgbClr val="C0C0C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4" name="Freeform 136"/>
              <p:cNvSpPr>
                <a:spLocks/>
              </p:cNvSpPr>
              <p:nvPr/>
            </p:nvSpPr>
            <p:spPr bwMode="auto">
              <a:xfrm>
                <a:off x="2514" y="2141"/>
                <a:ext cx="92" cy="154"/>
              </a:xfrm>
              <a:custGeom>
                <a:avLst/>
                <a:gdLst>
                  <a:gd name="T0" fmla="*/ 0 w 646"/>
                  <a:gd name="T1" fmla="*/ 0 h 1075"/>
                  <a:gd name="T2" fmla="*/ 0 w 646"/>
                  <a:gd name="T3" fmla="*/ 0 h 1075"/>
                  <a:gd name="T4" fmla="*/ 0 w 646"/>
                  <a:gd name="T5" fmla="*/ 0 h 1075"/>
                  <a:gd name="T6" fmla="*/ 0 w 646"/>
                  <a:gd name="T7" fmla="*/ 0 h 1075"/>
                  <a:gd name="T8" fmla="*/ 0 w 646"/>
                  <a:gd name="T9" fmla="*/ 0 h 1075"/>
                  <a:gd name="T10" fmla="*/ 0 w 646"/>
                  <a:gd name="T11" fmla="*/ 0 h 1075"/>
                  <a:gd name="T12" fmla="*/ 0 w 646"/>
                  <a:gd name="T13" fmla="*/ 0 h 1075"/>
                  <a:gd name="T14" fmla="*/ 0 w 646"/>
                  <a:gd name="T15" fmla="*/ 0 h 1075"/>
                  <a:gd name="T16" fmla="*/ 0 w 646"/>
                  <a:gd name="T17" fmla="*/ 0 h 1075"/>
                  <a:gd name="T18" fmla="*/ 0 w 646"/>
                  <a:gd name="T19" fmla="*/ 0 h 1075"/>
                  <a:gd name="T20" fmla="*/ 0 w 646"/>
                  <a:gd name="T21" fmla="*/ 0 h 1075"/>
                  <a:gd name="T22" fmla="*/ 0 w 646"/>
                  <a:gd name="T23" fmla="*/ 0 h 1075"/>
                  <a:gd name="T24" fmla="*/ 0 w 646"/>
                  <a:gd name="T25" fmla="*/ 0 h 1075"/>
                  <a:gd name="T26" fmla="*/ 0 w 646"/>
                  <a:gd name="T27" fmla="*/ 0 h 1075"/>
                  <a:gd name="T28" fmla="*/ 0 w 646"/>
                  <a:gd name="T29" fmla="*/ 0 h 1075"/>
                  <a:gd name="T30" fmla="*/ 0 w 646"/>
                  <a:gd name="T31" fmla="*/ 0 h 1075"/>
                  <a:gd name="T32" fmla="*/ 0 w 646"/>
                  <a:gd name="T33" fmla="*/ 0 h 1075"/>
                  <a:gd name="T34" fmla="*/ 0 w 646"/>
                  <a:gd name="T35" fmla="*/ 0 h 1075"/>
                  <a:gd name="T36" fmla="*/ 0 w 646"/>
                  <a:gd name="T37" fmla="*/ 0 h 1075"/>
                  <a:gd name="T38" fmla="*/ 0 w 646"/>
                  <a:gd name="T39" fmla="*/ 0 h 1075"/>
                  <a:gd name="T40" fmla="*/ 0 w 646"/>
                  <a:gd name="T41" fmla="*/ 0 h 1075"/>
                  <a:gd name="T42" fmla="*/ 0 w 646"/>
                  <a:gd name="T43" fmla="*/ 0 h 1075"/>
                  <a:gd name="T44" fmla="*/ 0 w 646"/>
                  <a:gd name="T45" fmla="*/ 0 h 1075"/>
                  <a:gd name="T46" fmla="*/ 0 w 646"/>
                  <a:gd name="T47" fmla="*/ 0 h 1075"/>
                  <a:gd name="T48" fmla="*/ 0 w 646"/>
                  <a:gd name="T49" fmla="*/ 0 h 1075"/>
                  <a:gd name="T50" fmla="*/ 0 w 646"/>
                  <a:gd name="T51" fmla="*/ 0 h 1075"/>
                  <a:gd name="T52" fmla="*/ 0 w 646"/>
                  <a:gd name="T53" fmla="*/ 0 h 1075"/>
                  <a:gd name="T54" fmla="*/ 0 w 646"/>
                  <a:gd name="T55" fmla="*/ 0 h 1075"/>
                  <a:gd name="T56" fmla="*/ 0 w 646"/>
                  <a:gd name="T57" fmla="*/ 0 h 1075"/>
                  <a:gd name="T58" fmla="*/ 0 w 646"/>
                  <a:gd name="T59" fmla="*/ 0 h 1075"/>
                  <a:gd name="T60" fmla="*/ 0 w 646"/>
                  <a:gd name="T61" fmla="*/ 0 h 1075"/>
                  <a:gd name="T62" fmla="*/ 0 w 646"/>
                  <a:gd name="T63" fmla="*/ 0 h 1075"/>
                  <a:gd name="T64" fmla="*/ 0 w 646"/>
                  <a:gd name="T65" fmla="*/ 0 h 1075"/>
                  <a:gd name="T66" fmla="*/ 0 w 646"/>
                  <a:gd name="T67" fmla="*/ 0 h 1075"/>
                  <a:gd name="T68" fmla="*/ 0 w 646"/>
                  <a:gd name="T69" fmla="*/ 0 h 1075"/>
                  <a:gd name="T70" fmla="*/ 0 w 646"/>
                  <a:gd name="T71" fmla="*/ 0 h 1075"/>
                  <a:gd name="T72" fmla="*/ 0 w 646"/>
                  <a:gd name="T73" fmla="*/ 0 h 1075"/>
                  <a:gd name="T74" fmla="*/ 0 w 646"/>
                  <a:gd name="T75" fmla="*/ 0 h 1075"/>
                  <a:gd name="T76" fmla="*/ 0 w 646"/>
                  <a:gd name="T77" fmla="*/ 0 h 1075"/>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Lst>
                <a:ahLst/>
                <a:cxnLst>
                  <a:cxn ang="T78">
                    <a:pos x="T0" y="T1"/>
                  </a:cxn>
                  <a:cxn ang="T79">
                    <a:pos x="T2" y="T3"/>
                  </a:cxn>
                  <a:cxn ang="T80">
                    <a:pos x="T4" y="T5"/>
                  </a:cxn>
                  <a:cxn ang="T81">
                    <a:pos x="T6" y="T7"/>
                  </a:cxn>
                  <a:cxn ang="T82">
                    <a:pos x="T8" y="T9"/>
                  </a:cxn>
                  <a:cxn ang="T83">
                    <a:pos x="T10" y="T11"/>
                  </a:cxn>
                  <a:cxn ang="T84">
                    <a:pos x="T12" y="T13"/>
                  </a:cxn>
                  <a:cxn ang="T85">
                    <a:pos x="T14" y="T15"/>
                  </a:cxn>
                  <a:cxn ang="T86">
                    <a:pos x="T16" y="T17"/>
                  </a:cxn>
                  <a:cxn ang="T87">
                    <a:pos x="T18" y="T19"/>
                  </a:cxn>
                  <a:cxn ang="T88">
                    <a:pos x="T20" y="T21"/>
                  </a:cxn>
                  <a:cxn ang="T89">
                    <a:pos x="T22" y="T23"/>
                  </a:cxn>
                  <a:cxn ang="T90">
                    <a:pos x="T24" y="T25"/>
                  </a:cxn>
                  <a:cxn ang="T91">
                    <a:pos x="T26" y="T27"/>
                  </a:cxn>
                  <a:cxn ang="T92">
                    <a:pos x="T28" y="T29"/>
                  </a:cxn>
                  <a:cxn ang="T93">
                    <a:pos x="T30" y="T31"/>
                  </a:cxn>
                  <a:cxn ang="T94">
                    <a:pos x="T32" y="T33"/>
                  </a:cxn>
                  <a:cxn ang="T95">
                    <a:pos x="T34" y="T35"/>
                  </a:cxn>
                  <a:cxn ang="T96">
                    <a:pos x="T36" y="T37"/>
                  </a:cxn>
                  <a:cxn ang="T97">
                    <a:pos x="T38" y="T39"/>
                  </a:cxn>
                  <a:cxn ang="T98">
                    <a:pos x="T40" y="T41"/>
                  </a:cxn>
                  <a:cxn ang="T99">
                    <a:pos x="T42" y="T43"/>
                  </a:cxn>
                  <a:cxn ang="T100">
                    <a:pos x="T44" y="T45"/>
                  </a:cxn>
                  <a:cxn ang="T101">
                    <a:pos x="T46" y="T47"/>
                  </a:cxn>
                  <a:cxn ang="T102">
                    <a:pos x="T48" y="T49"/>
                  </a:cxn>
                  <a:cxn ang="T103">
                    <a:pos x="T50" y="T51"/>
                  </a:cxn>
                  <a:cxn ang="T104">
                    <a:pos x="T52" y="T53"/>
                  </a:cxn>
                  <a:cxn ang="T105">
                    <a:pos x="T54" y="T55"/>
                  </a:cxn>
                  <a:cxn ang="T106">
                    <a:pos x="T56" y="T57"/>
                  </a:cxn>
                  <a:cxn ang="T107">
                    <a:pos x="T58" y="T59"/>
                  </a:cxn>
                  <a:cxn ang="T108">
                    <a:pos x="T60" y="T61"/>
                  </a:cxn>
                  <a:cxn ang="T109">
                    <a:pos x="T62" y="T63"/>
                  </a:cxn>
                  <a:cxn ang="T110">
                    <a:pos x="T64" y="T65"/>
                  </a:cxn>
                  <a:cxn ang="T111">
                    <a:pos x="T66" y="T67"/>
                  </a:cxn>
                  <a:cxn ang="T112">
                    <a:pos x="T68" y="T69"/>
                  </a:cxn>
                  <a:cxn ang="T113">
                    <a:pos x="T70" y="T71"/>
                  </a:cxn>
                  <a:cxn ang="T114">
                    <a:pos x="T72" y="T73"/>
                  </a:cxn>
                  <a:cxn ang="T115">
                    <a:pos x="T74" y="T75"/>
                  </a:cxn>
                  <a:cxn ang="T116">
                    <a:pos x="T76" y="T77"/>
                  </a:cxn>
                </a:cxnLst>
                <a:rect l="0" t="0" r="r" b="b"/>
                <a:pathLst>
                  <a:path w="646" h="1075">
                    <a:moveTo>
                      <a:pt x="646" y="901"/>
                    </a:moveTo>
                    <a:lnTo>
                      <a:pt x="562" y="888"/>
                    </a:lnTo>
                    <a:lnTo>
                      <a:pt x="490" y="884"/>
                    </a:lnTo>
                    <a:lnTo>
                      <a:pt x="410" y="877"/>
                    </a:lnTo>
                    <a:lnTo>
                      <a:pt x="321" y="864"/>
                    </a:lnTo>
                    <a:lnTo>
                      <a:pt x="280" y="836"/>
                    </a:lnTo>
                    <a:lnTo>
                      <a:pt x="172" y="700"/>
                    </a:lnTo>
                    <a:lnTo>
                      <a:pt x="228" y="740"/>
                    </a:lnTo>
                    <a:lnTo>
                      <a:pt x="265" y="772"/>
                    </a:lnTo>
                    <a:lnTo>
                      <a:pt x="244" y="675"/>
                    </a:lnTo>
                    <a:lnTo>
                      <a:pt x="204" y="638"/>
                    </a:lnTo>
                    <a:lnTo>
                      <a:pt x="145" y="538"/>
                    </a:lnTo>
                    <a:lnTo>
                      <a:pt x="201" y="585"/>
                    </a:lnTo>
                    <a:lnTo>
                      <a:pt x="237" y="598"/>
                    </a:lnTo>
                    <a:lnTo>
                      <a:pt x="228" y="529"/>
                    </a:lnTo>
                    <a:lnTo>
                      <a:pt x="188" y="477"/>
                    </a:lnTo>
                    <a:lnTo>
                      <a:pt x="149" y="437"/>
                    </a:lnTo>
                    <a:lnTo>
                      <a:pt x="108" y="318"/>
                    </a:lnTo>
                    <a:lnTo>
                      <a:pt x="184" y="416"/>
                    </a:lnTo>
                    <a:lnTo>
                      <a:pt x="228" y="452"/>
                    </a:lnTo>
                    <a:lnTo>
                      <a:pt x="233" y="302"/>
                    </a:lnTo>
                    <a:lnTo>
                      <a:pt x="244" y="242"/>
                    </a:lnTo>
                    <a:lnTo>
                      <a:pt x="269" y="215"/>
                    </a:lnTo>
                    <a:lnTo>
                      <a:pt x="304" y="169"/>
                    </a:lnTo>
                    <a:lnTo>
                      <a:pt x="361" y="149"/>
                    </a:lnTo>
                    <a:lnTo>
                      <a:pt x="390" y="137"/>
                    </a:lnTo>
                    <a:lnTo>
                      <a:pt x="310" y="60"/>
                    </a:lnTo>
                    <a:lnTo>
                      <a:pt x="224" y="80"/>
                    </a:lnTo>
                    <a:lnTo>
                      <a:pt x="168" y="113"/>
                    </a:lnTo>
                    <a:lnTo>
                      <a:pt x="149" y="145"/>
                    </a:lnTo>
                    <a:lnTo>
                      <a:pt x="164" y="96"/>
                    </a:lnTo>
                    <a:lnTo>
                      <a:pt x="197" y="80"/>
                    </a:lnTo>
                    <a:lnTo>
                      <a:pt x="249" y="60"/>
                    </a:lnTo>
                    <a:lnTo>
                      <a:pt x="289" y="53"/>
                    </a:lnTo>
                    <a:lnTo>
                      <a:pt x="265" y="39"/>
                    </a:lnTo>
                    <a:lnTo>
                      <a:pt x="224" y="28"/>
                    </a:lnTo>
                    <a:lnTo>
                      <a:pt x="188" y="15"/>
                    </a:lnTo>
                    <a:lnTo>
                      <a:pt x="168" y="0"/>
                    </a:lnTo>
                    <a:lnTo>
                      <a:pt x="121" y="32"/>
                    </a:lnTo>
                    <a:lnTo>
                      <a:pt x="93" y="60"/>
                    </a:lnTo>
                    <a:lnTo>
                      <a:pt x="65" y="96"/>
                    </a:lnTo>
                    <a:lnTo>
                      <a:pt x="25" y="116"/>
                    </a:lnTo>
                    <a:lnTo>
                      <a:pt x="16" y="154"/>
                    </a:lnTo>
                    <a:lnTo>
                      <a:pt x="0" y="215"/>
                    </a:lnTo>
                    <a:lnTo>
                      <a:pt x="0" y="307"/>
                    </a:lnTo>
                    <a:lnTo>
                      <a:pt x="4" y="403"/>
                    </a:lnTo>
                    <a:lnTo>
                      <a:pt x="7" y="513"/>
                    </a:lnTo>
                    <a:lnTo>
                      <a:pt x="28" y="626"/>
                    </a:lnTo>
                    <a:lnTo>
                      <a:pt x="52" y="744"/>
                    </a:lnTo>
                    <a:lnTo>
                      <a:pt x="65" y="844"/>
                    </a:lnTo>
                    <a:lnTo>
                      <a:pt x="85" y="917"/>
                    </a:lnTo>
                    <a:lnTo>
                      <a:pt x="81" y="982"/>
                    </a:lnTo>
                    <a:lnTo>
                      <a:pt x="89" y="1018"/>
                    </a:lnTo>
                    <a:lnTo>
                      <a:pt x="117" y="1046"/>
                    </a:lnTo>
                    <a:lnTo>
                      <a:pt x="153" y="1070"/>
                    </a:lnTo>
                    <a:lnTo>
                      <a:pt x="201" y="1075"/>
                    </a:lnTo>
                    <a:lnTo>
                      <a:pt x="224" y="1063"/>
                    </a:lnTo>
                    <a:lnTo>
                      <a:pt x="257" y="1059"/>
                    </a:lnTo>
                    <a:lnTo>
                      <a:pt x="334" y="1043"/>
                    </a:lnTo>
                    <a:lnTo>
                      <a:pt x="300" y="1003"/>
                    </a:lnTo>
                    <a:lnTo>
                      <a:pt x="265" y="944"/>
                    </a:lnTo>
                    <a:lnTo>
                      <a:pt x="318" y="985"/>
                    </a:lnTo>
                    <a:lnTo>
                      <a:pt x="357" y="1022"/>
                    </a:lnTo>
                    <a:lnTo>
                      <a:pt x="386" y="1043"/>
                    </a:lnTo>
                    <a:lnTo>
                      <a:pt x="426" y="1063"/>
                    </a:lnTo>
                    <a:lnTo>
                      <a:pt x="470" y="1063"/>
                    </a:lnTo>
                    <a:lnTo>
                      <a:pt x="513" y="1063"/>
                    </a:lnTo>
                    <a:lnTo>
                      <a:pt x="538" y="1051"/>
                    </a:lnTo>
                    <a:lnTo>
                      <a:pt x="550" y="1039"/>
                    </a:lnTo>
                    <a:lnTo>
                      <a:pt x="494" y="1006"/>
                    </a:lnTo>
                    <a:lnTo>
                      <a:pt x="438" y="954"/>
                    </a:lnTo>
                    <a:lnTo>
                      <a:pt x="422" y="929"/>
                    </a:lnTo>
                    <a:lnTo>
                      <a:pt x="466" y="941"/>
                    </a:lnTo>
                    <a:lnTo>
                      <a:pt x="534" y="994"/>
                    </a:lnTo>
                    <a:lnTo>
                      <a:pt x="562" y="1018"/>
                    </a:lnTo>
                    <a:lnTo>
                      <a:pt x="626" y="1022"/>
                    </a:lnTo>
                    <a:lnTo>
                      <a:pt x="646" y="1010"/>
                    </a:lnTo>
                    <a:lnTo>
                      <a:pt x="646" y="982"/>
                    </a:lnTo>
                    <a:lnTo>
                      <a:pt x="646" y="90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5" name="Freeform 137"/>
              <p:cNvSpPr>
                <a:spLocks/>
              </p:cNvSpPr>
              <p:nvPr/>
            </p:nvSpPr>
            <p:spPr bwMode="auto">
              <a:xfrm>
                <a:off x="2520" y="2218"/>
                <a:ext cx="27" cy="70"/>
              </a:xfrm>
              <a:custGeom>
                <a:avLst/>
                <a:gdLst>
                  <a:gd name="T0" fmla="*/ 0 w 188"/>
                  <a:gd name="T1" fmla="*/ 0 h 496"/>
                  <a:gd name="T2" fmla="*/ 0 w 188"/>
                  <a:gd name="T3" fmla="*/ 0 h 496"/>
                  <a:gd name="T4" fmla="*/ 0 w 188"/>
                  <a:gd name="T5" fmla="*/ 0 h 496"/>
                  <a:gd name="T6" fmla="*/ 0 w 188"/>
                  <a:gd name="T7" fmla="*/ 0 h 496"/>
                  <a:gd name="T8" fmla="*/ 0 w 188"/>
                  <a:gd name="T9" fmla="*/ 0 h 496"/>
                  <a:gd name="T10" fmla="*/ 0 w 188"/>
                  <a:gd name="T11" fmla="*/ 0 h 496"/>
                  <a:gd name="T12" fmla="*/ 0 w 188"/>
                  <a:gd name="T13" fmla="*/ 0 h 496"/>
                  <a:gd name="T14" fmla="*/ 0 w 188"/>
                  <a:gd name="T15" fmla="*/ 0 h 496"/>
                  <a:gd name="T16" fmla="*/ 0 w 188"/>
                  <a:gd name="T17" fmla="*/ 0 h 496"/>
                  <a:gd name="T18" fmla="*/ 0 w 188"/>
                  <a:gd name="T19" fmla="*/ 0 h 496"/>
                  <a:gd name="T20" fmla="*/ 0 w 188"/>
                  <a:gd name="T21" fmla="*/ 0 h 496"/>
                  <a:gd name="T22" fmla="*/ 0 w 188"/>
                  <a:gd name="T23" fmla="*/ 0 h 496"/>
                  <a:gd name="T24" fmla="*/ 0 w 188"/>
                  <a:gd name="T25" fmla="*/ 0 h 496"/>
                  <a:gd name="T26" fmla="*/ 0 w 188"/>
                  <a:gd name="T27" fmla="*/ 0 h 49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Lst>
                <a:ahLst/>
                <a:cxnLst>
                  <a:cxn ang="T28">
                    <a:pos x="T0" y="T1"/>
                  </a:cxn>
                  <a:cxn ang="T29">
                    <a:pos x="T2" y="T3"/>
                  </a:cxn>
                  <a:cxn ang="T30">
                    <a:pos x="T4" y="T5"/>
                  </a:cxn>
                  <a:cxn ang="T31">
                    <a:pos x="T6" y="T7"/>
                  </a:cxn>
                  <a:cxn ang="T32">
                    <a:pos x="T8" y="T9"/>
                  </a:cxn>
                  <a:cxn ang="T33">
                    <a:pos x="T10" y="T11"/>
                  </a:cxn>
                  <a:cxn ang="T34">
                    <a:pos x="T12" y="T13"/>
                  </a:cxn>
                  <a:cxn ang="T35">
                    <a:pos x="T14" y="T15"/>
                  </a:cxn>
                  <a:cxn ang="T36">
                    <a:pos x="T16" y="T17"/>
                  </a:cxn>
                  <a:cxn ang="T37">
                    <a:pos x="T18" y="T19"/>
                  </a:cxn>
                  <a:cxn ang="T38">
                    <a:pos x="T20" y="T21"/>
                  </a:cxn>
                  <a:cxn ang="T39">
                    <a:pos x="T22" y="T23"/>
                  </a:cxn>
                  <a:cxn ang="T40">
                    <a:pos x="T24" y="T25"/>
                  </a:cxn>
                  <a:cxn ang="T41">
                    <a:pos x="T26" y="T27"/>
                  </a:cxn>
                </a:cxnLst>
                <a:rect l="0" t="0" r="r" b="b"/>
                <a:pathLst>
                  <a:path w="188" h="496">
                    <a:moveTo>
                      <a:pt x="188" y="496"/>
                    </a:moveTo>
                    <a:lnTo>
                      <a:pt x="155" y="480"/>
                    </a:lnTo>
                    <a:lnTo>
                      <a:pt x="120" y="440"/>
                    </a:lnTo>
                    <a:lnTo>
                      <a:pt x="89" y="369"/>
                    </a:lnTo>
                    <a:lnTo>
                      <a:pt x="72" y="307"/>
                    </a:lnTo>
                    <a:lnTo>
                      <a:pt x="48" y="238"/>
                    </a:lnTo>
                    <a:lnTo>
                      <a:pt x="37" y="173"/>
                    </a:lnTo>
                    <a:lnTo>
                      <a:pt x="17" y="73"/>
                    </a:lnTo>
                    <a:lnTo>
                      <a:pt x="0" y="0"/>
                    </a:lnTo>
                    <a:lnTo>
                      <a:pt x="41" y="145"/>
                    </a:lnTo>
                    <a:lnTo>
                      <a:pt x="72" y="258"/>
                    </a:lnTo>
                    <a:lnTo>
                      <a:pt x="108" y="335"/>
                    </a:lnTo>
                    <a:lnTo>
                      <a:pt x="164" y="416"/>
                    </a:lnTo>
                    <a:lnTo>
                      <a:pt x="188" y="49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6" name="Freeform 138"/>
              <p:cNvSpPr>
                <a:spLocks/>
              </p:cNvSpPr>
              <p:nvPr/>
            </p:nvSpPr>
            <p:spPr bwMode="auto">
              <a:xfrm>
                <a:off x="2548" y="2160"/>
                <a:ext cx="107" cy="107"/>
              </a:xfrm>
              <a:custGeom>
                <a:avLst/>
                <a:gdLst>
                  <a:gd name="T0" fmla="*/ 0 w 747"/>
                  <a:gd name="T1" fmla="*/ 0 h 747"/>
                  <a:gd name="T2" fmla="*/ 0 w 747"/>
                  <a:gd name="T3" fmla="*/ 0 h 747"/>
                  <a:gd name="T4" fmla="*/ 0 w 747"/>
                  <a:gd name="T5" fmla="*/ 0 h 747"/>
                  <a:gd name="T6" fmla="*/ 0 w 747"/>
                  <a:gd name="T7" fmla="*/ 0 h 747"/>
                  <a:gd name="T8" fmla="*/ 0 w 747"/>
                  <a:gd name="T9" fmla="*/ 0 h 747"/>
                  <a:gd name="T10" fmla="*/ 0 w 747"/>
                  <a:gd name="T11" fmla="*/ 0 h 747"/>
                  <a:gd name="T12" fmla="*/ 0 w 747"/>
                  <a:gd name="T13" fmla="*/ 0 h 747"/>
                  <a:gd name="T14" fmla="*/ 0 w 747"/>
                  <a:gd name="T15" fmla="*/ 0 h 747"/>
                  <a:gd name="T16" fmla="*/ 0 w 747"/>
                  <a:gd name="T17" fmla="*/ 0 h 747"/>
                  <a:gd name="T18" fmla="*/ 0 w 747"/>
                  <a:gd name="T19" fmla="*/ 0 h 747"/>
                  <a:gd name="T20" fmla="*/ 0 w 747"/>
                  <a:gd name="T21" fmla="*/ 0 h 747"/>
                  <a:gd name="T22" fmla="*/ 0 w 747"/>
                  <a:gd name="T23" fmla="*/ 0 h 747"/>
                  <a:gd name="T24" fmla="*/ 0 w 747"/>
                  <a:gd name="T25" fmla="*/ 0 h 747"/>
                  <a:gd name="T26" fmla="*/ 0 w 747"/>
                  <a:gd name="T27" fmla="*/ 0 h 747"/>
                  <a:gd name="T28" fmla="*/ 0 w 747"/>
                  <a:gd name="T29" fmla="*/ 0 h 747"/>
                  <a:gd name="T30" fmla="*/ 0 w 747"/>
                  <a:gd name="T31" fmla="*/ 0 h 747"/>
                  <a:gd name="T32" fmla="*/ 0 w 747"/>
                  <a:gd name="T33" fmla="*/ 0 h 747"/>
                  <a:gd name="T34" fmla="*/ 0 w 747"/>
                  <a:gd name="T35" fmla="*/ 0 h 747"/>
                  <a:gd name="T36" fmla="*/ 0 w 747"/>
                  <a:gd name="T37" fmla="*/ 0 h 747"/>
                  <a:gd name="T38" fmla="*/ 0 w 747"/>
                  <a:gd name="T39" fmla="*/ 0 h 747"/>
                  <a:gd name="T40" fmla="*/ 0 w 747"/>
                  <a:gd name="T41" fmla="*/ 0 h 747"/>
                  <a:gd name="T42" fmla="*/ 0 w 747"/>
                  <a:gd name="T43" fmla="*/ 0 h 747"/>
                  <a:gd name="T44" fmla="*/ 0 w 747"/>
                  <a:gd name="T45" fmla="*/ 0 h 747"/>
                  <a:gd name="T46" fmla="*/ 0 w 747"/>
                  <a:gd name="T47" fmla="*/ 0 h 747"/>
                  <a:gd name="T48" fmla="*/ 0 w 747"/>
                  <a:gd name="T49" fmla="*/ 0 h 747"/>
                  <a:gd name="T50" fmla="*/ 0 w 747"/>
                  <a:gd name="T51" fmla="*/ 0 h 747"/>
                  <a:gd name="T52" fmla="*/ 0 w 747"/>
                  <a:gd name="T53" fmla="*/ 0 h 747"/>
                  <a:gd name="T54" fmla="*/ 0 w 747"/>
                  <a:gd name="T55" fmla="*/ 0 h 747"/>
                  <a:gd name="T56" fmla="*/ 0 w 747"/>
                  <a:gd name="T57" fmla="*/ 0 h 747"/>
                  <a:gd name="T58" fmla="*/ 0 w 747"/>
                  <a:gd name="T59" fmla="*/ 0 h 747"/>
                  <a:gd name="T60" fmla="*/ 0 w 747"/>
                  <a:gd name="T61" fmla="*/ 0 h 747"/>
                  <a:gd name="T62" fmla="*/ 0 w 747"/>
                  <a:gd name="T63" fmla="*/ 0 h 747"/>
                  <a:gd name="T64" fmla="*/ 0 w 747"/>
                  <a:gd name="T65" fmla="*/ 0 h 747"/>
                  <a:gd name="T66" fmla="*/ 0 w 747"/>
                  <a:gd name="T67" fmla="*/ 0 h 747"/>
                  <a:gd name="T68" fmla="*/ 0 w 747"/>
                  <a:gd name="T69" fmla="*/ 0 h 747"/>
                  <a:gd name="T70" fmla="*/ 0 w 747"/>
                  <a:gd name="T71" fmla="*/ 0 h 747"/>
                  <a:gd name="T72" fmla="*/ 0 w 747"/>
                  <a:gd name="T73" fmla="*/ 0 h 747"/>
                  <a:gd name="T74" fmla="*/ 0 w 747"/>
                  <a:gd name="T75" fmla="*/ 0 h 747"/>
                  <a:gd name="T76" fmla="*/ 0 w 747"/>
                  <a:gd name="T77" fmla="*/ 0 h 747"/>
                  <a:gd name="T78" fmla="*/ 0 w 747"/>
                  <a:gd name="T79" fmla="*/ 0 h 747"/>
                  <a:gd name="T80" fmla="*/ 0 w 747"/>
                  <a:gd name="T81" fmla="*/ 0 h 747"/>
                  <a:gd name="T82" fmla="*/ 0 w 747"/>
                  <a:gd name="T83" fmla="*/ 0 h 747"/>
                  <a:gd name="T84" fmla="*/ 0 w 747"/>
                  <a:gd name="T85" fmla="*/ 0 h 747"/>
                  <a:gd name="T86" fmla="*/ 0 w 747"/>
                  <a:gd name="T87" fmla="*/ 0 h 747"/>
                  <a:gd name="T88" fmla="*/ 0 w 747"/>
                  <a:gd name="T89" fmla="*/ 0 h 747"/>
                  <a:gd name="T90" fmla="*/ 0 w 747"/>
                  <a:gd name="T91" fmla="*/ 0 h 747"/>
                  <a:gd name="T92" fmla="*/ 0 w 747"/>
                  <a:gd name="T93" fmla="*/ 0 h 747"/>
                  <a:gd name="T94" fmla="*/ 0 w 747"/>
                  <a:gd name="T95" fmla="*/ 0 h 747"/>
                  <a:gd name="T96" fmla="*/ 0 w 747"/>
                  <a:gd name="T97" fmla="*/ 0 h 747"/>
                  <a:gd name="T98" fmla="*/ 0 w 747"/>
                  <a:gd name="T99" fmla="*/ 0 h 747"/>
                  <a:gd name="T100" fmla="*/ 0 w 747"/>
                  <a:gd name="T101" fmla="*/ 0 h 747"/>
                  <a:gd name="T102" fmla="*/ 0 w 747"/>
                  <a:gd name="T103" fmla="*/ 0 h 747"/>
                  <a:gd name="T104" fmla="*/ 0 w 747"/>
                  <a:gd name="T105" fmla="*/ 0 h 747"/>
                  <a:gd name="T106" fmla="*/ 0 w 747"/>
                  <a:gd name="T107" fmla="*/ 0 h 747"/>
                  <a:gd name="T108" fmla="*/ 0 w 747"/>
                  <a:gd name="T109" fmla="*/ 0 h 747"/>
                  <a:gd name="T110" fmla="*/ 0 w 747"/>
                  <a:gd name="T111" fmla="*/ 0 h 747"/>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Lst>
                <a:ahLst/>
                <a:cxnLst>
                  <a:cxn ang="T112">
                    <a:pos x="T0" y="T1"/>
                  </a:cxn>
                  <a:cxn ang="T113">
                    <a:pos x="T2" y="T3"/>
                  </a:cxn>
                  <a:cxn ang="T114">
                    <a:pos x="T4" y="T5"/>
                  </a:cxn>
                  <a:cxn ang="T115">
                    <a:pos x="T6" y="T7"/>
                  </a:cxn>
                  <a:cxn ang="T116">
                    <a:pos x="T8" y="T9"/>
                  </a:cxn>
                  <a:cxn ang="T117">
                    <a:pos x="T10" y="T11"/>
                  </a:cxn>
                  <a:cxn ang="T118">
                    <a:pos x="T12" y="T13"/>
                  </a:cxn>
                  <a:cxn ang="T119">
                    <a:pos x="T14" y="T15"/>
                  </a:cxn>
                  <a:cxn ang="T120">
                    <a:pos x="T16" y="T17"/>
                  </a:cxn>
                  <a:cxn ang="T121">
                    <a:pos x="T18" y="T19"/>
                  </a:cxn>
                  <a:cxn ang="T122">
                    <a:pos x="T20" y="T21"/>
                  </a:cxn>
                  <a:cxn ang="T123">
                    <a:pos x="T22" y="T23"/>
                  </a:cxn>
                  <a:cxn ang="T124">
                    <a:pos x="T24" y="T25"/>
                  </a:cxn>
                  <a:cxn ang="T125">
                    <a:pos x="T26" y="T27"/>
                  </a:cxn>
                  <a:cxn ang="T126">
                    <a:pos x="T28" y="T29"/>
                  </a:cxn>
                  <a:cxn ang="T127">
                    <a:pos x="T30" y="T31"/>
                  </a:cxn>
                  <a:cxn ang="T128">
                    <a:pos x="T32" y="T33"/>
                  </a:cxn>
                  <a:cxn ang="T129">
                    <a:pos x="T34" y="T35"/>
                  </a:cxn>
                  <a:cxn ang="T130">
                    <a:pos x="T36" y="T37"/>
                  </a:cxn>
                  <a:cxn ang="T131">
                    <a:pos x="T38" y="T39"/>
                  </a:cxn>
                  <a:cxn ang="T132">
                    <a:pos x="T40" y="T41"/>
                  </a:cxn>
                  <a:cxn ang="T133">
                    <a:pos x="T42" y="T43"/>
                  </a:cxn>
                  <a:cxn ang="T134">
                    <a:pos x="T44" y="T45"/>
                  </a:cxn>
                  <a:cxn ang="T135">
                    <a:pos x="T46" y="T47"/>
                  </a:cxn>
                  <a:cxn ang="T136">
                    <a:pos x="T48" y="T49"/>
                  </a:cxn>
                  <a:cxn ang="T137">
                    <a:pos x="T50" y="T51"/>
                  </a:cxn>
                  <a:cxn ang="T138">
                    <a:pos x="T52" y="T53"/>
                  </a:cxn>
                  <a:cxn ang="T139">
                    <a:pos x="T54" y="T55"/>
                  </a:cxn>
                  <a:cxn ang="T140">
                    <a:pos x="T56" y="T57"/>
                  </a:cxn>
                  <a:cxn ang="T141">
                    <a:pos x="T58" y="T59"/>
                  </a:cxn>
                  <a:cxn ang="T142">
                    <a:pos x="T60" y="T61"/>
                  </a:cxn>
                  <a:cxn ang="T143">
                    <a:pos x="T62" y="T63"/>
                  </a:cxn>
                  <a:cxn ang="T144">
                    <a:pos x="T64" y="T65"/>
                  </a:cxn>
                  <a:cxn ang="T145">
                    <a:pos x="T66" y="T67"/>
                  </a:cxn>
                  <a:cxn ang="T146">
                    <a:pos x="T68" y="T69"/>
                  </a:cxn>
                  <a:cxn ang="T147">
                    <a:pos x="T70" y="T71"/>
                  </a:cxn>
                  <a:cxn ang="T148">
                    <a:pos x="T72" y="T73"/>
                  </a:cxn>
                  <a:cxn ang="T149">
                    <a:pos x="T74" y="T75"/>
                  </a:cxn>
                  <a:cxn ang="T150">
                    <a:pos x="T76" y="T77"/>
                  </a:cxn>
                  <a:cxn ang="T151">
                    <a:pos x="T78" y="T79"/>
                  </a:cxn>
                  <a:cxn ang="T152">
                    <a:pos x="T80" y="T81"/>
                  </a:cxn>
                  <a:cxn ang="T153">
                    <a:pos x="T82" y="T83"/>
                  </a:cxn>
                  <a:cxn ang="T154">
                    <a:pos x="T84" y="T85"/>
                  </a:cxn>
                  <a:cxn ang="T155">
                    <a:pos x="T86" y="T87"/>
                  </a:cxn>
                  <a:cxn ang="T156">
                    <a:pos x="T88" y="T89"/>
                  </a:cxn>
                  <a:cxn ang="T157">
                    <a:pos x="T90" y="T91"/>
                  </a:cxn>
                  <a:cxn ang="T158">
                    <a:pos x="T92" y="T93"/>
                  </a:cxn>
                  <a:cxn ang="T159">
                    <a:pos x="T94" y="T95"/>
                  </a:cxn>
                  <a:cxn ang="T160">
                    <a:pos x="T96" y="T97"/>
                  </a:cxn>
                  <a:cxn ang="T161">
                    <a:pos x="T98" y="T99"/>
                  </a:cxn>
                  <a:cxn ang="T162">
                    <a:pos x="T100" y="T101"/>
                  </a:cxn>
                  <a:cxn ang="T163">
                    <a:pos x="T102" y="T103"/>
                  </a:cxn>
                  <a:cxn ang="T164">
                    <a:pos x="T104" y="T105"/>
                  </a:cxn>
                  <a:cxn ang="T165">
                    <a:pos x="T106" y="T107"/>
                  </a:cxn>
                  <a:cxn ang="T166">
                    <a:pos x="T108" y="T109"/>
                  </a:cxn>
                  <a:cxn ang="T167">
                    <a:pos x="T110" y="T111"/>
                  </a:cxn>
                </a:cxnLst>
                <a:rect l="0" t="0" r="r" b="b"/>
                <a:pathLst>
                  <a:path w="747" h="747">
                    <a:moveTo>
                      <a:pt x="138" y="0"/>
                    </a:moveTo>
                    <a:lnTo>
                      <a:pt x="225" y="27"/>
                    </a:lnTo>
                    <a:lnTo>
                      <a:pt x="266" y="63"/>
                    </a:lnTo>
                    <a:lnTo>
                      <a:pt x="290" y="137"/>
                    </a:lnTo>
                    <a:lnTo>
                      <a:pt x="290" y="204"/>
                    </a:lnTo>
                    <a:lnTo>
                      <a:pt x="277" y="244"/>
                    </a:lnTo>
                    <a:lnTo>
                      <a:pt x="285" y="314"/>
                    </a:lnTo>
                    <a:lnTo>
                      <a:pt x="285" y="366"/>
                    </a:lnTo>
                    <a:lnTo>
                      <a:pt x="273" y="379"/>
                    </a:lnTo>
                    <a:lnTo>
                      <a:pt x="285" y="399"/>
                    </a:lnTo>
                    <a:lnTo>
                      <a:pt x="294" y="419"/>
                    </a:lnTo>
                    <a:lnTo>
                      <a:pt x="277" y="440"/>
                    </a:lnTo>
                    <a:lnTo>
                      <a:pt x="277" y="460"/>
                    </a:lnTo>
                    <a:lnTo>
                      <a:pt x="310" y="468"/>
                    </a:lnTo>
                    <a:lnTo>
                      <a:pt x="306" y="488"/>
                    </a:lnTo>
                    <a:lnTo>
                      <a:pt x="337" y="500"/>
                    </a:lnTo>
                    <a:lnTo>
                      <a:pt x="367" y="492"/>
                    </a:lnTo>
                    <a:lnTo>
                      <a:pt x="386" y="500"/>
                    </a:lnTo>
                    <a:lnTo>
                      <a:pt x="475" y="513"/>
                    </a:lnTo>
                    <a:lnTo>
                      <a:pt x="555" y="508"/>
                    </a:lnTo>
                    <a:lnTo>
                      <a:pt x="606" y="513"/>
                    </a:lnTo>
                    <a:lnTo>
                      <a:pt x="640" y="533"/>
                    </a:lnTo>
                    <a:lnTo>
                      <a:pt x="720" y="533"/>
                    </a:lnTo>
                    <a:lnTo>
                      <a:pt x="747" y="561"/>
                    </a:lnTo>
                    <a:lnTo>
                      <a:pt x="747" y="592"/>
                    </a:lnTo>
                    <a:lnTo>
                      <a:pt x="743" y="646"/>
                    </a:lnTo>
                    <a:lnTo>
                      <a:pt x="679" y="662"/>
                    </a:lnTo>
                    <a:lnTo>
                      <a:pt x="679" y="628"/>
                    </a:lnTo>
                    <a:lnTo>
                      <a:pt x="675" y="601"/>
                    </a:lnTo>
                    <a:lnTo>
                      <a:pt x="663" y="588"/>
                    </a:lnTo>
                    <a:lnTo>
                      <a:pt x="659" y="621"/>
                    </a:lnTo>
                    <a:lnTo>
                      <a:pt x="655" y="662"/>
                    </a:lnTo>
                    <a:lnTo>
                      <a:pt x="640" y="687"/>
                    </a:lnTo>
                    <a:lnTo>
                      <a:pt x="611" y="718"/>
                    </a:lnTo>
                    <a:lnTo>
                      <a:pt x="544" y="734"/>
                    </a:lnTo>
                    <a:lnTo>
                      <a:pt x="491" y="743"/>
                    </a:lnTo>
                    <a:lnTo>
                      <a:pt x="430" y="747"/>
                    </a:lnTo>
                    <a:lnTo>
                      <a:pt x="507" y="702"/>
                    </a:lnTo>
                    <a:lnTo>
                      <a:pt x="559" y="662"/>
                    </a:lnTo>
                    <a:lnTo>
                      <a:pt x="570" y="628"/>
                    </a:lnTo>
                    <a:lnTo>
                      <a:pt x="563" y="601"/>
                    </a:lnTo>
                    <a:lnTo>
                      <a:pt x="519" y="597"/>
                    </a:lnTo>
                    <a:lnTo>
                      <a:pt x="503" y="628"/>
                    </a:lnTo>
                    <a:lnTo>
                      <a:pt x="491" y="666"/>
                    </a:lnTo>
                    <a:lnTo>
                      <a:pt x="450" y="706"/>
                    </a:lnTo>
                    <a:lnTo>
                      <a:pt x="407" y="739"/>
                    </a:lnTo>
                    <a:lnTo>
                      <a:pt x="362" y="743"/>
                    </a:lnTo>
                    <a:lnTo>
                      <a:pt x="294" y="739"/>
                    </a:lnTo>
                    <a:lnTo>
                      <a:pt x="367" y="681"/>
                    </a:lnTo>
                    <a:lnTo>
                      <a:pt x="419" y="653"/>
                    </a:lnTo>
                    <a:lnTo>
                      <a:pt x="458" y="621"/>
                    </a:lnTo>
                    <a:lnTo>
                      <a:pt x="471" y="597"/>
                    </a:lnTo>
                    <a:lnTo>
                      <a:pt x="468" y="572"/>
                    </a:lnTo>
                    <a:lnTo>
                      <a:pt x="443" y="568"/>
                    </a:lnTo>
                    <a:lnTo>
                      <a:pt x="415" y="592"/>
                    </a:lnTo>
                    <a:lnTo>
                      <a:pt x="398" y="625"/>
                    </a:lnTo>
                    <a:lnTo>
                      <a:pt x="362" y="666"/>
                    </a:lnTo>
                    <a:lnTo>
                      <a:pt x="318" y="687"/>
                    </a:lnTo>
                    <a:lnTo>
                      <a:pt x="285" y="706"/>
                    </a:lnTo>
                    <a:lnTo>
                      <a:pt x="250" y="722"/>
                    </a:lnTo>
                    <a:lnTo>
                      <a:pt x="209" y="730"/>
                    </a:lnTo>
                    <a:lnTo>
                      <a:pt x="161" y="730"/>
                    </a:lnTo>
                    <a:lnTo>
                      <a:pt x="115" y="721"/>
                    </a:lnTo>
                    <a:lnTo>
                      <a:pt x="217" y="687"/>
                    </a:lnTo>
                    <a:lnTo>
                      <a:pt x="257" y="666"/>
                    </a:lnTo>
                    <a:lnTo>
                      <a:pt x="285" y="628"/>
                    </a:lnTo>
                    <a:lnTo>
                      <a:pt x="290" y="597"/>
                    </a:lnTo>
                    <a:lnTo>
                      <a:pt x="266" y="597"/>
                    </a:lnTo>
                    <a:lnTo>
                      <a:pt x="254" y="625"/>
                    </a:lnTo>
                    <a:lnTo>
                      <a:pt x="233" y="649"/>
                    </a:lnTo>
                    <a:lnTo>
                      <a:pt x="201" y="674"/>
                    </a:lnTo>
                    <a:lnTo>
                      <a:pt x="165" y="699"/>
                    </a:lnTo>
                    <a:lnTo>
                      <a:pt x="117" y="719"/>
                    </a:lnTo>
                    <a:lnTo>
                      <a:pt x="81" y="706"/>
                    </a:lnTo>
                    <a:lnTo>
                      <a:pt x="65" y="687"/>
                    </a:lnTo>
                    <a:lnTo>
                      <a:pt x="37" y="636"/>
                    </a:lnTo>
                    <a:lnTo>
                      <a:pt x="89" y="625"/>
                    </a:lnTo>
                    <a:lnTo>
                      <a:pt x="189" y="613"/>
                    </a:lnTo>
                    <a:lnTo>
                      <a:pt x="250" y="585"/>
                    </a:lnTo>
                    <a:lnTo>
                      <a:pt x="281" y="558"/>
                    </a:lnTo>
                    <a:lnTo>
                      <a:pt x="294" y="525"/>
                    </a:lnTo>
                    <a:lnTo>
                      <a:pt x="298" y="508"/>
                    </a:lnTo>
                    <a:lnTo>
                      <a:pt x="281" y="508"/>
                    </a:lnTo>
                    <a:lnTo>
                      <a:pt x="261" y="533"/>
                    </a:lnTo>
                    <a:lnTo>
                      <a:pt x="229" y="576"/>
                    </a:lnTo>
                    <a:lnTo>
                      <a:pt x="157" y="601"/>
                    </a:lnTo>
                    <a:lnTo>
                      <a:pt x="89" y="622"/>
                    </a:lnTo>
                    <a:lnTo>
                      <a:pt x="37" y="636"/>
                    </a:lnTo>
                    <a:lnTo>
                      <a:pt x="17" y="553"/>
                    </a:lnTo>
                    <a:lnTo>
                      <a:pt x="13" y="492"/>
                    </a:lnTo>
                    <a:lnTo>
                      <a:pt x="13" y="439"/>
                    </a:lnTo>
                    <a:lnTo>
                      <a:pt x="81" y="476"/>
                    </a:lnTo>
                    <a:lnTo>
                      <a:pt x="161" y="492"/>
                    </a:lnTo>
                    <a:lnTo>
                      <a:pt x="225" y="488"/>
                    </a:lnTo>
                    <a:lnTo>
                      <a:pt x="242" y="481"/>
                    </a:lnTo>
                    <a:lnTo>
                      <a:pt x="250" y="460"/>
                    </a:lnTo>
                    <a:lnTo>
                      <a:pt x="213" y="460"/>
                    </a:lnTo>
                    <a:lnTo>
                      <a:pt x="174" y="472"/>
                    </a:lnTo>
                    <a:lnTo>
                      <a:pt x="79" y="476"/>
                    </a:lnTo>
                    <a:lnTo>
                      <a:pt x="13" y="440"/>
                    </a:lnTo>
                    <a:lnTo>
                      <a:pt x="9" y="363"/>
                    </a:lnTo>
                    <a:lnTo>
                      <a:pt x="4" y="310"/>
                    </a:lnTo>
                    <a:lnTo>
                      <a:pt x="0" y="258"/>
                    </a:lnTo>
                    <a:lnTo>
                      <a:pt x="9" y="169"/>
                    </a:lnTo>
                    <a:lnTo>
                      <a:pt x="29" y="137"/>
                    </a:lnTo>
                    <a:lnTo>
                      <a:pt x="89" y="97"/>
                    </a:lnTo>
                    <a:lnTo>
                      <a:pt x="70" y="101"/>
                    </a:lnTo>
                    <a:lnTo>
                      <a:pt x="9" y="129"/>
                    </a:lnTo>
                    <a:lnTo>
                      <a:pt x="33" y="72"/>
                    </a:lnTo>
                    <a:lnTo>
                      <a:pt x="53" y="43"/>
                    </a:lnTo>
                    <a:lnTo>
                      <a:pt x="70" y="23"/>
                    </a:lnTo>
                    <a:lnTo>
                      <a:pt x="138"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7" name="Freeform 139"/>
              <p:cNvSpPr>
                <a:spLocks/>
              </p:cNvSpPr>
              <p:nvPr/>
            </p:nvSpPr>
            <p:spPr bwMode="auto">
              <a:xfrm>
                <a:off x="2555" y="2200"/>
                <a:ext cx="27" cy="24"/>
              </a:xfrm>
              <a:custGeom>
                <a:avLst/>
                <a:gdLst>
                  <a:gd name="T0" fmla="*/ 0 w 188"/>
                  <a:gd name="T1" fmla="*/ 0 h 168"/>
                  <a:gd name="T2" fmla="*/ 0 w 188"/>
                  <a:gd name="T3" fmla="*/ 0 h 168"/>
                  <a:gd name="T4" fmla="*/ 0 w 188"/>
                  <a:gd name="T5" fmla="*/ 0 h 168"/>
                  <a:gd name="T6" fmla="*/ 0 w 188"/>
                  <a:gd name="T7" fmla="*/ 0 h 168"/>
                  <a:gd name="T8" fmla="*/ 0 w 188"/>
                  <a:gd name="T9" fmla="*/ 0 h 168"/>
                  <a:gd name="T10" fmla="*/ 0 w 188"/>
                  <a:gd name="T11" fmla="*/ 0 h 168"/>
                  <a:gd name="T12" fmla="*/ 0 w 188"/>
                  <a:gd name="T13" fmla="*/ 0 h 168"/>
                  <a:gd name="T14" fmla="*/ 0 w 188"/>
                  <a:gd name="T15" fmla="*/ 0 h 168"/>
                  <a:gd name="T16" fmla="*/ 0 w 188"/>
                  <a:gd name="T17" fmla="*/ 0 h 168"/>
                  <a:gd name="T18" fmla="*/ 0 w 188"/>
                  <a:gd name="T19" fmla="*/ 0 h 168"/>
                  <a:gd name="T20" fmla="*/ 0 w 188"/>
                  <a:gd name="T21" fmla="*/ 0 h 168"/>
                  <a:gd name="T22" fmla="*/ 0 w 188"/>
                  <a:gd name="T23" fmla="*/ 0 h 168"/>
                  <a:gd name="T24" fmla="*/ 0 w 188"/>
                  <a:gd name="T25" fmla="*/ 0 h 168"/>
                  <a:gd name="T26" fmla="*/ 0 w 188"/>
                  <a:gd name="T27" fmla="*/ 0 h 168"/>
                  <a:gd name="T28" fmla="*/ 0 w 188"/>
                  <a:gd name="T29" fmla="*/ 0 h 168"/>
                  <a:gd name="T30" fmla="*/ 0 w 188"/>
                  <a:gd name="T31" fmla="*/ 0 h 168"/>
                  <a:gd name="T32" fmla="*/ 0 w 188"/>
                  <a:gd name="T33" fmla="*/ 0 h 168"/>
                  <a:gd name="T34" fmla="*/ 0 w 188"/>
                  <a:gd name="T35" fmla="*/ 0 h 168"/>
                  <a:gd name="T36" fmla="*/ 0 w 188"/>
                  <a:gd name="T37" fmla="*/ 0 h 168"/>
                  <a:gd name="T38" fmla="*/ 0 w 188"/>
                  <a:gd name="T39" fmla="*/ 0 h 168"/>
                  <a:gd name="T40" fmla="*/ 0 w 188"/>
                  <a:gd name="T41" fmla="*/ 0 h 168"/>
                  <a:gd name="T42" fmla="*/ 0 w 188"/>
                  <a:gd name="T43" fmla="*/ 0 h 168"/>
                  <a:gd name="T44" fmla="*/ 0 w 188"/>
                  <a:gd name="T45" fmla="*/ 0 h 168"/>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Lst>
                <a:ahLst/>
                <a:cxnLst>
                  <a:cxn ang="T46">
                    <a:pos x="T0" y="T1"/>
                  </a:cxn>
                  <a:cxn ang="T47">
                    <a:pos x="T2" y="T3"/>
                  </a:cxn>
                  <a:cxn ang="T48">
                    <a:pos x="T4" y="T5"/>
                  </a:cxn>
                  <a:cxn ang="T49">
                    <a:pos x="T6" y="T7"/>
                  </a:cxn>
                  <a:cxn ang="T50">
                    <a:pos x="T8" y="T9"/>
                  </a:cxn>
                  <a:cxn ang="T51">
                    <a:pos x="T10" y="T11"/>
                  </a:cxn>
                  <a:cxn ang="T52">
                    <a:pos x="T12" y="T13"/>
                  </a:cxn>
                  <a:cxn ang="T53">
                    <a:pos x="T14" y="T15"/>
                  </a:cxn>
                  <a:cxn ang="T54">
                    <a:pos x="T16" y="T17"/>
                  </a:cxn>
                  <a:cxn ang="T55">
                    <a:pos x="T18" y="T19"/>
                  </a:cxn>
                  <a:cxn ang="T56">
                    <a:pos x="T20" y="T21"/>
                  </a:cxn>
                  <a:cxn ang="T57">
                    <a:pos x="T22" y="T23"/>
                  </a:cxn>
                  <a:cxn ang="T58">
                    <a:pos x="T24" y="T25"/>
                  </a:cxn>
                  <a:cxn ang="T59">
                    <a:pos x="T26" y="T27"/>
                  </a:cxn>
                  <a:cxn ang="T60">
                    <a:pos x="T28" y="T29"/>
                  </a:cxn>
                  <a:cxn ang="T61">
                    <a:pos x="T30" y="T31"/>
                  </a:cxn>
                  <a:cxn ang="T62">
                    <a:pos x="T32" y="T33"/>
                  </a:cxn>
                  <a:cxn ang="T63">
                    <a:pos x="T34" y="T35"/>
                  </a:cxn>
                  <a:cxn ang="T64">
                    <a:pos x="T36" y="T37"/>
                  </a:cxn>
                  <a:cxn ang="T65">
                    <a:pos x="T38" y="T39"/>
                  </a:cxn>
                  <a:cxn ang="T66">
                    <a:pos x="T40" y="T41"/>
                  </a:cxn>
                  <a:cxn ang="T67">
                    <a:pos x="T42" y="T43"/>
                  </a:cxn>
                  <a:cxn ang="T68">
                    <a:pos x="T44" y="T45"/>
                  </a:cxn>
                </a:cxnLst>
                <a:rect l="0" t="0" r="r" b="b"/>
                <a:pathLst>
                  <a:path w="188" h="168">
                    <a:moveTo>
                      <a:pt x="188" y="0"/>
                    </a:moveTo>
                    <a:lnTo>
                      <a:pt x="188" y="13"/>
                    </a:lnTo>
                    <a:lnTo>
                      <a:pt x="163" y="46"/>
                    </a:lnTo>
                    <a:lnTo>
                      <a:pt x="141" y="64"/>
                    </a:lnTo>
                    <a:lnTo>
                      <a:pt x="90" y="101"/>
                    </a:lnTo>
                    <a:lnTo>
                      <a:pt x="69" y="117"/>
                    </a:lnTo>
                    <a:lnTo>
                      <a:pt x="23" y="153"/>
                    </a:lnTo>
                    <a:lnTo>
                      <a:pt x="74" y="136"/>
                    </a:lnTo>
                    <a:lnTo>
                      <a:pt x="125" y="121"/>
                    </a:lnTo>
                    <a:lnTo>
                      <a:pt x="177" y="117"/>
                    </a:lnTo>
                    <a:lnTo>
                      <a:pt x="173" y="132"/>
                    </a:lnTo>
                    <a:lnTo>
                      <a:pt x="90" y="148"/>
                    </a:lnTo>
                    <a:lnTo>
                      <a:pt x="47" y="165"/>
                    </a:lnTo>
                    <a:lnTo>
                      <a:pt x="23" y="168"/>
                    </a:lnTo>
                    <a:lnTo>
                      <a:pt x="2" y="162"/>
                    </a:lnTo>
                    <a:lnTo>
                      <a:pt x="0" y="142"/>
                    </a:lnTo>
                    <a:lnTo>
                      <a:pt x="17" y="127"/>
                    </a:lnTo>
                    <a:lnTo>
                      <a:pt x="40" y="105"/>
                    </a:lnTo>
                    <a:lnTo>
                      <a:pt x="67" y="72"/>
                    </a:lnTo>
                    <a:lnTo>
                      <a:pt x="96" y="36"/>
                    </a:lnTo>
                    <a:lnTo>
                      <a:pt x="130" y="11"/>
                    </a:lnTo>
                    <a:lnTo>
                      <a:pt x="165" y="2"/>
                    </a:lnTo>
                    <a:lnTo>
                      <a:pt x="188"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8" name="Freeform 140"/>
              <p:cNvSpPr>
                <a:spLocks/>
              </p:cNvSpPr>
              <p:nvPr/>
            </p:nvSpPr>
            <p:spPr bwMode="auto">
              <a:xfrm>
                <a:off x="2556" y="2180"/>
                <a:ext cx="25" cy="32"/>
              </a:xfrm>
              <a:custGeom>
                <a:avLst/>
                <a:gdLst>
                  <a:gd name="T0" fmla="*/ 0 w 171"/>
                  <a:gd name="T1" fmla="*/ 0 h 221"/>
                  <a:gd name="T2" fmla="*/ 0 w 171"/>
                  <a:gd name="T3" fmla="*/ 0 h 221"/>
                  <a:gd name="T4" fmla="*/ 0 w 171"/>
                  <a:gd name="T5" fmla="*/ 0 h 221"/>
                  <a:gd name="T6" fmla="*/ 0 w 171"/>
                  <a:gd name="T7" fmla="*/ 0 h 221"/>
                  <a:gd name="T8" fmla="*/ 0 w 171"/>
                  <a:gd name="T9" fmla="*/ 0 h 221"/>
                  <a:gd name="T10" fmla="*/ 0 w 171"/>
                  <a:gd name="T11" fmla="*/ 0 h 221"/>
                  <a:gd name="T12" fmla="*/ 0 w 171"/>
                  <a:gd name="T13" fmla="*/ 0 h 221"/>
                  <a:gd name="T14" fmla="*/ 0 w 171"/>
                  <a:gd name="T15" fmla="*/ 0 h 221"/>
                  <a:gd name="T16" fmla="*/ 0 w 171"/>
                  <a:gd name="T17" fmla="*/ 0 h 221"/>
                  <a:gd name="T18" fmla="*/ 0 w 171"/>
                  <a:gd name="T19" fmla="*/ 0 h 221"/>
                  <a:gd name="T20" fmla="*/ 0 w 171"/>
                  <a:gd name="T21" fmla="*/ 0 h 221"/>
                  <a:gd name="T22" fmla="*/ 0 w 171"/>
                  <a:gd name="T23" fmla="*/ 0 h 221"/>
                  <a:gd name="T24" fmla="*/ 0 w 171"/>
                  <a:gd name="T25" fmla="*/ 0 h 221"/>
                  <a:gd name="T26" fmla="*/ 0 w 171"/>
                  <a:gd name="T27" fmla="*/ 0 h 221"/>
                  <a:gd name="T28" fmla="*/ 0 w 171"/>
                  <a:gd name="T29" fmla="*/ 0 h 221"/>
                  <a:gd name="T30" fmla="*/ 0 w 171"/>
                  <a:gd name="T31" fmla="*/ 0 h 221"/>
                  <a:gd name="T32" fmla="*/ 0 w 171"/>
                  <a:gd name="T33" fmla="*/ 0 h 221"/>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171" h="221">
                    <a:moveTo>
                      <a:pt x="139" y="0"/>
                    </a:moveTo>
                    <a:lnTo>
                      <a:pt x="163" y="4"/>
                    </a:lnTo>
                    <a:lnTo>
                      <a:pt x="171" y="24"/>
                    </a:lnTo>
                    <a:lnTo>
                      <a:pt x="169" y="42"/>
                    </a:lnTo>
                    <a:lnTo>
                      <a:pt x="155" y="64"/>
                    </a:lnTo>
                    <a:lnTo>
                      <a:pt x="136" y="70"/>
                    </a:lnTo>
                    <a:lnTo>
                      <a:pt x="98" y="95"/>
                    </a:lnTo>
                    <a:lnTo>
                      <a:pt x="61" y="126"/>
                    </a:lnTo>
                    <a:lnTo>
                      <a:pt x="37" y="166"/>
                    </a:lnTo>
                    <a:lnTo>
                      <a:pt x="8" y="208"/>
                    </a:lnTo>
                    <a:lnTo>
                      <a:pt x="0" y="221"/>
                    </a:lnTo>
                    <a:lnTo>
                      <a:pt x="8" y="171"/>
                    </a:lnTo>
                    <a:lnTo>
                      <a:pt x="15" y="127"/>
                    </a:lnTo>
                    <a:lnTo>
                      <a:pt x="28" y="89"/>
                    </a:lnTo>
                    <a:lnTo>
                      <a:pt x="51" y="54"/>
                    </a:lnTo>
                    <a:lnTo>
                      <a:pt x="114" y="6"/>
                    </a:lnTo>
                    <a:lnTo>
                      <a:pt x="139" y="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9" name="Freeform 141"/>
              <p:cNvSpPr>
                <a:spLocks/>
              </p:cNvSpPr>
              <p:nvPr/>
            </p:nvSpPr>
            <p:spPr bwMode="auto">
              <a:xfrm>
                <a:off x="2559" y="2149"/>
                <a:ext cx="26" cy="18"/>
              </a:xfrm>
              <a:custGeom>
                <a:avLst/>
                <a:gdLst>
                  <a:gd name="T0" fmla="*/ 0 w 182"/>
                  <a:gd name="T1" fmla="*/ 0 h 127"/>
                  <a:gd name="T2" fmla="*/ 0 w 182"/>
                  <a:gd name="T3" fmla="*/ 0 h 127"/>
                  <a:gd name="T4" fmla="*/ 0 w 182"/>
                  <a:gd name="T5" fmla="*/ 0 h 127"/>
                  <a:gd name="T6" fmla="*/ 0 w 182"/>
                  <a:gd name="T7" fmla="*/ 0 h 127"/>
                  <a:gd name="T8" fmla="*/ 0 w 182"/>
                  <a:gd name="T9" fmla="*/ 0 h 127"/>
                  <a:gd name="T10" fmla="*/ 0 w 182"/>
                  <a:gd name="T11" fmla="*/ 0 h 127"/>
                  <a:gd name="T12" fmla="*/ 0 w 182"/>
                  <a:gd name="T13" fmla="*/ 0 h 127"/>
                  <a:gd name="T14" fmla="*/ 0 w 182"/>
                  <a:gd name="T15" fmla="*/ 0 h 127"/>
                  <a:gd name="T16" fmla="*/ 0 w 182"/>
                  <a:gd name="T17" fmla="*/ 0 h 127"/>
                  <a:gd name="T18" fmla="*/ 0 w 182"/>
                  <a:gd name="T19" fmla="*/ 0 h 127"/>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82" h="127">
                    <a:moveTo>
                      <a:pt x="182" y="127"/>
                    </a:moveTo>
                    <a:lnTo>
                      <a:pt x="150" y="99"/>
                    </a:lnTo>
                    <a:lnTo>
                      <a:pt x="98" y="80"/>
                    </a:lnTo>
                    <a:lnTo>
                      <a:pt x="63" y="70"/>
                    </a:lnTo>
                    <a:lnTo>
                      <a:pt x="0" y="0"/>
                    </a:lnTo>
                    <a:lnTo>
                      <a:pt x="47" y="27"/>
                    </a:lnTo>
                    <a:lnTo>
                      <a:pt x="91" y="46"/>
                    </a:lnTo>
                    <a:lnTo>
                      <a:pt x="123" y="62"/>
                    </a:lnTo>
                    <a:lnTo>
                      <a:pt x="138" y="80"/>
                    </a:lnTo>
                    <a:lnTo>
                      <a:pt x="182" y="12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0" name="Freeform 142"/>
              <p:cNvSpPr>
                <a:spLocks/>
              </p:cNvSpPr>
              <p:nvPr/>
            </p:nvSpPr>
            <p:spPr bwMode="auto">
              <a:xfrm>
                <a:off x="2590" y="2182"/>
                <a:ext cx="15" cy="48"/>
              </a:xfrm>
              <a:custGeom>
                <a:avLst/>
                <a:gdLst>
                  <a:gd name="T0" fmla="*/ 0 w 102"/>
                  <a:gd name="T1" fmla="*/ 0 h 331"/>
                  <a:gd name="T2" fmla="*/ 0 w 102"/>
                  <a:gd name="T3" fmla="*/ 0 h 331"/>
                  <a:gd name="T4" fmla="*/ 0 w 102"/>
                  <a:gd name="T5" fmla="*/ 0 h 331"/>
                  <a:gd name="T6" fmla="*/ 0 w 102"/>
                  <a:gd name="T7" fmla="*/ 0 h 331"/>
                  <a:gd name="T8" fmla="*/ 0 w 102"/>
                  <a:gd name="T9" fmla="*/ 0 h 331"/>
                  <a:gd name="T10" fmla="*/ 0 w 102"/>
                  <a:gd name="T11" fmla="*/ 0 h 331"/>
                  <a:gd name="T12" fmla="*/ 0 w 102"/>
                  <a:gd name="T13" fmla="*/ 0 h 331"/>
                  <a:gd name="T14" fmla="*/ 0 w 102"/>
                  <a:gd name="T15" fmla="*/ 0 h 331"/>
                  <a:gd name="T16" fmla="*/ 0 w 102"/>
                  <a:gd name="T17" fmla="*/ 0 h 331"/>
                  <a:gd name="T18" fmla="*/ 0 w 102"/>
                  <a:gd name="T19" fmla="*/ 0 h 331"/>
                  <a:gd name="T20" fmla="*/ 0 w 102"/>
                  <a:gd name="T21" fmla="*/ 0 h 331"/>
                  <a:gd name="T22" fmla="*/ 0 w 102"/>
                  <a:gd name="T23" fmla="*/ 0 h 331"/>
                  <a:gd name="T24" fmla="*/ 0 w 102"/>
                  <a:gd name="T25" fmla="*/ 0 h 331"/>
                  <a:gd name="T26" fmla="*/ 0 w 102"/>
                  <a:gd name="T27" fmla="*/ 0 h 331"/>
                  <a:gd name="T28" fmla="*/ 0 w 102"/>
                  <a:gd name="T29" fmla="*/ 0 h 331"/>
                  <a:gd name="T30" fmla="*/ 0 w 102"/>
                  <a:gd name="T31" fmla="*/ 0 h 331"/>
                  <a:gd name="T32" fmla="*/ 0 w 102"/>
                  <a:gd name="T33" fmla="*/ 0 h 331"/>
                  <a:gd name="T34" fmla="*/ 0 w 102"/>
                  <a:gd name="T35" fmla="*/ 0 h 331"/>
                  <a:gd name="T36" fmla="*/ 0 w 102"/>
                  <a:gd name="T37" fmla="*/ 0 h 331"/>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Lst>
                <a:ahLst/>
                <a:cxnLst>
                  <a:cxn ang="T38">
                    <a:pos x="T0" y="T1"/>
                  </a:cxn>
                  <a:cxn ang="T39">
                    <a:pos x="T2" y="T3"/>
                  </a:cxn>
                  <a:cxn ang="T40">
                    <a:pos x="T4" y="T5"/>
                  </a:cxn>
                  <a:cxn ang="T41">
                    <a:pos x="T6" y="T7"/>
                  </a:cxn>
                  <a:cxn ang="T42">
                    <a:pos x="T8" y="T9"/>
                  </a:cxn>
                  <a:cxn ang="T43">
                    <a:pos x="T10" y="T11"/>
                  </a:cxn>
                  <a:cxn ang="T44">
                    <a:pos x="T12" y="T13"/>
                  </a:cxn>
                  <a:cxn ang="T45">
                    <a:pos x="T14" y="T15"/>
                  </a:cxn>
                  <a:cxn ang="T46">
                    <a:pos x="T16" y="T17"/>
                  </a:cxn>
                  <a:cxn ang="T47">
                    <a:pos x="T18" y="T19"/>
                  </a:cxn>
                  <a:cxn ang="T48">
                    <a:pos x="T20" y="T21"/>
                  </a:cxn>
                  <a:cxn ang="T49">
                    <a:pos x="T22" y="T23"/>
                  </a:cxn>
                  <a:cxn ang="T50">
                    <a:pos x="T24" y="T25"/>
                  </a:cxn>
                  <a:cxn ang="T51">
                    <a:pos x="T26" y="T27"/>
                  </a:cxn>
                  <a:cxn ang="T52">
                    <a:pos x="T28" y="T29"/>
                  </a:cxn>
                  <a:cxn ang="T53">
                    <a:pos x="T30" y="T31"/>
                  </a:cxn>
                  <a:cxn ang="T54">
                    <a:pos x="T32" y="T33"/>
                  </a:cxn>
                  <a:cxn ang="T55">
                    <a:pos x="T34" y="T35"/>
                  </a:cxn>
                  <a:cxn ang="T56">
                    <a:pos x="T36" y="T37"/>
                  </a:cxn>
                </a:cxnLst>
                <a:rect l="0" t="0" r="r" b="b"/>
                <a:pathLst>
                  <a:path w="102" h="331">
                    <a:moveTo>
                      <a:pt x="102" y="331"/>
                    </a:moveTo>
                    <a:lnTo>
                      <a:pt x="51" y="331"/>
                    </a:lnTo>
                    <a:lnTo>
                      <a:pt x="35" y="327"/>
                    </a:lnTo>
                    <a:lnTo>
                      <a:pt x="35" y="314"/>
                    </a:lnTo>
                    <a:lnTo>
                      <a:pt x="24" y="302"/>
                    </a:lnTo>
                    <a:lnTo>
                      <a:pt x="8" y="290"/>
                    </a:lnTo>
                    <a:lnTo>
                      <a:pt x="16" y="278"/>
                    </a:lnTo>
                    <a:lnTo>
                      <a:pt x="16" y="261"/>
                    </a:lnTo>
                    <a:lnTo>
                      <a:pt x="4" y="242"/>
                    </a:lnTo>
                    <a:lnTo>
                      <a:pt x="4" y="221"/>
                    </a:lnTo>
                    <a:lnTo>
                      <a:pt x="12" y="197"/>
                    </a:lnTo>
                    <a:lnTo>
                      <a:pt x="12" y="145"/>
                    </a:lnTo>
                    <a:lnTo>
                      <a:pt x="0" y="96"/>
                    </a:lnTo>
                    <a:lnTo>
                      <a:pt x="4" y="61"/>
                    </a:lnTo>
                    <a:lnTo>
                      <a:pt x="4" y="0"/>
                    </a:lnTo>
                    <a:lnTo>
                      <a:pt x="35" y="91"/>
                    </a:lnTo>
                    <a:lnTo>
                      <a:pt x="63" y="177"/>
                    </a:lnTo>
                    <a:lnTo>
                      <a:pt x="82" y="269"/>
                    </a:lnTo>
                    <a:lnTo>
                      <a:pt x="102" y="331"/>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1" name="Freeform 143"/>
              <p:cNvSpPr>
                <a:spLocks/>
              </p:cNvSpPr>
              <p:nvPr/>
            </p:nvSpPr>
            <p:spPr bwMode="auto">
              <a:xfrm>
                <a:off x="2557" y="2233"/>
                <a:ext cx="26" cy="9"/>
              </a:xfrm>
              <a:custGeom>
                <a:avLst/>
                <a:gdLst>
                  <a:gd name="T0" fmla="*/ 0 w 185"/>
                  <a:gd name="T1" fmla="*/ 0 h 62"/>
                  <a:gd name="T2" fmla="*/ 0 w 185"/>
                  <a:gd name="T3" fmla="*/ 0 h 62"/>
                  <a:gd name="T4" fmla="*/ 0 w 185"/>
                  <a:gd name="T5" fmla="*/ 0 h 62"/>
                  <a:gd name="T6" fmla="*/ 0 w 185"/>
                  <a:gd name="T7" fmla="*/ 0 h 62"/>
                  <a:gd name="T8" fmla="*/ 0 w 185"/>
                  <a:gd name="T9" fmla="*/ 0 h 62"/>
                  <a:gd name="T10" fmla="*/ 0 w 185"/>
                  <a:gd name="T11" fmla="*/ 0 h 62"/>
                  <a:gd name="T12" fmla="*/ 0 w 185"/>
                  <a:gd name="T13" fmla="*/ 0 h 62"/>
                  <a:gd name="T14" fmla="*/ 0 w 185"/>
                  <a:gd name="T15" fmla="*/ 0 h 62"/>
                  <a:gd name="T16" fmla="*/ 0 w 185"/>
                  <a:gd name="T17" fmla="*/ 0 h 62"/>
                  <a:gd name="T18" fmla="*/ 0 w 185"/>
                  <a:gd name="T19" fmla="*/ 0 h 62"/>
                  <a:gd name="T20" fmla="*/ 0 w 185"/>
                  <a:gd name="T21" fmla="*/ 0 h 62"/>
                  <a:gd name="T22" fmla="*/ 0 60000 65536"/>
                  <a:gd name="T23" fmla="*/ 0 60000 65536"/>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Lst>
                <a:ahLst/>
                <a:cxnLst>
                  <a:cxn ang="T22">
                    <a:pos x="T0" y="T1"/>
                  </a:cxn>
                  <a:cxn ang="T23">
                    <a:pos x="T2" y="T3"/>
                  </a:cxn>
                  <a:cxn ang="T24">
                    <a:pos x="T4" y="T5"/>
                  </a:cxn>
                  <a:cxn ang="T25">
                    <a:pos x="T6" y="T7"/>
                  </a:cxn>
                  <a:cxn ang="T26">
                    <a:pos x="T8" y="T9"/>
                  </a:cxn>
                  <a:cxn ang="T27">
                    <a:pos x="T10" y="T11"/>
                  </a:cxn>
                  <a:cxn ang="T28">
                    <a:pos x="T12" y="T13"/>
                  </a:cxn>
                  <a:cxn ang="T29">
                    <a:pos x="T14" y="T15"/>
                  </a:cxn>
                  <a:cxn ang="T30">
                    <a:pos x="T16" y="T17"/>
                  </a:cxn>
                  <a:cxn ang="T31">
                    <a:pos x="T18" y="T19"/>
                  </a:cxn>
                  <a:cxn ang="T32">
                    <a:pos x="T20" y="T21"/>
                  </a:cxn>
                </a:cxnLst>
                <a:rect l="0" t="0" r="r" b="b"/>
                <a:pathLst>
                  <a:path w="185" h="62">
                    <a:moveTo>
                      <a:pt x="38" y="30"/>
                    </a:moveTo>
                    <a:lnTo>
                      <a:pt x="78" y="13"/>
                    </a:lnTo>
                    <a:lnTo>
                      <a:pt x="115" y="3"/>
                    </a:lnTo>
                    <a:lnTo>
                      <a:pt x="164" y="0"/>
                    </a:lnTo>
                    <a:lnTo>
                      <a:pt x="185" y="4"/>
                    </a:lnTo>
                    <a:lnTo>
                      <a:pt x="176" y="23"/>
                    </a:lnTo>
                    <a:lnTo>
                      <a:pt x="156" y="38"/>
                    </a:lnTo>
                    <a:lnTo>
                      <a:pt x="113" y="51"/>
                    </a:lnTo>
                    <a:lnTo>
                      <a:pt x="45" y="62"/>
                    </a:lnTo>
                    <a:lnTo>
                      <a:pt x="0" y="58"/>
                    </a:lnTo>
                    <a:lnTo>
                      <a:pt x="38" y="30"/>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2" name="Freeform 144"/>
              <p:cNvSpPr>
                <a:spLocks/>
              </p:cNvSpPr>
              <p:nvPr/>
            </p:nvSpPr>
            <p:spPr bwMode="auto">
              <a:xfrm>
                <a:off x="2589" y="2238"/>
                <a:ext cx="16" cy="20"/>
              </a:xfrm>
              <a:custGeom>
                <a:avLst/>
                <a:gdLst>
                  <a:gd name="T0" fmla="*/ 0 w 111"/>
                  <a:gd name="T1" fmla="*/ 0 h 138"/>
                  <a:gd name="T2" fmla="*/ 0 w 111"/>
                  <a:gd name="T3" fmla="*/ 0 h 138"/>
                  <a:gd name="T4" fmla="*/ 0 w 111"/>
                  <a:gd name="T5" fmla="*/ 0 h 138"/>
                  <a:gd name="T6" fmla="*/ 0 w 111"/>
                  <a:gd name="T7" fmla="*/ 0 h 138"/>
                  <a:gd name="T8" fmla="*/ 0 w 111"/>
                  <a:gd name="T9" fmla="*/ 0 h 138"/>
                  <a:gd name="T10" fmla="*/ 0 w 111"/>
                  <a:gd name="T11" fmla="*/ 0 h 138"/>
                  <a:gd name="T12" fmla="*/ 0 w 111"/>
                  <a:gd name="T13" fmla="*/ 0 h 138"/>
                  <a:gd name="T14" fmla="*/ 0 w 111"/>
                  <a:gd name="T15" fmla="*/ 0 h 138"/>
                  <a:gd name="T16" fmla="*/ 0 w 111"/>
                  <a:gd name="T17" fmla="*/ 0 h 138"/>
                  <a:gd name="T18" fmla="*/ 0 w 111"/>
                  <a:gd name="T19" fmla="*/ 0 h 138"/>
                  <a:gd name="T20" fmla="*/ 0 w 111"/>
                  <a:gd name="T21" fmla="*/ 0 h 138"/>
                  <a:gd name="T22" fmla="*/ 0 w 111"/>
                  <a:gd name="T23" fmla="*/ 0 h 138"/>
                  <a:gd name="T24" fmla="*/ 0 w 111"/>
                  <a:gd name="T25" fmla="*/ 0 h 138"/>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0" t="0" r="r" b="b"/>
                <a:pathLst>
                  <a:path w="111" h="138">
                    <a:moveTo>
                      <a:pt x="60" y="38"/>
                    </a:moveTo>
                    <a:lnTo>
                      <a:pt x="74" y="8"/>
                    </a:lnTo>
                    <a:lnTo>
                      <a:pt x="95" y="0"/>
                    </a:lnTo>
                    <a:lnTo>
                      <a:pt x="109" y="6"/>
                    </a:lnTo>
                    <a:lnTo>
                      <a:pt x="111" y="23"/>
                    </a:lnTo>
                    <a:lnTo>
                      <a:pt x="102" y="49"/>
                    </a:lnTo>
                    <a:lnTo>
                      <a:pt x="85" y="74"/>
                    </a:lnTo>
                    <a:lnTo>
                      <a:pt x="66" y="97"/>
                    </a:lnTo>
                    <a:lnTo>
                      <a:pt x="40" y="119"/>
                    </a:lnTo>
                    <a:lnTo>
                      <a:pt x="0" y="138"/>
                    </a:lnTo>
                    <a:lnTo>
                      <a:pt x="36" y="99"/>
                    </a:lnTo>
                    <a:lnTo>
                      <a:pt x="47" y="70"/>
                    </a:lnTo>
                    <a:lnTo>
                      <a:pt x="6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53" name="Freeform 145"/>
              <p:cNvSpPr>
                <a:spLocks/>
              </p:cNvSpPr>
              <p:nvPr/>
            </p:nvSpPr>
            <p:spPr bwMode="auto">
              <a:xfrm>
                <a:off x="2541" y="2133"/>
                <a:ext cx="38" cy="24"/>
              </a:xfrm>
              <a:custGeom>
                <a:avLst/>
                <a:gdLst>
                  <a:gd name="T0" fmla="*/ 0 w 266"/>
                  <a:gd name="T1" fmla="*/ 0 h 167"/>
                  <a:gd name="T2" fmla="*/ 0 w 266"/>
                  <a:gd name="T3" fmla="*/ 0 h 167"/>
                  <a:gd name="T4" fmla="*/ 0 w 266"/>
                  <a:gd name="T5" fmla="*/ 0 h 167"/>
                  <a:gd name="T6" fmla="*/ 0 w 266"/>
                  <a:gd name="T7" fmla="*/ 0 h 167"/>
                  <a:gd name="T8" fmla="*/ 0 w 266"/>
                  <a:gd name="T9" fmla="*/ 0 h 167"/>
                  <a:gd name="T10" fmla="*/ 0 w 266"/>
                  <a:gd name="T11" fmla="*/ 0 h 167"/>
                  <a:gd name="T12" fmla="*/ 0 w 266"/>
                  <a:gd name="T13" fmla="*/ 0 h 167"/>
                  <a:gd name="T14" fmla="*/ 0 w 266"/>
                  <a:gd name="T15" fmla="*/ 0 h 167"/>
                  <a:gd name="T16" fmla="*/ 0 w 266"/>
                  <a:gd name="T17" fmla="*/ 0 h 167"/>
                  <a:gd name="T18" fmla="*/ 0 w 266"/>
                  <a:gd name="T19" fmla="*/ 0 h 167"/>
                  <a:gd name="T20" fmla="*/ 0 w 266"/>
                  <a:gd name="T21" fmla="*/ 0 h 167"/>
                  <a:gd name="T22" fmla="*/ 0 w 266"/>
                  <a:gd name="T23" fmla="*/ 0 h 167"/>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266" h="167">
                    <a:moveTo>
                      <a:pt x="266" y="167"/>
                    </a:moveTo>
                    <a:lnTo>
                      <a:pt x="258" y="99"/>
                    </a:lnTo>
                    <a:lnTo>
                      <a:pt x="202" y="74"/>
                    </a:lnTo>
                    <a:lnTo>
                      <a:pt x="127" y="44"/>
                    </a:lnTo>
                    <a:lnTo>
                      <a:pt x="72" y="23"/>
                    </a:lnTo>
                    <a:lnTo>
                      <a:pt x="21" y="0"/>
                    </a:lnTo>
                    <a:lnTo>
                      <a:pt x="0" y="48"/>
                    </a:lnTo>
                    <a:lnTo>
                      <a:pt x="49" y="76"/>
                    </a:lnTo>
                    <a:lnTo>
                      <a:pt x="106" y="97"/>
                    </a:lnTo>
                    <a:lnTo>
                      <a:pt x="150" y="110"/>
                    </a:lnTo>
                    <a:lnTo>
                      <a:pt x="204" y="138"/>
                    </a:lnTo>
                    <a:lnTo>
                      <a:pt x="266" y="167"/>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34" name="Group 146"/>
            <p:cNvGrpSpPr>
              <a:grpSpLocks/>
            </p:cNvGrpSpPr>
            <p:nvPr/>
          </p:nvGrpSpPr>
          <p:grpSpPr bwMode="auto">
            <a:xfrm flipH="1">
              <a:off x="3933" y="2647"/>
              <a:ext cx="195" cy="260"/>
              <a:chOff x="2498" y="2245"/>
              <a:chExt cx="78" cy="107"/>
            </a:xfrm>
          </p:grpSpPr>
          <p:sp>
            <p:nvSpPr>
              <p:cNvPr id="38" name="Freeform 147"/>
              <p:cNvSpPr>
                <a:spLocks/>
              </p:cNvSpPr>
              <p:nvPr/>
            </p:nvSpPr>
            <p:spPr bwMode="auto">
              <a:xfrm>
                <a:off x="2498" y="2245"/>
                <a:ext cx="78" cy="107"/>
              </a:xfrm>
              <a:custGeom>
                <a:avLst/>
                <a:gdLst>
                  <a:gd name="T0" fmla="*/ 0 w 551"/>
                  <a:gd name="T1" fmla="*/ 0 h 750"/>
                  <a:gd name="T2" fmla="*/ 0 w 551"/>
                  <a:gd name="T3" fmla="*/ 0 h 750"/>
                  <a:gd name="T4" fmla="*/ 0 w 551"/>
                  <a:gd name="T5" fmla="*/ 0 h 750"/>
                  <a:gd name="T6" fmla="*/ 0 w 551"/>
                  <a:gd name="T7" fmla="*/ 0 h 750"/>
                  <a:gd name="T8" fmla="*/ 0 w 551"/>
                  <a:gd name="T9" fmla="*/ 0 h 750"/>
                  <a:gd name="T10" fmla="*/ 0 w 551"/>
                  <a:gd name="T11" fmla="*/ 0 h 750"/>
                  <a:gd name="T12" fmla="*/ 0 w 551"/>
                  <a:gd name="T13" fmla="*/ 0 h 750"/>
                  <a:gd name="T14" fmla="*/ 0 w 551"/>
                  <a:gd name="T15" fmla="*/ 0 h 750"/>
                  <a:gd name="T16" fmla="*/ 0 w 551"/>
                  <a:gd name="T17" fmla="*/ 0 h 750"/>
                  <a:gd name="T18" fmla="*/ 0 w 551"/>
                  <a:gd name="T19" fmla="*/ 0 h 750"/>
                  <a:gd name="T20" fmla="*/ 0 w 551"/>
                  <a:gd name="T21" fmla="*/ 0 h 750"/>
                  <a:gd name="T22" fmla="*/ 0 w 551"/>
                  <a:gd name="T23" fmla="*/ 0 h 750"/>
                  <a:gd name="T24" fmla="*/ 0 w 551"/>
                  <a:gd name="T25" fmla="*/ 0 h 750"/>
                  <a:gd name="T26" fmla="*/ 0 w 551"/>
                  <a:gd name="T27" fmla="*/ 0 h 750"/>
                  <a:gd name="T28" fmla="*/ 0 w 551"/>
                  <a:gd name="T29" fmla="*/ 0 h 750"/>
                  <a:gd name="T30" fmla="*/ 0 w 551"/>
                  <a:gd name="T31" fmla="*/ 0 h 750"/>
                  <a:gd name="T32" fmla="*/ 0 w 551"/>
                  <a:gd name="T33" fmla="*/ 0 h 750"/>
                  <a:gd name="T34" fmla="*/ 0 w 551"/>
                  <a:gd name="T35" fmla="*/ 0 h 750"/>
                  <a:gd name="T36" fmla="*/ 0 w 551"/>
                  <a:gd name="T37" fmla="*/ 0 h 750"/>
                  <a:gd name="T38" fmla="*/ 0 w 551"/>
                  <a:gd name="T39" fmla="*/ 0 h 750"/>
                  <a:gd name="T40" fmla="*/ 0 w 551"/>
                  <a:gd name="T41" fmla="*/ 0 h 750"/>
                  <a:gd name="T42" fmla="*/ 0 w 551"/>
                  <a:gd name="T43" fmla="*/ 0 h 750"/>
                  <a:gd name="T44" fmla="*/ 0 w 551"/>
                  <a:gd name="T45" fmla="*/ 0 h 750"/>
                  <a:gd name="T46" fmla="*/ 0 w 551"/>
                  <a:gd name="T47" fmla="*/ 0 h 750"/>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551" h="750">
                    <a:moveTo>
                      <a:pt x="306" y="111"/>
                    </a:moveTo>
                    <a:lnTo>
                      <a:pt x="205" y="102"/>
                    </a:lnTo>
                    <a:lnTo>
                      <a:pt x="144" y="86"/>
                    </a:lnTo>
                    <a:lnTo>
                      <a:pt x="124" y="58"/>
                    </a:lnTo>
                    <a:lnTo>
                      <a:pt x="124" y="34"/>
                    </a:lnTo>
                    <a:lnTo>
                      <a:pt x="108" y="14"/>
                    </a:lnTo>
                    <a:lnTo>
                      <a:pt x="52" y="0"/>
                    </a:lnTo>
                    <a:lnTo>
                      <a:pt x="0" y="5"/>
                    </a:lnTo>
                    <a:lnTo>
                      <a:pt x="63" y="584"/>
                    </a:lnTo>
                    <a:lnTo>
                      <a:pt x="108" y="637"/>
                    </a:lnTo>
                    <a:lnTo>
                      <a:pt x="164" y="689"/>
                    </a:lnTo>
                    <a:lnTo>
                      <a:pt x="244" y="730"/>
                    </a:lnTo>
                    <a:lnTo>
                      <a:pt x="337" y="743"/>
                    </a:lnTo>
                    <a:lnTo>
                      <a:pt x="462" y="750"/>
                    </a:lnTo>
                    <a:lnTo>
                      <a:pt x="535" y="739"/>
                    </a:lnTo>
                    <a:lnTo>
                      <a:pt x="551" y="698"/>
                    </a:lnTo>
                    <a:lnTo>
                      <a:pt x="543" y="644"/>
                    </a:lnTo>
                    <a:lnTo>
                      <a:pt x="491" y="483"/>
                    </a:lnTo>
                    <a:lnTo>
                      <a:pt x="447" y="321"/>
                    </a:lnTo>
                    <a:lnTo>
                      <a:pt x="427" y="199"/>
                    </a:lnTo>
                    <a:lnTo>
                      <a:pt x="427" y="167"/>
                    </a:lnTo>
                    <a:lnTo>
                      <a:pt x="398" y="122"/>
                    </a:lnTo>
                    <a:lnTo>
                      <a:pt x="366" y="111"/>
                    </a:lnTo>
                    <a:lnTo>
                      <a:pt x="306" y="111"/>
                    </a:lnTo>
                    <a:close/>
                  </a:path>
                </a:pathLst>
              </a:custGeom>
              <a:solidFill>
                <a:srgbClr val="404040"/>
              </a:solidFill>
              <a:ln w="1588">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Freeform 148"/>
              <p:cNvSpPr>
                <a:spLocks/>
              </p:cNvSpPr>
              <p:nvPr/>
            </p:nvSpPr>
            <p:spPr bwMode="auto">
              <a:xfrm>
                <a:off x="2499" y="2250"/>
                <a:ext cx="68" cy="98"/>
              </a:xfrm>
              <a:custGeom>
                <a:avLst/>
                <a:gdLst>
                  <a:gd name="T0" fmla="*/ 0 w 474"/>
                  <a:gd name="T1" fmla="*/ 0 h 687"/>
                  <a:gd name="T2" fmla="*/ 0 w 474"/>
                  <a:gd name="T3" fmla="*/ 0 h 687"/>
                  <a:gd name="T4" fmla="*/ 0 w 474"/>
                  <a:gd name="T5" fmla="*/ 0 h 687"/>
                  <a:gd name="T6" fmla="*/ 0 w 474"/>
                  <a:gd name="T7" fmla="*/ 0 h 687"/>
                  <a:gd name="T8" fmla="*/ 0 w 474"/>
                  <a:gd name="T9" fmla="*/ 0 h 687"/>
                  <a:gd name="T10" fmla="*/ 0 w 474"/>
                  <a:gd name="T11" fmla="*/ 0 h 687"/>
                  <a:gd name="T12" fmla="*/ 0 w 474"/>
                  <a:gd name="T13" fmla="*/ 0 h 687"/>
                  <a:gd name="T14" fmla="*/ 0 w 474"/>
                  <a:gd name="T15" fmla="*/ 0 h 687"/>
                  <a:gd name="T16" fmla="*/ 0 w 474"/>
                  <a:gd name="T17" fmla="*/ 0 h 687"/>
                  <a:gd name="T18" fmla="*/ 0 w 474"/>
                  <a:gd name="T19" fmla="*/ 0 h 687"/>
                  <a:gd name="T20" fmla="*/ 0 w 474"/>
                  <a:gd name="T21" fmla="*/ 0 h 687"/>
                  <a:gd name="T22" fmla="*/ 0 w 474"/>
                  <a:gd name="T23" fmla="*/ 0 h 687"/>
                  <a:gd name="T24" fmla="*/ 0 w 474"/>
                  <a:gd name="T25" fmla="*/ 0 h 687"/>
                  <a:gd name="T26" fmla="*/ 0 w 474"/>
                  <a:gd name="T27" fmla="*/ 0 h 687"/>
                  <a:gd name="T28" fmla="*/ 0 w 474"/>
                  <a:gd name="T29" fmla="*/ 0 h 687"/>
                  <a:gd name="T30" fmla="*/ 0 w 474"/>
                  <a:gd name="T31" fmla="*/ 0 h 687"/>
                  <a:gd name="T32" fmla="*/ 0 w 474"/>
                  <a:gd name="T33" fmla="*/ 0 h 687"/>
                  <a:gd name="T34" fmla="*/ 0 w 474"/>
                  <a:gd name="T35" fmla="*/ 0 h 687"/>
                  <a:gd name="T36" fmla="*/ 0 w 474"/>
                  <a:gd name="T37" fmla="*/ 0 h 687"/>
                  <a:gd name="T38" fmla="*/ 0 w 474"/>
                  <a:gd name="T39" fmla="*/ 0 h 687"/>
                  <a:gd name="T40" fmla="*/ 0 w 474"/>
                  <a:gd name="T41" fmla="*/ 0 h 687"/>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Lst>
                <a:ahLst/>
                <a:cxnLst>
                  <a:cxn ang="T42">
                    <a:pos x="T0" y="T1"/>
                  </a:cxn>
                  <a:cxn ang="T43">
                    <a:pos x="T2" y="T3"/>
                  </a:cxn>
                  <a:cxn ang="T44">
                    <a:pos x="T4" y="T5"/>
                  </a:cxn>
                  <a:cxn ang="T45">
                    <a:pos x="T6" y="T7"/>
                  </a:cxn>
                  <a:cxn ang="T46">
                    <a:pos x="T8" y="T9"/>
                  </a:cxn>
                  <a:cxn ang="T47">
                    <a:pos x="T10" y="T11"/>
                  </a:cxn>
                  <a:cxn ang="T48">
                    <a:pos x="T12" y="T13"/>
                  </a:cxn>
                  <a:cxn ang="T49">
                    <a:pos x="T14" y="T15"/>
                  </a:cxn>
                  <a:cxn ang="T50">
                    <a:pos x="T16" y="T17"/>
                  </a:cxn>
                  <a:cxn ang="T51">
                    <a:pos x="T18" y="T19"/>
                  </a:cxn>
                  <a:cxn ang="T52">
                    <a:pos x="T20" y="T21"/>
                  </a:cxn>
                  <a:cxn ang="T53">
                    <a:pos x="T22" y="T23"/>
                  </a:cxn>
                  <a:cxn ang="T54">
                    <a:pos x="T24" y="T25"/>
                  </a:cxn>
                  <a:cxn ang="T55">
                    <a:pos x="T26" y="T27"/>
                  </a:cxn>
                  <a:cxn ang="T56">
                    <a:pos x="T28" y="T29"/>
                  </a:cxn>
                  <a:cxn ang="T57">
                    <a:pos x="T30" y="T31"/>
                  </a:cxn>
                  <a:cxn ang="T58">
                    <a:pos x="T32" y="T33"/>
                  </a:cxn>
                  <a:cxn ang="T59">
                    <a:pos x="T34" y="T35"/>
                  </a:cxn>
                  <a:cxn ang="T60">
                    <a:pos x="T36" y="T37"/>
                  </a:cxn>
                  <a:cxn ang="T61">
                    <a:pos x="T38" y="T39"/>
                  </a:cxn>
                  <a:cxn ang="T62">
                    <a:pos x="T40" y="T41"/>
                  </a:cxn>
                </a:cxnLst>
                <a:rect l="0" t="0" r="r" b="b"/>
                <a:pathLst>
                  <a:path w="474" h="687">
                    <a:moveTo>
                      <a:pt x="310" y="138"/>
                    </a:moveTo>
                    <a:lnTo>
                      <a:pt x="221" y="134"/>
                    </a:lnTo>
                    <a:lnTo>
                      <a:pt x="128" y="118"/>
                    </a:lnTo>
                    <a:lnTo>
                      <a:pt x="73" y="89"/>
                    </a:lnTo>
                    <a:lnTo>
                      <a:pt x="41" y="65"/>
                    </a:lnTo>
                    <a:lnTo>
                      <a:pt x="0" y="0"/>
                    </a:lnTo>
                    <a:lnTo>
                      <a:pt x="60" y="529"/>
                    </a:lnTo>
                    <a:lnTo>
                      <a:pt x="101" y="578"/>
                    </a:lnTo>
                    <a:lnTo>
                      <a:pt x="145" y="623"/>
                    </a:lnTo>
                    <a:lnTo>
                      <a:pt x="201" y="654"/>
                    </a:lnTo>
                    <a:lnTo>
                      <a:pt x="249" y="671"/>
                    </a:lnTo>
                    <a:lnTo>
                      <a:pt x="310" y="679"/>
                    </a:lnTo>
                    <a:lnTo>
                      <a:pt x="365" y="687"/>
                    </a:lnTo>
                    <a:lnTo>
                      <a:pt x="429" y="687"/>
                    </a:lnTo>
                    <a:lnTo>
                      <a:pt x="457" y="679"/>
                    </a:lnTo>
                    <a:lnTo>
                      <a:pt x="474" y="654"/>
                    </a:lnTo>
                    <a:lnTo>
                      <a:pt x="466" y="615"/>
                    </a:lnTo>
                    <a:lnTo>
                      <a:pt x="425" y="521"/>
                    </a:lnTo>
                    <a:lnTo>
                      <a:pt x="357" y="206"/>
                    </a:lnTo>
                    <a:lnTo>
                      <a:pt x="345" y="162"/>
                    </a:lnTo>
                    <a:lnTo>
                      <a:pt x="310" y="13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35" name="Freeform 149"/>
            <p:cNvSpPr>
              <a:spLocks/>
            </p:cNvSpPr>
            <p:nvPr/>
          </p:nvSpPr>
          <p:spPr bwMode="auto">
            <a:xfrm flipH="1">
              <a:off x="3633" y="2944"/>
              <a:ext cx="15" cy="218"/>
            </a:xfrm>
            <a:custGeom>
              <a:avLst/>
              <a:gdLst>
                <a:gd name="T0" fmla="*/ 0 w 39"/>
                <a:gd name="T1" fmla="*/ 0 h 631"/>
                <a:gd name="T2" fmla="*/ 0 w 39"/>
                <a:gd name="T3" fmla="*/ 0 h 631"/>
                <a:gd name="T4" fmla="*/ 0 w 39"/>
                <a:gd name="T5" fmla="*/ 0 h 631"/>
                <a:gd name="T6" fmla="*/ 0 w 39"/>
                <a:gd name="T7" fmla="*/ 0 h 631"/>
                <a:gd name="T8" fmla="*/ 0 w 39"/>
                <a:gd name="T9" fmla="*/ 0 h 631"/>
                <a:gd name="T10" fmla="*/ 0 w 39"/>
                <a:gd name="T11" fmla="*/ 1 h 631"/>
                <a:gd name="T12" fmla="*/ 0 w 39"/>
                <a:gd name="T13" fmla="*/ 1 h 631"/>
                <a:gd name="T14" fmla="*/ 0 w 39"/>
                <a:gd name="T15" fmla="*/ 1 h 631"/>
                <a:gd name="T16" fmla="*/ 0 w 39"/>
                <a:gd name="T17" fmla="*/ 0 h 631"/>
                <a:gd name="T18" fmla="*/ 0 w 39"/>
                <a:gd name="T19" fmla="*/ 0 h 631"/>
                <a:gd name="T20" fmla="*/ 0 w 39"/>
                <a:gd name="T21" fmla="*/ 0 h 631"/>
                <a:gd name="T22" fmla="*/ 0 w 39"/>
                <a:gd name="T23" fmla="*/ 0 h 631"/>
                <a:gd name="T24" fmla="*/ 0 w 39"/>
                <a:gd name="T25" fmla="*/ 0 h 631"/>
                <a:gd name="T26" fmla="*/ 0 w 39"/>
                <a:gd name="T27" fmla="*/ 0 h 631"/>
                <a:gd name="T28" fmla="*/ 0 w 39"/>
                <a:gd name="T29" fmla="*/ 0 h 63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39" h="631">
                  <a:moveTo>
                    <a:pt x="26" y="0"/>
                  </a:moveTo>
                  <a:lnTo>
                    <a:pt x="39" y="32"/>
                  </a:lnTo>
                  <a:lnTo>
                    <a:pt x="24" y="57"/>
                  </a:lnTo>
                  <a:lnTo>
                    <a:pt x="13" y="110"/>
                  </a:lnTo>
                  <a:lnTo>
                    <a:pt x="28" y="158"/>
                  </a:lnTo>
                  <a:lnTo>
                    <a:pt x="19" y="440"/>
                  </a:lnTo>
                  <a:lnTo>
                    <a:pt x="19" y="622"/>
                  </a:lnTo>
                  <a:lnTo>
                    <a:pt x="0" y="631"/>
                  </a:lnTo>
                  <a:lnTo>
                    <a:pt x="2" y="255"/>
                  </a:lnTo>
                  <a:lnTo>
                    <a:pt x="19" y="165"/>
                  </a:lnTo>
                  <a:lnTo>
                    <a:pt x="9" y="123"/>
                  </a:lnTo>
                  <a:lnTo>
                    <a:pt x="4" y="108"/>
                  </a:lnTo>
                  <a:lnTo>
                    <a:pt x="11" y="62"/>
                  </a:lnTo>
                  <a:lnTo>
                    <a:pt x="24" y="36"/>
                  </a:lnTo>
                  <a:lnTo>
                    <a:pt x="26"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Freeform 150"/>
            <p:cNvSpPr>
              <a:spLocks/>
            </p:cNvSpPr>
            <p:nvPr/>
          </p:nvSpPr>
          <p:spPr bwMode="auto">
            <a:xfrm flipH="1">
              <a:off x="3668" y="2946"/>
              <a:ext cx="37" cy="10"/>
            </a:xfrm>
            <a:custGeom>
              <a:avLst/>
              <a:gdLst>
                <a:gd name="T0" fmla="*/ 0 w 100"/>
                <a:gd name="T1" fmla="*/ 0 h 32"/>
                <a:gd name="T2" fmla="*/ 0 w 100"/>
                <a:gd name="T3" fmla="*/ 0 h 32"/>
                <a:gd name="T4" fmla="*/ 0 w 100"/>
                <a:gd name="T5" fmla="*/ 0 h 32"/>
                <a:gd name="T6" fmla="*/ 0 w 100"/>
                <a:gd name="T7" fmla="*/ 0 h 32"/>
                <a:gd name="T8" fmla="*/ 0 w 100"/>
                <a:gd name="T9" fmla="*/ 0 h 32"/>
                <a:gd name="T10" fmla="*/ 0 w 100"/>
                <a:gd name="T11" fmla="*/ 0 h 3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100" h="32">
                  <a:moveTo>
                    <a:pt x="100" y="0"/>
                  </a:moveTo>
                  <a:lnTo>
                    <a:pt x="51" y="24"/>
                  </a:lnTo>
                  <a:lnTo>
                    <a:pt x="8" y="32"/>
                  </a:lnTo>
                  <a:lnTo>
                    <a:pt x="0" y="32"/>
                  </a:lnTo>
                  <a:lnTo>
                    <a:pt x="25" y="10"/>
                  </a:lnTo>
                  <a:lnTo>
                    <a:pt x="10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Freeform 151"/>
            <p:cNvSpPr>
              <a:spLocks/>
            </p:cNvSpPr>
            <p:nvPr/>
          </p:nvSpPr>
          <p:spPr bwMode="auto">
            <a:xfrm flipH="1">
              <a:off x="3805" y="2376"/>
              <a:ext cx="48" cy="126"/>
            </a:xfrm>
            <a:custGeom>
              <a:avLst/>
              <a:gdLst>
                <a:gd name="T0" fmla="*/ 0 w 134"/>
                <a:gd name="T1" fmla="*/ 0 h 366"/>
                <a:gd name="T2" fmla="*/ 0 w 134"/>
                <a:gd name="T3" fmla="*/ 0 h 366"/>
                <a:gd name="T4" fmla="*/ 0 w 134"/>
                <a:gd name="T5" fmla="*/ 0 h 366"/>
                <a:gd name="T6" fmla="*/ 0 w 134"/>
                <a:gd name="T7" fmla="*/ 0 h 366"/>
                <a:gd name="T8" fmla="*/ 0 w 134"/>
                <a:gd name="T9" fmla="*/ 0 h 366"/>
                <a:gd name="T10" fmla="*/ 0 w 134"/>
                <a:gd name="T11" fmla="*/ 0 h 366"/>
                <a:gd name="T12" fmla="*/ 0 w 134"/>
                <a:gd name="T13" fmla="*/ 0 h 366"/>
                <a:gd name="T14" fmla="*/ 0 w 134"/>
                <a:gd name="T15" fmla="*/ 0 h 366"/>
                <a:gd name="T16" fmla="*/ 0 w 134"/>
                <a:gd name="T17" fmla="*/ 0 h 366"/>
                <a:gd name="T18" fmla="*/ 0 w 134"/>
                <a:gd name="T19" fmla="*/ 0 h 366"/>
                <a:gd name="T20" fmla="*/ 0 w 134"/>
                <a:gd name="T21" fmla="*/ 0 h 366"/>
                <a:gd name="T22" fmla="*/ 0 w 134"/>
                <a:gd name="T23" fmla="*/ 0 h 366"/>
                <a:gd name="T24" fmla="*/ 0 w 134"/>
                <a:gd name="T25" fmla="*/ 0 h 366"/>
                <a:gd name="T26" fmla="*/ 0 w 134"/>
                <a:gd name="T27" fmla="*/ 0 h 366"/>
                <a:gd name="T28" fmla="*/ 0 w 134"/>
                <a:gd name="T29" fmla="*/ 0 h 366"/>
                <a:gd name="T30" fmla="*/ 0 w 134"/>
                <a:gd name="T31" fmla="*/ 0 h 366"/>
                <a:gd name="T32" fmla="*/ 0 w 134"/>
                <a:gd name="T33" fmla="*/ 0 h 366"/>
                <a:gd name="T34" fmla="*/ 0 w 134"/>
                <a:gd name="T35" fmla="*/ 0 h 366"/>
                <a:gd name="T36" fmla="*/ 0 w 134"/>
                <a:gd name="T37" fmla="*/ 0 h 366"/>
                <a:gd name="T38" fmla="*/ 0 w 134"/>
                <a:gd name="T39" fmla="*/ 0 h 366"/>
                <a:gd name="T40" fmla="*/ 0 w 134"/>
                <a:gd name="T41" fmla="*/ 0 h 366"/>
                <a:gd name="T42" fmla="*/ 0 w 134"/>
                <a:gd name="T43" fmla="*/ 0 h 366"/>
                <a:gd name="T44" fmla="*/ 0 w 134"/>
                <a:gd name="T45" fmla="*/ 0 h 366"/>
                <a:gd name="T46" fmla="*/ 0 w 134"/>
                <a:gd name="T47" fmla="*/ 1 h 366"/>
                <a:gd name="T48" fmla="*/ 0 w 134"/>
                <a:gd name="T49" fmla="*/ 1 h 36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Lst>
              <a:ahLst/>
              <a:cxnLst>
                <a:cxn ang="T50">
                  <a:pos x="T0" y="T1"/>
                </a:cxn>
                <a:cxn ang="T51">
                  <a:pos x="T2" y="T3"/>
                </a:cxn>
                <a:cxn ang="T52">
                  <a:pos x="T4" y="T5"/>
                </a:cxn>
                <a:cxn ang="T53">
                  <a:pos x="T6" y="T7"/>
                </a:cxn>
                <a:cxn ang="T54">
                  <a:pos x="T8" y="T9"/>
                </a:cxn>
                <a:cxn ang="T55">
                  <a:pos x="T10" y="T11"/>
                </a:cxn>
                <a:cxn ang="T56">
                  <a:pos x="T12" y="T13"/>
                </a:cxn>
                <a:cxn ang="T57">
                  <a:pos x="T14" y="T15"/>
                </a:cxn>
                <a:cxn ang="T58">
                  <a:pos x="T16" y="T17"/>
                </a:cxn>
                <a:cxn ang="T59">
                  <a:pos x="T18" y="T19"/>
                </a:cxn>
                <a:cxn ang="T60">
                  <a:pos x="T20" y="T21"/>
                </a:cxn>
                <a:cxn ang="T61">
                  <a:pos x="T22" y="T23"/>
                </a:cxn>
                <a:cxn ang="T62">
                  <a:pos x="T24" y="T25"/>
                </a:cxn>
                <a:cxn ang="T63">
                  <a:pos x="T26" y="T27"/>
                </a:cxn>
                <a:cxn ang="T64">
                  <a:pos x="T28" y="T29"/>
                </a:cxn>
                <a:cxn ang="T65">
                  <a:pos x="T30" y="T31"/>
                </a:cxn>
                <a:cxn ang="T66">
                  <a:pos x="T32" y="T33"/>
                </a:cxn>
                <a:cxn ang="T67">
                  <a:pos x="T34" y="T35"/>
                </a:cxn>
                <a:cxn ang="T68">
                  <a:pos x="T36" y="T37"/>
                </a:cxn>
                <a:cxn ang="T69">
                  <a:pos x="T38" y="T39"/>
                </a:cxn>
                <a:cxn ang="T70">
                  <a:pos x="T40" y="T41"/>
                </a:cxn>
                <a:cxn ang="T71">
                  <a:pos x="T42" y="T43"/>
                </a:cxn>
                <a:cxn ang="T72">
                  <a:pos x="T44" y="T45"/>
                </a:cxn>
                <a:cxn ang="T73">
                  <a:pos x="T46" y="T47"/>
                </a:cxn>
                <a:cxn ang="T74">
                  <a:pos x="T48" y="T49"/>
                </a:cxn>
              </a:cxnLst>
              <a:rect l="0" t="0" r="r" b="b"/>
              <a:pathLst>
                <a:path w="134" h="366">
                  <a:moveTo>
                    <a:pt x="0" y="0"/>
                  </a:moveTo>
                  <a:lnTo>
                    <a:pt x="18" y="9"/>
                  </a:lnTo>
                  <a:lnTo>
                    <a:pt x="15" y="31"/>
                  </a:lnTo>
                  <a:lnTo>
                    <a:pt x="32" y="21"/>
                  </a:lnTo>
                  <a:lnTo>
                    <a:pt x="29" y="45"/>
                  </a:lnTo>
                  <a:lnTo>
                    <a:pt x="52" y="42"/>
                  </a:lnTo>
                  <a:lnTo>
                    <a:pt x="34" y="63"/>
                  </a:lnTo>
                  <a:lnTo>
                    <a:pt x="81" y="66"/>
                  </a:lnTo>
                  <a:lnTo>
                    <a:pt x="55" y="91"/>
                  </a:lnTo>
                  <a:lnTo>
                    <a:pt x="93" y="91"/>
                  </a:lnTo>
                  <a:lnTo>
                    <a:pt x="67" y="117"/>
                  </a:lnTo>
                  <a:lnTo>
                    <a:pt x="108" y="115"/>
                  </a:lnTo>
                  <a:lnTo>
                    <a:pt x="82" y="151"/>
                  </a:lnTo>
                  <a:lnTo>
                    <a:pt x="119" y="148"/>
                  </a:lnTo>
                  <a:lnTo>
                    <a:pt x="87" y="179"/>
                  </a:lnTo>
                  <a:lnTo>
                    <a:pt x="134" y="185"/>
                  </a:lnTo>
                  <a:lnTo>
                    <a:pt x="93" y="213"/>
                  </a:lnTo>
                  <a:lnTo>
                    <a:pt x="134" y="225"/>
                  </a:lnTo>
                  <a:lnTo>
                    <a:pt x="90" y="240"/>
                  </a:lnTo>
                  <a:lnTo>
                    <a:pt x="130" y="263"/>
                  </a:lnTo>
                  <a:lnTo>
                    <a:pt x="87" y="281"/>
                  </a:lnTo>
                  <a:lnTo>
                    <a:pt x="125" y="308"/>
                  </a:lnTo>
                  <a:lnTo>
                    <a:pt x="87" y="320"/>
                  </a:lnTo>
                  <a:lnTo>
                    <a:pt x="108" y="343"/>
                  </a:lnTo>
                  <a:lnTo>
                    <a:pt x="78" y="366"/>
                  </a:lnTo>
                </a:path>
              </a:pathLst>
            </a:custGeom>
            <a:noFill/>
            <a:ln w="1588">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52" name="Line 152"/>
          <p:cNvSpPr>
            <a:spLocks noChangeShapeType="1"/>
          </p:cNvSpPr>
          <p:nvPr/>
        </p:nvSpPr>
        <p:spPr bwMode="auto">
          <a:xfrm rot="10800000" flipV="1">
            <a:off x="6428841" y="1900051"/>
            <a:ext cx="1094315"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3" name="Line 153"/>
          <p:cNvSpPr>
            <a:spLocks noChangeShapeType="1"/>
          </p:cNvSpPr>
          <p:nvPr/>
        </p:nvSpPr>
        <p:spPr bwMode="auto">
          <a:xfrm rot="5400000">
            <a:off x="5404046" y="2710481"/>
            <a:ext cx="541101" cy="0"/>
          </a:xfrm>
          <a:prstGeom prst="line">
            <a:avLst/>
          </a:prstGeom>
          <a:noFill/>
          <a:ln w="28575">
            <a:solidFill>
              <a:srgbClr val="333399"/>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4" name="Text Box 154"/>
          <p:cNvSpPr txBox="1">
            <a:spLocks noChangeArrowheads="1"/>
          </p:cNvSpPr>
          <p:nvPr/>
        </p:nvSpPr>
        <p:spPr bwMode="auto">
          <a:xfrm>
            <a:off x="4580281" y="2950585"/>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管理站</a:t>
            </a:r>
          </a:p>
        </p:txBody>
      </p:sp>
      <p:sp>
        <p:nvSpPr>
          <p:cNvPr id="155" name="Line 155"/>
          <p:cNvSpPr>
            <a:spLocks noChangeShapeType="1"/>
          </p:cNvSpPr>
          <p:nvPr/>
        </p:nvSpPr>
        <p:spPr bwMode="auto">
          <a:xfrm rot="10800000">
            <a:off x="2268590" y="1669197"/>
            <a:ext cx="1094315" cy="230854"/>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8" name="Line 158"/>
          <p:cNvSpPr>
            <a:spLocks noChangeShapeType="1"/>
          </p:cNvSpPr>
          <p:nvPr/>
        </p:nvSpPr>
        <p:spPr bwMode="auto">
          <a:xfrm rot="5400000">
            <a:off x="6124598"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9" name="Line 159"/>
          <p:cNvSpPr>
            <a:spLocks noChangeShapeType="1"/>
          </p:cNvSpPr>
          <p:nvPr/>
        </p:nvSpPr>
        <p:spPr bwMode="auto">
          <a:xfrm rot="5400000">
            <a:off x="3372269"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0" name="Line 160"/>
          <p:cNvSpPr>
            <a:spLocks noChangeShapeType="1"/>
          </p:cNvSpPr>
          <p:nvPr/>
        </p:nvSpPr>
        <p:spPr bwMode="auto">
          <a:xfrm rot="5400000">
            <a:off x="4810626" y="2208467"/>
            <a:ext cx="46292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1" name="Line 161"/>
          <p:cNvSpPr>
            <a:spLocks noChangeShapeType="1"/>
          </p:cNvSpPr>
          <p:nvPr/>
        </p:nvSpPr>
        <p:spPr bwMode="auto">
          <a:xfrm rot="5400000">
            <a:off x="2941099" y="2570626"/>
            <a:ext cx="261390"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3" name="Line 163"/>
          <p:cNvSpPr>
            <a:spLocks noChangeShapeType="1"/>
          </p:cNvSpPr>
          <p:nvPr/>
        </p:nvSpPr>
        <p:spPr bwMode="auto">
          <a:xfrm>
            <a:off x="2510742" y="2427716"/>
            <a:ext cx="5083869" cy="0"/>
          </a:xfrm>
          <a:prstGeom prst="line">
            <a:avLst/>
          </a:prstGeom>
          <a:noFill/>
          <a:ln w="28575">
            <a:solidFill>
              <a:srgbClr val="0066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4" name="Rectangle 164"/>
          <p:cNvSpPr>
            <a:spLocks noChangeArrowheads="1"/>
          </p:cNvSpPr>
          <p:nvPr/>
        </p:nvSpPr>
        <p:spPr bwMode="auto">
          <a:xfrm>
            <a:off x="2455166" y="2391074"/>
            <a:ext cx="71455" cy="75730"/>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5" name="Rectangle 165"/>
          <p:cNvSpPr>
            <a:spLocks noChangeArrowheads="1"/>
          </p:cNvSpPr>
          <p:nvPr/>
        </p:nvSpPr>
        <p:spPr bwMode="auto">
          <a:xfrm>
            <a:off x="7569470" y="2389851"/>
            <a:ext cx="71455" cy="76952"/>
          </a:xfrm>
          <a:prstGeom prst="rect">
            <a:avLst/>
          </a:prstGeom>
          <a:solidFill>
            <a:schemeClr val="tx2"/>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66" name="Text Box 166"/>
          <p:cNvSpPr txBox="1">
            <a:spLocks noChangeArrowheads="1"/>
          </p:cNvSpPr>
          <p:nvPr/>
        </p:nvSpPr>
        <p:spPr bwMode="auto">
          <a:xfrm>
            <a:off x="6277764" y="2689531"/>
            <a:ext cx="801881"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网络</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管理员      </a:t>
            </a:r>
          </a:p>
        </p:txBody>
      </p:sp>
      <p:sp>
        <p:nvSpPr>
          <p:cNvPr id="167" name="Text Box 167"/>
          <p:cNvSpPr txBox="1">
            <a:spLocks noChangeArrowheads="1"/>
          </p:cNvSpPr>
          <p:nvPr/>
        </p:nvSpPr>
        <p:spPr bwMode="auto">
          <a:xfrm>
            <a:off x="1830599" y="278804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68" name="Text Box 168"/>
          <p:cNvSpPr txBox="1">
            <a:spLocks noChangeArrowheads="1"/>
          </p:cNvSpPr>
          <p:nvPr/>
        </p:nvSpPr>
        <p:spPr bwMode="auto">
          <a:xfrm>
            <a:off x="1567467" y="3648316"/>
            <a:ext cx="298671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管理程序（运行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客户程序）</a:t>
            </a:r>
          </a:p>
        </p:txBody>
      </p:sp>
      <p:sp>
        <p:nvSpPr>
          <p:cNvPr id="169" name="Text Box 169"/>
          <p:cNvSpPr txBox="1">
            <a:spLocks noChangeArrowheads="1"/>
          </p:cNvSpPr>
          <p:nvPr/>
        </p:nvSpPr>
        <p:spPr bwMode="auto">
          <a:xfrm>
            <a:off x="1567467" y="3942178"/>
            <a:ext cx="31406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rgbClr val="0000FF"/>
                </a:solidFill>
                <a:latin typeface="微软雅黑 Light" panose="020B0502040204020203" pitchFamily="34" charset="-122"/>
                <a:ea typeface="微软雅黑 Light" panose="020B0502040204020203" pitchFamily="34" charset="-122"/>
              </a:rPr>
              <a:t>——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代理程序（运行 </a:t>
            </a:r>
            <a:r>
              <a:rPr kumimoji="1" lang="en-US" altLang="zh-CN" sz="1200" b="1" dirty="0">
                <a:solidFill>
                  <a:srgbClr val="00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服务器程序）</a:t>
            </a:r>
          </a:p>
        </p:txBody>
      </p:sp>
      <p:pic>
        <p:nvPicPr>
          <p:cNvPr id="171" name="Picture 171"/>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290128"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2" name="Oval 172"/>
          <p:cNvSpPr>
            <a:spLocks noChangeArrowheads="1"/>
          </p:cNvSpPr>
          <p:nvPr/>
        </p:nvSpPr>
        <p:spPr bwMode="auto">
          <a:xfrm>
            <a:off x="3582563" y="1857300"/>
            <a:ext cx="314930" cy="196653"/>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pic>
        <p:nvPicPr>
          <p:cNvPr id="174" name="Picture 175"/>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05406" y="1746149"/>
            <a:ext cx="641768" cy="360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699">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tx1"/>
                  </a:outerShdw>
                </a:effectLst>
              </a14:hiddenEffects>
            </a:ext>
          </a:extLst>
        </p:spPr>
      </p:pic>
      <p:sp>
        <p:nvSpPr>
          <p:cNvPr id="175" name="Oval 176"/>
          <p:cNvSpPr>
            <a:spLocks noChangeArrowheads="1"/>
          </p:cNvSpPr>
          <p:nvPr/>
        </p:nvSpPr>
        <p:spPr bwMode="auto">
          <a:xfrm>
            <a:off x="6078184" y="1857301"/>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6" name="Oval 177"/>
          <p:cNvSpPr>
            <a:spLocks noChangeArrowheads="1"/>
          </p:cNvSpPr>
          <p:nvPr/>
        </p:nvSpPr>
        <p:spPr bwMode="auto">
          <a:xfrm>
            <a:off x="4896535" y="1845188"/>
            <a:ext cx="313606"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77" name="Oval 178"/>
          <p:cNvSpPr>
            <a:spLocks noChangeArrowheads="1"/>
          </p:cNvSpPr>
          <p:nvPr/>
        </p:nvSpPr>
        <p:spPr bwMode="auto">
          <a:xfrm>
            <a:off x="5407303" y="2748958"/>
            <a:ext cx="363889"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M</a:t>
            </a:r>
          </a:p>
        </p:txBody>
      </p:sp>
      <p:sp>
        <p:nvSpPr>
          <p:cNvPr id="179" name="Text Box 180"/>
          <p:cNvSpPr txBox="1">
            <a:spLocks noChangeArrowheads="1"/>
          </p:cNvSpPr>
          <p:nvPr/>
        </p:nvSpPr>
        <p:spPr bwMode="auto">
          <a:xfrm>
            <a:off x="3107521" y="144689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0" name="Text Box 181"/>
          <p:cNvSpPr txBox="1">
            <a:spLocks noChangeArrowheads="1"/>
          </p:cNvSpPr>
          <p:nvPr/>
        </p:nvSpPr>
        <p:spPr bwMode="auto">
          <a:xfrm>
            <a:off x="4531322" y="13453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1" name="Text Box 182"/>
          <p:cNvSpPr txBox="1">
            <a:spLocks noChangeArrowheads="1"/>
          </p:cNvSpPr>
          <p:nvPr/>
        </p:nvSpPr>
        <p:spPr bwMode="auto">
          <a:xfrm>
            <a:off x="5830739" y="1472545"/>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82" name="Oval 183"/>
          <p:cNvSpPr>
            <a:spLocks noChangeArrowheads="1"/>
          </p:cNvSpPr>
          <p:nvPr/>
        </p:nvSpPr>
        <p:spPr bwMode="auto">
          <a:xfrm>
            <a:off x="1202253" y="3678851"/>
            <a:ext cx="365213" cy="232075"/>
          </a:xfrm>
          <a:prstGeom prst="ellipse">
            <a:avLst/>
          </a:prstGeom>
          <a:solidFill>
            <a:srgbClr val="99FF66"/>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M</a:t>
            </a:r>
          </a:p>
        </p:txBody>
      </p:sp>
      <p:sp>
        <p:nvSpPr>
          <p:cNvPr id="183" name="Oval 184"/>
          <p:cNvSpPr>
            <a:spLocks noChangeArrowheads="1"/>
          </p:cNvSpPr>
          <p:nvPr/>
        </p:nvSpPr>
        <p:spPr bwMode="auto">
          <a:xfrm>
            <a:off x="1202253" y="3945842"/>
            <a:ext cx="365213" cy="2320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200" b="1" dirty="0">
                <a:latin typeface="微软雅黑 Light" panose="020B0502040204020203" pitchFamily="34" charset="-122"/>
                <a:ea typeface="微软雅黑 Light" panose="020B0502040204020203" pitchFamily="34" charset="-122"/>
              </a:rPr>
              <a:t>A</a:t>
            </a:r>
          </a:p>
        </p:txBody>
      </p:sp>
      <p:sp>
        <p:nvSpPr>
          <p:cNvPr id="185" name="Freeform 186"/>
          <p:cNvSpPr>
            <a:spLocks/>
          </p:cNvSpPr>
          <p:nvPr/>
        </p:nvSpPr>
        <p:spPr bwMode="auto">
          <a:xfrm>
            <a:off x="3886906" y="2016088"/>
            <a:ext cx="1532306" cy="797606"/>
          </a:xfrm>
          <a:custGeom>
            <a:avLst/>
            <a:gdLst>
              <a:gd name="T0" fmla="*/ 2147483646 w 1008"/>
              <a:gd name="T1" fmla="*/ 2147483646 h 496"/>
              <a:gd name="T2" fmla="*/ 0 w 1008"/>
              <a:gd name="T3" fmla="*/ 0 h 496"/>
              <a:gd name="T4" fmla="*/ 0 60000 65536"/>
              <a:gd name="T5" fmla="*/ 0 60000 65536"/>
            </a:gdLst>
            <a:ahLst/>
            <a:cxnLst>
              <a:cxn ang="T4">
                <a:pos x="T0" y="T1"/>
              </a:cxn>
              <a:cxn ang="T5">
                <a:pos x="T2" y="T3"/>
              </a:cxn>
            </a:cxnLst>
            <a:rect l="0" t="0" r="r" b="b"/>
            <a:pathLst>
              <a:path w="1008" h="496">
                <a:moveTo>
                  <a:pt x="1008" y="496"/>
                </a:moveTo>
                <a:cubicBezTo>
                  <a:pt x="841" y="413"/>
                  <a:pt x="210" y="103"/>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6" name="Freeform 187"/>
          <p:cNvSpPr>
            <a:spLocks/>
          </p:cNvSpPr>
          <p:nvPr/>
        </p:nvSpPr>
        <p:spPr bwMode="auto">
          <a:xfrm>
            <a:off x="5065909" y="2106476"/>
            <a:ext cx="449900" cy="681568"/>
          </a:xfrm>
          <a:custGeom>
            <a:avLst/>
            <a:gdLst>
              <a:gd name="T0" fmla="*/ 2147483646 w 296"/>
              <a:gd name="T1" fmla="*/ 2147483646 h 424"/>
              <a:gd name="T2" fmla="*/ 0 w 296"/>
              <a:gd name="T3" fmla="*/ 0 h 424"/>
              <a:gd name="T4" fmla="*/ 0 60000 65536"/>
              <a:gd name="T5" fmla="*/ 0 60000 65536"/>
            </a:gdLst>
            <a:ahLst/>
            <a:cxnLst>
              <a:cxn ang="T4">
                <a:pos x="T0" y="T1"/>
              </a:cxn>
              <a:cxn ang="T5">
                <a:pos x="T2" y="T3"/>
              </a:cxn>
            </a:cxnLst>
            <a:rect l="0" t="0" r="r" b="b"/>
            <a:pathLst>
              <a:path w="296" h="424">
                <a:moveTo>
                  <a:pt x="296" y="424"/>
                </a:moveTo>
                <a:cubicBezTo>
                  <a:pt x="245" y="354"/>
                  <a:pt x="62" y="88"/>
                  <a:pt x="0"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7" name="Freeform 188"/>
          <p:cNvSpPr>
            <a:spLocks/>
          </p:cNvSpPr>
          <p:nvPr/>
        </p:nvSpPr>
        <p:spPr bwMode="auto">
          <a:xfrm>
            <a:off x="5625637" y="2053954"/>
            <a:ext cx="535910" cy="695003"/>
          </a:xfrm>
          <a:custGeom>
            <a:avLst/>
            <a:gdLst>
              <a:gd name="T0" fmla="*/ 0 w 352"/>
              <a:gd name="T1" fmla="*/ 2147483646 h 432"/>
              <a:gd name="T2" fmla="*/ 2147483646 w 352"/>
              <a:gd name="T3" fmla="*/ 0 h 432"/>
              <a:gd name="T4" fmla="*/ 0 60000 65536"/>
              <a:gd name="T5" fmla="*/ 0 60000 65536"/>
            </a:gdLst>
            <a:ahLst/>
            <a:cxnLst>
              <a:cxn ang="T4">
                <a:pos x="T0" y="T1"/>
              </a:cxn>
              <a:cxn ang="T5">
                <a:pos x="T2" y="T3"/>
              </a:cxn>
            </a:cxnLst>
            <a:rect l="0" t="0" r="r" b="b"/>
            <a:pathLst>
              <a:path w="352" h="432">
                <a:moveTo>
                  <a:pt x="0" y="432"/>
                </a:moveTo>
                <a:cubicBezTo>
                  <a:pt x="59" y="360"/>
                  <a:pt x="279" y="90"/>
                  <a:pt x="352"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8" name="Freeform 189"/>
          <p:cNvSpPr>
            <a:spLocks/>
          </p:cNvSpPr>
          <p:nvPr/>
        </p:nvSpPr>
        <p:spPr bwMode="auto">
          <a:xfrm>
            <a:off x="5771193" y="1951352"/>
            <a:ext cx="1655367" cy="848906"/>
          </a:xfrm>
          <a:custGeom>
            <a:avLst/>
            <a:gdLst>
              <a:gd name="T0" fmla="*/ 0 w 1088"/>
              <a:gd name="T1" fmla="*/ 2147483646 h 528"/>
              <a:gd name="T2" fmla="*/ 2147483646 w 1088"/>
              <a:gd name="T3" fmla="*/ 0 h 528"/>
              <a:gd name="T4" fmla="*/ 0 60000 65536"/>
              <a:gd name="T5" fmla="*/ 0 60000 65536"/>
            </a:gdLst>
            <a:ahLst/>
            <a:cxnLst>
              <a:cxn ang="T4">
                <a:pos x="T0" y="T1"/>
              </a:cxn>
              <a:cxn ang="T5">
                <a:pos x="T2" y="T3"/>
              </a:cxn>
            </a:cxnLst>
            <a:rect l="0" t="0" r="r" b="b"/>
            <a:pathLst>
              <a:path w="1088" h="528">
                <a:moveTo>
                  <a:pt x="0" y="528"/>
                </a:moveTo>
                <a:cubicBezTo>
                  <a:pt x="181" y="441"/>
                  <a:pt x="861" y="110"/>
                  <a:pt x="1088" y="0"/>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9" name="Oval 190"/>
          <p:cNvSpPr>
            <a:spLocks noChangeArrowheads="1"/>
          </p:cNvSpPr>
          <p:nvPr/>
        </p:nvSpPr>
        <p:spPr bwMode="auto">
          <a:xfrm>
            <a:off x="7377600" y="1779128"/>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90" name="Text Box 191"/>
          <p:cNvSpPr txBox="1">
            <a:spLocks noChangeArrowheads="1"/>
          </p:cNvSpPr>
          <p:nvPr/>
        </p:nvSpPr>
        <p:spPr bwMode="auto">
          <a:xfrm>
            <a:off x="7046892" y="1291534"/>
            <a:ext cx="9557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 </a:t>
            </a:r>
            <a:r>
              <a:rPr kumimoji="1" lang="zh-CN" altLang="en-US" sz="1400" b="1" dirty="0">
                <a:latin typeface="微软雅黑 Light" panose="020B0502040204020203" pitchFamily="34" charset="-122"/>
                <a:ea typeface="微软雅黑 Light" panose="020B0502040204020203" pitchFamily="34" charset="-122"/>
              </a:rPr>
              <a:t>被管设备</a:t>
            </a:r>
          </a:p>
        </p:txBody>
      </p:sp>
      <p:sp>
        <p:nvSpPr>
          <p:cNvPr id="191" name="Text Box 192"/>
          <p:cNvSpPr txBox="1">
            <a:spLocks noChangeArrowheads="1"/>
          </p:cNvSpPr>
          <p:nvPr/>
        </p:nvSpPr>
        <p:spPr bwMode="auto">
          <a:xfrm rot="21072954">
            <a:off x="3704117" y="265370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网管协议</a:t>
            </a:r>
          </a:p>
        </p:txBody>
      </p:sp>
      <p:grpSp>
        <p:nvGrpSpPr>
          <p:cNvPr id="193" name="Group 10"/>
          <p:cNvGrpSpPr>
            <a:grpSpLocks/>
          </p:cNvGrpSpPr>
          <p:nvPr/>
        </p:nvGrpSpPr>
        <p:grpSpPr bwMode="auto">
          <a:xfrm>
            <a:off x="1304123" y="1121038"/>
            <a:ext cx="1052951" cy="936151"/>
            <a:chOff x="3204" y="2684"/>
            <a:chExt cx="1080" cy="854"/>
          </a:xfrm>
          <a:solidFill>
            <a:srgbClr val="99FFCC"/>
          </a:solidFill>
        </p:grpSpPr>
        <p:sp>
          <p:nvSpPr>
            <p:cNvPr id="194" name="Oval 11"/>
            <p:cNvSpPr>
              <a:spLocks noChangeArrowheads="1"/>
            </p:cNvSpPr>
            <p:nvPr/>
          </p:nvSpPr>
          <p:spPr bwMode="auto">
            <a:xfrm>
              <a:off x="3457" y="2684"/>
              <a:ext cx="464" cy="228"/>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5" name="Freeform 12"/>
            <p:cNvSpPr>
              <a:spLocks/>
            </p:cNvSpPr>
            <p:nvPr/>
          </p:nvSpPr>
          <p:spPr bwMode="auto">
            <a:xfrm>
              <a:off x="3853" y="2753"/>
              <a:ext cx="312" cy="202"/>
            </a:xfrm>
            <a:custGeom>
              <a:avLst/>
              <a:gdLst>
                <a:gd name="T0" fmla="*/ 182 w 312"/>
                <a:gd name="T1" fmla="*/ 10 h 202"/>
                <a:gd name="T2" fmla="*/ 150 w 312"/>
                <a:gd name="T3" fmla="*/ 4 h 202"/>
                <a:gd name="T4" fmla="*/ 119 w 312"/>
                <a:gd name="T5" fmla="*/ 0 h 202"/>
                <a:gd name="T6" fmla="*/ 91 w 312"/>
                <a:gd name="T7" fmla="*/ 2 h 202"/>
                <a:gd name="T8" fmla="*/ 67 w 312"/>
                <a:gd name="T9" fmla="*/ 8 h 202"/>
                <a:gd name="T10" fmla="*/ 44 w 312"/>
                <a:gd name="T11" fmla="*/ 16 h 202"/>
                <a:gd name="T12" fmla="*/ 25 w 312"/>
                <a:gd name="T13" fmla="*/ 29 h 202"/>
                <a:gd name="T14" fmla="*/ 12 w 312"/>
                <a:gd name="T15" fmla="*/ 44 h 202"/>
                <a:gd name="T16" fmla="*/ 2 w 312"/>
                <a:gd name="T17" fmla="*/ 61 h 202"/>
                <a:gd name="T18" fmla="*/ 0 w 312"/>
                <a:gd name="T19" fmla="*/ 80 h 202"/>
                <a:gd name="T20" fmla="*/ 6 w 312"/>
                <a:gd name="T21" fmla="*/ 99 h 202"/>
                <a:gd name="T22" fmla="*/ 16 w 312"/>
                <a:gd name="T23" fmla="*/ 117 h 202"/>
                <a:gd name="T24" fmla="*/ 31 w 312"/>
                <a:gd name="T25" fmla="*/ 136 h 202"/>
                <a:gd name="T26" fmla="*/ 51 w 312"/>
                <a:gd name="T27" fmla="*/ 153 h 202"/>
                <a:gd name="T28" fmla="*/ 74 w 312"/>
                <a:gd name="T29" fmla="*/ 170 h 202"/>
                <a:gd name="T30" fmla="*/ 102 w 312"/>
                <a:gd name="T31" fmla="*/ 183 h 202"/>
                <a:gd name="T32" fmla="*/ 133 w 312"/>
                <a:gd name="T33" fmla="*/ 193 h 202"/>
                <a:gd name="T34" fmla="*/ 165 w 312"/>
                <a:gd name="T35" fmla="*/ 199 h 202"/>
                <a:gd name="T36" fmla="*/ 195 w 312"/>
                <a:gd name="T37" fmla="*/ 202 h 202"/>
                <a:gd name="T38" fmla="*/ 223 w 312"/>
                <a:gd name="T39" fmla="*/ 200 h 202"/>
                <a:gd name="T40" fmla="*/ 248 w 312"/>
                <a:gd name="T41" fmla="*/ 195 h 202"/>
                <a:gd name="T42" fmla="*/ 271 w 312"/>
                <a:gd name="T43" fmla="*/ 187 h 202"/>
                <a:gd name="T44" fmla="*/ 289 w 312"/>
                <a:gd name="T45" fmla="*/ 174 h 202"/>
                <a:gd name="T46" fmla="*/ 303 w 312"/>
                <a:gd name="T47" fmla="*/ 159 h 202"/>
                <a:gd name="T48" fmla="*/ 310 w 312"/>
                <a:gd name="T49" fmla="*/ 142 h 202"/>
                <a:gd name="T50" fmla="*/ 312 w 312"/>
                <a:gd name="T51" fmla="*/ 123 h 202"/>
                <a:gd name="T52" fmla="*/ 308 w 312"/>
                <a:gd name="T53" fmla="*/ 104 h 202"/>
                <a:gd name="T54" fmla="*/ 297 w 312"/>
                <a:gd name="T55" fmla="*/ 85 h 202"/>
                <a:gd name="T56" fmla="*/ 284 w 312"/>
                <a:gd name="T57" fmla="*/ 66 h 202"/>
                <a:gd name="T58" fmla="*/ 263 w 312"/>
                <a:gd name="T59" fmla="*/ 50 h 202"/>
                <a:gd name="T60" fmla="*/ 240 w 312"/>
                <a:gd name="T61" fmla="*/ 33 h 202"/>
                <a:gd name="T62" fmla="*/ 212 w 312"/>
                <a:gd name="T63" fmla="*/ 19 h 202"/>
                <a:gd name="T64" fmla="*/ 182 w 312"/>
                <a:gd name="T65" fmla="*/ 10 h 20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2" h="202">
                  <a:moveTo>
                    <a:pt x="182" y="10"/>
                  </a:moveTo>
                  <a:lnTo>
                    <a:pt x="150" y="4"/>
                  </a:lnTo>
                  <a:lnTo>
                    <a:pt x="119" y="0"/>
                  </a:lnTo>
                  <a:lnTo>
                    <a:pt x="91" y="2"/>
                  </a:lnTo>
                  <a:lnTo>
                    <a:pt x="67" y="8"/>
                  </a:lnTo>
                  <a:lnTo>
                    <a:pt x="44" y="16"/>
                  </a:lnTo>
                  <a:lnTo>
                    <a:pt x="25" y="29"/>
                  </a:lnTo>
                  <a:lnTo>
                    <a:pt x="12" y="44"/>
                  </a:lnTo>
                  <a:lnTo>
                    <a:pt x="2" y="61"/>
                  </a:lnTo>
                  <a:lnTo>
                    <a:pt x="0" y="80"/>
                  </a:lnTo>
                  <a:lnTo>
                    <a:pt x="6" y="99"/>
                  </a:lnTo>
                  <a:lnTo>
                    <a:pt x="16" y="117"/>
                  </a:lnTo>
                  <a:lnTo>
                    <a:pt x="31" y="136"/>
                  </a:lnTo>
                  <a:lnTo>
                    <a:pt x="51" y="153"/>
                  </a:lnTo>
                  <a:lnTo>
                    <a:pt x="74" y="170"/>
                  </a:lnTo>
                  <a:lnTo>
                    <a:pt x="102" y="183"/>
                  </a:lnTo>
                  <a:lnTo>
                    <a:pt x="133" y="193"/>
                  </a:lnTo>
                  <a:lnTo>
                    <a:pt x="165" y="199"/>
                  </a:lnTo>
                  <a:lnTo>
                    <a:pt x="195" y="202"/>
                  </a:lnTo>
                  <a:lnTo>
                    <a:pt x="223" y="200"/>
                  </a:lnTo>
                  <a:lnTo>
                    <a:pt x="248" y="195"/>
                  </a:lnTo>
                  <a:lnTo>
                    <a:pt x="271" y="187"/>
                  </a:lnTo>
                  <a:lnTo>
                    <a:pt x="289" y="174"/>
                  </a:lnTo>
                  <a:lnTo>
                    <a:pt x="303" y="159"/>
                  </a:lnTo>
                  <a:lnTo>
                    <a:pt x="310" y="142"/>
                  </a:lnTo>
                  <a:lnTo>
                    <a:pt x="312" y="123"/>
                  </a:lnTo>
                  <a:lnTo>
                    <a:pt x="308" y="104"/>
                  </a:lnTo>
                  <a:lnTo>
                    <a:pt x="297" y="85"/>
                  </a:lnTo>
                  <a:lnTo>
                    <a:pt x="284" y="66"/>
                  </a:lnTo>
                  <a:lnTo>
                    <a:pt x="263" y="50"/>
                  </a:lnTo>
                  <a:lnTo>
                    <a:pt x="240" y="33"/>
                  </a:lnTo>
                  <a:lnTo>
                    <a:pt x="212" y="19"/>
                  </a:lnTo>
                  <a:lnTo>
                    <a:pt x="182" y="10"/>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6" name="Freeform 13"/>
            <p:cNvSpPr>
              <a:spLocks/>
            </p:cNvSpPr>
            <p:nvPr/>
          </p:nvSpPr>
          <p:spPr bwMode="auto">
            <a:xfrm>
              <a:off x="4014" y="2946"/>
              <a:ext cx="270" cy="232"/>
            </a:xfrm>
            <a:custGeom>
              <a:avLst/>
              <a:gdLst>
                <a:gd name="T0" fmla="*/ 181 w 270"/>
                <a:gd name="T1" fmla="*/ 15 h 232"/>
                <a:gd name="T2" fmla="*/ 155 w 270"/>
                <a:gd name="T3" fmla="*/ 6 h 232"/>
                <a:gd name="T4" fmla="*/ 128 w 270"/>
                <a:gd name="T5" fmla="*/ 0 h 232"/>
                <a:gd name="T6" fmla="*/ 104 w 270"/>
                <a:gd name="T7" fmla="*/ 0 h 232"/>
                <a:gd name="T8" fmla="*/ 79 w 270"/>
                <a:gd name="T9" fmla="*/ 4 h 232"/>
                <a:gd name="T10" fmla="*/ 57 w 270"/>
                <a:gd name="T11" fmla="*/ 11 h 232"/>
                <a:gd name="T12" fmla="*/ 38 w 270"/>
                <a:gd name="T13" fmla="*/ 23 h 232"/>
                <a:gd name="T14" fmla="*/ 21 w 270"/>
                <a:gd name="T15" fmla="*/ 38 h 232"/>
                <a:gd name="T16" fmla="*/ 9 w 270"/>
                <a:gd name="T17" fmla="*/ 56 h 232"/>
                <a:gd name="T18" fmla="*/ 2 w 270"/>
                <a:gd name="T19" fmla="*/ 79 h 232"/>
                <a:gd name="T20" fmla="*/ 0 w 270"/>
                <a:gd name="T21" fmla="*/ 100 h 232"/>
                <a:gd name="T22" fmla="*/ 4 w 270"/>
                <a:gd name="T23" fmla="*/ 123 h 232"/>
                <a:gd name="T24" fmla="*/ 13 w 270"/>
                <a:gd name="T25" fmla="*/ 145 h 232"/>
                <a:gd name="T26" fmla="*/ 26 w 270"/>
                <a:gd name="T27" fmla="*/ 166 h 232"/>
                <a:gd name="T28" fmla="*/ 43 w 270"/>
                <a:gd name="T29" fmla="*/ 185 h 232"/>
                <a:gd name="T30" fmla="*/ 64 w 270"/>
                <a:gd name="T31" fmla="*/ 202 h 232"/>
                <a:gd name="T32" fmla="*/ 89 w 270"/>
                <a:gd name="T33" fmla="*/ 217 h 232"/>
                <a:gd name="T34" fmla="*/ 115 w 270"/>
                <a:gd name="T35" fmla="*/ 226 h 232"/>
                <a:gd name="T36" fmla="*/ 142 w 270"/>
                <a:gd name="T37" fmla="*/ 232 h 232"/>
                <a:gd name="T38" fmla="*/ 166 w 270"/>
                <a:gd name="T39" fmla="*/ 232 h 232"/>
                <a:gd name="T40" fmla="*/ 191 w 270"/>
                <a:gd name="T41" fmla="*/ 228 h 232"/>
                <a:gd name="T42" fmla="*/ 213 w 270"/>
                <a:gd name="T43" fmla="*/ 221 h 232"/>
                <a:gd name="T44" fmla="*/ 232 w 270"/>
                <a:gd name="T45" fmla="*/ 209 h 232"/>
                <a:gd name="T46" fmla="*/ 249 w 270"/>
                <a:gd name="T47" fmla="*/ 194 h 232"/>
                <a:gd name="T48" fmla="*/ 261 w 270"/>
                <a:gd name="T49" fmla="*/ 175 h 232"/>
                <a:gd name="T50" fmla="*/ 268 w 270"/>
                <a:gd name="T51" fmla="*/ 155 h 232"/>
                <a:gd name="T52" fmla="*/ 270 w 270"/>
                <a:gd name="T53" fmla="*/ 132 h 232"/>
                <a:gd name="T54" fmla="*/ 266 w 270"/>
                <a:gd name="T55" fmla="*/ 109 h 232"/>
                <a:gd name="T56" fmla="*/ 257 w 270"/>
                <a:gd name="T57" fmla="*/ 87 h 232"/>
                <a:gd name="T58" fmla="*/ 244 w 270"/>
                <a:gd name="T59" fmla="*/ 66 h 232"/>
                <a:gd name="T60" fmla="*/ 227 w 270"/>
                <a:gd name="T61" fmla="*/ 47 h 232"/>
                <a:gd name="T62" fmla="*/ 206 w 270"/>
                <a:gd name="T63" fmla="*/ 30 h 232"/>
                <a:gd name="T64" fmla="*/ 181 w 270"/>
                <a:gd name="T65" fmla="*/ 15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270" h="232">
                  <a:moveTo>
                    <a:pt x="181" y="15"/>
                  </a:moveTo>
                  <a:lnTo>
                    <a:pt x="155" y="6"/>
                  </a:lnTo>
                  <a:lnTo>
                    <a:pt x="128" y="0"/>
                  </a:lnTo>
                  <a:lnTo>
                    <a:pt x="104" y="0"/>
                  </a:lnTo>
                  <a:lnTo>
                    <a:pt x="79" y="4"/>
                  </a:lnTo>
                  <a:lnTo>
                    <a:pt x="57" y="11"/>
                  </a:lnTo>
                  <a:lnTo>
                    <a:pt x="38" y="23"/>
                  </a:lnTo>
                  <a:lnTo>
                    <a:pt x="21" y="38"/>
                  </a:lnTo>
                  <a:lnTo>
                    <a:pt x="9" y="56"/>
                  </a:lnTo>
                  <a:lnTo>
                    <a:pt x="2" y="79"/>
                  </a:lnTo>
                  <a:lnTo>
                    <a:pt x="0" y="100"/>
                  </a:lnTo>
                  <a:lnTo>
                    <a:pt x="4" y="123"/>
                  </a:lnTo>
                  <a:lnTo>
                    <a:pt x="13" y="145"/>
                  </a:lnTo>
                  <a:lnTo>
                    <a:pt x="26" y="166"/>
                  </a:lnTo>
                  <a:lnTo>
                    <a:pt x="43" y="185"/>
                  </a:lnTo>
                  <a:lnTo>
                    <a:pt x="64" y="202"/>
                  </a:lnTo>
                  <a:lnTo>
                    <a:pt x="89" y="217"/>
                  </a:lnTo>
                  <a:lnTo>
                    <a:pt x="115" y="226"/>
                  </a:lnTo>
                  <a:lnTo>
                    <a:pt x="142" y="232"/>
                  </a:lnTo>
                  <a:lnTo>
                    <a:pt x="166" y="232"/>
                  </a:lnTo>
                  <a:lnTo>
                    <a:pt x="191" y="228"/>
                  </a:lnTo>
                  <a:lnTo>
                    <a:pt x="213" y="221"/>
                  </a:lnTo>
                  <a:lnTo>
                    <a:pt x="232" y="209"/>
                  </a:lnTo>
                  <a:lnTo>
                    <a:pt x="249" y="194"/>
                  </a:lnTo>
                  <a:lnTo>
                    <a:pt x="261" y="175"/>
                  </a:lnTo>
                  <a:lnTo>
                    <a:pt x="268" y="155"/>
                  </a:lnTo>
                  <a:lnTo>
                    <a:pt x="270" y="132"/>
                  </a:lnTo>
                  <a:lnTo>
                    <a:pt x="266" y="109"/>
                  </a:lnTo>
                  <a:lnTo>
                    <a:pt x="257" y="87"/>
                  </a:lnTo>
                  <a:lnTo>
                    <a:pt x="244" y="66"/>
                  </a:lnTo>
                  <a:lnTo>
                    <a:pt x="227" y="47"/>
                  </a:lnTo>
                  <a:lnTo>
                    <a:pt x="206" y="30"/>
                  </a:lnTo>
                  <a:lnTo>
                    <a:pt x="181" y="15"/>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7" name="Freeform 14"/>
            <p:cNvSpPr>
              <a:spLocks/>
            </p:cNvSpPr>
            <p:nvPr/>
          </p:nvSpPr>
          <p:spPr bwMode="auto">
            <a:xfrm>
              <a:off x="3927" y="3165"/>
              <a:ext cx="325" cy="285"/>
            </a:xfrm>
            <a:custGeom>
              <a:avLst/>
              <a:gdLst>
                <a:gd name="T0" fmla="*/ 102 w 325"/>
                <a:gd name="T1" fmla="*/ 19 h 285"/>
                <a:gd name="T2" fmla="*/ 74 w 325"/>
                <a:gd name="T3" fmla="*/ 36 h 285"/>
                <a:gd name="T4" fmla="*/ 49 w 325"/>
                <a:gd name="T5" fmla="*/ 58 h 285"/>
                <a:gd name="T6" fmla="*/ 28 w 325"/>
                <a:gd name="T7" fmla="*/ 81 h 285"/>
                <a:gd name="T8" fmla="*/ 13 w 325"/>
                <a:gd name="T9" fmla="*/ 107 h 285"/>
                <a:gd name="T10" fmla="*/ 4 w 325"/>
                <a:gd name="T11" fmla="*/ 134 h 285"/>
                <a:gd name="T12" fmla="*/ 0 w 325"/>
                <a:gd name="T13" fmla="*/ 162 h 285"/>
                <a:gd name="T14" fmla="*/ 2 w 325"/>
                <a:gd name="T15" fmla="*/ 188 h 285"/>
                <a:gd name="T16" fmla="*/ 11 w 325"/>
                <a:gd name="T17" fmla="*/ 215 h 285"/>
                <a:gd name="T18" fmla="*/ 27 w 325"/>
                <a:gd name="T19" fmla="*/ 237 h 285"/>
                <a:gd name="T20" fmla="*/ 45 w 325"/>
                <a:gd name="T21" fmla="*/ 256 h 285"/>
                <a:gd name="T22" fmla="*/ 70 w 325"/>
                <a:gd name="T23" fmla="*/ 271 h 285"/>
                <a:gd name="T24" fmla="*/ 98 w 325"/>
                <a:gd name="T25" fmla="*/ 279 h 285"/>
                <a:gd name="T26" fmla="*/ 127 w 325"/>
                <a:gd name="T27" fmla="*/ 285 h 285"/>
                <a:gd name="T28" fmla="*/ 159 w 325"/>
                <a:gd name="T29" fmla="*/ 283 h 285"/>
                <a:gd name="T30" fmla="*/ 191 w 325"/>
                <a:gd name="T31" fmla="*/ 275 h 285"/>
                <a:gd name="T32" fmla="*/ 223 w 325"/>
                <a:gd name="T33" fmla="*/ 264 h 285"/>
                <a:gd name="T34" fmla="*/ 251 w 325"/>
                <a:gd name="T35" fmla="*/ 247 h 285"/>
                <a:gd name="T36" fmla="*/ 276 w 325"/>
                <a:gd name="T37" fmla="*/ 226 h 285"/>
                <a:gd name="T38" fmla="*/ 297 w 325"/>
                <a:gd name="T39" fmla="*/ 202 h 285"/>
                <a:gd name="T40" fmla="*/ 312 w 325"/>
                <a:gd name="T41" fmla="*/ 175 h 285"/>
                <a:gd name="T42" fmla="*/ 321 w 325"/>
                <a:gd name="T43" fmla="*/ 149 h 285"/>
                <a:gd name="T44" fmla="*/ 325 w 325"/>
                <a:gd name="T45" fmla="*/ 120 h 285"/>
                <a:gd name="T46" fmla="*/ 323 w 325"/>
                <a:gd name="T47" fmla="*/ 94 h 285"/>
                <a:gd name="T48" fmla="*/ 314 w 325"/>
                <a:gd name="T49" fmla="*/ 68 h 285"/>
                <a:gd name="T50" fmla="*/ 299 w 325"/>
                <a:gd name="T51" fmla="*/ 45 h 285"/>
                <a:gd name="T52" fmla="*/ 280 w 325"/>
                <a:gd name="T53" fmla="*/ 26 h 285"/>
                <a:gd name="T54" fmla="*/ 255 w 325"/>
                <a:gd name="T55" fmla="*/ 11 h 285"/>
                <a:gd name="T56" fmla="*/ 229 w 325"/>
                <a:gd name="T57" fmla="*/ 4 h 285"/>
                <a:gd name="T58" fmla="*/ 198 w 325"/>
                <a:gd name="T59" fmla="*/ 0 h 285"/>
                <a:gd name="T60" fmla="*/ 166 w 325"/>
                <a:gd name="T61" fmla="*/ 0 h 285"/>
                <a:gd name="T62" fmla="*/ 134 w 325"/>
                <a:gd name="T63" fmla="*/ 7 h 285"/>
                <a:gd name="T64" fmla="*/ 102 w 325"/>
                <a:gd name="T65" fmla="*/ 19 h 285"/>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25" h="285">
                  <a:moveTo>
                    <a:pt x="102" y="19"/>
                  </a:moveTo>
                  <a:lnTo>
                    <a:pt x="74" y="36"/>
                  </a:lnTo>
                  <a:lnTo>
                    <a:pt x="49" y="58"/>
                  </a:lnTo>
                  <a:lnTo>
                    <a:pt x="28" y="81"/>
                  </a:lnTo>
                  <a:lnTo>
                    <a:pt x="13" y="107"/>
                  </a:lnTo>
                  <a:lnTo>
                    <a:pt x="4" y="134"/>
                  </a:lnTo>
                  <a:lnTo>
                    <a:pt x="0" y="162"/>
                  </a:lnTo>
                  <a:lnTo>
                    <a:pt x="2" y="188"/>
                  </a:lnTo>
                  <a:lnTo>
                    <a:pt x="11" y="215"/>
                  </a:lnTo>
                  <a:lnTo>
                    <a:pt x="27" y="237"/>
                  </a:lnTo>
                  <a:lnTo>
                    <a:pt x="45" y="256"/>
                  </a:lnTo>
                  <a:lnTo>
                    <a:pt x="70" y="271"/>
                  </a:lnTo>
                  <a:lnTo>
                    <a:pt x="98" y="279"/>
                  </a:lnTo>
                  <a:lnTo>
                    <a:pt x="127" y="285"/>
                  </a:lnTo>
                  <a:lnTo>
                    <a:pt x="159" y="283"/>
                  </a:lnTo>
                  <a:lnTo>
                    <a:pt x="191" y="275"/>
                  </a:lnTo>
                  <a:lnTo>
                    <a:pt x="223" y="264"/>
                  </a:lnTo>
                  <a:lnTo>
                    <a:pt x="251" y="247"/>
                  </a:lnTo>
                  <a:lnTo>
                    <a:pt x="276" y="226"/>
                  </a:lnTo>
                  <a:lnTo>
                    <a:pt x="297" y="202"/>
                  </a:lnTo>
                  <a:lnTo>
                    <a:pt x="312" y="175"/>
                  </a:lnTo>
                  <a:lnTo>
                    <a:pt x="321" y="149"/>
                  </a:lnTo>
                  <a:lnTo>
                    <a:pt x="325" y="120"/>
                  </a:lnTo>
                  <a:lnTo>
                    <a:pt x="323" y="94"/>
                  </a:lnTo>
                  <a:lnTo>
                    <a:pt x="314" y="68"/>
                  </a:lnTo>
                  <a:lnTo>
                    <a:pt x="299" y="45"/>
                  </a:lnTo>
                  <a:lnTo>
                    <a:pt x="280" y="26"/>
                  </a:lnTo>
                  <a:lnTo>
                    <a:pt x="255" y="11"/>
                  </a:lnTo>
                  <a:lnTo>
                    <a:pt x="229" y="4"/>
                  </a:lnTo>
                  <a:lnTo>
                    <a:pt x="198" y="0"/>
                  </a:lnTo>
                  <a:lnTo>
                    <a:pt x="166" y="0"/>
                  </a:lnTo>
                  <a:lnTo>
                    <a:pt x="134" y="7"/>
                  </a:lnTo>
                  <a:lnTo>
                    <a:pt x="102" y="1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8" name="Oval 15"/>
            <p:cNvSpPr>
              <a:spLocks noChangeArrowheads="1"/>
            </p:cNvSpPr>
            <p:nvPr/>
          </p:nvSpPr>
          <p:spPr bwMode="auto">
            <a:xfrm>
              <a:off x="3514" y="3201"/>
              <a:ext cx="538" cy="337"/>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99" name="Freeform 16"/>
            <p:cNvSpPr>
              <a:spLocks/>
            </p:cNvSpPr>
            <p:nvPr/>
          </p:nvSpPr>
          <p:spPr bwMode="auto">
            <a:xfrm>
              <a:off x="3289" y="3193"/>
              <a:ext cx="300" cy="232"/>
            </a:xfrm>
            <a:custGeom>
              <a:avLst/>
              <a:gdLst>
                <a:gd name="T0" fmla="*/ 185 w 300"/>
                <a:gd name="T1" fmla="*/ 9 h 232"/>
                <a:gd name="T2" fmla="*/ 155 w 300"/>
                <a:gd name="T3" fmla="*/ 2 h 232"/>
                <a:gd name="T4" fmla="*/ 124 w 300"/>
                <a:gd name="T5" fmla="*/ 0 h 232"/>
                <a:gd name="T6" fmla="*/ 98 w 300"/>
                <a:gd name="T7" fmla="*/ 2 h 232"/>
                <a:gd name="T8" fmla="*/ 71 w 300"/>
                <a:gd name="T9" fmla="*/ 8 h 232"/>
                <a:gd name="T10" fmla="*/ 49 w 300"/>
                <a:gd name="T11" fmla="*/ 17 h 232"/>
                <a:gd name="T12" fmla="*/ 30 w 300"/>
                <a:gd name="T13" fmla="*/ 30 h 232"/>
                <a:gd name="T14" fmla="*/ 15 w 300"/>
                <a:gd name="T15" fmla="*/ 47 h 232"/>
                <a:gd name="T16" fmla="*/ 3 w 300"/>
                <a:gd name="T17" fmla="*/ 68 h 232"/>
                <a:gd name="T18" fmla="*/ 0 w 300"/>
                <a:gd name="T19" fmla="*/ 91 h 232"/>
                <a:gd name="T20" fmla="*/ 2 w 300"/>
                <a:gd name="T21" fmla="*/ 113 h 232"/>
                <a:gd name="T22" fmla="*/ 9 w 300"/>
                <a:gd name="T23" fmla="*/ 136 h 232"/>
                <a:gd name="T24" fmla="*/ 22 w 300"/>
                <a:gd name="T25" fmla="*/ 157 h 232"/>
                <a:gd name="T26" fmla="*/ 39 w 300"/>
                <a:gd name="T27" fmla="*/ 177 h 232"/>
                <a:gd name="T28" fmla="*/ 62 w 300"/>
                <a:gd name="T29" fmla="*/ 196 h 232"/>
                <a:gd name="T30" fmla="*/ 87 w 300"/>
                <a:gd name="T31" fmla="*/ 211 h 232"/>
                <a:gd name="T32" fmla="*/ 115 w 300"/>
                <a:gd name="T33" fmla="*/ 223 h 232"/>
                <a:gd name="T34" fmla="*/ 145 w 300"/>
                <a:gd name="T35" fmla="*/ 230 h 232"/>
                <a:gd name="T36" fmla="*/ 175 w 300"/>
                <a:gd name="T37" fmla="*/ 232 h 232"/>
                <a:gd name="T38" fmla="*/ 202 w 300"/>
                <a:gd name="T39" fmla="*/ 230 h 232"/>
                <a:gd name="T40" fmla="*/ 228 w 300"/>
                <a:gd name="T41" fmla="*/ 225 h 232"/>
                <a:gd name="T42" fmla="*/ 251 w 300"/>
                <a:gd name="T43" fmla="*/ 213 h 232"/>
                <a:gd name="T44" fmla="*/ 270 w 300"/>
                <a:gd name="T45" fmla="*/ 200 h 232"/>
                <a:gd name="T46" fmla="*/ 287 w 300"/>
                <a:gd name="T47" fmla="*/ 183 h 232"/>
                <a:gd name="T48" fmla="*/ 296 w 300"/>
                <a:gd name="T49" fmla="*/ 162 h 232"/>
                <a:gd name="T50" fmla="*/ 300 w 300"/>
                <a:gd name="T51" fmla="*/ 140 h 232"/>
                <a:gd name="T52" fmla="*/ 298 w 300"/>
                <a:gd name="T53" fmla="*/ 117 h 232"/>
                <a:gd name="T54" fmla="*/ 291 w 300"/>
                <a:gd name="T55" fmla="*/ 94 h 232"/>
                <a:gd name="T56" fmla="*/ 277 w 300"/>
                <a:gd name="T57" fmla="*/ 74 h 232"/>
                <a:gd name="T58" fmla="*/ 260 w 300"/>
                <a:gd name="T59" fmla="*/ 55 h 232"/>
                <a:gd name="T60" fmla="*/ 238 w 300"/>
                <a:gd name="T61" fmla="*/ 36 h 232"/>
                <a:gd name="T62" fmla="*/ 213 w 300"/>
                <a:gd name="T63" fmla="*/ 21 h 232"/>
                <a:gd name="T64" fmla="*/ 185 w 300"/>
                <a:gd name="T65" fmla="*/ 9 h 232"/>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00" h="232">
                  <a:moveTo>
                    <a:pt x="185" y="9"/>
                  </a:moveTo>
                  <a:lnTo>
                    <a:pt x="155" y="2"/>
                  </a:lnTo>
                  <a:lnTo>
                    <a:pt x="124" y="0"/>
                  </a:lnTo>
                  <a:lnTo>
                    <a:pt x="98" y="2"/>
                  </a:lnTo>
                  <a:lnTo>
                    <a:pt x="71" y="8"/>
                  </a:lnTo>
                  <a:lnTo>
                    <a:pt x="49" y="17"/>
                  </a:lnTo>
                  <a:lnTo>
                    <a:pt x="30" y="30"/>
                  </a:lnTo>
                  <a:lnTo>
                    <a:pt x="15" y="47"/>
                  </a:lnTo>
                  <a:lnTo>
                    <a:pt x="3" y="68"/>
                  </a:lnTo>
                  <a:lnTo>
                    <a:pt x="0" y="91"/>
                  </a:lnTo>
                  <a:lnTo>
                    <a:pt x="2" y="113"/>
                  </a:lnTo>
                  <a:lnTo>
                    <a:pt x="9" y="136"/>
                  </a:lnTo>
                  <a:lnTo>
                    <a:pt x="22" y="157"/>
                  </a:lnTo>
                  <a:lnTo>
                    <a:pt x="39" y="177"/>
                  </a:lnTo>
                  <a:lnTo>
                    <a:pt x="62" y="196"/>
                  </a:lnTo>
                  <a:lnTo>
                    <a:pt x="87" y="211"/>
                  </a:lnTo>
                  <a:lnTo>
                    <a:pt x="115" y="223"/>
                  </a:lnTo>
                  <a:lnTo>
                    <a:pt x="145" y="230"/>
                  </a:lnTo>
                  <a:lnTo>
                    <a:pt x="175" y="232"/>
                  </a:lnTo>
                  <a:lnTo>
                    <a:pt x="202" y="230"/>
                  </a:lnTo>
                  <a:lnTo>
                    <a:pt x="228" y="225"/>
                  </a:lnTo>
                  <a:lnTo>
                    <a:pt x="251" y="213"/>
                  </a:lnTo>
                  <a:lnTo>
                    <a:pt x="270" y="200"/>
                  </a:lnTo>
                  <a:lnTo>
                    <a:pt x="287" y="183"/>
                  </a:lnTo>
                  <a:lnTo>
                    <a:pt x="296" y="162"/>
                  </a:lnTo>
                  <a:lnTo>
                    <a:pt x="300" y="140"/>
                  </a:lnTo>
                  <a:lnTo>
                    <a:pt x="298" y="117"/>
                  </a:lnTo>
                  <a:lnTo>
                    <a:pt x="291" y="94"/>
                  </a:lnTo>
                  <a:lnTo>
                    <a:pt x="277" y="74"/>
                  </a:lnTo>
                  <a:lnTo>
                    <a:pt x="260" y="55"/>
                  </a:lnTo>
                  <a:lnTo>
                    <a:pt x="238" y="36"/>
                  </a:lnTo>
                  <a:lnTo>
                    <a:pt x="213" y="21"/>
                  </a:lnTo>
                  <a:lnTo>
                    <a:pt x="185" y="9"/>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0" name="Oval 17"/>
            <p:cNvSpPr>
              <a:spLocks noChangeArrowheads="1"/>
            </p:cNvSpPr>
            <p:nvPr/>
          </p:nvSpPr>
          <p:spPr bwMode="auto">
            <a:xfrm>
              <a:off x="3204" y="3023"/>
              <a:ext cx="245" cy="219"/>
            </a:xfrm>
            <a:prstGeom prst="ellipse">
              <a:avLst/>
            </a:prstGeom>
            <a:grpFill/>
            <a:ln w="12700">
              <a:solidFill>
                <a:srgbClr val="000000"/>
              </a:solidFill>
              <a:round/>
              <a:headEnd/>
              <a:tailEnd/>
            </a:ln>
          </p:spPr>
          <p:txBody>
            <a:bodyP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201" name="Freeform 18"/>
            <p:cNvSpPr>
              <a:spLocks/>
            </p:cNvSpPr>
            <p:nvPr/>
          </p:nvSpPr>
          <p:spPr bwMode="auto">
            <a:xfrm>
              <a:off x="3253" y="2827"/>
              <a:ext cx="315" cy="259"/>
            </a:xfrm>
            <a:custGeom>
              <a:avLst/>
              <a:gdLst>
                <a:gd name="T0" fmla="*/ 100 w 315"/>
                <a:gd name="T1" fmla="*/ 32 h 259"/>
                <a:gd name="T2" fmla="*/ 72 w 315"/>
                <a:gd name="T3" fmla="*/ 53 h 259"/>
                <a:gd name="T4" fmla="*/ 47 w 315"/>
                <a:gd name="T5" fmla="*/ 74 h 259"/>
                <a:gd name="T6" fmla="*/ 28 w 315"/>
                <a:gd name="T7" fmla="*/ 98 h 259"/>
                <a:gd name="T8" fmla="*/ 13 w 315"/>
                <a:gd name="T9" fmla="*/ 123 h 259"/>
                <a:gd name="T10" fmla="*/ 4 w 315"/>
                <a:gd name="T11" fmla="*/ 149 h 259"/>
                <a:gd name="T12" fmla="*/ 0 w 315"/>
                <a:gd name="T13" fmla="*/ 174 h 259"/>
                <a:gd name="T14" fmla="*/ 2 w 315"/>
                <a:gd name="T15" fmla="*/ 196 h 259"/>
                <a:gd name="T16" fmla="*/ 11 w 315"/>
                <a:gd name="T17" fmla="*/ 217 h 259"/>
                <a:gd name="T18" fmla="*/ 26 w 315"/>
                <a:gd name="T19" fmla="*/ 234 h 259"/>
                <a:gd name="T20" fmla="*/ 45 w 315"/>
                <a:gd name="T21" fmla="*/ 247 h 259"/>
                <a:gd name="T22" fmla="*/ 70 w 315"/>
                <a:gd name="T23" fmla="*/ 257 h 259"/>
                <a:gd name="T24" fmla="*/ 96 w 315"/>
                <a:gd name="T25" fmla="*/ 259 h 259"/>
                <a:gd name="T26" fmla="*/ 124 w 315"/>
                <a:gd name="T27" fmla="*/ 259 h 259"/>
                <a:gd name="T28" fmla="*/ 155 w 315"/>
                <a:gd name="T29" fmla="*/ 253 h 259"/>
                <a:gd name="T30" fmla="*/ 185 w 315"/>
                <a:gd name="T31" fmla="*/ 242 h 259"/>
                <a:gd name="T32" fmla="*/ 215 w 315"/>
                <a:gd name="T33" fmla="*/ 226 h 259"/>
                <a:gd name="T34" fmla="*/ 243 w 315"/>
                <a:gd name="T35" fmla="*/ 208 h 259"/>
                <a:gd name="T36" fmla="*/ 268 w 315"/>
                <a:gd name="T37" fmla="*/ 185 h 259"/>
                <a:gd name="T38" fmla="*/ 287 w 315"/>
                <a:gd name="T39" fmla="*/ 160 h 259"/>
                <a:gd name="T40" fmla="*/ 302 w 315"/>
                <a:gd name="T41" fmla="*/ 136 h 259"/>
                <a:gd name="T42" fmla="*/ 311 w 315"/>
                <a:gd name="T43" fmla="*/ 109 h 259"/>
                <a:gd name="T44" fmla="*/ 315 w 315"/>
                <a:gd name="T45" fmla="*/ 87 h 259"/>
                <a:gd name="T46" fmla="*/ 313 w 315"/>
                <a:gd name="T47" fmla="*/ 62 h 259"/>
                <a:gd name="T48" fmla="*/ 304 w 315"/>
                <a:gd name="T49" fmla="*/ 42 h 259"/>
                <a:gd name="T50" fmla="*/ 289 w 315"/>
                <a:gd name="T51" fmla="*/ 25 h 259"/>
                <a:gd name="T52" fmla="*/ 270 w 315"/>
                <a:gd name="T53" fmla="*/ 11 h 259"/>
                <a:gd name="T54" fmla="*/ 247 w 315"/>
                <a:gd name="T55" fmla="*/ 4 h 259"/>
                <a:gd name="T56" fmla="*/ 221 w 315"/>
                <a:gd name="T57" fmla="*/ 0 h 259"/>
                <a:gd name="T58" fmla="*/ 192 w 315"/>
                <a:gd name="T59" fmla="*/ 0 h 259"/>
                <a:gd name="T60" fmla="*/ 162 w 315"/>
                <a:gd name="T61" fmla="*/ 6 h 259"/>
                <a:gd name="T62" fmla="*/ 130 w 315"/>
                <a:gd name="T63" fmla="*/ 17 h 259"/>
                <a:gd name="T64" fmla="*/ 100 w 315"/>
                <a:gd name="T65" fmla="*/ 32 h 259"/>
                <a:gd name="T66" fmla="*/ 0 60000 65536"/>
                <a:gd name="T67" fmla="*/ 0 60000 6553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Lst>
              <a:ahLst/>
              <a:cxnLst>
                <a:cxn ang="T66">
                  <a:pos x="T0" y="T1"/>
                </a:cxn>
                <a:cxn ang="T67">
                  <a:pos x="T2" y="T3"/>
                </a:cxn>
                <a:cxn ang="T68">
                  <a:pos x="T4" y="T5"/>
                </a:cxn>
                <a:cxn ang="T69">
                  <a:pos x="T6" y="T7"/>
                </a:cxn>
                <a:cxn ang="T70">
                  <a:pos x="T8" y="T9"/>
                </a:cxn>
                <a:cxn ang="T71">
                  <a:pos x="T10" y="T11"/>
                </a:cxn>
                <a:cxn ang="T72">
                  <a:pos x="T12" y="T13"/>
                </a:cxn>
                <a:cxn ang="T73">
                  <a:pos x="T14" y="T15"/>
                </a:cxn>
                <a:cxn ang="T74">
                  <a:pos x="T16" y="T17"/>
                </a:cxn>
                <a:cxn ang="T75">
                  <a:pos x="T18" y="T19"/>
                </a:cxn>
                <a:cxn ang="T76">
                  <a:pos x="T20" y="T21"/>
                </a:cxn>
                <a:cxn ang="T77">
                  <a:pos x="T22" y="T23"/>
                </a:cxn>
                <a:cxn ang="T78">
                  <a:pos x="T24" y="T25"/>
                </a:cxn>
                <a:cxn ang="T79">
                  <a:pos x="T26" y="T27"/>
                </a:cxn>
                <a:cxn ang="T80">
                  <a:pos x="T28" y="T29"/>
                </a:cxn>
                <a:cxn ang="T81">
                  <a:pos x="T30" y="T31"/>
                </a:cxn>
                <a:cxn ang="T82">
                  <a:pos x="T32" y="T33"/>
                </a:cxn>
                <a:cxn ang="T83">
                  <a:pos x="T34" y="T35"/>
                </a:cxn>
                <a:cxn ang="T84">
                  <a:pos x="T36" y="T37"/>
                </a:cxn>
                <a:cxn ang="T85">
                  <a:pos x="T38" y="T39"/>
                </a:cxn>
                <a:cxn ang="T86">
                  <a:pos x="T40" y="T41"/>
                </a:cxn>
                <a:cxn ang="T87">
                  <a:pos x="T42" y="T43"/>
                </a:cxn>
                <a:cxn ang="T88">
                  <a:pos x="T44" y="T45"/>
                </a:cxn>
                <a:cxn ang="T89">
                  <a:pos x="T46" y="T47"/>
                </a:cxn>
                <a:cxn ang="T90">
                  <a:pos x="T48" y="T49"/>
                </a:cxn>
                <a:cxn ang="T91">
                  <a:pos x="T50" y="T51"/>
                </a:cxn>
                <a:cxn ang="T92">
                  <a:pos x="T52" y="T53"/>
                </a:cxn>
                <a:cxn ang="T93">
                  <a:pos x="T54" y="T55"/>
                </a:cxn>
                <a:cxn ang="T94">
                  <a:pos x="T56" y="T57"/>
                </a:cxn>
                <a:cxn ang="T95">
                  <a:pos x="T58" y="T59"/>
                </a:cxn>
                <a:cxn ang="T96">
                  <a:pos x="T60" y="T61"/>
                </a:cxn>
                <a:cxn ang="T97">
                  <a:pos x="T62" y="T63"/>
                </a:cxn>
                <a:cxn ang="T98">
                  <a:pos x="T64" y="T65"/>
                </a:cxn>
              </a:cxnLst>
              <a:rect l="0" t="0" r="r" b="b"/>
              <a:pathLst>
                <a:path w="315" h="259">
                  <a:moveTo>
                    <a:pt x="100" y="32"/>
                  </a:moveTo>
                  <a:lnTo>
                    <a:pt x="72" y="53"/>
                  </a:lnTo>
                  <a:lnTo>
                    <a:pt x="47" y="74"/>
                  </a:lnTo>
                  <a:lnTo>
                    <a:pt x="28" y="98"/>
                  </a:lnTo>
                  <a:lnTo>
                    <a:pt x="13" y="123"/>
                  </a:lnTo>
                  <a:lnTo>
                    <a:pt x="4" y="149"/>
                  </a:lnTo>
                  <a:lnTo>
                    <a:pt x="0" y="174"/>
                  </a:lnTo>
                  <a:lnTo>
                    <a:pt x="2" y="196"/>
                  </a:lnTo>
                  <a:lnTo>
                    <a:pt x="11" y="217"/>
                  </a:lnTo>
                  <a:lnTo>
                    <a:pt x="26" y="234"/>
                  </a:lnTo>
                  <a:lnTo>
                    <a:pt x="45" y="247"/>
                  </a:lnTo>
                  <a:lnTo>
                    <a:pt x="70" y="257"/>
                  </a:lnTo>
                  <a:lnTo>
                    <a:pt x="96" y="259"/>
                  </a:lnTo>
                  <a:lnTo>
                    <a:pt x="124" y="259"/>
                  </a:lnTo>
                  <a:lnTo>
                    <a:pt x="155" y="253"/>
                  </a:lnTo>
                  <a:lnTo>
                    <a:pt x="185" y="242"/>
                  </a:lnTo>
                  <a:lnTo>
                    <a:pt x="215" y="226"/>
                  </a:lnTo>
                  <a:lnTo>
                    <a:pt x="243" y="208"/>
                  </a:lnTo>
                  <a:lnTo>
                    <a:pt x="268" y="185"/>
                  </a:lnTo>
                  <a:lnTo>
                    <a:pt x="287" y="160"/>
                  </a:lnTo>
                  <a:lnTo>
                    <a:pt x="302" y="136"/>
                  </a:lnTo>
                  <a:lnTo>
                    <a:pt x="311" y="109"/>
                  </a:lnTo>
                  <a:lnTo>
                    <a:pt x="315" y="87"/>
                  </a:lnTo>
                  <a:lnTo>
                    <a:pt x="313" y="62"/>
                  </a:lnTo>
                  <a:lnTo>
                    <a:pt x="304" y="42"/>
                  </a:lnTo>
                  <a:lnTo>
                    <a:pt x="289" y="25"/>
                  </a:lnTo>
                  <a:lnTo>
                    <a:pt x="270" y="11"/>
                  </a:lnTo>
                  <a:lnTo>
                    <a:pt x="247" y="4"/>
                  </a:lnTo>
                  <a:lnTo>
                    <a:pt x="221" y="0"/>
                  </a:lnTo>
                  <a:lnTo>
                    <a:pt x="192" y="0"/>
                  </a:lnTo>
                  <a:lnTo>
                    <a:pt x="162" y="6"/>
                  </a:lnTo>
                  <a:lnTo>
                    <a:pt x="130" y="17"/>
                  </a:lnTo>
                  <a:lnTo>
                    <a:pt x="100" y="32"/>
                  </a:lnTo>
                  <a:close/>
                </a:path>
              </a:pathLst>
            </a:custGeom>
            <a:grpFill/>
            <a:ln w="12700">
              <a:solidFill>
                <a:srgbClr val="000000"/>
              </a:solidFill>
              <a:prstDash val="solid"/>
              <a:round/>
              <a:headEnd/>
              <a:tailEnd/>
            </a:ln>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2" name="Freeform 19"/>
            <p:cNvSpPr>
              <a:spLocks/>
            </p:cNvSpPr>
            <p:nvPr/>
          </p:nvSpPr>
          <p:spPr bwMode="auto">
            <a:xfrm>
              <a:off x="3319" y="2831"/>
              <a:ext cx="850" cy="583"/>
            </a:xfrm>
            <a:custGeom>
              <a:avLst/>
              <a:gdLst>
                <a:gd name="T0" fmla="*/ 125 w 850"/>
                <a:gd name="T1" fmla="*/ 117 h 583"/>
                <a:gd name="T2" fmla="*/ 166 w 850"/>
                <a:gd name="T3" fmla="*/ 109 h 583"/>
                <a:gd name="T4" fmla="*/ 210 w 850"/>
                <a:gd name="T5" fmla="*/ 102 h 583"/>
                <a:gd name="T6" fmla="*/ 247 w 850"/>
                <a:gd name="T7" fmla="*/ 96 h 583"/>
                <a:gd name="T8" fmla="*/ 272 w 850"/>
                <a:gd name="T9" fmla="*/ 66 h 583"/>
                <a:gd name="T10" fmla="*/ 234 w 850"/>
                <a:gd name="T11" fmla="*/ 58 h 583"/>
                <a:gd name="T12" fmla="*/ 198 w 850"/>
                <a:gd name="T13" fmla="*/ 66 h 583"/>
                <a:gd name="T14" fmla="*/ 179 w 850"/>
                <a:gd name="T15" fmla="*/ 66 h 583"/>
                <a:gd name="T16" fmla="*/ 217 w 850"/>
                <a:gd name="T17" fmla="*/ 36 h 583"/>
                <a:gd name="T18" fmla="*/ 261 w 850"/>
                <a:gd name="T19" fmla="*/ 21 h 583"/>
                <a:gd name="T20" fmla="*/ 296 w 850"/>
                <a:gd name="T21" fmla="*/ 13 h 583"/>
                <a:gd name="T22" fmla="*/ 334 w 850"/>
                <a:gd name="T23" fmla="*/ 5 h 583"/>
                <a:gd name="T24" fmla="*/ 372 w 850"/>
                <a:gd name="T25" fmla="*/ 0 h 583"/>
                <a:gd name="T26" fmla="*/ 410 w 850"/>
                <a:gd name="T27" fmla="*/ 0 h 583"/>
                <a:gd name="T28" fmla="*/ 446 w 850"/>
                <a:gd name="T29" fmla="*/ 0 h 583"/>
                <a:gd name="T30" fmla="*/ 534 w 850"/>
                <a:gd name="T31" fmla="*/ 0 h 583"/>
                <a:gd name="T32" fmla="*/ 584 w 850"/>
                <a:gd name="T33" fmla="*/ 0 h 583"/>
                <a:gd name="T34" fmla="*/ 627 w 850"/>
                <a:gd name="T35" fmla="*/ 21 h 583"/>
                <a:gd name="T36" fmla="*/ 657 w 850"/>
                <a:gd name="T37" fmla="*/ 51 h 583"/>
                <a:gd name="T38" fmla="*/ 695 w 850"/>
                <a:gd name="T39" fmla="*/ 72 h 583"/>
                <a:gd name="T40" fmla="*/ 733 w 850"/>
                <a:gd name="T41" fmla="*/ 81 h 583"/>
                <a:gd name="T42" fmla="*/ 771 w 850"/>
                <a:gd name="T43" fmla="*/ 109 h 583"/>
                <a:gd name="T44" fmla="*/ 801 w 850"/>
                <a:gd name="T45" fmla="*/ 139 h 583"/>
                <a:gd name="T46" fmla="*/ 825 w 850"/>
                <a:gd name="T47" fmla="*/ 183 h 583"/>
                <a:gd name="T48" fmla="*/ 833 w 850"/>
                <a:gd name="T49" fmla="*/ 234 h 583"/>
                <a:gd name="T50" fmla="*/ 839 w 850"/>
                <a:gd name="T51" fmla="*/ 279 h 583"/>
                <a:gd name="T52" fmla="*/ 839 w 850"/>
                <a:gd name="T53" fmla="*/ 324 h 583"/>
                <a:gd name="T54" fmla="*/ 839 w 850"/>
                <a:gd name="T55" fmla="*/ 368 h 583"/>
                <a:gd name="T56" fmla="*/ 850 w 850"/>
                <a:gd name="T57" fmla="*/ 413 h 583"/>
                <a:gd name="T58" fmla="*/ 850 w 850"/>
                <a:gd name="T59" fmla="*/ 456 h 583"/>
                <a:gd name="T60" fmla="*/ 825 w 850"/>
                <a:gd name="T61" fmla="*/ 500 h 583"/>
                <a:gd name="T62" fmla="*/ 782 w 850"/>
                <a:gd name="T63" fmla="*/ 524 h 583"/>
                <a:gd name="T64" fmla="*/ 746 w 850"/>
                <a:gd name="T65" fmla="*/ 545 h 583"/>
                <a:gd name="T66" fmla="*/ 708 w 850"/>
                <a:gd name="T67" fmla="*/ 568 h 583"/>
                <a:gd name="T68" fmla="*/ 670 w 850"/>
                <a:gd name="T69" fmla="*/ 575 h 583"/>
                <a:gd name="T70" fmla="*/ 621 w 850"/>
                <a:gd name="T71" fmla="*/ 583 h 583"/>
                <a:gd name="T72" fmla="*/ 576 w 850"/>
                <a:gd name="T73" fmla="*/ 583 h 583"/>
                <a:gd name="T74" fmla="*/ 540 w 850"/>
                <a:gd name="T75" fmla="*/ 583 h 583"/>
                <a:gd name="T76" fmla="*/ 502 w 850"/>
                <a:gd name="T77" fmla="*/ 583 h 583"/>
                <a:gd name="T78" fmla="*/ 465 w 850"/>
                <a:gd name="T79" fmla="*/ 583 h 583"/>
                <a:gd name="T80" fmla="*/ 427 w 850"/>
                <a:gd name="T81" fmla="*/ 583 h 583"/>
                <a:gd name="T82" fmla="*/ 391 w 850"/>
                <a:gd name="T83" fmla="*/ 583 h 583"/>
                <a:gd name="T84" fmla="*/ 353 w 850"/>
                <a:gd name="T85" fmla="*/ 583 h 583"/>
                <a:gd name="T86" fmla="*/ 310 w 850"/>
                <a:gd name="T87" fmla="*/ 583 h 583"/>
                <a:gd name="T88" fmla="*/ 272 w 850"/>
                <a:gd name="T89" fmla="*/ 583 h 583"/>
                <a:gd name="T90" fmla="*/ 234 w 850"/>
                <a:gd name="T91" fmla="*/ 583 h 583"/>
                <a:gd name="T92" fmla="*/ 198 w 850"/>
                <a:gd name="T93" fmla="*/ 560 h 583"/>
                <a:gd name="T94" fmla="*/ 160 w 850"/>
                <a:gd name="T95" fmla="*/ 545 h 583"/>
                <a:gd name="T96" fmla="*/ 125 w 850"/>
                <a:gd name="T97" fmla="*/ 524 h 583"/>
                <a:gd name="T98" fmla="*/ 92 w 850"/>
                <a:gd name="T99" fmla="*/ 487 h 583"/>
                <a:gd name="T100" fmla="*/ 68 w 850"/>
                <a:gd name="T101" fmla="*/ 456 h 583"/>
                <a:gd name="T102" fmla="*/ 43 w 850"/>
                <a:gd name="T103" fmla="*/ 413 h 583"/>
                <a:gd name="T104" fmla="*/ 17 w 850"/>
                <a:gd name="T105" fmla="*/ 360 h 583"/>
                <a:gd name="T106" fmla="*/ 0 w 850"/>
                <a:gd name="T107" fmla="*/ 309 h 583"/>
                <a:gd name="T108" fmla="*/ 0 w 850"/>
                <a:gd name="T109" fmla="*/ 264 h 583"/>
                <a:gd name="T110" fmla="*/ 6 w 850"/>
                <a:gd name="T111" fmla="*/ 213 h 583"/>
                <a:gd name="T112" fmla="*/ 30 w 850"/>
                <a:gd name="T113" fmla="*/ 175 h 583"/>
                <a:gd name="T114" fmla="*/ 62 w 850"/>
                <a:gd name="T115" fmla="*/ 155 h 583"/>
                <a:gd name="T116" fmla="*/ 98 w 850"/>
                <a:gd name="T117" fmla="*/ 139 h 583"/>
                <a:gd name="T118" fmla="*/ 130 w 850"/>
                <a:gd name="T119" fmla="*/ 117 h 583"/>
                <a:gd name="T120" fmla="*/ 147 w 850"/>
                <a:gd name="T121" fmla="*/ 139 h 583"/>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 name="T147" fmla="*/ 0 60000 65536"/>
                <a:gd name="T148" fmla="*/ 0 60000 65536"/>
                <a:gd name="T149" fmla="*/ 0 60000 65536"/>
                <a:gd name="T150" fmla="*/ 0 60000 65536"/>
                <a:gd name="T151" fmla="*/ 0 60000 65536"/>
                <a:gd name="T152" fmla="*/ 0 60000 65536"/>
                <a:gd name="T153" fmla="*/ 0 60000 65536"/>
                <a:gd name="T154" fmla="*/ 0 60000 65536"/>
                <a:gd name="T155" fmla="*/ 0 60000 65536"/>
                <a:gd name="T156" fmla="*/ 0 60000 65536"/>
                <a:gd name="T157" fmla="*/ 0 60000 65536"/>
                <a:gd name="T158" fmla="*/ 0 60000 65536"/>
                <a:gd name="T159" fmla="*/ 0 60000 65536"/>
                <a:gd name="T160" fmla="*/ 0 60000 65536"/>
                <a:gd name="T161" fmla="*/ 0 60000 65536"/>
                <a:gd name="T162" fmla="*/ 0 60000 65536"/>
                <a:gd name="T163" fmla="*/ 0 60000 65536"/>
                <a:gd name="T164" fmla="*/ 0 60000 65536"/>
                <a:gd name="T165" fmla="*/ 0 60000 65536"/>
                <a:gd name="T166" fmla="*/ 0 60000 65536"/>
                <a:gd name="T167" fmla="*/ 0 60000 65536"/>
                <a:gd name="T168" fmla="*/ 0 60000 65536"/>
                <a:gd name="T169" fmla="*/ 0 60000 65536"/>
                <a:gd name="T170" fmla="*/ 0 60000 65536"/>
                <a:gd name="T171" fmla="*/ 0 60000 65536"/>
                <a:gd name="T172" fmla="*/ 0 60000 65536"/>
                <a:gd name="T173" fmla="*/ 0 60000 65536"/>
                <a:gd name="T174" fmla="*/ 0 60000 65536"/>
                <a:gd name="T175" fmla="*/ 0 60000 65536"/>
                <a:gd name="T176" fmla="*/ 0 60000 65536"/>
                <a:gd name="T177" fmla="*/ 0 60000 65536"/>
                <a:gd name="T178" fmla="*/ 0 60000 65536"/>
                <a:gd name="T179" fmla="*/ 0 60000 65536"/>
                <a:gd name="T180" fmla="*/ 0 60000 65536"/>
                <a:gd name="T181" fmla="*/ 0 60000 65536"/>
                <a:gd name="T182" fmla="*/ 0 60000 65536"/>
              </a:gdLst>
              <a:ahLst/>
              <a:cxnLst>
                <a:cxn ang="T122">
                  <a:pos x="T0" y="T1"/>
                </a:cxn>
                <a:cxn ang="T123">
                  <a:pos x="T2" y="T3"/>
                </a:cxn>
                <a:cxn ang="T124">
                  <a:pos x="T4" y="T5"/>
                </a:cxn>
                <a:cxn ang="T125">
                  <a:pos x="T6" y="T7"/>
                </a:cxn>
                <a:cxn ang="T126">
                  <a:pos x="T8" y="T9"/>
                </a:cxn>
                <a:cxn ang="T127">
                  <a:pos x="T10" y="T11"/>
                </a:cxn>
                <a:cxn ang="T128">
                  <a:pos x="T12" y="T13"/>
                </a:cxn>
                <a:cxn ang="T129">
                  <a:pos x="T14" y="T15"/>
                </a:cxn>
                <a:cxn ang="T130">
                  <a:pos x="T16" y="T17"/>
                </a:cxn>
                <a:cxn ang="T131">
                  <a:pos x="T18" y="T19"/>
                </a:cxn>
                <a:cxn ang="T132">
                  <a:pos x="T20" y="T21"/>
                </a:cxn>
                <a:cxn ang="T133">
                  <a:pos x="T22" y="T23"/>
                </a:cxn>
                <a:cxn ang="T134">
                  <a:pos x="T24" y="T25"/>
                </a:cxn>
                <a:cxn ang="T135">
                  <a:pos x="T26" y="T27"/>
                </a:cxn>
                <a:cxn ang="T136">
                  <a:pos x="T28" y="T29"/>
                </a:cxn>
                <a:cxn ang="T137">
                  <a:pos x="T30" y="T31"/>
                </a:cxn>
                <a:cxn ang="T138">
                  <a:pos x="T32" y="T33"/>
                </a:cxn>
                <a:cxn ang="T139">
                  <a:pos x="T34" y="T35"/>
                </a:cxn>
                <a:cxn ang="T140">
                  <a:pos x="T36" y="T37"/>
                </a:cxn>
                <a:cxn ang="T141">
                  <a:pos x="T38" y="T39"/>
                </a:cxn>
                <a:cxn ang="T142">
                  <a:pos x="T40" y="T41"/>
                </a:cxn>
                <a:cxn ang="T143">
                  <a:pos x="T42" y="T43"/>
                </a:cxn>
                <a:cxn ang="T144">
                  <a:pos x="T44" y="T45"/>
                </a:cxn>
                <a:cxn ang="T145">
                  <a:pos x="T46" y="T47"/>
                </a:cxn>
                <a:cxn ang="T146">
                  <a:pos x="T48" y="T49"/>
                </a:cxn>
                <a:cxn ang="T147">
                  <a:pos x="T50" y="T51"/>
                </a:cxn>
                <a:cxn ang="T148">
                  <a:pos x="T52" y="T53"/>
                </a:cxn>
                <a:cxn ang="T149">
                  <a:pos x="T54" y="T55"/>
                </a:cxn>
                <a:cxn ang="T150">
                  <a:pos x="T56" y="T57"/>
                </a:cxn>
                <a:cxn ang="T151">
                  <a:pos x="T58" y="T59"/>
                </a:cxn>
                <a:cxn ang="T152">
                  <a:pos x="T60" y="T61"/>
                </a:cxn>
                <a:cxn ang="T153">
                  <a:pos x="T62" y="T63"/>
                </a:cxn>
                <a:cxn ang="T154">
                  <a:pos x="T64" y="T65"/>
                </a:cxn>
                <a:cxn ang="T155">
                  <a:pos x="T66" y="T67"/>
                </a:cxn>
                <a:cxn ang="T156">
                  <a:pos x="T68" y="T69"/>
                </a:cxn>
                <a:cxn ang="T157">
                  <a:pos x="T70" y="T71"/>
                </a:cxn>
                <a:cxn ang="T158">
                  <a:pos x="T72" y="T73"/>
                </a:cxn>
                <a:cxn ang="T159">
                  <a:pos x="T74" y="T75"/>
                </a:cxn>
                <a:cxn ang="T160">
                  <a:pos x="T76" y="T77"/>
                </a:cxn>
                <a:cxn ang="T161">
                  <a:pos x="T78" y="T79"/>
                </a:cxn>
                <a:cxn ang="T162">
                  <a:pos x="T80" y="T81"/>
                </a:cxn>
                <a:cxn ang="T163">
                  <a:pos x="T82" y="T83"/>
                </a:cxn>
                <a:cxn ang="T164">
                  <a:pos x="T84" y="T85"/>
                </a:cxn>
                <a:cxn ang="T165">
                  <a:pos x="T86" y="T87"/>
                </a:cxn>
                <a:cxn ang="T166">
                  <a:pos x="T88" y="T89"/>
                </a:cxn>
                <a:cxn ang="T167">
                  <a:pos x="T90" y="T91"/>
                </a:cxn>
                <a:cxn ang="T168">
                  <a:pos x="T92" y="T93"/>
                </a:cxn>
                <a:cxn ang="T169">
                  <a:pos x="T94" y="T95"/>
                </a:cxn>
                <a:cxn ang="T170">
                  <a:pos x="T96" y="T97"/>
                </a:cxn>
                <a:cxn ang="T171">
                  <a:pos x="T98" y="T99"/>
                </a:cxn>
                <a:cxn ang="T172">
                  <a:pos x="T100" y="T101"/>
                </a:cxn>
                <a:cxn ang="T173">
                  <a:pos x="T102" y="T103"/>
                </a:cxn>
                <a:cxn ang="T174">
                  <a:pos x="T104" y="T105"/>
                </a:cxn>
                <a:cxn ang="T175">
                  <a:pos x="T106" y="T107"/>
                </a:cxn>
                <a:cxn ang="T176">
                  <a:pos x="T108" y="T109"/>
                </a:cxn>
                <a:cxn ang="T177">
                  <a:pos x="T110" y="T111"/>
                </a:cxn>
                <a:cxn ang="T178">
                  <a:pos x="T112" y="T113"/>
                </a:cxn>
                <a:cxn ang="T179">
                  <a:pos x="T114" y="T115"/>
                </a:cxn>
                <a:cxn ang="T180">
                  <a:pos x="T116" y="T117"/>
                </a:cxn>
                <a:cxn ang="T181">
                  <a:pos x="T118" y="T119"/>
                </a:cxn>
                <a:cxn ang="T182">
                  <a:pos x="T120" y="T121"/>
                </a:cxn>
              </a:cxnLst>
              <a:rect l="0" t="0" r="r" b="b"/>
              <a:pathLst>
                <a:path w="850" h="583">
                  <a:moveTo>
                    <a:pt x="104" y="117"/>
                  </a:moveTo>
                  <a:lnTo>
                    <a:pt x="125" y="117"/>
                  </a:lnTo>
                  <a:lnTo>
                    <a:pt x="142" y="117"/>
                  </a:lnTo>
                  <a:lnTo>
                    <a:pt x="166" y="109"/>
                  </a:lnTo>
                  <a:lnTo>
                    <a:pt x="185" y="109"/>
                  </a:lnTo>
                  <a:lnTo>
                    <a:pt x="210" y="102"/>
                  </a:lnTo>
                  <a:lnTo>
                    <a:pt x="228" y="102"/>
                  </a:lnTo>
                  <a:lnTo>
                    <a:pt x="247" y="96"/>
                  </a:lnTo>
                  <a:lnTo>
                    <a:pt x="266" y="88"/>
                  </a:lnTo>
                  <a:lnTo>
                    <a:pt x="272" y="66"/>
                  </a:lnTo>
                  <a:lnTo>
                    <a:pt x="255" y="58"/>
                  </a:lnTo>
                  <a:lnTo>
                    <a:pt x="234" y="58"/>
                  </a:lnTo>
                  <a:lnTo>
                    <a:pt x="217" y="66"/>
                  </a:lnTo>
                  <a:lnTo>
                    <a:pt x="198" y="66"/>
                  </a:lnTo>
                  <a:lnTo>
                    <a:pt x="179" y="88"/>
                  </a:lnTo>
                  <a:lnTo>
                    <a:pt x="179" y="66"/>
                  </a:lnTo>
                  <a:lnTo>
                    <a:pt x="198" y="51"/>
                  </a:lnTo>
                  <a:lnTo>
                    <a:pt x="217" y="36"/>
                  </a:lnTo>
                  <a:lnTo>
                    <a:pt x="242" y="28"/>
                  </a:lnTo>
                  <a:lnTo>
                    <a:pt x="261" y="21"/>
                  </a:lnTo>
                  <a:lnTo>
                    <a:pt x="279" y="21"/>
                  </a:lnTo>
                  <a:lnTo>
                    <a:pt x="296" y="13"/>
                  </a:lnTo>
                  <a:lnTo>
                    <a:pt x="315" y="13"/>
                  </a:lnTo>
                  <a:lnTo>
                    <a:pt x="334" y="5"/>
                  </a:lnTo>
                  <a:lnTo>
                    <a:pt x="353" y="5"/>
                  </a:lnTo>
                  <a:lnTo>
                    <a:pt x="372" y="0"/>
                  </a:lnTo>
                  <a:lnTo>
                    <a:pt x="391" y="0"/>
                  </a:lnTo>
                  <a:lnTo>
                    <a:pt x="410" y="0"/>
                  </a:lnTo>
                  <a:lnTo>
                    <a:pt x="427" y="0"/>
                  </a:lnTo>
                  <a:lnTo>
                    <a:pt x="446" y="0"/>
                  </a:lnTo>
                  <a:lnTo>
                    <a:pt x="483" y="0"/>
                  </a:lnTo>
                  <a:lnTo>
                    <a:pt x="534" y="0"/>
                  </a:lnTo>
                  <a:lnTo>
                    <a:pt x="559" y="0"/>
                  </a:lnTo>
                  <a:lnTo>
                    <a:pt x="584" y="0"/>
                  </a:lnTo>
                  <a:lnTo>
                    <a:pt x="608" y="5"/>
                  </a:lnTo>
                  <a:lnTo>
                    <a:pt x="627" y="21"/>
                  </a:lnTo>
                  <a:lnTo>
                    <a:pt x="638" y="43"/>
                  </a:lnTo>
                  <a:lnTo>
                    <a:pt x="657" y="51"/>
                  </a:lnTo>
                  <a:lnTo>
                    <a:pt x="676" y="66"/>
                  </a:lnTo>
                  <a:lnTo>
                    <a:pt x="695" y="72"/>
                  </a:lnTo>
                  <a:lnTo>
                    <a:pt x="714" y="72"/>
                  </a:lnTo>
                  <a:lnTo>
                    <a:pt x="733" y="81"/>
                  </a:lnTo>
                  <a:lnTo>
                    <a:pt x="752" y="96"/>
                  </a:lnTo>
                  <a:lnTo>
                    <a:pt x="771" y="109"/>
                  </a:lnTo>
                  <a:lnTo>
                    <a:pt x="782" y="132"/>
                  </a:lnTo>
                  <a:lnTo>
                    <a:pt x="801" y="139"/>
                  </a:lnTo>
                  <a:lnTo>
                    <a:pt x="806" y="162"/>
                  </a:lnTo>
                  <a:lnTo>
                    <a:pt x="825" y="183"/>
                  </a:lnTo>
                  <a:lnTo>
                    <a:pt x="833" y="213"/>
                  </a:lnTo>
                  <a:lnTo>
                    <a:pt x="833" y="234"/>
                  </a:lnTo>
                  <a:lnTo>
                    <a:pt x="839" y="258"/>
                  </a:lnTo>
                  <a:lnTo>
                    <a:pt x="839" y="279"/>
                  </a:lnTo>
                  <a:lnTo>
                    <a:pt x="839" y="302"/>
                  </a:lnTo>
                  <a:lnTo>
                    <a:pt x="839" y="324"/>
                  </a:lnTo>
                  <a:lnTo>
                    <a:pt x="839" y="347"/>
                  </a:lnTo>
                  <a:lnTo>
                    <a:pt x="839" y="368"/>
                  </a:lnTo>
                  <a:lnTo>
                    <a:pt x="850" y="390"/>
                  </a:lnTo>
                  <a:lnTo>
                    <a:pt x="850" y="413"/>
                  </a:lnTo>
                  <a:lnTo>
                    <a:pt x="850" y="434"/>
                  </a:lnTo>
                  <a:lnTo>
                    <a:pt x="850" y="456"/>
                  </a:lnTo>
                  <a:lnTo>
                    <a:pt x="844" y="479"/>
                  </a:lnTo>
                  <a:lnTo>
                    <a:pt x="825" y="500"/>
                  </a:lnTo>
                  <a:lnTo>
                    <a:pt x="801" y="517"/>
                  </a:lnTo>
                  <a:lnTo>
                    <a:pt x="782" y="524"/>
                  </a:lnTo>
                  <a:lnTo>
                    <a:pt x="765" y="537"/>
                  </a:lnTo>
                  <a:lnTo>
                    <a:pt x="746" y="545"/>
                  </a:lnTo>
                  <a:lnTo>
                    <a:pt x="725" y="553"/>
                  </a:lnTo>
                  <a:lnTo>
                    <a:pt x="708" y="568"/>
                  </a:lnTo>
                  <a:lnTo>
                    <a:pt x="689" y="575"/>
                  </a:lnTo>
                  <a:lnTo>
                    <a:pt x="670" y="575"/>
                  </a:lnTo>
                  <a:lnTo>
                    <a:pt x="644" y="583"/>
                  </a:lnTo>
                  <a:lnTo>
                    <a:pt x="621" y="583"/>
                  </a:lnTo>
                  <a:lnTo>
                    <a:pt x="602" y="583"/>
                  </a:lnTo>
                  <a:lnTo>
                    <a:pt x="576" y="583"/>
                  </a:lnTo>
                  <a:lnTo>
                    <a:pt x="559" y="583"/>
                  </a:lnTo>
                  <a:lnTo>
                    <a:pt x="540" y="583"/>
                  </a:lnTo>
                  <a:lnTo>
                    <a:pt x="521" y="583"/>
                  </a:lnTo>
                  <a:lnTo>
                    <a:pt x="502" y="583"/>
                  </a:lnTo>
                  <a:lnTo>
                    <a:pt x="483" y="583"/>
                  </a:lnTo>
                  <a:lnTo>
                    <a:pt x="465" y="583"/>
                  </a:lnTo>
                  <a:lnTo>
                    <a:pt x="446" y="583"/>
                  </a:lnTo>
                  <a:lnTo>
                    <a:pt x="427" y="583"/>
                  </a:lnTo>
                  <a:lnTo>
                    <a:pt x="410" y="583"/>
                  </a:lnTo>
                  <a:lnTo>
                    <a:pt x="391" y="583"/>
                  </a:lnTo>
                  <a:lnTo>
                    <a:pt x="372" y="583"/>
                  </a:lnTo>
                  <a:lnTo>
                    <a:pt x="353" y="583"/>
                  </a:lnTo>
                  <a:lnTo>
                    <a:pt x="329" y="583"/>
                  </a:lnTo>
                  <a:lnTo>
                    <a:pt x="310" y="583"/>
                  </a:lnTo>
                  <a:lnTo>
                    <a:pt x="291" y="583"/>
                  </a:lnTo>
                  <a:lnTo>
                    <a:pt x="272" y="583"/>
                  </a:lnTo>
                  <a:lnTo>
                    <a:pt x="255" y="583"/>
                  </a:lnTo>
                  <a:lnTo>
                    <a:pt x="234" y="583"/>
                  </a:lnTo>
                  <a:lnTo>
                    <a:pt x="217" y="568"/>
                  </a:lnTo>
                  <a:lnTo>
                    <a:pt x="198" y="560"/>
                  </a:lnTo>
                  <a:lnTo>
                    <a:pt x="179" y="553"/>
                  </a:lnTo>
                  <a:lnTo>
                    <a:pt x="160" y="545"/>
                  </a:lnTo>
                  <a:lnTo>
                    <a:pt x="142" y="537"/>
                  </a:lnTo>
                  <a:lnTo>
                    <a:pt x="125" y="524"/>
                  </a:lnTo>
                  <a:lnTo>
                    <a:pt x="104" y="509"/>
                  </a:lnTo>
                  <a:lnTo>
                    <a:pt x="92" y="487"/>
                  </a:lnTo>
                  <a:lnTo>
                    <a:pt x="74" y="479"/>
                  </a:lnTo>
                  <a:lnTo>
                    <a:pt x="68" y="456"/>
                  </a:lnTo>
                  <a:lnTo>
                    <a:pt x="49" y="434"/>
                  </a:lnTo>
                  <a:lnTo>
                    <a:pt x="43" y="413"/>
                  </a:lnTo>
                  <a:lnTo>
                    <a:pt x="24" y="390"/>
                  </a:lnTo>
                  <a:lnTo>
                    <a:pt x="17" y="360"/>
                  </a:lnTo>
                  <a:lnTo>
                    <a:pt x="6" y="330"/>
                  </a:lnTo>
                  <a:lnTo>
                    <a:pt x="0" y="309"/>
                  </a:lnTo>
                  <a:lnTo>
                    <a:pt x="0" y="287"/>
                  </a:lnTo>
                  <a:lnTo>
                    <a:pt x="0" y="264"/>
                  </a:lnTo>
                  <a:lnTo>
                    <a:pt x="0" y="243"/>
                  </a:lnTo>
                  <a:lnTo>
                    <a:pt x="6" y="213"/>
                  </a:lnTo>
                  <a:lnTo>
                    <a:pt x="11" y="192"/>
                  </a:lnTo>
                  <a:lnTo>
                    <a:pt x="30" y="175"/>
                  </a:lnTo>
                  <a:lnTo>
                    <a:pt x="43" y="155"/>
                  </a:lnTo>
                  <a:lnTo>
                    <a:pt x="62" y="155"/>
                  </a:lnTo>
                  <a:lnTo>
                    <a:pt x="79" y="147"/>
                  </a:lnTo>
                  <a:lnTo>
                    <a:pt x="98" y="139"/>
                  </a:lnTo>
                  <a:lnTo>
                    <a:pt x="117" y="139"/>
                  </a:lnTo>
                  <a:lnTo>
                    <a:pt x="130" y="117"/>
                  </a:lnTo>
                  <a:lnTo>
                    <a:pt x="130" y="96"/>
                  </a:lnTo>
                  <a:lnTo>
                    <a:pt x="147" y="139"/>
                  </a:lnTo>
                  <a:lnTo>
                    <a:pt x="104" y="11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3" name="Freeform 20"/>
            <p:cNvSpPr>
              <a:spLocks/>
            </p:cNvSpPr>
            <p:nvPr/>
          </p:nvSpPr>
          <p:spPr bwMode="auto">
            <a:xfrm>
              <a:off x="3483" y="2787"/>
              <a:ext cx="132" cy="168"/>
            </a:xfrm>
            <a:custGeom>
              <a:avLst/>
              <a:gdLst>
                <a:gd name="T0" fmla="*/ 6 w 132"/>
                <a:gd name="T1" fmla="*/ 95 h 168"/>
                <a:gd name="T2" fmla="*/ 0 w 132"/>
                <a:gd name="T3" fmla="*/ 72 h 168"/>
                <a:gd name="T4" fmla="*/ 0 w 132"/>
                <a:gd name="T5" fmla="*/ 51 h 168"/>
                <a:gd name="T6" fmla="*/ 17 w 132"/>
                <a:gd name="T7" fmla="*/ 36 h 168"/>
                <a:gd name="T8" fmla="*/ 36 w 132"/>
                <a:gd name="T9" fmla="*/ 21 h 168"/>
                <a:gd name="T10" fmla="*/ 53 w 132"/>
                <a:gd name="T11" fmla="*/ 0 h 168"/>
                <a:gd name="T12" fmla="*/ 72 w 132"/>
                <a:gd name="T13" fmla="*/ 0 h 168"/>
                <a:gd name="T14" fmla="*/ 91 w 132"/>
                <a:gd name="T15" fmla="*/ 0 h 168"/>
                <a:gd name="T16" fmla="*/ 97 w 132"/>
                <a:gd name="T17" fmla="*/ 21 h 168"/>
                <a:gd name="T18" fmla="*/ 110 w 132"/>
                <a:gd name="T19" fmla="*/ 44 h 168"/>
                <a:gd name="T20" fmla="*/ 121 w 132"/>
                <a:gd name="T21" fmla="*/ 66 h 168"/>
                <a:gd name="T22" fmla="*/ 127 w 132"/>
                <a:gd name="T23" fmla="*/ 87 h 168"/>
                <a:gd name="T24" fmla="*/ 132 w 132"/>
                <a:gd name="T25" fmla="*/ 108 h 168"/>
                <a:gd name="T26" fmla="*/ 132 w 132"/>
                <a:gd name="T27" fmla="*/ 132 h 168"/>
                <a:gd name="T28" fmla="*/ 132 w 132"/>
                <a:gd name="T29" fmla="*/ 153 h 168"/>
                <a:gd name="T30" fmla="*/ 115 w 132"/>
                <a:gd name="T31" fmla="*/ 168 h 168"/>
                <a:gd name="T32" fmla="*/ 97 w 132"/>
                <a:gd name="T33" fmla="*/ 168 h 168"/>
                <a:gd name="T34" fmla="*/ 80 w 132"/>
                <a:gd name="T35" fmla="*/ 168 h 168"/>
                <a:gd name="T36" fmla="*/ 61 w 132"/>
                <a:gd name="T37" fmla="*/ 168 h 168"/>
                <a:gd name="T38" fmla="*/ 42 w 132"/>
                <a:gd name="T39" fmla="*/ 161 h 168"/>
                <a:gd name="T40" fmla="*/ 23 w 132"/>
                <a:gd name="T41" fmla="*/ 146 h 168"/>
                <a:gd name="T42" fmla="*/ 12 w 132"/>
                <a:gd name="T43" fmla="*/ 123 h 168"/>
                <a:gd name="T44" fmla="*/ 6 w 132"/>
                <a:gd name="T45" fmla="*/ 102 h 168"/>
                <a:gd name="T46" fmla="*/ 6 w 132"/>
                <a:gd name="T47" fmla="*/ 95 h 168"/>
                <a:gd name="T48" fmla="*/ 0 60000 65536"/>
                <a:gd name="T49" fmla="*/ 0 60000 65536"/>
                <a:gd name="T50" fmla="*/ 0 60000 65536"/>
                <a:gd name="T51" fmla="*/ 0 60000 65536"/>
                <a:gd name="T52" fmla="*/ 0 60000 65536"/>
                <a:gd name="T53" fmla="*/ 0 60000 65536"/>
                <a:gd name="T54" fmla="*/ 0 60000 65536"/>
                <a:gd name="T55" fmla="*/ 0 60000 65536"/>
                <a:gd name="T56" fmla="*/ 0 60000 65536"/>
                <a:gd name="T57" fmla="*/ 0 60000 65536"/>
                <a:gd name="T58" fmla="*/ 0 60000 65536"/>
                <a:gd name="T59" fmla="*/ 0 60000 65536"/>
                <a:gd name="T60" fmla="*/ 0 60000 65536"/>
                <a:gd name="T61" fmla="*/ 0 60000 65536"/>
                <a:gd name="T62" fmla="*/ 0 60000 65536"/>
                <a:gd name="T63" fmla="*/ 0 60000 65536"/>
                <a:gd name="T64" fmla="*/ 0 60000 65536"/>
                <a:gd name="T65" fmla="*/ 0 60000 65536"/>
                <a:gd name="T66" fmla="*/ 0 60000 65536"/>
                <a:gd name="T67" fmla="*/ 0 60000 65536"/>
                <a:gd name="T68" fmla="*/ 0 60000 65536"/>
                <a:gd name="T69" fmla="*/ 0 60000 65536"/>
                <a:gd name="T70" fmla="*/ 0 60000 65536"/>
                <a:gd name="T71" fmla="*/ 0 60000 65536"/>
              </a:gdLst>
              <a:ahLst/>
              <a:cxnLst>
                <a:cxn ang="T48">
                  <a:pos x="T0" y="T1"/>
                </a:cxn>
                <a:cxn ang="T49">
                  <a:pos x="T2" y="T3"/>
                </a:cxn>
                <a:cxn ang="T50">
                  <a:pos x="T4" y="T5"/>
                </a:cxn>
                <a:cxn ang="T51">
                  <a:pos x="T6" y="T7"/>
                </a:cxn>
                <a:cxn ang="T52">
                  <a:pos x="T8" y="T9"/>
                </a:cxn>
                <a:cxn ang="T53">
                  <a:pos x="T10" y="T11"/>
                </a:cxn>
                <a:cxn ang="T54">
                  <a:pos x="T12" y="T13"/>
                </a:cxn>
                <a:cxn ang="T55">
                  <a:pos x="T14" y="T15"/>
                </a:cxn>
                <a:cxn ang="T56">
                  <a:pos x="T16" y="T17"/>
                </a:cxn>
                <a:cxn ang="T57">
                  <a:pos x="T18" y="T19"/>
                </a:cxn>
                <a:cxn ang="T58">
                  <a:pos x="T20" y="T21"/>
                </a:cxn>
                <a:cxn ang="T59">
                  <a:pos x="T22" y="T23"/>
                </a:cxn>
                <a:cxn ang="T60">
                  <a:pos x="T24" y="T25"/>
                </a:cxn>
                <a:cxn ang="T61">
                  <a:pos x="T26" y="T27"/>
                </a:cxn>
                <a:cxn ang="T62">
                  <a:pos x="T28" y="T29"/>
                </a:cxn>
                <a:cxn ang="T63">
                  <a:pos x="T30" y="T31"/>
                </a:cxn>
                <a:cxn ang="T64">
                  <a:pos x="T32" y="T33"/>
                </a:cxn>
                <a:cxn ang="T65">
                  <a:pos x="T34" y="T35"/>
                </a:cxn>
                <a:cxn ang="T66">
                  <a:pos x="T36" y="T37"/>
                </a:cxn>
                <a:cxn ang="T67">
                  <a:pos x="T38" y="T39"/>
                </a:cxn>
                <a:cxn ang="T68">
                  <a:pos x="T40" y="T41"/>
                </a:cxn>
                <a:cxn ang="T69">
                  <a:pos x="T42" y="T43"/>
                </a:cxn>
                <a:cxn ang="T70">
                  <a:pos x="T44" y="T45"/>
                </a:cxn>
                <a:cxn ang="T71">
                  <a:pos x="T46" y="T47"/>
                </a:cxn>
              </a:cxnLst>
              <a:rect l="0" t="0" r="r" b="b"/>
              <a:pathLst>
                <a:path w="132" h="168">
                  <a:moveTo>
                    <a:pt x="6" y="95"/>
                  </a:moveTo>
                  <a:lnTo>
                    <a:pt x="0" y="72"/>
                  </a:lnTo>
                  <a:lnTo>
                    <a:pt x="0" y="51"/>
                  </a:lnTo>
                  <a:lnTo>
                    <a:pt x="17" y="36"/>
                  </a:lnTo>
                  <a:lnTo>
                    <a:pt x="36" y="21"/>
                  </a:lnTo>
                  <a:lnTo>
                    <a:pt x="53" y="0"/>
                  </a:lnTo>
                  <a:lnTo>
                    <a:pt x="72" y="0"/>
                  </a:lnTo>
                  <a:lnTo>
                    <a:pt x="91" y="0"/>
                  </a:lnTo>
                  <a:lnTo>
                    <a:pt x="97" y="21"/>
                  </a:lnTo>
                  <a:lnTo>
                    <a:pt x="110" y="44"/>
                  </a:lnTo>
                  <a:lnTo>
                    <a:pt x="121" y="66"/>
                  </a:lnTo>
                  <a:lnTo>
                    <a:pt x="127" y="87"/>
                  </a:lnTo>
                  <a:lnTo>
                    <a:pt x="132" y="108"/>
                  </a:lnTo>
                  <a:lnTo>
                    <a:pt x="132" y="132"/>
                  </a:lnTo>
                  <a:lnTo>
                    <a:pt x="132" y="153"/>
                  </a:lnTo>
                  <a:lnTo>
                    <a:pt x="115" y="168"/>
                  </a:lnTo>
                  <a:lnTo>
                    <a:pt x="97" y="168"/>
                  </a:lnTo>
                  <a:lnTo>
                    <a:pt x="80" y="168"/>
                  </a:lnTo>
                  <a:lnTo>
                    <a:pt x="61" y="168"/>
                  </a:lnTo>
                  <a:lnTo>
                    <a:pt x="42" y="161"/>
                  </a:lnTo>
                  <a:lnTo>
                    <a:pt x="23" y="146"/>
                  </a:lnTo>
                  <a:lnTo>
                    <a:pt x="12" y="123"/>
                  </a:lnTo>
                  <a:lnTo>
                    <a:pt x="6" y="102"/>
                  </a:lnTo>
                  <a:lnTo>
                    <a:pt x="6" y="9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4" name="Freeform 21"/>
            <p:cNvSpPr>
              <a:spLocks/>
            </p:cNvSpPr>
            <p:nvPr/>
          </p:nvSpPr>
          <p:spPr bwMode="auto">
            <a:xfrm>
              <a:off x="3802" y="2742"/>
              <a:ext cx="93" cy="123"/>
            </a:xfrm>
            <a:custGeom>
              <a:avLst/>
              <a:gdLst>
                <a:gd name="T0" fmla="*/ 0 w 93"/>
                <a:gd name="T1" fmla="*/ 0 h 123"/>
                <a:gd name="T2" fmla="*/ 17 w 93"/>
                <a:gd name="T3" fmla="*/ 15 h 123"/>
                <a:gd name="T4" fmla="*/ 36 w 93"/>
                <a:gd name="T5" fmla="*/ 28 h 123"/>
                <a:gd name="T6" fmla="*/ 55 w 93"/>
                <a:gd name="T7" fmla="*/ 28 h 123"/>
                <a:gd name="T8" fmla="*/ 74 w 93"/>
                <a:gd name="T9" fmla="*/ 44 h 123"/>
                <a:gd name="T10" fmla="*/ 87 w 93"/>
                <a:gd name="T11" fmla="*/ 66 h 123"/>
                <a:gd name="T12" fmla="*/ 93 w 93"/>
                <a:gd name="T13" fmla="*/ 87 h 123"/>
                <a:gd name="T14" fmla="*/ 93 w 93"/>
                <a:gd name="T15" fmla="*/ 110 h 123"/>
                <a:gd name="T16" fmla="*/ 74 w 93"/>
                <a:gd name="T17" fmla="*/ 123 h 123"/>
                <a:gd name="T18" fmla="*/ 55 w 93"/>
                <a:gd name="T19" fmla="*/ 123 h 123"/>
                <a:gd name="T20" fmla="*/ 31 w 93"/>
                <a:gd name="T21" fmla="*/ 115 h 123"/>
                <a:gd name="T22" fmla="*/ 12 w 93"/>
                <a:gd name="T23" fmla="*/ 102 h 123"/>
                <a:gd name="T24" fmla="*/ 6 w 93"/>
                <a:gd name="T25" fmla="*/ 79 h 123"/>
                <a:gd name="T26" fmla="*/ 0 w 93"/>
                <a:gd name="T27" fmla="*/ 57 h 123"/>
                <a:gd name="T28" fmla="*/ 0 w 93"/>
                <a:gd name="T29" fmla="*/ 36 h 123"/>
                <a:gd name="T30" fmla="*/ 12 w 93"/>
                <a:gd name="T31" fmla="*/ 15 h 123"/>
                <a:gd name="T32" fmla="*/ 0 w 93"/>
                <a:gd name="T33" fmla="*/ 0 h 123"/>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Lst>
              <a:ahLst/>
              <a:cxnLst>
                <a:cxn ang="T34">
                  <a:pos x="T0" y="T1"/>
                </a:cxn>
                <a:cxn ang="T35">
                  <a:pos x="T2" y="T3"/>
                </a:cxn>
                <a:cxn ang="T36">
                  <a:pos x="T4" y="T5"/>
                </a:cxn>
                <a:cxn ang="T37">
                  <a:pos x="T6" y="T7"/>
                </a:cxn>
                <a:cxn ang="T38">
                  <a:pos x="T8" y="T9"/>
                </a:cxn>
                <a:cxn ang="T39">
                  <a:pos x="T10" y="T11"/>
                </a:cxn>
                <a:cxn ang="T40">
                  <a:pos x="T12" y="T13"/>
                </a:cxn>
                <a:cxn ang="T41">
                  <a:pos x="T14" y="T15"/>
                </a:cxn>
                <a:cxn ang="T42">
                  <a:pos x="T16" y="T17"/>
                </a:cxn>
                <a:cxn ang="T43">
                  <a:pos x="T18" y="T19"/>
                </a:cxn>
                <a:cxn ang="T44">
                  <a:pos x="T20" y="T21"/>
                </a:cxn>
                <a:cxn ang="T45">
                  <a:pos x="T22" y="T23"/>
                </a:cxn>
                <a:cxn ang="T46">
                  <a:pos x="T24" y="T25"/>
                </a:cxn>
                <a:cxn ang="T47">
                  <a:pos x="T26" y="T27"/>
                </a:cxn>
                <a:cxn ang="T48">
                  <a:pos x="T28" y="T29"/>
                </a:cxn>
                <a:cxn ang="T49">
                  <a:pos x="T30" y="T31"/>
                </a:cxn>
                <a:cxn ang="T50">
                  <a:pos x="T32" y="T33"/>
                </a:cxn>
              </a:cxnLst>
              <a:rect l="0" t="0" r="r" b="b"/>
              <a:pathLst>
                <a:path w="93" h="123">
                  <a:moveTo>
                    <a:pt x="0" y="0"/>
                  </a:moveTo>
                  <a:lnTo>
                    <a:pt x="17" y="15"/>
                  </a:lnTo>
                  <a:lnTo>
                    <a:pt x="36" y="28"/>
                  </a:lnTo>
                  <a:lnTo>
                    <a:pt x="55" y="28"/>
                  </a:lnTo>
                  <a:lnTo>
                    <a:pt x="74" y="44"/>
                  </a:lnTo>
                  <a:lnTo>
                    <a:pt x="87" y="66"/>
                  </a:lnTo>
                  <a:lnTo>
                    <a:pt x="93" y="87"/>
                  </a:lnTo>
                  <a:lnTo>
                    <a:pt x="93" y="110"/>
                  </a:lnTo>
                  <a:lnTo>
                    <a:pt x="74" y="123"/>
                  </a:lnTo>
                  <a:lnTo>
                    <a:pt x="55" y="123"/>
                  </a:lnTo>
                  <a:lnTo>
                    <a:pt x="31" y="115"/>
                  </a:lnTo>
                  <a:lnTo>
                    <a:pt x="12" y="102"/>
                  </a:lnTo>
                  <a:lnTo>
                    <a:pt x="6" y="79"/>
                  </a:lnTo>
                  <a:lnTo>
                    <a:pt x="0" y="57"/>
                  </a:lnTo>
                  <a:lnTo>
                    <a:pt x="0" y="36"/>
                  </a:lnTo>
                  <a:lnTo>
                    <a:pt x="12" y="15"/>
                  </a:lnTo>
                  <a:lnTo>
                    <a:pt x="0" y="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sp>
        <p:nvSpPr>
          <p:cNvPr id="162" name="Text Box 162"/>
          <p:cNvSpPr txBox="1">
            <a:spLocks noChangeArrowheads="1"/>
          </p:cNvSpPr>
          <p:nvPr/>
        </p:nvSpPr>
        <p:spPr bwMode="auto">
          <a:xfrm>
            <a:off x="1501962" y="1438210"/>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pic>
        <p:nvPicPr>
          <p:cNvPr id="205" name="图片 204"/>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2743034" y="2589189"/>
            <a:ext cx="619871" cy="867819"/>
          </a:xfrm>
          <a:prstGeom prst="rect">
            <a:avLst/>
          </a:prstGeom>
        </p:spPr>
      </p:pic>
      <p:sp>
        <p:nvSpPr>
          <p:cNvPr id="173" name="Oval 173"/>
          <p:cNvSpPr>
            <a:spLocks noChangeArrowheads="1"/>
          </p:cNvSpPr>
          <p:nvPr/>
        </p:nvSpPr>
        <p:spPr bwMode="auto">
          <a:xfrm>
            <a:off x="2975198" y="3092185"/>
            <a:ext cx="314930" cy="197875"/>
          </a:xfrm>
          <a:prstGeom prst="ellipse">
            <a:avLst/>
          </a:prstGeom>
          <a:solidFill>
            <a:srgbClr val="FF66FF"/>
          </a:solidFill>
          <a:ln w="9525">
            <a:solidFill>
              <a:schemeClr val="tx1"/>
            </a:solidFill>
            <a:round/>
            <a:headEnd/>
            <a:tailEnd/>
          </a:ln>
          <a:effectLst/>
        </p:spPr>
        <p:txBody>
          <a:bodyPr wrap="none" anchor="ct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A</a:t>
            </a:r>
          </a:p>
        </p:txBody>
      </p:sp>
      <p:sp>
        <p:nvSpPr>
          <p:cNvPr id="184" name="Freeform 185"/>
          <p:cNvSpPr>
            <a:spLocks/>
          </p:cNvSpPr>
          <p:nvPr/>
        </p:nvSpPr>
        <p:spPr bwMode="auto">
          <a:xfrm>
            <a:off x="3290128" y="2878430"/>
            <a:ext cx="2103944" cy="333456"/>
          </a:xfrm>
          <a:custGeom>
            <a:avLst/>
            <a:gdLst>
              <a:gd name="T0" fmla="*/ 2147483646 w 1384"/>
              <a:gd name="T1" fmla="*/ 0 h 208"/>
              <a:gd name="T2" fmla="*/ 0 w 1384"/>
              <a:gd name="T3" fmla="*/ 2147483646 h 208"/>
              <a:gd name="T4" fmla="*/ 0 60000 65536"/>
              <a:gd name="T5" fmla="*/ 0 60000 65536"/>
            </a:gdLst>
            <a:ahLst/>
            <a:cxnLst>
              <a:cxn ang="T4">
                <a:pos x="T0" y="T1"/>
              </a:cxn>
              <a:cxn ang="T5">
                <a:pos x="T2" y="T3"/>
              </a:cxn>
            </a:cxnLst>
            <a:rect l="0" t="0" r="r" b="b"/>
            <a:pathLst>
              <a:path w="1384" h="208">
                <a:moveTo>
                  <a:pt x="1384" y="0"/>
                </a:moveTo>
                <a:cubicBezTo>
                  <a:pt x="1153" y="33"/>
                  <a:pt x="288" y="165"/>
                  <a:pt x="0" y="208"/>
                </a:cubicBezTo>
              </a:path>
            </a:pathLst>
          </a:custGeom>
          <a:noFill/>
          <a:ln w="28575" cap="flat" cmpd="sng">
            <a:solidFill>
              <a:srgbClr val="CC00CC"/>
            </a:solidFill>
            <a:prstDash val="dash"/>
            <a:round/>
            <a:headEnd type="triangl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8628014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05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911667" y="578844"/>
            <a:ext cx="33393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网络管理模型中的主要构件</a:t>
            </a:r>
          </a:p>
        </p:txBody>
      </p:sp>
      <p:sp>
        <p:nvSpPr>
          <p:cNvPr id="4" name="Rectangle 68"/>
          <p:cNvSpPr>
            <a:spLocks noChangeArrowheads="1"/>
          </p:cNvSpPr>
          <p:nvPr/>
        </p:nvSpPr>
        <p:spPr bwMode="auto">
          <a:xfrm>
            <a:off x="556962" y="973145"/>
            <a:ext cx="8048777" cy="3477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r>
              <a:rPr lang="zh-CN" altLang="en-US" sz="2000" b="1" dirty="0">
                <a:latin typeface="微软雅黑 Light" panose="020B0502040204020203" pitchFamily="34" charset="-122"/>
                <a:ea typeface="微软雅黑 Light" panose="020B0502040204020203" pitchFamily="34" charset="-122"/>
              </a:rPr>
              <a:t>也常称为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网络运行中心 </a:t>
            </a:r>
            <a:r>
              <a:rPr lang="en-US" altLang="zh-CN" sz="2000" b="1" dirty="0">
                <a:latin typeface="微软雅黑 Light" panose="020B0502040204020203" pitchFamily="34" charset="-122"/>
                <a:ea typeface="微软雅黑 Light" panose="020B0502040204020203" pitchFamily="34" charset="-122"/>
              </a:rPr>
              <a:t>NOC (Network Operations Center)</a:t>
            </a:r>
            <a:r>
              <a:rPr lang="zh-CN" altLang="en-US" sz="2000" b="1" dirty="0">
                <a:latin typeface="微软雅黑 Light" panose="020B0502040204020203" pitchFamily="34" charset="-122"/>
                <a:ea typeface="微软雅黑 Light" panose="020B0502040204020203" pitchFamily="34" charset="-122"/>
              </a:rPr>
              <a:t>，是网络管理系统的核心。</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是管理站中的关键构件，在运行时就成为</a:t>
            </a:r>
            <a:r>
              <a:rPr lang="zh-CN" altLang="en-US" sz="2000" b="1" dirty="0">
                <a:solidFill>
                  <a:srgbClr val="0000FF"/>
                </a:solidFill>
                <a:latin typeface="微软雅黑 Light" panose="020B0502040204020203" pitchFamily="34" charset="-122"/>
                <a:ea typeface="微软雅黑 Light" panose="020B0502040204020203" pitchFamily="34" charset="-122"/>
              </a:rPr>
              <a:t>管理进程</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管理站（硬件）或管理程序（软件）都可称为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管理者</a:t>
            </a:r>
            <a:r>
              <a:rPr lang="en-US" altLang="zh-CN" sz="2000" b="1" dirty="0">
                <a:latin typeface="微软雅黑 Light" panose="020B0502040204020203" pitchFamily="34" charset="-122"/>
                <a:ea typeface="微软雅黑 Light" panose="020B0502040204020203" pitchFamily="34" charset="-122"/>
              </a:rPr>
              <a:t>(manager)</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Manager</a:t>
            </a:r>
            <a:r>
              <a:rPr lang="en-US" altLang="zh-CN" sz="2000" b="1" dirty="0">
                <a:solidFill>
                  <a:srgbClr val="0000FF"/>
                </a:solidFill>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不是指人，而是指机器或软件。</a:t>
            </a:r>
          </a:p>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网络管理员</a:t>
            </a:r>
            <a:r>
              <a:rPr lang="zh-CN" altLang="en-US" sz="2000" b="1" dirty="0">
                <a:solidFill>
                  <a:srgbClr val="0000FF"/>
                </a:solidFill>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(administrator) </a:t>
            </a:r>
            <a:r>
              <a:rPr lang="zh-CN" altLang="en-US" sz="2000" b="1" dirty="0">
                <a:latin typeface="微软雅黑 Light" panose="020B0502040204020203" pitchFamily="34" charset="-122"/>
                <a:ea typeface="微软雅黑 Light" panose="020B0502040204020203" pitchFamily="34" charset="-122"/>
              </a:rPr>
              <a:t>指的是负责网络管理的人员。</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大型网络往往实行</a:t>
            </a:r>
            <a:r>
              <a:rPr lang="zh-CN" altLang="en-US" sz="2000" b="1" dirty="0">
                <a:solidFill>
                  <a:srgbClr val="C00000"/>
                </a:solidFill>
                <a:latin typeface="微软雅黑 Light" panose="020B0502040204020203" pitchFamily="34" charset="-122"/>
                <a:ea typeface="微软雅黑 Light" panose="020B0502040204020203" pitchFamily="34" charset="-122"/>
              </a:rPr>
              <a:t>多级管理，</a:t>
            </a:r>
            <a:r>
              <a:rPr lang="zh-CN" altLang="en-US" sz="2000" b="1" dirty="0">
                <a:latin typeface="微软雅黑 Light" panose="020B0502040204020203" pitchFamily="34" charset="-122"/>
                <a:ea typeface="微软雅黑 Light" panose="020B0502040204020203" pitchFamily="34" charset="-122"/>
              </a:rPr>
              <a:t>因而有多个管理者，而一个管理者一般只管理本地网络的设备。</a:t>
            </a:r>
          </a:p>
        </p:txBody>
      </p:sp>
    </p:spTree>
    <p:extLst>
      <p:ext uri="{BB962C8B-B14F-4D97-AF65-F5344CB8AC3E}">
        <p14:creationId xmlns:p14="http://schemas.microsoft.com/office/powerpoint/2010/main" val="2845728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8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86020" y="576681"/>
            <a:ext cx="339067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被管对象 </a:t>
            </a:r>
            <a:r>
              <a:rPr lang="en-US" altLang="zh-CN" sz="2000" b="1" dirty="0">
                <a:solidFill>
                  <a:schemeClr val="bg1"/>
                </a:solidFill>
                <a:latin typeface="微软雅黑 Light" panose="020B0502040204020203" pitchFamily="34" charset="-122"/>
                <a:ea typeface="微软雅黑 Light" panose="020B0502040204020203" pitchFamily="34" charset="-122"/>
              </a:rPr>
              <a:t>(Managed Object)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80924"/>
            <a:ext cx="7876823"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网络的每一个被管设备（包括设备中的软件）中可能有多个</a:t>
            </a:r>
            <a:r>
              <a:rPr lang="zh-CN" altLang="en-US" sz="2000" b="1" dirty="0">
                <a:solidFill>
                  <a:srgbClr val="C00000"/>
                </a:solidFill>
                <a:latin typeface="微软雅黑 Light" panose="020B0502040204020203" pitchFamily="34" charset="-122"/>
                <a:ea typeface="微软雅黑 Light" panose="020B0502040204020203" pitchFamily="34" charset="-122"/>
              </a:rPr>
              <a:t>被管对象。</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被管设备有时可称为</a:t>
            </a:r>
            <a:r>
              <a:rPr lang="zh-CN" altLang="en-US" sz="2000" b="1" dirty="0">
                <a:solidFill>
                  <a:srgbClr val="0000FF"/>
                </a:solidFill>
                <a:latin typeface="微软雅黑 Light" panose="020B0502040204020203" pitchFamily="34" charset="-122"/>
                <a:ea typeface="微软雅黑 Light" panose="020B0502040204020203" pitchFamily="34" charset="-122"/>
              </a:rPr>
              <a:t>网络元素</a:t>
            </a:r>
            <a:r>
              <a:rPr lang="zh-CN" altLang="en-US" sz="2000" b="1" dirty="0">
                <a:latin typeface="微软雅黑 Light" panose="020B0502040204020203" pitchFamily="34" charset="-122"/>
                <a:ea typeface="微软雅黑 Light" panose="020B0502040204020203" pitchFamily="34" charset="-122"/>
              </a:rPr>
              <a:t>或</a:t>
            </a:r>
            <a:r>
              <a:rPr lang="zh-CN" altLang="en-US" sz="2000" b="1" dirty="0">
                <a:solidFill>
                  <a:srgbClr val="0000FF"/>
                </a:solidFill>
                <a:latin typeface="微软雅黑 Light" panose="020B0502040204020203" pitchFamily="34" charset="-122"/>
                <a:ea typeface="微软雅黑 Light" panose="020B0502040204020203" pitchFamily="34" charset="-122"/>
              </a:rPr>
              <a:t>网元</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在被管设备中也会有一些不能被管的对象。 </a:t>
            </a:r>
          </a:p>
        </p:txBody>
      </p:sp>
    </p:spTree>
    <p:extLst>
      <p:ext uri="{BB962C8B-B14F-4D97-AF65-F5344CB8AC3E}">
        <p14:creationId xmlns:p14="http://schemas.microsoft.com/office/powerpoint/2010/main" val="36045589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85304" y="577480"/>
            <a:ext cx="15921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代理 </a:t>
            </a:r>
            <a:r>
              <a:rPr lang="en-US" altLang="zh-CN" sz="2000" b="1" dirty="0">
                <a:solidFill>
                  <a:schemeClr val="bg1"/>
                </a:solidFill>
                <a:latin typeface="微软雅黑 Light" panose="020B0502040204020203" pitchFamily="34" charset="-122"/>
                <a:ea typeface="微软雅黑 Light" panose="020B0502040204020203" pitchFamily="34" charset="-122"/>
              </a:rPr>
              <a:t>(agent)</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80925"/>
            <a:ext cx="816090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在每一个被管设备中都要运行一个程序，以便和管理站中的管理程序进行通信。</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这些运行着的程序叫做</a:t>
            </a:r>
            <a:r>
              <a:rPr lang="zh-CN" altLang="en-US" sz="2000" b="1" dirty="0">
                <a:solidFill>
                  <a:srgbClr val="C00000"/>
                </a:solidFill>
                <a:latin typeface="微软雅黑 Light" panose="020B0502040204020203" pitchFamily="34" charset="-122"/>
                <a:ea typeface="微软雅黑 Light" panose="020B0502040204020203" pitchFamily="34" charset="-122"/>
              </a:rPr>
              <a:t>网络管理代理程序，</a:t>
            </a:r>
            <a:r>
              <a:rPr lang="zh-CN" altLang="en-US" sz="2000" b="1" dirty="0">
                <a:latin typeface="微软雅黑 Light" panose="020B0502040204020203" pitchFamily="34" charset="-122"/>
                <a:ea typeface="微软雅黑 Light" panose="020B0502040204020203" pitchFamily="34" charset="-122"/>
              </a:rPr>
              <a:t>或简称为</a:t>
            </a:r>
            <a:r>
              <a:rPr lang="zh-CN" altLang="en-US" sz="2000" b="1" dirty="0">
                <a:solidFill>
                  <a:srgbClr val="C00000"/>
                </a:solidFill>
                <a:latin typeface="微软雅黑 Light" panose="020B0502040204020203" pitchFamily="34" charset="-122"/>
                <a:ea typeface="微软雅黑 Light" panose="020B0502040204020203" pitchFamily="34" charset="-122"/>
              </a:rPr>
              <a:t>代理。</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代理程序在管理程序的命令和控制下在被管设备上采取本地的行动。</a:t>
            </a:r>
          </a:p>
        </p:txBody>
      </p:sp>
    </p:spTree>
    <p:extLst>
      <p:ext uri="{BB962C8B-B14F-4D97-AF65-F5344CB8AC3E}">
        <p14:creationId xmlns:p14="http://schemas.microsoft.com/office/powerpoint/2010/main" val="5084910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68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网络管理协议</a:t>
            </a:r>
          </a:p>
        </p:txBody>
      </p:sp>
      <p:sp>
        <p:nvSpPr>
          <p:cNvPr id="4" name="Rectangle 68"/>
          <p:cNvSpPr>
            <a:spLocks noChangeArrowheads="1"/>
          </p:cNvSpPr>
          <p:nvPr/>
        </p:nvSpPr>
        <p:spPr bwMode="auto">
          <a:xfrm>
            <a:off x="556962" y="971108"/>
            <a:ext cx="8048777"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网络管理协议</a:t>
            </a:r>
            <a:r>
              <a:rPr lang="zh-CN" altLang="en-US" sz="2000" b="1" dirty="0">
                <a:latin typeface="微软雅黑 Light" panose="020B0502040204020203" pitchFamily="34" charset="-122"/>
                <a:ea typeface="微软雅黑 Light" panose="020B0502040204020203" pitchFamily="34" charset="-122"/>
              </a:rPr>
              <a:t>简称为</a:t>
            </a:r>
            <a:r>
              <a:rPr lang="zh-CN" altLang="en-US" sz="2000" b="1" dirty="0">
                <a:solidFill>
                  <a:srgbClr val="0000FF"/>
                </a:solidFill>
                <a:latin typeface="微软雅黑 Light" panose="020B0502040204020203" pitchFamily="34" charset="-122"/>
                <a:ea typeface="微软雅黑 Light" panose="020B0502040204020203" pitchFamily="34" charset="-122"/>
              </a:rPr>
              <a:t>网管协议。</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网络管理协议是管理程序和代理程序之间进行通信的规则。</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网络管理员利用网络管理协议，通过管理站对网络中的被管设备进行管理。 </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注意：网管协议本身不管理网络。</a:t>
            </a:r>
          </a:p>
        </p:txBody>
      </p:sp>
    </p:spTree>
    <p:extLst>
      <p:ext uri="{BB962C8B-B14F-4D97-AF65-F5344CB8AC3E}">
        <p14:creationId xmlns:p14="http://schemas.microsoft.com/office/powerpoint/2010/main" val="31194960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6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67160" y="577451"/>
            <a:ext cx="302839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752"/>
            <a:ext cx="7903456"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简单网络管理协议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en-US" altLang="zh-CN" sz="2000" b="1" dirty="0">
                <a:latin typeface="微软雅黑 Light" panose="020B0502040204020203" pitchFamily="34" charset="-122"/>
                <a:ea typeface="微软雅黑 Light" panose="020B0502040204020203" pitchFamily="34" charset="-122"/>
              </a:rPr>
              <a:t>(Simple Network Management Protocol) </a:t>
            </a:r>
            <a:r>
              <a:rPr lang="zh-CN" altLang="en-US" sz="2000" b="1" dirty="0">
                <a:latin typeface="微软雅黑 Light" panose="020B0502040204020203" pitchFamily="34" charset="-122"/>
                <a:ea typeface="微软雅黑 Light" panose="020B0502040204020203" pitchFamily="34" charset="-122"/>
              </a:rPr>
              <a:t>中的管理程序和代理程序按</a:t>
            </a:r>
            <a:r>
              <a:rPr lang="zh-CN" altLang="en-US" sz="2000" b="1" dirty="0">
                <a:solidFill>
                  <a:srgbClr val="C00000"/>
                </a:solidFill>
                <a:latin typeface="微软雅黑 Light" panose="020B0502040204020203" pitchFamily="34" charset="-122"/>
                <a:ea typeface="微软雅黑 Light" panose="020B0502040204020203" pitchFamily="34" charset="-122"/>
              </a:rPr>
              <a:t>客户服务器</a:t>
            </a:r>
            <a:r>
              <a:rPr lang="zh-CN" altLang="en-US" sz="2000" b="1" dirty="0">
                <a:latin typeface="微软雅黑 Light" panose="020B0502040204020203" pitchFamily="34" charset="-122"/>
                <a:ea typeface="微软雅黑 Light" panose="020B0502040204020203" pitchFamily="34" charset="-122"/>
              </a:rPr>
              <a:t>方式工作。</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客户程序，</a:t>
            </a:r>
            <a:r>
              <a:rPr lang="zh-CN" altLang="en-US" sz="2000" b="1" dirty="0">
                <a:latin typeface="微软雅黑 Light" panose="020B0502040204020203" pitchFamily="34" charset="-122"/>
                <a:ea typeface="微软雅黑 Light" panose="020B0502040204020203" pitchFamily="34" charset="-122"/>
              </a:rPr>
              <a:t>向某个代理程序发出请求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或命令</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代理程序运行 </a:t>
            </a:r>
            <a:r>
              <a:rPr lang="en-US" altLang="zh-CN" sz="2000" b="1" dirty="0">
                <a:solidFill>
                  <a:srgbClr val="C00000"/>
                </a:solidFill>
                <a:latin typeface="微软雅黑 Light" panose="020B0502040204020203" pitchFamily="34" charset="-122"/>
                <a:ea typeface="微软雅黑 Light" panose="020B0502040204020203" pitchFamily="34" charset="-122"/>
              </a:rPr>
              <a:t>SNMP </a:t>
            </a:r>
            <a:r>
              <a:rPr lang="zh-CN" altLang="en-US" sz="2000" b="1" dirty="0">
                <a:solidFill>
                  <a:srgbClr val="C00000"/>
                </a:solidFill>
                <a:latin typeface="微软雅黑 Light" panose="020B0502040204020203" pitchFamily="34" charset="-122"/>
                <a:ea typeface="微软雅黑 Light" panose="020B0502040204020203" pitchFamily="34" charset="-122"/>
              </a:rPr>
              <a:t>服务器程序，</a:t>
            </a:r>
            <a:r>
              <a:rPr lang="zh-CN" altLang="en-US" sz="2000" b="1" dirty="0">
                <a:latin typeface="微软雅黑 Light" panose="020B0502040204020203" pitchFamily="34" charset="-122"/>
                <a:ea typeface="微软雅黑 Light" panose="020B0502040204020203" pitchFamily="34" charset="-122"/>
              </a:rPr>
              <a:t>返回响应 </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或执行某个动作</a:t>
            </a:r>
            <a:r>
              <a:rPr lang="en-US" altLang="zh-CN" sz="2000" b="1" dirty="0">
                <a:latin typeface="微软雅黑 Light" panose="020B0502040204020203" pitchFamily="34" charset="-122"/>
                <a:ea typeface="微软雅黑 Light" panose="020B0502040204020203" pitchFamily="34" charset="-122"/>
              </a:rPr>
              <a:t>)</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在网管系统中，往往是一个（或少数几个）客户程序与很多的服务器程序进行交互。</a:t>
            </a:r>
          </a:p>
        </p:txBody>
      </p:sp>
    </p:spTree>
    <p:extLst>
      <p:ext uri="{BB962C8B-B14F-4D97-AF65-F5344CB8AC3E}">
        <p14:creationId xmlns:p14="http://schemas.microsoft.com/office/powerpoint/2010/main" val="15307604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62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34861" y="580409"/>
            <a:ext cx="249299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网络管理的基本原理</a:t>
            </a:r>
          </a:p>
        </p:txBody>
      </p:sp>
      <p:grpSp>
        <p:nvGrpSpPr>
          <p:cNvPr id="5" name="组合 4"/>
          <p:cNvGrpSpPr/>
          <p:nvPr/>
        </p:nvGrpSpPr>
        <p:grpSpPr>
          <a:xfrm>
            <a:off x="976547" y="1395148"/>
            <a:ext cx="7270808" cy="1206008"/>
            <a:chOff x="1154100" y="3809877"/>
            <a:chExt cx="7270808" cy="795008"/>
          </a:xfrm>
        </p:grpSpPr>
        <p:sp>
          <p:nvSpPr>
            <p:cNvPr id="6" name="对角圆角矩形 5"/>
            <p:cNvSpPr/>
            <p:nvPr/>
          </p:nvSpPr>
          <p:spPr>
            <a:xfrm>
              <a:off x="1154100" y="3809877"/>
              <a:ext cx="7270808" cy="795008"/>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7" name="矩形 6"/>
            <p:cNvSpPr/>
            <p:nvPr/>
          </p:nvSpPr>
          <p:spPr>
            <a:xfrm>
              <a:off x="1482570" y="3948251"/>
              <a:ext cx="6587231" cy="534272"/>
            </a:xfrm>
            <a:prstGeom prst="rect">
              <a:avLst/>
            </a:prstGeom>
          </p:spPr>
          <p:txBody>
            <a:bodyPr wrap="square">
              <a:spAutoFit/>
            </a:bodyPr>
            <a:lstStyle/>
            <a:p>
              <a:pPr eaLnBrk="0" hangingPunct="0">
                <a:lnSpc>
                  <a:spcPts val="2800"/>
                </a:lnSpc>
                <a:buClr>
                  <a:srgbClr val="0070C0"/>
                </a:buClr>
              </a:pPr>
              <a:r>
                <a:rPr lang="zh-CN" altLang="en-US" sz="2000" b="1" dirty="0">
                  <a:solidFill>
                    <a:schemeClr val="bg1"/>
                  </a:solidFill>
                  <a:latin typeface="微软雅黑 Light" panose="020B0502040204020203" pitchFamily="34" charset="-122"/>
                  <a:ea typeface="微软雅黑 Light" panose="020B0502040204020203" pitchFamily="34" charset="-122"/>
                </a:rPr>
                <a:t>若要管理某个对象，就必然会给该对象添加一些软件或硬件，但这种“添加”必须对原有对象的影响尽量小些。</a:t>
              </a:r>
            </a:p>
          </p:txBody>
        </p:sp>
      </p:grpSp>
    </p:spTree>
    <p:extLst>
      <p:ext uri="{BB962C8B-B14F-4D97-AF65-F5344CB8AC3E}">
        <p14:creationId xmlns:p14="http://schemas.microsoft.com/office/powerpoint/2010/main" val="27139649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2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7" y="577713"/>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的基本功能</a:t>
            </a:r>
          </a:p>
        </p:txBody>
      </p:sp>
      <p:sp>
        <p:nvSpPr>
          <p:cNvPr id="4" name="Rectangle 68"/>
          <p:cNvSpPr>
            <a:spLocks noChangeArrowheads="1"/>
          </p:cNvSpPr>
          <p:nvPr/>
        </p:nvSpPr>
        <p:spPr bwMode="auto">
          <a:xfrm>
            <a:off x="556963" y="972014"/>
            <a:ext cx="80487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最重要的指导思想：</a:t>
            </a:r>
            <a:r>
              <a:rPr lang="zh-CN" altLang="en-US" sz="2000" b="1" dirty="0">
                <a:solidFill>
                  <a:srgbClr val="C00000"/>
                </a:solidFill>
                <a:latin typeface="微软雅黑 Light" panose="020B0502040204020203" pitchFamily="34" charset="-122"/>
                <a:ea typeface="微软雅黑 Light" panose="020B0502040204020203" pitchFamily="34" charset="-122"/>
              </a:rPr>
              <a:t>尽可能简单。</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基本功能：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监视网络性能</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检测分析网络差错</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300"/>
              </a:lnSpc>
              <a:buClr>
                <a:srgbClr val="0066FF"/>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配置网络设备等。</a:t>
            </a:r>
          </a:p>
        </p:txBody>
      </p:sp>
    </p:spTree>
    <p:extLst>
      <p:ext uri="{BB962C8B-B14F-4D97-AF65-F5344CB8AC3E}">
        <p14:creationId xmlns:p14="http://schemas.microsoft.com/office/powerpoint/2010/main" val="18695633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99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94035" y="577781"/>
            <a:ext cx="337464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的管理站和委托代理</a:t>
            </a:r>
          </a:p>
        </p:txBody>
      </p:sp>
      <p:sp>
        <p:nvSpPr>
          <p:cNvPr id="4" name="Rectangle 68"/>
          <p:cNvSpPr>
            <a:spLocks noChangeArrowheads="1"/>
          </p:cNvSpPr>
          <p:nvPr/>
        </p:nvSpPr>
        <p:spPr bwMode="auto">
          <a:xfrm>
            <a:off x="556963" y="972082"/>
            <a:ext cx="8258564" cy="163121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整个系统必须有一个</a:t>
            </a:r>
            <a:r>
              <a:rPr lang="zh-CN" altLang="en-US" sz="2000" b="1" dirty="0">
                <a:solidFill>
                  <a:srgbClr val="C00000"/>
                </a:solidFill>
                <a:latin typeface="微软雅黑 Light" panose="020B0502040204020203" pitchFamily="34" charset="-122"/>
                <a:ea typeface="微软雅黑 Light" panose="020B0502040204020203" pitchFamily="34" charset="-122"/>
              </a:rPr>
              <a:t>管理站。</a:t>
            </a: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若网络元素使用的不是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而是另一种网络管理协议，</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协议就无法控制该网络元素。这时可使用</a:t>
            </a:r>
            <a:r>
              <a:rPr lang="zh-CN" altLang="en-US" sz="2000" b="1" dirty="0">
                <a:solidFill>
                  <a:srgbClr val="C00000"/>
                </a:solidFill>
                <a:latin typeface="微软雅黑 Light" panose="020B0502040204020203" pitchFamily="34" charset="-122"/>
                <a:ea typeface="微软雅黑 Light" panose="020B0502040204020203" pitchFamily="34" charset="-122"/>
              </a:rPr>
              <a:t>委托代理 </a:t>
            </a:r>
            <a:r>
              <a:rPr lang="en-US" altLang="zh-CN" sz="2000" b="1" dirty="0">
                <a:latin typeface="微软雅黑 Light" panose="020B0502040204020203" pitchFamily="34" charset="-122"/>
                <a:ea typeface="微软雅黑 Light" panose="020B0502040204020203" pitchFamily="34" charset="-122"/>
              </a:rPr>
              <a:t>(proxy agent)</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0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委托代理能提供协议转换和过滤操作等功能，对被管对象进行管理。</a:t>
            </a:r>
          </a:p>
        </p:txBody>
      </p:sp>
      <p:sp>
        <p:nvSpPr>
          <p:cNvPr id="6" name="矩形 5"/>
          <p:cNvSpPr/>
          <p:nvPr/>
        </p:nvSpPr>
        <p:spPr>
          <a:xfrm>
            <a:off x="1918295" y="2879677"/>
            <a:ext cx="360794" cy="1054905"/>
          </a:xfrm>
          <a:prstGeom prst="rect">
            <a:avLst/>
          </a:prstGeom>
          <a:solidFill>
            <a:srgbClr val="0000FF"/>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管理站</a:t>
            </a:r>
          </a:p>
        </p:txBody>
      </p:sp>
      <p:sp>
        <p:nvSpPr>
          <p:cNvPr id="8" name="矩形 7"/>
          <p:cNvSpPr/>
          <p:nvPr/>
        </p:nvSpPr>
        <p:spPr>
          <a:xfrm>
            <a:off x="3606331" y="2879677"/>
            <a:ext cx="360794" cy="1054905"/>
          </a:xfrm>
          <a:prstGeom prst="rect">
            <a:avLst/>
          </a:prstGeom>
          <a:solidFill>
            <a:srgbClr val="CC00CC"/>
          </a:solid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400" b="1" dirty="0">
                <a:solidFill>
                  <a:schemeClr val="bg1"/>
                </a:solidFill>
                <a:latin typeface="微软雅黑 Light" panose="020B0502040204020203" pitchFamily="34" charset="-122"/>
                <a:ea typeface="微软雅黑 Light" panose="020B0502040204020203" pitchFamily="34" charset="-122"/>
              </a:rPr>
              <a:t>委托代理</a:t>
            </a:r>
          </a:p>
        </p:txBody>
      </p:sp>
      <p:sp>
        <p:nvSpPr>
          <p:cNvPr id="9" name="椭圆 8"/>
          <p:cNvSpPr/>
          <p:nvPr/>
        </p:nvSpPr>
        <p:spPr>
          <a:xfrm>
            <a:off x="5519058" y="271435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1" name="直接箭头连接符 10"/>
          <p:cNvCxnSpPr>
            <a:endCxn id="9" idx="2"/>
          </p:cNvCxnSpPr>
          <p:nvPr/>
        </p:nvCxnSpPr>
        <p:spPr>
          <a:xfrm flipV="1">
            <a:off x="3967125" y="2937510"/>
            <a:ext cx="1551933" cy="223157"/>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3" name="椭圆 12"/>
          <p:cNvSpPr/>
          <p:nvPr/>
        </p:nvSpPr>
        <p:spPr>
          <a:xfrm>
            <a:off x="5519058" y="3572633"/>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4" name="直接箭头连接符 13"/>
          <p:cNvCxnSpPr>
            <a:endCxn id="13" idx="2"/>
          </p:cNvCxnSpPr>
          <p:nvPr/>
        </p:nvCxnSpPr>
        <p:spPr>
          <a:xfrm>
            <a:off x="3967125" y="3660283"/>
            <a:ext cx="1551933" cy="135508"/>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 name="椭圆 16"/>
          <p:cNvSpPr/>
          <p:nvPr/>
        </p:nvSpPr>
        <p:spPr>
          <a:xfrm>
            <a:off x="6509658" y="3183972"/>
            <a:ext cx="685800" cy="446315"/>
          </a:xfrm>
          <a:prstGeom prst="ellipse">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Light" panose="020B0502040204020203" pitchFamily="34" charset="-122"/>
                <a:ea typeface="微软雅黑 Light" panose="020B0502040204020203" pitchFamily="34" charset="-122"/>
              </a:rPr>
              <a:t>被管设备</a:t>
            </a:r>
          </a:p>
        </p:txBody>
      </p:sp>
      <p:cxnSp>
        <p:nvCxnSpPr>
          <p:cNvPr id="18" name="直接箭头连接符 17"/>
          <p:cNvCxnSpPr>
            <a:stCxn id="8" idx="3"/>
            <a:endCxn id="17" idx="2"/>
          </p:cNvCxnSpPr>
          <p:nvPr/>
        </p:nvCxnSpPr>
        <p:spPr>
          <a:xfrm>
            <a:off x="3967125" y="3407130"/>
            <a:ext cx="2542533"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a:stCxn id="6" idx="3"/>
            <a:endCxn id="8" idx="1"/>
          </p:cNvCxnSpPr>
          <p:nvPr/>
        </p:nvCxnSpPr>
        <p:spPr>
          <a:xfrm>
            <a:off x="2279089" y="3407130"/>
            <a:ext cx="1327242" cy="0"/>
          </a:xfrm>
          <a:prstGeom prst="straightConnector1">
            <a:avLst/>
          </a:prstGeom>
          <a:ln w="19050">
            <a:solidFill>
              <a:srgbClr val="0066FF"/>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7" name="矩形 26"/>
          <p:cNvSpPr/>
          <p:nvPr/>
        </p:nvSpPr>
        <p:spPr>
          <a:xfrm>
            <a:off x="2530138" y="3132387"/>
            <a:ext cx="686406" cy="307777"/>
          </a:xfrm>
          <a:prstGeom prst="rect">
            <a:avLst/>
          </a:prstGeom>
        </p:spPr>
        <p:txBody>
          <a:bodyPr wrap="none">
            <a:spAutoFit/>
          </a:bodyPr>
          <a:lstStyle/>
          <a:p>
            <a:r>
              <a:rPr lang="en-US" altLang="zh-CN" sz="1400" b="1" dirty="0">
                <a:latin typeface="微软雅黑 Light" panose="020B0502040204020203" pitchFamily="34" charset="-122"/>
                <a:ea typeface="微软雅黑 Light" panose="020B0502040204020203" pitchFamily="34" charset="-122"/>
              </a:rPr>
              <a:t>SNMP</a:t>
            </a:r>
            <a:endParaRPr lang="zh-CN" altLang="en-US" sz="1400" dirty="0">
              <a:latin typeface="Montserrat" panose="00000500000000000000" pitchFamily="2" charset="0"/>
              <a:ea typeface="微软雅黑 Light" panose="020B0502040204020203" pitchFamily="34" charset="-122"/>
            </a:endParaRPr>
          </a:p>
        </p:txBody>
      </p:sp>
      <p:sp>
        <p:nvSpPr>
          <p:cNvPr id="28" name="矩形 27"/>
          <p:cNvSpPr/>
          <p:nvPr/>
        </p:nvSpPr>
        <p:spPr>
          <a:xfrm>
            <a:off x="4487976" y="3111367"/>
            <a:ext cx="902811" cy="307777"/>
          </a:xfrm>
          <a:prstGeom prst="rect">
            <a:avLst/>
          </a:prstGeom>
        </p:spPr>
        <p:txBody>
          <a:bodyPr wrap="none">
            <a:spAutoFit/>
          </a:bodyPr>
          <a:lstStyle/>
          <a:p>
            <a:r>
              <a:rPr lang="zh-CN" altLang="en-US" sz="1400" b="1" dirty="0">
                <a:latin typeface="微软雅黑 Light" panose="020B0502040204020203" pitchFamily="34" charset="-122"/>
                <a:ea typeface="微软雅黑 Light" panose="020B0502040204020203" pitchFamily="34" charset="-122"/>
              </a:rPr>
              <a:t>专用协议</a:t>
            </a:r>
          </a:p>
        </p:txBody>
      </p:sp>
    </p:spTree>
    <p:extLst>
      <p:ext uri="{BB962C8B-B14F-4D97-AF65-F5344CB8AC3E}">
        <p14:creationId xmlns:p14="http://schemas.microsoft.com/office/powerpoint/2010/main" val="132777934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37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23640" y="579167"/>
            <a:ext cx="251543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网络管理组成</a:t>
            </a:r>
          </a:p>
        </p:txBody>
      </p:sp>
      <p:sp>
        <p:nvSpPr>
          <p:cNvPr id="4" name="Rectangle 68"/>
          <p:cNvSpPr>
            <a:spLocks noChangeArrowheads="1"/>
          </p:cNvSpPr>
          <p:nvPr/>
        </p:nvSpPr>
        <p:spPr bwMode="auto">
          <a:xfrm>
            <a:off x="483810" y="973468"/>
            <a:ext cx="8229537"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的网络管理由三个部分组成：</a:t>
            </a:r>
          </a:p>
          <a:p>
            <a:pPr marL="720725" indent="-360363" eaLnBrk="0" hangingPunct="0">
              <a:lnSpc>
                <a:spcPts val="3300"/>
              </a:lnSpc>
              <a:buClr>
                <a:srgbClr val="9900CC"/>
              </a:buClr>
              <a:buFont typeface="+mj-lt"/>
              <a:buAutoNum type="arabicPeriod"/>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本身</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管理信息结构 </a:t>
            </a:r>
            <a:r>
              <a:rPr lang="en-US" altLang="zh-CN" sz="2000" b="1" dirty="0">
                <a:latin typeface="微软雅黑 Light" panose="020B0502040204020203" pitchFamily="34" charset="-122"/>
                <a:ea typeface="微软雅黑 Light" panose="020B0502040204020203" pitchFamily="34" charset="-122"/>
              </a:rPr>
              <a:t>SMI (Structure of Management Information)</a:t>
            </a:r>
          </a:p>
          <a:p>
            <a:pPr marL="720725" indent="-360363"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36775145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35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2276" y="576148"/>
            <a:ext cx="311816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简单网络管理协议 </a:t>
            </a:r>
            <a:r>
              <a:rPr lang="en-US" altLang="zh-CN" sz="2000" b="1" dirty="0">
                <a:solidFill>
                  <a:schemeClr val="bg1"/>
                </a:solidFill>
                <a:latin typeface="微软雅黑 Light" panose="020B0502040204020203" pitchFamily="34" charset="-122"/>
                <a:ea typeface="微软雅黑 Light" panose="020B0502040204020203" pitchFamily="34" charset="-122"/>
              </a:rPr>
              <a:t>SNMP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0449"/>
            <a:ext cx="812192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定义了管理站和代理之间所交换的</a:t>
            </a:r>
            <a:r>
              <a:rPr lang="zh-CN" altLang="en-US" sz="2000" b="1" dirty="0">
                <a:solidFill>
                  <a:srgbClr val="C00000"/>
                </a:solidFill>
                <a:latin typeface="微软雅黑 Light" panose="020B0502040204020203" pitchFamily="34" charset="-122"/>
                <a:ea typeface="微软雅黑 Light" panose="020B0502040204020203" pitchFamily="34" charset="-122"/>
              </a:rPr>
              <a:t>分组格式。</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所交换的分组包含各代理中的对象（</a:t>
            </a:r>
            <a:r>
              <a:rPr lang="zh-CN" altLang="en-US" sz="2000" b="1" dirty="0">
                <a:solidFill>
                  <a:srgbClr val="C00000"/>
                </a:solidFill>
                <a:latin typeface="微软雅黑 Light" panose="020B0502040204020203" pitchFamily="34" charset="-122"/>
                <a:ea typeface="微软雅黑 Light" panose="020B0502040204020203" pitchFamily="34" charset="-122"/>
              </a:rPr>
              <a:t>变量</a:t>
            </a:r>
            <a:r>
              <a:rPr lang="zh-CN" altLang="en-US" sz="2000" b="1" dirty="0">
                <a:latin typeface="微软雅黑 Light" panose="020B0502040204020203" pitchFamily="34" charset="-122"/>
                <a:ea typeface="微软雅黑 Light" panose="020B0502040204020203" pitchFamily="34" charset="-122"/>
              </a:rPr>
              <a:t>）名及其状态（</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负责读取和改变这些数值。 </a:t>
            </a:r>
          </a:p>
        </p:txBody>
      </p:sp>
    </p:spTree>
    <p:extLst>
      <p:ext uri="{BB962C8B-B14F-4D97-AF65-F5344CB8AC3E}">
        <p14:creationId xmlns:p14="http://schemas.microsoft.com/office/powerpoint/2010/main" val="776911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53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28637" y="580321"/>
            <a:ext cx="230543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000" b="1" dirty="0">
                <a:solidFill>
                  <a:schemeClr val="bg1"/>
                </a:solidFill>
                <a:latin typeface="微软雅黑 Light" panose="020B0502040204020203" pitchFamily="34" charset="-122"/>
                <a:ea typeface="微软雅黑 Light" panose="020B0502040204020203" pitchFamily="34" charset="-122"/>
              </a:rPr>
              <a:t>SMI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462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定义了命名对象和定义对象类型（包括范围和长度）的</a:t>
            </a:r>
            <a:r>
              <a:rPr lang="zh-CN" altLang="en-US" sz="2000" b="1" dirty="0">
                <a:solidFill>
                  <a:srgbClr val="C00000"/>
                </a:solidFill>
                <a:latin typeface="微软雅黑 Light" panose="020B0502040204020203" pitchFamily="34" charset="-122"/>
                <a:ea typeface="微软雅黑 Light" panose="020B0502040204020203" pitchFamily="34" charset="-122"/>
              </a:rPr>
              <a:t>通用规则，</a:t>
            </a:r>
            <a:r>
              <a:rPr lang="zh-CN" altLang="en-US" sz="2000" b="1" dirty="0">
                <a:latin typeface="微软雅黑 Light" panose="020B0502040204020203" pitchFamily="34" charset="-122"/>
                <a:ea typeface="微软雅黑 Light" panose="020B0502040204020203" pitchFamily="34" charset="-122"/>
              </a:rPr>
              <a:t>以及把对象和对象的值进行</a:t>
            </a:r>
            <a:r>
              <a:rPr lang="zh-CN" altLang="en-US" sz="2000" b="1" dirty="0">
                <a:solidFill>
                  <a:srgbClr val="C00000"/>
                </a:solidFill>
                <a:latin typeface="微软雅黑 Light" panose="020B0502040204020203" pitchFamily="34" charset="-122"/>
                <a:ea typeface="微软雅黑 Light" panose="020B0502040204020203" pitchFamily="34" charset="-122"/>
              </a:rPr>
              <a:t>编码的规则，</a:t>
            </a:r>
            <a:r>
              <a:rPr lang="zh-CN" altLang="en-US" sz="2000" b="1" dirty="0">
                <a:latin typeface="微软雅黑 Light" panose="020B0502040204020203" pitchFamily="34" charset="-122"/>
                <a:ea typeface="微软雅黑 Light" panose="020B0502040204020203" pitchFamily="34" charset="-122"/>
              </a:rPr>
              <a:t>以确保网络管理数据的语法和语义的</a:t>
            </a:r>
            <a:r>
              <a:rPr lang="zh-CN" altLang="en-US" sz="2000" b="1" dirty="0">
                <a:solidFill>
                  <a:srgbClr val="C00000"/>
                </a:solidFill>
                <a:latin typeface="微软雅黑 Light" panose="020B0502040204020203" pitchFamily="34" charset="-122"/>
                <a:ea typeface="微软雅黑 Light" panose="020B0502040204020203" pitchFamily="34" charset="-122"/>
              </a:rPr>
              <a:t>无二义性。</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但从 </a:t>
            </a: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的名称并不能看出它的功能。</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并不定义一个实体应管理的对象数目，也不定义被管对象名以及对象名及其值之间的关联。 </a:t>
            </a:r>
          </a:p>
        </p:txBody>
      </p:sp>
    </p:spTree>
    <p:extLst>
      <p:ext uri="{BB962C8B-B14F-4D97-AF65-F5344CB8AC3E}">
        <p14:creationId xmlns:p14="http://schemas.microsoft.com/office/powerpoint/2010/main" val="217814332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46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257"/>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000" b="1" dirty="0">
                <a:solidFill>
                  <a:schemeClr val="bg1"/>
                </a:solidFill>
                <a:latin typeface="微软雅黑 Light" panose="020B0502040204020203" pitchFamily="34" charset="-122"/>
                <a:ea typeface="微软雅黑 Light" panose="020B0502040204020203" pitchFamily="34" charset="-122"/>
              </a:rPr>
              <a:t>MIB</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2" y="977090"/>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在被管理的实体中创建了命名对象，并规定了其类型。</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中的信息，对网络进行管理。</a:t>
            </a:r>
          </a:p>
        </p:txBody>
      </p:sp>
      <p:grpSp>
        <p:nvGrpSpPr>
          <p:cNvPr id="49" name="组合 48"/>
          <p:cNvGrpSpPr/>
          <p:nvPr/>
        </p:nvGrpSpPr>
        <p:grpSpPr>
          <a:xfrm>
            <a:off x="1835104" y="2207578"/>
            <a:ext cx="5543157" cy="1767025"/>
            <a:chOff x="1835104" y="2394925"/>
            <a:chExt cx="5543157" cy="1767025"/>
          </a:xfrm>
        </p:grpSpPr>
        <p:sp>
          <p:nvSpPr>
            <p:cNvPr id="9" name="Rectangle 6"/>
            <p:cNvSpPr>
              <a:spLocks noChangeArrowheads="1"/>
            </p:cNvSpPr>
            <p:nvPr/>
          </p:nvSpPr>
          <p:spPr bwMode="auto">
            <a:xfrm>
              <a:off x="2887011" y="2394925"/>
              <a:ext cx="3171626" cy="503798"/>
            </a:xfrm>
            <a:prstGeom prst="rect">
              <a:avLst/>
            </a:prstGeom>
            <a:solidFill>
              <a:srgbClr val="0000FF"/>
            </a:solidFill>
            <a:ln w="9525" algn="ctr">
              <a:solidFill>
                <a:srgbClr val="3333CC"/>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Oval 7"/>
            <p:cNvSpPr>
              <a:spLocks noChangeArrowheads="1"/>
            </p:cNvSpPr>
            <p:nvPr/>
          </p:nvSpPr>
          <p:spPr bwMode="auto">
            <a:xfrm>
              <a:off x="3677027" y="2491209"/>
              <a:ext cx="1677835" cy="316654"/>
            </a:xfrm>
            <a:prstGeom prst="ellipse">
              <a:avLst/>
            </a:prstGeom>
            <a:solidFill>
              <a:srgbClr val="CCFFFF"/>
            </a:solidFill>
            <a:ln w="9525" algn="ctr">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400" b="1" dirty="0">
                  <a:latin typeface="微软雅黑 Light" panose="020B0502040204020203" pitchFamily="34" charset="-122"/>
                  <a:ea typeface="微软雅黑 Light" panose="020B0502040204020203" pitchFamily="34" charset="-122"/>
                </a:rPr>
                <a:t>管理程序</a:t>
              </a:r>
            </a:p>
          </p:txBody>
        </p:sp>
        <p:grpSp>
          <p:nvGrpSpPr>
            <p:cNvPr id="11" name="Group 8"/>
            <p:cNvGrpSpPr>
              <a:grpSpLocks/>
            </p:cNvGrpSpPr>
            <p:nvPr/>
          </p:nvGrpSpPr>
          <p:grpSpPr bwMode="auto">
            <a:xfrm>
              <a:off x="2079045" y="3572038"/>
              <a:ext cx="1452049" cy="589912"/>
              <a:chOff x="818" y="2788"/>
              <a:chExt cx="1203" cy="870"/>
            </a:xfrm>
          </p:grpSpPr>
          <p:sp>
            <p:nvSpPr>
              <p:cNvPr id="29"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31"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14" name="Line 20"/>
            <p:cNvSpPr>
              <a:spLocks noChangeShapeType="1"/>
            </p:cNvSpPr>
            <p:nvPr/>
          </p:nvSpPr>
          <p:spPr bwMode="auto">
            <a:xfrm>
              <a:off x="1835104" y="3351667"/>
              <a:ext cx="5543157" cy="0"/>
            </a:xfrm>
            <a:prstGeom prst="line">
              <a:avLst/>
            </a:prstGeom>
            <a:noFill/>
            <a:ln w="571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21"/>
            <p:cNvSpPr>
              <a:spLocks noChangeShapeType="1"/>
            </p:cNvSpPr>
            <p:nvPr/>
          </p:nvSpPr>
          <p:spPr bwMode="auto">
            <a:xfrm flipH="1">
              <a:off x="2887011" y="2768536"/>
              <a:ext cx="1034520" cy="803500"/>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22"/>
            <p:cNvSpPr>
              <a:spLocks noChangeShapeType="1"/>
            </p:cNvSpPr>
            <p:nvPr/>
          </p:nvSpPr>
          <p:spPr bwMode="auto">
            <a:xfrm>
              <a:off x="4574625" y="2790912"/>
              <a:ext cx="226030" cy="775022"/>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23"/>
            <p:cNvSpPr>
              <a:spLocks noChangeShapeType="1"/>
            </p:cNvSpPr>
            <p:nvPr/>
          </p:nvSpPr>
          <p:spPr bwMode="auto">
            <a:xfrm>
              <a:off x="5146219" y="2751584"/>
              <a:ext cx="1387691" cy="808925"/>
            </a:xfrm>
            <a:prstGeom prst="line">
              <a:avLst/>
            </a:prstGeom>
            <a:noFill/>
            <a:ln w="38100">
              <a:solidFill>
                <a:srgbClr val="CC00CC"/>
              </a:solidFill>
              <a:round/>
              <a:headEnd type="triangl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Text Box 24"/>
            <p:cNvSpPr txBox="1">
              <a:spLocks noChangeArrowheads="1"/>
            </p:cNvSpPr>
            <p:nvPr/>
          </p:nvSpPr>
          <p:spPr bwMode="auto">
            <a:xfrm>
              <a:off x="2755539" y="2973988"/>
              <a:ext cx="61427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eaLnBrk="0" hangingPunct="0"/>
              <a:r>
                <a:rPr lang="en-US" altLang="zh-CN" sz="1200" b="1" dirty="0">
                  <a:latin typeface="微软雅黑 Light" panose="020B0502040204020203" pitchFamily="34" charset="-122"/>
                  <a:ea typeface="微软雅黑 Light" panose="020B0502040204020203" pitchFamily="34" charset="-122"/>
                </a:rPr>
                <a:t>SNMP</a:t>
              </a:r>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25"/>
            <p:cNvSpPr>
              <a:spLocks noChangeShapeType="1"/>
            </p:cNvSpPr>
            <p:nvPr/>
          </p:nvSpPr>
          <p:spPr bwMode="auto">
            <a:xfrm>
              <a:off x="4511598" y="2898723"/>
              <a:ext cx="0" cy="45836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6"/>
            <p:cNvSpPr>
              <a:spLocks noChangeShapeType="1"/>
            </p:cNvSpPr>
            <p:nvPr/>
          </p:nvSpPr>
          <p:spPr bwMode="auto">
            <a:xfrm>
              <a:off x="2806596" y="3351667"/>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7"/>
            <p:cNvSpPr>
              <a:spLocks noChangeShapeType="1"/>
            </p:cNvSpPr>
            <p:nvPr/>
          </p:nvSpPr>
          <p:spPr bwMode="auto">
            <a:xfrm>
              <a:off x="4875636" y="3346920"/>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8"/>
            <p:cNvSpPr>
              <a:spLocks noChangeShapeType="1"/>
            </p:cNvSpPr>
            <p:nvPr/>
          </p:nvSpPr>
          <p:spPr bwMode="auto">
            <a:xfrm>
              <a:off x="6599111" y="3353023"/>
              <a:ext cx="0" cy="226472"/>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Group 8"/>
            <p:cNvGrpSpPr>
              <a:grpSpLocks/>
            </p:cNvGrpSpPr>
            <p:nvPr/>
          </p:nvGrpSpPr>
          <p:grpSpPr bwMode="auto">
            <a:xfrm>
              <a:off x="4162395" y="3572038"/>
              <a:ext cx="1452049" cy="589912"/>
              <a:chOff x="818" y="2788"/>
              <a:chExt cx="1203" cy="870"/>
            </a:xfrm>
          </p:grpSpPr>
          <p:sp>
            <p:nvSpPr>
              <p:cNvPr id="42"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4"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nvGrpSpPr>
            <p:cNvPr id="45" name="Group 8"/>
            <p:cNvGrpSpPr>
              <a:grpSpLocks/>
            </p:cNvGrpSpPr>
            <p:nvPr/>
          </p:nvGrpSpPr>
          <p:grpSpPr bwMode="auto">
            <a:xfrm>
              <a:off x="5873086" y="3572038"/>
              <a:ext cx="1452049" cy="589912"/>
              <a:chOff x="818" y="2788"/>
              <a:chExt cx="1203" cy="870"/>
            </a:xfrm>
          </p:grpSpPr>
          <p:sp>
            <p:nvSpPr>
              <p:cNvPr id="46" name="Rectangle 9"/>
              <p:cNvSpPr>
                <a:spLocks noChangeArrowheads="1"/>
              </p:cNvSpPr>
              <p:nvPr/>
            </p:nvSpPr>
            <p:spPr bwMode="auto">
              <a:xfrm>
                <a:off x="818" y="2788"/>
                <a:ext cx="1202" cy="743"/>
              </a:xfrm>
              <a:prstGeom prst="rect">
                <a:avLst/>
              </a:prstGeom>
              <a:solidFill>
                <a:srgbClr val="66CC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Rectangle 10"/>
              <p:cNvSpPr>
                <a:spLocks noChangeArrowheads="1"/>
              </p:cNvSpPr>
              <p:nvPr/>
            </p:nvSpPr>
            <p:spPr bwMode="auto">
              <a:xfrm>
                <a:off x="1110" y="2788"/>
                <a:ext cx="618" cy="284"/>
              </a:xfrm>
              <a:prstGeom prst="rect">
                <a:avLst/>
              </a:prstGeom>
              <a:solidFill>
                <a:srgbClr val="CC00CC"/>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代理</a:t>
                </a:r>
              </a:p>
            </p:txBody>
          </p:sp>
          <p:sp>
            <p:nvSpPr>
              <p:cNvPr id="48" name="Rectangle 11"/>
              <p:cNvSpPr>
                <a:spLocks noChangeArrowheads="1"/>
              </p:cNvSpPr>
              <p:nvPr/>
            </p:nvSpPr>
            <p:spPr bwMode="auto">
              <a:xfrm>
                <a:off x="819" y="3198"/>
                <a:ext cx="1202" cy="460"/>
              </a:xfrm>
              <a:prstGeom prst="rect">
                <a:avLst/>
              </a:prstGeom>
              <a:solidFill>
                <a:srgbClr val="009900"/>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0" hangingPunct="0"/>
                <a:r>
                  <a:rPr lang="zh-CN" altLang="en-US" sz="12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1200" b="1" dirty="0">
                    <a:solidFill>
                      <a:schemeClr val="bg1"/>
                    </a:solidFill>
                    <a:latin typeface="微软雅黑 Light" panose="020B0502040204020203" pitchFamily="34" charset="-122"/>
                    <a:ea typeface="微软雅黑 Light" panose="020B0502040204020203" pitchFamily="34" charset="-122"/>
                  </a:rPr>
                  <a:t>(MIB)</a:t>
                </a:r>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grpSp>
    </p:spTree>
    <p:extLst>
      <p:ext uri="{BB962C8B-B14F-4D97-AF65-F5344CB8AC3E}">
        <p14:creationId xmlns:p14="http://schemas.microsoft.com/office/powerpoint/2010/main" val="15481775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01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786098" y="573748"/>
            <a:ext cx="357181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6.7.2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管理信息结构 </a:t>
            </a:r>
            <a:r>
              <a:rPr lang="en-US" altLang="zh-CN" sz="2400" b="1" dirty="0">
                <a:solidFill>
                  <a:schemeClr val="bg1"/>
                </a:solidFill>
                <a:latin typeface="微软雅黑 Light" panose="020B0502040204020203" pitchFamily="34" charset="-122"/>
                <a:ea typeface="微软雅黑 Light" panose="020B0502040204020203" pitchFamily="34" charset="-122"/>
              </a:rPr>
              <a:t>SMI</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1359"/>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300"/>
              </a:lnSpc>
              <a:buClr>
                <a:srgbClr val="0070C0"/>
              </a:buClr>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的功能：</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被管对象应怎样命名；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用来存储被管对象的数据类型有哪些种；</a:t>
            </a:r>
          </a:p>
          <a:p>
            <a:pPr marL="355600" indent="-342900"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在网络上传送的管理数据应如何编码。 </a:t>
            </a:r>
          </a:p>
        </p:txBody>
      </p:sp>
    </p:spTree>
    <p:extLst>
      <p:ext uri="{BB962C8B-B14F-4D97-AF65-F5344CB8AC3E}">
        <p14:creationId xmlns:p14="http://schemas.microsoft.com/office/powerpoint/2010/main" val="2701905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070847"/>
            <a:ext cx="7020910" cy="489206"/>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21796249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1554307"/>
            <a:ext cx="7020910" cy="76411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084428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0918094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998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606569" y="576769"/>
            <a:ext cx="194957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使用 </a:t>
            </a:r>
            <a:r>
              <a:rPr lang="en-US" altLang="zh-CN" sz="2000" b="1" dirty="0">
                <a:solidFill>
                  <a:schemeClr val="bg1"/>
                </a:solidFill>
                <a:latin typeface="微软雅黑 Light" panose="020B0502040204020203" pitchFamily="34" charset="-122"/>
                <a:ea typeface="微软雅黑 Light" panose="020B0502040204020203" pitchFamily="34" charset="-122"/>
              </a:rPr>
              <a:t>ASN.1</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1" y="971070"/>
            <a:ext cx="8121928"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标准指明：所有的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变量必须使用</a:t>
            </a:r>
            <a:r>
              <a:rPr lang="zh-CN" altLang="en-US" sz="2000" b="1" dirty="0">
                <a:solidFill>
                  <a:srgbClr val="C00000"/>
                </a:solidFill>
                <a:latin typeface="微软雅黑 Light" panose="020B0502040204020203" pitchFamily="34" charset="-122"/>
                <a:ea typeface="微软雅黑 Light" panose="020B0502040204020203" pitchFamily="34" charset="-122"/>
              </a:rPr>
              <a:t>抽象语法记法 </a:t>
            </a:r>
            <a:r>
              <a:rPr lang="en-US" altLang="zh-CN" sz="2000" b="1" dirty="0">
                <a:solidFill>
                  <a:srgbClr val="C00000"/>
                </a:solidFill>
                <a:latin typeface="微软雅黑 Light" panose="020B0502040204020203" pitchFamily="34" charset="-122"/>
                <a:ea typeface="微软雅黑 Light" panose="020B0502040204020203" pitchFamily="34" charset="-122"/>
              </a:rPr>
              <a:t>1 </a:t>
            </a:r>
            <a:r>
              <a:rPr lang="en-US" altLang="zh-CN" sz="2000" b="1" dirty="0">
                <a:latin typeface="微软雅黑 Light" panose="020B0502040204020203" pitchFamily="34" charset="-122"/>
                <a:ea typeface="微软雅黑 Light" panose="020B0502040204020203" pitchFamily="34" charset="-122"/>
              </a:rPr>
              <a:t>(</a:t>
            </a:r>
            <a:r>
              <a:rPr lang="en-US" altLang="zh-CN" sz="2000" b="1" dirty="0">
                <a:solidFill>
                  <a:srgbClr val="C00000"/>
                </a:solidFill>
                <a:latin typeface="微软雅黑 Light" panose="020B0502040204020203" pitchFamily="34" charset="-122"/>
                <a:ea typeface="微软雅黑 Light" panose="020B0502040204020203" pitchFamily="34" charset="-122"/>
              </a:rPr>
              <a:t>ASN.1</a:t>
            </a:r>
            <a:r>
              <a:rPr lang="en-US" altLang="zh-CN" sz="2000" b="1" dirty="0">
                <a:latin typeface="微软雅黑 Light" panose="020B0502040204020203" pitchFamily="34" charset="-122"/>
                <a:ea typeface="微软雅黑 Light" panose="020B0502040204020203" pitchFamily="34" charset="-122"/>
              </a:rPr>
              <a:t>) </a:t>
            </a:r>
            <a:r>
              <a:rPr lang="zh-CN" altLang="en-US" sz="2000" b="1" dirty="0">
                <a:latin typeface="微软雅黑 Light" panose="020B0502040204020203" pitchFamily="34" charset="-122"/>
                <a:ea typeface="微软雅黑 Light" panose="020B0502040204020203" pitchFamily="34" charset="-122"/>
              </a:rPr>
              <a:t>来定义。</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SMI </a:t>
            </a:r>
            <a:r>
              <a:rPr lang="zh-CN" altLang="en-US" sz="2000" b="1" dirty="0">
                <a:latin typeface="微软雅黑 Light" panose="020B0502040204020203" pitchFamily="34" charset="-122"/>
                <a:ea typeface="微软雅黑 Light" panose="020B0502040204020203" pitchFamily="34" charset="-122"/>
              </a:rPr>
              <a:t>既是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的子集，又是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的超集。 </a:t>
            </a:r>
          </a:p>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的记法很严格，使得数据的含义</a:t>
            </a:r>
            <a:r>
              <a:rPr lang="zh-CN" altLang="en-US" sz="2000" b="1" dirty="0">
                <a:solidFill>
                  <a:srgbClr val="C00000"/>
                </a:solidFill>
                <a:latin typeface="微软雅黑 Light" panose="020B0502040204020203" pitchFamily="34" charset="-122"/>
                <a:ea typeface="微软雅黑 Light" panose="020B0502040204020203" pitchFamily="34" charset="-122"/>
              </a:rPr>
              <a:t>不存在</a:t>
            </a:r>
            <a:r>
              <a:rPr lang="zh-CN" altLang="en-US" sz="2000" b="1" dirty="0">
                <a:latin typeface="微软雅黑 Light" panose="020B0502040204020203" pitchFamily="34" charset="-122"/>
                <a:ea typeface="微软雅黑 Light" panose="020B0502040204020203" pitchFamily="34" charset="-122"/>
              </a:rPr>
              <a:t>任何可能的</a:t>
            </a:r>
            <a:r>
              <a:rPr lang="zh-CN" altLang="en-US" sz="2000" b="1" dirty="0">
                <a:solidFill>
                  <a:srgbClr val="C00000"/>
                </a:solidFill>
                <a:latin typeface="微软雅黑 Light" panose="020B0502040204020203" pitchFamily="34" charset="-122"/>
                <a:ea typeface="微软雅黑 Light" panose="020B0502040204020203" pitchFamily="34" charset="-122"/>
              </a:rPr>
              <a:t>二义性</a:t>
            </a:r>
            <a:r>
              <a:rPr lang="zh-CN" altLang="en-US" sz="2000" b="1" dirty="0">
                <a:latin typeface="微软雅黑 Light" panose="020B0502040204020203" pitchFamily="34" charset="-122"/>
                <a:ea typeface="微软雅黑 Light" panose="020B0502040204020203" pitchFamily="34" charset="-122"/>
              </a:rPr>
              <a:t>。</a:t>
            </a:r>
          </a:p>
        </p:txBody>
      </p:sp>
    </p:spTree>
    <p:extLst>
      <p:ext uri="{BB962C8B-B14F-4D97-AF65-F5344CB8AC3E}">
        <p14:creationId xmlns:p14="http://schemas.microsoft.com/office/powerpoint/2010/main" val="16364589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32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22787" y="578112"/>
            <a:ext cx="17171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数据类型</a:t>
            </a:r>
          </a:p>
        </p:txBody>
      </p:sp>
      <p:sp>
        <p:nvSpPr>
          <p:cNvPr id="4" name="Rectangle 68"/>
          <p:cNvSpPr>
            <a:spLocks noChangeArrowheads="1"/>
          </p:cNvSpPr>
          <p:nvPr/>
        </p:nvSpPr>
        <p:spPr bwMode="auto">
          <a:xfrm>
            <a:off x="556963" y="2446042"/>
            <a:ext cx="8030709"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SMI </a:t>
            </a:r>
            <a:r>
              <a:rPr lang="zh-CN" altLang="en-US" sz="2000" b="1" dirty="0">
                <a:solidFill>
                  <a:srgbClr val="0000FF"/>
                </a:solidFill>
                <a:latin typeface="微软雅黑 Light" panose="020B0502040204020203" pitchFamily="34" charset="-122"/>
                <a:ea typeface="微软雅黑 Light" panose="020B0502040204020203" pitchFamily="34" charset="-122"/>
              </a:rPr>
              <a:t>把数据类型分为两大类</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简单类型</a:t>
            </a:r>
            <a:endParaRPr lang="en-US" altLang="zh-CN" sz="2000" b="1" dirty="0">
              <a:latin typeface="微软雅黑 Light" panose="020B0502040204020203" pitchFamily="34" charset="-122"/>
              <a:ea typeface="微软雅黑 Light" panose="020B0502040204020203" pitchFamily="34" charset="-122"/>
            </a:endParaRPr>
          </a:p>
          <a:p>
            <a:pPr marL="914400" lvl="1" indent="-4572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结构化类型。 </a:t>
            </a:r>
          </a:p>
        </p:txBody>
      </p:sp>
      <p:grpSp>
        <p:nvGrpSpPr>
          <p:cNvPr id="9" name="组合 8"/>
          <p:cNvGrpSpPr/>
          <p:nvPr/>
        </p:nvGrpSpPr>
        <p:grpSpPr>
          <a:xfrm>
            <a:off x="2356587" y="1107030"/>
            <a:ext cx="4453041" cy="1223067"/>
            <a:chOff x="1124801" y="2309534"/>
            <a:chExt cx="4581132" cy="1223067"/>
          </a:xfrm>
        </p:grpSpPr>
        <p:sp>
          <p:nvSpPr>
            <p:cNvPr id="5" name="Text Box 4"/>
            <p:cNvSpPr txBox="1">
              <a:spLocks noChangeArrowheads="1"/>
            </p:cNvSpPr>
            <p:nvPr/>
          </p:nvSpPr>
          <p:spPr bwMode="auto">
            <a:xfrm>
              <a:off x="1124801" y="2714481"/>
              <a:ext cx="71769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2000" b="1" dirty="0">
                  <a:latin typeface="微软雅黑 Light" panose="020B0502040204020203" pitchFamily="34" charset="-122"/>
                  <a:ea typeface="微软雅黑 Light" panose="020B0502040204020203" pitchFamily="34" charset="-122"/>
                </a:rPr>
                <a:t>数据</a:t>
              </a:r>
            </a:p>
          </p:txBody>
        </p:sp>
        <p:sp>
          <p:nvSpPr>
            <p:cNvPr id="6" name="Text Box 4"/>
            <p:cNvSpPr txBox="1">
              <a:spLocks noChangeArrowheads="1"/>
            </p:cNvSpPr>
            <p:nvPr/>
          </p:nvSpPr>
          <p:spPr bwMode="auto">
            <a:xfrm>
              <a:off x="2039196" y="2309534"/>
              <a:ext cx="26588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类型：</a:t>
              </a:r>
              <a:r>
                <a:rPr lang="zh-CN" altLang="en-US" sz="2000" b="1" dirty="0">
                  <a:latin typeface="微软雅黑 Light" panose="020B0502040204020203" pitchFamily="34" charset="-122"/>
                  <a:ea typeface="微软雅黑 Light" panose="020B0502040204020203" pitchFamily="34" charset="-122"/>
                </a:rPr>
                <a:t>值集合的名字</a:t>
              </a:r>
            </a:p>
          </p:txBody>
        </p:sp>
        <p:sp>
          <p:nvSpPr>
            <p:cNvPr id="7" name="Text Box 4"/>
            <p:cNvSpPr txBox="1">
              <a:spLocks noChangeArrowheads="1"/>
            </p:cNvSpPr>
            <p:nvPr/>
          </p:nvSpPr>
          <p:spPr bwMode="auto">
            <a:xfrm>
              <a:off x="2039196" y="3132491"/>
              <a:ext cx="36667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某个值集合中的一个元素</a:t>
              </a:r>
            </a:p>
          </p:txBody>
        </p:sp>
        <p:sp>
          <p:nvSpPr>
            <p:cNvPr id="8" name="左大括号 7"/>
            <p:cNvSpPr/>
            <p:nvPr/>
          </p:nvSpPr>
          <p:spPr>
            <a:xfrm>
              <a:off x="1831347" y="2509589"/>
              <a:ext cx="184373" cy="822957"/>
            </a:xfrm>
            <a:prstGeom prst="leftBrace">
              <a:avLst>
                <a:gd name="adj1" fmla="val 27688"/>
                <a:gd name="adj2" fmla="val 50000"/>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21297864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346884" y="582835"/>
            <a:ext cx="246894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部分数据类型</a:t>
            </a:r>
          </a:p>
        </p:txBody>
      </p:sp>
      <p:graphicFrame>
        <p:nvGraphicFramePr>
          <p:cNvPr id="5" name="Group 4"/>
          <p:cNvGraphicFramePr>
            <a:graphicFrameLocks/>
          </p:cNvGraphicFramePr>
          <p:nvPr>
            <p:extLst>
              <p:ext uri="{D42A27DB-BD31-4B8C-83A1-F6EECF244321}">
                <p14:modId xmlns:p14="http://schemas.microsoft.com/office/powerpoint/2010/main" val="1761781977"/>
              </p:ext>
            </p:extLst>
          </p:nvPr>
        </p:nvGraphicFramePr>
        <p:xfrm>
          <a:off x="556963" y="1039842"/>
          <a:ext cx="8048775" cy="3116772"/>
        </p:xfrm>
        <a:graphic>
          <a:graphicData uri="http://schemas.openxmlformats.org/drawingml/2006/table">
            <a:tbl>
              <a:tblPr firstRow="1" bandRow="1">
                <a:tableStyleId>{7DF18680-E054-41AD-8BC1-D1AEF772440D}</a:tableStyleId>
              </a:tblPr>
              <a:tblGrid>
                <a:gridCol w="986078">
                  <a:extLst>
                    <a:ext uri="{9D8B030D-6E8A-4147-A177-3AD203B41FA5}">
                      <a16:colId xmlns:a16="http://schemas.microsoft.com/office/drawing/2014/main" val="20000"/>
                    </a:ext>
                  </a:extLst>
                </a:gridCol>
                <a:gridCol w="2835764">
                  <a:extLst>
                    <a:ext uri="{9D8B030D-6E8A-4147-A177-3AD203B41FA5}">
                      <a16:colId xmlns:a16="http://schemas.microsoft.com/office/drawing/2014/main" val="20001"/>
                    </a:ext>
                  </a:extLst>
                </a:gridCol>
                <a:gridCol w="4226933">
                  <a:extLst>
                    <a:ext uri="{9D8B030D-6E8A-4147-A177-3AD203B41FA5}">
                      <a16:colId xmlns:a16="http://schemas.microsoft.com/office/drawing/2014/main" val="20002"/>
                    </a:ext>
                  </a:extLst>
                </a:gridCol>
              </a:tblGrid>
              <a:tr h="326739">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分类</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数据类型名称</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600" b="1"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rPr>
                        <a:t>含义</a:t>
                      </a:r>
                      <a:endParaRPr kumimoji="0" lang="zh-CN" altLang="en-US" sz="1600" b="1" i="0" u="none" strike="noStrike" cap="none" normalizeH="0" baseline="0" dirty="0">
                        <a:ln>
                          <a:noFill/>
                        </a:ln>
                        <a:solidFill>
                          <a:schemeClr val="bg1"/>
                        </a:solidFill>
                        <a:effectLst/>
                        <a:latin typeface="微软雅黑 Light" panose="020B0502040204020203" pitchFamily="34" charset="-122"/>
                        <a:ea typeface="微软雅黑 Light" panose="020B0502040204020203" pitchFamily="34" charset="-122"/>
                      </a:endParaRPr>
                    </a:p>
                  </a:txBody>
                  <a:tcPr anchor="ct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97036">
                <a:tc rowSpan="5">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简单类型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CCFF"/>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INTEGER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任意长度整数</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BIT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位或多位组成的二进制串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OCTET STRING</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0 </a:t>
                      </a: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位或多位组成的字节串</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NULL</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空值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343092">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OBJECT IDENTIFIER</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定义的数据类型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97036">
                <a:tc rowSpan="4">
                  <a:txBody>
                    <a:bodyPr/>
                    <a:lstStyle/>
                    <a:p>
                      <a:pPr marL="0" marR="0" lvl="0" indent="0" algn="ctr"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结构化类型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anchor="ctr" horzOverflow="overflow">
                    <a:lnL w="1270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由多个数据类型按序组成的值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SEQUENCE OF</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由同一数据类型按序组成的值</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CHOICE</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可以从多个数据类型中选择一个</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97036">
                <a:tc vMerge="1">
                  <a:txBody>
                    <a:bodyPr/>
                    <a:lstStyle/>
                    <a:p>
                      <a:endParaRPr lang="zh-CN" altLang="en-US"/>
                    </a:p>
                  </a:txBody>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en-US" altLang="zh-CN" sz="1400" b="1" u="none" strike="noStrike" cap="none" normalizeH="0" baseline="0" dirty="0">
                          <a:ln>
                            <a:noFill/>
                          </a:ln>
                          <a:effectLst/>
                          <a:latin typeface="微软雅黑 Light" panose="020B0502040204020203" pitchFamily="34" charset="-122"/>
                          <a:ea typeface="微软雅黑 Light" panose="020B0502040204020203" pitchFamily="34" charset="-122"/>
                        </a:rPr>
                        <a:t>ANY</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70000"/>
                        <a:buFont typeface="Wingdings" pitchFamily="2" charset="2"/>
                        <a:buNone/>
                        <a:tabLst/>
                      </a:pPr>
                      <a:r>
                        <a:rPr kumimoji="0" lang="zh-CN" altLang="en-US" sz="1400" b="1" u="none" strike="noStrike" cap="none" normalizeH="0" baseline="0" dirty="0">
                          <a:ln>
                            <a:noFill/>
                          </a:ln>
                          <a:effectLst/>
                          <a:latin typeface="微软雅黑 Light" panose="020B0502040204020203" pitchFamily="34" charset="-122"/>
                          <a:ea typeface="微软雅黑 Light" panose="020B0502040204020203" pitchFamily="34" charset="-122"/>
                        </a:rPr>
                        <a:t>任何数据类型</a:t>
                      </a:r>
                      <a:endPar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txBody>
                  <a:tcPr horzOverflow="overflow">
                    <a:lnL w="952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bl>
          </a:graphicData>
        </a:graphic>
      </p:graphicFrame>
    </p:spTree>
    <p:extLst>
      <p:ext uri="{BB962C8B-B14F-4D97-AF65-F5344CB8AC3E}">
        <p14:creationId xmlns:p14="http://schemas.microsoft.com/office/powerpoint/2010/main" val="1088375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00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60697" y="579789"/>
            <a:ext cx="224131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基本编码规则 </a:t>
            </a:r>
            <a:r>
              <a:rPr lang="en-US" altLang="zh-CN" sz="2000" b="1" dirty="0">
                <a:solidFill>
                  <a:schemeClr val="bg1"/>
                </a:solidFill>
                <a:latin typeface="微软雅黑 Light" panose="020B0502040204020203" pitchFamily="34" charset="-122"/>
                <a:ea typeface="微软雅黑 Light" panose="020B0502040204020203" pitchFamily="34" charset="-122"/>
              </a:rPr>
              <a:t>BER</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83810" y="974090"/>
            <a:ext cx="8257854"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ISO </a:t>
            </a:r>
            <a:r>
              <a:rPr lang="zh-CN" altLang="en-US" sz="2000" b="1" dirty="0">
                <a:latin typeface="微软雅黑 Light" panose="020B0502040204020203" pitchFamily="34" charset="-122"/>
                <a:ea typeface="微软雅黑 Light" panose="020B0502040204020203" pitchFamily="34" charset="-122"/>
              </a:rPr>
              <a:t>在制订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语言的同时也为它定义了一种标准的编码方案，即</a:t>
            </a:r>
            <a:r>
              <a:rPr lang="zh-CN" altLang="en-US" sz="2000" b="1" dirty="0">
                <a:solidFill>
                  <a:srgbClr val="C00000"/>
                </a:solidFill>
                <a:latin typeface="微软雅黑 Light" panose="020B0502040204020203" pitchFamily="34" charset="-122"/>
                <a:ea typeface="微软雅黑 Light" panose="020B0502040204020203" pitchFamily="34" charset="-122"/>
              </a:rPr>
              <a:t>基本编码规则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en-US" altLang="zh-CN" sz="2000" b="1" dirty="0">
                <a:latin typeface="微软雅黑 Light" panose="020B0502040204020203" pitchFamily="34" charset="-122"/>
                <a:ea typeface="微软雅黑 Light" panose="020B0502040204020203" pitchFamily="34" charset="-122"/>
              </a:rPr>
              <a:t>(Basic Encoding Rule)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 </a:t>
            </a:r>
            <a:r>
              <a:rPr lang="zh-CN" altLang="en-US" sz="2000" b="1" dirty="0">
                <a:solidFill>
                  <a:srgbClr val="0000FF"/>
                </a:solidFill>
                <a:latin typeface="微软雅黑 Light" panose="020B0502040204020203" pitchFamily="34" charset="-122"/>
                <a:ea typeface="微软雅黑 Light" panose="020B0502040204020203" pitchFamily="34" charset="-122"/>
              </a:rPr>
              <a:t>指明了每种数据类型中每个数据的值的表示。</a:t>
            </a:r>
          </a:p>
          <a:p>
            <a:pPr marL="342900" indent="-342900" eaLnBrk="0" hangingPunct="0">
              <a:lnSpc>
                <a:spcPts val="3300"/>
              </a:lnSpc>
              <a:buClr>
                <a:srgbClr val="0070C0"/>
              </a:buClr>
              <a:buFont typeface="Wingdings" pitchFamily="2" charset="2"/>
              <a:buChar char="l"/>
            </a:pPr>
            <a:r>
              <a:rPr lang="en-US" altLang="zh-CN" sz="2000" b="1" dirty="0">
                <a:solidFill>
                  <a:srgbClr val="C00000"/>
                </a:solidFill>
                <a:latin typeface="微软雅黑 Light" panose="020B0502040204020203" pitchFamily="34" charset="-122"/>
                <a:ea typeface="微软雅黑 Light" panose="020B0502040204020203" pitchFamily="34" charset="-122"/>
              </a:rPr>
              <a:t>SMI </a:t>
            </a:r>
            <a:r>
              <a:rPr lang="zh-CN" altLang="en-US" sz="2000" b="1" dirty="0">
                <a:solidFill>
                  <a:srgbClr val="C00000"/>
                </a:solidFill>
                <a:latin typeface="微软雅黑 Light" panose="020B0502040204020203" pitchFamily="34" charset="-122"/>
                <a:ea typeface="微软雅黑 Light" panose="020B0502040204020203" pitchFamily="34" charset="-122"/>
              </a:rPr>
              <a:t>使用 </a:t>
            </a:r>
            <a:r>
              <a:rPr lang="en-US" altLang="zh-CN" sz="2000" b="1" dirty="0">
                <a:solidFill>
                  <a:srgbClr val="C00000"/>
                </a:solidFill>
                <a:latin typeface="微软雅黑 Light" panose="020B0502040204020203" pitchFamily="34" charset="-122"/>
                <a:ea typeface="微软雅黑 Light" panose="020B0502040204020203" pitchFamily="34" charset="-122"/>
              </a:rPr>
              <a:t>ASN.1 </a:t>
            </a:r>
            <a:r>
              <a:rPr lang="zh-CN" altLang="en-US" sz="2000" b="1" dirty="0">
                <a:solidFill>
                  <a:srgbClr val="C00000"/>
                </a:solidFill>
                <a:latin typeface="微软雅黑 Light" panose="020B0502040204020203" pitchFamily="34" charset="-122"/>
                <a:ea typeface="微软雅黑 Light" panose="020B0502040204020203" pitchFamily="34" charset="-122"/>
              </a:rPr>
              <a:t>制定的 </a:t>
            </a:r>
            <a:r>
              <a:rPr lang="en-US" altLang="zh-CN" sz="2000" b="1" dirty="0">
                <a:solidFill>
                  <a:srgbClr val="C00000"/>
                </a:solidFill>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进行数据的编码。</a:t>
            </a:r>
            <a:endParaRPr lang="en-US" altLang="zh-CN" sz="2000" b="1" dirty="0">
              <a:solidFill>
                <a:srgbClr val="C00000"/>
              </a:solidFill>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发送端用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solidFill>
                  <a:srgbClr val="C00000"/>
                </a:solidFill>
                <a:latin typeface="微软雅黑 Light" panose="020B0502040204020203" pitchFamily="34" charset="-122"/>
                <a:ea typeface="微软雅黑 Light" panose="020B0502040204020203" pitchFamily="34" charset="-122"/>
              </a:rPr>
              <a:t>编码，</a:t>
            </a:r>
            <a:r>
              <a:rPr lang="zh-CN" altLang="en-US" sz="2000" b="1" dirty="0">
                <a:latin typeface="微软雅黑 Light" panose="020B0502040204020203" pitchFamily="34" charset="-122"/>
                <a:ea typeface="微软雅黑 Light" panose="020B0502040204020203" pitchFamily="34" charset="-122"/>
              </a:rPr>
              <a:t>可将用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所表述的报文转换成</a:t>
            </a:r>
            <a:r>
              <a:rPr lang="zh-CN" altLang="en-US" sz="2000" b="1" dirty="0">
                <a:solidFill>
                  <a:srgbClr val="C00000"/>
                </a:solidFill>
                <a:latin typeface="微软雅黑 Light" panose="020B0502040204020203" pitchFamily="34" charset="-122"/>
                <a:ea typeface="微软雅黑 Light" panose="020B0502040204020203" pitchFamily="34" charset="-122"/>
              </a:rPr>
              <a:t>唯一</a:t>
            </a:r>
            <a:r>
              <a:rPr lang="zh-CN" altLang="en-US" sz="2000" b="1" dirty="0">
                <a:latin typeface="微软雅黑 Light" panose="020B0502040204020203" pitchFamily="34" charset="-122"/>
                <a:ea typeface="微软雅黑 Light" panose="020B0502040204020203" pitchFamily="34" charset="-122"/>
              </a:rPr>
              <a:t>的比特序列。</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接收端用 </a:t>
            </a:r>
            <a:r>
              <a:rPr lang="en-US" altLang="zh-CN" sz="2000" b="1" dirty="0">
                <a:latin typeface="微软雅黑 Light" panose="020B0502040204020203" pitchFamily="34" charset="-122"/>
                <a:ea typeface="微软雅黑 Light" panose="020B0502040204020203" pitchFamily="34" charset="-122"/>
              </a:rPr>
              <a:t>BER </a:t>
            </a:r>
            <a:r>
              <a:rPr lang="zh-CN" altLang="en-US" sz="2000" b="1" dirty="0">
                <a:latin typeface="微软雅黑 Light" panose="020B0502040204020203" pitchFamily="34" charset="-122"/>
                <a:ea typeface="微软雅黑 Light" panose="020B0502040204020203" pitchFamily="34" charset="-122"/>
              </a:rPr>
              <a:t>进行</a:t>
            </a:r>
            <a:r>
              <a:rPr lang="zh-CN" altLang="en-US" sz="2000" b="1" dirty="0">
                <a:solidFill>
                  <a:srgbClr val="C00000"/>
                </a:solidFill>
                <a:latin typeface="微软雅黑 Light" panose="020B0502040204020203" pitchFamily="34" charset="-122"/>
                <a:ea typeface="微软雅黑 Light" panose="020B0502040204020203" pitchFamily="34" charset="-122"/>
              </a:rPr>
              <a:t>解码，</a:t>
            </a:r>
            <a:r>
              <a:rPr lang="zh-CN" altLang="en-US" sz="2000" b="1" dirty="0">
                <a:latin typeface="微软雅黑 Light" panose="020B0502040204020203" pitchFamily="34" charset="-122"/>
                <a:ea typeface="微软雅黑 Light" panose="020B0502040204020203" pitchFamily="34" charset="-122"/>
              </a:rPr>
              <a:t>得到该比特序列所表示的 </a:t>
            </a:r>
            <a:r>
              <a:rPr lang="en-US" altLang="zh-CN" sz="2000" b="1" dirty="0">
                <a:latin typeface="微软雅黑 Light" panose="020B0502040204020203" pitchFamily="34" charset="-122"/>
                <a:ea typeface="微软雅黑 Light" panose="020B0502040204020203" pitchFamily="34" charset="-122"/>
              </a:rPr>
              <a:t>ASN.1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9393379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77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80295" y="578563"/>
            <a:ext cx="260212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用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方法进行编码</a:t>
            </a:r>
          </a:p>
        </p:txBody>
      </p:sp>
      <p:sp>
        <p:nvSpPr>
          <p:cNvPr id="9" name="Rectangle 38"/>
          <p:cNvSpPr>
            <a:spLocks noChangeArrowheads="1"/>
          </p:cNvSpPr>
          <p:nvPr/>
        </p:nvSpPr>
        <p:spPr bwMode="auto">
          <a:xfrm>
            <a:off x="2298313" y="1488726"/>
            <a:ext cx="5820252" cy="432357"/>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0" name="Line 39"/>
          <p:cNvSpPr>
            <a:spLocks noChangeShapeType="1"/>
          </p:cNvSpPr>
          <p:nvPr/>
        </p:nvSpPr>
        <p:spPr bwMode="auto">
          <a:xfrm>
            <a:off x="3580875" y="1501789"/>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Line 41"/>
          <p:cNvSpPr>
            <a:spLocks noChangeShapeType="1"/>
          </p:cNvSpPr>
          <p:nvPr/>
        </p:nvSpPr>
        <p:spPr bwMode="auto">
          <a:xfrm>
            <a:off x="4764415" y="1488726"/>
            <a:ext cx="0" cy="43235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3" name="Text Box 42"/>
          <p:cNvSpPr txBox="1">
            <a:spLocks noChangeArrowheads="1"/>
          </p:cNvSpPr>
          <p:nvPr/>
        </p:nvSpPr>
        <p:spPr bwMode="auto">
          <a:xfrm>
            <a:off x="2528218" y="1520238"/>
            <a:ext cx="391164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latin typeface="微软雅黑 Light" panose="020B0502040204020203" pitchFamily="34" charset="-122"/>
                <a:ea typeface="微软雅黑 Light" panose="020B0502040204020203" pitchFamily="34" charset="-122"/>
              </a:rPr>
              <a:t>标记 </a:t>
            </a:r>
            <a:r>
              <a:rPr lang="en-US" altLang="zh-CN" sz="1800" b="1" dirty="0">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9" name="Text Box 48"/>
          <p:cNvSpPr txBox="1">
            <a:spLocks noChangeArrowheads="1"/>
          </p:cNvSpPr>
          <p:nvPr/>
        </p:nvSpPr>
        <p:spPr bwMode="auto">
          <a:xfrm>
            <a:off x="1156764" y="1543868"/>
            <a:ext cx="130613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sp>
        <p:nvSpPr>
          <p:cNvPr id="20" name="矩形 19"/>
          <p:cNvSpPr/>
          <p:nvPr/>
        </p:nvSpPr>
        <p:spPr>
          <a:xfrm>
            <a:off x="5785787" y="2213950"/>
            <a:ext cx="1569660"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定义数据的值</a:t>
            </a:r>
          </a:p>
        </p:txBody>
      </p:sp>
      <p:grpSp>
        <p:nvGrpSpPr>
          <p:cNvPr id="26" name="组合 25"/>
          <p:cNvGrpSpPr/>
          <p:nvPr/>
        </p:nvGrpSpPr>
        <p:grpSpPr>
          <a:xfrm>
            <a:off x="5208439" y="1817107"/>
            <a:ext cx="577348" cy="581509"/>
            <a:chOff x="5208439" y="1841345"/>
            <a:chExt cx="577348" cy="581509"/>
          </a:xfrm>
        </p:grpSpPr>
        <p:cxnSp>
          <p:nvCxnSpPr>
            <p:cNvPr id="22" name="直接连接符 2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5" name="直接连接符 24"/>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7" name="组合 26"/>
          <p:cNvGrpSpPr/>
          <p:nvPr/>
        </p:nvGrpSpPr>
        <p:grpSpPr>
          <a:xfrm>
            <a:off x="3759386" y="1817107"/>
            <a:ext cx="577348" cy="1017636"/>
            <a:chOff x="5208439" y="1841345"/>
            <a:chExt cx="577348" cy="581509"/>
          </a:xfrm>
        </p:grpSpPr>
        <p:cxnSp>
          <p:nvCxnSpPr>
            <p:cNvPr id="28" name="直接连接符 27"/>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0" name="矩形 29"/>
          <p:cNvSpPr/>
          <p:nvPr/>
        </p:nvSpPr>
        <p:spPr>
          <a:xfrm>
            <a:off x="4317078" y="2638797"/>
            <a:ext cx="2103461"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 </a:t>
            </a:r>
            <a:r>
              <a:rPr lang="en-US" altLang="zh-CN" b="1" dirty="0">
                <a:latin typeface="微软雅黑 Light" panose="020B0502040204020203" pitchFamily="34" charset="-122"/>
                <a:ea typeface="微软雅黑 Light" panose="020B0502040204020203" pitchFamily="34" charset="-122"/>
              </a:rPr>
              <a:t>V </a:t>
            </a:r>
            <a:r>
              <a:rPr lang="zh-CN" altLang="en-US" b="1" dirty="0">
                <a:latin typeface="微软雅黑 Light" panose="020B0502040204020203" pitchFamily="34" charset="-122"/>
                <a:ea typeface="微软雅黑 Light" panose="020B0502040204020203" pitchFamily="34" charset="-122"/>
              </a:rPr>
              <a:t>字段的长度</a:t>
            </a:r>
          </a:p>
        </p:txBody>
      </p:sp>
      <p:grpSp>
        <p:nvGrpSpPr>
          <p:cNvPr id="31" name="组合 30"/>
          <p:cNvGrpSpPr/>
          <p:nvPr/>
        </p:nvGrpSpPr>
        <p:grpSpPr>
          <a:xfrm>
            <a:off x="2512438" y="1817106"/>
            <a:ext cx="577348" cy="1502747"/>
            <a:chOff x="5208439" y="1841345"/>
            <a:chExt cx="577348" cy="581509"/>
          </a:xfrm>
        </p:grpSpPr>
        <p:cxnSp>
          <p:nvCxnSpPr>
            <p:cNvPr id="32" name="直接连接符 31"/>
            <p:cNvCxnSpPr/>
            <p:nvPr/>
          </p:nvCxnSpPr>
          <p:spPr>
            <a:xfrm>
              <a:off x="5208439" y="1841345"/>
              <a:ext cx="0" cy="581509"/>
            </a:xfrm>
            <a:prstGeom prst="line">
              <a:avLst/>
            </a:prstGeom>
            <a:ln w="19050">
              <a:solidFill>
                <a:schemeClr val="tx1"/>
              </a:solidFill>
              <a:headEnd type="ova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a:off x="5208439" y="2422854"/>
              <a:ext cx="577348"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4" name="矩形 33"/>
          <p:cNvSpPr/>
          <p:nvPr/>
        </p:nvSpPr>
        <p:spPr>
          <a:xfrm>
            <a:off x="3045161" y="3135187"/>
            <a:ext cx="1800493" cy="369332"/>
          </a:xfrm>
          <a:prstGeom prst="rect">
            <a:avLst/>
          </a:prstGeom>
        </p:spPr>
        <p:txBody>
          <a:bodyPr wrap="none">
            <a:spAutoFit/>
          </a:bodyPr>
          <a:lstStyle/>
          <a:p>
            <a:r>
              <a:rPr lang="zh-CN" altLang="en-US" b="1" dirty="0">
                <a:latin typeface="微软雅黑 Light" panose="020B0502040204020203" pitchFamily="34" charset="-122"/>
                <a:ea typeface="微软雅黑 Light" panose="020B0502040204020203" pitchFamily="34" charset="-122"/>
              </a:rPr>
              <a:t>定义数据的类型</a:t>
            </a:r>
          </a:p>
        </p:txBody>
      </p:sp>
    </p:spTree>
    <p:extLst>
      <p:ext uri="{BB962C8B-B14F-4D97-AF65-F5344CB8AC3E}">
        <p14:creationId xmlns:p14="http://schemas.microsoft.com/office/powerpoint/2010/main" val="1314953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67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83560"/>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pSp>
        <p:nvGrpSpPr>
          <p:cNvPr id="21" name="组合 20"/>
          <p:cNvGrpSpPr/>
          <p:nvPr/>
        </p:nvGrpSpPr>
        <p:grpSpPr>
          <a:xfrm>
            <a:off x="1222079" y="1494645"/>
            <a:ext cx="6961801" cy="2013559"/>
            <a:chOff x="1315153" y="2110600"/>
            <a:chExt cx="7617445" cy="2203189"/>
          </a:xfrm>
        </p:grpSpPr>
        <p:sp>
          <p:nvSpPr>
            <p:cNvPr id="8" name="Freeform 36"/>
            <p:cNvSpPr>
              <a:spLocks/>
            </p:cNvSpPr>
            <p:nvPr/>
          </p:nvSpPr>
          <p:spPr bwMode="auto">
            <a:xfrm>
              <a:off x="1915849" y="2933700"/>
              <a:ext cx="6045068" cy="566738"/>
            </a:xfrm>
            <a:custGeom>
              <a:avLst/>
              <a:gdLst>
                <a:gd name="T0" fmla="*/ 0 w 2540"/>
                <a:gd name="T1" fmla="*/ 2147483646 h 272"/>
                <a:gd name="T2" fmla="*/ 2147483646 w 2540"/>
                <a:gd name="T3" fmla="*/ 0 h 272"/>
                <a:gd name="T4" fmla="*/ 2147483646 w 2540"/>
                <a:gd name="T5" fmla="*/ 0 h 272"/>
                <a:gd name="T6" fmla="*/ 2147483646 w 2540"/>
                <a:gd name="T7" fmla="*/ 2147483646 h 272"/>
                <a:gd name="T8" fmla="*/ 0 w 2540"/>
                <a:gd name="T9" fmla="*/ 2147483646 h 272"/>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540" h="272">
                  <a:moveTo>
                    <a:pt x="0" y="272"/>
                  </a:moveTo>
                  <a:lnTo>
                    <a:pt x="272" y="0"/>
                  </a:lnTo>
                  <a:lnTo>
                    <a:pt x="862" y="0"/>
                  </a:lnTo>
                  <a:lnTo>
                    <a:pt x="2540" y="272"/>
                  </a:lnTo>
                  <a:lnTo>
                    <a:pt x="0" y="272"/>
                  </a:lnTo>
                  <a:close/>
                </a:path>
              </a:pathLst>
            </a:custGeom>
            <a:gradFill rotWithShape="1">
              <a:gsLst>
                <a:gs pos="0">
                  <a:srgbClr val="0000FF"/>
                </a:gs>
                <a:gs pos="100000">
                  <a:srgbClr val="66FF66"/>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9" name="Text Box 37"/>
            <p:cNvSpPr txBox="1">
              <a:spLocks noChangeArrowheads="1"/>
            </p:cNvSpPr>
            <p:nvPr/>
          </p:nvSpPr>
          <p:spPr bwMode="auto">
            <a:xfrm>
              <a:off x="2007624" y="2110600"/>
              <a:ext cx="5220165"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字节          </a:t>
              </a:r>
              <a:r>
                <a:rPr lang="en-US" altLang="zh-CN" sz="1600" b="1" dirty="0">
                  <a:solidFill>
                    <a:srgbClr val="0000FF"/>
                  </a:solidFill>
                  <a:latin typeface="微软雅黑 Light" panose="020B0502040204020203" pitchFamily="34" charset="-122"/>
                  <a:ea typeface="微软雅黑 Light" panose="020B0502040204020203" pitchFamily="34" charset="-122"/>
                </a:rPr>
                <a:t>1               </a:t>
              </a:r>
              <a:r>
                <a:rPr lang="zh-CN" altLang="en-US" sz="1600" b="1" dirty="0">
                  <a:solidFill>
                    <a:srgbClr val="0000FF"/>
                  </a:solidFill>
                  <a:latin typeface="微软雅黑 Light" panose="020B0502040204020203" pitchFamily="34" charset="-122"/>
                  <a:ea typeface="微软雅黑 Light" panose="020B0502040204020203" pitchFamily="34" charset="-122"/>
                </a:rPr>
                <a:t>可变                          可变</a:t>
              </a:r>
            </a:p>
          </p:txBody>
        </p:sp>
        <p:sp>
          <p:nvSpPr>
            <p:cNvPr id="10" name="Rectangle 38"/>
            <p:cNvSpPr>
              <a:spLocks noChangeArrowheads="1"/>
            </p:cNvSpPr>
            <p:nvPr/>
          </p:nvSpPr>
          <p:spPr bwMode="auto">
            <a:xfrm>
              <a:off x="2564210" y="2460626"/>
              <a:ext cx="6368388" cy="473075"/>
            </a:xfrm>
            <a:prstGeom prst="rect">
              <a:avLst/>
            </a:prstGeom>
            <a:solidFill>
              <a:srgbClr val="00FFCC"/>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1" name="Line 39"/>
            <p:cNvSpPr>
              <a:spLocks noChangeShapeType="1"/>
            </p:cNvSpPr>
            <p:nvPr/>
          </p:nvSpPr>
          <p:spPr bwMode="auto">
            <a:xfrm>
              <a:off x="3967560"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2" name="Rectangle 40"/>
            <p:cNvSpPr>
              <a:spLocks noChangeArrowheads="1"/>
            </p:cNvSpPr>
            <p:nvPr/>
          </p:nvSpPr>
          <p:spPr bwMode="auto">
            <a:xfrm>
              <a:off x="2571158" y="2469552"/>
              <a:ext cx="1384431" cy="45720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3" name="Line 41"/>
            <p:cNvSpPr>
              <a:spLocks noChangeShapeType="1"/>
            </p:cNvSpPr>
            <p:nvPr/>
          </p:nvSpPr>
          <p:spPr bwMode="auto">
            <a:xfrm>
              <a:off x="5262563" y="2460626"/>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4" name="Text Box 42"/>
            <p:cNvSpPr txBox="1">
              <a:spLocks noChangeArrowheads="1"/>
            </p:cNvSpPr>
            <p:nvPr/>
          </p:nvSpPr>
          <p:spPr bwMode="auto">
            <a:xfrm>
              <a:off x="2862665" y="2508880"/>
              <a:ext cx="4129195"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标记 </a:t>
              </a:r>
              <a:r>
                <a:rPr lang="en-US" altLang="zh-CN" sz="1800" b="1" dirty="0">
                  <a:solidFill>
                    <a:schemeClr val="bg1"/>
                  </a:solidFill>
                  <a:latin typeface="微软雅黑 Light" panose="020B0502040204020203" pitchFamily="34" charset="-122"/>
                  <a:ea typeface="微软雅黑 Light" panose="020B0502040204020203" pitchFamily="34" charset="-122"/>
                </a:rPr>
                <a:t>T       </a:t>
              </a:r>
              <a:r>
                <a:rPr lang="zh-CN" altLang="en-US" sz="1800" b="1" dirty="0">
                  <a:latin typeface="微软雅黑 Light" panose="020B0502040204020203" pitchFamily="34" charset="-122"/>
                  <a:ea typeface="微软雅黑 Light" panose="020B0502040204020203" pitchFamily="34" charset="-122"/>
                </a:rPr>
                <a:t>长度 </a:t>
              </a:r>
              <a:r>
                <a:rPr lang="en-US" altLang="zh-CN" sz="1800" b="1" dirty="0">
                  <a:latin typeface="微软雅黑 Light" panose="020B0502040204020203" pitchFamily="34" charset="-122"/>
                  <a:ea typeface="微软雅黑 Light" panose="020B0502040204020203" pitchFamily="34" charset="-122"/>
                </a:rPr>
                <a:t>L                   </a:t>
              </a:r>
              <a:r>
                <a:rPr lang="zh-CN" altLang="en-US" sz="1800" b="1" dirty="0">
                  <a:latin typeface="微软雅黑 Light" panose="020B0502040204020203" pitchFamily="34" charset="-122"/>
                  <a:ea typeface="微软雅黑 Light" panose="020B0502040204020203" pitchFamily="34" charset="-122"/>
                </a:rPr>
                <a:t>值 </a:t>
              </a:r>
              <a:r>
                <a:rPr lang="en-US" altLang="zh-CN" sz="1800" b="1" dirty="0">
                  <a:latin typeface="微软雅黑 Light" panose="020B0502040204020203" pitchFamily="34" charset="-122"/>
                  <a:ea typeface="微软雅黑 Light" panose="020B0502040204020203" pitchFamily="34" charset="-122"/>
                </a:rPr>
                <a:t>V</a:t>
              </a:r>
            </a:p>
          </p:txBody>
        </p:sp>
        <p:sp>
          <p:nvSpPr>
            <p:cNvPr id="15" name="Rectangle 43"/>
            <p:cNvSpPr>
              <a:spLocks noChangeArrowheads="1"/>
            </p:cNvSpPr>
            <p:nvPr/>
          </p:nvSpPr>
          <p:spPr bwMode="auto">
            <a:xfrm>
              <a:off x="1915849" y="3500439"/>
              <a:ext cx="6045068" cy="473075"/>
            </a:xfrm>
            <a:prstGeom prst="rect">
              <a:avLst/>
            </a:prstGeom>
            <a:solidFill>
              <a:srgbClr val="0000FF"/>
            </a:solidFill>
            <a:ln w="12700">
              <a:solidFill>
                <a:schemeClr val="tx1"/>
              </a:solidFill>
              <a:miter lim="800000"/>
              <a:headEnd/>
              <a:tailEnd/>
            </a:ln>
            <a:effectLst/>
          </p:spPr>
          <p:txBody>
            <a:bodyPr wrap="none" anchor="ctr"/>
            <a:lstStyle/>
            <a:p>
              <a:pPr eaLnBrk="1" hangingPunct="1"/>
              <a:endParaRPr lang="zh-CN" altLang="en-US" b="1" dirty="0">
                <a:latin typeface="微软雅黑 Light" panose="020B0502040204020203" pitchFamily="34" charset="-122"/>
                <a:ea typeface="微软雅黑 Light" panose="020B0502040204020203" pitchFamily="34" charset="-122"/>
              </a:endParaRPr>
            </a:p>
          </p:txBody>
        </p:sp>
        <p:sp>
          <p:nvSpPr>
            <p:cNvPr id="16" name="Text Box 44"/>
            <p:cNvSpPr txBox="1">
              <a:spLocks noChangeArrowheads="1"/>
            </p:cNvSpPr>
            <p:nvPr/>
          </p:nvSpPr>
          <p:spPr bwMode="auto">
            <a:xfrm>
              <a:off x="2344381" y="3548543"/>
              <a:ext cx="4281790" cy="4041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800" b="1" dirty="0">
                  <a:solidFill>
                    <a:schemeClr val="bg1"/>
                  </a:solidFill>
                  <a:latin typeface="微软雅黑 Light" panose="020B0502040204020203" pitchFamily="34" charset="-122"/>
                  <a:ea typeface="微软雅黑 Light" panose="020B0502040204020203" pitchFamily="34" charset="-122"/>
                </a:rPr>
                <a:t>类   别       格 式                  编     号</a:t>
              </a:r>
            </a:p>
          </p:txBody>
        </p:sp>
        <p:sp>
          <p:nvSpPr>
            <p:cNvPr id="17" name="Line 45"/>
            <p:cNvSpPr>
              <a:spLocks noChangeShapeType="1"/>
            </p:cNvSpPr>
            <p:nvPr/>
          </p:nvSpPr>
          <p:spPr bwMode="auto">
            <a:xfrm>
              <a:off x="342754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8" name="Line 46"/>
            <p:cNvSpPr>
              <a:spLocks noChangeShapeType="1"/>
            </p:cNvSpPr>
            <p:nvPr/>
          </p:nvSpPr>
          <p:spPr bwMode="auto">
            <a:xfrm>
              <a:off x="4507575" y="3500439"/>
              <a:ext cx="0" cy="47307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b="1" dirty="0">
                <a:latin typeface="微软雅黑 Light" panose="020B0502040204020203" pitchFamily="34" charset="-122"/>
                <a:ea typeface="微软雅黑 Light" panose="020B0502040204020203" pitchFamily="34" charset="-122"/>
              </a:endParaRPr>
            </a:p>
          </p:txBody>
        </p:sp>
        <p:sp>
          <p:nvSpPr>
            <p:cNvPr id="19" name="Text Box 47"/>
            <p:cNvSpPr txBox="1">
              <a:spLocks noChangeArrowheads="1"/>
            </p:cNvSpPr>
            <p:nvPr/>
          </p:nvSpPr>
          <p:spPr bwMode="auto">
            <a:xfrm>
              <a:off x="1505902" y="3943351"/>
              <a:ext cx="4841306"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位            </a:t>
              </a:r>
              <a:r>
                <a:rPr lang="en-US" altLang="zh-CN" sz="1600" b="1" dirty="0">
                  <a:solidFill>
                    <a:srgbClr val="0000FF"/>
                  </a:solidFill>
                  <a:latin typeface="微软雅黑 Light" panose="020B0502040204020203" pitchFamily="34" charset="-122"/>
                  <a:ea typeface="微软雅黑 Light" panose="020B0502040204020203" pitchFamily="34" charset="-122"/>
                </a:rPr>
                <a:t>2                   1                             5</a:t>
              </a:r>
            </a:p>
          </p:txBody>
        </p:sp>
        <p:sp>
          <p:nvSpPr>
            <p:cNvPr id="20" name="Text Box 48"/>
            <p:cNvSpPr txBox="1">
              <a:spLocks noChangeArrowheads="1"/>
            </p:cNvSpPr>
            <p:nvPr/>
          </p:nvSpPr>
          <p:spPr bwMode="auto">
            <a:xfrm>
              <a:off x="1315153" y="2492375"/>
              <a:ext cx="1429148" cy="3704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latin typeface="微软雅黑 Light" panose="020B0502040204020203" pitchFamily="34" charset="-122"/>
                  <a:ea typeface="微软雅黑 Light" panose="020B0502040204020203" pitchFamily="34" charset="-122"/>
                </a:rPr>
                <a:t>数据元素</a:t>
              </a:r>
            </a:p>
          </p:txBody>
        </p:sp>
      </p:grpSp>
    </p:spTree>
    <p:extLst>
      <p:ext uri="{BB962C8B-B14F-4D97-AF65-F5344CB8AC3E}">
        <p14:creationId xmlns:p14="http://schemas.microsoft.com/office/powerpoint/2010/main" val="30834162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AutoShape 5"/>
          <p:cNvSpPr>
            <a:spLocks noChangeArrowheads="1"/>
          </p:cNvSpPr>
          <p:nvPr/>
        </p:nvSpPr>
        <p:spPr bwMode="auto">
          <a:xfrm>
            <a:off x="556963" y="6108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7" name="Rectangle 6"/>
          <p:cNvSpPr>
            <a:spLocks noChangeArrowheads="1"/>
          </p:cNvSpPr>
          <p:nvPr/>
        </p:nvSpPr>
        <p:spPr bwMode="auto">
          <a:xfrm>
            <a:off x="2689648" y="577664"/>
            <a:ext cx="378340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T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字段定义数据的类型</a:t>
            </a:r>
          </a:p>
        </p:txBody>
      </p:sp>
      <p:graphicFrame>
        <p:nvGraphicFramePr>
          <p:cNvPr id="2" name="表格 1"/>
          <p:cNvGraphicFramePr>
            <a:graphicFrameLocks noGrp="1"/>
          </p:cNvGraphicFramePr>
          <p:nvPr>
            <p:extLst>
              <p:ext uri="{D42A27DB-BD31-4B8C-83A1-F6EECF244321}">
                <p14:modId xmlns:p14="http://schemas.microsoft.com/office/powerpoint/2010/main" val="1686844800"/>
              </p:ext>
            </p:extLst>
          </p:nvPr>
        </p:nvGraphicFramePr>
        <p:xfrm>
          <a:off x="556963" y="1065835"/>
          <a:ext cx="8048775" cy="3119501"/>
        </p:xfrm>
        <a:graphic>
          <a:graphicData uri="http://schemas.openxmlformats.org/drawingml/2006/table">
            <a:tbl>
              <a:tblPr firstRow="1" bandRow="1">
                <a:tableStyleId>{7DF18680-E054-41AD-8BC1-D1AEF772440D}</a:tableStyleId>
              </a:tblPr>
              <a:tblGrid>
                <a:gridCol w="2303476">
                  <a:extLst>
                    <a:ext uri="{9D8B030D-6E8A-4147-A177-3AD203B41FA5}">
                      <a16:colId xmlns:a16="http://schemas.microsoft.com/office/drawing/2014/main" val="20000"/>
                    </a:ext>
                  </a:extLst>
                </a:gridCol>
                <a:gridCol w="696401">
                  <a:extLst>
                    <a:ext uri="{9D8B030D-6E8A-4147-A177-3AD203B41FA5}">
                      <a16:colId xmlns:a16="http://schemas.microsoft.com/office/drawing/2014/main" val="20001"/>
                    </a:ext>
                  </a:extLst>
                </a:gridCol>
                <a:gridCol w="618378">
                  <a:extLst>
                    <a:ext uri="{9D8B030D-6E8A-4147-A177-3AD203B41FA5}">
                      <a16:colId xmlns:a16="http://schemas.microsoft.com/office/drawing/2014/main" val="20002"/>
                    </a:ext>
                  </a:extLst>
                </a:gridCol>
                <a:gridCol w="923026">
                  <a:extLst>
                    <a:ext uri="{9D8B030D-6E8A-4147-A177-3AD203B41FA5}">
                      <a16:colId xmlns:a16="http://schemas.microsoft.com/office/drawing/2014/main" val="20003"/>
                    </a:ext>
                  </a:extLst>
                </a:gridCol>
                <a:gridCol w="1661445">
                  <a:extLst>
                    <a:ext uri="{9D8B030D-6E8A-4147-A177-3AD203B41FA5}">
                      <a16:colId xmlns:a16="http://schemas.microsoft.com/office/drawing/2014/main" val="20004"/>
                    </a:ext>
                  </a:extLst>
                </a:gridCol>
                <a:gridCol w="1846049">
                  <a:extLst>
                    <a:ext uri="{9D8B030D-6E8A-4147-A177-3AD203B41FA5}">
                      <a16:colId xmlns:a16="http://schemas.microsoft.com/office/drawing/2014/main" val="20005"/>
                    </a:ext>
                  </a:extLst>
                </a:gridCol>
              </a:tblGrid>
              <a:tr h="283591">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数据类型</a:t>
                      </a: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类别</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格式</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编号</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字段（二进制）</a:t>
                      </a: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tc>
                  <a:txBody>
                    <a:bodyPr/>
                    <a:lstStyle/>
                    <a:p>
                      <a:pPr algn="ctr" hangingPunct="0">
                        <a:lnSpc>
                          <a:spcPts val="18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T </a:t>
                      </a:r>
                      <a:r>
                        <a:rPr lang="zh-CN" sz="1400" b="1" dirty="0">
                          <a:solidFill>
                            <a:schemeClr val="bg1"/>
                          </a:solidFill>
                          <a:effectLst/>
                          <a:latin typeface="微软雅黑 Light" panose="020B0502040204020203" pitchFamily="34" charset="-122"/>
                          <a:ea typeface="微软雅黑 Light" panose="020B0502040204020203" pitchFamily="34" charset="-122"/>
                        </a:rPr>
                        <a:t>字段（十六进制）</a:t>
                      </a: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6">
                        <a:lumMod val="75000"/>
                      </a:schemeClr>
                    </a:solidFill>
                  </a:tcPr>
                </a:tc>
                <a:extLst>
                  <a:ext uri="{0D108BD9-81ED-4DB2-BD59-A6C34878D82A}">
                    <a16:rowId xmlns:a16="http://schemas.microsoft.com/office/drawing/2014/main" val="10000"/>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INTEGER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1"/>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OCTET STRING</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2"/>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OBJECT IDENTIFIER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06</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3"/>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NULL</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00000101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05</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4"/>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Sequence, sequence of</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00110000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30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5"/>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IPAddress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6"/>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Counter</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7"/>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Gauge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42</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08"/>
                  </a:ext>
                </a:extLst>
              </a:tr>
              <a:tr h="283591">
                <a:tc>
                  <a:txBody>
                    <a:bodyPr/>
                    <a:lstStyle/>
                    <a:p>
                      <a:pPr algn="l" hangingPunct="0">
                        <a:lnSpc>
                          <a:spcPts val="1800"/>
                        </a:lnSpc>
                        <a:spcAft>
                          <a:spcPts val="0"/>
                        </a:spcAft>
                      </a:pPr>
                      <a:r>
                        <a:rPr lang="en-US" sz="1400" b="1" dirty="0" err="1">
                          <a:solidFill>
                            <a:schemeClr val="tx1"/>
                          </a:solidFill>
                          <a:effectLst/>
                          <a:latin typeface="微软雅黑 Light" panose="020B0502040204020203" pitchFamily="34" charset="-122"/>
                          <a:ea typeface="微软雅黑 Light" panose="020B0502040204020203" pitchFamily="34" charset="-122"/>
                        </a:rPr>
                        <a:t>TimeTicks</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01000011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43</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09"/>
                  </a:ext>
                </a:extLst>
              </a:tr>
              <a:tr h="283591">
                <a:tc>
                  <a:txBody>
                    <a:bodyPr/>
                    <a:lstStyle/>
                    <a:p>
                      <a:pPr algn="l"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Opaque</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19050"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00100</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01000100 </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9525"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tc>
                  <a:txBody>
                    <a:bodyPr/>
                    <a:lstStyle/>
                    <a:p>
                      <a:pPr algn="ctr" hangingPunct="0">
                        <a:lnSpc>
                          <a:spcPts val="1800"/>
                        </a:lnSpc>
                        <a:spcAft>
                          <a:spcPts val="0"/>
                        </a:spcAft>
                      </a:pPr>
                      <a:r>
                        <a:rPr lang="en-US" sz="1400" b="1" dirty="0">
                          <a:solidFill>
                            <a:schemeClr val="tx1"/>
                          </a:solidFill>
                          <a:effectLst/>
                          <a:latin typeface="微软雅黑 Light" panose="020B0502040204020203" pitchFamily="34" charset="-122"/>
                          <a:ea typeface="微软雅黑 Light" panose="020B0502040204020203" pitchFamily="34" charset="-122"/>
                        </a:rPr>
                        <a:t>44</a:t>
                      </a:r>
                      <a:endParaRPr lang="zh-CN" sz="1400" b="1" dirty="0">
                        <a:solidFill>
                          <a:schemeClr val="tx1"/>
                        </a:solidFill>
                        <a:effectLst/>
                        <a:latin typeface="微软雅黑 Light" panose="020B0502040204020203" pitchFamily="34" charset="-122"/>
                        <a:ea typeface="微软雅黑 Light" panose="020B0502040204020203" pitchFamily="34" charset="-122"/>
                      </a:endParaRPr>
                    </a:p>
                  </a:txBody>
                  <a:tcPr marL="68580" marR="68580" marT="0" marB="0" anchor="ctr">
                    <a:lnL w="9525"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9050" cap="flat" cmpd="sng" algn="ctr">
                      <a:solidFill>
                        <a:schemeClr val="tx1"/>
                      </a:solidFill>
                      <a:prstDash val="solid"/>
                      <a:round/>
                      <a:headEnd type="none" w="med" len="med"/>
                      <a:tailEnd type="none" w="med" len="med"/>
                    </a:lnB>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3680322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8164" y="582898"/>
            <a:ext cx="40863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L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字段的长度</a:t>
            </a:r>
          </a:p>
        </p:txBody>
      </p:sp>
      <p:sp>
        <p:nvSpPr>
          <p:cNvPr id="19" name="Text Box 4"/>
          <p:cNvSpPr txBox="1">
            <a:spLocks noChangeArrowheads="1"/>
          </p:cNvSpPr>
          <p:nvPr/>
        </p:nvSpPr>
        <p:spPr bwMode="auto">
          <a:xfrm>
            <a:off x="2245313" y="1521070"/>
            <a:ext cx="256031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20" name="Rectangle 5"/>
          <p:cNvSpPr>
            <a:spLocks noChangeArrowheads="1"/>
          </p:cNvSpPr>
          <p:nvPr/>
        </p:nvSpPr>
        <p:spPr bwMode="auto">
          <a:xfrm>
            <a:off x="2524966" y="2007514"/>
            <a:ext cx="227656" cy="306136"/>
          </a:xfrm>
          <a:prstGeom prst="rect">
            <a:avLst/>
          </a:prstGeom>
          <a:solidFill>
            <a:srgbClr val="0000FF"/>
          </a:solidFill>
          <a:ln w="9525">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0</a:t>
            </a:r>
          </a:p>
        </p:txBody>
      </p:sp>
      <p:sp>
        <p:nvSpPr>
          <p:cNvPr id="21" name="Rectangle 6"/>
          <p:cNvSpPr>
            <a:spLocks noChangeArrowheads="1"/>
          </p:cNvSpPr>
          <p:nvPr/>
        </p:nvSpPr>
        <p:spPr bwMode="auto">
          <a:xfrm>
            <a:off x="2752622"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2" name="Rectangle 7"/>
          <p:cNvSpPr>
            <a:spLocks noChangeArrowheads="1"/>
          </p:cNvSpPr>
          <p:nvPr/>
        </p:nvSpPr>
        <p:spPr bwMode="auto">
          <a:xfrm>
            <a:off x="2980278" y="2007514"/>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3" name="Rectangle 8"/>
          <p:cNvSpPr>
            <a:spLocks noChangeArrowheads="1"/>
          </p:cNvSpPr>
          <p:nvPr/>
        </p:nvSpPr>
        <p:spPr bwMode="auto">
          <a:xfrm>
            <a:off x="320652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4" name="Rectangle 9"/>
          <p:cNvSpPr>
            <a:spLocks noChangeArrowheads="1"/>
          </p:cNvSpPr>
          <p:nvPr/>
        </p:nvSpPr>
        <p:spPr bwMode="auto">
          <a:xfrm>
            <a:off x="3434185"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5" name="Rectangle 10"/>
          <p:cNvSpPr>
            <a:spLocks noChangeArrowheads="1"/>
          </p:cNvSpPr>
          <p:nvPr/>
        </p:nvSpPr>
        <p:spPr bwMode="auto">
          <a:xfrm>
            <a:off x="3661841"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6" name="Rectangle 11"/>
          <p:cNvSpPr>
            <a:spLocks noChangeArrowheads="1"/>
          </p:cNvSpPr>
          <p:nvPr/>
        </p:nvSpPr>
        <p:spPr bwMode="auto">
          <a:xfrm>
            <a:off x="3889496" y="2007514"/>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27" name="Rectangle 12"/>
          <p:cNvSpPr>
            <a:spLocks noChangeArrowheads="1"/>
          </p:cNvSpPr>
          <p:nvPr/>
        </p:nvSpPr>
        <p:spPr bwMode="auto">
          <a:xfrm>
            <a:off x="4115748" y="2007514"/>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28" name="Rectangle 13"/>
          <p:cNvSpPr>
            <a:spLocks noChangeArrowheads="1"/>
          </p:cNvSpPr>
          <p:nvPr/>
        </p:nvSpPr>
        <p:spPr bwMode="auto">
          <a:xfrm>
            <a:off x="2526371" y="3023210"/>
            <a:ext cx="227656" cy="306136"/>
          </a:xfrm>
          <a:prstGeom prst="rect">
            <a:avLst/>
          </a:prstGeom>
          <a:solidFill>
            <a:srgbClr val="CC00FF"/>
          </a:solidFill>
          <a:ln w="9525" algn="ctr">
            <a:solidFill>
              <a:schemeClr val="tx1"/>
            </a:solidFill>
            <a:miter lim="800000"/>
            <a:headEnd/>
            <a:tailEnd/>
          </a:ln>
          <a:effectLst/>
        </p:spPr>
        <p:txBody>
          <a:bodyPr wrap="none" anchor="ctr"/>
          <a:lstStyle/>
          <a:p>
            <a:pPr algn="ctr" eaLnBrk="1" hangingPunct="1"/>
            <a:r>
              <a:rPr lang="en-US" altLang="zh-CN" sz="1600" b="1" dirty="0">
                <a:solidFill>
                  <a:schemeClr val="bg1"/>
                </a:solidFill>
                <a:latin typeface="微软雅黑 Light" panose="020B0502040204020203" pitchFamily="34" charset="-122"/>
                <a:ea typeface="微软雅黑 Light" panose="020B0502040204020203" pitchFamily="34" charset="-122"/>
              </a:rPr>
              <a:t>1</a:t>
            </a:r>
          </a:p>
        </p:txBody>
      </p:sp>
      <p:sp>
        <p:nvSpPr>
          <p:cNvPr id="29" name="Rectangle 14"/>
          <p:cNvSpPr>
            <a:spLocks noChangeArrowheads="1"/>
          </p:cNvSpPr>
          <p:nvPr/>
        </p:nvSpPr>
        <p:spPr bwMode="auto">
          <a:xfrm>
            <a:off x="275402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0" name="Rectangle 15"/>
          <p:cNvSpPr>
            <a:spLocks noChangeArrowheads="1"/>
          </p:cNvSpPr>
          <p:nvPr/>
        </p:nvSpPr>
        <p:spPr bwMode="auto">
          <a:xfrm>
            <a:off x="2981683" y="3025805"/>
            <a:ext cx="226251"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1" name="Rectangle 16"/>
          <p:cNvSpPr>
            <a:spLocks noChangeArrowheads="1"/>
          </p:cNvSpPr>
          <p:nvPr/>
        </p:nvSpPr>
        <p:spPr bwMode="auto">
          <a:xfrm>
            <a:off x="3207935"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2" name="Rectangle 17"/>
          <p:cNvSpPr>
            <a:spLocks noChangeArrowheads="1"/>
          </p:cNvSpPr>
          <p:nvPr/>
        </p:nvSpPr>
        <p:spPr bwMode="auto">
          <a:xfrm>
            <a:off x="3435591"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3" name="Rectangle 18"/>
          <p:cNvSpPr>
            <a:spLocks noChangeArrowheads="1"/>
          </p:cNvSpPr>
          <p:nvPr/>
        </p:nvSpPr>
        <p:spPr bwMode="auto">
          <a:xfrm>
            <a:off x="3663247"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4" name="Rectangle 19"/>
          <p:cNvSpPr>
            <a:spLocks noChangeArrowheads="1"/>
          </p:cNvSpPr>
          <p:nvPr/>
        </p:nvSpPr>
        <p:spPr bwMode="auto">
          <a:xfrm>
            <a:off x="3890902" y="3025805"/>
            <a:ext cx="227656"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35" name="Rectangle 20"/>
          <p:cNvSpPr>
            <a:spLocks noChangeArrowheads="1"/>
          </p:cNvSpPr>
          <p:nvPr/>
        </p:nvSpPr>
        <p:spPr bwMode="auto">
          <a:xfrm>
            <a:off x="4118559" y="3025805"/>
            <a:ext cx="226250" cy="306136"/>
          </a:xfrm>
          <a:prstGeom prst="rect">
            <a:avLst/>
          </a:prstGeom>
          <a:solidFill>
            <a:srgbClr val="FFFF00"/>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6" name="Rectangle 21"/>
          <p:cNvSpPr>
            <a:spLocks noChangeArrowheads="1"/>
          </p:cNvSpPr>
          <p:nvPr/>
        </p:nvSpPr>
        <p:spPr bwMode="auto">
          <a:xfrm>
            <a:off x="4497985"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7" name="Rectangle 22"/>
          <p:cNvSpPr>
            <a:spLocks noChangeArrowheads="1"/>
          </p:cNvSpPr>
          <p:nvPr/>
        </p:nvSpPr>
        <p:spPr bwMode="auto">
          <a:xfrm>
            <a:off x="472423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8" name="Rectangle 23"/>
          <p:cNvSpPr>
            <a:spLocks noChangeArrowheads="1"/>
          </p:cNvSpPr>
          <p:nvPr/>
        </p:nvSpPr>
        <p:spPr bwMode="auto">
          <a:xfrm>
            <a:off x="495189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39" name="Rectangle 24"/>
          <p:cNvSpPr>
            <a:spLocks noChangeArrowheads="1"/>
          </p:cNvSpPr>
          <p:nvPr/>
        </p:nvSpPr>
        <p:spPr bwMode="auto">
          <a:xfrm>
            <a:off x="517954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0" name="Rectangle 25"/>
          <p:cNvSpPr>
            <a:spLocks noChangeArrowheads="1"/>
          </p:cNvSpPr>
          <p:nvPr/>
        </p:nvSpPr>
        <p:spPr bwMode="auto">
          <a:xfrm>
            <a:off x="540720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1" name="Rectangle 26"/>
          <p:cNvSpPr>
            <a:spLocks noChangeArrowheads="1"/>
          </p:cNvSpPr>
          <p:nvPr/>
        </p:nvSpPr>
        <p:spPr bwMode="auto">
          <a:xfrm>
            <a:off x="5634860"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2" name="Rectangle 27"/>
          <p:cNvSpPr>
            <a:spLocks noChangeArrowheads="1"/>
          </p:cNvSpPr>
          <p:nvPr/>
        </p:nvSpPr>
        <p:spPr bwMode="auto">
          <a:xfrm>
            <a:off x="586111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3" name="Rectangle 28"/>
          <p:cNvSpPr>
            <a:spLocks noChangeArrowheads="1"/>
          </p:cNvSpPr>
          <p:nvPr/>
        </p:nvSpPr>
        <p:spPr bwMode="auto">
          <a:xfrm>
            <a:off x="6088768"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44" name="Rectangle 29"/>
          <p:cNvSpPr>
            <a:spLocks noChangeArrowheads="1"/>
          </p:cNvSpPr>
          <p:nvPr/>
        </p:nvSpPr>
        <p:spPr bwMode="auto">
          <a:xfrm>
            <a:off x="6468194"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5" name="Rectangle 30"/>
          <p:cNvSpPr>
            <a:spLocks noChangeArrowheads="1"/>
          </p:cNvSpPr>
          <p:nvPr/>
        </p:nvSpPr>
        <p:spPr bwMode="auto">
          <a:xfrm>
            <a:off x="6695851"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6" name="Rectangle 31"/>
          <p:cNvSpPr>
            <a:spLocks noChangeArrowheads="1"/>
          </p:cNvSpPr>
          <p:nvPr/>
        </p:nvSpPr>
        <p:spPr bwMode="auto">
          <a:xfrm>
            <a:off x="6923507"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7" name="Rectangle 32"/>
          <p:cNvSpPr>
            <a:spLocks noChangeArrowheads="1"/>
          </p:cNvSpPr>
          <p:nvPr/>
        </p:nvSpPr>
        <p:spPr bwMode="auto">
          <a:xfrm>
            <a:off x="7151163" y="3025805"/>
            <a:ext cx="226250"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8" name="Rectangle 33"/>
          <p:cNvSpPr>
            <a:spLocks noChangeArrowheads="1"/>
          </p:cNvSpPr>
          <p:nvPr/>
        </p:nvSpPr>
        <p:spPr bwMode="auto">
          <a:xfrm>
            <a:off x="7377413"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49" name="Rectangle 34"/>
          <p:cNvSpPr>
            <a:spLocks noChangeArrowheads="1"/>
          </p:cNvSpPr>
          <p:nvPr/>
        </p:nvSpPr>
        <p:spPr bwMode="auto">
          <a:xfrm>
            <a:off x="7605069"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0" name="Rectangle 35"/>
          <p:cNvSpPr>
            <a:spLocks noChangeArrowheads="1"/>
          </p:cNvSpPr>
          <p:nvPr/>
        </p:nvSpPr>
        <p:spPr bwMode="auto">
          <a:xfrm>
            <a:off x="7832726" y="3025805"/>
            <a:ext cx="227656"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1</a:t>
            </a:r>
          </a:p>
        </p:txBody>
      </p:sp>
      <p:sp>
        <p:nvSpPr>
          <p:cNvPr id="51" name="Rectangle 36"/>
          <p:cNvSpPr>
            <a:spLocks noChangeArrowheads="1"/>
          </p:cNvSpPr>
          <p:nvPr/>
        </p:nvSpPr>
        <p:spPr bwMode="auto">
          <a:xfrm>
            <a:off x="8060381" y="3025805"/>
            <a:ext cx="226251" cy="306136"/>
          </a:xfrm>
          <a:prstGeom prst="rect">
            <a:avLst/>
          </a:prstGeom>
          <a:solidFill>
            <a:srgbClr val="00FFCC"/>
          </a:solidFill>
          <a:ln w="9525">
            <a:solidFill>
              <a:schemeClr val="tx1"/>
            </a:solidFill>
            <a:miter lim="800000"/>
            <a:headEnd/>
            <a:tailEnd/>
          </a:ln>
          <a:effectLst/>
        </p:spPr>
        <p:txBody>
          <a:bodyPr wrap="none" anchor="ctr"/>
          <a:lstStyle/>
          <a:p>
            <a:pPr algn="ctr" eaLnBrk="1" hangingPunct="1"/>
            <a:r>
              <a:rPr lang="en-US" altLang="zh-CN" sz="1600" b="1" dirty="0">
                <a:latin typeface="微软雅黑 Light" panose="020B0502040204020203" pitchFamily="34" charset="-122"/>
                <a:ea typeface="微软雅黑 Light" panose="020B0502040204020203" pitchFamily="34" charset="-122"/>
              </a:rPr>
              <a:t>0</a:t>
            </a:r>
          </a:p>
        </p:txBody>
      </p:sp>
      <p:sp>
        <p:nvSpPr>
          <p:cNvPr id="52" name="Text Box 37"/>
          <p:cNvSpPr txBox="1">
            <a:spLocks noChangeArrowheads="1"/>
          </p:cNvSpPr>
          <p:nvPr/>
        </p:nvSpPr>
        <p:spPr bwMode="auto">
          <a:xfrm>
            <a:off x="779603" y="1991949"/>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单字节的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3" name="AutoShape 38"/>
          <p:cNvSpPr>
            <a:spLocks/>
          </p:cNvSpPr>
          <p:nvPr/>
        </p:nvSpPr>
        <p:spPr bwMode="auto">
          <a:xfrm rot="16200000">
            <a:off x="3487153" y="1075270"/>
            <a:ext cx="175120" cy="1590782"/>
          </a:xfrm>
          <a:prstGeom prst="rightBrace">
            <a:avLst>
              <a:gd name="adj1" fmla="val 69876"/>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4" name="AutoShape 39"/>
          <p:cNvSpPr>
            <a:spLocks/>
          </p:cNvSpPr>
          <p:nvPr/>
        </p:nvSpPr>
        <p:spPr bwMode="auto">
          <a:xfrm rot="16200000">
            <a:off x="6344638" y="1020464"/>
            <a:ext cx="120638" cy="3791458"/>
          </a:xfrm>
          <a:prstGeom prst="rightBrace">
            <a:avLst>
              <a:gd name="adj1" fmla="val 241757"/>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5" name="Text Box 40"/>
          <p:cNvSpPr txBox="1">
            <a:spLocks noChangeArrowheads="1"/>
          </p:cNvSpPr>
          <p:nvPr/>
        </p:nvSpPr>
        <p:spPr bwMode="auto">
          <a:xfrm>
            <a:off x="5119120" y="2580871"/>
            <a:ext cx="281359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 </a:t>
            </a:r>
            <a:r>
              <a:rPr lang="en-US" altLang="zh-CN" sz="1600" b="1" dirty="0">
                <a:solidFill>
                  <a:srgbClr val="0000FF"/>
                </a:solidFill>
                <a:latin typeface="微软雅黑 Light" panose="020B0502040204020203" pitchFamily="34" charset="-122"/>
                <a:ea typeface="微软雅黑 Light" panose="020B0502040204020203" pitchFamily="34" charset="-122"/>
              </a:rPr>
              <a:t>V </a:t>
            </a:r>
            <a:r>
              <a:rPr lang="zh-CN" altLang="en-US" sz="1600" b="1" dirty="0">
                <a:solidFill>
                  <a:srgbClr val="0000FF"/>
                </a:solidFill>
                <a:latin typeface="微软雅黑 Light" panose="020B0502040204020203" pitchFamily="34" charset="-122"/>
                <a:ea typeface="微软雅黑 Light" panose="020B0502040204020203" pitchFamily="34" charset="-122"/>
              </a:rPr>
              <a:t>字段长度 </a:t>
            </a:r>
            <a:r>
              <a:rPr lang="en-US" altLang="zh-CN" sz="1600" b="1" dirty="0">
                <a:solidFill>
                  <a:srgbClr val="0000FF"/>
                </a:solidFill>
                <a:latin typeface="微软雅黑 Light" panose="020B0502040204020203" pitchFamily="34" charset="-122"/>
                <a:ea typeface="微软雅黑 Light" panose="020B0502040204020203" pitchFamily="34" charset="-122"/>
              </a:rPr>
              <a:t>= 262 </a:t>
            </a:r>
            <a:r>
              <a:rPr lang="zh-CN" altLang="en-US" sz="1600" b="1" dirty="0">
                <a:solidFill>
                  <a:srgbClr val="0000FF"/>
                </a:solidFill>
                <a:latin typeface="微软雅黑 Light" panose="020B0502040204020203" pitchFamily="34" charset="-122"/>
                <a:ea typeface="微软雅黑 Light" panose="020B0502040204020203" pitchFamily="34" charset="-122"/>
              </a:rPr>
              <a:t>字节</a:t>
            </a:r>
          </a:p>
        </p:txBody>
      </p:sp>
      <p:sp>
        <p:nvSpPr>
          <p:cNvPr id="56" name="Text Box 41"/>
          <p:cNvSpPr txBox="1">
            <a:spLocks noChangeArrowheads="1"/>
          </p:cNvSpPr>
          <p:nvPr/>
        </p:nvSpPr>
        <p:spPr bwMode="auto">
          <a:xfrm>
            <a:off x="779603" y="3023211"/>
            <a:ext cx="1649811"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00000"/>
                </a:solidFill>
                <a:latin typeface="微软雅黑 Light" panose="020B0502040204020203" pitchFamily="34" charset="-122"/>
                <a:ea typeface="微软雅黑 Light" panose="020B0502040204020203" pitchFamily="34" charset="-122"/>
              </a:rPr>
              <a:t>多字节的 </a:t>
            </a:r>
            <a:r>
              <a:rPr lang="en-US" altLang="zh-CN" sz="1600" b="1" dirty="0">
                <a:solidFill>
                  <a:srgbClr val="C00000"/>
                </a:solidFill>
                <a:latin typeface="微软雅黑 Light" panose="020B0502040204020203" pitchFamily="34" charset="-122"/>
                <a:ea typeface="微软雅黑 Light" panose="020B0502040204020203" pitchFamily="34" charset="-122"/>
              </a:rPr>
              <a:t>L </a:t>
            </a:r>
            <a:r>
              <a:rPr lang="zh-CN" altLang="en-US" sz="1600" b="1" dirty="0">
                <a:solidFill>
                  <a:srgbClr val="C00000"/>
                </a:solidFill>
                <a:latin typeface="微软雅黑 Light" panose="020B0502040204020203" pitchFamily="34" charset="-122"/>
                <a:ea typeface="微软雅黑 Light" panose="020B0502040204020203" pitchFamily="34" charset="-122"/>
              </a:rPr>
              <a:t>字段</a:t>
            </a:r>
          </a:p>
        </p:txBody>
      </p:sp>
      <p:sp>
        <p:nvSpPr>
          <p:cNvPr id="57" name="AutoShape 42"/>
          <p:cNvSpPr>
            <a:spLocks/>
          </p:cNvSpPr>
          <p:nvPr/>
        </p:nvSpPr>
        <p:spPr bwMode="auto">
          <a:xfrm rot="16200000">
            <a:off x="3476884" y="2107182"/>
            <a:ext cx="147879" cy="1590782"/>
          </a:xfrm>
          <a:prstGeom prst="rightBrace">
            <a:avLst>
              <a:gd name="adj1" fmla="val 82749"/>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600" b="1" dirty="0">
              <a:latin typeface="微软雅黑 Light" panose="020B0502040204020203" pitchFamily="34" charset="-122"/>
              <a:ea typeface="微软雅黑 Light" panose="020B0502040204020203" pitchFamily="34" charset="-122"/>
            </a:endParaRPr>
          </a:p>
        </p:txBody>
      </p:sp>
      <p:sp>
        <p:nvSpPr>
          <p:cNvPr id="58" name="Line 43"/>
          <p:cNvSpPr>
            <a:spLocks noChangeShapeType="1"/>
          </p:cNvSpPr>
          <p:nvPr/>
        </p:nvSpPr>
        <p:spPr bwMode="auto">
          <a:xfrm flipV="1">
            <a:off x="4495175" y="3610836"/>
            <a:ext cx="379145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dirty="0">
              <a:latin typeface="微软雅黑 Light" panose="020B0502040204020203" pitchFamily="34" charset="-122"/>
              <a:ea typeface="微软雅黑 Light" panose="020B0502040204020203" pitchFamily="34" charset="-122"/>
            </a:endParaRPr>
          </a:p>
        </p:txBody>
      </p:sp>
      <p:sp>
        <p:nvSpPr>
          <p:cNvPr id="59" name="Text Box 44"/>
          <p:cNvSpPr txBox="1">
            <a:spLocks noChangeArrowheads="1"/>
          </p:cNvSpPr>
          <p:nvPr/>
        </p:nvSpPr>
        <p:spPr bwMode="auto">
          <a:xfrm>
            <a:off x="2436433" y="2552333"/>
            <a:ext cx="235806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指出后续字节数 </a:t>
            </a:r>
            <a:r>
              <a:rPr lang="en-US" altLang="zh-CN" sz="1600" b="1" dirty="0">
                <a:solidFill>
                  <a:srgbClr val="0000FF"/>
                </a:solidFill>
                <a:latin typeface="微软雅黑 Light" panose="020B0502040204020203" pitchFamily="34" charset="-122"/>
                <a:ea typeface="微软雅黑 Light" panose="020B0502040204020203" pitchFamily="34" charset="-122"/>
              </a:rPr>
              <a:t>= 2</a:t>
            </a:r>
          </a:p>
        </p:txBody>
      </p:sp>
      <p:sp>
        <p:nvSpPr>
          <p:cNvPr id="60" name="Text Box 45"/>
          <p:cNvSpPr txBox="1">
            <a:spLocks noChangeArrowheads="1"/>
          </p:cNvSpPr>
          <p:nvPr/>
        </p:nvSpPr>
        <p:spPr bwMode="auto">
          <a:xfrm>
            <a:off x="5497143" y="3434420"/>
            <a:ext cx="1728500" cy="338554"/>
          </a:xfrm>
          <a:prstGeom prst="rect">
            <a:avLst/>
          </a:prstGeom>
          <a:solidFill>
            <a:srgbClr val="C3E3F9"/>
          </a:solidFill>
          <a:ln>
            <a:noFill/>
          </a:ln>
          <a:effectLst/>
        </p:spPr>
        <p:txBody>
          <a:bodyPr>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600" b="1" dirty="0">
                <a:solidFill>
                  <a:srgbClr val="CC00CC"/>
                </a:solidFill>
                <a:latin typeface="微软雅黑 Light" panose="020B0502040204020203" pitchFamily="34" charset="-122"/>
                <a:ea typeface="微软雅黑 Light" panose="020B0502040204020203" pitchFamily="34" charset="-122"/>
              </a:rPr>
              <a:t>后续字节数 </a:t>
            </a:r>
            <a:r>
              <a:rPr lang="en-US" altLang="zh-CN" sz="1600" b="1" dirty="0">
                <a:solidFill>
                  <a:srgbClr val="CC00CC"/>
                </a:solidFill>
                <a:latin typeface="微软雅黑 Light" panose="020B0502040204020203" pitchFamily="34" charset="-122"/>
                <a:ea typeface="微软雅黑 Light" panose="020B0502040204020203" pitchFamily="34" charset="-122"/>
              </a:rPr>
              <a:t>= 2</a:t>
            </a:r>
          </a:p>
        </p:txBody>
      </p:sp>
    </p:spTree>
    <p:extLst>
      <p:ext uri="{BB962C8B-B14F-4D97-AF65-F5344CB8AC3E}">
        <p14:creationId xmlns:p14="http://schemas.microsoft.com/office/powerpoint/2010/main" val="12428709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0968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65727" y="576475"/>
            <a:ext cx="363125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graphicFrame>
        <p:nvGraphicFramePr>
          <p:cNvPr id="5" name="表格 4"/>
          <p:cNvGraphicFramePr>
            <a:graphicFrameLocks noGrp="1"/>
          </p:cNvGraphicFramePr>
          <p:nvPr>
            <p:extLst>
              <p:ext uri="{D42A27DB-BD31-4B8C-83A1-F6EECF244321}">
                <p14:modId xmlns:p14="http://schemas.microsoft.com/office/powerpoint/2010/main" val="3984821246"/>
              </p:ext>
            </p:extLst>
          </p:nvPr>
        </p:nvGraphicFramePr>
        <p:xfrm>
          <a:off x="556964" y="1035483"/>
          <a:ext cx="8048775" cy="3052071"/>
        </p:xfrm>
        <a:graphic>
          <a:graphicData uri="http://schemas.openxmlformats.org/drawingml/2006/table">
            <a:tbl>
              <a:tblPr firstRow="1" bandRow="1">
                <a:tableStyleId>{BC89EF96-8CEA-46FF-86C4-4CE0E7609802}</a:tableStyleId>
              </a:tblPr>
              <a:tblGrid>
                <a:gridCol w="2199678">
                  <a:extLst>
                    <a:ext uri="{9D8B030D-6E8A-4147-A177-3AD203B41FA5}">
                      <a16:colId xmlns:a16="http://schemas.microsoft.com/office/drawing/2014/main" val="20000"/>
                    </a:ext>
                  </a:extLst>
                </a:gridCol>
                <a:gridCol w="901836">
                  <a:extLst>
                    <a:ext uri="{9D8B030D-6E8A-4147-A177-3AD203B41FA5}">
                      <a16:colId xmlns:a16="http://schemas.microsoft.com/office/drawing/2014/main" val="20001"/>
                    </a:ext>
                  </a:extLst>
                </a:gridCol>
                <a:gridCol w="4947261">
                  <a:extLst>
                    <a:ext uri="{9D8B030D-6E8A-4147-A177-3AD203B41FA5}">
                      <a16:colId xmlns:a16="http://schemas.microsoft.com/office/drawing/2014/main" val="20002"/>
                    </a:ext>
                  </a:extLst>
                </a:gridCol>
              </a:tblGrid>
              <a:tr h="277461">
                <a:tc>
                  <a:txBody>
                    <a:bodyPr/>
                    <a:lstStyle/>
                    <a:p>
                      <a:pPr marL="0" algn="ctr" defTabSz="914400" rtl="0" eaLnBrk="1" latinLnBrk="0" hangingPunct="0">
                        <a:lnSpc>
                          <a:spcPts val="1800"/>
                        </a:lnSpc>
                        <a:spcAft>
                          <a:spcPts val="0"/>
                        </a:spcAft>
                      </a:pPr>
                      <a:r>
                        <a:rPr lang="zh-CN" sz="1400" b="1" kern="1200" dirty="0">
                          <a:solidFill>
                            <a:schemeClr val="bg1"/>
                          </a:solidFill>
                          <a:effectLst/>
                          <a:latin typeface="微软雅黑 Light" panose="020B0502040204020203" pitchFamily="34" charset="-122"/>
                          <a:ea typeface="微软雅黑 Light" panose="020B0502040204020203" pitchFamily="34" charset="-122"/>
                        </a:rPr>
                        <a:t>类</a:t>
                      </a:r>
                      <a:r>
                        <a:rPr lang="en-US" sz="1400" b="1" kern="1200" dirty="0">
                          <a:solidFill>
                            <a:schemeClr val="bg1"/>
                          </a:solidFill>
                          <a:effectLst/>
                          <a:latin typeface="微软雅黑 Light" panose="020B0502040204020203" pitchFamily="34" charset="-122"/>
                          <a:ea typeface="微软雅黑 Light" panose="020B0502040204020203" pitchFamily="34" charset="-122"/>
                        </a:rPr>
                        <a:t>   </a:t>
                      </a:r>
                      <a:r>
                        <a:rPr lang="zh-CN" sz="1400" b="1" kern="1200" dirty="0">
                          <a:solidFill>
                            <a:schemeClr val="bg1"/>
                          </a:solidFill>
                          <a:effectLst/>
                          <a:latin typeface="微软雅黑 Light" panose="020B0502040204020203" pitchFamily="34" charset="-122"/>
                          <a:ea typeface="微软雅黑 Light" panose="020B0502040204020203" pitchFamily="34" charset="-122"/>
                        </a:rPr>
                        <a:t>型</a:t>
                      </a:r>
                      <a:endParaRPr lang="zh-CN" sz="1400" b="1" kern="1200" dirty="0">
                        <a:solidFill>
                          <a:schemeClr val="bg1"/>
                        </a:solidFill>
                        <a:effectLst/>
                        <a:latin typeface="微软雅黑 Light" panose="020B0502040204020203" pitchFamily="34" charset="-122"/>
                        <a:ea typeface="微软雅黑 Light" panose="020B0502040204020203" pitchFamily="34" charset="-122"/>
                        <a:cs typeface="+mn-cs"/>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大</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tc>
                  <a:txBody>
                    <a:bodyPr/>
                    <a:lstStyle/>
                    <a:p>
                      <a:pPr algn="ctr" hangingPunct="0">
                        <a:lnSpc>
                          <a:spcPts val="18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说</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明</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2">
                        <a:lumMod val="60000"/>
                        <a:lumOff val="40000"/>
                      </a:schemeClr>
                    </a:solidFill>
                  </a:tcPr>
                </a:tc>
                <a:extLst>
                  <a:ext uri="{0D108BD9-81ED-4DB2-BD59-A6C34878D82A}">
                    <a16:rowId xmlns:a16="http://schemas.microsoft.com/office/drawing/2014/main" val="10000"/>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INTEGER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31</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之间的整数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Interger32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和</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INTEGER </a:t>
                      </a:r>
                      <a:r>
                        <a:rPr lang="zh-CN" sz="1400" b="1" dirty="0">
                          <a:effectLst/>
                          <a:latin typeface="微软雅黑 Light" panose="020B0502040204020203" pitchFamily="34" charset="-122"/>
                          <a:ea typeface="微软雅黑 Light" panose="020B0502040204020203" pitchFamily="34" charset="-122"/>
                        </a:rPr>
                        <a:t>相同</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2"/>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Unsigned32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在</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a:t>
                      </a:r>
                      <a:r>
                        <a:rPr lang="en-US" sz="1400" b="1" dirty="0">
                          <a:effectLst/>
                          <a:latin typeface="微软雅黑 Light" panose="020B0502040204020203" pitchFamily="34" charset="-122"/>
                          <a:ea typeface="微软雅黑 Light" panose="020B0502040204020203" pitchFamily="34" charset="-122"/>
                        </a:rPr>
                        <a:t> – 1 </a:t>
                      </a:r>
                      <a:r>
                        <a:rPr lang="zh-CN" sz="1400" b="1" dirty="0">
                          <a:effectLst/>
                          <a:latin typeface="微软雅黑 Light" panose="020B0502040204020203" pitchFamily="34" charset="-122"/>
                          <a:ea typeface="微软雅黑 Light" panose="020B0502040204020203" pitchFamily="34" charset="-122"/>
                        </a:rPr>
                        <a:t>之间的无符号数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OCTET STRING</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不超过</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65535 </a:t>
                      </a:r>
                      <a:r>
                        <a:rPr lang="zh-CN" sz="1400" b="1" dirty="0">
                          <a:effectLst/>
                          <a:latin typeface="微软雅黑 Light" panose="020B0502040204020203" pitchFamily="34" charset="-122"/>
                          <a:ea typeface="微软雅黑 Light" panose="020B0502040204020203" pitchFamily="34" charset="-122"/>
                        </a:rPr>
                        <a:t>字节长的字节串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4"/>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OBJECT IDENTIFIER</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对象标识符</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5"/>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IPAddress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由</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个整数组成的</a:t>
                      </a:r>
                      <a:r>
                        <a:rPr lang="en-US" sz="1400" b="1" dirty="0">
                          <a:effectLst/>
                          <a:latin typeface="微软雅黑 Light" panose="020B0502040204020203" pitchFamily="34" charset="-122"/>
                          <a:ea typeface="微软雅黑 Light" panose="020B0502040204020203" pitchFamily="34" charset="-122"/>
                        </a:rPr>
                        <a:t>IP</a:t>
                      </a:r>
                      <a:r>
                        <a:rPr lang="zh-CN" sz="1400" b="1" dirty="0">
                          <a:effectLst/>
                          <a:latin typeface="微软雅黑 Light" panose="020B0502040204020203" pitchFamily="34" charset="-122"/>
                          <a:ea typeface="微软雅黑 Light" panose="020B0502040204020203" pitchFamily="34" charset="-122"/>
                        </a:rPr>
                        <a:t>地址</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6"/>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Counter32</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可从</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 </a:t>
                      </a:r>
                      <a:r>
                        <a:rPr lang="zh-CN" sz="1400" b="1" dirty="0">
                          <a:effectLst/>
                          <a:latin typeface="微软雅黑 Light" panose="020B0502040204020203" pitchFamily="34" charset="-122"/>
                          <a:ea typeface="微软雅黑 Light" panose="020B0502040204020203" pitchFamily="34" charset="-122"/>
                        </a:rPr>
                        <a:t>增加到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2</a:t>
                      </a:r>
                      <a:r>
                        <a:rPr lang="en-US" sz="1400" b="1" baseline="30000" dirty="0">
                          <a:effectLst/>
                          <a:latin typeface="微软雅黑 Light" panose="020B0502040204020203" pitchFamily="34" charset="-122"/>
                          <a:ea typeface="微软雅黑 Light" panose="020B0502040204020203" pitchFamily="34" charset="-122"/>
                        </a:rPr>
                        <a:t>32 </a:t>
                      </a:r>
                      <a:r>
                        <a:rPr lang="zh-CN" sz="1400" b="1" dirty="0">
                          <a:effectLst/>
                          <a:latin typeface="微软雅黑 Light" panose="020B0502040204020203" pitchFamily="34" charset="-122"/>
                          <a:ea typeface="微软雅黑 Light" panose="020B0502040204020203" pitchFamily="34" charset="-122"/>
                        </a:rPr>
                        <a:t>的整数；当它到达最大值时就返回到</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0</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7"/>
                  </a:ext>
                </a:extLst>
              </a:tr>
              <a:tr h="277461">
                <a:tc>
                  <a:txBody>
                    <a:bodyPr/>
                    <a:lstStyle/>
                    <a:p>
                      <a:pPr algn="l" hangingPunct="0">
                        <a:lnSpc>
                          <a:spcPts val="1800"/>
                        </a:lnSpc>
                        <a:spcAft>
                          <a:spcPts val="0"/>
                        </a:spcAft>
                      </a:pPr>
                      <a:r>
                        <a:rPr lang="en-US" sz="1400" b="1" dirty="0" err="1">
                          <a:effectLst/>
                          <a:latin typeface="微软雅黑 Light" panose="020B0502040204020203" pitchFamily="34" charset="-122"/>
                          <a:ea typeface="微软雅黑 Light" panose="020B0502040204020203" pitchFamily="34" charset="-122"/>
                        </a:rPr>
                        <a:t>TimeTicks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4 </a:t>
                      </a:r>
                      <a:r>
                        <a:rPr lang="zh-CN" sz="1400" b="1" dirty="0">
                          <a:effectLst/>
                          <a:latin typeface="微软雅黑 Light" panose="020B0502040204020203" pitchFamily="34" charset="-122"/>
                          <a:ea typeface="微软雅黑 Light" panose="020B0502040204020203" pitchFamily="34" charset="-122"/>
                        </a:rPr>
                        <a:t>字节</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记录时间的计数值，以</a:t>
                      </a:r>
                      <a:r>
                        <a:rPr lang="en-US" altLang="zh-CN" sz="1400" b="1" dirty="0">
                          <a:effectLst/>
                          <a:latin typeface="微软雅黑 Light" panose="020B0502040204020203" pitchFamily="34" charset="-122"/>
                          <a:ea typeface="微软雅黑 Light" panose="020B0502040204020203" pitchFamily="34" charset="-122"/>
                        </a:rPr>
                        <a:t> </a:t>
                      </a:r>
                      <a:r>
                        <a:rPr lang="en-US" sz="1400" b="1" dirty="0">
                          <a:effectLst/>
                          <a:latin typeface="微软雅黑 Light" panose="020B0502040204020203" pitchFamily="34" charset="-122"/>
                          <a:ea typeface="微软雅黑 Light" panose="020B0502040204020203" pitchFamily="34" charset="-122"/>
                        </a:rPr>
                        <a:t>1/100 </a:t>
                      </a:r>
                      <a:r>
                        <a:rPr lang="zh-CN" sz="1400" b="1" dirty="0">
                          <a:effectLst/>
                          <a:latin typeface="微软雅黑 Light" panose="020B0502040204020203" pitchFamily="34" charset="-122"/>
                          <a:ea typeface="微软雅黑 Light" panose="020B0502040204020203" pitchFamily="34" charset="-122"/>
                        </a:rPr>
                        <a:t>秒为单位</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08"/>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BITS</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比特串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9"/>
                  </a:ext>
                </a:extLst>
              </a:tr>
              <a:tr h="277461">
                <a:tc>
                  <a:txBody>
                    <a:bodyPr/>
                    <a:lstStyle/>
                    <a:p>
                      <a:pPr algn="l" hangingPunct="0">
                        <a:lnSpc>
                          <a:spcPts val="1800"/>
                        </a:lnSpc>
                        <a:spcAft>
                          <a:spcPts val="0"/>
                        </a:spcAft>
                      </a:pPr>
                      <a:r>
                        <a:rPr lang="en-US" sz="1400" b="1" dirty="0">
                          <a:effectLst/>
                          <a:latin typeface="微软雅黑 Light" panose="020B0502040204020203" pitchFamily="34" charset="-122"/>
                          <a:ea typeface="微软雅黑 Light" panose="020B0502040204020203" pitchFamily="34" charset="-122"/>
                        </a:rPr>
                        <a:t>Opaque</a:t>
                      </a:r>
                      <a:endParaRPr lang="zh-CN" sz="14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可变</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tc>
                  <a:txBody>
                    <a:bodyPr/>
                    <a:lstStyle/>
                    <a:p>
                      <a:pPr algn="l" hangingPunct="0">
                        <a:lnSpc>
                          <a:spcPts val="1800"/>
                        </a:lnSpc>
                        <a:spcAft>
                          <a:spcPts val="0"/>
                        </a:spcAft>
                      </a:pPr>
                      <a:r>
                        <a:rPr lang="zh-CN" sz="1400" b="1" dirty="0">
                          <a:effectLst/>
                          <a:latin typeface="微软雅黑 Light" panose="020B0502040204020203" pitchFamily="34" charset="-122"/>
                          <a:ea typeface="微软雅黑 Light" panose="020B0502040204020203" pitchFamily="34" charset="-122"/>
                        </a:rPr>
                        <a:t>不解释的串</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FFCC"/>
                    </a:solidFill>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41153502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a:latin typeface="微软雅黑 Light" panose="020B0502040204020203" pitchFamily="34" charset="-122"/>
                <a:ea typeface="微软雅黑 Light" panose="020B0502040204020203" pitchFamily="34" charset="-122"/>
              </a:rPr>
              <a:t>INTEGER 15</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02</a:t>
            </a:r>
            <a:r>
              <a:rPr lang="zh-CN" altLang="en-US" sz="2000" b="1" dirty="0">
                <a:latin typeface="微软雅黑 Light" panose="020B0502040204020203" pitchFamily="34" charset="-122"/>
                <a:ea typeface="微软雅黑 Light" panose="020B0502040204020203" pitchFamily="34" charset="-122"/>
              </a:rPr>
              <a:t>， </a:t>
            </a:r>
            <a:r>
              <a:rPr lang="en-US" altLang="zh-CN" sz="2000" b="1" dirty="0">
                <a:latin typeface="微软雅黑 Light" panose="020B0502040204020203" pitchFamily="34" charset="-122"/>
                <a:ea typeface="微软雅黑 Light" panose="020B0502040204020203" pitchFamily="34" charset="-122"/>
              </a:rPr>
              <a:t>INTEGER </a:t>
            </a:r>
            <a:r>
              <a:rPr lang="zh-CN" altLang="en-US" sz="2000" b="1" dirty="0">
                <a:latin typeface="微软雅黑 Light" panose="020B0502040204020203" pitchFamily="34" charset="-122"/>
                <a:ea typeface="微软雅黑 Light" panose="020B0502040204020203" pitchFamily="34" charset="-122"/>
              </a:rPr>
              <a:t>类型要用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字节编码。最后得出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编码为 </a:t>
            </a:r>
            <a:r>
              <a:rPr lang="en-US" altLang="zh-CN" sz="2000" b="1" dirty="0">
                <a:latin typeface="微软雅黑 Light" panose="020B0502040204020203" pitchFamily="34" charset="-122"/>
                <a:ea typeface="微软雅黑 Light" panose="020B0502040204020203" pitchFamily="34" charset="-122"/>
              </a:rPr>
              <a:t>02 04 00 00 00 0F</a:t>
            </a:r>
            <a:r>
              <a:rPr lang="zh-CN" altLang="en-US" sz="2000" b="1" dirty="0">
                <a:latin typeface="微软雅黑 Light" panose="020B0502040204020203" pitchFamily="34" charset="-122"/>
                <a:ea typeface="微软雅黑 Light" panose="020B0502040204020203" pitchFamily="34" charset="-122"/>
              </a:rPr>
              <a:t>。</a:t>
            </a:r>
          </a:p>
        </p:txBody>
      </p:sp>
      <p:grpSp>
        <p:nvGrpSpPr>
          <p:cNvPr id="14" name="组合 13"/>
          <p:cNvGrpSpPr/>
          <p:nvPr/>
        </p:nvGrpSpPr>
        <p:grpSpPr>
          <a:xfrm>
            <a:off x="1819921" y="2016696"/>
            <a:ext cx="5495279" cy="613023"/>
            <a:chOff x="1494111" y="2655888"/>
            <a:chExt cx="5495279" cy="812526"/>
          </a:xfrm>
        </p:grpSpPr>
        <p:sp>
          <p:nvSpPr>
            <p:cNvPr id="5" name="Rectangle 38"/>
            <p:cNvSpPr>
              <a:spLocks noChangeArrowheads="1"/>
            </p:cNvSpPr>
            <p:nvPr/>
          </p:nvSpPr>
          <p:spPr bwMode="auto">
            <a:xfrm>
              <a:off x="1494111" y="2655888"/>
              <a:ext cx="5495279"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3" name="组合 12"/>
            <p:cNvGrpSpPr/>
            <p:nvPr/>
          </p:nvGrpSpPr>
          <p:grpSpPr>
            <a:xfrm>
              <a:off x="3031573" y="2655888"/>
              <a:ext cx="1324693" cy="812526"/>
              <a:chOff x="3031573" y="2655888"/>
              <a:chExt cx="1324693" cy="569913"/>
            </a:xfrm>
          </p:grpSpPr>
          <p:sp>
            <p:nvSpPr>
              <p:cNvPr id="6"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7"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9" name="Text Box 56"/>
          <p:cNvSpPr txBox="1">
            <a:spLocks noChangeArrowheads="1"/>
          </p:cNvSpPr>
          <p:nvPr/>
        </p:nvSpPr>
        <p:spPr bwMode="auto">
          <a:xfrm>
            <a:off x="2355526" y="2044944"/>
            <a:ext cx="4122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02</a:t>
            </a:r>
          </a:p>
        </p:txBody>
      </p:sp>
      <p:sp>
        <p:nvSpPr>
          <p:cNvPr id="10"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1"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00 00 00 0F</a:t>
            </a:r>
          </a:p>
        </p:txBody>
      </p:sp>
    </p:spTree>
    <p:extLst>
      <p:ext uri="{BB962C8B-B14F-4D97-AF65-F5344CB8AC3E}">
        <p14:creationId xmlns:p14="http://schemas.microsoft.com/office/powerpoint/2010/main" val="3161227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046"/>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805069" y="577835"/>
            <a:ext cx="355257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字段定义数据的值</a:t>
            </a:r>
          </a:p>
        </p:txBody>
      </p:sp>
      <p:sp>
        <p:nvSpPr>
          <p:cNvPr id="4" name="Rectangle 68"/>
          <p:cNvSpPr>
            <a:spLocks noChangeArrowheads="1"/>
          </p:cNvSpPr>
          <p:nvPr/>
        </p:nvSpPr>
        <p:spPr bwMode="auto">
          <a:xfrm>
            <a:off x="556962" y="972136"/>
            <a:ext cx="8048777" cy="893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例如，</a:t>
            </a:r>
            <a:r>
              <a:rPr lang="en-US" altLang="zh-CN" sz="2000" b="1" dirty="0" err="1">
                <a:latin typeface="微软雅黑 Light" panose="020B0502040204020203" pitchFamily="34" charset="-122"/>
                <a:ea typeface="微软雅黑 Light" panose="020B0502040204020203" pitchFamily="34" charset="-122"/>
              </a:rPr>
              <a:t>IPAddress</a:t>
            </a:r>
            <a:r>
              <a:rPr lang="en-US" altLang="zh-CN" sz="2000" b="1" dirty="0">
                <a:latin typeface="微软雅黑 Light" panose="020B0502040204020203" pitchFamily="34" charset="-122"/>
                <a:ea typeface="微软雅黑 Light" panose="020B0502040204020203" pitchFamily="34" charset="-122"/>
              </a:rPr>
              <a:t> = 192.1.2.3</a:t>
            </a:r>
            <a:r>
              <a:rPr lang="zh-CN" altLang="en-US" sz="2000" b="1" dirty="0">
                <a:latin typeface="微软雅黑 Light" panose="020B0502040204020203" pitchFamily="34" charset="-122"/>
                <a:ea typeface="微软雅黑 Light" panose="020B0502040204020203" pitchFamily="34" charset="-122"/>
              </a:rPr>
              <a:t>，其 </a:t>
            </a:r>
            <a:r>
              <a:rPr lang="en-US" altLang="zh-CN" sz="2000" b="1" dirty="0">
                <a:latin typeface="微软雅黑 Light" panose="020B0502040204020203" pitchFamily="34" charset="-122"/>
                <a:ea typeface="微软雅黑 Light" panose="020B0502040204020203" pitchFamily="34" charset="-122"/>
              </a:rPr>
              <a:t>T </a:t>
            </a:r>
            <a:r>
              <a:rPr lang="zh-CN" altLang="en-US" sz="2000" b="1" dirty="0">
                <a:latin typeface="微软雅黑 Light" panose="020B0502040204020203" pitchFamily="34" charset="-122"/>
                <a:ea typeface="微软雅黑 Light" panose="020B0502040204020203" pitchFamily="34" charset="-122"/>
              </a:rPr>
              <a:t>字段是 </a:t>
            </a:r>
            <a:r>
              <a:rPr lang="en-US" altLang="zh-CN" sz="2000" b="1" dirty="0">
                <a:latin typeface="微软雅黑 Light" panose="020B0502040204020203" pitchFamily="34" charset="-122"/>
                <a:ea typeface="微软雅黑 Light" panose="020B0502040204020203" pitchFamily="34" charset="-122"/>
              </a:rPr>
              <a:t>40</a:t>
            </a:r>
            <a:r>
              <a:rPr lang="zh-CN" altLang="en-US" sz="2000" b="1" dirty="0">
                <a:latin typeface="微软雅黑 Light" panose="020B0502040204020203" pitchFamily="34" charset="-122"/>
                <a:ea typeface="微软雅黑 Light" panose="020B0502040204020203" pitchFamily="34" charset="-122"/>
              </a:rPr>
              <a:t>，</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字段需要 </a:t>
            </a:r>
            <a:r>
              <a:rPr lang="en-US" altLang="zh-CN" sz="2000" b="1" dirty="0">
                <a:latin typeface="微软雅黑 Light" panose="020B0502040204020203" pitchFamily="34" charset="-122"/>
                <a:ea typeface="微软雅黑 Light" panose="020B0502040204020203" pitchFamily="34" charset="-122"/>
              </a:rPr>
              <a:t>4 </a:t>
            </a:r>
            <a:r>
              <a:rPr lang="zh-CN" altLang="en-US" sz="2000" b="1" dirty="0">
                <a:latin typeface="微软雅黑 Light" panose="020B0502040204020203" pitchFamily="34" charset="-122"/>
                <a:ea typeface="微软雅黑 Light" panose="020B0502040204020203" pitchFamily="34" charset="-122"/>
              </a:rPr>
              <a:t>字节表示，因此得出 </a:t>
            </a:r>
            <a:r>
              <a:rPr lang="en-US" altLang="zh-CN" sz="2000" b="1" dirty="0">
                <a:latin typeface="微软雅黑 Light" panose="020B0502040204020203" pitchFamily="34" charset="-122"/>
                <a:ea typeface="微软雅黑 Light" panose="020B0502040204020203" pitchFamily="34" charset="-122"/>
              </a:rPr>
              <a:t>TLV </a:t>
            </a:r>
            <a:r>
              <a:rPr lang="zh-CN" altLang="en-US" sz="2000" b="1" dirty="0">
                <a:latin typeface="微软雅黑 Light" panose="020B0502040204020203" pitchFamily="34" charset="-122"/>
                <a:ea typeface="微软雅黑 Light" panose="020B0502040204020203" pitchFamily="34" charset="-122"/>
              </a:rPr>
              <a:t>编码是 </a:t>
            </a:r>
            <a:r>
              <a:rPr lang="en-US" altLang="zh-CN" sz="2000" b="1" dirty="0">
                <a:latin typeface="微软雅黑 Light" panose="020B0502040204020203" pitchFamily="34" charset="-122"/>
                <a:ea typeface="微软雅黑 Light" panose="020B0502040204020203" pitchFamily="34" charset="-122"/>
              </a:rPr>
              <a:t>40 04 C0 01 02 03</a:t>
            </a:r>
            <a:r>
              <a:rPr lang="zh-CN" altLang="en-US" sz="2000" b="1" dirty="0">
                <a:latin typeface="微软雅黑 Light" panose="020B0502040204020203" pitchFamily="34" charset="-122"/>
                <a:ea typeface="微软雅黑 Light" panose="020B0502040204020203" pitchFamily="34" charset="-122"/>
              </a:rPr>
              <a:t>。 </a:t>
            </a:r>
          </a:p>
        </p:txBody>
      </p:sp>
      <p:grpSp>
        <p:nvGrpSpPr>
          <p:cNvPr id="10" name="组合 9"/>
          <p:cNvGrpSpPr/>
          <p:nvPr/>
        </p:nvGrpSpPr>
        <p:grpSpPr>
          <a:xfrm>
            <a:off x="1819922" y="2016696"/>
            <a:ext cx="5513033" cy="613023"/>
            <a:chOff x="1494112" y="2655888"/>
            <a:chExt cx="5513033" cy="812526"/>
          </a:xfrm>
        </p:grpSpPr>
        <p:sp>
          <p:nvSpPr>
            <p:cNvPr id="11" name="Rectangle 38"/>
            <p:cNvSpPr>
              <a:spLocks noChangeArrowheads="1"/>
            </p:cNvSpPr>
            <p:nvPr/>
          </p:nvSpPr>
          <p:spPr bwMode="auto">
            <a:xfrm>
              <a:off x="1494112" y="2655888"/>
              <a:ext cx="5513033" cy="812526"/>
            </a:xfrm>
            <a:prstGeom prst="rect">
              <a:avLst/>
            </a:prstGeom>
            <a:solidFill>
              <a:srgbClr val="99FF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nvGrpSpPr>
            <p:cNvPr id="12" name="组合 11"/>
            <p:cNvGrpSpPr/>
            <p:nvPr/>
          </p:nvGrpSpPr>
          <p:grpSpPr>
            <a:xfrm>
              <a:off x="3031573" y="2655888"/>
              <a:ext cx="1324693" cy="812526"/>
              <a:chOff x="3031573" y="2655888"/>
              <a:chExt cx="1324693" cy="569913"/>
            </a:xfrm>
          </p:grpSpPr>
          <p:sp>
            <p:nvSpPr>
              <p:cNvPr id="13" name="Line 39"/>
              <p:cNvSpPr>
                <a:spLocks noChangeShapeType="1"/>
              </p:cNvSpPr>
              <p:nvPr/>
            </p:nvSpPr>
            <p:spPr bwMode="auto">
              <a:xfrm>
                <a:off x="3031573"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sp>
            <p:nvSpPr>
              <p:cNvPr id="14" name="Line 40"/>
              <p:cNvSpPr>
                <a:spLocks noChangeShapeType="1"/>
              </p:cNvSpPr>
              <p:nvPr/>
            </p:nvSpPr>
            <p:spPr bwMode="auto">
              <a:xfrm>
                <a:off x="4356266" y="2655888"/>
                <a:ext cx="0" cy="56991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600" b="1" i="0" u="none" strike="noStrike" kern="0" cap="none" spc="0" normalizeH="0" baseline="0" noProof="0" dirty="0">
                  <a:ln>
                    <a:noFill/>
                  </a:ln>
                  <a:effectLst/>
                  <a:uLnTx/>
                  <a:uFillTx/>
                  <a:latin typeface="微软雅黑 Light" panose="020B0502040204020203" pitchFamily="34" charset="-122"/>
                  <a:ea typeface="微软雅黑 Light" panose="020B0502040204020203" pitchFamily="34" charset="-122"/>
                </a:endParaRPr>
              </a:p>
            </p:txBody>
          </p:sp>
        </p:grpSp>
      </p:grpSp>
      <p:sp>
        <p:nvSpPr>
          <p:cNvPr id="15" name="Text Box 56"/>
          <p:cNvSpPr txBox="1">
            <a:spLocks noChangeArrowheads="1"/>
          </p:cNvSpPr>
          <p:nvPr/>
        </p:nvSpPr>
        <p:spPr bwMode="auto">
          <a:xfrm>
            <a:off x="2353923"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T</a:t>
            </a:r>
          </a:p>
          <a:p>
            <a:pPr algn="ctr"/>
            <a:r>
              <a:rPr kumimoji="1" lang="en-US" altLang="zh-CN" sz="1600" b="1" dirty="0">
                <a:latin typeface="微软雅黑 Light" panose="020B0502040204020203" pitchFamily="34" charset="-122"/>
                <a:ea typeface="微软雅黑 Light" panose="020B0502040204020203" pitchFamily="34" charset="-122"/>
              </a:rPr>
              <a:t>40</a:t>
            </a:r>
          </a:p>
        </p:txBody>
      </p:sp>
      <p:sp>
        <p:nvSpPr>
          <p:cNvPr id="16" name="Text Box 57"/>
          <p:cNvSpPr txBox="1">
            <a:spLocks noChangeArrowheads="1"/>
          </p:cNvSpPr>
          <p:nvPr/>
        </p:nvSpPr>
        <p:spPr bwMode="auto">
          <a:xfrm>
            <a:off x="3832879" y="2044944"/>
            <a:ext cx="415498"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L</a:t>
            </a:r>
          </a:p>
          <a:p>
            <a:pPr algn="ctr"/>
            <a:r>
              <a:rPr kumimoji="1" lang="en-US" altLang="zh-CN" sz="1600" b="1" dirty="0">
                <a:latin typeface="微软雅黑 Light" panose="020B0502040204020203" pitchFamily="34" charset="-122"/>
                <a:ea typeface="微软雅黑 Light" panose="020B0502040204020203" pitchFamily="34" charset="-122"/>
              </a:rPr>
              <a:t>04</a:t>
            </a:r>
          </a:p>
        </p:txBody>
      </p:sp>
      <p:sp>
        <p:nvSpPr>
          <p:cNvPr id="17" name="Text Box 58"/>
          <p:cNvSpPr txBox="1">
            <a:spLocks noChangeArrowheads="1"/>
          </p:cNvSpPr>
          <p:nvPr/>
        </p:nvSpPr>
        <p:spPr bwMode="auto">
          <a:xfrm>
            <a:off x="5350287" y="2044944"/>
            <a:ext cx="1266692" cy="5847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spAutoFit/>
          </a:bodyPr>
          <a:lstStyle/>
          <a:p>
            <a:pPr algn="ctr"/>
            <a:r>
              <a:rPr kumimoji="1" lang="en-US" altLang="zh-CN" sz="1600" b="1" dirty="0">
                <a:latin typeface="微软雅黑 Light" panose="020B0502040204020203" pitchFamily="34" charset="-122"/>
                <a:ea typeface="微软雅黑 Light" panose="020B0502040204020203" pitchFamily="34" charset="-122"/>
              </a:rPr>
              <a:t>V</a:t>
            </a:r>
          </a:p>
          <a:p>
            <a:pPr algn="ctr"/>
            <a:r>
              <a:rPr kumimoji="1" lang="en-US" altLang="zh-CN" sz="1600" b="1" dirty="0">
                <a:latin typeface="微软雅黑 Light" panose="020B0502040204020203" pitchFamily="34" charset="-122"/>
                <a:ea typeface="微软雅黑 Light" panose="020B0502040204020203" pitchFamily="34" charset="-122"/>
              </a:rPr>
              <a:t>C0 01 02 03</a:t>
            </a:r>
          </a:p>
        </p:txBody>
      </p:sp>
    </p:spTree>
    <p:extLst>
      <p:ext uri="{BB962C8B-B14F-4D97-AF65-F5344CB8AC3E}">
        <p14:creationId xmlns:p14="http://schemas.microsoft.com/office/powerpoint/2010/main" val="758779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3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1685243" y="581164"/>
            <a:ext cx="57922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中的 </a:t>
            </a:r>
            <a:r>
              <a:rPr lang="en-US" altLang="zh-CN" sz="2000" b="1" dirty="0">
                <a:solidFill>
                  <a:schemeClr val="bg1"/>
                </a:solidFill>
                <a:latin typeface="微软雅黑 Light" panose="020B0502040204020203" pitchFamily="34" charset="-122"/>
                <a:ea typeface="微软雅黑 Light" panose="020B0502040204020203" pitchFamily="34" charset="-122"/>
              </a:rPr>
              <a:t>V </a:t>
            </a:r>
            <a:r>
              <a:rPr lang="zh-CN" altLang="en-US" sz="2000" b="1" dirty="0">
                <a:solidFill>
                  <a:schemeClr val="bg1"/>
                </a:solidFill>
                <a:latin typeface="微软雅黑 Light" panose="020B0502040204020203" pitchFamily="34" charset="-122"/>
                <a:ea typeface="微软雅黑 Light" panose="020B0502040204020203" pitchFamily="34" charset="-122"/>
              </a:rPr>
              <a:t>字段可嵌套其他数据元素的 </a:t>
            </a:r>
            <a:r>
              <a:rPr lang="en-US" altLang="zh-CN" sz="2000" b="1" dirty="0">
                <a:solidFill>
                  <a:schemeClr val="bg1"/>
                </a:solidFill>
                <a:latin typeface="微软雅黑 Light" panose="020B0502040204020203" pitchFamily="34" charset="-122"/>
                <a:ea typeface="微软雅黑 Light" panose="020B0502040204020203" pitchFamily="34" charset="-122"/>
              </a:rPr>
              <a:t>TLV </a:t>
            </a:r>
            <a:r>
              <a:rPr lang="zh-CN" altLang="en-US" sz="2000" b="1" dirty="0">
                <a:solidFill>
                  <a:schemeClr val="bg1"/>
                </a:solidFill>
                <a:latin typeface="微软雅黑 Light" panose="020B0502040204020203" pitchFamily="34" charset="-122"/>
                <a:ea typeface="微软雅黑 Light" panose="020B0502040204020203" pitchFamily="34" charset="-122"/>
              </a:rPr>
              <a:t>字段</a:t>
            </a:r>
          </a:p>
        </p:txBody>
      </p:sp>
      <p:grpSp>
        <p:nvGrpSpPr>
          <p:cNvPr id="8" name="组合 7"/>
          <p:cNvGrpSpPr/>
          <p:nvPr/>
        </p:nvGrpSpPr>
        <p:grpSpPr>
          <a:xfrm>
            <a:off x="1082567" y="2024558"/>
            <a:ext cx="6663558" cy="925513"/>
            <a:chOff x="1082567" y="2669299"/>
            <a:chExt cx="6663558" cy="925513"/>
          </a:xfrm>
        </p:grpSpPr>
        <p:sp>
          <p:nvSpPr>
            <p:cNvPr id="18" name="Freeform 5"/>
            <p:cNvSpPr>
              <a:spLocks/>
            </p:cNvSpPr>
            <p:nvPr/>
          </p:nvSpPr>
          <p:spPr bwMode="auto">
            <a:xfrm>
              <a:off x="1088006" y="2669299"/>
              <a:ext cx="6656306" cy="352425"/>
            </a:xfrm>
            <a:custGeom>
              <a:avLst/>
              <a:gdLst>
                <a:gd name="T0" fmla="*/ 0 w 3672"/>
                <a:gd name="T1" fmla="*/ 222 h 222"/>
                <a:gd name="T2" fmla="*/ 2556 w 3672"/>
                <a:gd name="T3" fmla="*/ 0 h 222"/>
                <a:gd name="T4" fmla="*/ 3564 w 3672"/>
                <a:gd name="T5" fmla="*/ 6 h 222"/>
                <a:gd name="T6" fmla="*/ 3672 w 3672"/>
                <a:gd name="T7" fmla="*/ 222 h 222"/>
                <a:gd name="T8" fmla="*/ 0 w 3672"/>
                <a:gd name="T9" fmla="*/ 222 h 222"/>
              </a:gdLst>
              <a:ahLst/>
              <a:cxnLst>
                <a:cxn ang="0">
                  <a:pos x="T0" y="T1"/>
                </a:cxn>
                <a:cxn ang="0">
                  <a:pos x="T2" y="T3"/>
                </a:cxn>
                <a:cxn ang="0">
                  <a:pos x="T4" y="T5"/>
                </a:cxn>
                <a:cxn ang="0">
                  <a:pos x="T6" y="T7"/>
                </a:cxn>
                <a:cxn ang="0">
                  <a:pos x="T8" y="T9"/>
                </a:cxn>
              </a:cxnLst>
              <a:rect l="0" t="0" r="r" b="b"/>
              <a:pathLst>
                <a:path w="3672" h="222">
                  <a:moveTo>
                    <a:pt x="0" y="222"/>
                  </a:moveTo>
                  <a:lnTo>
                    <a:pt x="2556" y="0"/>
                  </a:lnTo>
                  <a:lnTo>
                    <a:pt x="3564" y="6"/>
                  </a:lnTo>
                  <a:lnTo>
                    <a:pt x="3672" y="222"/>
                  </a:lnTo>
                  <a:lnTo>
                    <a:pt x="0" y="222"/>
                  </a:lnTo>
                  <a:close/>
                </a:path>
              </a:pathLst>
            </a:custGeom>
            <a:gradFill rotWithShape="1">
              <a:gsLst>
                <a:gs pos="0">
                  <a:srgbClr val="00CCFF"/>
                </a:gs>
                <a:gs pos="100000">
                  <a:srgbClr val="66FF66"/>
                </a:gs>
              </a:gsLst>
              <a:lin ang="5400000" scaled="1"/>
            </a:gradFill>
            <a:ln>
              <a:noFill/>
            </a:ln>
            <a:effectLst/>
            <a:extLst>
              <a:ext uri="{91240B29-F687-4F45-9708-019B960494DF}">
                <a14:hiddenLine xmlns:a14="http://schemas.microsoft.com/office/drawing/2010/main" w="19050" cap="flat" cmpd="sng">
                  <a:solidFill>
                    <a:srgbClr val="333399"/>
                  </a:solidFill>
                  <a:prstDash val="solid"/>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Rectangle 9"/>
            <p:cNvSpPr>
              <a:spLocks noChangeArrowheads="1"/>
            </p:cNvSpPr>
            <p:nvPr/>
          </p:nvSpPr>
          <p:spPr bwMode="auto">
            <a:xfrm>
              <a:off x="1102597" y="3024899"/>
              <a:ext cx="6643528" cy="569913"/>
            </a:xfrm>
            <a:prstGeom prst="rect">
              <a:avLst/>
            </a:prstGeom>
            <a:solidFill>
              <a:srgbClr val="0000FF"/>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1" name="Text Box 14"/>
            <p:cNvSpPr txBox="1">
              <a:spLocks noChangeArrowheads="1"/>
            </p:cNvSpPr>
            <p:nvPr/>
          </p:nvSpPr>
          <p:spPr bwMode="auto">
            <a:xfrm>
              <a:off x="3858732" y="3162514"/>
              <a:ext cx="100219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           V</a:t>
              </a:r>
            </a:p>
          </p:txBody>
        </p:sp>
        <p:sp>
          <p:nvSpPr>
            <p:cNvPr id="22" name="Text Box 15"/>
            <p:cNvSpPr txBox="1">
              <a:spLocks noChangeArrowheads="1"/>
            </p:cNvSpPr>
            <p:nvPr/>
          </p:nvSpPr>
          <p:spPr bwMode="auto">
            <a:xfrm>
              <a:off x="300083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23" name="Text Box 16"/>
            <p:cNvSpPr txBox="1">
              <a:spLocks noChangeArrowheads="1"/>
            </p:cNvSpPr>
            <p:nvPr/>
          </p:nvSpPr>
          <p:spPr bwMode="auto">
            <a:xfrm>
              <a:off x="1429427" y="3170338"/>
              <a:ext cx="922047"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          T</a:t>
              </a:r>
            </a:p>
          </p:txBody>
        </p:sp>
        <p:sp>
          <p:nvSpPr>
            <p:cNvPr id="24" name="Text Box 17"/>
            <p:cNvSpPr txBox="1">
              <a:spLocks noChangeArrowheads="1"/>
            </p:cNvSpPr>
            <p:nvPr/>
          </p:nvSpPr>
          <p:spPr bwMode="auto">
            <a:xfrm>
              <a:off x="6107905" y="3162514"/>
              <a:ext cx="298480"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600" b="1" dirty="0">
                  <a:solidFill>
                    <a:schemeClr val="bg1"/>
                  </a:solidFill>
                  <a:latin typeface="微软雅黑 Light" panose="020B0502040204020203" pitchFamily="34" charset="-122"/>
                  <a:ea typeface="微软雅黑 Light" panose="020B0502040204020203" pitchFamily="34" charset="-122"/>
                </a:rPr>
                <a:t>T</a:t>
              </a:r>
            </a:p>
          </p:txBody>
        </p:sp>
        <p:sp>
          <p:nvSpPr>
            <p:cNvPr id="25" name="Text Box 18"/>
            <p:cNvSpPr txBox="1">
              <a:spLocks noChangeArrowheads="1"/>
            </p:cNvSpPr>
            <p:nvPr/>
          </p:nvSpPr>
          <p:spPr bwMode="auto">
            <a:xfrm>
              <a:off x="6760417" y="3162514"/>
              <a:ext cx="296876"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L</a:t>
              </a:r>
            </a:p>
          </p:txBody>
        </p:sp>
        <p:sp>
          <p:nvSpPr>
            <p:cNvPr id="31" name="Line 93"/>
            <p:cNvSpPr>
              <a:spLocks noChangeShapeType="1"/>
            </p:cNvSpPr>
            <p:nvPr/>
          </p:nvSpPr>
          <p:spPr bwMode="auto">
            <a:xfrm>
              <a:off x="585566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94"/>
            <p:cNvSpPr>
              <a:spLocks noChangeShapeType="1"/>
            </p:cNvSpPr>
            <p:nvPr/>
          </p:nvSpPr>
          <p:spPr bwMode="auto">
            <a:xfrm>
              <a:off x="2928124"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95"/>
            <p:cNvSpPr>
              <a:spLocks noChangeShapeType="1"/>
            </p:cNvSpPr>
            <p:nvPr/>
          </p:nvSpPr>
          <p:spPr bwMode="auto">
            <a:xfrm>
              <a:off x="339943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96"/>
            <p:cNvSpPr>
              <a:spLocks noChangeShapeType="1"/>
            </p:cNvSpPr>
            <p:nvPr/>
          </p:nvSpPr>
          <p:spPr bwMode="auto">
            <a:xfrm>
              <a:off x="6722145"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Line 107"/>
            <p:cNvSpPr>
              <a:spLocks noChangeShapeType="1"/>
            </p:cNvSpPr>
            <p:nvPr/>
          </p:nvSpPr>
          <p:spPr bwMode="auto">
            <a:xfrm flipV="1">
              <a:off x="1082567" y="2686761"/>
              <a:ext cx="4644187"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8" name="Line 108"/>
            <p:cNvSpPr>
              <a:spLocks noChangeShapeType="1"/>
            </p:cNvSpPr>
            <p:nvPr/>
          </p:nvSpPr>
          <p:spPr bwMode="auto">
            <a:xfrm flipH="1">
              <a:off x="5855665" y="2672474"/>
              <a:ext cx="679563" cy="3524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9" name="Line 109"/>
            <p:cNvSpPr>
              <a:spLocks noChangeShapeType="1"/>
            </p:cNvSpPr>
            <p:nvPr/>
          </p:nvSpPr>
          <p:spPr bwMode="auto">
            <a:xfrm>
              <a:off x="7544913" y="2686761"/>
              <a:ext cx="201212" cy="33813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1" name="Line 96"/>
            <p:cNvSpPr>
              <a:spLocks noChangeShapeType="1"/>
            </p:cNvSpPr>
            <p:nvPr/>
          </p:nvSpPr>
          <p:spPr bwMode="auto">
            <a:xfrm>
              <a:off x="7184601" y="3024899"/>
              <a:ext cx="0" cy="5699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42" name="Text Box 18"/>
            <p:cNvSpPr txBox="1">
              <a:spLocks noChangeArrowheads="1"/>
            </p:cNvSpPr>
            <p:nvPr/>
          </p:nvSpPr>
          <p:spPr bwMode="auto">
            <a:xfrm>
              <a:off x="7281248" y="3162514"/>
              <a:ext cx="31931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600" b="1" dirty="0">
                  <a:solidFill>
                    <a:schemeClr val="bg1"/>
                  </a:solidFill>
                  <a:latin typeface="微软雅黑 Light" panose="020B0502040204020203" pitchFamily="34" charset="-122"/>
                  <a:ea typeface="微软雅黑 Light" panose="020B0502040204020203" pitchFamily="34" charset="-122"/>
                </a:rPr>
                <a:t>V</a:t>
              </a:r>
            </a:p>
          </p:txBody>
        </p:sp>
      </p:grpSp>
      <p:grpSp>
        <p:nvGrpSpPr>
          <p:cNvPr id="7" name="组合 6"/>
          <p:cNvGrpSpPr/>
          <p:nvPr/>
        </p:nvGrpSpPr>
        <p:grpSpPr>
          <a:xfrm>
            <a:off x="3808897" y="1484808"/>
            <a:ext cx="3736015" cy="552450"/>
            <a:chOff x="3808897" y="2129549"/>
            <a:chExt cx="3736015" cy="552450"/>
          </a:xfrm>
        </p:grpSpPr>
        <p:sp>
          <p:nvSpPr>
            <p:cNvPr id="20" name="Rectangle 10"/>
            <p:cNvSpPr>
              <a:spLocks noChangeArrowheads="1"/>
            </p:cNvSpPr>
            <p:nvPr/>
          </p:nvSpPr>
          <p:spPr bwMode="auto">
            <a:xfrm>
              <a:off x="3827024" y="2129549"/>
              <a:ext cx="3717888" cy="552450"/>
            </a:xfrm>
            <a:prstGeom prst="rect">
              <a:avLst/>
            </a:prstGeom>
            <a:solidFill>
              <a:srgbClr val="FFFF00"/>
            </a:solidFill>
            <a:ln w="19050">
              <a:solidFill>
                <a:srgbClr val="333399"/>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0"/>
            <p:cNvSpPr txBox="1">
              <a:spLocks noChangeArrowheads="1"/>
            </p:cNvSpPr>
            <p:nvPr/>
          </p:nvSpPr>
          <p:spPr bwMode="auto">
            <a:xfrm>
              <a:off x="3808897" y="2240779"/>
              <a:ext cx="77296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T</a:t>
              </a:r>
            </a:p>
          </p:txBody>
        </p:sp>
        <p:sp>
          <p:nvSpPr>
            <p:cNvPr id="27" name="Rectangle 21"/>
            <p:cNvSpPr>
              <a:spLocks noChangeArrowheads="1"/>
            </p:cNvSpPr>
            <p:nvPr/>
          </p:nvSpPr>
          <p:spPr bwMode="auto">
            <a:xfrm>
              <a:off x="5732193" y="2142249"/>
              <a:ext cx="1812719" cy="533400"/>
            </a:xfrm>
            <a:prstGeom prst="rect">
              <a:avLst/>
            </a:prstGeom>
            <a:solidFill>
              <a:srgbClr val="0000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solidFill>
                  <a:schemeClr val="bg1"/>
                </a:solidFill>
                <a:latin typeface="微软雅黑 Light" panose="020B0502040204020203" pitchFamily="34" charset="-122"/>
                <a:ea typeface="微软雅黑 Light" panose="020B0502040204020203" pitchFamily="34" charset="-122"/>
              </a:endParaRPr>
            </a:p>
          </p:txBody>
        </p:sp>
        <p:sp>
          <p:nvSpPr>
            <p:cNvPr id="28" name="Text Box 22"/>
            <p:cNvSpPr txBox="1">
              <a:spLocks noChangeArrowheads="1"/>
            </p:cNvSpPr>
            <p:nvPr/>
          </p:nvSpPr>
          <p:spPr bwMode="auto">
            <a:xfrm>
              <a:off x="5222818" y="2240779"/>
              <a:ext cx="3882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333399"/>
                  </a:solidFill>
                  <a:latin typeface="微软雅黑 Light" panose="020B0502040204020203" pitchFamily="34" charset="-122"/>
                  <a:ea typeface="微软雅黑 Light" panose="020B0502040204020203" pitchFamily="34" charset="-122"/>
                </a:rPr>
                <a:t>  L</a:t>
              </a:r>
            </a:p>
          </p:txBody>
        </p:sp>
        <p:sp>
          <p:nvSpPr>
            <p:cNvPr id="29" name="Text Box 23"/>
            <p:cNvSpPr txBox="1">
              <a:spLocks noChangeArrowheads="1"/>
            </p:cNvSpPr>
            <p:nvPr/>
          </p:nvSpPr>
          <p:spPr bwMode="auto">
            <a:xfrm>
              <a:off x="5730380" y="2220036"/>
              <a:ext cx="154401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chemeClr val="bg1"/>
                  </a:solidFill>
                  <a:latin typeface="微软雅黑 Light" panose="020B0502040204020203" pitchFamily="34" charset="-122"/>
                  <a:ea typeface="微软雅黑 Light" panose="020B0502040204020203" pitchFamily="34" charset="-122"/>
                </a:rPr>
                <a:t>  name       value</a:t>
              </a:r>
            </a:p>
          </p:txBody>
        </p:sp>
        <p:sp>
          <p:nvSpPr>
            <p:cNvPr id="30" name="Line 90"/>
            <p:cNvSpPr>
              <a:spLocks noChangeShapeType="1"/>
            </p:cNvSpPr>
            <p:nvPr/>
          </p:nvSpPr>
          <p:spPr bwMode="auto">
            <a:xfrm>
              <a:off x="5222818"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Line 105"/>
            <p:cNvSpPr>
              <a:spLocks noChangeShapeType="1"/>
            </p:cNvSpPr>
            <p:nvPr/>
          </p:nvSpPr>
          <p:spPr bwMode="auto">
            <a:xfrm>
              <a:off x="5726754"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6" name="Line 106"/>
            <p:cNvSpPr>
              <a:spLocks noChangeShapeType="1"/>
            </p:cNvSpPr>
            <p:nvPr/>
          </p:nvSpPr>
          <p:spPr bwMode="auto">
            <a:xfrm>
              <a:off x="6535227" y="2129549"/>
              <a:ext cx="0" cy="5524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dirty="0">
                <a:latin typeface="微软雅黑 Light" panose="020B0502040204020203" pitchFamily="34" charset="-122"/>
                <a:ea typeface="微软雅黑 Light" panose="020B0502040204020203" pitchFamily="34" charset="-122"/>
              </a:endParaRPr>
            </a:p>
          </p:txBody>
        </p:sp>
      </p:grpSp>
    </p:spTree>
    <p:extLst>
      <p:ext uri="{BB962C8B-B14F-4D97-AF65-F5344CB8AC3E}">
        <p14:creationId xmlns:p14="http://schemas.microsoft.com/office/powerpoint/2010/main" val="8454228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with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up)">
                                      <p:cBhvr>
                                        <p:cTn id="7" dur="2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5129"/>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977657" y="572858"/>
            <a:ext cx="3188693"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6.7.3  </a:t>
            </a:r>
            <a:r>
              <a:rPr lang="zh-CN" altLang="en-US" sz="2400" b="1" dirty="0">
                <a:solidFill>
                  <a:schemeClr val="bg1"/>
                </a:solidFill>
                <a:latin typeface="微软雅黑 Light" panose="020B0502040204020203" pitchFamily="34" charset="-122"/>
                <a:ea typeface="微软雅黑 Light" panose="020B0502040204020203" pitchFamily="34" charset="-122"/>
              </a:rPr>
              <a:t>管理信息库 </a:t>
            </a:r>
            <a:r>
              <a:rPr lang="en-US" altLang="zh-CN" sz="2400" b="1" dirty="0">
                <a:solidFill>
                  <a:schemeClr val="bg1"/>
                </a:solidFill>
                <a:latin typeface="微软雅黑 Light" panose="020B0502040204020203" pitchFamily="34" charset="-122"/>
                <a:ea typeface="微软雅黑 Light" panose="020B0502040204020203" pitchFamily="34" charset="-122"/>
              </a:rPr>
              <a:t>MIB</a:t>
            </a:r>
            <a:endParaRPr lang="zh-CN" altLang="en-US" sz="2400" b="1" dirty="0">
              <a:solidFill>
                <a:schemeClr val="bg1"/>
              </a:solidFill>
              <a:latin typeface="微软雅黑 Light" panose="020B0502040204020203" pitchFamily="34" charset="-122"/>
              <a:ea typeface="微软雅黑 Light" panose="020B0502040204020203" pitchFamily="34" charset="-122"/>
            </a:endParaRPr>
          </a:p>
        </p:txBody>
      </p:sp>
      <p:sp>
        <p:nvSpPr>
          <p:cNvPr id="7" name="Rectangle 68"/>
          <p:cNvSpPr>
            <a:spLocks noChangeArrowheads="1"/>
          </p:cNvSpPr>
          <p:nvPr/>
        </p:nvSpPr>
        <p:spPr bwMode="auto">
          <a:xfrm>
            <a:off x="556963" y="1009347"/>
            <a:ext cx="8134276"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被管对象必须维持可供管理程序读写的若干控制和状态信息。这些信息总称为</a:t>
            </a:r>
            <a:r>
              <a:rPr lang="zh-CN" altLang="en-US" sz="2000" b="1" dirty="0">
                <a:solidFill>
                  <a:srgbClr val="C00000"/>
                </a:solidFill>
                <a:latin typeface="微软雅黑 Light" panose="020B0502040204020203" pitchFamily="34" charset="-122"/>
                <a:ea typeface="微软雅黑 Light" panose="020B0502040204020203" pitchFamily="34" charset="-122"/>
              </a:rPr>
              <a:t>管理信息库 </a:t>
            </a:r>
            <a:r>
              <a:rPr lang="en-US" altLang="zh-CN" sz="2000" b="1" dirty="0">
                <a:latin typeface="微软雅黑 Light" panose="020B0502040204020203" pitchFamily="34" charset="-122"/>
                <a:ea typeface="微软雅黑 Light" panose="020B0502040204020203" pitchFamily="34" charset="-122"/>
              </a:rPr>
              <a:t>MIB (Management Information Base) </a:t>
            </a:r>
            <a:r>
              <a:rPr lang="zh-CN" altLang="en-US" sz="2000" b="1" dirty="0">
                <a:latin typeface="微软雅黑 Light" panose="020B0502040204020203" pitchFamily="34" charset="-122"/>
                <a:ea typeface="微软雅黑 Light" panose="020B0502040204020203" pitchFamily="34" charset="-122"/>
              </a:rPr>
              <a:t>。</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管理程序使用 </a:t>
            </a:r>
            <a:r>
              <a:rPr lang="en-US" altLang="zh-CN" sz="2000" b="1" dirty="0">
                <a:latin typeface="微软雅黑 Light" panose="020B0502040204020203" pitchFamily="34" charset="-122"/>
                <a:ea typeface="微软雅黑 Light" panose="020B0502040204020203" pitchFamily="34" charset="-122"/>
              </a:rPr>
              <a:t>MIB </a:t>
            </a:r>
            <a:r>
              <a:rPr lang="zh-CN" altLang="en-US" sz="2000" b="1" dirty="0">
                <a:latin typeface="微软雅黑 Light" panose="020B0502040204020203" pitchFamily="34" charset="-122"/>
                <a:ea typeface="微软雅黑 Light" panose="020B0502040204020203" pitchFamily="34" charset="-122"/>
              </a:rPr>
              <a:t>中这些信息的</a:t>
            </a:r>
            <a:r>
              <a:rPr lang="zh-CN" altLang="en-US" sz="2000" b="1" dirty="0">
                <a:solidFill>
                  <a:srgbClr val="C00000"/>
                </a:solidFill>
                <a:latin typeface="微软雅黑 Light" panose="020B0502040204020203" pitchFamily="34" charset="-122"/>
                <a:ea typeface="微软雅黑 Light" panose="020B0502040204020203" pitchFamily="34" charset="-122"/>
              </a:rPr>
              <a:t>值</a:t>
            </a:r>
            <a:r>
              <a:rPr lang="zh-CN" altLang="en-US" sz="2000" b="1" dirty="0">
                <a:latin typeface="微软雅黑 Light" panose="020B0502040204020203" pitchFamily="34" charset="-122"/>
                <a:ea typeface="微软雅黑 Light" panose="020B0502040204020203" pitchFamily="34" charset="-122"/>
              </a:rPr>
              <a:t>对网络进行管理（如读取或重新设置这些值）。</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只有在 </a:t>
            </a:r>
            <a:r>
              <a:rPr lang="en-US" altLang="zh-CN" sz="2000" b="1" dirty="0">
                <a:solidFill>
                  <a:srgbClr val="0000FF"/>
                </a:solidFill>
                <a:latin typeface="微软雅黑 Light" panose="020B0502040204020203" pitchFamily="34" charset="-122"/>
                <a:ea typeface="微软雅黑 Light" panose="020B0502040204020203" pitchFamily="34" charset="-122"/>
              </a:rPr>
              <a:t>MIB </a:t>
            </a:r>
            <a:r>
              <a:rPr lang="zh-CN" altLang="en-US" sz="2000" b="1" dirty="0">
                <a:solidFill>
                  <a:srgbClr val="0000FF"/>
                </a:solidFill>
                <a:latin typeface="微软雅黑 Light" panose="020B0502040204020203" pitchFamily="34" charset="-122"/>
                <a:ea typeface="微软雅黑 Light" panose="020B0502040204020203" pitchFamily="34" charset="-122"/>
              </a:rPr>
              <a:t>中的对象才是 </a:t>
            </a:r>
            <a:r>
              <a:rPr lang="en-US" altLang="zh-CN" sz="2000" b="1" dirty="0">
                <a:solidFill>
                  <a:srgbClr val="0000FF"/>
                </a:solidFill>
                <a:latin typeface="微软雅黑 Light" panose="020B0502040204020203" pitchFamily="34" charset="-122"/>
                <a:ea typeface="微软雅黑 Light" panose="020B0502040204020203" pitchFamily="34" charset="-122"/>
              </a:rPr>
              <a:t>SNMP </a:t>
            </a:r>
            <a:r>
              <a:rPr lang="zh-CN" altLang="en-US" sz="2000" b="1" dirty="0">
                <a:solidFill>
                  <a:srgbClr val="0000FF"/>
                </a:solidFill>
                <a:latin typeface="微软雅黑 Light" panose="020B0502040204020203" pitchFamily="34" charset="-122"/>
                <a:ea typeface="微软雅黑 Light" panose="020B0502040204020203" pitchFamily="34" charset="-122"/>
              </a:rPr>
              <a:t>所能够管理的。</a:t>
            </a:r>
          </a:p>
        </p:txBody>
      </p:sp>
    </p:spTree>
    <p:extLst>
      <p:ext uri="{BB962C8B-B14F-4D97-AF65-F5344CB8AC3E}">
        <p14:creationId xmlns:p14="http://schemas.microsoft.com/office/powerpoint/2010/main" val="30332530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146230" y="582898"/>
            <a:ext cx="487024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SMI </a:t>
            </a:r>
            <a:r>
              <a:rPr lang="zh-CN" altLang="en-US" sz="2000" b="1" dirty="0">
                <a:solidFill>
                  <a:schemeClr val="bg1"/>
                </a:solidFill>
                <a:latin typeface="微软雅黑 Light" panose="020B0502040204020203" pitchFamily="34" charset="-122"/>
                <a:ea typeface="微软雅黑 Light" panose="020B0502040204020203" pitchFamily="34" charset="-122"/>
              </a:rPr>
              <a:t>规定：所有被管对象必须在</a:t>
            </a:r>
            <a:r>
              <a:rPr lang="zh-CN" altLang="en-US" sz="2000" b="1" dirty="0">
                <a:solidFill>
                  <a:srgbClr val="FFFF00"/>
                </a:solidFill>
                <a:latin typeface="微软雅黑 Light" panose="020B0502040204020203" pitchFamily="34" charset="-122"/>
                <a:ea typeface="微软雅黑 Light" panose="020B0502040204020203" pitchFamily="34" charset="-122"/>
              </a:rPr>
              <a:t>命名树</a:t>
            </a:r>
            <a:r>
              <a:rPr lang="zh-CN" altLang="en-US" sz="2000" b="1" dirty="0">
                <a:solidFill>
                  <a:schemeClr val="bg1"/>
                </a:solidFill>
                <a:latin typeface="微软雅黑 Light" panose="020B0502040204020203" pitchFamily="34" charset="-122"/>
                <a:ea typeface="微软雅黑 Light" panose="020B0502040204020203" pitchFamily="34" charset="-122"/>
              </a:rPr>
              <a:t>上</a:t>
            </a:r>
          </a:p>
        </p:txBody>
      </p:sp>
      <p:grpSp>
        <p:nvGrpSpPr>
          <p:cNvPr id="86" name="组合 85"/>
          <p:cNvGrpSpPr/>
          <p:nvPr/>
        </p:nvGrpSpPr>
        <p:grpSpPr>
          <a:xfrm>
            <a:off x="1671762" y="1021028"/>
            <a:ext cx="5826927" cy="3317604"/>
            <a:chOff x="56456" y="1036082"/>
            <a:chExt cx="10454814" cy="5952524"/>
          </a:xfrm>
        </p:grpSpPr>
        <p:sp>
          <p:nvSpPr>
            <p:cNvPr id="5" name="Text Box 105"/>
            <p:cNvSpPr txBox="1">
              <a:spLocks noChangeArrowheads="1"/>
            </p:cNvSpPr>
            <p:nvPr/>
          </p:nvSpPr>
          <p:spPr bwMode="auto">
            <a:xfrm>
              <a:off x="4141616" y="1036082"/>
              <a:ext cx="607442" cy="496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zh-CN" altLang="en-US" sz="1200" b="1" dirty="0">
                  <a:solidFill>
                    <a:schemeClr val="tx1"/>
                  </a:solidFill>
                  <a:latin typeface="微软雅黑 Light" panose="020B0502040204020203" pitchFamily="34" charset="-122"/>
                  <a:ea typeface="微软雅黑 Light" panose="020B0502040204020203" pitchFamily="34" charset="-122"/>
                </a:rPr>
                <a:t>根</a:t>
              </a:r>
            </a:p>
          </p:txBody>
        </p:sp>
        <p:sp>
          <p:nvSpPr>
            <p:cNvPr id="6" name="Text Box 106"/>
            <p:cNvSpPr txBox="1">
              <a:spLocks noChangeArrowheads="1"/>
            </p:cNvSpPr>
            <p:nvPr/>
          </p:nvSpPr>
          <p:spPr bwMode="auto">
            <a:xfrm>
              <a:off x="4157825" y="1548496"/>
              <a:ext cx="9180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a:solidFill>
                    <a:schemeClr val="tx1"/>
                  </a:solidFill>
                  <a:latin typeface="微软雅黑 Light" panose="020B0502040204020203" pitchFamily="34" charset="-122"/>
                  <a:ea typeface="微软雅黑 Light" panose="020B0502040204020203" pitchFamily="34" charset="-122"/>
                </a:rPr>
                <a:t> (1)</a:t>
              </a:r>
            </a:p>
          </p:txBody>
        </p:sp>
        <p:sp>
          <p:nvSpPr>
            <p:cNvPr id="7" name="Text Box 107"/>
            <p:cNvSpPr txBox="1">
              <a:spLocks noChangeArrowheads="1"/>
            </p:cNvSpPr>
            <p:nvPr/>
          </p:nvSpPr>
          <p:spPr bwMode="auto">
            <a:xfrm>
              <a:off x="3019659" y="1601767"/>
              <a:ext cx="109926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(0)</a:t>
              </a:r>
            </a:p>
          </p:txBody>
        </p:sp>
        <p:sp>
          <p:nvSpPr>
            <p:cNvPr id="8" name="Text Box 108"/>
            <p:cNvSpPr txBox="1">
              <a:spLocks noChangeArrowheads="1"/>
            </p:cNvSpPr>
            <p:nvPr/>
          </p:nvSpPr>
          <p:spPr bwMode="auto">
            <a:xfrm>
              <a:off x="5203793" y="1601767"/>
              <a:ext cx="1481791"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iso/</a:t>
              </a:r>
              <a:r>
                <a:rPr kumimoji="1" lang="en-US" altLang="zh-CN" sz="1000" b="1" dirty="0" err="1">
                  <a:solidFill>
                    <a:schemeClr val="tx1"/>
                  </a:solidFill>
                  <a:latin typeface="微软雅黑 Light" panose="020B0502040204020203" pitchFamily="34" charset="-122"/>
                  <a:ea typeface="微软雅黑 Light" panose="020B0502040204020203" pitchFamily="34" charset="-122"/>
                </a:rPr>
                <a:t>itu-t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9" name="Text Box 109"/>
            <p:cNvSpPr txBox="1">
              <a:spLocks noChangeArrowheads="1"/>
            </p:cNvSpPr>
            <p:nvPr/>
          </p:nvSpPr>
          <p:spPr bwMode="auto">
            <a:xfrm>
              <a:off x="3994445" y="2416859"/>
              <a:ext cx="108488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dod</a:t>
              </a:r>
              <a:r>
                <a:rPr kumimoji="1" lang="en-US" altLang="zh-CN" sz="1000" b="1" dirty="0">
                  <a:solidFill>
                    <a:schemeClr val="tx1"/>
                  </a:solidFill>
                  <a:latin typeface="微软雅黑 Light" panose="020B0502040204020203" pitchFamily="34" charset="-122"/>
                  <a:ea typeface="微软雅黑 Light" panose="020B0502040204020203" pitchFamily="34" charset="-122"/>
                </a:rPr>
                <a:t> (6)</a:t>
              </a:r>
            </a:p>
          </p:txBody>
        </p:sp>
        <p:sp>
          <p:nvSpPr>
            <p:cNvPr id="10" name="Text Box 110"/>
            <p:cNvSpPr txBox="1">
              <a:spLocks noChangeArrowheads="1"/>
            </p:cNvSpPr>
            <p:nvPr/>
          </p:nvSpPr>
          <p:spPr bwMode="auto">
            <a:xfrm>
              <a:off x="3745074" y="2859771"/>
              <a:ext cx="503383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internet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 (</a:t>
              </a:r>
              <a:r>
                <a:rPr kumimoji="1" lang="en-US" altLang="zh-CN" sz="1000" b="1" dirty="0" err="1">
                  <a:solidFill>
                    <a:schemeClr val="tx1"/>
                  </a:solidFill>
                  <a:latin typeface="微软雅黑 Light" panose="020B0502040204020203" pitchFamily="34" charset="-122"/>
                  <a:ea typeface="微软雅黑 Light" panose="020B0502040204020203" pitchFamily="34" charset="-122"/>
                  <a:sym typeface="Symbol" pitchFamily="18" charset="2"/>
                </a:rPr>
                <a:t>iso.org.dod.internet</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a:t>
              </a:r>
              <a:endParaRPr kumimoji="1" lang="en-US" altLang="zh-CN" sz="1000" b="1" dirty="0">
                <a:solidFill>
                  <a:schemeClr val="tx1"/>
                </a:solidFill>
                <a:latin typeface="微软雅黑 Light" panose="020B0502040204020203" pitchFamily="34" charset="-122"/>
                <a:ea typeface="微软雅黑 Light" panose="020B0502040204020203" pitchFamily="34" charset="-122"/>
              </a:endParaRPr>
            </a:p>
          </p:txBody>
        </p:sp>
        <p:sp>
          <p:nvSpPr>
            <p:cNvPr id="11" name="Text Box 111"/>
            <p:cNvSpPr txBox="1">
              <a:spLocks noChangeArrowheads="1"/>
            </p:cNvSpPr>
            <p:nvPr/>
          </p:nvSpPr>
          <p:spPr bwMode="auto">
            <a:xfrm>
              <a:off x="3963489" y="3304272"/>
              <a:ext cx="12890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mgmt</a:t>
              </a:r>
              <a:r>
                <a:rPr kumimoji="1" lang="en-US" altLang="zh-CN" sz="1000" b="1" dirty="0">
                  <a:solidFill>
                    <a:schemeClr val="tx1"/>
                  </a:solidFill>
                  <a:latin typeface="微软雅黑 Light" panose="020B0502040204020203" pitchFamily="34" charset="-122"/>
                  <a:ea typeface="微软雅黑 Light" panose="020B0502040204020203" pitchFamily="34" charset="-122"/>
                </a:rPr>
                <a:t> (2)</a:t>
              </a:r>
            </a:p>
          </p:txBody>
        </p:sp>
        <p:sp>
          <p:nvSpPr>
            <p:cNvPr id="12" name="Text Box 112"/>
            <p:cNvSpPr txBox="1">
              <a:spLocks noChangeArrowheads="1"/>
            </p:cNvSpPr>
            <p:nvPr/>
          </p:nvSpPr>
          <p:spPr bwMode="auto">
            <a:xfrm>
              <a:off x="3978966" y="3828145"/>
              <a:ext cx="6532304"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mib-2 (1)           </a:t>
              </a:r>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 (iso.org.dod.internet.mgmt.mib-2)</a:t>
              </a:r>
            </a:p>
          </p:txBody>
        </p:sp>
        <p:sp>
          <p:nvSpPr>
            <p:cNvPr id="13" name="Line 113"/>
            <p:cNvSpPr>
              <a:spLocks noChangeShapeType="1"/>
            </p:cNvSpPr>
            <p:nvPr/>
          </p:nvSpPr>
          <p:spPr bwMode="auto">
            <a:xfrm>
              <a:off x="4443645" y="1465242"/>
              <a:ext cx="0" cy="198438"/>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4" name="Line 114"/>
            <p:cNvSpPr>
              <a:spLocks noChangeShapeType="1"/>
            </p:cNvSpPr>
            <p:nvPr/>
          </p:nvSpPr>
          <p:spPr bwMode="auto">
            <a:xfrm flipH="1">
              <a:off x="4443646" y="2741593"/>
              <a:ext cx="1719" cy="2587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5" name="Line 115"/>
            <p:cNvSpPr>
              <a:spLocks noChangeShapeType="1"/>
            </p:cNvSpPr>
            <p:nvPr/>
          </p:nvSpPr>
          <p:spPr bwMode="auto">
            <a:xfrm flipH="1">
              <a:off x="4443645" y="3209906"/>
              <a:ext cx="0" cy="25558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6" name="Line 116"/>
            <p:cNvSpPr>
              <a:spLocks noChangeShapeType="1"/>
            </p:cNvSpPr>
            <p:nvPr/>
          </p:nvSpPr>
          <p:spPr bwMode="auto">
            <a:xfrm flipV="1">
              <a:off x="3968983" y="3209906"/>
              <a:ext cx="467783" cy="2174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7" name="Line 117"/>
            <p:cNvSpPr>
              <a:spLocks noChangeShapeType="1"/>
            </p:cNvSpPr>
            <p:nvPr/>
          </p:nvSpPr>
          <p:spPr bwMode="auto">
            <a:xfrm>
              <a:off x="4445364" y="3213080"/>
              <a:ext cx="440267" cy="1508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18" name="Text Box 118"/>
            <p:cNvSpPr txBox="1">
              <a:spLocks noChangeArrowheads="1"/>
            </p:cNvSpPr>
            <p:nvPr/>
          </p:nvSpPr>
          <p:spPr bwMode="auto">
            <a:xfrm>
              <a:off x="4030561" y="1951723"/>
              <a:ext cx="1030236"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org (3)</a:t>
              </a:r>
            </a:p>
          </p:txBody>
        </p:sp>
        <p:sp>
          <p:nvSpPr>
            <p:cNvPr id="19" name="Line 119"/>
            <p:cNvSpPr>
              <a:spLocks noChangeShapeType="1"/>
            </p:cNvSpPr>
            <p:nvPr/>
          </p:nvSpPr>
          <p:spPr bwMode="auto">
            <a:xfrm>
              <a:off x="4452243" y="1473181"/>
              <a:ext cx="1073150" cy="17938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0" name="Line 120"/>
            <p:cNvSpPr>
              <a:spLocks noChangeShapeType="1"/>
            </p:cNvSpPr>
            <p:nvPr/>
          </p:nvSpPr>
          <p:spPr bwMode="auto">
            <a:xfrm flipV="1">
              <a:off x="3430688" y="1470005"/>
              <a:ext cx="1009518" cy="21431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1" name="Line 121"/>
            <p:cNvSpPr>
              <a:spLocks noChangeShapeType="1"/>
            </p:cNvSpPr>
            <p:nvPr/>
          </p:nvSpPr>
          <p:spPr bwMode="auto">
            <a:xfrm flipH="1">
              <a:off x="4067010" y="1873231"/>
              <a:ext cx="359437" cy="111125"/>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2" name="Line 122"/>
            <p:cNvSpPr>
              <a:spLocks noChangeShapeType="1"/>
            </p:cNvSpPr>
            <p:nvPr/>
          </p:nvSpPr>
          <p:spPr bwMode="auto">
            <a:xfrm>
              <a:off x="4440206" y="1870055"/>
              <a:ext cx="407590" cy="1143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3" name="Line 123"/>
            <p:cNvSpPr>
              <a:spLocks noChangeShapeType="1"/>
            </p:cNvSpPr>
            <p:nvPr/>
          </p:nvSpPr>
          <p:spPr bwMode="auto">
            <a:xfrm flipH="1">
              <a:off x="4443645" y="1868467"/>
              <a:ext cx="0" cy="177800"/>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4" name="Line 124"/>
            <p:cNvSpPr>
              <a:spLocks noChangeShapeType="1"/>
            </p:cNvSpPr>
            <p:nvPr/>
          </p:nvSpPr>
          <p:spPr bwMode="auto">
            <a:xfrm>
              <a:off x="4443645" y="2355831"/>
              <a:ext cx="0" cy="185737"/>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5" name="Line 125"/>
            <p:cNvSpPr>
              <a:spLocks noChangeShapeType="1"/>
            </p:cNvSpPr>
            <p:nvPr/>
          </p:nvSpPr>
          <p:spPr bwMode="auto">
            <a:xfrm>
              <a:off x="4452244" y="2359005"/>
              <a:ext cx="390393" cy="144462"/>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6" name="Line 126"/>
            <p:cNvSpPr>
              <a:spLocks noChangeShapeType="1"/>
            </p:cNvSpPr>
            <p:nvPr/>
          </p:nvSpPr>
          <p:spPr bwMode="auto">
            <a:xfrm flipH="1">
              <a:off x="3981020" y="2360593"/>
              <a:ext cx="454025" cy="1444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27" name="AutoShape 127"/>
            <p:cNvSpPr>
              <a:spLocks noChangeArrowheads="1"/>
            </p:cNvSpPr>
            <p:nvPr/>
          </p:nvSpPr>
          <p:spPr bwMode="auto">
            <a:xfrm>
              <a:off x="5313180" y="2997849"/>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8" name="AutoShape 128"/>
            <p:cNvSpPr>
              <a:spLocks noChangeArrowheads="1"/>
            </p:cNvSpPr>
            <p:nvPr/>
          </p:nvSpPr>
          <p:spPr bwMode="auto">
            <a:xfrm>
              <a:off x="5390570" y="3966224"/>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29" name="Line 129"/>
            <p:cNvSpPr>
              <a:spLocks noChangeShapeType="1"/>
            </p:cNvSpPr>
            <p:nvPr/>
          </p:nvSpPr>
          <p:spPr bwMode="auto">
            <a:xfrm>
              <a:off x="4448804" y="3659168"/>
              <a:ext cx="1720" cy="276225"/>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30" name="Rectangle 130"/>
            <p:cNvSpPr>
              <a:spLocks noChangeArrowheads="1"/>
            </p:cNvSpPr>
            <p:nvPr/>
          </p:nvSpPr>
          <p:spPr bwMode="auto">
            <a:xfrm>
              <a:off x="56456" y="4294167"/>
              <a:ext cx="9245600" cy="1703388"/>
            </a:xfrm>
            <a:prstGeom prst="rect">
              <a:avLst/>
            </a:prstGeom>
            <a:solidFill>
              <a:srgbClr val="00FFCC"/>
            </a:solidFill>
            <a:ln>
              <a:noFill/>
            </a:ln>
            <a:effectLst/>
            <a:extLst>
              <a:ext uri="{91240B29-F687-4F45-9708-019B960494DF}">
                <a14:hiddenLine xmlns:a14="http://schemas.microsoft.com/office/drawing/2010/main" w="1905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31" name="Text Box 131"/>
            <p:cNvSpPr txBox="1">
              <a:spLocks noChangeArrowheads="1"/>
            </p:cNvSpPr>
            <p:nvPr/>
          </p:nvSpPr>
          <p:spPr bwMode="auto">
            <a:xfrm>
              <a:off x="72398" y="5114694"/>
              <a:ext cx="1271832"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system(1)</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2" name="Text Box 132"/>
            <p:cNvSpPr txBox="1">
              <a:spLocks noChangeArrowheads="1"/>
            </p:cNvSpPr>
            <p:nvPr/>
          </p:nvSpPr>
          <p:spPr bwMode="auto">
            <a:xfrm>
              <a:off x="1290012" y="5095642"/>
              <a:ext cx="149617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interface(2)</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3" name="Text Box 133"/>
            <p:cNvSpPr txBox="1">
              <a:spLocks noChangeArrowheads="1"/>
            </p:cNvSpPr>
            <p:nvPr/>
          </p:nvSpPr>
          <p:spPr bwMode="auto">
            <a:xfrm>
              <a:off x="2707119" y="5095642"/>
              <a:ext cx="797267"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at(3)</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4" name="Text Box 134"/>
            <p:cNvSpPr txBox="1">
              <a:spLocks noChangeArrowheads="1"/>
            </p:cNvSpPr>
            <p:nvPr/>
          </p:nvSpPr>
          <p:spPr bwMode="auto">
            <a:xfrm>
              <a:off x="3518860" y="5095642"/>
              <a:ext cx="79151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a:t>
              </a:r>
              <a:r>
                <a:rPr kumimoji="1" lang="en-US" altLang="zh-CN" sz="1000" b="1" dirty="0">
                  <a:solidFill>
                    <a:schemeClr val="tx1"/>
                  </a:solidFill>
                  <a:latin typeface="微软雅黑 Light" panose="020B0502040204020203" pitchFamily="34" charset="-122"/>
                  <a:ea typeface="微软雅黑 Light" panose="020B0502040204020203" pitchFamily="34" charset="-122"/>
                </a:rPr>
                <a:t>(4)</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5" name="Text Box 135"/>
            <p:cNvSpPr txBox="1">
              <a:spLocks noChangeArrowheads="1"/>
            </p:cNvSpPr>
            <p:nvPr/>
          </p:nvSpPr>
          <p:spPr bwMode="auto">
            <a:xfrm>
              <a:off x="4289327" y="5095642"/>
              <a:ext cx="110214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icmp</a:t>
              </a:r>
              <a:r>
                <a:rPr kumimoji="1" lang="en-US" altLang="zh-CN" sz="1000" b="1" dirty="0">
                  <a:solidFill>
                    <a:schemeClr val="tx1"/>
                  </a:solidFill>
                  <a:latin typeface="微软雅黑 Light" panose="020B0502040204020203" pitchFamily="34" charset="-122"/>
                  <a:ea typeface="微软雅黑 Light" panose="020B0502040204020203" pitchFamily="34" charset="-122"/>
                </a:rPr>
                <a:t>(5)</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6" name="Text Box 136"/>
            <p:cNvSpPr txBox="1">
              <a:spLocks noChangeArrowheads="1"/>
            </p:cNvSpPr>
            <p:nvPr/>
          </p:nvSpPr>
          <p:spPr bwMode="auto">
            <a:xfrm>
              <a:off x="5389994" y="5095642"/>
              <a:ext cx="92094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tcp</a:t>
              </a:r>
              <a:r>
                <a:rPr kumimoji="1" lang="en-US" altLang="zh-CN" sz="1000" b="1" dirty="0">
                  <a:solidFill>
                    <a:schemeClr val="tx1"/>
                  </a:solidFill>
                  <a:latin typeface="微软雅黑 Light" panose="020B0502040204020203" pitchFamily="34" charset="-122"/>
                  <a:ea typeface="微软雅黑 Light" panose="020B0502040204020203" pitchFamily="34" charset="-122"/>
                </a:rPr>
                <a:t>(6)</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7" name="Text Box 137"/>
            <p:cNvSpPr txBox="1">
              <a:spLocks noChangeArrowheads="1"/>
            </p:cNvSpPr>
            <p:nvPr/>
          </p:nvSpPr>
          <p:spPr bwMode="auto">
            <a:xfrm>
              <a:off x="62292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udp</a:t>
              </a:r>
              <a:r>
                <a:rPr kumimoji="1" lang="en-US" altLang="zh-CN" sz="1000" b="1" dirty="0">
                  <a:solidFill>
                    <a:schemeClr val="tx1"/>
                  </a:solidFill>
                  <a:latin typeface="微软雅黑 Light" panose="020B0502040204020203" pitchFamily="34" charset="-122"/>
                  <a:ea typeface="微软雅黑 Light" panose="020B0502040204020203" pitchFamily="34" charset="-122"/>
                </a:rPr>
                <a:t>(7)</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8" name="Text Box 138"/>
            <p:cNvSpPr txBox="1">
              <a:spLocks noChangeArrowheads="1"/>
            </p:cNvSpPr>
            <p:nvPr/>
          </p:nvSpPr>
          <p:spPr bwMode="auto">
            <a:xfrm>
              <a:off x="7219853" y="5095642"/>
              <a:ext cx="1001475"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egp</a:t>
              </a:r>
              <a:r>
                <a:rPr kumimoji="1" lang="en-US" altLang="zh-CN" sz="1000" b="1" dirty="0">
                  <a:solidFill>
                    <a:schemeClr val="tx1"/>
                  </a:solidFill>
                  <a:latin typeface="微软雅黑 Light" panose="020B0502040204020203" pitchFamily="34" charset="-122"/>
                  <a:ea typeface="微软雅黑 Light" panose="020B0502040204020203" pitchFamily="34" charset="-122"/>
                </a:rPr>
                <a:t>(8)</a:t>
              </a:r>
              <a:endPar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endParaRPr>
            </a:p>
          </p:txBody>
        </p:sp>
        <p:sp>
          <p:nvSpPr>
            <p:cNvPr id="39" name="Line 139"/>
            <p:cNvSpPr>
              <a:spLocks noChangeShapeType="1"/>
            </p:cNvSpPr>
            <p:nvPr/>
          </p:nvSpPr>
          <p:spPr bwMode="auto">
            <a:xfrm flipH="1">
              <a:off x="3936306" y="4452917"/>
              <a:ext cx="50390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0" name="Line 140"/>
            <p:cNvSpPr>
              <a:spLocks noChangeShapeType="1"/>
            </p:cNvSpPr>
            <p:nvPr/>
          </p:nvSpPr>
          <p:spPr bwMode="auto">
            <a:xfrm flipV="1">
              <a:off x="716856" y="4452917"/>
              <a:ext cx="37233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1" name="Line 141"/>
            <p:cNvSpPr>
              <a:spLocks noChangeShapeType="1"/>
            </p:cNvSpPr>
            <p:nvPr/>
          </p:nvSpPr>
          <p:spPr bwMode="auto">
            <a:xfrm flipV="1">
              <a:off x="2037656" y="4452917"/>
              <a:ext cx="24025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2" name="Line 142"/>
            <p:cNvSpPr>
              <a:spLocks noChangeShapeType="1"/>
            </p:cNvSpPr>
            <p:nvPr/>
          </p:nvSpPr>
          <p:spPr bwMode="auto">
            <a:xfrm flipV="1">
              <a:off x="3193356" y="4452917"/>
              <a:ext cx="1246850"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3" name="Line 143"/>
            <p:cNvSpPr>
              <a:spLocks noChangeShapeType="1"/>
            </p:cNvSpPr>
            <p:nvPr/>
          </p:nvSpPr>
          <p:spPr bwMode="auto">
            <a:xfrm flipH="1" flipV="1">
              <a:off x="4440205" y="4452917"/>
              <a:ext cx="4041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4" name="Line 144"/>
            <p:cNvSpPr>
              <a:spLocks noChangeShapeType="1"/>
            </p:cNvSpPr>
            <p:nvPr/>
          </p:nvSpPr>
          <p:spPr bwMode="auto">
            <a:xfrm flipH="1" flipV="1">
              <a:off x="4440205" y="4452917"/>
              <a:ext cx="139475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5" name="Line 145"/>
            <p:cNvSpPr>
              <a:spLocks noChangeShapeType="1"/>
            </p:cNvSpPr>
            <p:nvPr/>
          </p:nvSpPr>
          <p:spPr bwMode="auto">
            <a:xfrm flipH="1" flipV="1">
              <a:off x="4440205" y="4452917"/>
              <a:ext cx="23028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6" name="Line 146"/>
            <p:cNvSpPr>
              <a:spLocks noChangeShapeType="1"/>
            </p:cNvSpPr>
            <p:nvPr/>
          </p:nvSpPr>
          <p:spPr bwMode="auto">
            <a:xfrm flipH="1" flipV="1">
              <a:off x="4440205" y="4452917"/>
              <a:ext cx="3293401" cy="731838"/>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7" name="Line 147"/>
            <p:cNvSpPr>
              <a:spLocks noChangeShapeType="1"/>
            </p:cNvSpPr>
            <p:nvPr/>
          </p:nvSpPr>
          <p:spPr bwMode="auto">
            <a:xfrm>
              <a:off x="634306"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8" name="Line 148"/>
            <p:cNvSpPr>
              <a:spLocks noChangeShapeType="1"/>
            </p:cNvSpPr>
            <p:nvPr/>
          </p:nvSpPr>
          <p:spPr bwMode="auto">
            <a:xfrm>
              <a:off x="7168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49" name="Line 149"/>
            <p:cNvSpPr>
              <a:spLocks noChangeShapeType="1"/>
            </p:cNvSpPr>
            <p:nvPr/>
          </p:nvSpPr>
          <p:spPr bwMode="auto">
            <a:xfrm flipH="1">
              <a:off x="386656"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0" name="Text Box 150"/>
            <p:cNvSpPr txBox="1">
              <a:spLocks noChangeArrowheads="1"/>
            </p:cNvSpPr>
            <p:nvPr/>
          </p:nvSpPr>
          <p:spPr bwMode="auto">
            <a:xfrm>
              <a:off x="372898"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1" name="Line 151"/>
            <p:cNvSpPr>
              <a:spLocks noChangeShapeType="1"/>
            </p:cNvSpPr>
            <p:nvPr/>
          </p:nvSpPr>
          <p:spPr bwMode="auto">
            <a:xfrm>
              <a:off x="1851918"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2" name="Line 152"/>
            <p:cNvSpPr>
              <a:spLocks noChangeShapeType="1"/>
            </p:cNvSpPr>
            <p:nvPr/>
          </p:nvSpPr>
          <p:spPr bwMode="auto">
            <a:xfrm>
              <a:off x="19344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3" name="Line 153"/>
            <p:cNvSpPr>
              <a:spLocks noChangeShapeType="1"/>
            </p:cNvSpPr>
            <p:nvPr/>
          </p:nvSpPr>
          <p:spPr bwMode="auto">
            <a:xfrm flipH="1">
              <a:off x="1604268"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4" name="Text Box 154"/>
            <p:cNvSpPr txBox="1">
              <a:spLocks noChangeArrowheads="1"/>
            </p:cNvSpPr>
            <p:nvPr/>
          </p:nvSpPr>
          <p:spPr bwMode="auto">
            <a:xfrm>
              <a:off x="1590511"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5" name="Line 155"/>
            <p:cNvSpPr>
              <a:spLocks noChangeShapeType="1"/>
            </p:cNvSpPr>
            <p:nvPr/>
          </p:nvSpPr>
          <p:spPr bwMode="auto">
            <a:xfrm>
              <a:off x="3069531"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6" name="Line 156"/>
            <p:cNvSpPr>
              <a:spLocks noChangeShapeType="1"/>
            </p:cNvSpPr>
            <p:nvPr/>
          </p:nvSpPr>
          <p:spPr bwMode="auto">
            <a:xfrm>
              <a:off x="31520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7" name="Line 157"/>
            <p:cNvSpPr>
              <a:spLocks noChangeShapeType="1"/>
            </p:cNvSpPr>
            <p:nvPr/>
          </p:nvSpPr>
          <p:spPr bwMode="auto">
            <a:xfrm flipH="1">
              <a:off x="2821881"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58" name="Text Box 158"/>
            <p:cNvSpPr txBox="1">
              <a:spLocks noChangeArrowheads="1"/>
            </p:cNvSpPr>
            <p:nvPr/>
          </p:nvSpPr>
          <p:spPr bwMode="auto">
            <a:xfrm>
              <a:off x="2808123"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59" name="Line 159"/>
            <p:cNvSpPr>
              <a:spLocks noChangeShapeType="1"/>
            </p:cNvSpPr>
            <p:nvPr/>
          </p:nvSpPr>
          <p:spPr bwMode="auto">
            <a:xfrm>
              <a:off x="40326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0" name="Line 160"/>
            <p:cNvSpPr>
              <a:spLocks noChangeShapeType="1"/>
            </p:cNvSpPr>
            <p:nvPr/>
          </p:nvSpPr>
          <p:spPr bwMode="auto">
            <a:xfrm flipH="1">
              <a:off x="37024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1" name="Text Box 161"/>
            <p:cNvSpPr txBox="1">
              <a:spLocks noChangeArrowheads="1"/>
            </p:cNvSpPr>
            <p:nvPr/>
          </p:nvSpPr>
          <p:spPr bwMode="auto">
            <a:xfrm>
              <a:off x="384859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2" name="Line 162"/>
            <p:cNvSpPr>
              <a:spLocks noChangeShapeType="1"/>
            </p:cNvSpPr>
            <p:nvPr/>
          </p:nvSpPr>
          <p:spPr bwMode="auto">
            <a:xfrm>
              <a:off x="48581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3" name="Line 163"/>
            <p:cNvSpPr>
              <a:spLocks noChangeShapeType="1"/>
            </p:cNvSpPr>
            <p:nvPr/>
          </p:nvSpPr>
          <p:spPr bwMode="auto">
            <a:xfrm>
              <a:off x="49406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4" name="Line 164"/>
            <p:cNvSpPr>
              <a:spLocks noChangeShapeType="1"/>
            </p:cNvSpPr>
            <p:nvPr/>
          </p:nvSpPr>
          <p:spPr bwMode="auto">
            <a:xfrm flipH="1">
              <a:off x="46104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5" name="Text Box 165"/>
            <p:cNvSpPr txBox="1">
              <a:spLocks noChangeArrowheads="1"/>
            </p:cNvSpPr>
            <p:nvPr/>
          </p:nvSpPr>
          <p:spPr bwMode="auto">
            <a:xfrm>
              <a:off x="459670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66" name="Line 166"/>
            <p:cNvSpPr>
              <a:spLocks noChangeShapeType="1"/>
            </p:cNvSpPr>
            <p:nvPr/>
          </p:nvSpPr>
          <p:spPr bwMode="auto">
            <a:xfrm>
              <a:off x="584871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7" name="Line 167"/>
            <p:cNvSpPr>
              <a:spLocks noChangeShapeType="1"/>
            </p:cNvSpPr>
            <p:nvPr/>
          </p:nvSpPr>
          <p:spPr bwMode="auto">
            <a:xfrm>
              <a:off x="59312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8" name="Line 168"/>
            <p:cNvSpPr>
              <a:spLocks noChangeShapeType="1"/>
            </p:cNvSpPr>
            <p:nvPr/>
          </p:nvSpPr>
          <p:spPr bwMode="auto">
            <a:xfrm flipH="1">
              <a:off x="560106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69" name="Text Box 169"/>
            <p:cNvSpPr txBox="1">
              <a:spLocks noChangeArrowheads="1"/>
            </p:cNvSpPr>
            <p:nvPr/>
          </p:nvSpPr>
          <p:spPr bwMode="auto">
            <a:xfrm>
              <a:off x="558730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0" name="Line 170"/>
            <p:cNvSpPr>
              <a:spLocks noChangeShapeType="1"/>
            </p:cNvSpPr>
            <p:nvPr/>
          </p:nvSpPr>
          <p:spPr bwMode="auto">
            <a:xfrm>
              <a:off x="77473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1" name="Line 171"/>
            <p:cNvSpPr>
              <a:spLocks noChangeShapeType="1"/>
            </p:cNvSpPr>
            <p:nvPr/>
          </p:nvSpPr>
          <p:spPr bwMode="auto">
            <a:xfrm>
              <a:off x="78299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2" name="Line 172"/>
            <p:cNvSpPr>
              <a:spLocks noChangeShapeType="1"/>
            </p:cNvSpPr>
            <p:nvPr/>
          </p:nvSpPr>
          <p:spPr bwMode="auto">
            <a:xfrm flipH="1">
              <a:off x="74997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3" name="Text Box 173"/>
            <p:cNvSpPr txBox="1">
              <a:spLocks noChangeArrowheads="1"/>
            </p:cNvSpPr>
            <p:nvPr/>
          </p:nvSpPr>
          <p:spPr bwMode="auto">
            <a:xfrm>
              <a:off x="7485957"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4" name="Line 174"/>
            <p:cNvSpPr>
              <a:spLocks noChangeShapeType="1"/>
            </p:cNvSpPr>
            <p:nvPr/>
          </p:nvSpPr>
          <p:spPr bwMode="auto">
            <a:xfrm>
              <a:off x="6756764" y="5489555"/>
              <a:ext cx="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5" name="Line 175"/>
            <p:cNvSpPr>
              <a:spLocks noChangeShapeType="1"/>
            </p:cNvSpPr>
            <p:nvPr/>
          </p:nvSpPr>
          <p:spPr bwMode="auto">
            <a:xfrm>
              <a:off x="68393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6" name="Line 176"/>
            <p:cNvSpPr>
              <a:spLocks noChangeShapeType="1"/>
            </p:cNvSpPr>
            <p:nvPr/>
          </p:nvSpPr>
          <p:spPr bwMode="auto">
            <a:xfrm flipH="1">
              <a:off x="6509114" y="5489555"/>
              <a:ext cx="165100" cy="304800"/>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77" name="Text Box 177"/>
            <p:cNvSpPr txBox="1">
              <a:spLocks noChangeArrowheads="1"/>
            </p:cNvSpPr>
            <p:nvPr/>
          </p:nvSpPr>
          <p:spPr bwMode="auto">
            <a:xfrm>
              <a:off x="6495356" y="5662592"/>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8" name="Text Box 178"/>
            <p:cNvSpPr txBox="1">
              <a:spLocks noChangeArrowheads="1"/>
            </p:cNvSpPr>
            <p:nvPr/>
          </p:nvSpPr>
          <p:spPr bwMode="auto">
            <a:xfrm>
              <a:off x="8394006" y="5129193"/>
              <a:ext cx="498148"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rPr>
                <a:t>…</a:t>
              </a:r>
            </a:p>
          </p:txBody>
        </p:sp>
        <p:sp>
          <p:nvSpPr>
            <p:cNvPr id="79" name="Line 179"/>
            <p:cNvSpPr>
              <a:spLocks noChangeShapeType="1"/>
            </p:cNvSpPr>
            <p:nvPr/>
          </p:nvSpPr>
          <p:spPr bwMode="auto">
            <a:xfrm flipH="1">
              <a:off x="4441925" y="4151293"/>
              <a:ext cx="3440" cy="309563"/>
            </a:xfrm>
            <a:prstGeom prst="line">
              <a:avLst/>
            </a:prstGeom>
            <a:noFill/>
            <a:ln w="2857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0" name="Line 180"/>
            <p:cNvSpPr>
              <a:spLocks noChangeShapeType="1"/>
            </p:cNvSpPr>
            <p:nvPr/>
          </p:nvSpPr>
          <p:spPr bwMode="auto">
            <a:xfrm flipH="1">
              <a:off x="3745409" y="5494318"/>
              <a:ext cx="211534" cy="639763"/>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sp>
          <p:nvSpPr>
            <p:cNvPr id="81" name="Text Box 181"/>
            <p:cNvSpPr txBox="1">
              <a:spLocks noChangeArrowheads="1"/>
            </p:cNvSpPr>
            <p:nvPr/>
          </p:nvSpPr>
          <p:spPr bwMode="auto">
            <a:xfrm>
              <a:off x="2785765" y="6021367"/>
              <a:ext cx="1987993"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err="1">
                  <a:solidFill>
                    <a:schemeClr val="tx1"/>
                  </a:solidFill>
                  <a:latin typeface="微软雅黑 Light" panose="020B0502040204020203" pitchFamily="34" charset="-122"/>
                  <a:ea typeface="微软雅黑 Light" panose="020B0502040204020203" pitchFamily="34" charset="-122"/>
                </a:rPr>
                <a:t>ipInReceives</a:t>
              </a:r>
              <a:r>
                <a:rPr kumimoji="1" lang="en-US" altLang="zh-CN" sz="1000" b="1" dirty="0">
                  <a:solidFill>
                    <a:schemeClr val="tx1"/>
                  </a:solidFill>
                  <a:latin typeface="微软雅黑 Light" panose="020B0502040204020203" pitchFamily="34" charset="-122"/>
                  <a:ea typeface="微软雅黑 Light" panose="020B0502040204020203" pitchFamily="34" charset="-122"/>
                </a:rPr>
                <a:t>(3) </a:t>
              </a:r>
            </a:p>
          </p:txBody>
        </p:sp>
        <p:sp>
          <p:nvSpPr>
            <p:cNvPr id="82" name="AutoShape 182"/>
            <p:cNvSpPr>
              <a:spLocks noChangeArrowheads="1"/>
            </p:cNvSpPr>
            <p:nvPr/>
          </p:nvSpPr>
          <p:spPr bwMode="auto">
            <a:xfrm>
              <a:off x="4733988" y="6134963"/>
              <a:ext cx="495299" cy="228600"/>
            </a:xfrm>
            <a:prstGeom prst="leftArrow">
              <a:avLst>
                <a:gd name="adj1" fmla="val 33333"/>
                <a:gd name="adj2" fmla="val 98148"/>
              </a:avLst>
            </a:prstGeom>
            <a:solidFill>
              <a:srgbClr val="FFFF00"/>
            </a:solidFill>
            <a:ln w="9525">
              <a:solidFill>
                <a:schemeClr val="tx1"/>
              </a:solidFill>
              <a:miter lim="800000"/>
              <a:headEnd/>
              <a:tailEnd/>
            </a:ln>
            <a:effectLst/>
          </p:spPr>
          <p:txBody>
            <a:bodyPr wrap="none" anchor="ctr"/>
            <a:lstStyle/>
            <a:p>
              <a:pPr eaLnBrk="1" hangingPunct="1"/>
              <a:endParaRPr lang="zh-CN" altLang="en-US" sz="1000" b="1" dirty="0">
                <a:latin typeface="微软雅黑 Light" panose="020B0502040204020203" pitchFamily="34" charset="-122"/>
                <a:ea typeface="微软雅黑 Light" panose="020B0502040204020203" pitchFamily="34" charset="-122"/>
              </a:endParaRPr>
            </a:p>
          </p:txBody>
        </p:sp>
        <p:sp>
          <p:nvSpPr>
            <p:cNvPr id="83" name="Text Box 183"/>
            <p:cNvSpPr txBox="1">
              <a:spLocks noChangeArrowheads="1"/>
            </p:cNvSpPr>
            <p:nvPr/>
          </p:nvSpPr>
          <p:spPr bwMode="auto">
            <a:xfrm>
              <a:off x="5130298" y="6021367"/>
              <a:ext cx="1631350"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1.3.6.1.2.1.4.3</a:t>
              </a:r>
            </a:p>
          </p:txBody>
        </p:sp>
        <p:sp>
          <p:nvSpPr>
            <p:cNvPr id="84" name="Text Box 184"/>
            <p:cNvSpPr txBox="1">
              <a:spLocks noChangeArrowheads="1"/>
            </p:cNvSpPr>
            <p:nvPr/>
          </p:nvSpPr>
          <p:spPr bwMode="auto">
            <a:xfrm>
              <a:off x="3119405" y="6546830"/>
              <a:ext cx="5364589" cy="44177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200">
                  <a:solidFill>
                    <a:srgbClr val="333399"/>
                  </a:solidFill>
                  <a:latin typeface="Arial" charset="0"/>
                  <a:ea typeface="黑体" pitchFamily="49" charset="-122"/>
                </a:defRPr>
              </a:lvl1pPr>
              <a:lvl2pPr>
                <a:defRPr sz="2800">
                  <a:solidFill>
                    <a:schemeClr val="tx1"/>
                  </a:solidFill>
                  <a:latin typeface="Tahoma" pitchFamily="34" charset="0"/>
                  <a:ea typeface="宋体" charset="-122"/>
                </a:defRPr>
              </a:lvl2pPr>
              <a:lvl3pPr>
                <a:defRPr sz="2400">
                  <a:solidFill>
                    <a:schemeClr val="tx1"/>
                  </a:solidFill>
                  <a:latin typeface="Tahoma" pitchFamily="34" charset="0"/>
                  <a:ea typeface="宋体" charset="-122"/>
                </a:defRPr>
              </a:lvl3pPr>
              <a:lvl4pPr>
                <a:defRPr sz="2000">
                  <a:solidFill>
                    <a:schemeClr val="tx1"/>
                  </a:solidFill>
                  <a:latin typeface="Tahoma" pitchFamily="34" charset="0"/>
                  <a:ea typeface="宋体" charset="-122"/>
                </a:defRPr>
              </a:lvl4pPr>
              <a:lvl5pPr>
                <a:defRPr sz="2000">
                  <a:solidFill>
                    <a:schemeClr val="tx1"/>
                  </a:solidFill>
                  <a:latin typeface="Tahoma" pitchFamily="34" charset="0"/>
                  <a:ea typeface="宋体" charset="-122"/>
                </a:defRPr>
              </a:lvl5pPr>
              <a:lvl6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6pPr>
              <a:lvl7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7pPr>
              <a:lvl8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8pPr>
              <a:lvl9pPr eaLnBrk="0" fontAlgn="base" hangingPunct="0">
                <a:spcBef>
                  <a:spcPct val="20000"/>
                </a:spcBef>
                <a:spcAft>
                  <a:spcPct val="0"/>
                </a:spcAft>
                <a:buClr>
                  <a:schemeClr val="accent1"/>
                </a:buClr>
                <a:buSzPct val="50000"/>
                <a:buFont typeface="Wingdings" pitchFamily="2" charset="2"/>
                <a:buChar char="n"/>
                <a:defRPr sz="2000">
                  <a:solidFill>
                    <a:schemeClr val="tx1"/>
                  </a:solidFill>
                  <a:latin typeface="Tahoma" pitchFamily="34" charset="0"/>
                  <a:ea typeface="宋体" charset="-122"/>
                </a:defRPr>
              </a:lvl9pPr>
            </a:lstStyle>
            <a:p>
              <a:pPr eaLnBrk="1" hangingPunct="1"/>
              <a:r>
                <a:rPr kumimoji="1" lang="en-US" altLang="zh-CN" sz="1000" b="1" dirty="0">
                  <a:solidFill>
                    <a:schemeClr val="tx1"/>
                  </a:solidFill>
                  <a:latin typeface="微软雅黑 Light" panose="020B0502040204020203" pitchFamily="34" charset="-122"/>
                  <a:ea typeface="微软雅黑 Light" panose="020B0502040204020203" pitchFamily="34" charset="-122"/>
                  <a:sym typeface="Symbol" pitchFamily="18" charset="2"/>
                </a:rPr>
                <a:t>(iso.org.dod.internet.mgmt.mib-2.ip.ipinreceives)</a:t>
              </a:r>
            </a:p>
          </p:txBody>
        </p:sp>
        <p:sp>
          <p:nvSpPr>
            <p:cNvPr id="85" name="Line 185"/>
            <p:cNvSpPr>
              <a:spLocks noChangeShapeType="1"/>
            </p:cNvSpPr>
            <p:nvPr/>
          </p:nvSpPr>
          <p:spPr bwMode="auto">
            <a:xfrm flipH="1" flipV="1">
              <a:off x="5594186" y="6346806"/>
              <a:ext cx="79110" cy="300037"/>
            </a:xfrm>
            <a:prstGeom prst="line">
              <a:avLst/>
            </a:prstGeom>
            <a:noFill/>
            <a:ln w="9525">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dirty="0">
                <a:latin typeface="微软雅黑 Light" panose="020B0502040204020203" pitchFamily="34" charset="-122"/>
                <a:ea typeface="微软雅黑 Light" panose="020B0502040204020203" pitchFamily="34" charset="-122"/>
              </a:endParaRPr>
            </a:p>
          </p:txBody>
        </p:sp>
      </p:grpSp>
      <p:sp>
        <p:nvSpPr>
          <p:cNvPr id="87" name="矩形 86"/>
          <p:cNvSpPr/>
          <p:nvPr/>
        </p:nvSpPr>
        <p:spPr>
          <a:xfrm>
            <a:off x="1103588" y="2314729"/>
            <a:ext cx="7020910" cy="1777682"/>
          </a:xfrm>
          <a:prstGeom prst="rect">
            <a:avLst/>
          </a:prstGeom>
          <a:noFill/>
          <a:ln w="28575">
            <a:solidFill>
              <a:srgbClr val="CC00CC"/>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767755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0" animBg="1"/>
    </p:bldLst>
  </p:timing>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0847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88476" y="575260"/>
            <a:ext cx="418576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节点 </a:t>
            </a:r>
            <a:r>
              <a:rPr lang="en-US" altLang="zh-CN" sz="2000" b="1" dirty="0">
                <a:solidFill>
                  <a:schemeClr val="bg1"/>
                </a:solidFill>
                <a:latin typeface="微软雅黑 Light" panose="020B0502040204020203" pitchFamily="34" charset="-122"/>
                <a:ea typeface="微软雅黑 Light" panose="020B0502040204020203" pitchFamily="34" charset="-122"/>
              </a:rPr>
              <a:t>mib-2 </a:t>
            </a:r>
            <a:r>
              <a:rPr lang="zh-CN" altLang="en-US" sz="2000" b="1" dirty="0">
                <a:solidFill>
                  <a:schemeClr val="bg1"/>
                </a:solidFill>
                <a:latin typeface="微软雅黑 Light" panose="020B0502040204020203" pitchFamily="34" charset="-122"/>
                <a:ea typeface="微软雅黑 Light" panose="020B0502040204020203" pitchFamily="34" charset="-122"/>
              </a:rPr>
              <a:t>所包含的信息类别举例</a:t>
            </a:r>
          </a:p>
        </p:txBody>
      </p:sp>
      <p:graphicFrame>
        <p:nvGraphicFramePr>
          <p:cNvPr id="4" name="内容占位符 6"/>
          <p:cNvGraphicFramePr>
            <a:graphicFrameLocks/>
          </p:cNvGraphicFramePr>
          <p:nvPr>
            <p:extLst>
              <p:ext uri="{D42A27DB-BD31-4B8C-83A1-F6EECF244321}">
                <p14:modId xmlns:p14="http://schemas.microsoft.com/office/powerpoint/2010/main" val="1976540579"/>
              </p:ext>
            </p:extLst>
          </p:nvPr>
        </p:nvGraphicFramePr>
        <p:xfrm>
          <a:off x="556964" y="1054660"/>
          <a:ext cx="8048776" cy="2819906"/>
        </p:xfrm>
        <a:graphic>
          <a:graphicData uri="http://schemas.openxmlformats.org/drawingml/2006/table">
            <a:tbl>
              <a:tblPr/>
              <a:tblGrid>
                <a:gridCol w="2465810">
                  <a:extLst>
                    <a:ext uri="{9D8B030D-6E8A-4147-A177-3AD203B41FA5}">
                      <a16:colId xmlns:a16="http://schemas.microsoft.com/office/drawing/2014/main" val="20000"/>
                    </a:ext>
                  </a:extLst>
                </a:gridCol>
                <a:gridCol w="1395741">
                  <a:extLst>
                    <a:ext uri="{9D8B030D-6E8A-4147-A177-3AD203B41FA5}">
                      <a16:colId xmlns:a16="http://schemas.microsoft.com/office/drawing/2014/main" val="20001"/>
                    </a:ext>
                  </a:extLst>
                </a:gridCol>
                <a:gridCol w="4187225">
                  <a:extLst>
                    <a:ext uri="{9D8B030D-6E8A-4147-A177-3AD203B41FA5}">
                      <a16:colId xmlns:a16="http://schemas.microsoft.com/office/drawing/2014/main" val="20002"/>
                    </a:ext>
                  </a:extLst>
                </a:gridCol>
              </a:tblGrid>
              <a:tr h="369799">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类</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标</a:t>
                      </a:r>
                      <a:r>
                        <a:rPr lang="en-US" sz="1600" b="1" dirty="0">
                          <a:solidFill>
                            <a:schemeClr val="bg1"/>
                          </a:solidFill>
                          <a:effectLst/>
                          <a:latin typeface="微软雅黑 Light" panose="020B0502040204020203" pitchFamily="34" charset="-122"/>
                          <a:ea typeface="微软雅黑 Light" panose="020B0502040204020203" pitchFamily="34" charset="-122"/>
                        </a:rPr>
                        <a:t>  </a:t>
                      </a:r>
                      <a:r>
                        <a:rPr lang="zh-CN" sz="1600" b="1" dirty="0">
                          <a:solidFill>
                            <a:schemeClr val="bg1"/>
                          </a:solidFill>
                          <a:effectLst/>
                          <a:latin typeface="微软雅黑 Light" panose="020B0502040204020203" pitchFamily="34" charset="-122"/>
                          <a:ea typeface="微软雅黑 Light" panose="020B0502040204020203" pitchFamily="34" charset="-122"/>
                        </a:rPr>
                        <a:t>号</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ct val="100000"/>
                        </a:lnSpc>
                        <a:spcAft>
                          <a:spcPts val="0"/>
                        </a:spcAft>
                      </a:pPr>
                      <a:r>
                        <a:rPr lang="zh-CN" sz="1600" b="1" dirty="0">
                          <a:solidFill>
                            <a:schemeClr val="bg1"/>
                          </a:solidFill>
                          <a:effectLst/>
                          <a:latin typeface="微软雅黑 Light" panose="020B0502040204020203" pitchFamily="34" charset="-122"/>
                          <a:ea typeface="微软雅黑 Light" panose="020B0502040204020203" pitchFamily="34" charset="-122"/>
                        </a:rPr>
                        <a:t>所包含的信息</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system</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tabLst>
                          <a:tab pos="2637155" algn="ctr"/>
                          <a:tab pos="5274310" algn="r"/>
                          <a:tab pos="266700" algn="l"/>
                        </a:tabLst>
                      </a:pPr>
                      <a:r>
                        <a:rPr lang="en-US" sz="1600" b="1" dirty="0">
                          <a:effectLst/>
                          <a:latin typeface="微软雅黑 Light" panose="020B0502040204020203" pitchFamily="34" charset="-122"/>
                          <a:ea typeface="微软雅黑 Light" panose="020B0502040204020203" pitchFamily="34" charset="-122"/>
                        </a:rPr>
                        <a:t>(1)</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主机或路由器的操作系统</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95839">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interfaces</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(2)</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各种网络接口</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379234">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address translation</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(3)</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zh-CN" sz="1600" b="1" dirty="0">
                          <a:effectLst/>
                          <a:latin typeface="微软雅黑 Light" panose="020B0502040204020203" pitchFamily="34" charset="-122"/>
                          <a:ea typeface="微软雅黑 Light" panose="020B0502040204020203" pitchFamily="34" charset="-122"/>
                        </a:rPr>
                        <a:t>地址转换（例如，</a:t>
                      </a:r>
                      <a:r>
                        <a:rPr lang="en-US" sz="1600" b="1" dirty="0">
                          <a:effectLst/>
                          <a:latin typeface="微软雅黑 Light" panose="020B0502040204020203" pitchFamily="34" charset="-122"/>
                          <a:ea typeface="微软雅黑 Light" panose="020B0502040204020203" pitchFamily="34" charset="-122"/>
                        </a:rPr>
                        <a:t>ARP </a:t>
                      </a:r>
                      <a:r>
                        <a:rPr lang="zh-CN" sz="1600" b="1" dirty="0">
                          <a:effectLst/>
                          <a:latin typeface="微软雅黑 Light" panose="020B0502040204020203" pitchFamily="34" charset="-122"/>
                          <a:ea typeface="微软雅黑 Light" panose="020B0502040204020203" pitchFamily="34" charset="-122"/>
                        </a:rPr>
                        <a:t>映射）</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(4)</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icmp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(5)</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ICMP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tcp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(6)</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TCP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udp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(7)</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UDP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r h="295839">
                <a:tc>
                  <a:txBody>
                    <a:bodyPr/>
                    <a:lstStyle/>
                    <a:p>
                      <a:pPr algn="just" hangingPunct="0">
                        <a:lnSpc>
                          <a:spcPct val="100000"/>
                        </a:lnSpc>
                        <a:spcAft>
                          <a:spcPts val="0"/>
                        </a:spcAft>
                      </a:pPr>
                      <a:r>
                        <a:rPr lang="en-US" sz="1600" b="1" dirty="0" err="1">
                          <a:effectLst/>
                          <a:latin typeface="微软雅黑 Light" panose="020B0502040204020203" pitchFamily="34" charset="-122"/>
                          <a:ea typeface="微软雅黑 Light" panose="020B0502040204020203" pitchFamily="34" charset="-122"/>
                        </a:rPr>
                        <a:t>egp</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(8)</a:t>
                      </a:r>
                      <a:endParaRPr lang="zh-CN" sz="16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ct val="100000"/>
                        </a:lnSpc>
                        <a:spcAft>
                          <a:spcPts val="0"/>
                        </a:spcAft>
                      </a:pPr>
                      <a:r>
                        <a:rPr lang="en-US" sz="1600" b="1" dirty="0">
                          <a:effectLst/>
                          <a:latin typeface="微软雅黑 Light" panose="020B0502040204020203" pitchFamily="34" charset="-122"/>
                          <a:ea typeface="微软雅黑 Light" panose="020B0502040204020203" pitchFamily="34" charset="-122"/>
                        </a:rPr>
                        <a:t>EGP </a:t>
                      </a:r>
                      <a:r>
                        <a:rPr lang="zh-CN" sz="1600" b="1" dirty="0">
                          <a:effectLst/>
                          <a:latin typeface="微软雅黑 Light" panose="020B0502040204020203" pitchFamily="34" charset="-122"/>
                          <a:ea typeface="微软雅黑 Light" panose="020B0502040204020203" pitchFamily="34" charset="-122"/>
                        </a:rPr>
                        <a:t>软件</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bl>
          </a:graphicData>
        </a:graphic>
      </p:graphicFrame>
    </p:spTree>
    <p:extLst>
      <p:ext uri="{BB962C8B-B14F-4D97-AF65-F5344CB8AC3E}">
        <p14:creationId xmlns:p14="http://schemas.microsoft.com/office/powerpoint/2010/main" val="35153296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97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588136" y="582764"/>
            <a:ext cx="198644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MIB </a:t>
            </a:r>
            <a:r>
              <a:rPr lang="zh-CN" altLang="en-US" sz="2000" b="1" dirty="0">
                <a:solidFill>
                  <a:schemeClr val="bg1"/>
                </a:solidFill>
                <a:latin typeface="微软雅黑 Light" panose="020B0502040204020203" pitchFamily="34" charset="-122"/>
                <a:ea typeface="微软雅黑 Light" panose="020B0502040204020203" pitchFamily="34" charset="-122"/>
              </a:rPr>
              <a:t>变量的例子</a:t>
            </a:r>
          </a:p>
        </p:txBody>
      </p:sp>
      <p:graphicFrame>
        <p:nvGraphicFramePr>
          <p:cNvPr id="5" name="表格 4"/>
          <p:cNvGraphicFramePr>
            <a:graphicFrameLocks noGrp="1"/>
          </p:cNvGraphicFramePr>
          <p:nvPr>
            <p:extLst>
              <p:ext uri="{D42A27DB-BD31-4B8C-83A1-F6EECF244321}">
                <p14:modId xmlns:p14="http://schemas.microsoft.com/office/powerpoint/2010/main" val="2043738461"/>
              </p:ext>
            </p:extLst>
          </p:nvPr>
        </p:nvGraphicFramePr>
        <p:xfrm>
          <a:off x="556963" y="1005312"/>
          <a:ext cx="8048776" cy="3336607"/>
        </p:xfrm>
        <a:graphic>
          <a:graphicData uri="http://schemas.openxmlformats.org/drawingml/2006/table">
            <a:tbl>
              <a:tblPr firstRow="1" bandRow="1">
                <a:tableStyleId>{BDBED569-4797-4DF1-A0F4-6AAB3CD982D8}</a:tableStyleId>
              </a:tblPr>
              <a:tblGrid>
                <a:gridCol w="2356125">
                  <a:extLst>
                    <a:ext uri="{9D8B030D-6E8A-4147-A177-3AD203B41FA5}">
                      <a16:colId xmlns:a16="http://schemas.microsoft.com/office/drawing/2014/main" val="20000"/>
                    </a:ext>
                  </a:extLst>
                </a:gridCol>
                <a:gridCol w="1581292">
                  <a:extLst>
                    <a:ext uri="{9D8B030D-6E8A-4147-A177-3AD203B41FA5}">
                      <a16:colId xmlns:a16="http://schemas.microsoft.com/office/drawing/2014/main" val="20001"/>
                    </a:ext>
                  </a:extLst>
                </a:gridCol>
                <a:gridCol w="4111359">
                  <a:extLst>
                    <a:ext uri="{9D8B030D-6E8A-4147-A177-3AD203B41FA5}">
                      <a16:colId xmlns:a16="http://schemas.microsoft.com/office/drawing/2014/main" val="20002"/>
                    </a:ext>
                  </a:extLst>
                </a:gridCol>
              </a:tblGrid>
              <a:tr h="229552">
                <a:tc>
                  <a:txBody>
                    <a:bodyPr/>
                    <a:lstStyle/>
                    <a:p>
                      <a:pPr algn="ctr" hangingPunct="0">
                        <a:lnSpc>
                          <a:spcPts val="1500"/>
                        </a:lnSpc>
                        <a:spcAft>
                          <a:spcPts val="0"/>
                        </a:spcAft>
                      </a:pPr>
                      <a:r>
                        <a:rPr lang="en-US" sz="1400" b="1" dirty="0">
                          <a:solidFill>
                            <a:schemeClr val="bg1"/>
                          </a:solidFill>
                          <a:effectLst/>
                          <a:latin typeface="微软雅黑 Light" panose="020B0502040204020203" pitchFamily="34" charset="-122"/>
                          <a:ea typeface="微软雅黑 Light" panose="020B0502040204020203" pitchFamily="34" charset="-122"/>
                        </a:rPr>
                        <a:t>MIB </a:t>
                      </a:r>
                      <a:r>
                        <a:rPr lang="zh-CN" sz="1400" b="1" dirty="0">
                          <a:solidFill>
                            <a:schemeClr val="bg1"/>
                          </a:solidFill>
                          <a:effectLst/>
                          <a:latin typeface="微软雅黑 Light" panose="020B0502040204020203" pitchFamily="34" charset="-122"/>
                          <a:ea typeface="微软雅黑 Light" panose="020B0502040204020203" pitchFamily="34" charset="-122"/>
                        </a:rPr>
                        <a:t>变量</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所属类别</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tc>
                  <a:txBody>
                    <a:bodyPr/>
                    <a:lstStyle/>
                    <a:p>
                      <a:pPr algn="ctr" hangingPunct="0">
                        <a:lnSpc>
                          <a:spcPts val="1500"/>
                        </a:lnSpc>
                        <a:spcAft>
                          <a:spcPts val="0"/>
                        </a:spcAft>
                      </a:pPr>
                      <a:r>
                        <a:rPr lang="zh-CN" sz="1400" b="1" dirty="0">
                          <a:solidFill>
                            <a:schemeClr val="bg1"/>
                          </a:solidFill>
                          <a:effectLst/>
                          <a:latin typeface="微软雅黑 Light" panose="020B0502040204020203" pitchFamily="34" charset="-122"/>
                          <a:ea typeface="微软雅黑 Light" panose="020B0502040204020203" pitchFamily="34" charset="-122"/>
                        </a:rPr>
                        <a:t>意</a:t>
                      </a:r>
                      <a:r>
                        <a:rPr lang="en-US" sz="1400" b="1" dirty="0">
                          <a:solidFill>
                            <a:schemeClr val="bg1"/>
                          </a:solidFill>
                          <a:effectLst/>
                          <a:latin typeface="微软雅黑 Light" panose="020B0502040204020203" pitchFamily="34" charset="-122"/>
                          <a:ea typeface="微软雅黑 Light" panose="020B0502040204020203" pitchFamily="34" charset="-122"/>
                        </a:rPr>
                        <a:t>    </a:t>
                      </a:r>
                      <a:r>
                        <a:rPr lang="zh-CN" sz="1400" b="1" dirty="0">
                          <a:solidFill>
                            <a:schemeClr val="bg1"/>
                          </a:solidFill>
                          <a:effectLst/>
                          <a:latin typeface="微软雅黑 Light" panose="020B0502040204020203" pitchFamily="34" charset="-122"/>
                          <a:ea typeface="微软雅黑 Light" panose="020B0502040204020203" pitchFamily="34" charset="-122"/>
                        </a:rPr>
                        <a:t>义</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60000"/>
                        <a:lumOff val="40000"/>
                      </a:schemeClr>
                    </a:solidFill>
                  </a:tcPr>
                </a:tc>
                <a:extLst>
                  <a:ext uri="{0D108BD9-81ED-4DB2-BD59-A6C34878D82A}">
                    <a16:rowId xmlns:a16="http://schemas.microsoft.com/office/drawing/2014/main" val="1000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sysUpTime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tabLst>
                          <a:tab pos="2637155" algn="ctr"/>
                          <a:tab pos="5274310" algn="r"/>
                          <a:tab pos="266700" algn="l"/>
                        </a:tabLst>
                      </a:pPr>
                      <a:r>
                        <a:rPr lang="en-US" sz="1200" b="1" dirty="0">
                          <a:effectLst/>
                          <a:latin typeface="微软雅黑 Light" panose="020B0502040204020203" pitchFamily="34" charset="-122"/>
                          <a:ea typeface="微软雅黑 Light" panose="020B0502040204020203" pitchFamily="34" charset="-122"/>
                        </a:rPr>
                        <a:t>system</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距上次重启动的时间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ifNumber</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网络接口数</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ifMtu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interfaces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特定接口的最大传送单元</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MTU</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ipDefaultTTL</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在生存时间字段中使用的值</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ipInReceives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接收到的数据报数目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ipForwDatagrams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转发的数据报数目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6"/>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ipOutNoRoutes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路由选择失败的数目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ipReasmOKs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重装的数据报数目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08"/>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ipFragOKs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分片的数据报数目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09"/>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ipRoutingTable</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IP </a:t>
                      </a:r>
                      <a:r>
                        <a:rPr lang="zh-CN" sz="1200" b="1" dirty="0">
                          <a:effectLst/>
                          <a:latin typeface="微软雅黑 Light" panose="020B0502040204020203" pitchFamily="34" charset="-122"/>
                          <a:ea typeface="微软雅黑 Light" panose="020B0502040204020203" pitchFamily="34" charset="-122"/>
                        </a:rPr>
                        <a:t>路由表</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0"/>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icmpInEchos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icmp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ICMP </a:t>
                      </a:r>
                      <a:r>
                        <a:rPr lang="zh-CN" sz="1200" b="1" dirty="0">
                          <a:effectLst/>
                          <a:latin typeface="微软雅黑 Light" panose="020B0502040204020203" pitchFamily="34" charset="-122"/>
                          <a:ea typeface="微软雅黑 Light" panose="020B0502040204020203" pitchFamily="34" charset="-122"/>
                        </a:rPr>
                        <a:t>回送请求数目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1"/>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tcpRtoMin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允许的最小重传时间</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2"/>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tcpMaxConn</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允许的最大</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连接数目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3"/>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tcpInSegs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tcp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TCP </a:t>
                      </a:r>
                      <a:r>
                        <a:rPr lang="zh-CN" sz="1200" b="1" dirty="0">
                          <a:effectLst/>
                          <a:latin typeface="微软雅黑 Light" panose="020B0502040204020203" pitchFamily="34" charset="-122"/>
                          <a:ea typeface="微软雅黑 Light" panose="020B0502040204020203" pitchFamily="34" charset="-122"/>
                        </a:rPr>
                        <a:t>报文段数目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9FFCC"/>
                    </a:solidFill>
                  </a:tcPr>
                </a:tc>
                <a:extLst>
                  <a:ext uri="{0D108BD9-81ED-4DB2-BD59-A6C34878D82A}">
                    <a16:rowId xmlns:a16="http://schemas.microsoft.com/office/drawing/2014/main" val="10014"/>
                  </a:ext>
                </a:extLst>
              </a:tr>
              <a:tr h="207137">
                <a:tc>
                  <a:txBody>
                    <a:bodyPr/>
                    <a:lstStyle/>
                    <a:p>
                      <a:pPr algn="just"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udpInDatagrams</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hangingPunct="0">
                        <a:lnSpc>
                          <a:spcPts val="1500"/>
                        </a:lnSpc>
                        <a:spcAft>
                          <a:spcPts val="0"/>
                        </a:spcAft>
                      </a:pPr>
                      <a:r>
                        <a:rPr lang="en-US" sz="1200" b="1" dirty="0" err="1">
                          <a:effectLst/>
                          <a:latin typeface="微软雅黑 Light" panose="020B0502040204020203" pitchFamily="34" charset="-122"/>
                          <a:ea typeface="微软雅黑 Light" panose="020B0502040204020203" pitchFamily="34" charset="-122"/>
                        </a:rPr>
                        <a:t>udp</a:t>
                      </a:r>
                      <a:endParaRPr lang="zh-CN" sz="1200" b="1" dirty="0">
                        <a:effectLst/>
                        <a:latin typeface="微软雅黑 Light" panose="020B0502040204020203" pitchFamily="34" charset="-122"/>
                        <a:ea typeface="微软雅黑 Light" panose="020B0502040204020203" pitchFamily="34" charset="-122"/>
                      </a:endParaRP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just" hangingPunct="0">
                        <a:lnSpc>
                          <a:spcPts val="1500"/>
                        </a:lnSpc>
                        <a:spcAft>
                          <a:spcPts val="0"/>
                        </a:spcAft>
                      </a:pPr>
                      <a:r>
                        <a:rPr lang="zh-CN" sz="1200" b="1" dirty="0">
                          <a:effectLst/>
                          <a:latin typeface="微软雅黑 Light" panose="020B0502040204020203" pitchFamily="34" charset="-122"/>
                          <a:ea typeface="微软雅黑 Light" panose="020B0502040204020203" pitchFamily="34" charset="-122"/>
                        </a:rPr>
                        <a:t>已收到的</a:t>
                      </a:r>
                      <a:r>
                        <a:rPr lang="en-US" altLang="zh-CN" sz="1200" b="1" dirty="0">
                          <a:effectLst/>
                          <a:latin typeface="微软雅黑 Light" panose="020B0502040204020203" pitchFamily="34" charset="-122"/>
                          <a:ea typeface="微软雅黑 Light" panose="020B0502040204020203" pitchFamily="34" charset="-122"/>
                        </a:rPr>
                        <a:t> </a:t>
                      </a:r>
                      <a:r>
                        <a:rPr lang="en-US" sz="1200" b="1" dirty="0">
                          <a:effectLst/>
                          <a:latin typeface="微软雅黑 Light" panose="020B0502040204020203" pitchFamily="34" charset="-122"/>
                          <a:ea typeface="微软雅黑 Light" panose="020B0502040204020203" pitchFamily="34" charset="-122"/>
                        </a:rPr>
                        <a:t>UDP </a:t>
                      </a:r>
                      <a:r>
                        <a:rPr lang="zh-CN" sz="1200" b="1" dirty="0">
                          <a:effectLst/>
                          <a:latin typeface="微软雅黑 Light" panose="020B0502040204020203" pitchFamily="34" charset="-122"/>
                          <a:ea typeface="微软雅黑 Light" panose="020B0502040204020203" pitchFamily="34" charset="-122"/>
                        </a:rPr>
                        <a:t>数据报数目</a:t>
                      </a:r>
                    </a:p>
                  </a:txBody>
                  <a:tcPr marL="68580" marR="68580"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0015"/>
                  </a:ext>
                </a:extLst>
              </a:tr>
            </a:tbl>
          </a:graphicData>
        </a:graphic>
      </p:graphicFrame>
    </p:spTree>
    <p:extLst>
      <p:ext uri="{BB962C8B-B14F-4D97-AF65-F5344CB8AC3E}">
        <p14:creationId xmlns:p14="http://schemas.microsoft.com/office/powerpoint/2010/main" val="18627206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6285"/>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451070" y="610590"/>
            <a:ext cx="424186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Light" panose="020B0502040204020203" pitchFamily="34" charset="-122"/>
                <a:ea typeface="微软雅黑 Light" panose="020B0502040204020203" pitchFamily="34" charset="-122"/>
              </a:rPr>
              <a:t>6.7.4  SNMP </a:t>
            </a:r>
            <a:r>
              <a:rPr lang="zh-CN" altLang="en-US" sz="2000" b="1" dirty="0">
                <a:solidFill>
                  <a:schemeClr val="bg1"/>
                </a:solidFill>
                <a:latin typeface="微软雅黑 Light" panose="020B0502040204020203" pitchFamily="34" charset="-122"/>
                <a:ea typeface="微软雅黑 Light" panose="020B0502040204020203" pitchFamily="34" charset="-122"/>
              </a:rPr>
              <a:t>的协议数据单元和报文</a:t>
            </a:r>
          </a:p>
        </p:txBody>
      </p:sp>
      <p:sp>
        <p:nvSpPr>
          <p:cNvPr id="4" name="Rectangle 68"/>
          <p:cNvSpPr>
            <a:spLocks noChangeArrowheads="1"/>
          </p:cNvSpPr>
          <p:nvPr/>
        </p:nvSpPr>
        <p:spPr bwMode="auto">
          <a:xfrm>
            <a:off x="483810" y="1010503"/>
            <a:ext cx="8121929"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的操作只有</a:t>
            </a:r>
            <a:r>
              <a:rPr lang="zh-CN" altLang="en-US" sz="2000" b="1" dirty="0">
                <a:solidFill>
                  <a:srgbClr val="C00000"/>
                </a:solidFill>
                <a:latin typeface="微软雅黑 Light" panose="020B0502040204020203" pitchFamily="34" charset="-122"/>
                <a:ea typeface="微软雅黑 Light" panose="020B0502040204020203" pitchFamily="34" charset="-122"/>
              </a:rPr>
              <a:t>两种</a:t>
            </a:r>
            <a:r>
              <a:rPr lang="zh-CN" altLang="en-US" sz="2000" b="1" dirty="0">
                <a:latin typeface="微软雅黑 Light" panose="020B0502040204020203" pitchFamily="34" charset="-122"/>
                <a:ea typeface="微软雅黑 Light" panose="020B0502040204020203" pitchFamily="34" charset="-122"/>
              </a:rPr>
              <a:t>基本的管理功能：</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读</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报文来检测各被管对象的状况；</a:t>
            </a:r>
          </a:p>
          <a:p>
            <a:pPr marL="633413" indent="-342900" eaLnBrk="0" hangingPunct="0">
              <a:lnSpc>
                <a:spcPts val="3300"/>
              </a:lnSpc>
              <a:buClr>
                <a:srgbClr val="9900CC"/>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a:t>
            </a:r>
            <a:r>
              <a:rPr lang="zh-CN" altLang="en-US" sz="2000" b="1" dirty="0">
                <a:solidFill>
                  <a:srgbClr val="0000FF"/>
                </a:solidFill>
                <a:latin typeface="微软雅黑 Light" panose="020B0502040204020203" pitchFamily="34" charset="-122"/>
                <a:ea typeface="微软雅黑 Light" panose="020B0502040204020203" pitchFamily="34" charset="-122"/>
              </a:rPr>
              <a:t>写</a:t>
            </a:r>
            <a:r>
              <a:rPr lang="zh-CN" altLang="en-US" sz="2000" b="1" dirty="0">
                <a:latin typeface="微软雅黑 Light" panose="020B0502040204020203" pitchFamily="34" charset="-122"/>
                <a:ea typeface="微软雅黑 Light" panose="020B0502040204020203" pitchFamily="34" charset="-122"/>
              </a:rPr>
              <a:t>”操作，用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报文来改变各被管对象的状况。</a:t>
            </a:r>
          </a:p>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的这些功能通过</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操作来实现。</a:t>
            </a:r>
          </a:p>
        </p:txBody>
      </p:sp>
    </p:spTree>
    <p:extLst>
      <p:ext uri="{BB962C8B-B14F-4D97-AF65-F5344CB8AC3E}">
        <p14:creationId xmlns:p14="http://schemas.microsoft.com/office/powerpoint/2010/main" val="3213513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82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06996" y="581618"/>
            <a:ext cx="234872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的探询操作</a:t>
            </a:r>
          </a:p>
        </p:txBody>
      </p:sp>
      <p:sp>
        <p:nvSpPr>
          <p:cNvPr id="4" name="Rectangle 68"/>
          <p:cNvSpPr>
            <a:spLocks noChangeArrowheads="1"/>
          </p:cNvSpPr>
          <p:nvPr/>
        </p:nvSpPr>
        <p:spPr bwMode="auto">
          <a:xfrm>
            <a:off x="483810" y="921055"/>
            <a:ext cx="8121929"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0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管理进程</a:t>
            </a:r>
            <a:r>
              <a:rPr lang="zh-CN" altLang="en-US" sz="2000" b="1" dirty="0">
                <a:solidFill>
                  <a:srgbClr val="C00000"/>
                </a:solidFill>
                <a:latin typeface="微软雅黑 Light" panose="020B0502040204020203" pitchFamily="34" charset="-122"/>
                <a:ea typeface="微软雅黑 Light" panose="020B0502040204020203" pitchFamily="34" charset="-122"/>
              </a:rPr>
              <a:t>定时</a:t>
            </a:r>
            <a:r>
              <a:rPr lang="zh-CN" altLang="en-US" sz="2000" b="1" dirty="0">
                <a:latin typeface="微软雅黑 Light" panose="020B0502040204020203" pitchFamily="34" charset="-122"/>
                <a:ea typeface="微软雅黑 Light" panose="020B0502040204020203" pitchFamily="34" charset="-122"/>
              </a:rPr>
              <a:t>向被管理设备</a:t>
            </a:r>
            <a:r>
              <a:rPr lang="zh-CN" altLang="en-US" sz="2000" b="1" dirty="0">
                <a:solidFill>
                  <a:srgbClr val="C00000"/>
                </a:solidFill>
                <a:latin typeface="微软雅黑 Light" panose="020B0502040204020203" pitchFamily="34" charset="-122"/>
                <a:ea typeface="微软雅黑 Light" panose="020B0502040204020203" pitchFamily="34" charset="-122"/>
              </a:rPr>
              <a:t>周期性</a:t>
            </a:r>
            <a:r>
              <a:rPr lang="zh-CN" altLang="en-US" sz="2000" b="1" dirty="0">
                <a:latin typeface="微软雅黑 Light" panose="020B0502040204020203" pitchFamily="34" charset="-122"/>
                <a:ea typeface="微软雅黑 Light" panose="020B0502040204020203" pitchFamily="34" charset="-122"/>
              </a:rPr>
              <a:t>地发送探询信息。</a:t>
            </a:r>
          </a:p>
          <a:p>
            <a:pPr marL="342900" indent="-342900" eaLnBrk="0" hangingPunct="0">
              <a:lnSpc>
                <a:spcPts val="30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好处：</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可使系统相对简单。</a:t>
            </a:r>
          </a:p>
          <a:p>
            <a:pPr marL="715963" indent="-342900"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能限制通过网络所产生的管理信息的通信量。</a:t>
            </a:r>
          </a:p>
          <a:p>
            <a:pPr marL="342900" indent="-342900" eaLnBrk="0" hangingPunct="0">
              <a:lnSpc>
                <a:spcPts val="30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缺点：</a:t>
            </a:r>
            <a:endParaRPr lang="en-US" altLang="zh-CN" sz="2000" b="1" dirty="0">
              <a:solidFill>
                <a:srgbClr val="0000FF"/>
              </a:solidFill>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不够灵活，而且所能管理的设备数目不能太多。</a:t>
            </a:r>
            <a:endParaRPr lang="en-US" altLang="zh-CN" sz="2000" b="1" dirty="0">
              <a:latin typeface="微软雅黑 Light" panose="020B0502040204020203" pitchFamily="34" charset="-122"/>
              <a:ea typeface="微软雅黑 Light" panose="020B0502040204020203" pitchFamily="34" charset="-122"/>
            </a:endParaRPr>
          </a:p>
          <a:p>
            <a:pPr marL="714375" lvl="1" indent="-357188" eaLnBrk="0" hangingPunct="0">
              <a:lnSpc>
                <a:spcPts val="30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开销也较大。</a:t>
            </a:r>
          </a:p>
        </p:txBody>
      </p:sp>
    </p:spTree>
    <p:extLst>
      <p:ext uri="{BB962C8B-B14F-4D97-AF65-F5344CB8AC3E}">
        <p14:creationId xmlns:p14="http://schemas.microsoft.com/office/powerpoint/2010/main" val="25642033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01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883889" y="576800"/>
            <a:ext cx="139493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陷阱 </a:t>
            </a:r>
            <a:r>
              <a:rPr lang="en-US" altLang="zh-CN" sz="2000" b="1" dirty="0">
                <a:solidFill>
                  <a:schemeClr val="bg1"/>
                </a:solidFill>
                <a:latin typeface="微软雅黑 Light" panose="020B0502040204020203" pitchFamily="34" charset="-122"/>
                <a:ea typeface="微软雅黑 Light" panose="020B0502040204020203" pitchFamily="34" charset="-122"/>
              </a:rPr>
              <a:t>(trap)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1101"/>
            <a:ext cx="7914376" cy="292336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2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允许</a:t>
            </a:r>
            <a:r>
              <a:rPr lang="zh-CN" altLang="en-US" sz="2000" b="1" dirty="0">
                <a:solidFill>
                  <a:srgbClr val="C00000"/>
                </a:solidFill>
                <a:latin typeface="微软雅黑 Light" panose="020B0502040204020203" pitchFamily="34" charset="-122"/>
                <a:ea typeface="微软雅黑 Light" panose="020B0502040204020203" pitchFamily="34" charset="-122"/>
              </a:rPr>
              <a:t>不经过询问</a:t>
            </a:r>
            <a:r>
              <a:rPr lang="zh-CN" altLang="en-US" sz="2000" b="1" dirty="0">
                <a:latin typeface="微软雅黑 Light" panose="020B0502040204020203" pitchFamily="34" charset="-122"/>
                <a:ea typeface="微软雅黑 Light" panose="020B0502040204020203" pitchFamily="34" charset="-122"/>
              </a:rPr>
              <a:t>就能发送某些信息。这种信息称为</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表示它能够捕捉“事件”。</a:t>
            </a: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当被管对象的代理检测到有事件发生时，就检查其门限值。代理只向管理进程报告达到某些门限值的事件（即</a:t>
            </a:r>
            <a:r>
              <a:rPr lang="zh-CN" altLang="en-US" sz="2000" b="1" dirty="0">
                <a:solidFill>
                  <a:srgbClr val="C00000"/>
                </a:solidFill>
                <a:latin typeface="微软雅黑 Light" panose="020B0502040204020203" pitchFamily="34" charset="-122"/>
                <a:ea typeface="微软雅黑 Light" panose="020B0502040204020203" pitchFamily="34" charset="-122"/>
              </a:rPr>
              <a:t>过滤</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2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过滤的好处：</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仅在严重事件发生时才发送陷阱；</a:t>
            </a:r>
          </a:p>
          <a:p>
            <a:pPr marL="715963" indent="-342900" eaLnBrk="0" hangingPunct="0">
              <a:lnSpc>
                <a:spcPts val="3200"/>
              </a:lnSpc>
              <a:buClr>
                <a:srgbClr val="80008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陷阱信息很简单且所需字节数很少。 </a:t>
            </a:r>
          </a:p>
        </p:txBody>
      </p:sp>
    </p:spTree>
    <p:extLst>
      <p:ext uri="{BB962C8B-B14F-4D97-AF65-F5344CB8AC3E}">
        <p14:creationId xmlns:p14="http://schemas.microsoft.com/office/powerpoint/2010/main" val="3963091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0691"/>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765795" y="577480"/>
            <a:ext cx="363112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是有效的网络管理协议</a:t>
            </a:r>
          </a:p>
        </p:txBody>
      </p:sp>
      <p:sp>
        <p:nvSpPr>
          <p:cNvPr id="4" name="Rectangle 68"/>
          <p:cNvSpPr>
            <a:spLocks noChangeArrowheads="1"/>
          </p:cNvSpPr>
          <p:nvPr/>
        </p:nvSpPr>
        <p:spPr bwMode="auto">
          <a:xfrm>
            <a:off x="556964" y="971781"/>
            <a:ext cx="8048776" cy="136191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探询</a:t>
            </a:r>
            <a:r>
              <a:rPr lang="zh-CN" altLang="en-US" sz="2000" b="1" dirty="0">
                <a:latin typeface="微软雅黑 Light" panose="020B0502040204020203" pitchFamily="34" charset="-122"/>
                <a:ea typeface="微软雅黑 Light" panose="020B0502040204020203" pitchFamily="34" charset="-122"/>
              </a:rPr>
              <a:t>（至少是周期性地）以维持对网络资源的实时监视。</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同时也采用</a:t>
            </a:r>
            <a:r>
              <a:rPr lang="zh-CN" altLang="en-US" sz="2000" b="1" dirty="0">
                <a:solidFill>
                  <a:srgbClr val="C00000"/>
                </a:solidFill>
                <a:latin typeface="微软雅黑 Light" panose="020B0502040204020203" pitchFamily="34" charset="-122"/>
                <a:ea typeface="微软雅黑 Light" panose="020B0502040204020203" pitchFamily="34" charset="-122"/>
              </a:rPr>
              <a:t>陷阱</a:t>
            </a:r>
            <a:r>
              <a:rPr lang="zh-CN" altLang="en-US" sz="2000" b="1" dirty="0">
                <a:latin typeface="微软雅黑 Light" panose="020B0502040204020203" pitchFamily="34" charset="-122"/>
                <a:ea typeface="微软雅黑 Light" panose="020B0502040204020203" pitchFamily="34" charset="-122"/>
              </a:rPr>
              <a:t>机制报告特殊事件，使得 </a:t>
            </a:r>
            <a:r>
              <a:rPr lang="en-US" altLang="zh-CN" sz="2000" b="1" dirty="0">
                <a:latin typeface="微软雅黑 Light" panose="020B0502040204020203" pitchFamily="34" charset="-122"/>
                <a:ea typeface="微软雅黑 Light" panose="020B0502040204020203" pitchFamily="34" charset="-122"/>
              </a:rPr>
              <a:t>SNMP </a:t>
            </a:r>
            <a:r>
              <a:rPr lang="zh-CN" altLang="en-US" sz="2000" b="1" dirty="0">
                <a:latin typeface="微软雅黑 Light" panose="020B0502040204020203" pitchFamily="34" charset="-122"/>
                <a:ea typeface="微软雅黑 Light" panose="020B0502040204020203" pitchFamily="34" charset="-122"/>
              </a:rPr>
              <a:t>成为一种有效的网络管理协议。 </a:t>
            </a:r>
          </a:p>
        </p:txBody>
      </p:sp>
    </p:spTree>
    <p:extLst>
      <p:ext uri="{BB962C8B-B14F-4D97-AF65-F5344CB8AC3E}">
        <p14:creationId xmlns:p14="http://schemas.microsoft.com/office/powerpoint/2010/main" val="2829715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17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027886" y="581962"/>
            <a:ext cx="310694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使用无连接的 </a:t>
            </a:r>
            <a:r>
              <a:rPr lang="en-US" altLang="zh-CN" sz="2000" b="1" dirty="0">
                <a:solidFill>
                  <a:schemeClr val="bg1"/>
                </a:solidFill>
                <a:latin typeface="微软雅黑 Light" panose="020B0502040204020203" pitchFamily="34" charset="-122"/>
                <a:ea typeface="微软雅黑 Light" panose="020B0502040204020203" pitchFamily="34" charset="-122"/>
              </a:rPr>
              <a:t>UDP</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6263"/>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代理程序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服务器</a:t>
            </a:r>
            <a:r>
              <a:rPr lang="zh-CN" altLang="en-US" sz="2000" b="1" dirty="0">
                <a:latin typeface="微软雅黑 Light" panose="020B0502040204020203" pitchFamily="34" charset="-122"/>
                <a:ea typeface="微软雅黑 Light" panose="020B0502040204020203" pitchFamily="34" charset="-122"/>
              </a:rPr>
              <a:t>端用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161 </a:t>
            </a:r>
            <a:r>
              <a:rPr lang="zh-CN" altLang="en-US" sz="2000" b="1" dirty="0">
                <a:latin typeface="微软雅黑 Light" panose="020B0502040204020203" pitchFamily="34" charset="-122"/>
                <a:ea typeface="微软雅黑 Light" panose="020B0502040204020203" pitchFamily="34" charset="-122"/>
              </a:rPr>
              <a:t>接收 </a:t>
            </a:r>
            <a:r>
              <a:rPr lang="en-US" altLang="zh-CN" sz="2000" b="1" dirty="0">
                <a:latin typeface="微软雅黑 Light" panose="020B0502040204020203" pitchFamily="34" charset="-122"/>
                <a:ea typeface="微软雅黑 Light" panose="020B0502040204020203" pitchFamily="34" charset="-122"/>
              </a:rPr>
              <a:t>get </a:t>
            </a:r>
            <a:r>
              <a:rPr lang="zh-CN" altLang="en-US" sz="2000" b="1" dirty="0">
                <a:latin typeface="微软雅黑 Light" panose="020B0502040204020203" pitchFamily="34" charset="-122"/>
                <a:ea typeface="微软雅黑 Light" panose="020B0502040204020203" pitchFamily="34" charset="-122"/>
              </a:rPr>
              <a:t>或 </a:t>
            </a:r>
            <a:r>
              <a:rPr lang="en-US" altLang="zh-CN" sz="2000" b="1" dirty="0">
                <a:latin typeface="微软雅黑 Light" panose="020B0502040204020203" pitchFamily="34" charset="-122"/>
                <a:ea typeface="微软雅黑 Light" panose="020B0502040204020203" pitchFamily="34" charset="-122"/>
              </a:rPr>
              <a:t>set </a:t>
            </a:r>
            <a:r>
              <a:rPr lang="zh-CN" altLang="en-US" sz="2000" b="1" dirty="0">
                <a:latin typeface="微软雅黑 Light" panose="020B0502040204020203" pitchFamily="34" charset="-122"/>
                <a:ea typeface="微软雅黑 Light" panose="020B0502040204020203" pitchFamily="34" charset="-122"/>
              </a:rPr>
              <a:t>报文，发送响应报文。与熟知端口通信的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使用</a:t>
            </a:r>
            <a:r>
              <a:rPr lang="zh-CN" altLang="en-US" sz="2000" b="1" dirty="0">
                <a:solidFill>
                  <a:srgbClr val="C00000"/>
                </a:solidFill>
                <a:latin typeface="微软雅黑 Light" panose="020B0502040204020203" pitchFamily="34" charset="-122"/>
                <a:ea typeface="微软雅黑 Light" panose="020B0502040204020203" pitchFamily="34" charset="-122"/>
              </a:rPr>
              <a:t>临时端口。</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运行</a:t>
            </a:r>
            <a:r>
              <a:rPr lang="zh-CN" altLang="en-US" sz="2000" b="1" dirty="0">
                <a:solidFill>
                  <a:srgbClr val="C00000"/>
                </a:solidFill>
                <a:latin typeface="微软雅黑 Light" panose="020B0502040204020203" pitchFamily="34" charset="-122"/>
                <a:ea typeface="微软雅黑 Light" panose="020B0502040204020203" pitchFamily="34" charset="-122"/>
              </a:rPr>
              <a:t>管理程序</a:t>
            </a:r>
            <a:r>
              <a:rPr lang="zh-CN" altLang="en-US" sz="2000" b="1" dirty="0">
                <a:latin typeface="微软雅黑 Light" panose="020B0502040204020203" pitchFamily="34" charset="-122"/>
                <a:ea typeface="微软雅黑 Light" panose="020B0502040204020203" pitchFamily="34" charset="-122"/>
              </a:rPr>
              <a:t>的</a:t>
            </a:r>
            <a:r>
              <a:rPr lang="zh-CN" altLang="en-US" sz="2000" b="1" dirty="0">
                <a:solidFill>
                  <a:srgbClr val="0000FF"/>
                </a:solidFill>
                <a:latin typeface="微软雅黑 Light" panose="020B0502040204020203" pitchFamily="34" charset="-122"/>
                <a:ea typeface="微软雅黑 Light" panose="020B0502040204020203" pitchFamily="34" charset="-122"/>
              </a:rPr>
              <a:t>客户端</a:t>
            </a:r>
            <a:r>
              <a:rPr lang="zh-CN" altLang="en-US" sz="2000" b="1" dirty="0">
                <a:latin typeface="微软雅黑 Light" panose="020B0502040204020203" pitchFamily="34" charset="-122"/>
                <a:ea typeface="微软雅黑 Light" panose="020B0502040204020203" pitchFamily="34" charset="-122"/>
              </a:rPr>
              <a:t>则使用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solidFill>
                  <a:srgbClr val="C00000"/>
                </a:solidFill>
                <a:latin typeface="微软雅黑 Light" panose="020B0502040204020203" pitchFamily="34" charset="-122"/>
                <a:ea typeface="微软雅黑 Light" panose="020B0502040204020203" pitchFamily="34" charset="-122"/>
              </a:rPr>
              <a:t>熟知端口 </a:t>
            </a:r>
            <a:r>
              <a:rPr lang="en-US" altLang="zh-CN" sz="2000" b="1" dirty="0">
                <a:latin typeface="微软雅黑 Light" panose="020B0502040204020203" pitchFamily="34" charset="-122"/>
                <a:ea typeface="微软雅黑 Light" panose="020B0502040204020203" pitchFamily="34" charset="-122"/>
              </a:rPr>
              <a:t>162 </a:t>
            </a:r>
            <a:r>
              <a:rPr lang="zh-CN" altLang="en-US" sz="2000" b="1" dirty="0">
                <a:latin typeface="微软雅黑 Light" panose="020B0502040204020203" pitchFamily="34" charset="-122"/>
                <a:ea typeface="微软雅黑 Light" panose="020B0502040204020203" pitchFamily="34" charset="-122"/>
              </a:rPr>
              <a:t>来接收来自各代理的 </a:t>
            </a:r>
            <a:r>
              <a:rPr lang="en-US" altLang="zh-CN" sz="2000" b="1" dirty="0">
                <a:latin typeface="微软雅黑 Light" panose="020B0502040204020203" pitchFamily="34" charset="-122"/>
                <a:ea typeface="微软雅黑 Light" panose="020B0502040204020203" pitchFamily="34" charset="-122"/>
              </a:rPr>
              <a:t>trap </a:t>
            </a:r>
            <a:r>
              <a:rPr lang="zh-CN" altLang="en-US" sz="2000" b="1" dirty="0">
                <a:latin typeface="微软雅黑 Light" panose="020B0502040204020203" pitchFamily="34" charset="-122"/>
                <a:ea typeface="微软雅黑 Light" panose="020B0502040204020203" pitchFamily="34" charset="-122"/>
              </a:rPr>
              <a:t>报文。 </a:t>
            </a:r>
          </a:p>
        </p:txBody>
      </p:sp>
    </p:spTree>
    <p:extLst>
      <p:ext uri="{BB962C8B-B14F-4D97-AF65-F5344CB8AC3E}">
        <p14:creationId xmlns:p14="http://schemas.microsoft.com/office/powerpoint/2010/main" val="4336787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3964"/>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158257" y="580753"/>
            <a:ext cx="484619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SNMPv1 </a:t>
            </a:r>
            <a:r>
              <a:rPr lang="zh-CN" altLang="en-US" sz="2000" b="1" dirty="0">
                <a:solidFill>
                  <a:schemeClr val="bg1"/>
                </a:solidFill>
                <a:latin typeface="微软雅黑 Light" panose="020B0502040204020203" pitchFamily="34" charset="-122"/>
                <a:ea typeface="微软雅黑 Light" panose="020B0502040204020203" pitchFamily="34" charset="-122"/>
              </a:rPr>
              <a:t>定义的协议数据单元 </a:t>
            </a:r>
            <a:r>
              <a:rPr lang="en-US" altLang="zh-CN" sz="2000" b="1" dirty="0">
                <a:solidFill>
                  <a:schemeClr val="bg1"/>
                </a:solidFill>
                <a:latin typeface="微软雅黑 Light" panose="020B0502040204020203" pitchFamily="34" charset="-122"/>
                <a:ea typeface="微软雅黑 Light" panose="020B0502040204020203" pitchFamily="34" charset="-122"/>
              </a:rPr>
              <a:t>(PDU) </a:t>
            </a:r>
            <a:r>
              <a:rPr lang="zh-CN" altLang="en-US" sz="2000" b="1" dirty="0">
                <a:solidFill>
                  <a:schemeClr val="bg1"/>
                </a:solidFill>
                <a:latin typeface="微软雅黑 Light" panose="020B0502040204020203" pitchFamily="34" charset="-122"/>
                <a:ea typeface="微软雅黑 Light" panose="020B0502040204020203" pitchFamily="34" charset="-122"/>
              </a:rPr>
              <a:t>类型</a:t>
            </a:r>
          </a:p>
        </p:txBody>
      </p:sp>
      <p:sp>
        <p:nvSpPr>
          <p:cNvPr id="5" name="Text Box 4"/>
          <p:cNvSpPr txBox="1">
            <a:spLocks noChangeArrowheads="1"/>
          </p:cNvSpPr>
          <p:nvPr/>
        </p:nvSpPr>
        <p:spPr bwMode="auto">
          <a:xfrm>
            <a:off x="492955" y="1023595"/>
            <a:ext cx="8048775" cy="30654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marL="342900" indent="-342900">
              <a:tabLst>
                <a:tab pos="3676650" algn="l"/>
              </a:tabLst>
              <a:defRPr sz="3600">
                <a:solidFill>
                  <a:schemeClr val="tx1"/>
                </a:solidFill>
                <a:latin typeface="Tahoma" pitchFamily="34" charset="0"/>
                <a:ea typeface="宋体" charset="-122"/>
              </a:defRPr>
            </a:lvl1pPr>
            <a:lvl2pPr marL="800100" indent="-342900">
              <a:tabLst>
                <a:tab pos="3676650" algn="l"/>
              </a:tabLst>
              <a:defRPr sz="3600">
                <a:solidFill>
                  <a:schemeClr val="tx1"/>
                </a:solidFill>
                <a:latin typeface="Tahoma" pitchFamily="34" charset="0"/>
                <a:ea typeface="宋体" charset="-122"/>
              </a:defRPr>
            </a:lvl2pPr>
            <a:lvl3pPr marL="1257300" indent="-342900">
              <a:tabLst>
                <a:tab pos="3676650" algn="l"/>
              </a:tabLst>
              <a:defRPr sz="3600">
                <a:solidFill>
                  <a:schemeClr val="tx1"/>
                </a:solidFill>
                <a:latin typeface="Tahoma" pitchFamily="34" charset="0"/>
                <a:ea typeface="宋体" charset="-122"/>
              </a:defRPr>
            </a:lvl3pPr>
            <a:lvl4pPr marL="1714500" indent="-342900">
              <a:tabLst>
                <a:tab pos="3676650" algn="l"/>
              </a:tabLst>
              <a:defRPr sz="3600">
                <a:solidFill>
                  <a:schemeClr val="tx1"/>
                </a:solidFill>
                <a:latin typeface="Tahoma" pitchFamily="34" charset="0"/>
                <a:ea typeface="宋体" charset="-122"/>
              </a:defRPr>
            </a:lvl4pPr>
            <a:lvl5pPr marL="2171700" indent="-342900">
              <a:tabLst>
                <a:tab pos="3676650" algn="l"/>
              </a:tabLst>
              <a:defRPr sz="3600">
                <a:solidFill>
                  <a:schemeClr val="tx1"/>
                </a:solidFill>
                <a:latin typeface="Tahoma" pitchFamily="34" charset="0"/>
                <a:ea typeface="宋体" charset="-122"/>
              </a:defRPr>
            </a:lvl5pPr>
            <a:lvl6pPr marL="26289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6pPr>
            <a:lvl7pPr marL="30861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7pPr>
            <a:lvl8pPr marL="35433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8pPr>
            <a:lvl9pPr marL="4000500" indent="-342900" eaLnBrk="0" fontAlgn="base" hangingPunct="0">
              <a:spcBef>
                <a:spcPct val="0"/>
              </a:spcBef>
              <a:spcAft>
                <a:spcPct val="0"/>
              </a:spcAft>
              <a:tabLst>
                <a:tab pos="3676650" algn="l"/>
              </a:tabLst>
              <a:defRPr sz="3600">
                <a:solidFill>
                  <a:schemeClr val="tx1"/>
                </a:solidFill>
                <a:latin typeface="Tahoma" pitchFamily="34" charset="0"/>
                <a:ea typeface="宋体" charset="-122"/>
              </a:defRPr>
            </a:lvl9pPr>
          </a:lstStyle>
          <a:p>
            <a:pPr>
              <a:lnSpc>
                <a:spcPct val="150000"/>
              </a:lnSpc>
              <a:tabLst>
                <a:tab pos="1162050" algn="l"/>
                <a:tab pos="3319463" algn="l"/>
              </a:tabLst>
            </a:pP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编号 </a:t>
            </a:r>
            <a:r>
              <a:rPr lang="en-US" altLang="zh-CN" sz="1400" b="1" dirty="0">
                <a:latin typeface="微软雅黑 Light" panose="020B0502040204020203" pitchFamily="34" charset="-122"/>
                <a:ea typeface="微软雅黑 Light" panose="020B0502040204020203" pitchFamily="34" charset="-122"/>
              </a:rPr>
              <a:t>(T</a:t>
            </a:r>
            <a:r>
              <a:rPr lang="zh-CN" altLang="en-US" sz="1400" b="1" dirty="0">
                <a:latin typeface="微软雅黑 Light" panose="020B0502040204020203" pitchFamily="34" charset="-122"/>
                <a:ea typeface="微软雅黑 Light" panose="020B0502040204020203" pitchFamily="34" charset="-122"/>
              </a:rPr>
              <a:t>字段</a:t>
            </a:r>
            <a:r>
              <a:rPr lang="en-US" altLang="zh-CN" sz="1400" b="1" dirty="0">
                <a:latin typeface="微软雅黑 Light" panose="020B0502040204020203" pitchFamily="34" charset="-122"/>
                <a:ea typeface="微软雅黑 Light" panose="020B0502040204020203" pitchFamily="34" charset="-122"/>
              </a:rPr>
              <a:t>)           PDU </a:t>
            </a:r>
            <a:r>
              <a:rPr lang="zh-CN" altLang="en-US" sz="1400" b="1" dirty="0">
                <a:latin typeface="微软雅黑 Light" panose="020B0502040204020203" pitchFamily="34" charset="-122"/>
                <a:ea typeface="微软雅黑 Light" panose="020B0502040204020203" pitchFamily="34" charset="-122"/>
              </a:rPr>
              <a:t>名称</a:t>
            </a:r>
            <a:r>
              <a:rPr lang="en-US" altLang="zh-CN" sz="1400" b="1" dirty="0">
                <a:latin typeface="微软雅黑 Light" panose="020B0502040204020203" pitchFamily="34" charset="-122"/>
                <a:ea typeface="微软雅黑 Light" panose="020B0502040204020203" pitchFamily="34" charset="-122"/>
              </a:rPr>
              <a:t>	                             </a:t>
            </a:r>
            <a:r>
              <a:rPr lang="zh-CN" altLang="en-US" sz="1400" b="1" dirty="0">
                <a:latin typeface="微软雅黑 Light" panose="020B0502040204020203" pitchFamily="34" charset="-122"/>
                <a:ea typeface="微软雅黑 Light" panose="020B0502040204020203" pitchFamily="34" charset="-122"/>
              </a:rPr>
              <a:t>用途</a:t>
            </a:r>
          </a:p>
          <a:p>
            <a:pPr eaLnBrk="1" hangingPunct="1">
              <a:lnSpc>
                <a:spcPct val="150000"/>
              </a:lnSpc>
              <a:spcAft>
                <a:spcPct val="30000"/>
              </a:spcAft>
              <a:tabLst>
                <a:tab pos="1162050" algn="l"/>
                <a:tab pos="3319463" algn="l"/>
              </a:tabLst>
            </a:pPr>
            <a:r>
              <a:rPr lang="en-US" altLang="zh-CN" sz="1400" b="1" dirty="0">
                <a:solidFill>
                  <a:srgbClr val="0000FF"/>
                </a:solidFill>
                <a:latin typeface="微软雅黑 Light" panose="020B0502040204020203" pitchFamily="34" charset="-122"/>
                <a:ea typeface="微软雅黑 Light" panose="020B0502040204020203" pitchFamily="34" charset="-122"/>
              </a:rPr>
              <a:t>  0  (A0)       	               </a:t>
            </a:r>
            <a:r>
              <a:rPr lang="en-US" altLang="zh-CN" sz="1400" b="1" dirty="0" err="1">
                <a:solidFill>
                  <a:srgbClr val="0000FF"/>
                </a:solidFill>
                <a:latin typeface="微软雅黑 Light" panose="020B0502040204020203" pitchFamily="34" charset="-122"/>
                <a:ea typeface="微软雅黑 Light" panose="020B0502040204020203" pitchFamily="34" charset="-122"/>
              </a:rPr>
              <a:t>GetRequest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用来查询一个或一组变量的值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1  (A1)       	               </a:t>
            </a:r>
            <a:r>
              <a:rPr lang="en-US" altLang="zh-CN" sz="1400" b="1" dirty="0" err="1">
                <a:solidFill>
                  <a:srgbClr val="0000FF"/>
                </a:solidFill>
                <a:latin typeface="微软雅黑 Light" panose="020B0502040204020203" pitchFamily="34" charset="-122"/>
                <a:ea typeface="微软雅黑 Light" panose="020B0502040204020203" pitchFamily="34" charset="-122"/>
              </a:rPr>
              <a:t>GetNextRequest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允许在 </a:t>
            </a:r>
            <a:r>
              <a:rPr lang="en-US" altLang="zh-CN" sz="1400" b="1" dirty="0">
                <a:solidFill>
                  <a:srgbClr val="0000FF"/>
                </a:solidFill>
                <a:latin typeface="微软雅黑 Light" panose="020B0502040204020203" pitchFamily="34" charset="-122"/>
                <a:ea typeface="微软雅黑 Light" panose="020B0502040204020203" pitchFamily="34" charset="-122"/>
              </a:rPr>
              <a:t>MIB </a:t>
            </a:r>
            <a:r>
              <a:rPr lang="zh-CN" altLang="en-US" sz="1400" b="1" dirty="0">
                <a:solidFill>
                  <a:srgbClr val="0000FF"/>
                </a:solidFill>
                <a:latin typeface="微软雅黑 Light" panose="020B0502040204020203" pitchFamily="34" charset="-122"/>
                <a:ea typeface="微软雅黑 Light" panose="020B0502040204020203" pitchFamily="34" charset="-122"/>
              </a:rPr>
              <a:t>树上读取下一个变量，此操作可反复进行 </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2  (A2)       	               </a:t>
            </a:r>
            <a:r>
              <a:rPr lang="en-US" altLang="zh-CN" sz="1400" b="1" dirty="0" err="1">
                <a:solidFill>
                  <a:srgbClr val="0000FF"/>
                </a:solidFill>
                <a:latin typeface="微软雅黑 Light" panose="020B0502040204020203" pitchFamily="34" charset="-122"/>
                <a:ea typeface="微软雅黑 Light" panose="020B0502040204020203" pitchFamily="34" charset="-122"/>
              </a:rPr>
              <a:t>Reponse</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代理向管理者或管理者向管理者发送响应</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3  (A3)       	               </a:t>
            </a:r>
            <a:r>
              <a:rPr lang="en-US" altLang="zh-CN" sz="1400" b="1" dirty="0" err="1">
                <a:solidFill>
                  <a:srgbClr val="0000FF"/>
                </a:solidFill>
                <a:latin typeface="微软雅黑 Light" panose="020B0502040204020203" pitchFamily="34" charset="-122"/>
                <a:ea typeface="微软雅黑 Light" panose="020B0502040204020203" pitchFamily="34" charset="-122"/>
              </a:rPr>
              <a:t>SetRequest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对一个或多个变量值进行设置</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5  (A5)       	               </a:t>
            </a:r>
            <a:r>
              <a:rPr lang="en-US" altLang="zh-CN" sz="1400" b="1" dirty="0" err="1">
                <a:solidFill>
                  <a:srgbClr val="0000FF"/>
                </a:solidFill>
                <a:latin typeface="微软雅黑 Light" panose="020B0502040204020203" pitchFamily="34" charset="-122"/>
                <a:ea typeface="微软雅黑 Light" panose="020B0502040204020203" pitchFamily="34" charset="-122"/>
              </a:rPr>
              <a:t>GetBulkRequest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管理者从代理读取大数据块的值</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6  (A6)      	               </a:t>
            </a:r>
            <a:r>
              <a:rPr lang="en-US" altLang="zh-CN" sz="1400" b="1" dirty="0" err="1">
                <a:solidFill>
                  <a:srgbClr val="0000FF"/>
                </a:solidFill>
                <a:latin typeface="微软雅黑 Light" panose="020B0502040204020203" pitchFamily="34" charset="-122"/>
                <a:ea typeface="微软雅黑 Light" panose="020B0502040204020203" pitchFamily="34" charset="-122"/>
              </a:rPr>
              <a:t>InformRequest</a:t>
            </a:r>
            <a:r>
              <a:rPr lang="en-US" altLang="zh-CN" sz="1400" b="1" dirty="0">
                <a:solidFill>
                  <a:srgbClr val="0000FF"/>
                </a:solidFill>
                <a:latin typeface="微软雅黑 Light" panose="020B0502040204020203" pitchFamily="34" charset="-122"/>
                <a:ea typeface="微软雅黑 Light" panose="020B0502040204020203" pitchFamily="34" charset="-122"/>
              </a:rPr>
              <a: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管理者从另一管理者读取代理的变量</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7  (A7)      	               SNMPv2Trap	      </a:t>
            </a:r>
            <a:r>
              <a:rPr lang="zh-CN" altLang="en-US" sz="1400" b="1" dirty="0">
                <a:solidFill>
                  <a:srgbClr val="0000FF"/>
                </a:solidFill>
                <a:latin typeface="微软雅黑 Light" panose="020B0502040204020203" pitchFamily="34" charset="-122"/>
                <a:ea typeface="微软雅黑 Light" panose="020B0502040204020203" pitchFamily="34" charset="-122"/>
              </a:rPr>
              <a:t>代理向管理者报告异常事件</a:t>
            </a:r>
          </a:p>
          <a:p>
            <a:pPr eaLnBrk="1" hangingPunct="1">
              <a:lnSpc>
                <a:spcPct val="150000"/>
              </a:lnSpc>
              <a:tabLst>
                <a:tab pos="1162050" algn="l"/>
                <a:tab pos="3319463" algn="l"/>
              </a:tabLst>
            </a:pPr>
            <a:r>
              <a:rPr lang="zh-CN" altLang="en-US" sz="1400" b="1" dirty="0">
                <a:solidFill>
                  <a:srgbClr val="0000FF"/>
                </a:solidFill>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8  (A8)      	               Report	      </a:t>
            </a:r>
            <a:r>
              <a:rPr lang="zh-CN" altLang="en-US" sz="1400" b="1" dirty="0">
                <a:solidFill>
                  <a:srgbClr val="0000FF"/>
                </a:solidFill>
                <a:latin typeface="微软雅黑 Light" panose="020B0502040204020203" pitchFamily="34" charset="-122"/>
                <a:ea typeface="微软雅黑 Light" panose="020B0502040204020203" pitchFamily="34" charset="-122"/>
              </a:rPr>
              <a:t>管理者之间报告某些差错 </a:t>
            </a:r>
          </a:p>
        </p:txBody>
      </p:sp>
      <p:sp>
        <p:nvSpPr>
          <p:cNvPr id="7" name="Line 6"/>
          <p:cNvSpPr>
            <a:spLocks noChangeShapeType="1"/>
          </p:cNvSpPr>
          <p:nvPr/>
        </p:nvSpPr>
        <p:spPr bwMode="auto">
          <a:xfrm>
            <a:off x="2387591"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2" name="Line 6"/>
          <p:cNvSpPr>
            <a:spLocks noChangeShapeType="1"/>
          </p:cNvSpPr>
          <p:nvPr/>
        </p:nvSpPr>
        <p:spPr bwMode="auto">
          <a:xfrm>
            <a:off x="4113204" y="1087843"/>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3" name="Line 5"/>
          <p:cNvSpPr>
            <a:spLocks noChangeShapeType="1"/>
          </p:cNvSpPr>
          <p:nvPr/>
        </p:nvSpPr>
        <p:spPr bwMode="auto">
          <a:xfrm>
            <a:off x="585216" y="108784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4" name="Line 5"/>
          <p:cNvSpPr>
            <a:spLocks noChangeShapeType="1"/>
          </p:cNvSpPr>
          <p:nvPr/>
        </p:nvSpPr>
        <p:spPr bwMode="auto">
          <a:xfrm>
            <a:off x="585216" y="40753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5" name="Line 5"/>
          <p:cNvSpPr>
            <a:spLocks noChangeShapeType="1"/>
          </p:cNvSpPr>
          <p:nvPr/>
        </p:nvSpPr>
        <p:spPr bwMode="auto">
          <a:xfrm>
            <a:off x="585216" y="139416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6" name="Line 6"/>
          <p:cNvSpPr>
            <a:spLocks noChangeShapeType="1"/>
          </p:cNvSpPr>
          <p:nvPr/>
        </p:nvSpPr>
        <p:spPr bwMode="auto">
          <a:xfrm>
            <a:off x="585272"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7" name="Line 6"/>
          <p:cNvSpPr>
            <a:spLocks noChangeShapeType="1"/>
          </p:cNvSpPr>
          <p:nvPr/>
        </p:nvSpPr>
        <p:spPr bwMode="auto">
          <a:xfrm>
            <a:off x="8540440" y="1092397"/>
            <a:ext cx="0" cy="299349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endParaRPr lang="zh-CN" altLang="en-US" sz="1400" dirty="0">
              <a:latin typeface="微软雅黑 Light" panose="020B0502040204020203" pitchFamily="34" charset="-122"/>
              <a:ea typeface="微软雅黑 Light" panose="020B0502040204020203" pitchFamily="34" charset="-122"/>
            </a:endParaRPr>
          </a:p>
        </p:txBody>
      </p:sp>
      <p:sp>
        <p:nvSpPr>
          <p:cNvPr id="18" name="Line 5"/>
          <p:cNvSpPr>
            <a:spLocks noChangeShapeType="1"/>
          </p:cNvSpPr>
          <p:nvPr/>
        </p:nvSpPr>
        <p:spPr bwMode="auto">
          <a:xfrm>
            <a:off x="585216" y="174369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19" name="Line 5"/>
          <p:cNvSpPr>
            <a:spLocks noChangeShapeType="1"/>
          </p:cNvSpPr>
          <p:nvPr/>
        </p:nvSpPr>
        <p:spPr bwMode="auto">
          <a:xfrm>
            <a:off x="585216" y="2095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0" name="Line 5"/>
          <p:cNvSpPr>
            <a:spLocks noChangeShapeType="1"/>
          </p:cNvSpPr>
          <p:nvPr/>
        </p:nvSpPr>
        <p:spPr bwMode="auto">
          <a:xfrm>
            <a:off x="585216" y="2419197"/>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1" name="Line 5"/>
          <p:cNvSpPr>
            <a:spLocks noChangeShapeType="1"/>
          </p:cNvSpPr>
          <p:nvPr/>
        </p:nvSpPr>
        <p:spPr bwMode="auto">
          <a:xfrm>
            <a:off x="585216" y="273466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2" name="Line 5"/>
          <p:cNvSpPr>
            <a:spLocks noChangeShapeType="1"/>
          </p:cNvSpPr>
          <p:nvPr/>
        </p:nvSpPr>
        <p:spPr bwMode="auto">
          <a:xfrm>
            <a:off x="585216" y="3048981"/>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3" name="Line 5"/>
          <p:cNvSpPr>
            <a:spLocks noChangeShapeType="1"/>
          </p:cNvSpPr>
          <p:nvPr/>
        </p:nvSpPr>
        <p:spPr bwMode="auto">
          <a:xfrm>
            <a:off x="585216" y="338273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
        <p:nvSpPr>
          <p:cNvPr id="24" name="Line 5"/>
          <p:cNvSpPr>
            <a:spLocks noChangeShapeType="1"/>
          </p:cNvSpPr>
          <p:nvPr/>
        </p:nvSpPr>
        <p:spPr bwMode="auto">
          <a:xfrm>
            <a:off x="585216" y="3697053"/>
            <a:ext cx="7956514" cy="45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nSpc>
                <a:spcPts val="1900"/>
              </a:lnSpc>
            </a:pPr>
            <a:r>
              <a:rPr lang="en-US" altLang="zh-CN" sz="1400" dirty="0">
                <a:latin typeface="微软雅黑 Light" panose="020B0502040204020203" pitchFamily="34" charset="-122"/>
                <a:ea typeface="微软雅黑 Light" panose="020B0502040204020203" pitchFamily="34" charset="-122"/>
              </a:rPr>
              <a:t> </a:t>
            </a:r>
            <a:endParaRPr lang="zh-CN" altLang="en-US" sz="14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7421772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451875" y="582898"/>
            <a:ext cx="2258952"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SNMP </a:t>
            </a:r>
            <a:r>
              <a:rPr lang="zh-CN" altLang="en-US" sz="2000" b="1" dirty="0">
                <a:solidFill>
                  <a:schemeClr val="bg1"/>
                </a:solidFill>
                <a:latin typeface="微软雅黑 Light" panose="020B0502040204020203" pitchFamily="34" charset="-122"/>
                <a:ea typeface="微软雅黑 Light" panose="020B0502040204020203" pitchFamily="34" charset="-122"/>
              </a:rPr>
              <a:t>的报文格式</a:t>
            </a:r>
          </a:p>
        </p:txBody>
      </p:sp>
      <p:grpSp>
        <p:nvGrpSpPr>
          <p:cNvPr id="60" name="组合 59"/>
          <p:cNvGrpSpPr/>
          <p:nvPr/>
        </p:nvGrpSpPr>
        <p:grpSpPr>
          <a:xfrm>
            <a:off x="714611" y="1275095"/>
            <a:ext cx="7636988" cy="2750850"/>
            <a:chOff x="284287" y="1433308"/>
            <a:chExt cx="9493249" cy="3419476"/>
          </a:xfrm>
        </p:grpSpPr>
        <p:grpSp>
          <p:nvGrpSpPr>
            <p:cNvPr id="5" name="Group 142"/>
            <p:cNvGrpSpPr>
              <a:grpSpLocks/>
            </p:cNvGrpSpPr>
            <p:nvPr/>
          </p:nvGrpSpPr>
          <p:grpSpPr bwMode="auto">
            <a:xfrm>
              <a:off x="7266640" y="4061197"/>
              <a:ext cx="2510896" cy="344488"/>
              <a:chOff x="4177" y="2324"/>
              <a:chExt cx="1460" cy="217"/>
            </a:xfrm>
          </p:grpSpPr>
          <p:sp>
            <p:nvSpPr>
              <p:cNvPr id="6" name="Line 119"/>
              <p:cNvSpPr>
                <a:spLocks noChangeShapeType="1"/>
              </p:cNvSpPr>
              <p:nvPr/>
            </p:nvSpPr>
            <p:spPr bwMode="auto">
              <a:xfrm flipV="1">
                <a:off x="4177" y="2444"/>
                <a:ext cx="146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122"/>
              <p:cNvSpPr>
                <a:spLocks noChangeArrowheads="1"/>
              </p:cNvSpPr>
              <p:nvPr/>
            </p:nvSpPr>
            <p:spPr bwMode="auto">
              <a:xfrm>
                <a:off x="4593" y="2324"/>
                <a:ext cx="579"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变量绑定</a:t>
                </a:r>
              </a:p>
            </p:txBody>
          </p:sp>
        </p:grpSp>
        <p:grpSp>
          <p:nvGrpSpPr>
            <p:cNvPr id="8" name="Group 141"/>
            <p:cNvGrpSpPr>
              <a:grpSpLocks/>
            </p:cNvGrpSpPr>
            <p:nvPr/>
          </p:nvGrpSpPr>
          <p:grpSpPr bwMode="auto">
            <a:xfrm>
              <a:off x="4100504" y="4061197"/>
              <a:ext cx="3154098" cy="344488"/>
              <a:chOff x="2336" y="2324"/>
              <a:chExt cx="1834" cy="217"/>
            </a:xfrm>
          </p:grpSpPr>
          <p:sp>
            <p:nvSpPr>
              <p:cNvPr id="9" name="Line 138"/>
              <p:cNvSpPr>
                <a:spLocks noChangeShapeType="1"/>
              </p:cNvSpPr>
              <p:nvPr/>
            </p:nvSpPr>
            <p:spPr bwMode="auto">
              <a:xfrm flipV="1">
                <a:off x="2336" y="2444"/>
                <a:ext cx="1834"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Rectangle 139"/>
              <p:cNvSpPr>
                <a:spLocks noChangeArrowheads="1"/>
              </p:cNvSpPr>
              <p:nvPr/>
            </p:nvSpPr>
            <p:spPr bwMode="auto">
              <a:xfrm>
                <a:off x="3032" y="2324"/>
                <a:ext cx="357" cy="217"/>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首部</a:t>
                </a:r>
              </a:p>
            </p:txBody>
          </p:sp>
        </p:grpSp>
        <p:sp>
          <p:nvSpPr>
            <p:cNvPr id="11" name="Rectangle 88"/>
            <p:cNvSpPr>
              <a:spLocks noChangeArrowheads="1"/>
            </p:cNvSpPr>
            <p:nvPr/>
          </p:nvSpPr>
          <p:spPr bwMode="auto">
            <a:xfrm>
              <a:off x="299764" y="3567478"/>
              <a:ext cx="9458854" cy="441325"/>
            </a:xfrm>
            <a:prstGeom prst="rect">
              <a:avLst/>
            </a:prstGeom>
            <a:solidFill>
              <a:srgbClr val="00FF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109"/>
            <p:cNvSpPr>
              <a:spLocks noChangeArrowheads="1"/>
            </p:cNvSpPr>
            <p:nvPr/>
          </p:nvSpPr>
          <p:spPr bwMode="auto">
            <a:xfrm>
              <a:off x="2968881" y="3562715"/>
              <a:ext cx="6791458" cy="446090"/>
            </a:xfrm>
            <a:prstGeom prst="rect">
              <a:avLst/>
            </a:prstGeom>
            <a:solidFill>
              <a:srgbClr val="00B050"/>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11"/>
            <p:cNvSpPr>
              <a:spLocks noChangeArrowheads="1"/>
            </p:cNvSpPr>
            <p:nvPr/>
          </p:nvSpPr>
          <p:spPr bwMode="auto">
            <a:xfrm>
              <a:off x="284287" y="3642089"/>
              <a:ext cx="9164115" cy="31069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85000"/>
                </a:lnSpc>
              </a:pPr>
              <a:r>
                <a:rPr kumimoji="1" lang="zh-CN" altLang="en-US" sz="1200" b="1" dirty="0">
                  <a:latin typeface="微软雅黑 Light" panose="020B0502040204020203" pitchFamily="34" charset="-122"/>
                  <a:ea typeface="微软雅黑 Light" panose="020B0502040204020203" pitchFamily="34" charset="-122"/>
                </a:rPr>
                <a:t>上下文引擎 </a:t>
              </a:r>
              <a:r>
                <a:rPr kumimoji="1" lang="en-US" altLang="zh-CN" sz="1200" b="1" dirty="0">
                  <a:latin typeface="微软雅黑 Light" panose="020B0502040204020203" pitchFamily="34" charset="-122"/>
                  <a:ea typeface="微软雅黑 Light" panose="020B0502040204020203" pitchFamily="34" charset="-122"/>
                </a:rPr>
                <a:t>ID      </a:t>
              </a:r>
              <a:r>
                <a:rPr kumimoji="1" lang="zh-CN" altLang="en-US" sz="1200" b="1" dirty="0">
                  <a:latin typeface="微软雅黑 Light" panose="020B0502040204020203" pitchFamily="34" charset="-122"/>
                  <a:ea typeface="微软雅黑 Light" panose="020B0502040204020203" pitchFamily="34" charset="-122"/>
                </a:rPr>
                <a:t>上下文名      </a:t>
              </a:r>
              <a:r>
                <a:rPr kumimoji="1" lang="en-US" altLang="zh-CN" sz="1200" b="1" dirty="0">
                  <a:solidFill>
                    <a:schemeClr val="bg1"/>
                  </a:solidFill>
                  <a:latin typeface="微软雅黑 Light" panose="020B0502040204020203" pitchFamily="34" charset="-122"/>
                  <a:ea typeface="微软雅黑 Light" panose="020B0502040204020203" pitchFamily="34" charset="-122"/>
                </a:rPr>
                <a:t>PDU </a:t>
              </a:r>
              <a:r>
                <a:rPr kumimoji="1" lang="zh-CN" altLang="en-US" sz="1200" b="1" dirty="0">
                  <a:solidFill>
                    <a:schemeClr val="bg1"/>
                  </a:solidFill>
                  <a:latin typeface="微软雅黑 Light" panose="020B0502040204020203" pitchFamily="34" charset="-122"/>
                  <a:ea typeface="微软雅黑 Light" panose="020B0502040204020203" pitchFamily="34" charset="-122"/>
                </a:rPr>
                <a:t>类型     请求 </a:t>
              </a:r>
              <a:r>
                <a:rPr kumimoji="1" lang="en-US" altLang="zh-CN" sz="1200" b="1" dirty="0">
                  <a:solidFill>
                    <a:schemeClr val="bg1"/>
                  </a:solidFill>
                  <a:latin typeface="微软雅黑 Light" panose="020B0502040204020203" pitchFamily="34" charset="-122"/>
                  <a:ea typeface="微软雅黑 Light" panose="020B0502040204020203" pitchFamily="34" charset="-122"/>
                </a:rPr>
                <a:t>ID      </a:t>
              </a:r>
              <a:r>
                <a:rPr kumimoji="1" lang="zh-CN" altLang="en-US" sz="1200" b="1" dirty="0">
                  <a:solidFill>
                    <a:schemeClr val="bg1"/>
                  </a:solidFill>
                  <a:latin typeface="微软雅黑 Light" panose="020B0502040204020203" pitchFamily="34" charset="-122"/>
                  <a:ea typeface="微软雅黑 Light" panose="020B0502040204020203" pitchFamily="34" charset="-122"/>
                </a:rPr>
                <a:t>差错状态      差错索引       名      值      名     值  </a:t>
              </a:r>
            </a:p>
          </p:txBody>
        </p:sp>
        <p:sp>
          <p:nvSpPr>
            <p:cNvPr id="14" name="Line 89"/>
            <p:cNvSpPr>
              <a:spLocks noChangeShapeType="1"/>
            </p:cNvSpPr>
            <p:nvPr/>
          </p:nvSpPr>
          <p:spPr bwMode="auto">
            <a:xfrm>
              <a:off x="2074589" y="2005377"/>
              <a:ext cx="718701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5" name="Line 90"/>
            <p:cNvSpPr>
              <a:spLocks noChangeShapeType="1"/>
            </p:cNvSpPr>
            <p:nvPr/>
          </p:nvSpPr>
          <p:spPr bwMode="auto">
            <a:xfrm>
              <a:off x="2741869" y="2370502"/>
              <a:ext cx="6504252"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6" name="Line 91"/>
            <p:cNvSpPr>
              <a:spLocks noChangeShapeType="1"/>
            </p:cNvSpPr>
            <p:nvPr/>
          </p:nvSpPr>
          <p:spPr bwMode="auto">
            <a:xfrm>
              <a:off x="2759066" y="2238739"/>
              <a:ext cx="0" cy="31115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92"/>
            <p:cNvSpPr>
              <a:spLocks noChangeShapeType="1"/>
            </p:cNvSpPr>
            <p:nvPr/>
          </p:nvSpPr>
          <p:spPr bwMode="auto">
            <a:xfrm>
              <a:off x="9261599" y="1537065"/>
              <a:ext cx="0" cy="993775"/>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Rectangle 93"/>
            <p:cNvSpPr>
              <a:spLocks noChangeArrowheads="1"/>
            </p:cNvSpPr>
            <p:nvPr/>
          </p:nvSpPr>
          <p:spPr bwMode="auto">
            <a:xfrm>
              <a:off x="4726508" y="1830179"/>
              <a:ext cx="128923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UDP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19" name="Line 94"/>
            <p:cNvSpPr>
              <a:spLocks noChangeShapeType="1"/>
            </p:cNvSpPr>
            <p:nvPr/>
          </p:nvSpPr>
          <p:spPr bwMode="auto">
            <a:xfrm>
              <a:off x="1390112" y="1459277"/>
              <a:ext cx="0" cy="10906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95"/>
            <p:cNvSpPr>
              <a:spLocks noChangeShapeType="1"/>
            </p:cNvSpPr>
            <p:nvPr/>
          </p:nvSpPr>
          <p:spPr bwMode="auto">
            <a:xfrm flipV="1">
              <a:off x="1391832" y="1619614"/>
              <a:ext cx="7871486" cy="0"/>
            </a:xfrm>
            <a:prstGeom prst="line">
              <a:avLst/>
            </a:prstGeom>
            <a:noFill/>
            <a:ln w="12700">
              <a:solidFill>
                <a:schemeClr val="tx1"/>
              </a:solidFill>
              <a:round/>
              <a:headEnd type="stealth" w="sm" len="med"/>
              <a:tailEnd type="stealth"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96"/>
            <p:cNvSpPr>
              <a:spLocks noChangeArrowheads="1"/>
            </p:cNvSpPr>
            <p:nvPr/>
          </p:nvSpPr>
          <p:spPr bwMode="auto">
            <a:xfrm>
              <a:off x="4451343" y="1433308"/>
              <a:ext cx="105211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0000FF"/>
                  </a:solidFill>
                  <a:latin typeface="微软雅黑 Light" panose="020B0502040204020203" pitchFamily="34" charset="-122"/>
                  <a:ea typeface="微软雅黑 Light" panose="020B0502040204020203" pitchFamily="34" charset="-122"/>
                </a:rPr>
                <a:t>IP </a:t>
              </a:r>
              <a:r>
                <a:rPr kumimoji="1" lang="zh-CN" altLang="en-US" sz="1200" b="1" dirty="0">
                  <a:solidFill>
                    <a:srgbClr val="0000FF"/>
                  </a:solidFill>
                  <a:latin typeface="微软雅黑 Light" panose="020B0502040204020203" pitchFamily="34" charset="-122"/>
                  <a:ea typeface="微软雅黑 Light" panose="020B0502040204020203" pitchFamily="34" charset="-122"/>
                </a:rPr>
                <a:t>数据报</a:t>
              </a:r>
            </a:p>
          </p:txBody>
        </p:sp>
        <p:sp>
          <p:nvSpPr>
            <p:cNvPr id="22" name="Rectangle 97"/>
            <p:cNvSpPr>
              <a:spLocks noChangeArrowheads="1"/>
            </p:cNvSpPr>
            <p:nvPr/>
          </p:nvSpPr>
          <p:spPr bwMode="auto">
            <a:xfrm>
              <a:off x="5208052" y="2190545"/>
              <a:ext cx="1203550"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C00FF"/>
                  </a:solidFill>
                  <a:latin typeface="微软雅黑 Light" panose="020B0502040204020203" pitchFamily="34" charset="-122"/>
                  <a:ea typeface="微软雅黑 Light" panose="020B0502040204020203" pitchFamily="34" charset="-122"/>
                </a:rPr>
                <a:t>SNMP </a:t>
              </a:r>
              <a:r>
                <a:rPr kumimoji="1" lang="zh-CN" altLang="en-US" sz="1200" b="1" dirty="0">
                  <a:solidFill>
                    <a:srgbClr val="CC00FF"/>
                  </a:solidFill>
                  <a:latin typeface="微软雅黑 Light" panose="020B0502040204020203" pitchFamily="34" charset="-122"/>
                  <a:ea typeface="微软雅黑 Light" panose="020B0502040204020203" pitchFamily="34" charset="-122"/>
                </a:rPr>
                <a:t>报文</a:t>
              </a:r>
            </a:p>
          </p:txBody>
        </p:sp>
        <p:sp>
          <p:nvSpPr>
            <p:cNvPr id="23" name="Line 98"/>
            <p:cNvSpPr>
              <a:spLocks noChangeShapeType="1"/>
            </p:cNvSpPr>
            <p:nvPr/>
          </p:nvSpPr>
          <p:spPr bwMode="auto">
            <a:xfrm>
              <a:off x="2074589" y="1849802"/>
              <a:ext cx="0" cy="685800"/>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4" name="Rectangle 99"/>
            <p:cNvSpPr>
              <a:spLocks noChangeArrowheads="1"/>
            </p:cNvSpPr>
            <p:nvPr/>
          </p:nvSpPr>
          <p:spPr bwMode="auto">
            <a:xfrm>
              <a:off x="1390112" y="2602277"/>
              <a:ext cx="7871487" cy="563562"/>
            </a:xfrm>
            <a:prstGeom prst="rect">
              <a:avLst/>
            </a:prstGeom>
            <a:solidFill>
              <a:srgbClr val="99FFCC"/>
            </a:solidFill>
            <a:ln w="9525">
              <a:solidFill>
                <a:schemeClr val="folHlink"/>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5" name="Rectangle 100"/>
            <p:cNvSpPr>
              <a:spLocks noChangeArrowheads="1"/>
            </p:cNvSpPr>
            <p:nvPr/>
          </p:nvSpPr>
          <p:spPr bwMode="auto">
            <a:xfrm>
              <a:off x="1410749" y="2602276"/>
              <a:ext cx="613731"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  IP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6" name="Rectangle 101"/>
            <p:cNvSpPr>
              <a:spLocks noChangeArrowheads="1"/>
            </p:cNvSpPr>
            <p:nvPr/>
          </p:nvSpPr>
          <p:spPr bwMode="auto">
            <a:xfrm>
              <a:off x="2088347" y="2603864"/>
              <a:ext cx="671517" cy="528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latin typeface="微软雅黑 Light" panose="020B0502040204020203" pitchFamily="34" charset="-122"/>
                  <a:ea typeface="微软雅黑 Light" panose="020B0502040204020203" pitchFamily="34" charset="-122"/>
                </a:rPr>
                <a:t>UDP </a:t>
              </a:r>
            </a:p>
            <a:p>
              <a:pPr defTabSz="762000">
                <a:lnSpc>
                  <a:spcPct val="90000"/>
                </a:lnSpc>
              </a:pPr>
              <a:r>
                <a:rPr kumimoji="1" lang="zh-CN" altLang="en-US" sz="1200" b="1" dirty="0">
                  <a:latin typeface="微软雅黑 Light" panose="020B0502040204020203" pitchFamily="34" charset="-122"/>
                  <a:ea typeface="微软雅黑 Light" panose="020B0502040204020203" pitchFamily="34" charset="-122"/>
                </a:rPr>
                <a:t>首部</a:t>
              </a:r>
            </a:p>
          </p:txBody>
        </p:sp>
        <p:sp>
          <p:nvSpPr>
            <p:cNvPr id="27" name="Line 102"/>
            <p:cNvSpPr>
              <a:spLocks noChangeShapeType="1"/>
            </p:cNvSpPr>
            <p:nvPr/>
          </p:nvSpPr>
          <p:spPr bwMode="auto">
            <a:xfrm flipH="1">
              <a:off x="4666315" y="2602277"/>
              <a:ext cx="0" cy="56356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Line 103"/>
            <p:cNvSpPr>
              <a:spLocks noChangeShapeType="1"/>
            </p:cNvSpPr>
            <p:nvPr/>
          </p:nvSpPr>
          <p:spPr bwMode="auto">
            <a:xfrm flipH="1">
              <a:off x="2074589"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104"/>
            <p:cNvSpPr>
              <a:spLocks noChangeShapeType="1"/>
            </p:cNvSpPr>
            <p:nvPr/>
          </p:nvSpPr>
          <p:spPr bwMode="auto">
            <a:xfrm flipH="1">
              <a:off x="2759066"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Rectangle 105"/>
            <p:cNvSpPr>
              <a:spLocks noChangeArrowheads="1"/>
            </p:cNvSpPr>
            <p:nvPr/>
          </p:nvSpPr>
          <p:spPr bwMode="auto">
            <a:xfrm>
              <a:off x="5555448" y="2729276"/>
              <a:ext cx="2285550"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en-US" altLang="zh-CN" sz="1200" b="1" dirty="0">
                  <a:solidFill>
                    <a:schemeClr val="bg1"/>
                  </a:solidFill>
                  <a:latin typeface="微软雅黑 Light" panose="020B0502040204020203" pitchFamily="34" charset="-122"/>
                  <a:ea typeface="微软雅黑 Light" panose="020B0502040204020203" pitchFamily="34" charset="-122"/>
                </a:rPr>
                <a:t>SNMP </a:t>
              </a:r>
              <a:r>
                <a:rPr kumimoji="1" lang="zh-CN" altLang="en-US" sz="1200" b="1" dirty="0">
                  <a:solidFill>
                    <a:schemeClr val="bg1"/>
                  </a:solidFill>
                  <a:latin typeface="微软雅黑 Light" panose="020B0502040204020203" pitchFamily="34" charset="-122"/>
                  <a:ea typeface="微软雅黑 Light" panose="020B0502040204020203" pitchFamily="34" charset="-122"/>
                </a:rPr>
                <a:t>报文的数据部分 </a:t>
              </a:r>
            </a:p>
          </p:txBody>
        </p:sp>
        <p:sp>
          <p:nvSpPr>
            <p:cNvPr id="32" name="Rectangle 145"/>
            <p:cNvSpPr>
              <a:spLocks noChangeArrowheads="1"/>
            </p:cNvSpPr>
            <p:nvPr/>
          </p:nvSpPr>
          <p:spPr bwMode="auto">
            <a:xfrm>
              <a:off x="2759065" y="2602276"/>
              <a:ext cx="1918473" cy="563563"/>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33" name="Line 106"/>
            <p:cNvSpPr>
              <a:spLocks noChangeShapeType="1"/>
            </p:cNvSpPr>
            <p:nvPr/>
          </p:nvSpPr>
          <p:spPr bwMode="auto">
            <a:xfrm flipH="1">
              <a:off x="3371312" y="2602277"/>
              <a:ext cx="0" cy="563562"/>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4" name="Rectangle 107"/>
            <p:cNvSpPr>
              <a:spLocks noChangeArrowheads="1"/>
            </p:cNvSpPr>
            <p:nvPr/>
          </p:nvSpPr>
          <p:spPr bwMode="auto">
            <a:xfrm>
              <a:off x="2726390" y="2749914"/>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版本</a:t>
              </a:r>
            </a:p>
          </p:txBody>
        </p:sp>
        <p:sp>
          <p:nvSpPr>
            <p:cNvPr id="35" name="Rectangle 108"/>
            <p:cNvSpPr>
              <a:spLocks noChangeArrowheads="1"/>
            </p:cNvSpPr>
            <p:nvPr/>
          </p:nvSpPr>
          <p:spPr bwMode="auto">
            <a:xfrm>
              <a:off x="3355835" y="2738803"/>
              <a:ext cx="613731" cy="32217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首部</a:t>
              </a:r>
            </a:p>
          </p:txBody>
        </p:sp>
        <p:sp>
          <p:nvSpPr>
            <p:cNvPr id="36" name="Line 110"/>
            <p:cNvSpPr>
              <a:spLocks noChangeShapeType="1"/>
            </p:cNvSpPr>
            <p:nvPr/>
          </p:nvSpPr>
          <p:spPr bwMode="auto">
            <a:xfrm>
              <a:off x="9349308" y="3567477"/>
              <a:ext cx="6879" cy="442912"/>
            </a:xfrm>
            <a:prstGeom prst="line">
              <a:avLst/>
            </a:prstGeom>
            <a:noFill/>
            <a:ln w="12700">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7" name="Text Box 112"/>
            <p:cNvSpPr txBox="1">
              <a:spLocks noChangeArrowheads="1"/>
            </p:cNvSpPr>
            <p:nvPr/>
          </p:nvSpPr>
          <p:spPr bwMode="auto">
            <a:xfrm>
              <a:off x="9342804" y="3563478"/>
              <a:ext cx="367044" cy="34432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200" b="1" dirty="0">
                  <a:solidFill>
                    <a:schemeClr val="bg1"/>
                  </a:solidFill>
                  <a:latin typeface="微软雅黑 Light" panose="020B0502040204020203" pitchFamily="34" charset="-122"/>
                  <a:ea typeface="微软雅黑 Light" panose="020B0502040204020203" pitchFamily="34" charset="-122"/>
                </a:rPr>
                <a:t>…</a:t>
              </a:r>
            </a:p>
          </p:txBody>
        </p:sp>
        <p:sp>
          <p:nvSpPr>
            <p:cNvPr id="38" name="Rectangle 113"/>
            <p:cNvSpPr>
              <a:spLocks noChangeArrowheads="1"/>
            </p:cNvSpPr>
            <p:nvPr/>
          </p:nvSpPr>
          <p:spPr bwMode="auto">
            <a:xfrm>
              <a:off x="1304122" y="2291127"/>
              <a:ext cx="906648"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20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39" name="Rectangle 114"/>
            <p:cNvSpPr>
              <a:spLocks noChangeArrowheads="1"/>
            </p:cNvSpPr>
            <p:nvPr/>
          </p:nvSpPr>
          <p:spPr bwMode="auto">
            <a:xfrm>
              <a:off x="2050511" y="2291127"/>
              <a:ext cx="789082" cy="3451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folHlink"/>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latin typeface="微软雅黑 Light" panose="020B0502040204020203" pitchFamily="34" charset="-122"/>
                  <a:ea typeface="微软雅黑 Light" panose="020B0502040204020203" pitchFamily="34" charset="-122"/>
                </a:rPr>
                <a:t>8 </a:t>
              </a:r>
              <a:r>
                <a:rPr kumimoji="1" lang="zh-CN" altLang="en-US" sz="1200" b="1" dirty="0">
                  <a:latin typeface="微软雅黑 Light" panose="020B0502040204020203" pitchFamily="34" charset="-122"/>
                  <a:ea typeface="微软雅黑 Light" panose="020B0502040204020203" pitchFamily="34" charset="-122"/>
                </a:rPr>
                <a:t>字节</a:t>
              </a:r>
            </a:p>
          </p:txBody>
        </p:sp>
        <p:sp>
          <p:nvSpPr>
            <p:cNvPr id="40" name="Line 115"/>
            <p:cNvSpPr>
              <a:spLocks noChangeShapeType="1"/>
            </p:cNvSpPr>
            <p:nvPr/>
          </p:nvSpPr>
          <p:spPr bwMode="auto">
            <a:xfrm flipH="1">
              <a:off x="9760338"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1" name="Line 118"/>
            <p:cNvSpPr>
              <a:spLocks noChangeShapeType="1"/>
            </p:cNvSpPr>
            <p:nvPr/>
          </p:nvSpPr>
          <p:spPr bwMode="auto">
            <a:xfrm flipV="1">
              <a:off x="3003277" y="4499339"/>
              <a:ext cx="6772540"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2" name="Line 120"/>
            <p:cNvSpPr>
              <a:spLocks noChangeShapeType="1"/>
            </p:cNvSpPr>
            <p:nvPr/>
          </p:nvSpPr>
          <p:spPr bwMode="auto">
            <a:xfrm>
              <a:off x="2968880"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3" name="Rectangle 121"/>
            <p:cNvSpPr>
              <a:spLocks noChangeArrowheads="1"/>
            </p:cNvSpPr>
            <p:nvPr/>
          </p:nvSpPr>
          <p:spPr bwMode="auto">
            <a:xfrm>
              <a:off x="5834054" y="4386058"/>
              <a:ext cx="1205543" cy="345125"/>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defTabSz="762000"/>
              <a:r>
                <a:rPr kumimoji="1" lang="en-US" altLang="zh-CN" sz="1200" b="1" dirty="0">
                  <a:solidFill>
                    <a:srgbClr val="C00000"/>
                  </a:solidFill>
                  <a:latin typeface="微软雅黑 Light" panose="020B0502040204020203" pitchFamily="34" charset="-122"/>
                  <a:ea typeface="微软雅黑 Light" panose="020B0502040204020203" pitchFamily="34" charset="-122"/>
                </a:rPr>
                <a:t>SNMP PDU</a:t>
              </a:r>
            </a:p>
          </p:txBody>
        </p:sp>
        <p:sp>
          <p:nvSpPr>
            <p:cNvPr id="44" name="Line 123"/>
            <p:cNvSpPr>
              <a:spLocks noChangeShapeType="1"/>
            </p:cNvSpPr>
            <p:nvPr/>
          </p:nvSpPr>
          <p:spPr bwMode="auto">
            <a:xfrm flipH="1">
              <a:off x="4019674" y="2610215"/>
              <a:ext cx="0" cy="563563"/>
            </a:xfrm>
            <a:prstGeom prst="line">
              <a:avLst/>
            </a:prstGeom>
            <a:noFill/>
            <a:ln w="12700">
              <a:solidFill>
                <a:schemeClr val="tx2"/>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6" name="Line 125"/>
            <p:cNvSpPr>
              <a:spLocks noChangeShapeType="1"/>
            </p:cNvSpPr>
            <p:nvPr/>
          </p:nvSpPr>
          <p:spPr bwMode="auto">
            <a:xfrm>
              <a:off x="410050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7" name="Line 126"/>
            <p:cNvSpPr>
              <a:spLocks noChangeShapeType="1"/>
            </p:cNvSpPr>
            <p:nvPr/>
          </p:nvSpPr>
          <p:spPr bwMode="auto">
            <a:xfrm>
              <a:off x="5070466"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8" name="Line 127"/>
            <p:cNvSpPr>
              <a:spLocks noChangeShapeType="1"/>
            </p:cNvSpPr>
            <p:nvPr/>
          </p:nvSpPr>
          <p:spPr bwMode="auto">
            <a:xfrm>
              <a:off x="6202089"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49" name="Line 128"/>
            <p:cNvSpPr>
              <a:spLocks noChangeShapeType="1"/>
            </p:cNvSpPr>
            <p:nvPr/>
          </p:nvSpPr>
          <p:spPr bwMode="auto">
            <a:xfrm>
              <a:off x="7254601"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0" name="Line 129"/>
            <p:cNvSpPr>
              <a:spLocks noChangeShapeType="1"/>
            </p:cNvSpPr>
            <p:nvPr/>
          </p:nvSpPr>
          <p:spPr bwMode="auto">
            <a:xfrm>
              <a:off x="7820413"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1" name="Line 130"/>
            <p:cNvSpPr>
              <a:spLocks noChangeShapeType="1"/>
            </p:cNvSpPr>
            <p:nvPr/>
          </p:nvSpPr>
          <p:spPr bwMode="auto">
            <a:xfrm>
              <a:off x="8386224"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2" name="Line 131"/>
            <p:cNvSpPr>
              <a:spLocks noChangeShapeType="1"/>
            </p:cNvSpPr>
            <p:nvPr/>
          </p:nvSpPr>
          <p:spPr bwMode="auto">
            <a:xfrm>
              <a:off x="8871205"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3" name="Line 132"/>
            <p:cNvSpPr>
              <a:spLocks noChangeShapeType="1"/>
            </p:cNvSpPr>
            <p:nvPr/>
          </p:nvSpPr>
          <p:spPr bwMode="auto">
            <a:xfrm flipH="1">
              <a:off x="7254601"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4" name="Line 133"/>
            <p:cNvSpPr>
              <a:spLocks noChangeShapeType="1"/>
            </p:cNvSpPr>
            <p:nvPr/>
          </p:nvSpPr>
          <p:spPr bwMode="auto">
            <a:xfrm flipH="1">
              <a:off x="2968880" y="4083415"/>
              <a:ext cx="0" cy="4413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5" name="Line 134"/>
            <p:cNvSpPr>
              <a:spLocks noChangeShapeType="1"/>
            </p:cNvSpPr>
            <p:nvPr/>
          </p:nvSpPr>
          <p:spPr bwMode="auto">
            <a:xfrm>
              <a:off x="1916368" y="3567477"/>
              <a:ext cx="0" cy="442912"/>
            </a:xfrm>
            <a:prstGeom prst="line">
              <a:avLst/>
            </a:prstGeom>
            <a:noFill/>
            <a:ln w="9525">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6" name="Rectangle 135"/>
            <p:cNvSpPr>
              <a:spLocks noChangeArrowheads="1"/>
            </p:cNvSpPr>
            <p:nvPr/>
          </p:nvSpPr>
          <p:spPr bwMode="auto">
            <a:xfrm>
              <a:off x="903595" y="4278108"/>
              <a:ext cx="1378901" cy="574676"/>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有关加密信息</a:t>
              </a:r>
            </a:p>
            <a:p>
              <a:pPr algn="ctr" defTabSz="762000"/>
              <a:r>
                <a:rPr kumimoji="1" lang="zh-CN" altLang="en-US" sz="1200" b="1" dirty="0">
                  <a:solidFill>
                    <a:srgbClr val="0000FF"/>
                  </a:solidFill>
                  <a:latin typeface="微软雅黑 Light" panose="020B0502040204020203" pitchFamily="34" charset="-122"/>
                  <a:ea typeface="微软雅黑 Light" panose="020B0502040204020203" pitchFamily="34" charset="-122"/>
                </a:rPr>
                <a:t>的字段</a:t>
              </a:r>
            </a:p>
          </p:txBody>
        </p:sp>
        <p:sp>
          <p:nvSpPr>
            <p:cNvPr id="57" name="AutoShape 136"/>
            <p:cNvSpPr>
              <a:spLocks/>
            </p:cNvSpPr>
            <p:nvPr/>
          </p:nvSpPr>
          <p:spPr bwMode="auto">
            <a:xfrm rot="-5400000">
              <a:off x="1500972" y="2877444"/>
              <a:ext cx="225425" cy="2627842"/>
            </a:xfrm>
            <a:prstGeom prst="leftBrace">
              <a:avLst>
                <a:gd name="adj1" fmla="val 89671"/>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58" name="Line 137"/>
            <p:cNvSpPr>
              <a:spLocks noChangeShapeType="1"/>
            </p:cNvSpPr>
            <p:nvPr/>
          </p:nvSpPr>
          <p:spPr bwMode="auto">
            <a:xfrm flipH="1">
              <a:off x="4100503" y="4083414"/>
              <a:ext cx="0" cy="2984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59" name="Freeform 143"/>
            <p:cNvSpPr>
              <a:spLocks/>
            </p:cNvSpPr>
            <p:nvPr/>
          </p:nvSpPr>
          <p:spPr bwMode="auto">
            <a:xfrm>
              <a:off x="320400" y="3153141"/>
              <a:ext cx="9431338" cy="409574"/>
            </a:xfrm>
            <a:custGeom>
              <a:avLst/>
              <a:gdLst>
                <a:gd name="T0" fmla="*/ 0 w 5484"/>
                <a:gd name="T1" fmla="*/ 2147483646 h 240"/>
                <a:gd name="T2" fmla="*/ 2147483646 w 5484"/>
                <a:gd name="T3" fmla="*/ 2147483646 h 240"/>
                <a:gd name="T4" fmla="*/ 2147483646 w 5484"/>
                <a:gd name="T5" fmla="*/ 0 h 240"/>
                <a:gd name="T6" fmla="*/ 2147483646 w 5484"/>
                <a:gd name="T7" fmla="*/ 2147483646 h 240"/>
                <a:gd name="T8" fmla="*/ 0 w 5484"/>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84" h="240">
                  <a:moveTo>
                    <a:pt x="0" y="240"/>
                  </a:moveTo>
                  <a:lnTo>
                    <a:pt x="2526" y="12"/>
                  </a:lnTo>
                  <a:lnTo>
                    <a:pt x="5202" y="0"/>
                  </a:lnTo>
                  <a:lnTo>
                    <a:pt x="5484" y="240"/>
                  </a:lnTo>
                  <a:lnTo>
                    <a:pt x="0" y="240"/>
                  </a:lnTo>
                  <a:close/>
                </a:path>
              </a:pathLst>
            </a:custGeom>
            <a:gradFill flip="none" rotWithShape="1">
              <a:gsLst>
                <a:gs pos="0">
                  <a:srgbClr val="00B0F0">
                    <a:shade val="30000"/>
                    <a:satMod val="115000"/>
                  </a:srgbClr>
                </a:gs>
                <a:gs pos="50000">
                  <a:srgbClr val="00B0F0">
                    <a:shade val="67500"/>
                    <a:satMod val="115000"/>
                  </a:srgbClr>
                </a:gs>
                <a:gs pos="100000">
                  <a:srgbClr val="00B0F0">
                    <a:shade val="100000"/>
                    <a:satMod val="115000"/>
                  </a:srgbClr>
                </a:gs>
              </a:gsLst>
              <a:lin ang="5400000" scaled="1"/>
              <a:tileRect/>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9" name="Rectangle 144"/>
            <p:cNvSpPr>
              <a:spLocks noChangeArrowheads="1"/>
            </p:cNvSpPr>
            <p:nvPr/>
          </p:nvSpPr>
          <p:spPr bwMode="auto">
            <a:xfrm>
              <a:off x="4683513" y="2602276"/>
              <a:ext cx="4572926" cy="550864"/>
            </a:xfrm>
            <a:prstGeom prst="rect">
              <a:avLst/>
            </a:prstGeom>
            <a:solidFill>
              <a:srgbClr val="0000FF"/>
            </a:solidFill>
            <a:ln w="9525">
              <a:solidFill>
                <a:schemeClr val="tx1"/>
              </a:solidFill>
              <a:miter lim="800000"/>
              <a:headEnd/>
              <a:tailEnd/>
            </a:ln>
            <a:effectLst/>
          </p:spPr>
          <p:txBody>
            <a:bodyPr wrap="none" anchor="ctr"/>
            <a:lstStyle/>
            <a:p>
              <a:pPr eaLnBrk="1" hangingPunct="1"/>
              <a:endParaRPr lang="zh-CN" altLang="en-US" sz="1200" b="1" dirty="0">
                <a:solidFill>
                  <a:schemeClr val="bg1"/>
                </a:solidFill>
                <a:latin typeface="微软雅黑 Light" panose="020B0502040204020203" pitchFamily="34" charset="-122"/>
                <a:ea typeface="微软雅黑 Light" panose="020B0502040204020203" pitchFamily="34" charset="-122"/>
              </a:endParaRPr>
            </a:p>
          </p:txBody>
        </p:sp>
      </p:grpSp>
      <p:sp>
        <p:nvSpPr>
          <p:cNvPr id="61" name="Rectangle 124"/>
          <p:cNvSpPr>
            <a:spLocks noChangeArrowheads="1"/>
          </p:cNvSpPr>
          <p:nvPr/>
        </p:nvSpPr>
        <p:spPr bwMode="auto">
          <a:xfrm>
            <a:off x="3748055" y="2229538"/>
            <a:ext cx="493725" cy="42537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2075" tIns="46038" rIns="92075" bIns="46038">
            <a:spAutoFit/>
          </a:bodyPr>
          <a:lstStyle/>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安全</a:t>
            </a:r>
          </a:p>
          <a:p>
            <a:pPr algn="ctr" defTabSz="762000">
              <a:lnSpc>
                <a:spcPct val="90000"/>
              </a:lnSpc>
            </a:pPr>
            <a:r>
              <a:rPr kumimoji="1" lang="zh-CN" altLang="en-US" sz="1200" b="1" dirty="0">
                <a:solidFill>
                  <a:schemeClr val="bg1"/>
                </a:solidFill>
                <a:latin typeface="微软雅黑 Light" panose="020B0502040204020203" pitchFamily="34" charset="-122"/>
                <a:ea typeface="微软雅黑 Light" panose="020B0502040204020203" pitchFamily="34" charset="-122"/>
              </a:rPr>
              <a:t>参数</a:t>
            </a:r>
          </a:p>
        </p:txBody>
      </p:sp>
    </p:spTree>
    <p:extLst>
      <p:ext uri="{BB962C8B-B14F-4D97-AF65-F5344CB8AC3E}">
        <p14:creationId xmlns:p14="http://schemas.microsoft.com/office/powerpoint/2010/main" val="33599791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4943"/>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75761" y="581732"/>
            <a:ext cx="36111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 </a:t>
            </a:r>
            <a:r>
              <a:rPr lang="en-US" altLang="zh-CN" sz="2000" b="1" dirty="0">
                <a:solidFill>
                  <a:schemeClr val="bg1"/>
                </a:solidFill>
                <a:latin typeface="微软雅黑 Light" panose="020B0502040204020203" pitchFamily="34" charset="-122"/>
                <a:ea typeface="微软雅黑 Light" panose="020B0502040204020203" pitchFamily="34" charset="-122"/>
              </a:rPr>
              <a:t>ASN.1 </a:t>
            </a:r>
            <a:r>
              <a:rPr lang="zh-CN" altLang="en-US" sz="2000" b="1" dirty="0">
                <a:solidFill>
                  <a:schemeClr val="bg1"/>
                </a:solidFill>
                <a:latin typeface="微软雅黑 Light" panose="020B0502040204020203" pitchFamily="34" charset="-122"/>
                <a:ea typeface="微软雅黑 Light" panose="020B0502040204020203" pitchFamily="34" charset="-122"/>
              </a:rPr>
              <a:t>定义</a:t>
            </a:r>
          </a:p>
        </p:txBody>
      </p:sp>
      <p:sp>
        <p:nvSpPr>
          <p:cNvPr id="5" name="矩形 4"/>
          <p:cNvSpPr/>
          <p:nvPr/>
        </p:nvSpPr>
        <p:spPr>
          <a:xfrm>
            <a:off x="903285" y="1246382"/>
            <a:ext cx="7533684" cy="1938992"/>
          </a:xfrm>
          <a:prstGeom prst="rect">
            <a:avLst/>
          </a:prstGeom>
        </p:spPr>
        <p:txBody>
          <a:bodyPr wrap="square">
            <a:spAutoFit/>
          </a:bodyPr>
          <a:lstStyle/>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Get-request-PDU ::</a:t>
            </a:r>
            <a:r>
              <a:rPr lang="en-US" altLang="zh-CN" sz="1400" b="1" dirty="0">
                <a:latin typeface="微软雅黑 Light" panose="020B0502040204020203" pitchFamily="34" charset="-122"/>
                <a:ea typeface="微软雅黑 Light" panose="020B0502040204020203" pitchFamily="34" charset="-122"/>
                <a:sym typeface="Symbol"/>
              </a:rPr>
              <a:t></a:t>
            </a:r>
            <a:r>
              <a:rPr lang="en-US" altLang="zh-CN" sz="1400" b="1" dirty="0">
                <a:latin typeface="微软雅黑 Light" panose="020B0502040204020203" pitchFamily="34" charset="-122"/>
                <a:ea typeface="微软雅黑 Light" panose="020B0502040204020203" pitchFamily="34" charset="-122"/>
              </a:rPr>
              <a:t> [0]                      --[0] </a:t>
            </a:r>
            <a:r>
              <a:rPr lang="zh-CN" altLang="zh-CN" sz="1400" b="1" dirty="0">
                <a:latin typeface="微软雅黑 Light" panose="020B0502040204020203" pitchFamily="34" charset="-122"/>
                <a:ea typeface="微软雅黑 Light" panose="020B0502040204020203" pitchFamily="34" charset="-122"/>
              </a:rPr>
              <a:t>表示上下文类，编号为</a:t>
            </a:r>
            <a:r>
              <a:rPr lang="en-US" altLang="zh-CN" sz="1400" b="1" dirty="0">
                <a:latin typeface="微软雅黑 Light" panose="020B0502040204020203" pitchFamily="34" charset="-122"/>
                <a:ea typeface="微软雅黑 Light" panose="020B0502040204020203" pitchFamily="34" charset="-122"/>
              </a:rPr>
              <a:t> 0</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IMPLICIT SEQUENCE {                      --</a:t>
            </a:r>
            <a:r>
              <a:rPr lang="zh-CN" altLang="zh-CN" sz="1400" b="1" dirty="0">
                <a:latin typeface="微软雅黑 Light" panose="020B0502040204020203" pitchFamily="34" charset="-122"/>
                <a:ea typeface="微软雅黑 Light" panose="020B0502040204020203" pitchFamily="34" charset="-122"/>
              </a:rPr>
              <a:t>类型是</a:t>
            </a:r>
            <a:r>
              <a:rPr lang="en-US" altLang="zh-CN" sz="1400" b="1" dirty="0">
                <a:latin typeface="微软雅黑 Light" panose="020B0502040204020203" pitchFamily="34" charset="-122"/>
                <a:ea typeface="微软雅黑 Light" panose="020B0502040204020203" pitchFamily="34" charset="-122"/>
              </a:rPr>
              <a:t> SEQUENCE</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request-id</a:t>
            </a:r>
            <a:r>
              <a:rPr lang="en-US" altLang="zh-CN" sz="1400" b="1" dirty="0">
                <a:latin typeface="微软雅黑 Light" panose="020B0502040204020203" pitchFamily="34" charset="-122"/>
                <a:ea typeface="微软雅黑 Light" panose="020B0502040204020203" pitchFamily="34" charset="-122"/>
              </a:rPr>
              <a:t>      integer32,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request-id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integer32</a:t>
            </a:r>
            <a:endParaRPr lang="zh-CN" altLang="zh-CN" sz="1400" b="1" dirty="0">
              <a:latin typeface="微软雅黑 Light" panose="020B0502040204020203" pitchFamily="34" charset="-122"/>
              <a:ea typeface="微软雅黑 Light" panose="020B0502040204020203" pitchFamily="34" charset="-122"/>
            </a:endParaRP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error-status</a:t>
            </a:r>
            <a:r>
              <a:rPr lang="en-US" altLang="zh-CN" sz="1400" b="1" dirty="0">
                <a:latin typeface="微软雅黑 Light" panose="020B0502040204020203" pitchFamily="34" charset="-122"/>
                <a:ea typeface="微软雅黑 Light" panose="020B0502040204020203" pitchFamily="34" charset="-122"/>
              </a:rPr>
              <a:t>   INTEGER {0..18},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error-status </a:t>
            </a:r>
            <a:r>
              <a:rPr lang="zh-CN" altLang="zh-CN" sz="1400" b="1" dirty="0">
                <a:latin typeface="微软雅黑 Light" panose="020B0502040204020203" pitchFamily="34" charset="-122"/>
                <a:ea typeface="微软雅黑 Light" panose="020B0502040204020203" pitchFamily="34" charset="-122"/>
              </a:rPr>
              <a:t>取值为</a:t>
            </a:r>
            <a:r>
              <a:rPr lang="en-US" altLang="zh-CN" sz="1400" b="1" dirty="0">
                <a:latin typeface="微软雅黑 Light" panose="020B0502040204020203" pitchFamily="34" charset="-122"/>
                <a:ea typeface="微软雅黑 Light" panose="020B0502040204020203" pitchFamily="34" charset="-122"/>
              </a:rPr>
              <a:t> 0 ~ 18 </a:t>
            </a:r>
            <a:r>
              <a:rPr lang="zh-CN" altLang="zh-CN" sz="140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error-index</a:t>
            </a:r>
            <a:r>
              <a:rPr lang="en-US" altLang="zh-CN" sz="1400" b="1" dirty="0">
                <a:latin typeface="微软雅黑 Light" panose="020B0502040204020203" pitchFamily="34" charset="-122"/>
                <a:ea typeface="微软雅黑 Light" panose="020B0502040204020203" pitchFamily="34" charset="-122"/>
              </a:rPr>
              <a:t>    INTEGER {0..max-bindings}, </a:t>
            </a:r>
            <a:r>
              <a:rPr lang="en-US" altLang="zh-CN" sz="1050" b="1" dirty="0">
                <a:latin typeface="微软雅黑 Light" panose="020B0502040204020203" pitchFamily="34" charset="-122"/>
                <a:ea typeface="微软雅黑 Light" panose="020B0502040204020203" pitchFamily="34" charset="-122"/>
              </a:rPr>
              <a:t>--</a:t>
            </a:r>
            <a:r>
              <a:rPr lang="zh-CN" altLang="zh-CN" sz="1050" b="1" dirty="0">
                <a:latin typeface="微软雅黑 Light" panose="020B0502040204020203" pitchFamily="34" charset="-122"/>
                <a:ea typeface="微软雅黑 Light" panose="020B0502040204020203" pitchFamily="34" charset="-122"/>
              </a:rPr>
              <a:t>变量</a:t>
            </a:r>
            <a:r>
              <a:rPr lang="en-US" altLang="zh-CN" sz="1050" b="1" dirty="0">
                <a:latin typeface="微软雅黑 Light" panose="020B0502040204020203" pitchFamily="34" charset="-122"/>
                <a:ea typeface="微软雅黑 Light" panose="020B0502040204020203" pitchFamily="34" charset="-122"/>
              </a:rPr>
              <a:t> error-index </a:t>
            </a:r>
            <a:r>
              <a:rPr lang="zh-CN" altLang="zh-CN" sz="1050" b="1" dirty="0">
                <a:latin typeface="微软雅黑 Light" panose="020B0502040204020203" pitchFamily="34" charset="-122"/>
                <a:ea typeface="微软雅黑 Light" panose="020B0502040204020203" pitchFamily="34" charset="-122"/>
              </a:rPr>
              <a:t>取值为</a:t>
            </a:r>
            <a:r>
              <a:rPr lang="en-US" altLang="zh-CN" sz="1050" b="1" dirty="0">
                <a:latin typeface="微软雅黑 Light" panose="020B0502040204020203" pitchFamily="34" charset="-122"/>
                <a:ea typeface="微软雅黑 Light" panose="020B0502040204020203" pitchFamily="34" charset="-122"/>
              </a:rPr>
              <a:t> 0 ~ max-bindings</a:t>
            </a:r>
            <a:r>
              <a:rPr lang="zh-CN" altLang="zh-CN" sz="1050" b="1" dirty="0">
                <a:latin typeface="微软雅黑 Light" panose="020B0502040204020203" pitchFamily="34" charset="-122"/>
                <a:ea typeface="微软雅黑 Light" panose="020B0502040204020203" pitchFamily="34" charset="-122"/>
              </a:rPr>
              <a:t>的整数</a:t>
            </a:r>
          </a:p>
          <a:p>
            <a:pPr hangingPunct="0">
              <a:lnSpc>
                <a:spcPts val="2400"/>
              </a:lnSpc>
            </a:pPr>
            <a:r>
              <a:rPr lang="en-US" altLang="zh-CN" sz="1400" b="1" dirty="0">
                <a:latin typeface="微软雅黑 Light" panose="020B0502040204020203" pitchFamily="34" charset="-122"/>
                <a:ea typeface="微软雅黑 Light" panose="020B0502040204020203" pitchFamily="34" charset="-122"/>
              </a:rPr>
              <a:t>    </a:t>
            </a:r>
            <a:r>
              <a:rPr lang="en-US" altLang="zh-CN" sz="1400" b="1" dirty="0">
                <a:solidFill>
                  <a:srgbClr val="0000FF"/>
                </a:solidFill>
                <a:latin typeface="微软雅黑 Light" panose="020B0502040204020203" pitchFamily="34" charset="-122"/>
                <a:ea typeface="微软雅黑 Light" panose="020B0502040204020203" pitchFamily="34" charset="-122"/>
              </a:rPr>
              <a:t>variable-bindings</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r>
              <a:rPr lang="en-US" altLang="zh-CN" sz="1400" b="1" dirty="0">
                <a:latin typeface="微软雅黑 Light" panose="020B0502040204020203" pitchFamily="34" charset="-122"/>
                <a:ea typeface="微软雅黑 Light" panose="020B0502040204020203" pitchFamily="34" charset="-122"/>
              </a:rPr>
              <a:t> }   --</a:t>
            </a:r>
            <a:r>
              <a:rPr lang="zh-CN" altLang="zh-CN" sz="1400" b="1" dirty="0">
                <a:latin typeface="微软雅黑 Light" panose="020B0502040204020203" pitchFamily="34" charset="-122"/>
                <a:ea typeface="微软雅黑 Light" panose="020B0502040204020203" pitchFamily="34" charset="-122"/>
              </a:rPr>
              <a:t>变量</a:t>
            </a:r>
            <a:r>
              <a:rPr lang="en-US" altLang="zh-CN" sz="1400" b="1" dirty="0">
                <a:latin typeface="微软雅黑 Light" panose="020B0502040204020203" pitchFamily="34" charset="-122"/>
                <a:ea typeface="微软雅黑 Light" panose="020B0502040204020203" pitchFamily="34" charset="-122"/>
              </a:rPr>
              <a:t> variable-binding </a:t>
            </a:r>
            <a:r>
              <a:rPr lang="zh-CN" altLang="zh-CN" sz="1400" b="1" dirty="0">
                <a:latin typeface="微软雅黑 Light" panose="020B0502040204020203" pitchFamily="34" charset="-122"/>
                <a:ea typeface="微软雅黑 Light" panose="020B0502040204020203" pitchFamily="34" charset="-122"/>
              </a:rPr>
              <a:t>的类型是</a:t>
            </a:r>
            <a:r>
              <a:rPr lang="en-US" altLang="zh-CN" sz="1400" b="1" dirty="0">
                <a:latin typeface="微软雅黑 Light" panose="020B0502040204020203" pitchFamily="34" charset="-122"/>
                <a:ea typeface="微软雅黑 Light" panose="020B0502040204020203" pitchFamily="34" charset="-122"/>
              </a:rPr>
              <a:t> </a:t>
            </a:r>
            <a:r>
              <a:rPr lang="en-US" altLang="zh-CN" sz="1400" b="1" dirty="0" err="1">
                <a:latin typeface="微软雅黑 Light" panose="020B0502040204020203" pitchFamily="34" charset="-122"/>
                <a:ea typeface="微软雅黑 Light" panose="020B0502040204020203" pitchFamily="34" charset="-122"/>
              </a:rPr>
              <a:t>VarBindList</a:t>
            </a:r>
            <a:endParaRPr lang="zh-CN" altLang="zh-CN" sz="14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16557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795799" y="582898"/>
            <a:ext cx="357110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 </a:t>
            </a:r>
            <a:r>
              <a:rPr lang="en-US" altLang="zh-CN" sz="2000" b="1" dirty="0">
                <a:solidFill>
                  <a:schemeClr val="bg1"/>
                </a:solidFill>
                <a:latin typeface="微软雅黑 Light" panose="020B0502040204020203" pitchFamily="34" charset="-122"/>
                <a:ea typeface="微软雅黑 Light" panose="020B0502040204020203" pitchFamily="34" charset="-122"/>
              </a:rPr>
              <a:t>BER </a:t>
            </a:r>
            <a:r>
              <a:rPr lang="zh-CN" altLang="en-US" sz="2000" b="1" dirty="0">
                <a:solidFill>
                  <a:schemeClr val="bg1"/>
                </a:solidFill>
                <a:latin typeface="微软雅黑 Light" panose="020B0502040204020203" pitchFamily="34" charset="-122"/>
                <a:ea typeface="微软雅黑 Light" panose="020B0502040204020203" pitchFamily="34" charset="-122"/>
              </a:rPr>
              <a:t>编码</a:t>
            </a:r>
          </a:p>
        </p:txBody>
      </p:sp>
      <p:sp>
        <p:nvSpPr>
          <p:cNvPr id="61" name="Freeform 200"/>
          <p:cNvSpPr>
            <a:spLocks/>
          </p:cNvSpPr>
          <p:nvPr/>
        </p:nvSpPr>
        <p:spPr bwMode="auto">
          <a:xfrm>
            <a:off x="1163991" y="2087402"/>
            <a:ext cx="6375405" cy="189560"/>
          </a:xfrm>
          <a:custGeom>
            <a:avLst/>
            <a:gdLst>
              <a:gd name="T0" fmla="*/ 0 w 5464"/>
              <a:gd name="T1" fmla="*/ 2147483646 h 176"/>
              <a:gd name="T2" fmla="*/ 2147483646 w 5464"/>
              <a:gd name="T3" fmla="*/ 0 h 176"/>
              <a:gd name="T4" fmla="*/ 2147483646 w 5464"/>
              <a:gd name="T5" fmla="*/ 2147483646 h 176"/>
              <a:gd name="T6" fmla="*/ 2147483646 w 5464"/>
              <a:gd name="T7" fmla="*/ 2147483646 h 176"/>
              <a:gd name="T8" fmla="*/ 0 w 5464"/>
              <a:gd name="T9" fmla="*/ 2147483646 h 176"/>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5464" h="176">
                <a:moveTo>
                  <a:pt x="0" y="176"/>
                </a:moveTo>
                <a:lnTo>
                  <a:pt x="1534" y="0"/>
                </a:lnTo>
                <a:lnTo>
                  <a:pt x="5152" y="6"/>
                </a:lnTo>
                <a:lnTo>
                  <a:pt x="5464" y="174"/>
                </a:lnTo>
                <a:lnTo>
                  <a:pt x="0" y="176"/>
                </a:lnTo>
                <a:close/>
              </a:path>
            </a:pathLst>
          </a:custGeom>
          <a:gradFill rotWithShape="1">
            <a:gsLst>
              <a:gs pos="0">
                <a:schemeClr val="tx2">
                  <a:lumMod val="60000"/>
                  <a:lumOff val="40000"/>
                </a:schemeClr>
              </a:gs>
              <a:gs pos="100000">
                <a:srgbClr val="00FFCC"/>
              </a:gs>
            </a:gsLst>
            <a:lin ang="5400000" scaled="1"/>
          </a:gradFill>
          <a:ln>
            <a:noFill/>
          </a:ln>
          <a:effec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2" name="Rectangle 195"/>
          <p:cNvSpPr>
            <a:spLocks noChangeArrowheads="1"/>
          </p:cNvSpPr>
          <p:nvPr/>
        </p:nvSpPr>
        <p:spPr bwMode="auto">
          <a:xfrm>
            <a:off x="6846316" y="3599577"/>
            <a:ext cx="847098" cy="414664"/>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3" name="Rectangle 168"/>
          <p:cNvSpPr>
            <a:spLocks noChangeArrowheads="1"/>
          </p:cNvSpPr>
          <p:nvPr/>
        </p:nvSpPr>
        <p:spPr bwMode="auto">
          <a:xfrm>
            <a:off x="5141618" y="2930731"/>
            <a:ext cx="2425780" cy="412509"/>
          </a:xfrm>
          <a:prstGeom prst="rect">
            <a:avLst/>
          </a:prstGeom>
          <a:solidFill>
            <a:srgbClr val="CC00CC"/>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4" name="Rectangle 197"/>
          <p:cNvSpPr>
            <a:spLocks noChangeArrowheads="1"/>
          </p:cNvSpPr>
          <p:nvPr/>
        </p:nvSpPr>
        <p:spPr bwMode="auto">
          <a:xfrm>
            <a:off x="6913989" y="2947963"/>
            <a:ext cx="648742" cy="382352"/>
          </a:xfrm>
          <a:prstGeom prst="rect">
            <a:avLst/>
          </a:prstGeom>
          <a:solidFill>
            <a:srgbClr val="FF99FF"/>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5" name="Rectangle 198"/>
          <p:cNvSpPr>
            <a:spLocks noChangeArrowheads="1"/>
          </p:cNvSpPr>
          <p:nvPr/>
        </p:nvSpPr>
        <p:spPr bwMode="auto">
          <a:xfrm>
            <a:off x="6380762" y="2941501"/>
            <a:ext cx="512226" cy="388814"/>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6" name="Rectangle 134"/>
          <p:cNvSpPr>
            <a:spLocks noChangeArrowheads="1"/>
          </p:cNvSpPr>
          <p:nvPr/>
        </p:nvSpPr>
        <p:spPr bwMode="auto">
          <a:xfrm>
            <a:off x="1154656" y="2274809"/>
            <a:ext cx="6412743" cy="412510"/>
          </a:xfrm>
          <a:prstGeom prst="rect">
            <a:avLst/>
          </a:prstGeom>
          <a:solidFill>
            <a:srgbClr val="0000FF"/>
          </a:solidFill>
          <a:ln w="19050">
            <a:solidFill>
              <a:schemeClr val="tx1"/>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68" name="Freeform 190"/>
          <p:cNvSpPr>
            <a:spLocks/>
          </p:cNvSpPr>
          <p:nvPr/>
        </p:nvSpPr>
        <p:spPr bwMode="auto">
          <a:xfrm>
            <a:off x="2963198" y="1531646"/>
            <a:ext cx="4191152" cy="305881"/>
          </a:xfrm>
          <a:custGeom>
            <a:avLst/>
            <a:gdLst>
              <a:gd name="T0" fmla="*/ 0 w 3592"/>
              <a:gd name="T1" fmla="*/ 2147483646 h 284"/>
              <a:gd name="T2" fmla="*/ 2147483646 w 3592"/>
              <a:gd name="T3" fmla="*/ 0 h 284"/>
              <a:gd name="T4" fmla="*/ 2147483646 w 3592"/>
              <a:gd name="T5" fmla="*/ 0 h 284"/>
              <a:gd name="T6" fmla="*/ 2147483646 w 3592"/>
              <a:gd name="T7" fmla="*/ 2147483646 h 284"/>
              <a:gd name="T8" fmla="*/ 0 w 3592"/>
              <a:gd name="T9" fmla="*/ 2147483646 h 284"/>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592" h="284">
                <a:moveTo>
                  <a:pt x="0" y="284"/>
                </a:moveTo>
                <a:lnTo>
                  <a:pt x="1354" y="0"/>
                </a:lnTo>
                <a:lnTo>
                  <a:pt x="2044" y="0"/>
                </a:lnTo>
                <a:lnTo>
                  <a:pt x="3592" y="282"/>
                </a:lnTo>
                <a:lnTo>
                  <a:pt x="0" y="284"/>
                </a:lnTo>
                <a:close/>
              </a:path>
            </a:pathLst>
          </a:custGeom>
          <a:gradFill rotWithShape="1">
            <a:gsLst>
              <a:gs pos="0">
                <a:srgbClr val="0070C0"/>
              </a:gs>
              <a:gs pos="100000">
                <a:srgbClr val="00CC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69" name="Rectangle 192"/>
          <p:cNvSpPr>
            <a:spLocks noChangeArrowheads="1"/>
          </p:cNvSpPr>
          <p:nvPr/>
        </p:nvSpPr>
        <p:spPr bwMode="auto">
          <a:xfrm>
            <a:off x="3240898" y="3603885"/>
            <a:ext cx="3599584" cy="400662"/>
          </a:xfrm>
          <a:prstGeom prst="rect">
            <a:avLst/>
          </a:prstGeom>
          <a:solidFill>
            <a:srgbClr val="00FF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71" name="Text Box 119"/>
          <p:cNvSpPr txBox="1">
            <a:spLocks noChangeArrowheads="1"/>
          </p:cNvSpPr>
          <p:nvPr/>
        </p:nvSpPr>
        <p:spPr bwMode="auto">
          <a:xfrm>
            <a:off x="4741252"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09</a:t>
            </a:r>
          </a:p>
        </p:txBody>
      </p:sp>
      <p:sp>
        <p:nvSpPr>
          <p:cNvPr id="72" name="Text Box 120"/>
          <p:cNvSpPr txBox="1">
            <a:spLocks noChangeArrowheads="1"/>
          </p:cNvSpPr>
          <p:nvPr/>
        </p:nvSpPr>
        <p:spPr bwMode="auto">
          <a:xfrm>
            <a:off x="3261623" y="3590962"/>
            <a:ext cx="142859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OBJECT IDENTIFIER</a:t>
            </a:r>
          </a:p>
        </p:txBody>
      </p:sp>
      <p:sp>
        <p:nvSpPr>
          <p:cNvPr id="82" name="Rectangle 136"/>
          <p:cNvSpPr>
            <a:spLocks noChangeArrowheads="1"/>
          </p:cNvSpPr>
          <p:nvPr/>
        </p:nvSpPr>
        <p:spPr bwMode="auto">
          <a:xfrm>
            <a:off x="2955032" y="1849376"/>
            <a:ext cx="4216822" cy="243413"/>
          </a:xfrm>
          <a:prstGeom prst="rect">
            <a:avLst/>
          </a:prstGeom>
          <a:solidFill>
            <a:srgbClr val="0066FF"/>
          </a:solidFill>
          <a:ln w="19050">
            <a:solidFill>
              <a:schemeClr val="tx2"/>
            </a:solidFill>
            <a:miter lim="800000"/>
            <a:headEnd/>
            <a:tailEnd/>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83" name="Line 137"/>
          <p:cNvSpPr>
            <a:spLocks noChangeShapeType="1"/>
          </p:cNvSpPr>
          <p:nvPr/>
        </p:nvSpPr>
        <p:spPr bwMode="auto">
          <a:xfrm>
            <a:off x="3876806" y="1849376"/>
            <a:ext cx="1166"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4" name="Line 138"/>
          <p:cNvSpPr>
            <a:spLocks noChangeShapeType="1"/>
          </p:cNvSpPr>
          <p:nvPr/>
        </p:nvSpPr>
        <p:spPr bwMode="auto">
          <a:xfrm>
            <a:off x="4865086"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5" name="Line 139"/>
          <p:cNvSpPr>
            <a:spLocks noChangeShapeType="1"/>
          </p:cNvSpPr>
          <p:nvPr/>
        </p:nvSpPr>
        <p:spPr bwMode="auto">
          <a:xfrm>
            <a:off x="5854534" y="1849376"/>
            <a:ext cx="1167"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86" name="Text Box 141"/>
          <p:cNvSpPr txBox="1">
            <a:spLocks noChangeArrowheads="1"/>
          </p:cNvSpPr>
          <p:nvPr/>
        </p:nvSpPr>
        <p:spPr bwMode="auto">
          <a:xfrm>
            <a:off x="2983812" y="1837528"/>
            <a:ext cx="83708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request-id</a:t>
            </a:r>
          </a:p>
        </p:txBody>
      </p:sp>
      <p:sp>
        <p:nvSpPr>
          <p:cNvPr id="87" name="Text Box 142"/>
          <p:cNvSpPr txBox="1">
            <a:spLocks noChangeArrowheads="1"/>
          </p:cNvSpPr>
          <p:nvPr/>
        </p:nvSpPr>
        <p:spPr bwMode="auto">
          <a:xfrm>
            <a:off x="3886659" y="1837528"/>
            <a:ext cx="922047"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error-status</a:t>
            </a:r>
          </a:p>
        </p:txBody>
      </p:sp>
      <p:sp>
        <p:nvSpPr>
          <p:cNvPr id="88" name="Text Box 143"/>
          <p:cNvSpPr txBox="1">
            <a:spLocks noChangeArrowheads="1"/>
          </p:cNvSpPr>
          <p:nvPr/>
        </p:nvSpPr>
        <p:spPr bwMode="auto">
          <a:xfrm>
            <a:off x="4894730" y="1837528"/>
            <a:ext cx="896399"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error-index</a:t>
            </a:r>
          </a:p>
        </p:txBody>
      </p:sp>
      <p:sp>
        <p:nvSpPr>
          <p:cNvPr id="89" name="Text Box 144"/>
          <p:cNvSpPr txBox="1">
            <a:spLocks noChangeArrowheads="1"/>
          </p:cNvSpPr>
          <p:nvPr/>
        </p:nvSpPr>
        <p:spPr bwMode="auto">
          <a:xfrm>
            <a:off x="5870558" y="1837528"/>
            <a:ext cx="1282723"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variable-bindings</a:t>
            </a:r>
          </a:p>
        </p:txBody>
      </p:sp>
      <p:sp>
        <p:nvSpPr>
          <p:cNvPr id="90" name="Line 145"/>
          <p:cNvSpPr>
            <a:spLocks noChangeShapeType="1"/>
          </p:cNvSpPr>
          <p:nvPr/>
        </p:nvSpPr>
        <p:spPr bwMode="auto">
          <a:xfrm flipH="1">
            <a:off x="4273517"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1" name="Line 146"/>
          <p:cNvSpPr>
            <a:spLocks noChangeShapeType="1"/>
          </p:cNvSpPr>
          <p:nvPr/>
        </p:nvSpPr>
        <p:spPr bwMode="auto">
          <a:xfrm>
            <a:off x="3119550"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2" name="Line 147"/>
          <p:cNvSpPr>
            <a:spLocks noChangeShapeType="1"/>
          </p:cNvSpPr>
          <p:nvPr/>
        </p:nvSpPr>
        <p:spPr bwMode="auto">
          <a:xfrm flipH="1">
            <a:off x="1875740" y="2274808"/>
            <a:ext cx="3501" cy="40497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3" name="Line 148"/>
          <p:cNvSpPr>
            <a:spLocks noChangeShapeType="1"/>
          </p:cNvSpPr>
          <p:nvPr/>
        </p:nvSpPr>
        <p:spPr bwMode="auto">
          <a:xfrm>
            <a:off x="220827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4" name="Line 149"/>
          <p:cNvSpPr>
            <a:spLocks noChangeShapeType="1"/>
          </p:cNvSpPr>
          <p:nvPr/>
        </p:nvSpPr>
        <p:spPr bwMode="auto">
          <a:xfrm>
            <a:off x="6579118"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95" name="Line 150"/>
          <p:cNvSpPr>
            <a:spLocks noChangeShapeType="1"/>
          </p:cNvSpPr>
          <p:nvPr/>
        </p:nvSpPr>
        <p:spPr bwMode="auto">
          <a:xfrm>
            <a:off x="6908156"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0" name="Line 155"/>
          <p:cNvSpPr>
            <a:spLocks noChangeShapeType="1"/>
          </p:cNvSpPr>
          <p:nvPr/>
        </p:nvSpPr>
        <p:spPr bwMode="auto">
          <a:xfrm>
            <a:off x="3823132" y="2274808"/>
            <a:ext cx="0" cy="41035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1" name="Line 156"/>
          <p:cNvSpPr>
            <a:spLocks noChangeShapeType="1"/>
          </p:cNvSpPr>
          <p:nvPr/>
        </p:nvSpPr>
        <p:spPr bwMode="auto">
          <a:xfrm>
            <a:off x="4064660"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3" name="Line 158"/>
          <p:cNvSpPr>
            <a:spLocks noChangeShapeType="1"/>
          </p:cNvSpPr>
          <p:nvPr/>
        </p:nvSpPr>
        <p:spPr bwMode="auto">
          <a:xfrm>
            <a:off x="5453154" y="2282348"/>
            <a:ext cx="0" cy="39527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5" name="Line 160"/>
          <p:cNvSpPr>
            <a:spLocks noChangeShapeType="1"/>
          </p:cNvSpPr>
          <p:nvPr/>
        </p:nvSpPr>
        <p:spPr bwMode="auto">
          <a:xfrm>
            <a:off x="4986433" y="2274809"/>
            <a:ext cx="0" cy="39527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6" name="Line 161"/>
          <p:cNvSpPr>
            <a:spLocks noChangeShapeType="1"/>
          </p:cNvSpPr>
          <p:nvPr/>
        </p:nvSpPr>
        <p:spPr bwMode="auto">
          <a:xfrm>
            <a:off x="5227962" y="2274809"/>
            <a:ext cx="0" cy="40281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7" name="Line 162"/>
          <p:cNvSpPr>
            <a:spLocks noChangeShapeType="1"/>
          </p:cNvSpPr>
          <p:nvPr/>
        </p:nvSpPr>
        <p:spPr bwMode="auto">
          <a:xfrm flipV="1">
            <a:off x="1154656" y="2092788"/>
            <a:ext cx="1800375" cy="17986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8" name="Line 163"/>
          <p:cNvSpPr>
            <a:spLocks noChangeShapeType="1"/>
          </p:cNvSpPr>
          <p:nvPr/>
        </p:nvSpPr>
        <p:spPr bwMode="auto">
          <a:xfrm flipV="1">
            <a:off x="3119550" y="2092788"/>
            <a:ext cx="758421" cy="17663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09" name="Line 164"/>
          <p:cNvSpPr>
            <a:spLocks noChangeShapeType="1"/>
          </p:cNvSpPr>
          <p:nvPr/>
        </p:nvSpPr>
        <p:spPr bwMode="auto">
          <a:xfrm flipV="1">
            <a:off x="4273517" y="2092788"/>
            <a:ext cx="592735"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0" name="Line 165"/>
          <p:cNvSpPr>
            <a:spLocks noChangeShapeType="1"/>
          </p:cNvSpPr>
          <p:nvPr/>
        </p:nvSpPr>
        <p:spPr bwMode="auto">
          <a:xfrm flipV="1">
            <a:off x="5448487" y="2092788"/>
            <a:ext cx="406047" cy="1820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1" name="Rectangle 199"/>
          <p:cNvSpPr>
            <a:spLocks noChangeArrowheads="1"/>
          </p:cNvSpPr>
          <p:nvPr/>
        </p:nvSpPr>
        <p:spPr bwMode="auto">
          <a:xfrm>
            <a:off x="6910490" y="2279117"/>
            <a:ext cx="649908" cy="404970"/>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3" name="Line 167"/>
          <p:cNvSpPr>
            <a:spLocks noChangeShapeType="1"/>
          </p:cNvSpPr>
          <p:nvPr/>
        </p:nvSpPr>
        <p:spPr bwMode="auto">
          <a:xfrm>
            <a:off x="7171853" y="2092788"/>
            <a:ext cx="395546" cy="1927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4" name="Line 169"/>
          <p:cNvSpPr>
            <a:spLocks noChangeShapeType="1"/>
          </p:cNvSpPr>
          <p:nvPr/>
        </p:nvSpPr>
        <p:spPr bwMode="auto">
          <a:xfrm>
            <a:off x="6051724"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5" name="Line 170"/>
          <p:cNvSpPr>
            <a:spLocks noChangeShapeType="1"/>
          </p:cNvSpPr>
          <p:nvPr/>
        </p:nvSpPr>
        <p:spPr bwMode="auto">
          <a:xfrm flipV="1">
            <a:off x="5134618" y="2687318"/>
            <a:ext cx="1771205" cy="24772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6" name="Line 171"/>
          <p:cNvSpPr>
            <a:spLocks noChangeShapeType="1"/>
          </p:cNvSpPr>
          <p:nvPr/>
        </p:nvSpPr>
        <p:spPr bwMode="auto">
          <a:xfrm>
            <a:off x="7559232" y="2687319"/>
            <a:ext cx="0" cy="24341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7" name="Rectangle 172"/>
          <p:cNvSpPr>
            <a:spLocks noChangeArrowheads="1"/>
          </p:cNvSpPr>
          <p:nvPr/>
        </p:nvSpPr>
        <p:spPr bwMode="auto">
          <a:xfrm>
            <a:off x="3239731" y="3598500"/>
            <a:ext cx="4459517" cy="425433"/>
          </a:xfrm>
          <a:prstGeom prst="rect">
            <a:avLst/>
          </a:prstGeom>
          <a:noFill/>
          <a:ln w="19050">
            <a:solidFill>
              <a:schemeClr val="tx2"/>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18" name="Line 173"/>
          <p:cNvSpPr>
            <a:spLocks noChangeShapeType="1"/>
          </p:cNvSpPr>
          <p:nvPr/>
        </p:nvSpPr>
        <p:spPr bwMode="auto">
          <a:xfrm>
            <a:off x="6842815"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19" name="Line 174"/>
          <p:cNvSpPr>
            <a:spLocks noChangeShapeType="1"/>
          </p:cNvSpPr>
          <p:nvPr/>
        </p:nvSpPr>
        <p:spPr bwMode="auto">
          <a:xfrm>
            <a:off x="473440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0" name="Rectangle 201"/>
          <p:cNvSpPr>
            <a:spLocks noChangeArrowheads="1"/>
          </p:cNvSpPr>
          <p:nvPr/>
        </p:nvSpPr>
        <p:spPr bwMode="auto">
          <a:xfrm>
            <a:off x="3688950" y="1166527"/>
            <a:ext cx="420049" cy="365119"/>
          </a:xfrm>
          <a:prstGeom prst="rect">
            <a:avLst/>
          </a:prstGeom>
          <a:solidFill>
            <a:srgbClr val="009900"/>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1" name="Line 175"/>
          <p:cNvSpPr>
            <a:spLocks noChangeShapeType="1"/>
          </p:cNvSpPr>
          <p:nvPr/>
        </p:nvSpPr>
        <p:spPr bwMode="auto">
          <a:xfrm>
            <a:off x="5045940"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2" name="Line 176"/>
          <p:cNvSpPr>
            <a:spLocks noChangeShapeType="1"/>
          </p:cNvSpPr>
          <p:nvPr/>
        </p:nvSpPr>
        <p:spPr bwMode="auto">
          <a:xfrm>
            <a:off x="7408714" y="3598500"/>
            <a:ext cx="0" cy="42543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23" name="Rectangle 202"/>
          <p:cNvSpPr>
            <a:spLocks noChangeArrowheads="1"/>
          </p:cNvSpPr>
          <p:nvPr/>
        </p:nvSpPr>
        <p:spPr bwMode="auto">
          <a:xfrm>
            <a:off x="4120666" y="1172990"/>
            <a:ext cx="420049" cy="358656"/>
          </a:xfrm>
          <a:prstGeom prst="rect">
            <a:avLst/>
          </a:prstGeom>
          <a:solidFill>
            <a:srgbClr val="CC00CC"/>
          </a:solidFill>
          <a:ln>
            <a:no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5" name="Rectangle 189"/>
          <p:cNvSpPr>
            <a:spLocks noChangeArrowheads="1"/>
          </p:cNvSpPr>
          <p:nvPr/>
        </p:nvSpPr>
        <p:spPr bwMode="auto">
          <a:xfrm>
            <a:off x="4550049" y="1176221"/>
            <a:ext cx="997199" cy="355426"/>
          </a:xfrm>
          <a:prstGeom prst="rect">
            <a:avLst/>
          </a:prstGeom>
          <a:solidFill>
            <a:srgbClr val="0066FF"/>
          </a:solidFill>
          <a:ln>
            <a:solidFill>
              <a:schemeClr val="tx1"/>
            </a:solidFill>
          </a:ln>
          <a:effec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8" name="Rectangle 135"/>
          <p:cNvSpPr>
            <a:spLocks noChangeArrowheads="1"/>
          </p:cNvSpPr>
          <p:nvPr/>
        </p:nvSpPr>
        <p:spPr bwMode="auto">
          <a:xfrm>
            <a:off x="3676116" y="1168681"/>
            <a:ext cx="1871132" cy="365119"/>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endParaRPr lang="zh-CN" altLang="en-US" sz="1100" b="1" dirty="0">
              <a:latin typeface="微软雅黑 Light" panose="020B0502040204020203" pitchFamily="34" charset="-122"/>
              <a:ea typeface="微软雅黑 Light" panose="020B0502040204020203" pitchFamily="34" charset="-122"/>
            </a:endParaRPr>
          </a:p>
        </p:txBody>
      </p:sp>
      <p:sp>
        <p:nvSpPr>
          <p:cNvPr id="129" name="Line 177"/>
          <p:cNvSpPr>
            <a:spLocks noChangeShapeType="1"/>
          </p:cNvSpPr>
          <p:nvPr/>
        </p:nvSpPr>
        <p:spPr bwMode="auto">
          <a:xfrm>
            <a:off x="4547716"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0" name="Line 178"/>
          <p:cNvSpPr>
            <a:spLocks noChangeShapeType="1"/>
          </p:cNvSpPr>
          <p:nvPr/>
        </p:nvSpPr>
        <p:spPr bwMode="auto">
          <a:xfrm>
            <a:off x="4111332" y="1170836"/>
            <a:ext cx="0" cy="36296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1" name="Line 179"/>
          <p:cNvSpPr>
            <a:spLocks noChangeShapeType="1"/>
          </p:cNvSpPr>
          <p:nvPr/>
        </p:nvSpPr>
        <p:spPr bwMode="auto">
          <a:xfrm>
            <a:off x="6381928" y="2930731"/>
            <a:ext cx="0" cy="41250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2" name="Line 180"/>
          <p:cNvSpPr>
            <a:spLocks noChangeShapeType="1"/>
          </p:cNvSpPr>
          <p:nvPr/>
        </p:nvSpPr>
        <p:spPr bwMode="auto">
          <a:xfrm>
            <a:off x="6908156" y="2930731"/>
            <a:ext cx="0" cy="412509"/>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3" name="Line 181"/>
          <p:cNvSpPr>
            <a:spLocks noChangeShapeType="1"/>
          </p:cNvSpPr>
          <p:nvPr/>
        </p:nvSpPr>
        <p:spPr bwMode="auto">
          <a:xfrm flipV="1">
            <a:off x="3239732" y="3345394"/>
            <a:ext cx="3142197" cy="25095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4" name="Line 182"/>
          <p:cNvSpPr>
            <a:spLocks noChangeShapeType="1"/>
          </p:cNvSpPr>
          <p:nvPr/>
        </p:nvSpPr>
        <p:spPr bwMode="auto">
          <a:xfrm flipH="1">
            <a:off x="6853316" y="3335701"/>
            <a:ext cx="54840" cy="25310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5" name="Line 183"/>
          <p:cNvSpPr>
            <a:spLocks noChangeShapeType="1"/>
          </p:cNvSpPr>
          <p:nvPr/>
        </p:nvSpPr>
        <p:spPr bwMode="auto">
          <a:xfrm>
            <a:off x="7567399" y="3345394"/>
            <a:ext cx="131849" cy="25310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36" name="Text Box 184"/>
          <p:cNvSpPr txBox="1">
            <a:spLocks noChangeArrowheads="1"/>
          </p:cNvSpPr>
          <p:nvPr/>
        </p:nvSpPr>
        <p:spPr bwMode="auto">
          <a:xfrm>
            <a:off x="2119600" y="2643160"/>
            <a:ext cx="10400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a:latin typeface="微软雅黑 Light" panose="020B0502040204020203" pitchFamily="34" charset="-122"/>
                <a:ea typeface="微软雅黑 Light" panose="020B0502040204020203" pitchFamily="34" charset="-122"/>
              </a:rPr>
              <a:t>request-ID</a:t>
            </a:r>
          </a:p>
        </p:txBody>
      </p:sp>
      <p:sp>
        <p:nvSpPr>
          <p:cNvPr id="137" name="Text Box 185"/>
          <p:cNvSpPr txBox="1">
            <a:spLocks noChangeArrowheads="1"/>
          </p:cNvSpPr>
          <p:nvPr/>
        </p:nvSpPr>
        <p:spPr bwMode="auto">
          <a:xfrm>
            <a:off x="5114811" y="4004547"/>
            <a:ext cx="1661032" cy="2539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50" b="1" dirty="0">
                <a:latin typeface="微软雅黑 Light" panose="020B0502040204020203" pitchFamily="34" charset="-122"/>
                <a:ea typeface="微软雅黑 Light" panose="020B0502040204020203" pitchFamily="34" charset="-122"/>
              </a:rPr>
              <a:t>1.  3.  6.  1.  2.  1.  7.  1.  0</a:t>
            </a:r>
          </a:p>
        </p:txBody>
      </p:sp>
      <p:sp>
        <p:nvSpPr>
          <p:cNvPr id="138" name="Text Box 186"/>
          <p:cNvSpPr txBox="1">
            <a:spLocks noChangeArrowheads="1"/>
          </p:cNvSpPr>
          <p:nvPr/>
        </p:nvSpPr>
        <p:spPr bwMode="auto">
          <a:xfrm>
            <a:off x="2057161" y="1211314"/>
            <a:ext cx="159851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400" b="1" dirty="0" err="1">
                <a:latin typeface="微软雅黑 Light" panose="020B0502040204020203" pitchFamily="34" charset="-122"/>
                <a:ea typeface="微软雅黑 Light" panose="020B0502040204020203" pitchFamily="34" charset="-122"/>
              </a:rPr>
              <a:t>GetRequest</a:t>
            </a:r>
            <a:r>
              <a:rPr kumimoji="1" lang="en-US" altLang="zh-CN" sz="1400" b="1" dirty="0">
                <a:latin typeface="微软雅黑 Light" panose="020B0502040204020203" pitchFamily="34" charset="-122"/>
                <a:ea typeface="微软雅黑 Light" panose="020B0502040204020203" pitchFamily="34" charset="-122"/>
              </a:rPr>
              <a:t>-PDU</a:t>
            </a:r>
          </a:p>
        </p:txBody>
      </p:sp>
      <p:sp>
        <p:nvSpPr>
          <p:cNvPr id="139" name="Freeform 193"/>
          <p:cNvSpPr>
            <a:spLocks/>
          </p:cNvSpPr>
          <p:nvPr/>
        </p:nvSpPr>
        <p:spPr bwMode="auto">
          <a:xfrm>
            <a:off x="5145119" y="2681932"/>
            <a:ext cx="2429281" cy="245567"/>
          </a:xfrm>
          <a:custGeom>
            <a:avLst/>
            <a:gdLst>
              <a:gd name="T0" fmla="*/ 0 w 2082"/>
              <a:gd name="T1" fmla="*/ 2147483646 h 228"/>
              <a:gd name="T2" fmla="*/ 2147483646 w 2082"/>
              <a:gd name="T3" fmla="*/ 0 h 228"/>
              <a:gd name="T4" fmla="*/ 2147483646 w 2082"/>
              <a:gd name="T5" fmla="*/ 2147483646 h 228"/>
              <a:gd name="T6" fmla="*/ 2147483646 w 2082"/>
              <a:gd name="T7" fmla="*/ 2147483646 h 228"/>
              <a:gd name="T8" fmla="*/ 0 w 2082"/>
              <a:gd name="T9" fmla="*/ 2147483646 h 228"/>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2082" h="228">
                <a:moveTo>
                  <a:pt x="0" y="228"/>
                </a:moveTo>
                <a:lnTo>
                  <a:pt x="1512" y="0"/>
                </a:lnTo>
                <a:lnTo>
                  <a:pt x="2076" y="6"/>
                </a:lnTo>
                <a:lnTo>
                  <a:pt x="2082" y="222"/>
                </a:lnTo>
                <a:lnTo>
                  <a:pt x="0" y="228"/>
                </a:lnTo>
                <a:close/>
              </a:path>
            </a:pathLst>
          </a:custGeom>
          <a:gradFill rotWithShape="1">
            <a:gsLst>
              <a:gs pos="0">
                <a:srgbClr val="5E4776"/>
              </a:gs>
              <a:gs pos="100000">
                <a:srgbClr val="FF66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0" name="Freeform 194"/>
          <p:cNvSpPr>
            <a:spLocks/>
          </p:cNvSpPr>
          <p:nvPr/>
        </p:nvSpPr>
        <p:spPr bwMode="auto">
          <a:xfrm>
            <a:off x="3228064" y="3341085"/>
            <a:ext cx="3674258" cy="258491"/>
          </a:xfrm>
          <a:custGeom>
            <a:avLst/>
            <a:gdLst>
              <a:gd name="T0" fmla="*/ 0 w 3149"/>
              <a:gd name="T1" fmla="*/ 2147483646 h 240"/>
              <a:gd name="T2" fmla="*/ 2147483646 w 3149"/>
              <a:gd name="T3" fmla="*/ 0 h 240"/>
              <a:gd name="T4" fmla="*/ 2147483646 w 3149"/>
              <a:gd name="T5" fmla="*/ 0 h 240"/>
              <a:gd name="T6" fmla="*/ 2147483646 w 3149"/>
              <a:gd name="T7" fmla="*/ 2147483646 h 240"/>
              <a:gd name="T8" fmla="*/ 0 w 3149"/>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3149" h="240">
                <a:moveTo>
                  <a:pt x="0" y="237"/>
                </a:moveTo>
                <a:lnTo>
                  <a:pt x="2693" y="0"/>
                </a:lnTo>
                <a:lnTo>
                  <a:pt x="3149" y="0"/>
                </a:lnTo>
                <a:lnTo>
                  <a:pt x="3101" y="240"/>
                </a:lnTo>
                <a:lnTo>
                  <a:pt x="0" y="237"/>
                </a:lnTo>
                <a:close/>
              </a:path>
            </a:pathLst>
          </a:custGeom>
          <a:gradFill rotWithShape="1">
            <a:gsLst>
              <a:gs pos="0">
                <a:srgbClr val="00B0F0"/>
              </a:gs>
              <a:gs pos="100000">
                <a:srgbClr val="99FFCC"/>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1" name="Freeform 196"/>
          <p:cNvSpPr>
            <a:spLocks/>
          </p:cNvSpPr>
          <p:nvPr/>
        </p:nvSpPr>
        <p:spPr bwMode="auto">
          <a:xfrm>
            <a:off x="6853316" y="3341085"/>
            <a:ext cx="840097" cy="258491"/>
          </a:xfrm>
          <a:custGeom>
            <a:avLst/>
            <a:gdLst>
              <a:gd name="T0" fmla="*/ 0 w 720"/>
              <a:gd name="T1" fmla="*/ 2147483646 h 240"/>
              <a:gd name="T2" fmla="*/ 2147483646 w 720"/>
              <a:gd name="T3" fmla="*/ 2147483646 h 240"/>
              <a:gd name="T4" fmla="*/ 2147483646 w 720"/>
              <a:gd name="T5" fmla="*/ 0 h 240"/>
              <a:gd name="T6" fmla="*/ 2147483646 w 720"/>
              <a:gd name="T7" fmla="*/ 2147483646 h 240"/>
              <a:gd name="T8" fmla="*/ 0 w 720"/>
              <a:gd name="T9" fmla="*/ 2147483646 h 240"/>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720" h="240">
                <a:moveTo>
                  <a:pt x="0" y="240"/>
                </a:moveTo>
                <a:lnTo>
                  <a:pt x="48" y="12"/>
                </a:lnTo>
                <a:lnTo>
                  <a:pt x="606" y="0"/>
                </a:lnTo>
                <a:lnTo>
                  <a:pt x="720" y="240"/>
                </a:lnTo>
                <a:lnTo>
                  <a:pt x="0" y="240"/>
                </a:lnTo>
                <a:close/>
              </a:path>
            </a:pathLst>
          </a:custGeom>
          <a:gradFill rotWithShape="1">
            <a:gsLst>
              <a:gs pos="0">
                <a:srgbClr val="7030A0"/>
              </a:gs>
              <a:gs pos="100000">
                <a:srgbClr val="FF00FF"/>
              </a:gs>
            </a:gsLst>
            <a:lin ang="5400000" scaled="1"/>
          </a:gradFill>
          <a:ln>
            <a:noFill/>
          </a:ln>
          <a:effectLst/>
        </p:spPr>
        <p:txBody>
          <a:bodyPr/>
          <a:lstStyle/>
          <a:p>
            <a:pPr algn="ctr"/>
            <a:endParaRPr lang="zh-CN" altLang="en-US" sz="1100" b="1" dirty="0">
              <a:latin typeface="微软雅黑 Light" panose="020B0502040204020203" pitchFamily="34" charset="-122"/>
              <a:ea typeface="微软雅黑 Light" panose="020B0502040204020203" pitchFamily="34" charset="-122"/>
            </a:endParaRPr>
          </a:p>
        </p:txBody>
      </p:sp>
      <p:sp>
        <p:nvSpPr>
          <p:cNvPr id="143" name="Text Box 127"/>
          <p:cNvSpPr txBox="1">
            <a:spLocks noChangeArrowheads="1"/>
          </p:cNvSpPr>
          <p:nvPr/>
        </p:nvSpPr>
        <p:spPr bwMode="auto">
          <a:xfrm>
            <a:off x="3721371" y="1128203"/>
            <a:ext cx="35939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A0</a:t>
            </a:r>
          </a:p>
        </p:txBody>
      </p:sp>
      <p:sp>
        <p:nvSpPr>
          <p:cNvPr id="144" name="Text Box 128"/>
          <p:cNvSpPr txBox="1">
            <a:spLocks noChangeArrowheads="1"/>
          </p:cNvSpPr>
          <p:nvPr/>
        </p:nvSpPr>
        <p:spPr bwMode="auto">
          <a:xfrm>
            <a:off x="4160825" y="1128203"/>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  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1D</a:t>
            </a:r>
          </a:p>
        </p:txBody>
      </p:sp>
      <p:sp>
        <p:nvSpPr>
          <p:cNvPr id="146" name="Text Box 129"/>
          <p:cNvSpPr txBox="1">
            <a:spLocks noChangeArrowheads="1"/>
          </p:cNvSpPr>
          <p:nvPr/>
        </p:nvSpPr>
        <p:spPr bwMode="auto">
          <a:xfrm>
            <a:off x="4600474" y="1134553"/>
            <a:ext cx="918841"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GetRequest</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-PDU</a:t>
            </a:r>
          </a:p>
        </p:txBody>
      </p:sp>
      <p:sp>
        <p:nvSpPr>
          <p:cNvPr id="147" name="Text Box 123"/>
          <p:cNvSpPr txBox="1">
            <a:spLocks noChangeArrowheads="1"/>
          </p:cNvSpPr>
          <p:nvPr/>
        </p:nvSpPr>
        <p:spPr bwMode="auto">
          <a:xfrm>
            <a:off x="4965251"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48" name="Text Box 130"/>
          <p:cNvSpPr txBox="1">
            <a:spLocks noChangeArrowheads="1"/>
          </p:cNvSpPr>
          <p:nvPr/>
        </p:nvSpPr>
        <p:spPr bwMode="auto">
          <a:xfrm>
            <a:off x="6587133" y="2264039"/>
            <a:ext cx="33374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0F</a:t>
            </a:r>
          </a:p>
        </p:txBody>
      </p:sp>
      <p:sp>
        <p:nvSpPr>
          <p:cNvPr id="150" name="Text Box 132"/>
          <p:cNvSpPr txBox="1">
            <a:spLocks noChangeArrowheads="1"/>
          </p:cNvSpPr>
          <p:nvPr/>
        </p:nvSpPr>
        <p:spPr bwMode="auto">
          <a:xfrm>
            <a:off x="3106035"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1" name="Text Box 133"/>
          <p:cNvSpPr txBox="1">
            <a:spLocks noChangeArrowheads="1"/>
          </p:cNvSpPr>
          <p:nvPr/>
        </p:nvSpPr>
        <p:spPr bwMode="auto">
          <a:xfrm>
            <a:off x="3795599" y="2264039"/>
            <a:ext cx="317715"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01</a:t>
            </a:r>
          </a:p>
        </p:txBody>
      </p:sp>
      <p:sp>
        <p:nvSpPr>
          <p:cNvPr id="153" name="Text Box 152"/>
          <p:cNvSpPr txBox="1">
            <a:spLocks noChangeArrowheads="1"/>
          </p:cNvSpPr>
          <p:nvPr/>
        </p:nvSpPr>
        <p:spPr bwMode="auto">
          <a:xfrm>
            <a:off x="2193770" y="2264039"/>
            <a:ext cx="954107"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05 AE 56 02</a:t>
            </a:r>
          </a:p>
        </p:txBody>
      </p:sp>
      <p:sp>
        <p:nvSpPr>
          <p:cNvPr id="154" name="Text Box 153"/>
          <p:cNvSpPr txBox="1">
            <a:spLocks noChangeArrowheads="1"/>
          </p:cNvSpPr>
          <p:nvPr/>
        </p:nvSpPr>
        <p:spPr bwMode="auto">
          <a:xfrm>
            <a:off x="4008771"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5" name="Text Box 154"/>
          <p:cNvSpPr txBox="1">
            <a:spLocks noChangeArrowheads="1"/>
          </p:cNvSpPr>
          <p:nvPr/>
        </p:nvSpPr>
        <p:spPr bwMode="auto">
          <a:xfrm>
            <a:off x="5455046" y="2264039"/>
            <a:ext cx="1176924"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 OF </a:t>
            </a:r>
          </a:p>
        </p:txBody>
      </p:sp>
      <p:sp>
        <p:nvSpPr>
          <p:cNvPr id="156" name="Text Box 157"/>
          <p:cNvSpPr txBox="1">
            <a:spLocks noChangeArrowheads="1"/>
          </p:cNvSpPr>
          <p:nvPr/>
        </p:nvSpPr>
        <p:spPr bwMode="auto">
          <a:xfrm>
            <a:off x="4269334"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157" name="Text Box 159"/>
          <p:cNvSpPr txBox="1">
            <a:spLocks noChangeArrowheads="1"/>
          </p:cNvSpPr>
          <p:nvPr/>
        </p:nvSpPr>
        <p:spPr bwMode="auto">
          <a:xfrm>
            <a:off x="5165723" y="2264039"/>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V</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00</a:t>
            </a:r>
          </a:p>
        </p:txBody>
      </p:sp>
      <p:sp>
        <p:nvSpPr>
          <p:cNvPr id="159" name="Text Box 118"/>
          <p:cNvSpPr txBox="1">
            <a:spLocks noChangeArrowheads="1"/>
          </p:cNvSpPr>
          <p:nvPr/>
        </p:nvSpPr>
        <p:spPr bwMode="auto">
          <a:xfrm>
            <a:off x="5123007" y="3590962"/>
            <a:ext cx="16786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000" b="1" dirty="0">
                <a:latin typeface="微软雅黑 Light" panose="020B0502040204020203" pitchFamily="34" charset="-122"/>
                <a:ea typeface="微软雅黑 Light" panose="020B0502040204020203" pitchFamily="34" charset="-122"/>
              </a:rPr>
              <a:t>V</a:t>
            </a:r>
          </a:p>
          <a:p>
            <a:pPr algn="ctr" eaLnBrk="1" hangingPunct="1"/>
            <a:r>
              <a:rPr kumimoji="1" lang="en-US" altLang="zh-CN" sz="1000" b="1" dirty="0">
                <a:latin typeface="微软雅黑 Light" panose="020B0502040204020203" pitchFamily="34" charset="-122"/>
                <a:ea typeface="微软雅黑 Light" panose="020B0502040204020203" pitchFamily="34" charset="-122"/>
              </a:rPr>
              <a:t>01 03 06 01 02 01 01 01 00</a:t>
            </a:r>
          </a:p>
        </p:txBody>
      </p:sp>
      <p:sp>
        <p:nvSpPr>
          <p:cNvPr id="162" name="Text Box 131"/>
          <p:cNvSpPr txBox="1">
            <a:spLocks noChangeArrowheads="1"/>
          </p:cNvSpPr>
          <p:nvPr/>
        </p:nvSpPr>
        <p:spPr bwMode="auto">
          <a:xfrm>
            <a:off x="1876872" y="2264039"/>
            <a:ext cx="343363"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04</a:t>
            </a:r>
          </a:p>
        </p:txBody>
      </p:sp>
      <p:sp>
        <p:nvSpPr>
          <p:cNvPr id="163" name="Text Box 151"/>
          <p:cNvSpPr txBox="1">
            <a:spLocks noChangeArrowheads="1"/>
          </p:cNvSpPr>
          <p:nvPr/>
        </p:nvSpPr>
        <p:spPr bwMode="auto">
          <a:xfrm>
            <a:off x="1139973" y="2264039"/>
            <a:ext cx="7473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INTEGER</a:t>
            </a:r>
          </a:p>
        </p:txBody>
      </p:sp>
      <p:sp>
        <p:nvSpPr>
          <p:cNvPr id="96" name="Text Box 124"/>
          <p:cNvSpPr txBox="1">
            <a:spLocks noChangeArrowheads="1"/>
          </p:cNvSpPr>
          <p:nvPr/>
        </p:nvSpPr>
        <p:spPr bwMode="auto">
          <a:xfrm>
            <a:off x="5150790" y="2911344"/>
            <a:ext cx="90762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SEQUENCE</a:t>
            </a:r>
          </a:p>
        </p:txBody>
      </p:sp>
      <p:sp>
        <p:nvSpPr>
          <p:cNvPr id="97" name="Text Box 125"/>
          <p:cNvSpPr txBox="1">
            <a:spLocks noChangeArrowheads="1"/>
          </p:cNvSpPr>
          <p:nvPr/>
        </p:nvSpPr>
        <p:spPr bwMode="auto">
          <a:xfrm>
            <a:off x="6060540" y="2911344"/>
            <a:ext cx="365806"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solidFill>
                  <a:schemeClr val="bg1"/>
                </a:solidFill>
                <a:latin typeface="微软雅黑 Light" panose="020B0502040204020203" pitchFamily="34" charset="-122"/>
                <a:ea typeface="微软雅黑 Light" panose="020B0502040204020203" pitchFamily="34" charset="-122"/>
              </a:rPr>
              <a:t>0D</a:t>
            </a:r>
          </a:p>
        </p:txBody>
      </p:sp>
      <p:sp>
        <p:nvSpPr>
          <p:cNvPr id="98" name="Text Box 166"/>
          <p:cNvSpPr txBox="1">
            <a:spLocks noChangeArrowheads="1"/>
          </p:cNvSpPr>
          <p:nvPr/>
        </p:nvSpPr>
        <p:spPr bwMode="auto">
          <a:xfrm>
            <a:off x="6910681" y="2348048"/>
            <a:ext cx="683200"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err="1">
                <a:solidFill>
                  <a:schemeClr val="bg1"/>
                </a:solidFill>
                <a:latin typeface="微软雅黑 Light" panose="020B0502040204020203" pitchFamily="34" charset="-122"/>
                <a:ea typeface="微软雅黑 Light" panose="020B0502040204020203" pitchFamily="34" charset="-122"/>
              </a:rPr>
              <a:t>VarBind</a:t>
            </a:r>
            <a:endParaRPr kumimoji="1" lang="en-US" altLang="zh-CN" sz="1100" b="1" dirty="0">
              <a:solidFill>
                <a:schemeClr val="bg1"/>
              </a:solidFill>
              <a:latin typeface="微软雅黑 Light" panose="020B0502040204020203" pitchFamily="34" charset="-122"/>
              <a:ea typeface="微软雅黑 Light" panose="020B0502040204020203" pitchFamily="34" charset="-122"/>
            </a:endParaRPr>
          </a:p>
        </p:txBody>
      </p:sp>
      <p:sp>
        <p:nvSpPr>
          <p:cNvPr id="99" name="Text Box 126"/>
          <p:cNvSpPr txBox="1">
            <a:spLocks noChangeArrowheads="1"/>
          </p:cNvSpPr>
          <p:nvPr/>
        </p:nvSpPr>
        <p:spPr bwMode="auto">
          <a:xfrm>
            <a:off x="6413366" y="3010433"/>
            <a:ext cx="1087156" cy="2616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name     value</a:t>
            </a:r>
          </a:p>
        </p:txBody>
      </p:sp>
      <p:sp>
        <p:nvSpPr>
          <p:cNvPr id="102" name="Text Box 121"/>
          <p:cNvSpPr txBox="1">
            <a:spLocks noChangeArrowheads="1"/>
          </p:cNvSpPr>
          <p:nvPr/>
        </p:nvSpPr>
        <p:spPr bwMode="auto">
          <a:xfrm>
            <a:off x="6860448" y="3590962"/>
            <a:ext cx="532518"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T</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NULL</a:t>
            </a:r>
          </a:p>
        </p:txBody>
      </p:sp>
      <p:sp>
        <p:nvSpPr>
          <p:cNvPr id="104" name="Text Box 122"/>
          <p:cNvSpPr txBox="1">
            <a:spLocks noChangeArrowheads="1"/>
          </p:cNvSpPr>
          <p:nvPr/>
        </p:nvSpPr>
        <p:spPr bwMode="auto">
          <a:xfrm>
            <a:off x="7394561" y="3590962"/>
            <a:ext cx="341760" cy="4308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L</a:t>
            </a:r>
          </a:p>
          <a:p>
            <a:pPr algn="ctr" eaLnBrk="1" hangingPunct="1"/>
            <a:r>
              <a:rPr kumimoji="1" lang="en-US" altLang="zh-CN" sz="1100" b="1" dirty="0">
                <a:latin typeface="微软雅黑 Light" panose="020B0502040204020203" pitchFamily="34" charset="-122"/>
                <a:ea typeface="微软雅黑 Light" panose="020B0502040204020203" pitchFamily="34" charset="-122"/>
              </a:rPr>
              <a:t>00</a:t>
            </a:r>
          </a:p>
        </p:txBody>
      </p:sp>
    </p:spTree>
    <p:extLst>
      <p:ext uri="{BB962C8B-B14F-4D97-AF65-F5344CB8AC3E}">
        <p14:creationId xmlns:p14="http://schemas.microsoft.com/office/powerpoint/2010/main" val="343135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3835"/>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33901" y="580624"/>
            <a:ext cx="4094903"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Get-request </a:t>
            </a:r>
            <a:r>
              <a:rPr lang="zh-CN" altLang="en-US" sz="2000" b="1" dirty="0">
                <a:solidFill>
                  <a:schemeClr val="bg1"/>
                </a:solidFill>
                <a:latin typeface="微软雅黑 Light" panose="020B0502040204020203" pitchFamily="34" charset="-122"/>
                <a:ea typeface="微软雅黑 Light" panose="020B0502040204020203" pitchFamily="34" charset="-122"/>
              </a:rPr>
              <a:t>报文的十六进制编码</a:t>
            </a:r>
          </a:p>
        </p:txBody>
      </p:sp>
      <p:sp>
        <p:nvSpPr>
          <p:cNvPr id="5" name="Rectangle 1"/>
          <p:cNvSpPr>
            <a:spLocks noChangeArrowheads="1"/>
          </p:cNvSpPr>
          <p:nvPr/>
        </p:nvSpPr>
        <p:spPr bwMode="auto">
          <a:xfrm>
            <a:off x="819807" y="1122955"/>
            <a:ext cx="7785932" cy="2554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114300" algn="l" defTabSz="914400" rtl="0" eaLnBrk="1" fontAlgn="base" latinLnBrk="0" hangingPunct="1">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A0 1D                          -- </a:t>
            </a:r>
            <a:r>
              <a:rPr kumimoji="0" lang="en-US" altLang="zh-CN" sz="14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GetRequest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-PDU</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，上下文类型，长度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29</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04 05 AE 56 02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04</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request-id = 05 AE 56 02 </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status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02 01 00                      -- INTEGER</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01</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error index = 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0F                           -- SEQUENCE OF</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0F</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15</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30 0D                   	    -- SEQUENCE</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0D</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 13</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06 09 01 03 06 01 02 01 07 01 00    </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OBJECT IDENTIFIER</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09</a:t>
            </a:r>
            <a:r>
              <a:rPr kumimoji="0" lang="en-US" altLang="zh-CN" sz="12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r>
              <a:rPr kumimoji="0" lang="zh-CN" altLang="en-US"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a:t>
            </a:r>
            <a:r>
              <a:rPr kumimoji="0" lang="en-US" altLang="zh-CN" sz="1200" b="1" i="0" u="none" strike="noStrike" cap="none" normalizeH="0" baseline="0" dirty="0" err="1">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udpInDatagrams</a:t>
            </a:r>
            <a:endParaRPr kumimoji="0" lang="en-US" altLang="zh-CN" sz="12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a:p>
            <a:pPr marL="0" marR="0" lvl="0" indent="114300" algn="l" defTabSz="914400" rtl="0" eaLnBrk="0" fontAlgn="base" latinLnBrk="0" hangingPunct="0">
              <a:lnSpc>
                <a:spcPts val="2400"/>
              </a:lnSpc>
              <a:spcBef>
                <a:spcPct val="0"/>
              </a:spcBef>
              <a:spcAft>
                <a:spcPct val="0"/>
              </a:spcAft>
              <a:buClrTx/>
              <a:buSzTx/>
              <a:buFontTx/>
              <a:buNone/>
              <a:tabLst>
                <a:tab pos="1828800" algn="l"/>
              </a:tabLst>
            </a:pP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05 00                       	</a:t>
            </a:r>
            <a:r>
              <a:rPr kumimoji="0" lang="en-US" altLang="zh-CN" sz="1400" b="1" i="0" u="none" strike="noStrike" cap="none" normalizeH="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 NULL</a:t>
            </a:r>
            <a:r>
              <a:rPr kumimoji="0" lang="zh-CN" altLang="en-US"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类型，长度</a:t>
            </a:r>
            <a:r>
              <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00</a:t>
            </a:r>
            <a:r>
              <a:rPr kumimoji="0" lang="en-US" altLang="zh-CN" sz="1400" b="1" i="0" u="none" strike="noStrike" cap="none" normalizeH="0" baseline="-30000" dirty="0">
                <a:ln>
                  <a:noFill/>
                </a:ln>
                <a:solidFill>
                  <a:schemeClr val="tx1"/>
                </a:solidFill>
                <a:effectLst/>
                <a:latin typeface="微软雅黑 Light" panose="020B0502040204020203" pitchFamily="34" charset="-122"/>
                <a:ea typeface="微软雅黑 Light" panose="020B0502040204020203" pitchFamily="34" charset="-122"/>
                <a:cs typeface="Times New Roman" pitchFamily="18" charset="0"/>
              </a:rPr>
              <a:t>16</a:t>
            </a:r>
            <a:endParaRPr kumimoji="0" lang="en-US" altLang="zh-CN" sz="1400" b="1" i="0" u="none" strike="noStrike" cap="none" normalizeH="0" baseline="0" dirty="0">
              <a:ln>
                <a:noFill/>
              </a:ln>
              <a:solidFill>
                <a:schemeClr val="tx1"/>
              </a:solidFill>
              <a:effectLst/>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482312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9"/>
          <p:cNvSpPr>
            <a:spLocks noChangeArrowheads="1"/>
          </p:cNvSpPr>
          <p:nvPr/>
        </p:nvSpPr>
        <p:spPr bwMode="auto">
          <a:xfrm>
            <a:off x="2629135" y="129417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5" name="Rectangle 10"/>
          <p:cNvSpPr>
            <a:spLocks noChangeArrowheads="1"/>
          </p:cNvSpPr>
          <p:nvPr/>
        </p:nvSpPr>
        <p:spPr bwMode="auto">
          <a:xfrm>
            <a:off x="2629135" y="175793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微软雅黑 Light" panose="020B0502040204020203" pitchFamily="34" charset="-122"/>
            </a:endParaRPr>
          </a:p>
        </p:txBody>
      </p:sp>
      <p:sp>
        <p:nvSpPr>
          <p:cNvPr id="6" name="Line 16"/>
          <p:cNvSpPr>
            <a:spLocks noChangeShapeType="1"/>
          </p:cNvSpPr>
          <p:nvPr/>
        </p:nvSpPr>
        <p:spPr bwMode="auto">
          <a:xfrm>
            <a:off x="3637198" y="1222738"/>
            <a:ext cx="0" cy="2150510"/>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dirty="0">
              <a:latin typeface="Montserrat" panose="00000500000000000000" pitchFamily="2" charset="0"/>
              <a:ea typeface="微软雅黑 Light" panose="020B0502040204020203" pitchFamily="34" charset="-122"/>
            </a:endParaRPr>
          </a:p>
        </p:txBody>
      </p:sp>
      <p:sp>
        <p:nvSpPr>
          <p:cNvPr id="7" name="Rectangle 27"/>
          <p:cNvSpPr>
            <a:spLocks noChangeArrowheads="1"/>
          </p:cNvSpPr>
          <p:nvPr/>
        </p:nvSpPr>
        <p:spPr bwMode="auto">
          <a:xfrm>
            <a:off x="639730" y="129417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dirty="0">
              <a:latin typeface="微软雅黑 Light" panose="020B0502040204020203" pitchFamily="34" charset="-122"/>
            </a:endParaRPr>
          </a:p>
        </p:txBody>
      </p:sp>
      <p:sp>
        <p:nvSpPr>
          <p:cNvPr id="8" name="Rectangle 29"/>
          <p:cNvSpPr>
            <a:spLocks noChangeArrowheads="1"/>
          </p:cNvSpPr>
          <p:nvPr/>
        </p:nvSpPr>
        <p:spPr bwMode="auto">
          <a:xfrm>
            <a:off x="648619" y="1389108"/>
            <a:ext cx="1627651" cy="132343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b="1" dirty="0">
                <a:solidFill>
                  <a:srgbClr val="FFFF00"/>
                </a:solidFill>
                <a:latin typeface="微软雅黑 Light" panose="020B0502040204020203" pitchFamily="34" charset="-122"/>
                <a:ea typeface="微软雅黑 Light" panose="020B0502040204020203" pitchFamily="34" charset="-122"/>
              </a:rPr>
              <a:t>6.8</a:t>
            </a: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应用进程跨越网络的</a:t>
            </a:r>
            <a:endParaRPr lang="en-US" altLang="zh-CN" sz="2000" b="1" dirty="0">
              <a:solidFill>
                <a:schemeClr val="bg1"/>
              </a:solidFill>
              <a:latin typeface="微软雅黑 Light" panose="020B0502040204020203" pitchFamily="34" charset="-122"/>
              <a:ea typeface="微软雅黑 Light" panose="020B0502040204020203" pitchFamily="34" charset="-122"/>
            </a:endParaRPr>
          </a:p>
          <a:p>
            <a:pP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通信</a:t>
            </a:r>
            <a:endParaRPr lang="zh-CN" altLang="fr-FR" sz="2000" b="1" dirty="0">
              <a:solidFill>
                <a:schemeClr val="bg1"/>
              </a:solidFill>
              <a:latin typeface="微软雅黑 Light" panose="020B0502040204020203" pitchFamily="34" charset="-122"/>
              <a:ea typeface="微软雅黑 Light" panose="020B0502040204020203" pitchFamily="34" charset="-122"/>
            </a:endParaRPr>
          </a:p>
        </p:txBody>
      </p:sp>
      <p:sp>
        <p:nvSpPr>
          <p:cNvPr id="9" name="Rectangle 8"/>
          <p:cNvSpPr>
            <a:spLocks noChangeArrowheads="1"/>
          </p:cNvSpPr>
          <p:nvPr/>
        </p:nvSpPr>
        <p:spPr bwMode="auto">
          <a:xfrm>
            <a:off x="2700573" y="1169875"/>
            <a:ext cx="5756006" cy="96128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6.8.1                           </a:t>
            </a:r>
            <a:r>
              <a:rPr lang="zh-CN" altLang="en-US" sz="2000" b="1" dirty="0">
                <a:solidFill>
                  <a:schemeClr val="bg1"/>
                </a:solidFill>
                <a:latin typeface="微软雅黑 Light" panose="020B0502040204020203" pitchFamily="34" charset="-122"/>
                <a:ea typeface="微软雅黑 Light" panose="020B0502040204020203" pitchFamily="34" charset="-122"/>
              </a:rPr>
              <a:t>系统调用和应用编程接口</a:t>
            </a:r>
          </a:p>
          <a:p>
            <a:pPr eaLnBrk="0" hangingPunct="0">
              <a:lnSpc>
                <a:spcPct val="150000"/>
              </a:lnSpc>
            </a:pPr>
            <a:r>
              <a:rPr lang="en-US" altLang="zh-CN" sz="2000" b="1" dirty="0">
                <a:solidFill>
                  <a:schemeClr val="bg1"/>
                </a:solidFill>
                <a:latin typeface="微软雅黑 Light" panose="020B0502040204020203" pitchFamily="34" charset="-122"/>
                <a:ea typeface="微软雅黑 Light" panose="020B0502040204020203" pitchFamily="34" charset="-122"/>
              </a:rPr>
              <a:t>6.8.2                                  </a:t>
            </a:r>
            <a:r>
              <a:rPr lang="zh-CN" altLang="en-US" sz="20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Tree>
    <p:extLst>
      <p:ext uri="{BB962C8B-B14F-4D97-AF65-F5344CB8AC3E}">
        <p14:creationId xmlns:p14="http://schemas.microsoft.com/office/powerpoint/2010/main" val="503389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4953"/>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2323631" y="572682"/>
            <a:ext cx="4496745"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6.8.1  </a:t>
            </a:r>
            <a:r>
              <a:rPr lang="zh-CN" altLang="en-US" sz="2400" b="1" dirty="0">
                <a:solidFill>
                  <a:schemeClr val="bg1"/>
                </a:solidFill>
                <a:latin typeface="微软雅黑 Light" panose="020B0502040204020203" pitchFamily="34" charset="-122"/>
                <a:ea typeface="微软雅黑 Light" panose="020B0502040204020203" pitchFamily="34" charset="-122"/>
              </a:rPr>
              <a:t>系统调用和应用编程接口</a:t>
            </a:r>
          </a:p>
        </p:txBody>
      </p:sp>
      <p:sp>
        <p:nvSpPr>
          <p:cNvPr id="4" name="Rectangle 68"/>
          <p:cNvSpPr>
            <a:spLocks noChangeArrowheads="1"/>
          </p:cNvSpPr>
          <p:nvPr/>
        </p:nvSpPr>
        <p:spPr bwMode="auto">
          <a:xfrm>
            <a:off x="556963" y="1009171"/>
            <a:ext cx="8048776" cy="178510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大多数操作系统使用</a:t>
            </a:r>
            <a:r>
              <a:rPr lang="zh-CN" altLang="en-US" sz="2000" b="1" dirty="0">
                <a:solidFill>
                  <a:srgbClr val="C00000"/>
                </a:solidFill>
                <a:latin typeface="微软雅黑 Light" panose="020B0502040204020203" pitchFamily="34" charset="-122"/>
                <a:ea typeface="微软雅黑 Light" panose="020B0502040204020203" pitchFamily="34" charset="-122"/>
              </a:rPr>
              <a:t>系统调用 </a:t>
            </a:r>
            <a:r>
              <a:rPr lang="en-US" altLang="zh-CN" sz="2000" b="1" dirty="0">
                <a:latin typeface="微软雅黑 Light" panose="020B0502040204020203" pitchFamily="34" charset="-122"/>
                <a:ea typeface="微软雅黑 Light" panose="020B0502040204020203" pitchFamily="34" charset="-122"/>
              </a:rPr>
              <a:t>(system call ) </a:t>
            </a:r>
            <a:r>
              <a:rPr lang="zh-CN" altLang="en-US" sz="2000" b="1" dirty="0">
                <a:latin typeface="微软雅黑 Light" panose="020B0502040204020203" pitchFamily="34" charset="-122"/>
                <a:ea typeface="微软雅黑 Light" panose="020B0502040204020203" pitchFamily="34" charset="-122"/>
              </a:rPr>
              <a:t>的机制在应用程序和操作系统之间传递控制权。</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对程序员来说，每一个系统调用和一般程序设计中的函数调用非常相似，只是系统调用是将控制权传递给了操作系统。 </a:t>
            </a:r>
          </a:p>
        </p:txBody>
      </p:sp>
    </p:spTree>
    <p:extLst>
      <p:ext uri="{BB962C8B-B14F-4D97-AF65-F5344CB8AC3E}">
        <p14:creationId xmlns:p14="http://schemas.microsoft.com/office/powerpoint/2010/main" val="2269490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526943" y="582898"/>
            <a:ext cx="410881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多个应用进程使用系统调用的机制 </a:t>
            </a:r>
          </a:p>
        </p:txBody>
      </p:sp>
      <p:sp>
        <p:nvSpPr>
          <p:cNvPr id="5" name="Rectangle 3"/>
          <p:cNvSpPr>
            <a:spLocks noChangeArrowheads="1"/>
          </p:cNvSpPr>
          <p:nvPr/>
        </p:nvSpPr>
        <p:spPr bwMode="auto">
          <a:xfrm>
            <a:off x="1384729" y="1509223"/>
            <a:ext cx="4452402" cy="2393411"/>
          </a:xfrm>
          <a:prstGeom prst="rect">
            <a:avLst/>
          </a:prstGeom>
          <a:solidFill>
            <a:srgbClr val="99FFCC"/>
          </a:solidFill>
          <a:ln w="63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6" name="Oval 4"/>
          <p:cNvSpPr>
            <a:spLocks noChangeArrowheads="1"/>
          </p:cNvSpPr>
          <p:nvPr/>
        </p:nvSpPr>
        <p:spPr bwMode="auto">
          <a:xfrm>
            <a:off x="1590938"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1</a:t>
            </a:r>
          </a:p>
        </p:txBody>
      </p:sp>
      <p:sp>
        <p:nvSpPr>
          <p:cNvPr id="7" name="Oval 5"/>
          <p:cNvSpPr>
            <a:spLocks noChangeArrowheads="1"/>
          </p:cNvSpPr>
          <p:nvPr/>
        </p:nvSpPr>
        <p:spPr bwMode="auto">
          <a:xfrm>
            <a:off x="2896520" y="1659023"/>
            <a:ext cx="1099374"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2</a:t>
            </a:r>
          </a:p>
        </p:txBody>
      </p:sp>
      <p:sp>
        <p:nvSpPr>
          <p:cNvPr id="8" name="Oval 6"/>
          <p:cNvSpPr>
            <a:spLocks noChangeArrowheads="1"/>
          </p:cNvSpPr>
          <p:nvPr/>
        </p:nvSpPr>
        <p:spPr bwMode="auto">
          <a:xfrm>
            <a:off x="4544971" y="1659023"/>
            <a:ext cx="1099373" cy="523734"/>
          </a:xfrm>
          <a:prstGeom prst="ellipse">
            <a:avLst/>
          </a:prstGeom>
          <a:solidFill>
            <a:srgbClr val="0066FF"/>
          </a:solidFill>
          <a:ln w="9525">
            <a:solidFill>
              <a:srgbClr val="333399"/>
            </a:solidFill>
            <a:round/>
            <a:headEnd/>
            <a:tailEnd/>
          </a:ln>
          <a:effec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应用程序 </a:t>
            </a:r>
            <a:r>
              <a:rPr kumimoji="1" lang="en-US" altLang="zh-CN" sz="1400" b="1" dirty="0">
                <a:solidFill>
                  <a:schemeClr val="bg1"/>
                </a:solidFill>
                <a:latin typeface="微软雅黑 Light" panose="020B0502040204020203" pitchFamily="34" charset="-122"/>
                <a:ea typeface="微软雅黑 Light" panose="020B0502040204020203" pitchFamily="34" charset="-122"/>
              </a:rPr>
              <a:t>n</a:t>
            </a:r>
          </a:p>
        </p:txBody>
      </p:sp>
      <p:sp>
        <p:nvSpPr>
          <p:cNvPr id="9" name="Text Box 7"/>
          <p:cNvSpPr txBox="1">
            <a:spLocks noChangeArrowheads="1"/>
          </p:cNvSpPr>
          <p:nvPr/>
        </p:nvSpPr>
        <p:spPr bwMode="auto">
          <a:xfrm>
            <a:off x="4064223" y="1652266"/>
            <a:ext cx="31451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t>
            </a:r>
          </a:p>
        </p:txBody>
      </p:sp>
      <p:sp>
        <p:nvSpPr>
          <p:cNvPr id="10" name="Line 8"/>
          <p:cNvSpPr>
            <a:spLocks noChangeShapeType="1"/>
          </p:cNvSpPr>
          <p:nvPr/>
        </p:nvSpPr>
        <p:spPr bwMode="auto">
          <a:xfrm>
            <a:off x="1384729" y="2706492"/>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1" name="Rectangle 9"/>
          <p:cNvSpPr>
            <a:spLocks noChangeArrowheads="1"/>
          </p:cNvSpPr>
          <p:nvPr/>
        </p:nvSpPr>
        <p:spPr bwMode="auto">
          <a:xfrm>
            <a:off x="1401812" y="2720008"/>
            <a:ext cx="4435319" cy="275946"/>
          </a:xfrm>
          <a:prstGeom prst="rect">
            <a:avLst/>
          </a:prstGeom>
          <a:solidFill>
            <a:srgbClr val="CC00CC"/>
          </a:solidFill>
          <a:ln w="9525">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12" name="Line 10"/>
          <p:cNvSpPr>
            <a:spLocks noChangeShapeType="1"/>
          </p:cNvSpPr>
          <p:nvPr/>
        </p:nvSpPr>
        <p:spPr bwMode="auto">
          <a:xfrm>
            <a:off x="1384729" y="3004964"/>
            <a:ext cx="4465824"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3" name="Text Box 11"/>
          <p:cNvSpPr txBox="1">
            <a:spLocks noChangeArrowheads="1"/>
          </p:cNvSpPr>
          <p:nvPr/>
        </p:nvSpPr>
        <p:spPr bwMode="auto">
          <a:xfrm>
            <a:off x="2391625" y="2690724"/>
            <a:ext cx="2646878"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600" b="1" dirty="0">
                <a:solidFill>
                  <a:schemeClr val="bg1"/>
                </a:solidFill>
                <a:latin typeface="微软雅黑 Light" panose="020B0502040204020203" pitchFamily="34" charset="-122"/>
                <a:ea typeface="微软雅黑 Light" panose="020B0502040204020203" pitchFamily="34" charset="-122"/>
              </a:rPr>
              <a:t>由应用程序调用的系统函数</a:t>
            </a:r>
          </a:p>
        </p:txBody>
      </p:sp>
      <p:sp>
        <p:nvSpPr>
          <p:cNvPr id="14" name="Line 12"/>
          <p:cNvSpPr>
            <a:spLocks noChangeShapeType="1"/>
          </p:cNvSpPr>
          <p:nvPr/>
        </p:nvSpPr>
        <p:spPr bwMode="auto">
          <a:xfrm>
            <a:off x="2140014"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3"/>
          <p:cNvSpPr>
            <a:spLocks noChangeShapeType="1"/>
          </p:cNvSpPr>
          <p:nvPr/>
        </p:nvSpPr>
        <p:spPr bwMode="auto">
          <a:xfrm>
            <a:off x="344559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4"/>
          <p:cNvSpPr>
            <a:spLocks noChangeShapeType="1"/>
          </p:cNvSpPr>
          <p:nvPr/>
        </p:nvSpPr>
        <p:spPr bwMode="auto">
          <a:xfrm>
            <a:off x="5095267" y="2182757"/>
            <a:ext cx="0"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5"/>
          <p:cNvSpPr>
            <a:spLocks noChangeShapeType="1"/>
          </p:cNvSpPr>
          <p:nvPr/>
        </p:nvSpPr>
        <p:spPr bwMode="auto">
          <a:xfrm>
            <a:off x="2415773" y="2182757"/>
            <a:ext cx="1029824" cy="52373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6"/>
          <p:cNvSpPr>
            <a:spLocks noChangeShapeType="1"/>
          </p:cNvSpPr>
          <p:nvPr/>
        </p:nvSpPr>
        <p:spPr bwMode="auto">
          <a:xfrm flipH="1">
            <a:off x="3531008" y="2157978"/>
            <a:ext cx="1226271" cy="553019"/>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9" name="Line 17"/>
          <p:cNvSpPr>
            <a:spLocks noChangeShapeType="1"/>
          </p:cNvSpPr>
          <p:nvPr/>
        </p:nvSpPr>
        <p:spPr bwMode="auto">
          <a:xfrm flipH="1">
            <a:off x="2171739" y="2029579"/>
            <a:ext cx="2413497" cy="661145"/>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Line 18"/>
          <p:cNvSpPr>
            <a:spLocks noChangeShapeType="1"/>
          </p:cNvSpPr>
          <p:nvPr/>
        </p:nvSpPr>
        <p:spPr bwMode="auto">
          <a:xfrm>
            <a:off x="3745759" y="2168115"/>
            <a:ext cx="539315" cy="530492"/>
          </a:xfrm>
          <a:prstGeom prst="line">
            <a:avLst/>
          </a:prstGeom>
          <a:noFill/>
          <a:ln w="28575">
            <a:solidFill>
              <a:srgbClr val="0099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nvGrpSpPr>
          <p:cNvPr id="21" name="Group 26"/>
          <p:cNvGrpSpPr>
            <a:grpSpLocks/>
          </p:cNvGrpSpPr>
          <p:nvPr/>
        </p:nvGrpSpPr>
        <p:grpSpPr bwMode="auto">
          <a:xfrm>
            <a:off x="5868854" y="1749130"/>
            <a:ext cx="1703357" cy="479809"/>
            <a:chOff x="4004" y="1563"/>
            <a:chExt cx="1396" cy="426"/>
          </a:xfrm>
        </p:grpSpPr>
        <p:sp>
          <p:nvSpPr>
            <p:cNvPr id="22" name="Text Box 19"/>
            <p:cNvSpPr txBox="1">
              <a:spLocks noChangeArrowheads="1"/>
            </p:cNvSpPr>
            <p:nvPr/>
          </p:nvSpPr>
          <p:spPr bwMode="auto">
            <a:xfrm>
              <a:off x="4366" y="1563"/>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用户地址空间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中的应用程序</a:t>
              </a:r>
            </a:p>
          </p:txBody>
        </p:sp>
        <p:sp>
          <p:nvSpPr>
            <p:cNvPr id="23" name="Line 20"/>
            <p:cNvSpPr>
              <a:spLocks noChangeShapeType="1"/>
            </p:cNvSpPr>
            <p:nvPr/>
          </p:nvSpPr>
          <p:spPr bwMode="auto">
            <a:xfrm rot="5400000">
              <a:off x="4201" y="1551"/>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grpSp>
      <p:grpSp>
        <p:nvGrpSpPr>
          <p:cNvPr id="24" name="Group 27"/>
          <p:cNvGrpSpPr>
            <a:grpSpLocks/>
          </p:cNvGrpSpPr>
          <p:nvPr/>
        </p:nvGrpSpPr>
        <p:grpSpPr bwMode="auto">
          <a:xfrm>
            <a:off x="5868854" y="2704243"/>
            <a:ext cx="1703357" cy="307483"/>
            <a:chOff x="4004" y="2411"/>
            <a:chExt cx="1396" cy="273"/>
          </a:xfrm>
        </p:grpSpPr>
        <p:sp>
          <p:nvSpPr>
            <p:cNvPr id="25" name="Line 21"/>
            <p:cNvSpPr>
              <a:spLocks noChangeShapeType="1"/>
            </p:cNvSpPr>
            <p:nvPr/>
          </p:nvSpPr>
          <p:spPr bwMode="auto">
            <a:xfrm rot="5400000">
              <a:off x="4201" y="2348"/>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Text Box 23"/>
            <p:cNvSpPr txBox="1">
              <a:spLocks noChangeArrowheads="1"/>
            </p:cNvSpPr>
            <p:nvPr/>
          </p:nvSpPr>
          <p:spPr bwMode="auto">
            <a:xfrm>
              <a:off x="4366" y="2411"/>
              <a:ext cx="1034" cy="2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系统调用接口</a:t>
              </a:r>
            </a:p>
          </p:txBody>
        </p:sp>
      </p:grpSp>
      <p:grpSp>
        <p:nvGrpSpPr>
          <p:cNvPr id="27" name="Group 28"/>
          <p:cNvGrpSpPr>
            <a:grpSpLocks/>
          </p:cNvGrpSpPr>
          <p:nvPr/>
        </p:nvGrpSpPr>
        <p:grpSpPr bwMode="auto">
          <a:xfrm>
            <a:off x="5868854" y="3193062"/>
            <a:ext cx="1703357" cy="479809"/>
            <a:chOff x="4004" y="2845"/>
            <a:chExt cx="1396" cy="426"/>
          </a:xfrm>
        </p:grpSpPr>
        <p:sp>
          <p:nvSpPr>
            <p:cNvPr id="28" name="Line 22"/>
            <p:cNvSpPr>
              <a:spLocks noChangeShapeType="1"/>
            </p:cNvSpPr>
            <p:nvPr/>
          </p:nvSpPr>
          <p:spPr bwMode="auto">
            <a:xfrm rot="5400000">
              <a:off x="4201" y="2845"/>
              <a:ext cx="0" cy="394"/>
            </a:xfrm>
            <a:prstGeom prst="line">
              <a:avLst/>
            </a:prstGeom>
            <a:noFill/>
            <a:ln w="28575">
              <a:solidFill>
                <a:srgbClr val="00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Text Box 24"/>
            <p:cNvSpPr txBox="1">
              <a:spLocks noChangeArrowheads="1"/>
            </p:cNvSpPr>
            <p:nvPr/>
          </p:nvSpPr>
          <p:spPr bwMode="auto">
            <a:xfrm>
              <a:off x="4366" y="2845"/>
              <a:ext cx="1034" cy="42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系统地址空间</a:t>
              </a:r>
            </a:p>
            <a:p>
              <a:pPr eaLnBrk="1" hangingPunct="1">
                <a:lnSpc>
                  <a:spcPct val="90000"/>
                </a:lnSpc>
              </a:pPr>
              <a:r>
                <a:rPr kumimoji="1" lang="zh-CN" altLang="en-US" sz="1400" b="1" dirty="0">
                  <a:latin typeface="微软雅黑 Light" panose="020B0502040204020203" pitchFamily="34" charset="-122"/>
                  <a:ea typeface="微软雅黑 Light" panose="020B0502040204020203" pitchFamily="34" charset="-122"/>
                </a:rPr>
                <a:t>中的协议软件</a:t>
              </a:r>
            </a:p>
          </p:txBody>
        </p:sp>
      </p:grpSp>
      <p:sp>
        <p:nvSpPr>
          <p:cNvPr id="30" name="Text Box 25"/>
          <p:cNvSpPr txBox="1">
            <a:spLocks noChangeArrowheads="1"/>
          </p:cNvSpPr>
          <p:nvPr/>
        </p:nvSpPr>
        <p:spPr bwMode="auto">
          <a:xfrm>
            <a:off x="1938687" y="3264016"/>
            <a:ext cx="323300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包括 </a:t>
            </a:r>
            <a:r>
              <a:rPr kumimoji="1" lang="en-US" altLang="zh-CN" sz="1400" b="1" dirty="0">
                <a:latin typeface="微软雅黑 Light" panose="020B0502040204020203" pitchFamily="34" charset="-122"/>
                <a:ea typeface="微软雅黑 Light" panose="020B0502040204020203" pitchFamily="34" charset="-122"/>
              </a:rPr>
              <a:t>TCP/IP </a:t>
            </a:r>
            <a:r>
              <a:rPr kumimoji="1" lang="zh-CN" altLang="en-US" sz="1400" b="1" dirty="0">
                <a:latin typeface="微软雅黑 Light" panose="020B0502040204020203" pitchFamily="34" charset="-122"/>
                <a:ea typeface="微软雅黑 Light" panose="020B0502040204020203" pitchFamily="34" charset="-122"/>
              </a:rPr>
              <a:t>协议软件的操作系统内核</a:t>
            </a:r>
          </a:p>
        </p:txBody>
      </p:sp>
    </p:spTree>
    <p:extLst>
      <p:ext uri="{BB962C8B-B14F-4D97-AF65-F5344CB8AC3E}">
        <p14:creationId xmlns:p14="http://schemas.microsoft.com/office/powerpoint/2010/main" val="4109779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1000"/>
                                  </p:stCondLst>
                                  <p:childTnLst>
                                    <p:set>
                                      <p:cBhvr>
                                        <p:cTn id="6" dur="1" fill="hold">
                                          <p:stCondLst>
                                            <p:cond delay="0"/>
                                          </p:stCondLst>
                                        </p:cTn>
                                        <p:tgtEl>
                                          <p:spTgt spid="21"/>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nodeType="afterEffect">
                                  <p:stCondLst>
                                    <p:cond delay="0"/>
                                  </p:stCondLst>
                                  <p:childTnLst>
                                    <p:anim calcmode="discrete" valueType="str">
                                      <p:cBhvr>
                                        <p:cTn id="9" dur="1000" fill="hold"/>
                                        <p:tgtEl>
                                          <p:spTgt spid="21"/>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1" presetClass="entr" presetSubtype="0" fill="hold" nodeType="afterEffect">
                                  <p:stCondLst>
                                    <p:cond delay="1000"/>
                                  </p:stCondLst>
                                  <p:childTnLst>
                                    <p:set>
                                      <p:cBhvr>
                                        <p:cTn id="12" dur="1" fill="hold">
                                          <p:stCondLst>
                                            <p:cond delay="0"/>
                                          </p:stCondLst>
                                        </p:cTn>
                                        <p:tgtEl>
                                          <p:spTgt spid="24"/>
                                        </p:tgtEl>
                                        <p:attrNameLst>
                                          <p:attrName>style.visibility</p:attrName>
                                        </p:attrNameLst>
                                      </p:cBhvr>
                                      <p:to>
                                        <p:strVal val="visible"/>
                                      </p:to>
                                    </p:set>
                                  </p:childTnLst>
                                </p:cTn>
                              </p:par>
                            </p:childTnLst>
                          </p:cTn>
                        </p:par>
                        <p:par>
                          <p:cTn id="13" fill="hold">
                            <p:stCondLst>
                              <p:cond delay="5000"/>
                            </p:stCondLst>
                            <p:childTnLst>
                              <p:par>
                                <p:cTn id="14" presetID="35" presetClass="emph" presetSubtype="0" repeatCount="3000" fill="hold" nodeType="afterEffect">
                                  <p:stCondLst>
                                    <p:cond delay="0"/>
                                  </p:stCondLst>
                                  <p:childTnLst>
                                    <p:anim calcmode="discrete" valueType="str">
                                      <p:cBhvr>
                                        <p:cTn id="15" dur="1000" fill="hold"/>
                                        <p:tgtEl>
                                          <p:spTgt spid="24"/>
                                        </p:tgtEl>
                                        <p:attrNameLst>
                                          <p:attrName>style.visibility</p:attrName>
                                        </p:attrNameLst>
                                      </p:cBhvr>
                                      <p:tavLst>
                                        <p:tav tm="0">
                                          <p:val>
                                            <p:strVal val="hidden"/>
                                          </p:val>
                                        </p:tav>
                                        <p:tav tm="50000">
                                          <p:val>
                                            <p:strVal val="visible"/>
                                          </p:val>
                                        </p:tav>
                                      </p:tavLst>
                                    </p:anim>
                                  </p:childTnLst>
                                </p:cTn>
                              </p:par>
                            </p:childTnLst>
                          </p:cTn>
                        </p:par>
                        <p:par>
                          <p:cTn id="16" fill="hold">
                            <p:stCondLst>
                              <p:cond delay="8000"/>
                            </p:stCondLst>
                            <p:childTnLst>
                              <p:par>
                                <p:cTn id="17" presetID="1" presetClass="entr" presetSubtype="0" fill="hold" nodeType="afterEffect">
                                  <p:stCondLst>
                                    <p:cond delay="1000"/>
                                  </p:stCondLst>
                                  <p:childTnLst>
                                    <p:set>
                                      <p:cBhvr>
                                        <p:cTn id="18" dur="1" fill="hold">
                                          <p:stCondLst>
                                            <p:cond delay="0"/>
                                          </p:stCondLst>
                                        </p:cTn>
                                        <p:tgtEl>
                                          <p:spTgt spid="27"/>
                                        </p:tgtEl>
                                        <p:attrNameLst>
                                          <p:attrName>style.visibility</p:attrName>
                                        </p:attrNameLst>
                                      </p:cBhvr>
                                      <p:to>
                                        <p:strVal val="visible"/>
                                      </p:to>
                                    </p:set>
                                  </p:childTnLst>
                                </p:cTn>
                              </p:par>
                            </p:childTnLst>
                          </p:cTn>
                        </p:par>
                        <p:par>
                          <p:cTn id="19" fill="hold">
                            <p:stCondLst>
                              <p:cond delay="9000"/>
                            </p:stCondLst>
                            <p:childTnLst>
                              <p:par>
                                <p:cTn id="20" presetID="35" presetClass="emph" presetSubtype="0" repeatCount="3000" fill="hold" nodeType="afterEffect">
                                  <p:stCondLst>
                                    <p:cond delay="0"/>
                                  </p:stCondLst>
                                  <p:childTnLst>
                                    <p:anim calcmode="discrete" valueType="str">
                                      <p:cBhvr>
                                        <p:cTn id="21" dur="1000" fill="hold"/>
                                        <p:tgtEl>
                                          <p:spTgt spid="2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5640"/>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457491" y="582429"/>
            <a:ext cx="2247730"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474666" y="931010"/>
            <a:ext cx="8276142"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solidFill>
                  <a:srgbClr val="C00000"/>
                </a:solidFill>
                <a:latin typeface="微软雅黑 Light" panose="020B0502040204020203" pitchFamily="34" charset="-122"/>
                <a:ea typeface="微软雅黑 Light" panose="020B0502040204020203" pitchFamily="34" charset="-122"/>
              </a:rPr>
              <a:t>系统调用接口</a:t>
            </a:r>
            <a:r>
              <a:rPr lang="zh-CN" altLang="en-US" sz="2000" b="1" dirty="0">
                <a:latin typeface="微软雅黑 Light" panose="020B0502040204020203" pitchFamily="34" charset="-122"/>
                <a:ea typeface="微软雅黑 Light" panose="020B0502040204020203" pitchFamily="34" charset="-122"/>
              </a:rPr>
              <a:t>实际上就是应用进程的控制权和操作系统的控制权进行转换的一个接口。</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使用系统调用之前要编写一些程序，特别是需要设置系统调用中的许多参数，因此这种系统调用接口又称为</a:t>
            </a:r>
            <a:r>
              <a:rPr lang="zh-CN" altLang="en-US" sz="2000" b="1" dirty="0">
                <a:solidFill>
                  <a:srgbClr val="C00000"/>
                </a:solidFill>
                <a:latin typeface="微软雅黑 Light" panose="020B0502040204020203" pitchFamily="34" charset="-122"/>
                <a:ea typeface="微软雅黑 Light" panose="020B0502040204020203" pitchFamily="34" charset="-122"/>
              </a:rPr>
              <a:t>应用编程接口 </a:t>
            </a:r>
            <a:r>
              <a:rPr lang="en-US" altLang="zh-CN" sz="2000" b="1" dirty="0">
                <a:solidFill>
                  <a:srgbClr val="C00000"/>
                </a:solidFill>
                <a:latin typeface="微软雅黑 Light" panose="020B0502040204020203" pitchFamily="34" charset="-122"/>
                <a:ea typeface="微软雅黑 Light" panose="020B0502040204020203" pitchFamily="34" charset="-122"/>
              </a:rPr>
              <a:t>API </a:t>
            </a:r>
            <a:r>
              <a:rPr lang="en-US" altLang="zh-CN" sz="2000" b="1" dirty="0">
                <a:latin typeface="微软雅黑 Light" panose="020B0502040204020203" pitchFamily="34" charset="-122"/>
                <a:ea typeface="微软雅黑 Light" panose="020B0502040204020203" pitchFamily="34" charset="-122"/>
              </a:rPr>
              <a:t>(Application Programming Interface) </a:t>
            </a:r>
            <a:r>
              <a:rPr lang="zh-CN" altLang="en-US" sz="2000" b="1" dirty="0">
                <a:latin typeface="微软雅黑 Light" panose="020B0502040204020203" pitchFamily="34" charset="-122"/>
                <a:ea typeface="微软雅黑 Light" panose="020B0502040204020203" pitchFamily="34" charset="-122"/>
              </a:rPr>
              <a:t>。</a:t>
            </a:r>
            <a:endParaRPr lang="en-US" altLang="zh-CN" sz="20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480462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2602"/>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231467" y="579391"/>
            <a:ext cx="269977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几种应用编程接口 </a:t>
            </a:r>
            <a:r>
              <a:rPr lang="en-US" altLang="zh-CN" sz="2000" b="1" dirty="0">
                <a:solidFill>
                  <a:schemeClr val="bg1"/>
                </a:solidFill>
                <a:latin typeface="微软雅黑 Light" panose="020B0502040204020203" pitchFamily="34" charset="-122"/>
                <a:ea typeface="微软雅黑 Light" panose="020B0502040204020203" pitchFamily="34" charset="-122"/>
              </a:rPr>
              <a:t>API</a:t>
            </a:r>
            <a:endParaRPr lang="zh-CN" altLang="en-US" sz="2000" b="1" dirty="0">
              <a:solidFill>
                <a:schemeClr val="bg1"/>
              </a:solidFill>
              <a:latin typeface="微软雅黑 Light" panose="020B0502040204020203" pitchFamily="34" charset="-122"/>
              <a:ea typeface="微软雅黑 Light" panose="020B0502040204020203" pitchFamily="34" charset="-122"/>
            </a:endParaRPr>
          </a:p>
        </p:txBody>
      </p:sp>
      <p:sp>
        <p:nvSpPr>
          <p:cNvPr id="4" name="Rectangle 68"/>
          <p:cNvSpPr>
            <a:spLocks noChangeArrowheads="1"/>
          </p:cNvSpPr>
          <p:nvPr/>
        </p:nvSpPr>
        <p:spPr bwMode="auto">
          <a:xfrm>
            <a:off x="556963" y="973692"/>
            <a:ext cx="8048776" cy="263149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Berkeley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操作系统定义了一种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，它又称为</a:t>
            </a:r>
            <a:r>
              <a:rPr lang="zh-CN" altLang="en-US" sz="2000" b="1" dirty="0">
                <a:solidFill>
                  <a:srgbClr val="C00000"/>
                </a:solidFill>
                <a:latin typeface="微软雅黑 Light" panose="020B0502040204020203" pitchFamily="34" charset="-122"/>
                <a:ea typeface="微软雅黑 Light" panose="020B0502040204020203" pitchFamily="34" charset="-122"/>
              </a:rPr>
              <a:t>套接字接口 </a:t>
            </a:r>
            <a:r>
              <a:rPr lang="en-US" altLang="zh-CN" sz="2000" b="1" dirty="0">
                <a:latin typeface="微软雅黑 Light" panose="020B0502040204020203" pitchFamily="34" charset="-122"/>
                <a:ea typeface="微软雅黑 Light" panose="020B0502040204020203" pitchFamily="34" charset="-122"/>
              </a:rPr>
              <a:t>(socket interface)</a:t>
            </a:r>
            <a:r>
              <a:rPr lang="zh-CN" altLang="en-US" sz="2000" b="1" dirty="0">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zh-CN" altLang="en-US" sz="2000" b="1" dirty="0">
                <a:solidFill>
                  <a:srgbClr val="0000FF"/>
                </a:solidFill>
                <a:latin typeface="微软雅黑 Light" panose="020B0502040204020203" pitchFamily="34" charset="-122"/>
                <a:ea typeface="微软雅黑 Light" panose="020B0502040204020203" pitchFamily="34" charset="-122"/>
              </a:rPr>
              <a:t>微软</a:t>
            </a:r>
            <a:r>
              <a:rPr lang="zh-CN" altLang="en-US" sz="2000" b="1" dirty="0">
                <a:latin typeface="微软雅黑 Light" panose="020B0502040204020203" pitchFamily="34" charset="-122"/>
                <a:ea typeface="微软雅黑 Light" panose="020B0502040204020203" pitchFamily="34" charset="-122"/>
              </a:rPr>
              <a:t>公司在其操作系统中采用了套接字接口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，形成了一个稍有不同的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，并称之为  </a:t>
            </a:r>
            <a:r>
              <a:rPr lang="en-US" altLang="zh-CN" sz="2000" b="1" dirty="0">
                <a:solidFill>
                  <a:srgbClr val="C00000"/>
                </a:solidFill>
                <a:latin typeface="微软雅黑 Light" panose="020B0502040204020203" pitchFamily="34" charset="-122"/>
                <a:ea typeface="微软雅黑 Light" panose="020B0502040204020203" pitchFamily="34" charset="-122"/>
              </a:rPr>
              <a:t>Windows Socket</a:t>
            </a:r>
            <a:r>
              <a:rPr lang="zh-CN" altLang="en-US" sz="2000" b="1" dirty="0">
                <a:solidFill>
                  <a:srgbClr val="C00000"/>
                </a:solidFill>
                <a:latin typeface="微软雅黑 Light" panose="020B0502040204020203" pitchFamily="34" charset="-122"/>
                <a:ea typeface="微软雅黑 Light" panose="020B0502040204020203" pitchFamily="34" charset="-122"/>
              </a:rPr>
              <a:t>。</a:t>
            </a:r>
          </a:p>
          <a:p>
            <a:pPr marL="342900" indent="-342900" eaLnBrk="0" hangingPunct="0">
              <a:lnSpc>
                <a:spcPts val="3300"/>
              </a:lnSpc>
              <a:buClr>
                <a:srgbClr val="0070C0"/>
              </a:buClr>
              <a:buFont typeface="Wingdings" pitchFamily="2" charset="2"/>
              <a:buChar char="l"/>
            </a:pPr>
            <a:r>
              <a:rPr lang="en-US" altLang="zh-CN" sz="2000" b="1" dirty="0">
                <a:solidFill>
                  <a:srgbClr val="0000FF"/>
                </a:solidFill>
                <a:latin typeface="微软雅黑 Light" panose="020B0502040204020203" pitchFamily="34" charset="-122"/>
                <a:ea typeface="微软雅黑 Light" panose="020B0502040204020203" pitchFamily="34" charset="-122"/>
              </a:rPr>
              <a:t>AT&amp;T </a:t>
            </a:r>
            <a:r>
              <a:rPr lang="zh-CN" altLang="en-US" sz="2000" b="1" dirty="0">
                <a:latin typeface="微软雅黑 Light" panose="020B0502040204020203" pitchFamily="34" charset="-122"/>
                <a:ea typeface="微软雅黑 Light" panose="020B0502040204020203" pitchFamily="34" charset="-122"/>
              </a:rPr>
              <a:t>为其 </a:t>
            </a:r>
            <a:r>
              <a:rPr lang="en-US" altLang="zh-CN" sz="2000" b="1" dirty="0">
                <a:latin typeface="微软雅黑 Light" panose="020B0502040204020203" pitchFamily="34" charset="-122"/>
                <a:ea typeface="微软雅黑 Light" panose="020B0502040204020203" pitchFamily="34" charset="-122"/>
              </a:rPr>
              <a:t>UNIX </a:t>
            </a:r>
            <a:r>
              <a:rPr lang="zh-CN" altLang="en-US" sz="2000" b="1" dirty="0">
                <a:latin typeface="微软雅黑 Light" panose="020B0502040204020203" pitchFamily="34" charset="-122"/>
                <a:ea typeface="微软雅黑 Light" panose="020B0502040204020203" pitchFamily="34" charset="-122"/>
              </a:rPr>
              <a:t>系统 </a:t>
            </a:r>
            <a:r>
              <a:rPr lang="en-US" altLang="zh-CN" sz="2000" b="1" dirty="0">
                <a:latin typeface="微软雅黑 Light" panose="020B0502040204020203" pitchFamily="34" charset="-122"/>
                <a:ea typeface="微软雅黑 Light" panose="020B0502040204020203" pitchFamily="34" charset="-122"/>
              </a:rPr>
              <a:t>V </a:t>
            </a:r>
            <a:r>
              <a:rPr lang="zh-CN" altLang="en-US" sz="2000" b="1" dirty="0">
                <a:latin typeface="微软雅黑 Light" panose="020B0502040204020203" pitchFamily="34" charset="-122"/>
                <a:ea typeface="微软雅黑 Light" panose="020B0502040204020203" pitchFamily="34" charset="-122"/>
              </a:rPr>
              <a:t>定义了一种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，简写为 </a:t>
            </a:r>
            <a:r>
              <a:rPr lang="en-US" altLang="zh-CN" sz="2000" b="1" dirty="0">
                <a:solidFill>
                  <a:srgbClr val="C00000"/>
                </a:solidFill>
                <a:latin typeface="微软雅黑 Light" panose="020B0502040204020203" pitchFamily="34" charset="-122"/>
                <a:ea typeface="微软雅黑 Light" panose="020B0502040204020203" pitchFamily="34" charset="-122"/>
              </a:rPr>
              <a:t>TLI</a:t>
            </a:r>
            <a:r>
              <a:rPr lang="en-US" altLang="zh-CN" sz="2000" b="1" dirty="0">
                <a:latin typeface="微软雅黑 Light" panose="020B0502040204020203" pitchFamily="34" charset="-122"/>
                <a:ea typeface="微软雅黑 Light" panose="020B0502040204020203" pitchFamily="34" charset="-122"/>
              </a:rPr>
              <a:t> (Transport Layer Interface)</a:t>
            </a:r>
            <a:r>
              <a:rPr lang="zh-CN" altLang="en-US" sz="2000" b="1" dirty="0">
                <a:latin typeface="微软雅黑 Light" panose="020B0502040204020203" pitchFamily="34" charset="-122"/>
                <a:ea typeface="微软雅黑 Light" panose="020B0502040204020203" pitchFamily="34" charset="-122"/>
              </a:rPr>
              <a:t>。 </a:t>
            </a:r>
          </a:p>
        </p:txBody>
      </p:sp>
    </p:spTree>
    <p:extLst>
      <p:ext uri="{BB962C8B-B14F-4D97-AF65-F5344CB8AC3E}">
        <p14:creationId xmlns:p14="http://schemas.microsoft.com/office/powerpoint/2010/main" val="15693426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2655183" y="582898"/>
            <a:ext cx="38523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应用进程通过套接字接入到网络</a:t>
            </a:r>
          </a:p>
        </p:txBody>
      </p:sp>
      <p:sp>
        <p:nvSpPr>
          <p:cNvPr id="5" name="AutoShape 71"/>
          <p:cNvSpPr>
            <a:spLocks noChangeArrowheads="1"/>
          </p:cNvSpPr>
          <p:nvPr/>
        </p:nvSpPr>
        <p:spPr bwMode="auto">
          <a:xfrm>
            <a:off x="1977318" y="1694767"/>
            <a:ext cx="372733" cy="972704"/>
          </a:xfrm>
          <a:prstGeom prst="upArrow">
            <a:avLst>
              <a:gd name="adj1" fmla="val 50000"/>
              <a:gd name="adj2" fmla="val 70678"/>
            </a:avLst>
          </a:prstGeom>
          <a:solidFill>
            <a:srgbClr val="00FFCC"/>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vert="eaVert"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graphicFrame>
        <p:nvGraphicFramePr>
          <p:cNvPr id="6" name="Object 72"/>
          <p:cNvGraphicFramePr>
            <a:graphicFrameLocks noChangeAspect="1"/>
          </p:cNvGraphicFramePr>
          <p:nvPr>
            <p:extLst>
              <p:ext uri="{D42A27DB-BD31-4B8C-83A1-F6EECF244321}">
                <p14:modId xmlns:p14="http://schemas.microsoft.com/office/powerpoint/2010/main" val="4206705044"/>
              </p:ext>
            </p:extLst>
          </p:nvPr>
        </p:nvGraphicFramePr>
        <p:xfrm>
          <a:off x="4158128" y="2372394"/>
          <a:ext cx="2448672" cy="1651498"/>
        </p:xfrm>
        <a:graphic>
          <a:graphicData uri="http://schemas.openxmlformats.org/presentationml/2006/ole">
            <mc:AlternateContent xmlns:mc="http://schemas.openxmlformats.org/markup-compatibility/2006">
              <mc:Choice xmlns:v="urn:schemas-microsoft-com:vml" Requires="v">
                <p:oleObj name="VISIO" r:id="rId2" imgW="1687068" imgH="964692" progId="">
                  <p:embed/>
                </p:oleObj>
              </mc:Choice>
              <mc:Fallback>
                <p:oleObj name="VISIO" r:id="rId2" imgW="1687068" imgH="964692" progId="">
                  <p:embed/>
                  <p:pic>
                    <p:nvPicPr>
                      <p:cNvPr id="0" name="Picture 7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58128" y="2372394"/>
                        <a:ext cx="2448672" cy="16514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7" name="Rectangle 73"/>
          <p:cNvSpPr>
            <a:spLocks noChangeArrowheads="1"/>
          </p:cNvSpPr>
          <p:nvPr/>
        </p:nvSpPr>
        <p:spPr bwMode="auto">
          <a:xfrm>
            <a:off x="2673509" y="2181120"/>
            <a:ext cx="1394909" cy="534171"/>
          </a:xfrm>
          <a:prstGeom prst="rect">
            <a:avLst/>
          </a:prstGeom>
          <a:solidFill>
            <a:srgbClr val="00FFCC"/>
          </a:solidFill>
          <a:ln w="12700">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8" name="Rectangle 74"/>
          <p:cNvSpPr>
            <a:spLocks noChangeArrowheads="1"/>
          </p:cNvSpPr>
          <p:nvPr/>
        </p:nvSpPr>
        <p:spPr bwMode="auto">
          <a:xfrm>
            <a:off x="2673509" y="3058186"/>
            <a:ext cx="1394909" cy="825749"/>
          </a:xfrm>
          <a:prstGeom prst="rect">
            <a:avLst/>
          </a:prstGeom>
          <a:solidFill>
            <a:srgbClr val="0000FF"/>
          </a:solidFill>
          <a:ln w="12700">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9" name="Line 75"/>
          <p:cNvSpPr>
            <a:spLocks noChangeShapeType="1"/>
          </p:cNvSpPr>
          <p:nvPr/>
        </p:nvSpPr>
        <p:spPr bwMode="auto">
          <a:xfrm>
            <a:off x="4068418" y="3396417"/>
            <a:ext cx="2634408" cy="5831"/>
          </a:xfrm>
          <a:prstGeom prst="line">
            <a:avLst/>
          </a:prstGeom>
          <a:noFill/>
          <a:ln w="5715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7" name="Text Box 103"/>
          <p:cNvSpPr txBox="1">
            <a:spLocks noChangeArrowheads="1"/>
          </p:cNvSpPr>
          <p:nvPr/>
        </p:nvSpPr>
        <p:spPr bwMode="auto">
          <a:xfrm>
            <a:off x="913053" y="1893040"/>
            <a:ext cx="1082348" cy="52322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由应用程序</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38" name="Text Box 104"/>
          <p:cNvSpPr txBox="1">
            <a:spLocks noChangeArrowheads="1"/>
          </p:cNvSpPr>
          <p:nvPr/>
        </p:nvSpPr>
        <p:spPr bwMode="auto">
          <a:xfrm>
            <a:off x="5023984" y="2963388"/>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互联网</a:t>
            </a:r>
          </a:p>
        </p:txBody>
      </p:sp>
      <p:sp>
        <p:nvSpPr>
          <p:cNvPr id="39" name="Text Box 105"/>
          <p:cNvSpPr txBox="1">
            <a:spLocks noChangeArrowheads="1"/>
          </p:cNvSpPr>
          <p:nvPr/>
        </p:nvSpPr>
        <p:spPr bwMode="auto">
          <a:xfrm>
            <a:off x="913053" y="3108337"/>
            <a:ext cx="1082348"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由操作系统</a:t>
            </a:r>
          </a:p>
          <a:p>
            <a:pPr algn="ctr" eaLnBrk="1" hangingPunct="1"/>
            <a:r>
              <a:rPr kumimoji="1" lang="zh-CN" altLang="en-US" sz="1400" b="1" dirty="0">
                <a:latin typeface="微软雅黑 Light" panose="020B0502040204020203" pitchFamily="34" charset="-122"/>
                <a:ea typeface="微软雅黑 Light" panose="020B0502040204020203" pitchFamily="34" charset="-122"/>
              </a:rPr>
              <a:t>控制</a:t>
            </a:r>
          </a:p>
        </p:txBody>
      </p:sp>
      <p:sp>
        <p:nvSpPr>
          <p:cNvPr id="40" name="Text Box 106"/>
          <p:cNvSpPr txBox="1">
            <a:spLocks noChangeArrowheads="1"/>
          </p:cNvSpPr>
          <p:nvPr/>
        </p:nvSpPr>
        <p:spPr bwMode="auto">
          <a:xfrm>
            <a:off x="3119460" y="1511656"/>
            <a:ext cx="54373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客户</a:t>
            </a:r>
          </a:p>
        </p:txBody>
      </p:sp>
      <p:sp>
        <p:nvSpPr>
          <p:cNvPr id="41" name="Text Box 107"/>
          <p:cNvSpPr txBox="1">
            <a:spLocks noChangeArrowheads="1"/>
          </p:cNvSpPr>
          <p:nvPr/>
        </p:nvSpPr>
        <p:spPr bwMode="auto">
          <a:xfrm>
            <a:off x="7025253" y="1203879"/>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kumimoji="1" lang="zh-CN" altLang="en-US" sz="1400" b="1" dirty="0">
                <a:latin typeface="微软雅黑 Light" panose="020B0502040204020203" pitchFamily="34" charset="-122"/>
                <a:ea typeface="微软雅黑 Light" panose="020B0502040204020203" pitchFamily="34" charset="-122"/>
              </a:rPr>
              <a:t>服务器</a:t>
            </a:r>
          </a:p>
        </p:txBody>
      </p:sp>
      <p:sp>
        <p:nvSpPr>
          <p:cNvPr id="42" name="Rectangle 108"/>
          <p:cNvSpPr>
            <a:spLocks noChangeArrowheads="1"/>
          </p:cNvSpPr>
          <p:nvPr/>
        </p:nvSpPr>
        <p:spPr bwMode="auto">
          <a:xfrm>
            <a:off x="2996966" y="2675635"/>
            <a:ext cx="747995" cy="429203"/>
          </a:xfrm>
          <a:prstGeom prst="rect">
            <a:avLst/>
          </a:prstGeom>
          <a:solidFill>
            <a:srgbClr val="CC00CC"/>
          </a:solidFill>
          <a:ln w="2857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43" name="Rectangle 109"/>
          <p:cNvSpPr>
            <a:spLocks noChangeArrowheads="1"/>
          </p:cNvSpPr>
          <p:nvPr/>
        </p:nvSpPr>
        <p:spPr bwMode="auto">
          <a:xfrm>
            <a:off x="6692718" y="3073347"/>
            <a:ext cx="1396172" cy="825749"/>
          </a:xfrm>
          <a:prstGeom prst="rect">
            <a:avLst/>
          </a:prstGeom>
          <a:solidFill>
            <a:srgbClr val="0000FF"/>
          </a:solidFill>
          <a:ln w="12700" algn="ctr">
            <a:solidFill>
              <a:schemeClr val="tx1"/>
            </a:solidFill>
            <a:miter lim="800000"/>
            <a:headEnd/>
            <a:tailEnd/>
          </a:ln>
          <a:effectLst/>
        </p:spPr>
        <p:txBody>
          <a:bodyPr wrap="none" anchor="ctr"/>
          <a:lstStyle/>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a:p>
            <a:pPr algn="ctr" eaLnBrk="1" hangingPunct="1">
              <a:spcAft>
                <a:spcPct val="30000"/>
              </a:spcAft>
            </a:pPr>
            <a:r>
              <a:rPr kumimoji="1" lang="en-US" altLang="zh-CN" sz="1400" b="1" dirty="0">
                <a:solidFill>
                  <a:schemeClr val="bg1"/>
                </a:solidFill>
                <a:latin typeface="微软雅黑 Light" panose="020B0502040204020203" pitchFamily="34" charset="-122"/>
                <a:ea typeface="微软雅黑 Light" panose="020B0502040204020203" pitchFamily="34" charset="-122"/>
              </a:rPr>
              <a:t>TCP</a:t>
            </a:r>
          </a:p>
          <a:p>
            <a:pPr algn="ctr" eaLnBrk="1" hangingPunct="1">
              <a:spcAft>
                <a:spcPct val="30000"/>
              </a:spcAft>
            </a:pPr>
            <a:endParaRPr kumimoji="1" lang="en-US" altLang="zh-CN" sz="1400" b="1" dirty="0">
              <a:solidFill>
                <a:schemeClr val="bg1"/>
              </a:solidFill>
              <a:latin typeface="微软雅黑 Light" panose="020B0502040204020203" pitchFamily="34" charset="-122"/>
              <a:ea typeface="微软雅黑 Light" panose="020B0502040204020203" pitchFamily="34" charset="-122"/>
            </a:endParaRPr>
          </a:p>
        </p:txBody>
      </p:sp>
      <p:sp>
        <p:nvSpPr>
          <p:cNvPr id="44" name="Rectangle 110"/>
          <p:cNvSpPr>
            <a:spLocks noChangeArrowheads="1"/>
          </p:cNvSpPr>
          <p:nvPr/>
        </p:nvSpPr>
        <p:spPr bwMode="auto">
          <a:xfrm>
            <a:off x="6692718" y="2181120"/>
            <a:ext cx="1396172" cy="534171"/>
          </a:xfrm>
          <a:prstGeom prst="rect">
            <a:avLst/>
          </a:prstGeom>
          <a:solidFill>
            <a:srgbClr val="00FFCC"/>
          </a:solidFill>
          <a:ln w="12700" algn="ctr">
            <a:solidFill>
              <a:schemeClr val="tx1"/>
            </a:solidFill>
            <a:miter lim="800000"/>
            <a:headEnd/>
            <a:tailEnd/>
          </a:ln>
          <a:effectLst/>
        </p:spPr>
        <p:txBody>
          <a:bodyPr wrap="none" anchor="ctr"/>
          <a:lstStyle/>
          <a:p>
            <a:pPr algn="ctr" eaLnBrk="1" hangingPunct="1"/>
            <a:r>
              <a:rPr kumimoji="1" lang="zh-CN" altLang="en-US" sz="1400" b="1" dirty="0">
                <a:latin typeface="微软雅黑 Light" panose="020B0502040204020203" pitchFamily="34" charset="-122"/>
                <a:ea typeface="微软雅黑 Light" panose="020B0502040204020203" pitchFamily="34" charset="-122"/>
              </a:rPr>
              <a:t>应用进程</a:t>
            </a:r>
          </a:p>
        </p:txBody>
      </p:sp>
      <p:sp>
        <p:nvSpPr>
          <p:cNvPr id="45" name="Rectangle 111"/>
          <p:cNvSpPr>
            <a:spLocks noChangeArrowheads="1"/>
          </p:cNvSpPr>
          <p:nvPr/>
        </p:nvSpPr>
        <p:spPr bwMode="auto">
          <a:xfrm>
            <a:off x="7017438" y="2675635"/>
            <a:ext cx="746731" cy="429203"/>
          </a:xfrm>
          <a:prstGeom prst="rect">
            <a:avLst/>
          </a:prstGeom>
          <a:solidFill>
            <a:srgbClr val="CC00CC"/>
          </a:solidFill>
          <a:ln w="2857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kumimoji="1" lang="zh-CN" altLang="en-US" sz="1400" b="1" dirty="0">
                <a:solidFill>
                  <a:schemeClr val="bg1"/>
                </a:solidFill>
                <a:latin typeface="微软雅黑 Light" panose="020B0502040204020203" pitchFamily="34" charset="-122"/>
                <a:ea typeface="微软雅黑 Light" panose="020B0502040204020203" pitchFamily="34" charset="-122"/>
              </a:rPr>
              <a:t>套接字</a:t>
            </a:r>
          </a:p>
        </p:txBody>
      </p:sp>
      <p:sp>
        <p:nvSpPr>
          <p:cNvPr id="73" name="Line 139"/>
          <p:cNvSpPr>
            <a:spLocks noChangeShapeType="1"/>
          </p:cNvSpPr>
          <p:nvPr/>
        </p:nvSpPr>
        <p:spPr bwMode="auto">
          <a:xfrm>
            <a:off x="933664" y="3073347"/>
            <a:ext cx="1790386"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74" name="AutoShape 140"/>
          <p:cNvSpPr>
            <a:spLocks noChangeArrowheads="1"/>
          </p:cNvSpPr>
          <p:nvPr/>
        </p:nvSpPr>
        <p:spPr bwMode="auto">
          <a:xfrm flipV="1">
            <a:off x="1978582" y="3074514"/>
            <a:ext cx="373997" cy="889896"/>
          </a:xfrm>
          <a:prstGeom prst="upArrow">
            <a:avLst>
              <a:gd name="adj1" fmla="val 50000"/>
              <a:gd name="adj2" fmla="val 64443"/>
            </a:avLst>
          </a:prstGeom>
          <a:solidFill>
            <a:srgbClr val="0000FF"/>
          </a:solidFill>
          <a:ln w="12700" algn="ctr">
            <a:solidFill>
              <a:schemeClr val="tx1"/>
            </a:solidFill>
            <a:miter lim="800000"/>
            <a:headEnd/>
            <a:tailEnd/>
          </a:ln>
          <a:effectLst/>
        </p:spPr>
        <p:txBody>
          <a:bodyPr wrap="none" anchor="ctr"/>
          <a:lstStyle/>
          <a:p>
            <a:pPr eaLnBrk="1" hangingPunct="1"/>
            <a:endParaRPr lang="zh-CN" altLang="en-US" sz="1400" b="1" dirty="0">
              <a:latin typeface="微软雅黑 Light" panose="020B0502040204020203" pitchFamily="34" charset="-122"/>
              <a:ea typeface="微软雅黑 Light" panose="020B0502040204020203" pitchFamily="34" charset="-122"/>
            </a:endParaRPr>
          </a:p>
        </p:txBody>
      </p:sp>
      <p:sp>
        <p:nvSpPr>
          <p:cNvPr id="75" name="Line 141"/>
          <p:cNvSpPr>
            <a:spLocks noChangeShapeType="1"/>
          </p:cNvSpPr>
          <p:nvPr/>
        </p:nvSpPr>
        <p:spPr bwMode="auto">
          <a:xfrm>
            <a:off x="933664" y="2667471"/>
            <a:ext cx="1715839"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pic>
        <p:nvPicPr>
          <p:cNvPr id="77" name="Picture 197" descr="jisuanji"/>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088017" y="1762850"/>
            <a:ext cx="565891" cy="565892"/>
          </a:xfrm>
          <a:prstGeom prst="rect">
            <a:avLst/>
          </a:prstGeom>
          <a:noFill/>
          <a:extLst>
            <a:ext uri="{909E8E84-426E-40DD-AFC4-6F175D3DCCD1}">
              <a14:hiddenFill xmlns:a14="http://schemas.microsoft.com/office/drawing/2010/main">
                <a:solidFill>
                  <a:srgbClr val="FFFFFF"/>
                </a:solidFill>
              </a14:hiddenFill>
            </a:ext>
          </a:extLst>
        </p:spPr>
      </p:pic>
      <p:pic>
        <p:nvPicPr>
          <p:cNvPr id="78" name="图片 77"/>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7082937" y="1480714"/>
            <a:ext cx="619871" cy="867819"/>
          </a:xfrm>
          <a:prstGeom prst="rect">
            <a:avLst/>
          </a:prstGeom>
        </p:spPr>
      </p:pic>
    </p:spTree>
    <p:extLst>
      <p:ext uri="{BB962C8B-B14F-4D97-AF65-F5344CB8AC3E}">
        <p14:creationId xmlns:p14="http://schemas.microsoft.com/office/powerpoint/2010/main" val="31913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utoShape 5"/>
          <p:cNvSpPr>
            <a:spLocks noChangeArrowheads="1"/>
          </p:cNvSpPr>
          <p:nvPr/>
        </p:nvSpPr>
        <p:spPr bwMode="auto">
          <a:xfrm>
            <a:off x="556963" y="611218"/>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 name="Rectangle 6"/>
          <p:cNvSpPr>
            <a:spLocks noChangeArrowheads="1"/>
          </p:cNvSpPr>
          <p:nvPr/>
        </p:nvSpPr>
        <p:spPr bwMode="auto">
          <a:xfrm>
            <a:off x="3719581" y="578007"/>
            <a:ext cx="172354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套接字的作用</a:t>
            </a:r>
          </a:p>
        </p:txBody>
      </p:sp>
      <p:sp>
        <p:nvSpPr>
          <p:cNvPr id="4" name="Rectangle 68"/>
          <p:cNvSpPr>
            <a:spLocks noChangeArrowheads="1"/>
          </p:cNvSpPr>
          <p:nvPr/>
        </p:nvSpPr>
        <p:spPr bwMode="auto">
          <a:xfrm>
            <a:off x="556962" y="971244"/>
            <a:ext cx="8048777" cy="30546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当应用进程需要使用网络进行通信时就发出系统调用，请求操作系统为其</a:t>
            </a:r>
            <a:r>
              <a:rPr lang="zh-CN" altLang="en-US" sz="2000" b="1" dirty="0">
                <a:solidFill>
                  <a:srgbClr val="0000FF"/>
                </a:solidFill>
                <a:latin typeface="微软雅黑 Light" panose="020B0502040204020203" pitchFamily="34" charset="-122"/>
                <a:ea typeface="微软雅黑 Light" panose="020B0502040204020203" pitchFamily="34" charset="-122"/>
              </a:rPr>
              <a:t>创建</a:t>
            </a:r>
            <a:r>
              <a:rPr lang="zh-CN" altLang="en-US" sz="2000" b="1" dirty="0">
                <a:solidFill>
                  <a:srgbClr val="C00000"/>
                </a:solidFill>
                <a:latin typeface="微软雅黑 Light" panose="020B0502040204020203" pitchFamily="34" charset="-122"/>
                <a:ea typeface="微软雅黑 Light" panose="020B0502040204020203" pitchFamily="34" charset="-122"/>
              </a:rPr>
              <a:t>套接字</a:t>
            </a:r>
            <a:r>
              <a:rPr lang="zh-CN" altLang="en-US" sz="2000" b="1" dirty="0">
                <a:latin typeface="微软雅黑 Light" panose="020B0502040204020203" pitchFamily="34" charset="-122"/>
                <a:ea typeface="微软雅黑 Light" panose="020B0502040204020203" pitchFamily="34" charset="-122"/>
              </a:rPr>
              <a:t>，以便把网络通信所需要的系统资源分配给该应用进程。</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操作系统为这些资源的总和用一个</a:t>
            </a:r>
            <a:r>
              <a:rPr lang="zh-CN" altLang="en-US" sz="2000" b="1" dirty="0">
                <a:solidFill>
                  <a:srgbClr val="C00000"/>
                </a:solidFill>
                <a:latin typeface="微软雅黑 Light" panose="020B0502040204020203" pitchFamily="34" charset="-122"/>
                <a:ea typeface="微软雅黑 Light" panose="020B0502040204020203" pitchFamily="34" charset="-122"/>
              </a:rPr>
              <a:t>套接字描述符</a:t>
            </a:r>
            <a:r>
              <a:rPr lang="zh-CN" altLang="en-US" sz="2000" b="1" dirty="0">
                <a:latin typeface="微软雅黑 Light" panose="020B0502040204020203" pitchFamily="34" charset="-122"/>
                <a:ea typeface="微软雅黑 Light" panose="020B0502040204020203" pitchFamily="34" charset="-122"/>
              </a:rPr>
              <a:t>的号码来表示。</a:t>
            </a:r>
            <a:endParaRPr lang="en-US" altLang="zh-CN" sz="2000" b="1" dirty="0">
              <a:latin typeface="微软雅黑 Light" panose="020B0502040204020203" pitchFamily="34" charset="-122"/>
              <a:ea typeface="微软雅黑 Light" panose="020B0502040204020203" pitchFamily="34" charset="-122"/>
            </a:endParaRP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应用进程所进行的网络操作都必须使用这个套接字描述符。</a:t>
            </a:r>
          </a:p>
          <a:p>
            <a:pPr marL="342900" indent="-34290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通信完毕后，应用进程通过一个</a:t>
            </a:r>
            <a:r>
              <a:rPr lang="zh-CN" altLang="en-US" sz="2000" b="1" dirty="0">
                <a:solidFill>
                  <a:srgbClr val="0000FF"/>
                </a:solidFill>
                <a:latin typeface="微软雅黑 Light" panose="020B0502040204020203" pitchFamily="34" charset="-122"/>
                <a:ea typeface="微软雅黑 Light" panose="020B0502040204020203" pitchFamily="34" charset="-122"/>
              </a:rPr>
              <a:t>关闭</a:t>
            </a:r>
            <a:r>
              <a:rPr lang="zh-CN" altLang="en-US" sz="2000" b="1" dirty="0">
                <a:latin typeface="微软雅黑 Light" panose="020B0502040204020203" pitchFamily="34" charset="-122"/>
                <a:ea typeface="微软雅黑 Light" panose="020B0502040204020203" pitchFamily="34" charset="-122"/>
              </a:rPr>
              <a:t>套接字的系统调用通知操作系统回收与该套接字描述符相关的所有资源。</a:t>
            </a:r>
          </a:p>
        </p:txBody>
      </p:sp>
    </p:spTree>
    <p:extLst>
      <p:ext uri="{BB962C8B-B14F-4D97-AF65-F5344CB8AC3E}">
        <p14:creationId xmlns:p14="http://schemas.microsoft.com/office/powerpoint/2010/main" val="19437556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610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4" name="Rectangle 6"/>
          <p:cNvSpPr>
            <a:spLocks noChangeArrowheads="1"/>
          </p:cNvSpPr>
          <p:nvPr/>
        </p:nvSpPr>
        <p:spPr bwMode="auto">
          <a:xfrm>
            <a:off x="3150511" y="582898"/>
            <a:ext cx="286168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zh-CN" altLang="en-US" sz="2000" b="1" dirty="0">
                <a:solidFill>
                  <a:schemeClr val="bg1"/>
                </a:solidFill>
                <a:latin typeface="微软雅黑 Light" panose="020B0502040204020203" pitchFamily="34" charset="-122"/>
                <a:ea typeface="微软雅黑 Light" panose="020B0502040204020203" pitchFamily="34" charset="-122"/>
              </a:rPr>
              <a:t>调用 </a:t>
            </a:r>
            <a:r>
              <a:rPr lang="en-US" altLang="zh-CN" sz="2000" b="1" dirty="0">
                <a:solidFill>
                  <a:schemeClr val="bg1"/>
                </a:solidFill>
                <a:latin typeface="微软雅黑 Light" panose="020B0502040204020203" pitchFamily="34" charset="-122"/>
                <a:ea typeface="微软雅黑 Light" panose="020B0502040204020203" pitchFamily="34" charset="-122"/>
              </a:rPr>
              <a:t>socket </a:t>
            </a:r>
            <a:r>
              <a:rPr lang="zh-CN" altLang="en-US" sz="2000" b="1" dirty="0">
                <a:solidFill>
                  <a:schemeClr val="bg1"/>
                </a:solidFill>
                <a:latin typeface="微软雅黑 Light" panose="020B0502040204020203" pitchFamily="34" charset="-122"/>
                <a:ea typeface="微软雅黑 Light" panose="020B0502040204020203" pitchFamily="34" charset="-122"/>
              </a:rPr>
              <a:t>创建套接字</a:t>
            </a:r>
          </a:p>
        </p:txBody>
      </p:sp>
      <p:sp>
        <p:nvSpPr>
          <p:cNvPr id="5" name="Rectangle 4"/>
          <p:cNvSpPr>
            <a:spLocks noChangeArrowheads="1"/>
          </p:cNvSpPr>
          <p:nvPr/>
        </p:nvSpPr>
        <p:spPr bwMode="auto">
          <a:xfrm>
            <a:off x="1835081" y="1837418"/>
            <a:ext cx="1979702" cy="2055845"/>
          </a:xfrm>
          <a:prstGeom prst="rect">
            <a:avLst/>
          </a:prstGeom>
          <a:solidFill>
            <a:srgbClr val="99FFCC"/>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6" name="Text Box 5"/>
          <p:cNvSpPr txBox="1">
            <a:spLocks noChangeArrowheads="1"/>
          </p:cNvSpPr>
          <p:nvPr/>
        </p:nvSpPr>
        <p:spPr bwMode="auto">
          <a:xfrm>
            <a:off x="1792263" y="1385976"/>
            <a:ext cx="2031325"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套接字描述符表</a:t>
            </a:r>
          </a:p>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（每一个进程一个描述符）</a:t>
            </a:r>
          </a:p>
        </p:txBody>
      </p:sp>
      <p:sp>
        <p:nvSpPr>
          <p:cNvPr id="7" name="Line 6"/>
          <p:cNvSpPr>
            <a:spLocks noChangeShapeType="1"/>
          </p:cNvSpPr>
          <p:nvPr/>
        </p:nvSpPr>
        <p:spPr bwMode="auto">
          <a:xfrm>
            <a:off x="1835081"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8" name="Line 7"/>
          <p:cNvSpPr>
            <a:spLocks noChangeShapeType="1"/>
          </p:cNvSpPr>
          <p:nvPr/>
        </p:nvSpPr>
        <p:spPr bwMode="auto">
          <a:xfrm>
            <a:off x="1835081"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9" name="Line 8"/>
          <p:cNvSpPr>
            <a:spLocks noChangeShapeType="1"/>
          </p:cNvSpPr>
          <p:nvPr/>
        </p:nvSpPr>
        <p:spPr bwMode="auto">
          <a:xfrm>
            <a:off x="1835081"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0" name="Line 9"/>
          <p:cNvSpPr>
            <a:spLocks noChangeShapeType="1"/>
          </p:cNvSpPr>
          <p:nvPr/>
        </p:nvSpPr>
        <p:spPr bwMode="auto">
          <a:xfrm>
            <a:off x="1835081"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1" name="Line 10"/>
          <p:cNvSpPr>
            <a:spLocks noChangeShapeType="1"/>
          </p:cNvSpPr>
          <p:nvPr/>
        </p:nvSpPr>
        <p:spPr bwMode="auto">
          <a:xfrm>
            <a:off x="1835081"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2" name="Text Box 11"/>
          <p:cNvSpPr txBox="1">
            <a:spLocks noChangeArrowheads="1"/>
          </p:cNvSpPr>
          <p:nvPr/>
        </p:nvSpPr>
        <p:spPr bwMode="auto">
          <a:xfrm>
            <a:off x="1433840" y="1813330"/>
            <a:ext cx="474810" cy="1465401"/>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0</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1</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2</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3</a:t>
            </a:r>
            <a:r>
              <a:rPr lang="zh-CN" altLang="en-US" sz="1400" b="1" dirty="0">
                <a:latin typeface="微软雅黑 Light" panose="020B0502040204020203" pitchFamily="34" charset="-122"/>
                <a:ea typeface="微软雅黑 Light" panose="020B0502040204020203" pitchFamily="34" charset="-122"/>
              </a:rPr>
              <a:t>：</a:t>
            </a:r>
          </a:p>
          <a:p>
            <a:pPr eaLnBrk="1" hangingPunct="1">
              <a:lnSpc>
                <a:spcPct val="130000"/>
              </a:lnSpc>
            </a:pPr>
            <a:r>
              <a:rPr lang="en-US" altLang="zh-CN" sz="1400" b="1" dirty="0">
                <a:latin typeface="微软雅黑 Light" panose="020B0502040204020203" pitchFamily="34" charset="-122"/>
                <a:ea typeface="微软雅黑 Light" panose="020B0502040204020203" pitchFamily="34" charset="-122"/>
              </a:rPr>
              <a:t>4</a:t>
            </a:r>
            <a:r>
              <a:rPr lang="zh-CN" altLang="en-US" sz="1400" b="1" dirty="0">
                <a:latin typeface="微软雅黑 Light" panose="020B0502040204020203" pitchFamily="34" charset="-122"/>
                <a:ea typeface="微软雅黑 Light" panose="020B0502040204020203" pitchFamily="34" charset="-122"/>
              </a:rPr>
              <a:t>：</a:t>
            </a:r>
          </a:p>
        </p:txBody>
      </p:sp>
      <p:sp>
        <p:nvSpPr>
          <p:cNvPr id="15" name="Rectangle 15"/>
          <p:cNvSpPr>
            <a:spLocks noChangeArrowheads="1"/>
          </p:cNvSpPr>
          <p:nvPr/>
        </p:nvSpPr>
        <p:spPr bwMode="auto">
          <a:xfrm>
            <a:off x="5454370" y="1837417"/>
            <a:ext cx="1979702" cy="2399027"/>
          </a:xfrm>
          <a:prstGeom prst="rect">
            <a:avLst/>
          </a:prstGeom>
          <a:solidFill>
            <a:srgbClr val="00CCFF"/>
          </a:solidFill>
          <a:ln w="19050">
            <a:solidFill>
              <a:schemeClr val="tx1"/>
            </a:solidFill>
            <a:miter lim="800000"/>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6" name="Rectangle 16"/>
          <p:cNvSpPr>
            <a:spLocks noChangeArrowheads="1"/>
          </p:cNvSpPr>
          <p:nvPr/>
        </p:nvSpPr>
        <p:spPr bwMode="auto">
          <a:xfrm>
            <a:off x="5461407" y="2409027"/>
            <a:ext cx="1970320" cy="1136723"/>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7" name="Line 17"/>
          <p:cNvSpPr>
            <a:spLocks noChangeShapeType="1"/>
          </p:cNvSpPr>
          <p:nvPr/>
        </p:nvSpPr>
        <p:spPr bwMode="auto">
          <a:xfrm>
            <a:off x="5454370" y="2123222"/>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8"/>
          <p:cNvSpPr>
            <a:spLocks noChangeShapeType="1"/>
          </p:cNvSpPr>
          <p:nvPr/>
        </p:nvSpPr>
        <p:spPr bwMode="auto">
          <a:xfrm>
            <a:off x="5454370" y="240902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9"/>
          <p:cNvSpPr>
            <a:spLocks noChangeShapeType="1"/>
          </p:cNvSpPr>
          <p:nvPr/>
        </p:nvSpPr>
        <p:spPr bwMode="auto">
          <a:xfrm>
            <a:off x="5454370" y="2694831"/>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20"/>
          <p:cNvSpPr>
            <a:spLocks noChangeShapeType="1"/>
          </p:cNvSpPr>
          <p:nvPr/>
        </p:nvSpPr>
        <p:spPr bwMode="auto">
          <a:xfrm>
            <a:off x="5454370" y="2980636"/>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Line 21"/>
          <p:cNvSpPr>
            <a:spLocks noChangeShapeType="1"/>
          </p:cNvSpPr>
          <p:nvPr/>
        </p:nvSpPr>
        <p:spPr bwMode="auto">
          <a:xfrm>
            <a:off x="5454370" y="3266440"/>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22"/>
          <p:cNvSpPr>
            <a:spLocks noChangeShapeType="1"/>
          </p:cNvSpPr>
          <p:nvPr/>
        </p:nvSpPr>
        <p:spPr bwMode="auto">
          <a:xfrm>
            <a:off x="5454370" y="3551163"/>
            <a:ext cx="1979702"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nvGrpSpPr>
          <p:cNvPr id="41" name="组合 40"/>
          <p:cNvGrpSpPr/>
          <p:nvPr/>
        </p:nvGrpSpPr>
        <p:grpSpPr>
          <a:xfrm>
            <a:off x="2797956" y="1985733"/>
            <a:ext cx="1406182" cy="863909"/>
            <a:chOff x="2797956" y="2003489"/>
            <a:chExt cx="1243178" cy="863909"/>
          </a:xfrm>
        </p:grpSpPr>
        <p:sp>
          <p:nvSpPr>
            <p:cNvPr id="13" name="Line 13"/>
            <p:cNvSpPr>
              <a:spLocks noChangeShapeType="1"/>
            </p:cNvSpPr>
            <p:nvPr/>
          </p:nvSpPr>
          <p:spPr bwMode="auto">
            <a:xfrm>
              <a:off x="2797956" y="2003489"/>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Line 24"/>
            <p:cNvSpPr>
              <a:spLocks noChangeShapeType="1"/>
            </p:cNvSpPr>
            <p:nvPr/>
          </p:nvSpPr>
          <p:spPr bwMode="auto">
            <a:xfrm>
              <a:off x="2797956" y="2290376"/>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5" name="Line 27"/>
            <p:cNvSpPr>
              <a:spLocks noChangeShapeType="1"/>
            </p:cNvSpPr>
            <p:nvPr/>
          </p:nvSpPr>
          <p:spPr bwMode="auto">
            <a:xfrm>
              <a:off x="2797956" y="257942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30"/>
            <p:cNvSpPr>
              <a:spLocks noChangeShapeType="1"/>
            </p:cNvSpPr>
            <p:nvPr/>
          </p:nvSpPr>
          <p:spPr bwMode="auto">
            <a:xfrm>
              <a:off x="2797956" y="2867398"/>
              <a:ext cx="1243178"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29" name="Text Box 33"/>
          <p:cNvSpPr txBox="1">
            <a:spLocks noChangeArrowheads="1"/>
          </p:cNvSpPr>
          <p:nvPr/>
        </p:nvSpPr>
        <p:spPr bwMode="auto">
          <a:xfrm>
            <a:off x="4027352" y="1150664"/>
            <a:ext cx="1107997" cy="369332"/>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800" b="1" dirty="0">
                <a:latin typeface="微软雅黑 Light" panose="020B0502040204020203" pitchFamily="34" charset="-122"/>
                <a:ea typeface="微软雅黑 Light" panose="020B0502040204020203" pitchFamily="34" charset="-122"/>
              </a:rPr>
              <a:t>操作系统</a:t>
            </a:r>
          </a:p>
        </p:txBody>
      </p:sp>
      <p:sp>
        <p:nvSpPr>
          <p:cNvPr id="30" name="Text Box 34"/>
          <p:cNvSpPr txBox="1">
            <a:spLocks noChangeArrowheads="1"/>
          </p:cNvSpPr>
          <p:nvPr/>
        </p:nvSpPr>
        <p:spPr bwMode="auto">
          <a:xfrm>
            <a:off x="5710405" y="1533209"/>
            <a:ext cx="1415772"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solidFill>
                  <a:srgbClr val="0000FF"/>
                </a:solidFill>
                <a:latin typeface="微软雅黑 Light" panose="020B0502040204020203" pitchFamily="34" charset="-122"/>
                <a:ea typeface="微软雅黑 Light" panose="020B0502040204020203" pitchFamily="34" charset="-122"/>
              </a:rPr>
              <a:t>套接字的数据结构</a:t>
            </a:r>
          </a:p>
        </p:txBody>
      </p:sp>
      <p:sp>
        <p:nvSpPr>
          <p:cNvPr id="31" name="Text Box 35"/>
          <p:cNvSpPr txBox="1">
            <a:spLocks noChangeArrowheads="1"/>
          </p:cNvSpPr>
          <p:nvPr/>
        </p:nvSpPr>
        <p:spPr bwMode="auto">
          <a:xfrm>
            <a:off x="5538406" y="1849327"/>
            <a:ext cx="136127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协议族：</a:t>
            </a:r>
            <a:r>
              <a:rPr lang="en-US" altLang="zh-CN" sz="1200" b="1" dirty="0">
                <a:latin typeface="微软雅黑 Light" panose="020B0502040204020203" pitchFamily="34" charset="-122"/>
                <a:ea typeface="微软雅黑 Light" panose="020B0502040204020203" pitchFamily="34" charset="-122"/>
              </a:rPr>
              <a:t>PF_INET</a:t>
            </a:r>
          </a:p>
        </p:txBody>
      </p:sp>
      <p:sp>
        <p:nvSpPr>
          <p:cNvPr id="32" name="Text Box 36"/>
          <p:cNvSpPr txBox="1">
            <a:spLocks noChangeArrowheads="1"/>
          </p:cNvSpPr>
          <p:nvPr/>
        </p:nvSpPr>
        <p:spPr bwMode="auto">
          <a:xfrm>
            <a:off x="5587001" y="2128635"/>
            <a:ext cx="1702710"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a:t>
            </a:r>
            <a:r>
              <a:rPr lang="en-US" altLang="zh-CN" sz="1200" b="1" dirty="0">
                <a:latin typeface="微软雅黑 Light" panose="020B0502040204020203" pitchFamily="34" charset="-122"/>
                <a:ea typeface="微软雅黑 Light" panose="020B0502040204020203" pitchFamily="34" charset="-122"/>
              </a:rPr>
              <a:t>SOCK_STREAM</a:t>
            </a:r>
          </a:p>
        </p:txBody>
      </p:sp>
      <p:sp>
        <p:nvSpPr>
          <p:cNvPr id="33" name="Text Box 37"/>
          <p:cNvSpPr txBox="1">
            <a:spLocks noChangeArrowheads="1"/>
          </p:cNvSpPr>
          <p:nvPr/>
        </p:nvSpPr>
        <p:spPr bwMode="auto">
          <a:xfrm>
            <a:off x="5539205" y="240794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4" name="Text Box 38"/>
          <p:cNvSpPr txBox="1">
            <a:spLocks noChangeArrowheads="1"/>
          </p:cNvSpPr>
          <p:nvPr/>
        </p:nvSpPr>
        <p:spPr bwMode="auto">
          <a:xfrm>
            <a:off x="5539205" y="2687254"/>
            <a:ext cx="119936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 </a:t>
            </a:r>
            <a:r>
              <a:rPr lang="en-US" altLang="zh-CN" sz="1200" b="1" dirty="0">
                <a:latin typeface="微软雅黑 Light" panose="020B0502040204020203" pitchFamily="34" charset="-122"/>
                <a:ea typeface="微软雅黑 Light" panose="020B0502040204020203" pitchFamily="34" charset="-122"/>
              </a:rPr>
              <a:t>IP </a:t>
            </a:r>
            <a:r>
              <a:rPr lang="zh-CN" altLang="en-US" sz="1200" b="1" dirty="0">
                <a:latin typeface="微软雅黑 Light" panose="020B0502040204020203" pitchFamily="34" charset="-122"/>
                <a:ea typeface="微软雅黑 Light" panose="020B0502040204020203" pitchFamily="34" charset="-122"/>
              </a:rPr>
              <a:t>地址：</a:t>
            </a:r>
          </a:p>
        </p:txBody>
      </p:sp>
      <p:sp>
        <p:nvSpPr>
          <p:cNvPr id="35" name="Text Box 39"/>
          <p:cNvSpPr txBox="1">
            <a:spLocks noChangeArrowheads="1"/>
          </p:cNvSpPr>
          <p:nvPr/>
        </p:nvSpPr>
        <p:spPr bwMode="auto">
          <a:xfrm>
            <a:off x="5539205" y="2965480"/>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本地端口：</a:t>
            </a:r>
          </a:p>
        </p:txBody>
      </p:sp>
      <p:sp>
        <p:nvSpPr>
          <p:cNvPr id="36" name="Text Box 40"/>
          <p:cNvSpPr txBox="1">
            <a:spLocks noChangeArrowheads="1"/>
          </p:cNvSpPr>
          <p:nvPr/>
        </p:nvSpPr>
        <p:spPr bwMode="auto">
          <a:xfrm>
            <a:off x="5539205" y="3246954"/>
            <a:ext cx="954107" cy="276999"/>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200" b="1" dirty="0">
                <a:latin typeface="微软雅黑 Light" panose="020B0502040204020203" pitchFamily="34" charset="-122"/>
                <a:ea typeface="微软雅黑 Light" panose="020B0502040204020203" pitchFamily="34" charset="-122"/>
              </a:rPr>
              <a:t>远地端口：</a:t>
            </a:r>
          </a:p>
        </p:txBody>
      </p:sp>
      <p:sp>
        <p:nvSpPr>
          <p:cNvPr id="37" name="Text Box 41"/>
          <p:cNvSpPr txBox="1">
            <a:spLocks noChangeArrowheads="1"/>
          </p:cNvSpPr>
          <p:nvPr/>
        </p:nvSpPr>
        <p:spPr bwMode="auto">
          <a:xfrm rot="5400000">
            <a:off x="2645580" y="33179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8" name="Text Box 42"/>
          <p:cNvSpPr txBox="1">
            <a:spLocks noChangeArrowheads="1"/>
          </p:cNvSpPr>
          <p:nvPr/>
        </p:nvSpPr>
        <p:spPr bwMode="auto">
          <a:xfrm rot="5400000">
            <a:off x="6319991" y="3660073"/>
            <a:ext cx="492444" cy="46166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2400" b="1" dirty="0">
                <a:latin typeface="微软雅黑 Light" panose="020B0502040204020203" pitchFamily="34" charset="-122"/>
                <a:ea typeface="微软雅黑 Light" panose="020B0502040204020203" pitchFamily="34" charset="-122"/>
                <a:sym typeface="Symbol" pitchFamily="18" charset="2"/>
              </a:rPr>
              <a:t></a:t>
            </a:r>
          </a:p>
        </p:txBody>
      </p:sp>
      <p:sp>
        <p:nvSpPr>
          <p:cNvPr id="39" name="Freeform 43"/>
          <p:cNvSpPr>
            <a:spLocks/>
          </p:cNvSpPr>
          <p:nvPr/>
        </p:nvSpPr>
        <p:spPr bwMode="auto">
          <a:xfrm>
            <a:off x="2797957" y="1984650"/>
            <a:ext cx="2658759" cy="1151879"/>
          </a:xfrm>
          <a:custGeom>
            <a:avLst/>
            <a:gdLst>
              <a:gd name="T0" fmla="*/ 0 w 2133"/>
              <a:gd name="T1" fmla="*/ 2147483646 h 915"/>
              <a:gd name="T2" fmla="*/ 2147483646 w 2133"/>
              <a:gd name="T3" fmla="*/ 2147483646 h 915"/>
              <a:gd name="T4" fmla="*/ 2147483646 w 2133"/>
              <a:gd name="T5" fmla="*/ 2147483646 h 915"/>
              <a:gd name="T6" fmla="*/ 2147483646 w 2133"/>
              <a:gd name="T7" fmla="*/ 2147483646 h 915"/>
              <a:gd name="T8" fmla="*/ 2147483646 w 2133"/>
              <a:gd name="T9" fmla="*/ 2147483646 h 915"/>
              <a:gd name="T10" fmla="*/ 2147483646 w 2133"/>
              <a:gd name="T11" fmla="*/ 2147483646 h 915"/>
              <a:gd name="T12" fmla="*/ 2147483646 w 2133"/>
              <a:gd name="T13" fmla="*/ 2147483646 h 915"/>
              <a:gd name="T14" fmla="*/ 2147483646 w 2133"/>
              <a:gd name="T15" fmla="*/ 2147483646 h 915"/>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133" h="915">
                <a:moveTo>
                  <a:pt x="0" y="899"/>
                </a:moveTo>
                <a:lnTo>
                  <a:pt x="724" y="899"/>
                </a:lnTo>
                <a:cubicBezTo>
                  <a:pt x="912" y="899"/>
                  <a:pt x="1019" y="915"/>
                  <a:pt x="1131" y="901"/>
                </a:cubicBezTo>
                <a:cubicBezTo>
                  <a:pt x="1243" y="887"/>
                  <a:pt x="1341" y="890"/>
                  <a:pt x="1395" y="817"/>
                </a:cubicBezTo>
                <a:cubicBezTo>
                  <a:pt x="1449" y="744"/>
                  <a:pt x="1438" y="568"/>
                  <a:pt x="1455" y="463"/>
                </a:cubicBezTo>
                <a:cubicBezTo>
                  <a:pt x="1472" y="358"/>
                  <a:pt x="1468" y="259"/>
                  <a:pt x="1497" y="187"/>
                </a:cubicBezTo>
                <a:cubicBezTo>
                  <a:pt x="1526" y="115"/>
                  <a:pt x="1523" y="62"/>
                  <a:pt x="1629" y="31"/>
                </a:cubicBezTo>
                <a:cubicBezTo>
                  <a:pt x="1735" y="0"/>
                  <a:pt x="2028" y="7"/>
                  <a:pt x="2133" y="1"/>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rgbClr val="CCEC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4" name="Oval 14"/>
          <p:cNvSpPr>
            <a:spLocks noChangeArrowheads="1"/>
          </p:cNvSpPr>
          <p:nvPr/>
        </p:nvSpPr>
        <p:spPr bwMode="auto">
          <a:xfrm>
            <a:off x="2747526" y="192510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4" name="Oval 25"/>
          <p:cNvSpPr>
            <a:spLocks noChangeArrowheads="1"/>
          </p:cNvSpPr>
          <p:nvPr/>
        </p:nvSpPr>
        <p:spPr bwMode="auto">
          <a:xfrm>
            <a:off x="2747526" y="2213077"/>
            <a:ext cx="112590" cy="112590"/>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6" name="Oval 28"/>
          <p:cNvSpPr>
            <a:spLocks noChangeArrowheads="1"/>
          </p:cNvSpPr>
          <p:nvPr/>
        </p:nvSpPr>
        <p:spPr bwMode="auto">
          <a:xfrm>
            <a:off x="2747526" y="2501047"/>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8" name="Oval 31"/>
          <p:cNvSpPr>
            <a:spLocks noChangeArrowheads="1"/>
          </p:cNvSpPr>
          <p:nvPr/>
        </p:nvSpPr>
        <p:spPr bwMode="auto">
          <a:xfrm>
            <a:off x="2747526" y="2789018"/>
            <a:ext cx="112590" cy="113672"/>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40" name="Oval 44"/>
          <p:cNvSpPr>
            <a:spLocks noChangeArrowheads="1"/>
          </p:cNvSpPr>
          <p:nvPr/>
        </p:nvSpPr>
        <p:spPr bwMode="auto">
          <a:xfrm>
            <a:off x="2747526" y="3056417"/>
            <a:ext cx="112590" cy="113673"/>
          </a:xfrm>
          <a:prstGeom prst="ellipse">
            <a:avLst/>
          </a:prstGeom>
          <a:solidFill>
            <a:srgbClr val="FFFF00"/>
          </a:solidFill>
          <a:ln w="9525">
            <a:solidFill>
              <a:schemeClr val="tx1"/>
            </a:solidFill>
            <a:round/>
            <a:headEnd/>
            <a:tailEnd/>
          </a:ln>
          <a:effec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15186401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111"/>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70840"/>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09867"/>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当应用进程需要使用网络进行通信时，就发出系统调用。</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TCP/IP</a:t>
            </a:r>
            <a:r>
              <a:rPr lang="zh-CN" altLang="en-US" sz="2000" b="1" dirty="0">
                <a:latin typeface="微软雅黑 Light" panose="020B0502040204020203" pitchFamily="34" charset="-122"/>
                <a:ea typeface="微软雅黑 Light" panose="020B0502040204020203" pitchFamily="34" charset="-122"/>
              </a:rPr>
              <a:t> 应用编程接口 </a:t>
            </a:r>
            <a:r>
              <a:rPr lang="en-US" altLang="zh-CN" sz="2000" b="1" dirty="0">
                <a:latin typeface="微软雅黑 Light" panose="020B0502040204020203" pitchFamily="34" charset="-122"/>
                <a:ea typeface="微软雅黑 Light" panose="020B0502040204020203" pitchFamily="34" charset="-122"/>
              </a:rPr>
              <a:t>API</a:t>
            </a:r>
            <a:r>
              <a:rPr lang="zh-CN" altLang="en-US" sz="2000" b="1" dirty="0">
                <a:latin typeface="微软雅黑 Light" panose="020B0502040204020203" pitchFamily="34" charset="-122"/>
                <a:ea typeface="微软雅黑 Light" panose="020B0502040204020203" pitchFamily="34" charset="-122"/>
              </a:rPr>
              <a:t>，就可以编写基于互联网的网络应用程序了。</a:t>
            </a:r>
            <a:endParaRPr lang="en-US" altLang="zh-CN" sz="2000" b="1" dirty="0">
              <a:latin typeface="微软雅黑 Light" panose="020B0502040204020203" pitchFamily="34" charset="-122"/>
              <a:ea typeface="微软雅黑 Light" panose="020B0502040204020203" pitchFamily="34" charset="-122"/>
            </a:endParaRP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调用 </a:t>
            </a:r>
            <a:r>
              <a:rPr lang="en-US" altLang="zh-CN" sz="2000" b="1" dirty="0">
                <a:latin typeface="微软雅黑 Light" panose="020B0502040204020203" pitchFamily="34" charset="-122"/>
                <a:ea typeface="微软雅黑 Light" panose="020B0502040204020203" pitchFamily="34" charset="-122"/>
              </a:rPr>
              <a:t>API </a:t>
            </a:r>
            <a:r>
              <a:rPr lang="zh-CN" altLang="en-US" sz="2000" b="1" dirty="0">
                <a:latin typeface="微软雅黑 Light" panose="020B0502040204020203" pitchFamily="34" charset="-122"/>
                <a:ea typeface="微软雅黑 Light" panose="020B0502040204020203" pitchFamily="34" charset="-122"/>
              </a:rPr>
              <a:t>时，用户可以使用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服务，也可以使用 </a:t>
            </a:r>
            <a:r>
              <a:rPr lang="en-US" altLang="zh-CN" sz="2000" b="1" dirty="0">
                <a:latin typeface="微软雅黑 Light" panose="020B0502040204020203" pitchFamily="34" charset="-122"/>
                <a:ea typeface="微软雅黑 Light" panose="020B0502040204020203" pitchFamily="34" charset="-122"/>
              </a:rPr>
              <a:t>UDP </a:t>
            </a:r>
            <a:r>
              <a:rPr lang="zh-CN" altLang="en-US" sz="2000" b="1" dirty="0">
                <a:latin typeface="微软雅黑 Light" panose="020B0502040204020203" pitchFamily="34" charset="-122"/>
                <a:ea typeface="微软雅黑 Light" panose="020B0502040204020203" pitchFamily="34" charset="-122"/>
              </a:rPr>
              <a:t>等其他服务。</a:t>
            </a:r>
          </a:p>
        </p:txBody>
      </p:sp>
    </p:spTree>
    <p:extLst>
      <p:ext uri="{BB962C8B-B14F-4D97-AF65-F5344CB8AC3E}">
        <p14:creationId xmlns:p14="http://schemas.microsoft.com/office/powerpoint/2010/main" val="25914130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3868"/>
            <a:ext cx="8048776" cy="388721"/>
          </a:xfrm>
          <a:prstGeom prst="roundRect">
            <a:avLst>
              <a:gd name="adj" fmla="val 16667"/>
            </a:avLst>
          </a:prstGeom>
          <a:solidFill>
            <a:srgbClr val="0089FA"/>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6" name="Rectangle 6"/>
          <p:cNvSpPr>
            <a:spLocks noChangeArrowheads="1"/>
          </p:cNvSpPr>
          <p:nvPr/>
        </p:nvSpPr>
        <p:spPr bwMode="auto">
          <a:xfrm>
            <a:off x="2631407" y="562719"/>
            <a:ext cx="388119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Light" panose="020B0502040204020203" pitchFamily="34" charset="-122"/>
                <a:ea typeface="微软雅黑 Light" panose="020B0502040204020203" pitchFamily="34" charset="-122"/>
              </a:rPr>
              <a:t>6.8.2  </a:t>
            </a:r>
            <a:r>
              <a:rPr lang="zh-CN" altLang="en-US" sz="2400" b="1" dirty="0">
                <a:solidFill>
                  <a:schemeClr val="bg1"/>
                </a:solidFill>
                <a:latin typeface="微软雅黑 Light" panose="020B0502040204020203" pitchFamily="34" charset="-122"/>
                <a:ea typeface="微软雅黑 Light" panose="020B0502040204020203" pitchFamily="34" charset="-122"/>
              </a:rPr>
              <a:t>几种常用的系统调用</a:t>
            </a:r>
          </a:p>
        </p:txBody>
      </p:sp>
      <p:sp>
        <p:nvSpPr>
          <p:cNvPr id="9" name="Rectangle 68"/>
          <p:cNvSpPr>
            <a:spLocks noChangeArrowheads="1"/>
          </p:cNvSpPr>
          <p:nvPr/>
        </p:nvSpPr>
        <p:spPr bwMode="auto">
          <a:xfrm>
            <a:off x="557380" y="1010624"/>
            <a:ext cx="7777321" cy="220829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eaLnBrk="0" hangingPunct="0">
              <a:lnSpc>
                <a:spcPts val="3300"/>
              </a:lnSpc>
              <a:buClr>
                <a:srgbClr val="0070C0"/>
              </a:buClr>
              <a:buFont typeface="Wingdings" pitchFamily="2" charset="2"/>
              <a:buChar char="l"/>
            </a:pP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提供</a:t>
            </a:r>
            <a:r>
              <a:rPr lang="zh-CN" altLang="en-US" sz="2000" b="1" dirty="0">
                <a:solidFill>
                  <a:srgbClr val="C00000"/>
                </a:solidFill>
                <a:latin typeface="微软雅黑 Light" panose="020B0502040204020203" pitchFamily="34" charset="-122"/>
                <a:ea typeface="微软雅黑 Light" panose="020B0502040204020203" pitchFamily="34" charset="-122"/>
              </a:rPr>
              <a:t>面向连接</a:t>
            </a:r>
            <a:r>
              <a:rPr lang="zh-CN" altLang="en-US" sz="2000" b="1" dirty="0">
                <a:latin typeface="微软雅黑 Light" panose="020B0502040204020203" pitchFamily="34" charset="-122"/>
                <a:ea typeface="微软雅黑 Light" panose="020B0502040204020203" pitchFamily="34" charset="-122"/>
              </a:rPr>
              <a:t>的服务。</a:t>
            </a:r>
          </a:p>
          <a:p>
            <a:pPr marL="285750" indent="-285750" eaLnBrk="0" hangingPunct="0">
              <a:lnSpc>
                <a:spcPts val="3300"/>
              </a:lnSpc>
              <a:buClr>
                <a:srgbClr val="0070C0"/>
              </a:buClr>
              <a:buFont typeface="Wingdings" pitchFamily="2" charset="2"/>
              <a:buChar char="l"/>
            </a:pPr>
            <a:r>
              <a:rPr lang="zh-CN" altLang="en-US" sz="2000" b="1" dirty="0">
                <a:latin typeface="微软雅黑 Light" panose="020B0502040204020203" pitchFamily="34" charset="-122"/>
                <a:ea typeface="微软雅黑 Light" panose="020B0502040204020203" pitchFamily="34" charset="-122"/>
              </a:rPr>
              <a:t>使用 </a:t>
            </a:r>
            <a:r>
              <a:rPr lang="en-US" altLang="zh-CN" sz="2000" b="1" dirty="0">
                <a:latin typeface="微软雅黑 Light" panose="020B0502040204020203" pitchFamily="34" charset="-122"/>
                <a:ea typeface="微软雅黑 Light" panose="020B0502040204020203" pitchFamily="34" charset="-122"/>
              </a:rPr>
              <a:t>TCP </a:t>
            </a:r>
            <a:r>
              <a:rPr lang="zh-CN" altLang="en-US" sz="2000" b="1" dirty="0">
                <a:latin typeface="微软雅黑 Light" panose="020B0502040204020203" pitchFamily="34" charset="-122"/>
                <a:ea typeface="微软雅黑 Light" panose="020B0502040204020203" pitchFamily="34" charset="-122"/>
              </a:rPr>
              <a:t>服务需要经历 </a:t>
            </a:r>
            <a:r>
              <a:rPr lang="en-US" altLang="zh-CN" sz="2000" b="1" dirty="0">
                <a:solidFill>
                  <a:srgbClr val="C00000"/>
                </a:solidFill>
                <a:latin typeface="微软雅黑 Light" panose="020B0502040204020203" pitchFamily="34" charset="-122"/>
                <a:ea typeface="微软雅黑 Light" panose="020B0502040204020203" pitchFamily="34" charset="-122"/>
              </a:rPr>
              <a:t>3 </a:t>
            </a:r>
            <a:r>
              <a:rPr lang="zh-CN" altLang="en-US" sz="2000" b="1" dirty="0">
                <a:solidFill>
                  <a:srgbClr val="C00000"/>
                </a:solidFill>
                <a:latin typeface="微软雅黑 Light" panose="020B0502040204020203" pitchFamily="34" charset="-122"/>
                <a:ea typeface="微软雅黑 Light" panose="020B0502040204020203" pitchFamily="34" charset="-122"/>
              </a:rPr>
              <a:t>个阶段：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连接建立阶段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数据传送阶段</a:t>
            </a:r>
          </a:p>
          <a:p>
            <a:pPr marL="630238" lvl="1" indent="-357188" eaLnBrk="0" hangingPunct="0">
              <a:lnSpc>
                <a:spcPts val="3300"/>
              </a:lnSpc>
              <a:buClr>
                <a:srgbClr val="7030A0"/>
              </a:buClr>
              <a:buFont typeface="+mj-lt"/>
              <a:buAutoNum type="arabicPeriod"/>
            </a:pPr>
            <a:r>
              <a:rPr lang="zh-CN" altLang="en-US" sz="2000" b="1" dirty="0">
                <a:latin typeface="微软雅黑 Light" panose="020B0502040204020203" pitchFamily="34" charset="-122"/>
                <a:ea typeface="微软雅黑 Light" panose="020B0502040204020203" pitchFamily="34" charset="-122"/>
              </a:rPr>
              <a:t>和 连接释放阶段</a:t>
            </a:r>
          </a:p>
        </p:txBody>
      </p:sp>
    </p:spTree>
    <p:extLst>
      <p:ext uri="{BB962C8B-B14F-4D97-AF65-F5344CB8AC3E}">
        <p14:creationId xmlns:p14="http://schemas.microsoft.com/office/powerpoint/2010/main" val="16915135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52" name="组合 51"/>
          <p:cNvGrpSpPr/>
          <p:nvPr/>
        </p:nvGrpSpPr>
        <p:grpSpPr>
          <a:xfrm>
            <a:off x="2441293" y="1366814"/>
            <a:ext cx="2903178" cy="905585"/>
            <a:chOff x="2492362" y="1366814"/>
            <a:chExt cx="2903178" cy="905585"/>
          </a:xfrm>
        </p:grpSpPr>
        <p:cxnSp>
          <p:nvCxnSpPr>
            <p:cNvPr id="37" name="直接箭头连接符 36"/>
            <p:cNvCxnSpPr/>
            <p:nvPr/>
          </p:nvCxnSpPr>
          <p:spPr>
            <a:xfrm flipH="1">
              <a:off x="3102390" y="1936773"/>
              <a:ext cx="270776" cy="33562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6" name="直接箭头连接符 45"/>
            <p:cNvCxnSpPr>
              <a:stCxn id="3" idx="3"/>
            </p:cNvCxnSpPr>
            <p:nvPr/>
          </p:nvCxnSpPr>
          <p:spPr>
            <a:xfrm flipV="1">
              <a:off x="4702003" y="1473451"/>
              <a:ext cx="693537" cy="185751"/>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 name="矩形 2"/>
            <p:cNvSpPr/>
            <p:nvPr/>
          </p:nvSpPr>
          <p:spPr>
            <a:xfrm>
              <a:off x="2492362" y="1366814"/>
              <a:ext cx="2209641" cy="584775"/>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gn="ctr"/>
              <a:r>
                <a:rPr lang="zh-CN" altLang="en-US" sz="1600" b="1" dirty="0">
                  <a:latin typeface="微软雅黑 Light" panose="020B0502040204020203" pitchFamily="34" charset="-122"/>
                  <a:ea typeface="微软雅黑 Light" panose="020B0502040204020203" pitchFamily="34" charset="-122"/>
                </a:rPr>
                <a:t>通信之前，</a:t>
              </a: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先创建套接字</a:t>
              </a:r>
            </a:p>
          </p:txBody>
        </p:sp>
      </p:grpSp>
    </p:spTree>
    <p:extLst>
      <p:ext uri="{BB962C8B-B14F-4D97-AF65-F5344CB8AC3E}">
        <p14:creationId xmlns:p14="http://schemas.microsoft.com/office/powerpoint/2010/main" val="1095537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0"/>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0" grpId="0"/>
    </p:bldLst>
  </p:timing>
</p:sld>
</file>

<file path=ppt/slides/slide2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8" name="组合 47"/>
          <p:cNvGrpSpPr/>
          <p:nvPr/>
        </p:nvGrpSpPr>
        <p:grpSpPr>
          <a:xfrm>
            <a:off x="1648624" y="1371358"/>
            <a:ext cx="3741746" cy="830997"/>
            <a:chOff x="1648624" y="1371358"/>
            <a:chExt cx="3741746" cy="830997"/>
          </a:xfrm>
        </p:grpSpPr>
        <p:cxnSp>
          <p:nvCxnSpPr>
            <p:cNvPr id="46" name="直接箭头连接符 45"/>
            <p:cNvCxnSpPr/>
            <p:nvPr/>
          </p:nvCxnSpPr>
          <p:spPr>
            <a:xfrm>
              <a:off x="4773046" y="1858323"/>
              <a:ext cx="617324" cy="0"/>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5" name="矩形 44"/>
            <p:cNvSpPr/>
            <p:nvPr/>
          </p:nvSpPr>
          <p:spPr>
            <a:xfrm>
              <a:off x="1648624" y="1371358"/>
              <a:ext cx="3139984" cy="830997"/>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bind</a:t>
              </a:r>
              <a:r>
                <a:rPr lang="zh-CN" altLang="en-US" sz="1600" b="1" dirty="0">
                  <a:latin typeface="微软雅黑 Light" panose="020B0502040204020203" pitchFamily="34" charset="-122"/>
                  <a:ea typeface="微软雅黑 Light" panose="020B0502040204020203" pitchFamily="34" charset="-122"/>
                </a:rPr>
                <a:t>，把熟知端口号和本地 </a:t>
              </a:r>
              <a:r>
                <a:rPr lang="en-US" altLang="zh-CN" sz="1600" b="1" dirty="0">
                  <a:latin typeface="微软雅黑 Light" panose="020B0502040204020203" pitchFamily="34" charset="-122"/>
                  <a:ea typeface="微软雅黑 Light" panose="020B0502040204020203" pitchFamily="34" charset="-122"/>
                </a:rPr>
                <a:t>IP </a:t>
              </a:r>
              <a:r>
                <a:rPr lang="zh-CN" altLang="en-US" sz="1600" b="1" dirty="0">
                  <a:latin typeface="微软雅黑 Light" panose="020B0502040204020203" pitchFamily="34" charset="-122"/>
                  <a:ea typeface="微软雅黑 Light" panose="020B0502040204020203" pitchFamily="34" charset="-122"/>
                </a:rPr>
                <a:t>地址填写到已创建的套接字中。</a:t>
              </a:r>
            </a:p>
          </p:txBody>
        </p:sp>
      </p:grpSp>
    </p:spTree>
    <p:extLst>
      <p:ext uri="{BB962C8B-B14F-4D97-AF65-F5344CB8AC3E}">
        <p14:creationId xmlns:p14="http://schemas.microsoft.com/office/powerpoint/2010/main" val="39030394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074198" y="1371358"/>
            <a:ext cx="4314903" cy="1077218"/>
            <a:chOff x="1074198" y="1371358"/>
            <a:chExt cx="4314903" cy="1077218"/>
          </a:xfrm>
        </p:grpSpPr>
        <p:cxnSp>
          <p:nvCxnSpPr>
            <p:cNvPr id="47" name="直接箭头连接符 46"/>
            <p:cNvCxnSpPr/>
            <p:nvPr/>
          </p:nvCxnSpPr>
          <p:spPr>
            <a:xfrm>
              <a:off x="4773046" y="1858323"/>
              <a:ext cx="616055" cy="406473"/>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074198" y="1371358"/>
              <a:ext cx="3714410"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listen</a:t>
              </a:r>
              <a:r>
                <a:rPr lang="zh-CN" altLang="en-US" sz="1600" b="1" dirty="0">
                  <a:latin typeface="微软雅黑 Light" panose="020B0502040204020203" pitchFamily="34" charset="-122"/>
                  <a:ea typeface="微软雅黑 Light" panose="020B0502040204020203" pitchFamily="34" charset="-122"/>
                </a:rPr>
                <a:t>（收听），把套接字设置为被动方式，以便随时接受客户的服务请求。</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listen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10316814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2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1597982" y="1365082"/>
            <a:ext cx="3810246" cy="1347363"/>
            <a:chOff x="1597982" y="1425503"/>
            <a:chExt cx="3810246" cy="1347363"/>
          </a:xfrm>
        </p:grpSpPr>
        <p:cxnSp>
          <p:nvCxnSpPr>
            <p:cNvPr id="47" name="直接箭头连接符 46"/>
            <p:cNvCxnSpPr/>
            <p:nvPr/>
          </p:nvCxnSpPr>
          <p:spPr>
            <a:xfrm>
              <a:off x="4773046" y="2201507"/>
              <a:ext cx="635182" cy="571359"/>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1597982" y="1425503"/>
              <a:ext cx="3196442" cy="1077218"/>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服务器端</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accept</a:t>
              </a:r>
              <a:r>
                <a:rPr lang="zh-CN" altLang="en-US" sz="1600" b="1" dirty="0">
                  <a:latin typeface="微软雅黑 Light" panose="020B0502040204020203" pitchFamily="34" charset="-122"/>
                  <a:ea typeface="微软雅黑 Light" panose="020B0502040204020203" pitchFamily="34" charset="-122"/>
                </a:rPr>
                <a:t>（接受），以便把远地客户进程发来的连接请求提取出来。</a:t>
              </a:r>
              <a:r>
                <a:rPr lang="en-US" altLang="zh-CN" sz="1600" b="1" dirty="0">
                  <a:latin typeface="微软雅黑 Light" panose="020B0502040204020203" pitchFamily="34" charset="-122"/>
                  <a:ea typeface="微软雅黑 Light" panose="020B0502040204020203" pitchFamily="34" charset="-122"/>
                </a:rPr>
                <a:t>UDP </a:t>
              </a:r>
              <a:r>
                <a:rPr lang="zh-CN" altLang="en-US" sz="1600" b="1" dirty="0">
                  <a:latin typeface="微软雅黑 Light" panose="020B0502040204020203" pitchFamily="34" charset="-122"/>
                  <a:ea typeface="微软雅黑 Light" panose="020B0502040204020203" pitchFamily="34" charset="-122"/>
                </a:rPr>
                <a:t>服务器不使用 </a:t>
              </a:r>
              <a:r>
                <a:rPr lang="en-US" altLang="zh-CN" sz="1600" b="1" dirty="0">
                  <a:latin typeface="微软雅黑 Light" panose="020B0502040204020203" pitchFamily="34" charset="-122"/>
                  <a:ea typeface="微软雅黑 Light" panose="020B0502040204020203" pitchFamily="34" charset="-122"/>
                </a:rPr>
                <a:t>accept </a:t>
              </a:r>
              <a:r>
                <a:rPr lang="zh-CN" altLang="en-US" sz="1600" b="1" dirty="0">
                  <a:latin typeface="微软雅黑 Light" panose="020B0502040204020203" pitchFamily="34" charset="-122"/>
                  <a:ea typeface="微软雅黑 Light" panose="020B0502040204020203" pitchFamily="34" charset="-122"/>
                </a:rPr>
                <a:t>系统调用</a:t>
              </a:r>
            </a:p>
          </p:txBody>
        </p:sp>
      </p:grpSp>
    </p:spTree>
    <p:extLst>
      <p:ext uri="{BB962C8B-B14F-4D97-AF65-F5344CB8AC3E}">
        <p14:creationId xmlns:p14="http://schemas.microsoft.com/office/powerpoint/2010/main" val="41208679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utoShape 5"/>
          <p:cNvSpPr>
            <a:spLocks noChangeArrowheads="1"/>
          </p:cNvSpPr>
          <p:nvPr/>
        </p:nvSpPr>
        <p:spPr bwMode="auto">
          <a:xfrm>
            <a:off x="556963" y="611454"/>
            <a:ext cx="8041893" cy="308939"/>
          </a:xfrm>
          <a:prstGeom prst="roundRect">
            <a:avLst>
              <a:gd name="adj" fmla="val 16667"/>
            </a:avLst>
          </a:prstGeom>
          <a:solidFill>
            <a:srgbClr val="ABEBD7"/>
          </a:solidFill>
          <a:ln w="9525">
            <a:no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dirty="0">
              <a:latin typeface="Montserrat" panose="00000500000000000000" pitchFamily="2" charset="0"/>
              <a:ea typeface="微软雅黑 Light" panose="020B0502040204020203" pitchFamily="34" charset="-122"/>
            </a:endParaRPr>
          </a:p>
        </p:txBody>
      </p:sp>
      <p:sp>
        <p:nvSpPr>
          <p:cNvPr id="4" name="矩形 3"/>
          <p:cNvSpPr/>
          <p:nvPr/>
        </p:nvSpPr>
        <p:spPr>
          <a:xfrm>
            <a:off x="645268" y="560070"/>
            <a:ext cx="2749471" cy="400110"/>
          </a:xfrm>
          <a:prstGeom prst="rect">
            <a:avLst/>
          </a:prstGeom>
        </p:spPr>
        <p:txBody>
          <a:bodyPr wrap="none">
            <a:sp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zh-CN" altLang="en-US" sz="2000" b="1" dirty="0">
                <a:latin typeface="微软雅黑 Light" panose="020B0502040204020203" pitchFamily="34" charset="-122"/>
                <a:ea typeface="微软雅黑 Light" panose="020B0502040204020203" pitchFamily="34" charset="-122"/>
              </a:rPr>
              <a:t>并发方式工作的服务器</a:t>
            </a:r>
          </a:p>
        </p:txBody>
      </p:sp>
      <p:grpSp>
        <p:nvGrpSpPr>
          <p:cNvPr id="38" name="组合 37"/>
          <p:cNvGrpSpPr/>
          <p:nvPr/>
        </p:nvGrpSpPr>
        <p:grpSpPr>
          <a:xfrm>
            <a:off x="2225985" y="1756712"/>
            <a:ext cx="5132411" cy="2493859"/>
            <a:chOff x="896012" y="2273448"/>
            <a:chExt cx="8602292" cy="4179888"/>
          </a:xfrm>
        </p:grpSpPr>
        <p:sp>
          <p:nvSpPr>
            <p:cNvPr id="5" name="Text Box 4"/>
            <p:cNvSpPr txBox="1">
              <a:spLocks noChangeArrowheads="1"/>
            </p:cNvSpPr>
            <p:nvPr/>
          </p:nvSpPr>
          <p:spPr bwMode="auto">
            <a:xfrm>
              <a:off x="1193681" y="5170635"/>
              <a:ext cx="1857081"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接受连接请求</a:t>
              </a:r>
            </a:p>
            <a:p>
              <a:pPr algn="ctr" eaLnBrk="1" hangingPunct="1"/>
              <a:r>
                <a:rPr lang="zh-CN" altLang="en-US" sz="1200" b="1" dirty="0">
                  <a:latin typeface="微软雅黑 Light" panose="020B0502040204020203" pitchFamily="34" charset="-122"/>
                  <a:ea typeface="微软雅黑 Light" panose="020B0502040204020203" pitchFamily="34" charset="-122"/>
                </a:rPr>
                <a:t>的套接字</a:t>
              </a:r>
            </a:p>
          </p:txBody>
        </p:sp>
        <p:sp>
          <p:nvSpPr>
            <p:cNvPr id="6" name="Rectangle 5"/>
            <p:cNvSpPr>
              <a:spLocks noChangeArrowheads="1"/>
            </p:cNvSpPr>
            <p:nvPr/>
          </p:nvSpPr>
          <p:spPr bwMode="auto">
            <a:xfrm>
              <a:off x="1081750" y="2273448"/>
              <a:ext cx="6462977" cy="4179888"/>
            </a:xfrm>
            <a:prstGeom prst="rect">
              <a:avLst/>
            </a:prstGeom>
            <a:solidFill>
              <a:srgbClr val="00FFCC"/>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7" name="Rectangle 36"/>
            <p:cNvSpPr>
              <a:spLocks noChangeArrowheads="1"/>
            </p:cNvSpPr>
            <p:nvPr/>
          </p:nvSpPr>
          <p:spPr bwMode="auto">
            <a:xfrm>
              <a:off x="1085189" y="4940448"/>
              <a:ext cx="2013876" cy="1504950"/>
            </a:xfrm>
            <a:prstGeom prst="rect">
              <a:avLst/>
            </a:prstGeom>
            <a:solidFill>
              <a:srgbClr val="0066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8" name="Oval 6"/>
            <p:cNvSpPr>
              <a:spLocks noChangeArrowheads="1"/>
            </p:cNvSpPr>
            <p:nvPr/>
          </p:nvSpPr>
          <p:spPr bwMode="auto">
            <a:xfrm>
              <a:off x="1635523" y="2735387"/>
              <a:ext cx="923528" cy="836612"/>
            </a:xfrm>
            <a:prstGeom prst="ellipse">
              <a:avLst/>
            </a:prstGeom>
            <a:solidFill>
              <a:srgbClr val="FF66FF"/>
            </a:solidFill>
            <a:ln w="38100" cmpd="dbl">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M</a:t>
              </a:r>
            </a:p>
          </p:txBody>
        </p:sp>
        <p:sp>
          <p:nvSpPr>
            <p:cNvPr id="9" name="Oval 7"/>
            <p:cNvSpPr>
              <a:spLocks noChangeArrowheads="1"/>
            </p:cNvSpPr>
            <p:nvPr/>
          </p:nvSpPr>
          <p:spPr bwMode="auto">
            <a:xfrm>
              <a:off x="3389710"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1</a:t>
              </a:r>
            </a:p>
          </p:txBody>
        </p:sp>
        <p:sp>
          <p:nvSpPr>
            <p:cNvPr id="10" name="Rectangle 37"/>
            <p:cNvSpPr>
              <a:spLocks noChangeArrowheads="1"/>
            </p:cNvSpPr>
            <p:nvPr/>
          </p:nvSpPr>
          <p:spPr bwMode="auto">
            <a:xfrm>
              <a:off x="3086702" y="4938861"/>
              <a:ext cx="4447381" cy="150495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1" name="Rectangle 8"/>
            <p:cNvSpPr>
              <a:spLocks noChangeArrowheads="1"/>
            </p:cNvSpPr>
            <p:nvPr/>
          </p:nvSpPr>
          <p:spPr bwMode="auto">
            <a:xfrm>
              <a:off x="3480858" y="4946799"/>
              <a:ext cx="462625"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2" name="Rectangle 9"/>
            <p:cNvSpPr>
              <a:spLocks noChangeArrowheads="1"/>
            </p:cNvSpPr>
            <p:nvPr/>
          </p:nvSpPr>
          <p:spPr bwMode="auto">
            <a:xfrm>
              <a:off x="4820577" y="4946799"/>
              <a:ext cx="462623"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3" name="Rectangle 10"/>
            <p:cNvSpPr>
              <a:spLocks noChangeArrowheads="1"/>
            </p:cNvSpPr>
            <p:nvPr/>
          </p:nvSpPr>
          <p:spPr bwMode="auto">
            <a:xfrm>
              <a:off x="6160294" y="4946799"/>
              <a:ext cx="460904" cy="250825"/>
            </a:xfrm>
            <a:prstGeom prst="rect">
              <a:avLst/>
            </a:prstGeom>
            <a:solidFill>
              <a:srgbClr val="00CCFF"/>
            </a:solidFill>
            <a:ln w="9525" algn="ctr">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14" name="Text Box 11"/>
            <p:cNvSpPr txBox="1">
              <a:spLocks noChangeArrowheads="1"/>
            </p:cNvSpPr>
            <p:nvPr/>
          </p:nvSpPr>
          <p:spPr bwMode="auto">
            <a:xfrm>
              <a:off x="3169659"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5" name="Text Box 12"/>
            <p:cNvSpPr txBox="1">
              <a:spLocks noChangeArrowheads="1"/>
            </p:cNvSpPr>
            <p:nvPr/>
          </p:nvSpPr>
          <p:spPr bwMode="auto">
            <a:xfrm>
              <a:off x="4555811"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6" name="Text Box 13"/>
            <p:cNvSpPr txBox="1">
              <a:spLocks noChangeArrowheads="1"/>
            </p:cNvSpPr>
            <p:nvPr/>
          </p:nvSpPr>
          <p:spPr bwMode="auto">
            <a:xfrm>
              <a:off x="5936806" y="5170635"/>
              <a:ext cx="1083297"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连接</a:t>
              </a:r>
            </a:p>
            <a:p>
              <a:pPr algn="ctr" eaLnBrk="1" hangingPunct="1"/>
              <a:r>
                <a:rPr lang="zh-CN" altLang="en-US" sz="1200" b="1" dirty="0">
                  <a:latin typeface="微软雅黑 Light" panose="020B0502040204020203" pitchFamily="34" charset="-122"/>
                  <a:ea typeface="微软雅黑 Light" panose="020B0502040204020203" pitchFamily="34" charset="-122"/>
                </a:rPr>
                <a:t>套接字</a:t>
              </a:r>
            </a:p>
          </p:txBody>
        </p:sp>
        <p:sp>
          <p:nvSpPr>
            <p:cNvPr id="17" name="Line 14"/>
            <p:cNvSpPr>
              <a:spLocks noChangeShapeType="1"/>
            </p:cNvSpPr>
            <p:nvPr/>
          </p:nvSpPr>
          <p:spPr bwMode="auto">
            <a:xfrm>
              <a:off x="1081750" y="4946798"/>
              <a:ext cx="6462977" cy="0"/>
            </a:xfrm>
            <a:prstGeom prst="line">
              <a:avLst/>
            </a:prstGeom>
            <a:noFill/>
            <a:ln w="9525">
              <a:solidFill>
                <a:schemeClr val="folHlink"/>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8" name="Line 15"/>
            <p:cNvSpPr>
              <a:spLocks noChangeShapeType="1"/>
            </p:cNvSpPr>
            <p:nvPr/>
          </p:nvSpPr>
          <p:spPr bwMode="auto">
            <a:xfrm>
              <a:off x="3713031"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19" name="Line 16"/>
            <p:cNvSpPr>
              <a:spLocks noChangeShapeType="1"/>
            </p:cNvSpPr>
            <p:nvPr/>
          </p:nvSpPr>
          <p:spPr bwMode="auto">
            <a:xfrm>
              <a:off x="5052748"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0" name="Line 17"/>
            <p:cNvSpPr>
              <a:spLocks noChangeShapeType="1"/>
            </p:cNvSpPr>
            <p:nvPr/>
          </p:nvSpPr>
          <p:spPr bwMode="auto">
            <a:xfrm>
              <a:off x="6392466" y="4278460"/>
              <a:ext cx="0" cy="668338"/>
            </a:xfrm>
            <a:prstGeom prst="line">
              <a:avLst/>
            </a:prstGeom>
            <a:noFill/>
            <a:ln w="9525">
              <a:solidFill>
                <a:schemeClr val="folHlink"/>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1" name="Rectangle 18"/>
            <p:cNvSpPr>
              <a:spLocks noChangeArrowheads="1"/>
            </p:cNvSpPr>
            <p:nvPr/>
          </p:nvSpPr>
          <p:spPr bwMode="auto">
            <a:xfrm>
              <a:off x="1864254" y="4946799"/>
              <a:ext cx="462625" cy="250825"/>
            </a:xfrm>
            <a:prstGeom prst="rect">
              <a:avLst/>
            </a:prstGeom>
            <a:solidFill>
              <a:srgbClr val="00CCFF"/>
            </a:solidFill>
            <a:ln w="9525">
              <a:solidFill>
                <a:schemeClr val="folHlink"/>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1" hangingPunct="1"/>
              <a:endParaRPr lang="zh-CN" altLang="en-US" sz="1200" b="1" dirty="0">
                <a:latin typeface="微软雅黑 Light" panose="020B0502040204020203" pitchFamily="34" charset="-122"/>
                <a:ea typeface="微软雅黑 Light" panose="020B0502040204020203" pitchFamily="34" charset="-122"/>
              </a:endParaRPr>
            </a:p>
          </p:txBody>
        </p:sp>
        <p:sp>
          <p:nvSpPr>
            <p:cNvPr id="22" name="Line 19"/>
            <p:cNvSpPr>
              <a:spLocks noChangeShapeType="1"/>
            </p:cNvSpPr>
            <p:nvPr/>
          </p:nvSpPr>
          <p:spPr bwMode="auto">
            <a:xfrm flipV="1">
              <a:off x="2096427" y="3571998"/>
              <a:ext cx="0" cy="1374800"/>
            </a:xfrm>
            <a:prstGeom prst="line">
              <a:avLst/>
            </a:prstGeom>
            <a:noFill/>
            <a:ln w="9525">
              <a:solidFill>
                <a:schemeClr val="folHlink"/>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3" name="Oval 20"/>
            <p:cNvSpPr>
              <a:spLocks noChangeArrowheads="1"/>
            </p:cNvSpPr>
            <p:nvPr/>
          </p:nvSpPr>
          <p:spPr bwMode="auto">
            <a:xfrm>
              <a:off x="4719108" y="3694260"/>
              <a:ext cx="646642" cy="585788"/>
            </a:xfrm>
            <a:prstGeom prst="ellipse">
              <a:avLst/>
            </a:prstGeom>
            <a:solidFill>
              <a:srgbClr val="66FF66"/>
            </a:solidFill>
            <a:ln w="12700" algn="ctr">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2</a:t>
              </a:r>
            </a:p>
          </p:txBody>
        </p:sp>
        <p:sp>
          <p:nvSpPr>
            <p:cNvPr id="24" name="Oval 21"/>
            <p:cNvSpPr>
              <a:spLocks noChangeArrowheads="1"/>
            </p:cNvSpPr>
            <p:nvPr/>
          </p:nvSpPr>
          <p:spPr bwMode="auto">
            <a:xfrm>
              <a:off x="6048508" y="3694260"/>
              <a:ext cx="646642" cy="585788"/>
            </a:xfrm>
            <a:prstGeom prst="ellipse">
              <a:avLst/>
            </a:prstGeom>
            <a:solidFill>
              <a:srgbClr val="66FF66"/>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eaLnBrk="1" hangingPunct="1"/>
              <a:r>
                <a:rPr lang="en-US" altLang="zh-CN" sz="1200" b="1" dirty="0">
                  <a:latin typeface="微软雅黑 Light" panose="020B0502040204020203" pitchFamily="34" charset="-122"/>
                  <a:ea typeface="微软雅黑 Light" panose="020B0502040204020203" pitchFamily="34" charset="-122"/>
                </a:rPr>
                <a:t>S</a:t>
              </a:r>
              <a:r>
                <a:rPr lang="en-US" altLang="zh-CN" sz="1200" b="1" baseline="-25000" dirty="0">
                  <a:latin typeface="微软雅黑 Light" panose="020B0502040204020203" pitchFamily="34" charset="-122"/>
                  <a:ea typeface="微软雅黑 Light" panose="020B0502040204020203" pitchFamily="34" charset="-122"/>
                </a:rPr>
                <a:t>3</a:t>
              </a:r>
            </a:p>
          </p:txBody>
        </p:sp>
        <p:sp>
          <p:nvSpPr>
            <p:cNvPr id="25" name="Line 22"/>
            <p:cNvSpPr>
              <a:spLocks noChangeShapeType="1"/>
            </p:cNvSpPr>
            <p:nvPr/>
          </p:nvSpPr>
          <p:spPr bwMode="auto">
            <a:xfrm>
              <a:off x="2467902" y="3442750"/>
              <a:ext cx="1012957" cy="334061"/>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6" name="Line 23"/>
            <p:cNvSpPr>
              <a:spLocks noChangeShapeType="1"/>
            </p:cNvSpPr>
            <p:nvPr/>
          </p:nvSpPr>
          <p:spPr bwMode="auto">
            <a:xfrm>
              <a:off x="2528094" y="3325959"/>
              <a:ext cx="2240889" cy="492125"/>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7" name="Line 24"/>
            <p:cNvSpPr>
              <a:spLocks noChangeShapeType="1"/>
            </p:cNvSpPr>
            <p:nvPr/>
          </p:nvSpPr>
          <p:spPr bwMode="auto">
            <a:xfrm>
              <a:off x="2559050" y="3153693"/>
              <a:ext cx="3508375" cy="708842"/>
            </a:xfrm>
            <a:prstGeom prst="line">
              <a:avLst/>
            </a:prstGeom>
            <a:noFill/>
            <a:ln w="9525">
              <a:solidFill>
                <a:schemeClr val="folHlink"/>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28" name="Text Box 25"/>
            <p:cNvSpPr txBox="1">
              <a:spLocks noChangeArrowheads="1"/>
            </p:cNvSpPr>
            <p:nvPr/>
          </p:nvSpPr>
          <p:spPr bwMode="auto">
            <a:xfrm>
              <a:off x="8157079" y="5450036"/>
              <a:ext cx="1341225" cy="4642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操作系统</a:t>
              </a:r>
            </a:p>
          </p:txBody>
        </p:sp>
        <p:sp>
          <p:nvSpPr>
            <p:cNvPr id="29" name="Line 26"/>
            <p:cNvSpPr>
              <a:spLocks noChangeShapeType="1"/>
            </p:cNvSpPr>
            <p:nvPr/>
          </p:nvSpPr>
          <p:spPr bwMode="auto">
            <a:xfrm flipH="1">
              <a:off x="7637596" y="5699273"/>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0" name="Line 27"/>
            <p:cNvSpPr>
              <a:spLocks noChangeShapeType="1"/>
            </p:cNvSpPr>
            <p:nvPr/>
          </p:nvSpPr>
          <p:spPr bwMode="auto">
            <a:xfrm flipH="1">
              <a:off x="7637596" y="3443435"/>
              <a:ext cx="553773" cy="0"/>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1" name="Text Box 28"/>
            <p:cNvSpPr txBox="1">
              <a:spLocks noChangeArrowheads="1"/>
            </p:cNvSpPr>
            <p:nvPr/>
          </p:nvSpPr>
          <p:spPr bwMode="auto">
            <a:xfrm>
              <a:off x="8112365" y="3119585"/>
              <a:ext cx="1341225" cy="77378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200" b="1" dirty="0">
                  <a:latin typeface="微软雅黑 Light" panose="020B0502040204020203" pitchFamily="34" charset="-122"/>
                  <a:ea typeface="微软雅黑 Light" panose="020B0502040204020203" pitchFamily="34" charset="-122"/>
                </a:rPr>
                <a:t>服务器</a:t>
              </a:r>
            </a:p>
            <a:p>
              <a:pPr algn="ctr" eaLnBrk="1" hangingPunct="1"/>
              <a:r>
                <a:rPr lang="zh-CN" altLang="en-US" sz="1200" b="1" dirty="0">
                  <a:latin typeface="微软雅黑 Light" panose="020B0502040204020203" pitchFamily="34" charset="-122"/>
                  <a:ea typeface="微软雅黑 Light" panose="020B0502040204020203" pitchFamily="34" charset="-122"/>
                </a:rPr>
                <a:t>应用进程</a:t>
              </a:r>
            </a:p>
          </p:txBody>
        </p:sp>
        <p:sp>
          <p:nvSpPr>
            <p:cNvPr id="32" name="Text Box 29"/>
            <p:cNvSpPr txBox="1">
              <a:spLocks noChangeArrowheads="1"/>
            </p:cNvSpPr>
            <p:nvPr/>
          </p:nvSpPr>
          <p:spPr bwMode="auto">
            <a:xfrm>
              <a:off x="4607993" y="3142838"/>
              <a:ext cx="2115009"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从属服务器进程</a:t>
              </a:r>
            </a:p>
          </p:txBody>
        </p:sp>
        <p:sp>
          <p:nvSpPr>
            <p:cNvPr id="33" name="Text Box 30"/>
            <p:cNvSpPr txBox="1">
              <a:spLocks noChangeArrowheads="1"/>
            </p:cNvSpPr>
            <p:nvPr/>
          </p:nvSpPr>
          <p:spPr bwMode="auto">
            <a:xfrm>
              <a:off x="1172500" y="2289448"/>
              <a:ext cx="1857081" cy="4797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latin typeface="微软雅黑 Light" panose="020B0502040204020203" pitchFamily="34" charset="-122"/>
                  <a:ea typeface="微软雅黑 Light" panose="020B0502040204020203" pitchFamily="34" charset="-122"/>
                </a:rPr>
                <a:t>主服务器进程</a:t>
              </a:r>
            </a:p>
          </p:txBody>
        </p:sp>
        <p:sp>
          <p:nvSpPr>
            <p:cNvPr id="34" name="Text Box 31"/>
            <p:cNvSpPr txBox="1">
              <a:spLocks noChangeArrowheads="1"/>
            </p:cNvSpPr>
            <p:nvPr/>
          </p:nvSpPr>
          <p:spPr bwMode="auto">
            <a:xfrm>
              <a:off x="896012" y="5853260"/>
              <a:ext cx="2372936" cy="459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lnSpc>
                  <a:spcPct val="105000"/>
                </a:lnSpc>
              </a:pPr>
              <a:r>
                <a:rPr lang="zh-CN" altLang="en-US" sz="1200" b="1" dirty="0">
                  <a:solidFill>
                    <a:schemeClr val="bg1"/>
                  </a:solidFill>
                  <a:latin typeface="微软雅黑 Light" panose="020B0502040204020203" pitchFamily="34" charset="-122"/>
                  <a:ea typeface="微软雅黑 Light" panose="020B0502040204020203" pitchFamily="34" charset="-122"/>
                </a:rPr>
                <a:t>（原来的套接字）</a:t>
              </a:r>
            </a:p>
          </p:txBody>
        </p:sp>
        <p:sp>
          <p:nvSpPr>
            <p:cNvPr id="35" name="Line 32"/>
            <p:cNvSpPr>
              <a:spLocks noChangeShapeType="1"/>
            </p:cNvSpPr>
            <p:nvPr/>
          </p:nvSpPr>
          <p:spPr bwMode="auto">
            <a:xfrm>
              <a:off x="3389709" y="6145953"/>
              <a:ext cx="3324357"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sp>
          <p:nvSpPr>
            <p:cNvPr id="36" name="Text Box 33"/>
            <p:cNvSpPr txBox="1">
              <a:spLocks noChangeArrowheads="1"/>
            </p:cNvSpPr>
            <p:nvPr/>
          </p:nvSpPr>
          <p:spPr bwMode="auto">
            <a:xfrm>
              <a:off x="3943484" y="5895943"/>
              <a:ext cx="2313828" cy="479746"/>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fontAlgn="ctr" hangingPunct="1">
                <a:lnSpc>
                  <a:spcPct val="105000"/>
                </a:lnSpc>
              </a:pPr>
              <a:r>
                <a:rPr lang="en-US" altLang="zh-CN" sz="1200" b="1" dirty="0">
                  <a:solidFill>
                    <a:srgbClr val="0000CC"/>
                  </a:solidFill>
                  <a:latin typeface="微软雅黑 Light" panose="020B0502040204020203" pitchFamily="34" charset="-122"/>
                  <a:ea typeface="微软雅黑 Light" panose="020B0502040204020203" pitchFamily="34" charset="-122"/>
                </a:rPr>
                <a:t>(</a:t>
              </a:r>
              <a:r>
                <a:rPr lang="zh-CN" altLang="en-US" sz="1200" b="1" dirty="0">
                  <a:solidFill>
                    <a:srgbClr val="0000CC"/>
                  </a:solidFill>
                  <a:latin typeface="微软雅黑 Light" panose="020B0502040204020203" pitchFamily="34" charset="-122"/>
                  <a:ea typeface="微软雅黑 Light" panose="020B0502040204020203" pitchFamily="34" charset="-122"/>
                </a:rPr>
                <a:t>新创建的套接字</a:t>
              </a:r>
              <a:r>
                <a:rPr lang="en-US" altLang="zh-CN" sz="1200" b="1" dirty="0">
                  <a:solidFill>
                    <a:srgbClr val="0000CC"/>
                  </a:solidFill>
                  <a:latin typeface="微软雅黑 Light" panose="020B0502040204020203" pitchFamily="34" charset="-122"/>
                  <a:ea typeface="微软雅黑 Light" panose="020B0502040204020203" pitchFamily="34" charset="-122"/>
                </a:rPr>
                <a:t>)</a:t>
              </a:r>
            </a:p>
          </p:txBody>
        </p:sp>
        <p:sp>
          <p:nvSpPr>
            <p:cNvPr id="37" name="Line 34"/>
            <p:cNvSpPr>
              <a:spLocks noChangeShapeType="1"/>
            </p:cNvSpPr>
            <p:nvPr/>
          </p:nvSpPr>
          <p:spPr bwMode="auto">
            <a:xfrm>
              <a:off x="3097498" y="4946798"/>
              <a:ext cx="0" cy="150653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dirty="0">
                <a:latin typeface="微软雅黑 Light" panose="020B0502040204020203" pitchFamily="34" charset="-122"/>
                <a:ea typeface="微软雅黑 Light" panose="020B0502040204020203" pitchFamily="34" charset="-122"/>
              </a:endParaRPr>
            </a:p>
          </p:txBody>
        </p:sp>
      </p:grpSp>
      <p:sp>
        <p:nvSpPr>
          <p:cNvPr id="39" name="矩形 38"/>
          <p:cNvSpPr/>
          <p:nvPr/>
        </p:nvSpPr>
        <p:spPr>
          <a:xfrm>
            <a:off x="1273621" y="1136438"/>
            <a:ext cx="6805059" cy="584775"/>
          </a:xfrm>
          <a:prstGeom prst="rect">
            <a:avLst/>
          </a:prstGeom>
          <a:solidFill>
            <a:srgbClr val="FFFF99"/>
          </a:solidFill>
          <a:ln>
            <a:solidFill>
              <a:schemeClr val="tx1"/>
            </a:solidFill>
          </a:ln>
        </p:spPr>
        <p:txBody>
          <a:bodyPr wrap="square">
            <a:spAutoFit/>
          </a:bodyPr>
          <a:lstStyle/>
          <a:p>
            <a:r>
              <a:rPr kumimoji="1" lang="zh-CN" altLang="en-US" sz="1600" b="1" dirty="0">
                <a:latin typeface="微软雅黑 Light" panose="020B0502040204020203" pitchFamily="34" charset="-122"/>
                <a:ea typeface="微软雅黑 Light" panose="020B0502040204020203" pitchFamily="34" charset="-122"/>
              </a:rPr>
              <a:t>调用 </a:t>
            </a:r>
            <a:r>
              <a:rPr kumimoji="1" lang="en-US" altLang="zh-CN" sz="1600" b="1" dirty="0">
                <a:latin typeface="微软雅黑 Light" panose="020B0502040204020203" pitchFamily="34" charset="-122"/>
                <a:ea typeface="微软雅黑 Light" panose="020B0502040204020203" pitchFamily="34" charset="-122"/>
              </a:rPr>
              <a:t>accept </a:t>
            </a:r>
            <a:r>
              <a:rPr kumimoji="1" lang="zh-CN" altLang="en-US" sz="1600" b="1" dirty="0">
                <a:latin typeface="微软雅黑 Light" panose="020B0502040204020203" pitchFamily="34" charset="-122"/>
                <a:ea typeface="微软雅黑 Light" panose="020B0502040204020203" pitchFamily="34" charset="-122"/>
              </a:rPr>
              <a:t>要完成的动作较多。这是因为一个服务器必须能够</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同时</a:t>
            </a:r>
            <a:r>
              <a:rPr kumimoji="1" lang="zh-CN" altLang="en-US" sz="1600" b="1" dirty="0">
                <a:latin typeface="微软雅黑 Light" panose="020B0502040204020203" pitchFamily="34" charset="-122"/>
                <a:ea typeface="微软雅黑 Light" panose="020B0502040204020203" pitchFamily="34" charset="-122"/>
              </a:rPr>
              <a:t>处理多个连接。这样的服务器常称为</a:t>
            </a:r>
            <a:r>
              <a:rPr kumimoji="1" lang="zh-CN" altLang="en-US" sz="1600" b="1" dirty="0">
                <a:solidFill>
                  <a:srgbClr val="C00000"/>
                </a:solidFill>
                <a:latin typeface="微软雅黑 Light" panose="020B0502040204020203" pitchFamily="34" charset="-122"/>
                <a:ea typeface="微软雅黑 Light" panose="020B0502040204020203" pitchFamily="34" charset="-122"/>
              </a:rPr>
              <a:t>并发方式 </a:t>
            </a:r>
            <a:r>
              <a:rPr kumimoji="1" lang="en-US" altLang="zh-CN" sz="1600" b="1" dirty="0">
                <a:latin typeface="微软雅黑 Light" panose="020B0502040204020203" pitchFamily="34" charset="-122"/>
                <a:ea typeface="微软雅黑 Light" panose="020B0502040204020203" pitchFamily="34" charset="-122"/>
              </a:rPr>
              <a:t>(concurrent) </a:t>
            </a:r>
            <a:r>
              <a:rPr kumimoji="1" lang="zh-CN" altLang="en-US" sz="1600" b="1" dirty="0">
                <a:latin typeface="微软雅黑 Light" panose="020B0502040204020203" pitchFamily="34" charset="-122"/>
                <a:ea typeface="微软雅黑 Light" panose="020B0502040204020203" pitchFamily="34" charset="-122"/>
              </a:rPr>
              <a:t>工作的服务器。</a:t>
            </a:r>
          </a:p>
        </p:txBody>
      </p:sp>
    </p:spTree>
    <p:extLst>
      <p:ext uri="{BB962C8B-B14F-4D97-AF65-F5344CB8AC3E}">
        <p14:creationId xmlns:p14="http://schemas.microsoft.com/office/powerpoint/2010/main" val="38469464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1. </a:t>
            </a:r>
            <a:r>
              <a:rPr lang="zh-CN" altLang="en-US" sz="2000" b="1" dirty="0">
                <a:solidFill>
                  <a:schemeClr val="bg1"/>
                </a:solidFill>
                <a:latin typeface="微软雅黑 Light" panose="020B0502040204020203" pitchFamily="34" charset="-122"/>
                <a:ea typeface="微软雅黑 Light" panose="020B0502040204020203" pitchFamily="34" charset="-122"/>
              </a:rPr>
              <a:t>连接建立阶段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7"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5"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679394" cy="1327664"/>
            <a:chOff x="2614866" y="1425503"/>
            <a:chExt cx="2679394" cy="1327664"/>
          </a:xfrm>
        </p:grpSpPr>
        <p:cxnSp>
          <p:nvCxnSpPr>
            <p:cNvPr id="47" name="直接箭头连接符 46"/>
            <p:cNvCxnSpPr/>
            <p:nvPr/>
          </p:nvCxnSpPr>
          <p:spPr>
            <a:xfrm flipH="1">
              <a:off x="3227534" y="2248102"/>
              <a:ext cx="265478" cy="5050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4"/>
            </a:lnRef>
            <a:fillRef idx="2">
              <a:schemeClr val="accent4"/>
            </a:fillRef>
            <a:effectRef idx="1">
              <a:schemeClr val="accent4"/>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客户进程</a:t>
              </a:r>
              <a:r>
                <a:rPr lang="zh-CN" altLang="en-US" sz="1600" b="1" dirty="0">
                  <a:latin typeface="微软雅黑 Light" panose="020B0502040204020203" pitchFamily="34" charset="-122"/>
                  <a:ea typeface="微软雅黑 Light" panose="020B0502040204020203" pitchFamily="34" charset="-122"/>
                </a:rPr>
                <a:t>调用 </a:t>
              </a:r>
              <a:r>
                <a:rPr lang="en-US" altLang="zh-CN" sz="1600" b="1" dirty="0">
                  <a:latin typeface="微软雅黑 Light" panose="020B0502040204020203" pitchFamily="34" charset="-122"/>
                  <a:ea typeface="微软雅黑 Light" panose="020B0502040204020203" pitchFamily="34" charset="-122"/>
                </a:rPr>
                <a:t>connect</a:t>
              </a:r>
              <a:r>
                <a:rPr lang="zh-CN" altLang="en-US" sz="1600" b="1" dirty="0">
                  <a:latin typeface="微软雅黑 Light" panose="020B0502040204020203" pitchFamily="34" charset="-122"/>
                  <a:ea typeface="微软雅黑 Light" panose="020B0502040204020203" pitchFamily="34" charset="-122"/>
                </a:rPr>
                <a:t>，以便和远地服务器建立连接（这就是主动打开）。</a:t>
              </a:r>
            </a:p>
          </p:txBody>
        </p:sp>
      </p:grpSp>
    </p:spTree>
    <p:extLst>
      <p:ext uri="{BB962C8B-B14F-4D97-AF65-F5344CB8AC3E}">
        <p14:creationId xmlns:p14="http://schemas.microsoft.com/office/powerpoint/2010/main" val="1904855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2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p:bldLst>
  </p:timing>
</p:sld>
</file>

<file path=ppt/slides/slide2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821372" y="575768"/>
            <a:ext cx="15199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2. </a:t>
            </a:r>
            <a:r>
              <a:rPr lang="zh-CN" altLang="en-US" sz="2000" b="1" dirty="0">
                <a:solidFill>
                  <a:schemeClr val="bg1"/>
                </a:solidFill>
                <a:latin typeface="微软雅黑 Light" panose="020B0502040204020203" pitchFamily="34" charset="-122"/>
                <a:ea typeface="微软雅黑 Light" panose="020B0502040204020203" pitchFamily="34" charset="-122"/>
              </a:rPr>
              <a:t>传送阶段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6"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solidFill>
                  <a:srgbClr val="0000FF"/>
                </a:solidFill>
                <a:latin typeface="微软雅黑 Light" panose="020B0502040204020203" pitchFamily="34" charset="-122"/>
                <a:ea typeface="微软雅黑 Light" panose="020B0502040204020203" pitchFamily="34" charset="-122"/>
              </a:rPr>
              <a:t>recv</a:t>
            </a:r>
            <a:endParaRPr lang="en-US" altLang="zh-CN" sz="1400" b="1" dirty="0">
              <a:solidFill>
                <a:srgbClr val="0000FF"/>
              </a:solidFill>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1"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614866" y="1365082"/>
            <a:ext cx="2927724" cy="1812832"/>
            <a:chOff x="2614866" y="1425503"/>
            <a:chExt cx="2927724" cy="1812832"/>
          </a:xfrm>
        </p:grpSpPr>
        <p:cxnSp>
          <p:nvCxnSpPr>
            <p:cNvPr id="47" name="直接箭头连接符 46"/>
            <p:cNvCxnSpPr/>
            <p:nvPr/>
          </p:nvCxnSpPr>
          <p:spPr>
            <a:xfrm flipH="1">
              <a:off x="3108983" y="2243423"/>
              <a:ext cx="691938" cy="9475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778029" y="2243423"/>
              <a:ext cx="764561" cy="994912"/>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614866" y="1425503"/>
              <a:ext cx="2679394" cy="830997"/>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和</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在 </a:t>
              </a:r>
              <a:r>
                <a:rPr lang="en-US" altLang="zh-CN" sz="1600" b="1" dirty="0">
                  <a:latin typeface="微软雅黑 Light" panose="020B0502040204020203" pitchFamily="34" charset="-122"/>
                  <a:ea typeface="微软雅黑 Light" panose="020B0502040204020203" pitchFamily="34" charset="-122"/>
                </a:rPr>
                <a:t>TCP </a:t>
              </a:r>
              <a:r>
                <a:rPr lang="zh-CN" altLang="en-US" sz="1600" b="1" dirty="0">
                  <a:latin typeface="微软雅黑 Light" panose="020B0502040204020203" pitchFamily="34" charset="-122"/>
                  <a:ea typeface="微软雅黑 Light" panose="020B0502040204020203" pitchFamily="34" charset="-122"/>
                </a:rPr>
                <a:t>连接上使用 </a:t>
              </a:r>
              <a:r>
                <a:rPr lang="en-US" altLang="zh-CN" sz="1600" b="1" dirty="0">
                  <a:latin typeface="微软雅黑 Light" panose="020B0502040204020203" pitchFamily="34" charset="-122"/>
                  <a:ea typeface="微软雅黑 Light" panose="020B0502040204020203" pitchFamily="34" charset="-122"/>
                </a:rPr>
                <a:t>send </a:t>
              </a:r>
              <a:r>
                <a:rPr lang="zh-CN" altLang="en-US" sz="1600" b="1" dirty="0">
                  <a:latin typeface="微软雅黑 Light" panose="020B0502040204020203" pitchFamily="34" charset="-122"/>
                  <a:ea typeface="微软雅黑 Light" panose="020B0502040204020203" pitchFamily="34" charset="-122"/>
                </a:rPr>
                <a:t>传送数据，使用 </a:t>
              </a:r>
              <a:r>
                <a:rPr lang="en-US" altLang="zh-CN" sz="1600" b="1" dirty="0" err="1">
                  <a:latin typeface="微软雅黑 Light" panose="020B0502040204020203" pitchFamily="34" charset="-122"/>
                  <a:ea typeface="微软雅黑 Light" panose="020B0502040204020203" pitchFamily="34" charset="-122"/>
                </a:rPr>
                <a:t>recv</a:t>
              </a:r>
              <a:r>
                <a:rPr lang="en-US" altLang="zh-CN" sz="1600" b="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接收数据。</a:t>
              </a:r>
            </a:p>
          </p:txBody>
        </p:sp>
      </p:grpSp>
    </p:spTree>
    <p:extLst>
      <p:ext uri="{BB962C8B-B14F-4D97-AF65-F5344CB8AC3E}">
        <p14:creationId xmlns:p14="http://schemas.microsoft.com/office/powerpoint/2010/main" val="31732763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21"/>
                                        </p:tgtEl>
                                        <p:attrNameLst>
                                          <p:attrName>style.visibility</p:attrName>
                                        </p:attrNameLst>
                                      </p:cBhvr>
                                      <p:tavLst>
                                        <p:tav tm="0">
                                          <p:val>
                                            <p:strVal val="hidden"/>
                                          </p:val>
                                        </p:tav>
                                        <p:tav tm="50000">
                                          <p:val>
                                            <p:strVal val="visible"/>
                                          </p:val>
                                        </p:tav>
                                      </p:tavLst>
                                    </p:anim>
                                  </p:childTnLst>
                                </p:cTn>
                              </p:par>
                              <p:par>
                                <p:cTn id="9" presetID="35" presetClass="emph" presetSubtype="0" repeatCount="3000" fill="hold" grpId="0" nodeType="withEffect">
                                  <p:stCondLst>
                                    <p:cond delay="0"/>
                                  </p:stCondLst>
                                  <p:childTnLst>
                                    <p:anim calcmode="discrete" valueType="str">
                                      <p:cBhvr>
                                        <p:cTn id="10" dur="1000" fill="hold"/>
                                        <p:tgtEl>
                                          <p:spTgt spid="10"/>
                                        </p:tgtEl>
                                        <p:attrNameLst>
                                          <p:attrName>style.visibility</p:attrName>
                                        </p:attrNameLst>
                                      </p:cBhvr>
                                      <p:tavLst>
                                        <p:tav tm="0">
                                          <p:val>
                                            <p:strVal val="hidden"/>
                                          </p:val>
                                        </p:tav>
                                        <p:tav tm="50000">
                                          <p:val>
                                            <p:strVal val="visible"/>
                                          </p:val>
                                        </p:tav>
                                      </p:tavLst>
                                    </p:anim>
                                  </p:childTnLst>
                                </p:cTn>
                              </p:par>
                              <p:par>
                                <p:cTn id="11" presetID="35" presetClass="emph" presetSubtype="0" repeatCount="3000" fill="hold" grpId="0" nodeType="withEffect">
                                  <p:stCondLst>
                                    <p:cond delay="0"/>
                                  </p:stCondLst>
                                  <p:childTnLst>
                                    <p:anim calcmode="discrete" valueType="str">
                                      <p:cBhvr>
                                        <p:cTn id="12"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21" grpId="0"/>
      <p:bldP spid="22" grpId="0"/>
    </p:bldLst>
  </p:timing>
</p:sld>
</file>

<file path=ppt/slides/slide2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Box 4"/>
          <p:cNvSpPr txBox="1">
            <a:spLocks noChangeArrowheads="1"/>
          </p:cNvSpPr>
          <p:nvPr/>
        </p:nvSpPr>
        <p:spPr bwMode="auto">
          <a:xfrm>
            <a:off x="5193856" y="1019340"/>
            <a:ext cx="1005403"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服务器端</a:t>
            </a:r>
          </a:p>
        </p:txBody>
      </p:sp>
      <p:sp>
        <p:nvSpPr>
          <p:cNvPr id="19" name="Text Box 18"/>
          <p:cNvSpPr txBox="1">
            <a:spLocks noChangeArrowheads="1"/>
          </p:cNvSpPr>
          <p:nvPr/>
        </p:nvSpPr>
        <p:spPr bwMode="auto">
          <a:xfrm>
            <a:off x="2492362" y="1019340"/>
            <a:ext cx="800219"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600" b="1" dirty="0">
                <a:solidFill>
                  <a:srgbClr val="0000FF"/>
                </a:solidFill>
                <a:latin typeface="微软雅黑 Light" panose="020B0502040204020203" pitchFamily="34" charset="-122"/>
                <a:ea typeface="微软雅黑 Light" panose="020B0502040204020203" pitchFamily="34" charset="-122"/>
              </a:rPr>
              <a:t>客户端</a:t>
            </a:r>
          </a:p>
        </p:txBody>
      </p:sp>
      <p:sp>
        <p:nvSpPr>
          <p:cNvPr id="38" name="AutoShape 5"/>
          <p:cNvSpPr>
            <a:spLocks noChangeArrowheads="1"/>
          </p:cNvSpPr>
          <p:nvPr/>
        </p:nvSpPr>
        <p:spPr bwMode="auto">
          <a:xfrm>
            <a:off x="556963" y="608979"/>
            <a:ext cx="8048776" cy="353930"/>
          </a:xfrm>
          <a:prstGeom prst="roundRect">
            <a:avLst>
              <a:gd name="adj" fmla="val 16667"/>
            </a:avLst>
          </a:prstGeom>
          <a:solidFill>
            <a:srgbClr val="00B050"/>
          </a:solidFill>
          <a:ln>
            <a:noFill/>
          </a:ln>
          <a:effectLst/>
        </p:spPr>
        <p:txBody>
          <a:bodyPr wrap="none" anchor="ctr"/>
          <a:lstStyle/>
          <a:p>
            <a:endParaRPr lang="zh-CN" altLang="en-US" dirty="0">
              <a:latin typeface="Montserrat" panose="00000500000000000000" pitchFamily="2" charset="0"/>
              <a:ea typeface="微软雅黑 Light" panose="020B0502040204020203" pitchFamily="34" charset="-122"/>
            </a:endParaRPr>
          </a:p>
        </p:txBody>
      </p:sp>
      <p:sp>
        <p:nvSpPr>
          <p:cNvPr id="39" name="Rectangle 6"/>
          <p:cNvSpPr>
            <a:spLocks noChangeArrowheads="1"/>
          </p:cNvSpPr>
          <p:nvPr/>
        </p:nvSpPr>
        <p:spPr bwMode="auto">
          <a:xfrm>
            <a:off x="3564892" y="575768"/>
            <a:ext cx="203292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eaLnBrk="0" hangingPunct="0"/>
            <a:r>
              <a:rPr lang="en-US" altLang="zh-CN" sz="2000" b="1" dirty="0">
                <a:solidFill>
                  <a:schemeClr val="bg1"/>
                </a:solidFill>
                <a:latin typeface="微软雅黑 Light" panose="020B0502040204020203" pitchFamily="34" charset="-122"/>
                <a:ea typeface="微软雅黑 Light" panose="020B0502040204020203" pitchFamily="34" charset="-122"/>
              </a:rPr>
              <a:t>3. </a:t>
            </a:r>
            <a:r>
              <a:rPr lang="zh-CN" altLang="en-US" sz="2000" b="1" dirty="0">
                <a:solidFill>
                  <a:schemeClr val="bg1"/>
                </a:solidFill>
                <a:latin typeface="微软雅黑 Light" panose="020B0502040204020203" pitchFamily="34" charset="-122"/>
                <a:ea typeface="微软雅黑 Light" panose="020B0502040204020203" pitchFamily="34" charset="-122"/>
              </a:rPr>
              <a:t>连接释放阶段</a:t>
            </a:r>
          </a:p>
        </p:txBody>
      </p:sp>
      <p:sp>
        <p:nvSpPr>
          <p:cNvPr id="36" name="矩形 35"/>
          <p:cNvSpPr/>
          <p:nvPr/>
        </p:nvSpPr>
        <p:spPr>
          <a:xfrm>
            <a:off x="1481959" y="1306976"/>
            <a:ext cx="6358758" cy="1613262"/>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0" name="矩形 39"/>
          <p:cNvSpPr/>
          <p:nvPr/>
        </p:nvSpPr>
        <p:spPr>
          <a:xfrm>
            <a:off x="1481959" y="2922086"/>
            <a:ext cx="6358758" cy="964357"/>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41" name="矩形 40"/>
          <p:cNvSpPr/>
          <p:nvPr/>
        </p:nvSpPr>
        <p:spPr>
          <a:xfrm>
            <a:off x="1481959" y="3886444"/>
            <a:ext cx="6358758" cy="447650"/>
          </a:xfrm>
          <a:prstGeom prst="rect">
            <a:avLst/>
          </a:prstGeom>
          <a:noFill/>
          <a:ln w="12700">
            <a:solidFill>
              <a:srgbClr val="0000FF"/>
            </a:solidFill>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latin typeface="Montserrat" panose="00000500000000000000" pitchFamily="2" charset="0"/>
              <a:ea typeface="微软雅黑 Light" panose="020B0502040204020203" pitchFamily="34" charset="-122"/>
            </a:endParaRPr>
          </a:p>
        </p:txBody>
      </p:sp>
      <p:sp>
        <p:nvSpPr>
          <p:cNvPr id="6" name="Text Box 5"/>
          <p:cNvSpPr txBox="1">
            <a:spLocks noChangeArrowheads="1"/>
          </p:cNvSpPr>
          <p:nvPr/>
        </p:nvSpPr>
        <p:spPr bwMode="auto">
          <a:xfrm>
            <a:off x="5383990" y="127059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7" name="Text Box 6"/>
          <p:cNvSpPr txBox="1">
            <a:spLocks noChangeArrowheads="1"/>
          </p:cNvSpPr>
          <p:nvPr/>
        </p:nvSpPr>
        <p:spPr bwMode="auto">
          <a:xfrm>
            <a:off x="5455683" y="1703694"/>
            <a:ext cx="54694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bind</a:t>
            </a:r>
          </a:p>
        </p:txBody>
      </p:sp>
      <p:sp>
        <p:nvSpPr>
          <p:cNvPr id="8" name="Text Box 7"/>
          <p:cNvSpPr txBox="1">
            <a:spLocks noChangeArrowheads="1"/>
          </p:cNvSpPr>
          <p:nvPr/>
        </p:nvSpPr>
        <p:spPr bwMode="auto">
          <a:xfrm>
            <a:off x="5425585" y="2172307"/>
            <a:ext cx="59984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listen</a:t>
            </a:r>
          </a:p>
        </p:txBody>
      </p:sp>
      <p:sp>
        <p:nvSpPr>
          <p:cNvPr id="9" name="Text Box 8"/>
          <p:cNvSpPr txBox="1">
            <a:spLocks noChangeArrowheads="1"/>
          </p:cNvSpPr>
          <p:nvPr/>
        </p:nvSpPr>
        <p:spPr bwMode="auto">
          <a:xfrm>
            <a:off x="5362628" y="2640919"/>
            <a:ext cx="7184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accept</a:t>
            </a:r>
          </a:p>
        </p:txBody>
      </p:sp>
      <p:sp>
        <p:nvSpPr>
          <p:cNvPr id="10" name="Text Box 9"/>
          <p:cNvSpPr txBox="1">
            <a:spLocks noChangeArrowheads="1"/>
          </p:cNvSpPr>
          <p:nvPr/>
        </p:nvSpPr>
        <p:spPr bwMode="auto">
          <a:xfrm>
            <a:off x="5459487" y="3109532"/>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11" name="Text Box 10"/>
          <p:cNvSpPr txBox="1">
            <a:spLocks noChangeArrowheads="1"/>
          </p:cNvSpPr>
          <p:nvPr/>
        </p:nvSpPr>
        <p:spPr bwMode="auto">
          <a:xfrm>
            <a:off x="5429066" y="3578146"/>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12" name="Text Box 11"/>
          <p:cNvSpPr txBox="1">
            <a:spLocks noChangeArrowheads="1"/>
          </p:cNvSpPr>
          <p:nvPr/>
        </p:nvSpPr>
        <p:spPr bwMode="auto">
          <a:xfrm>
            <a:off x="5414805"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13" name="Line 12"/>
          <p:cNvSpPr>
            <a:spLocks noChangeShapeType="1"/>
          </p:cNvSpPr>
          <p:nvPr/>
        </p:nvSpPr>
        <p:spPr bwMode="auto">
          <a:xfrm>
            <a:off x="5730372" y="153721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4" name="Line 13"/>
          <p:cNvSpPr>
            <a:spLocks noChangeShapeType="1"/>
          </p:cNvSpPr>
          <p:nvPr/>
        </p:nvSpPr>
        <p:spPr bwMode="auto">
          <a:xfrm>
            <a:off x="5730372" y="1984862"/>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5" name="Line 14"/>
          <p:cNvSpPr>
            <a:spLocks noChangeShapeType="1"/>
          </p:cNvSpPr>
          <p:nvPr/>
        </p:nvSpPr>
        <p:spPr bwMode="auto">
          <a:xfrm>
            <a:off x="5730372" y="2432511"/>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6" name="Line 15"/>
          <p:cNvSpPr>
            <a:spLocks noChangeShapeType="1"/>
          </p:cNvSpPr>
          <p:nvPr/>
        </p:nvSpPr>
        <p:spPr bwMode="auto">
          <a:xfrm>
            <a:off x="5730372" y="293565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7" name="Line 16"/>
          <p:cNvSpPr>
            <a:spLocks noChangeShapeType="1"/>
          </p:cNvSpPr>
          <p:nvPr/>
        </p:nvSpPr>
        <p:spPr bwMode="auto">
          <a:xfrm>
            <a:off x="5730372" y="3438796"/>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18" name="Line 17"/>
          <p:cNvSpPr>
            <a:spLocks noChangeShapeType="1"/>
          </p:cNvSpPr>
          <p:nvPr/>
        </p:nvSpPr>
        <p:spPr bwMode="auto">
          <a:xfrm>
            <a:off x="5730372" y="3886444"/>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0" name="Text Box 19"/>
          <p:cNvSpPr txBox="1">
            <a:spLocks noChangeArrowheads="1"/>
          </p:cNvSpPr>
          <p:nvPr/>
        </p:nvSpPr>
        <p:spPr bwMode="auto">
          <a:xfrm>
            <a:off x="2572385" y="2213984"/>
            <a:ext cx="69762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socket</a:t>
            </a:r>
          </a:p>
        </p:txBody>
      </p:sp>
      <p:sp>
        <p:nvSpPr>
          <p:cNvPr id="21" name="Text Box 20"/>
          <p:cNvSpPr txBox="1">
            <a:spLocks noChangeArrowheads="1"/>
          </p:cNvSpPr>
          <p:nvPr/>
        </p:nvSpPr>
        <p:spPr bwMode="auto">
          <a:xfrm>
            <a:off x="2662476" y="3578146"/>
            <a:ext cx="51744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err="1">
                <a:latin typeface="微软雅黑 Light" panose="020B0502040204020203" pitchFamily="34" charset="-122"/>
                <a:ea typeface="微软雅黑 Light" panose="020B0502040204020203" pitchFamily="34" charset="-122"/>
              </a:rPr>
              <a:t>recv</a:t>
            </a:r>
            <a:endParaRPr lang="en-US" altLang="zh-CN" sz="1400" b="1" dirty="0">
              <a:latin typeface="微软雅黑 Light" panose="020B0502040204020203" pitchFamily="34" charset="-122"/>
              <a:ea typeface="微软雅黑 Light" panose="020B0502040204020203" pitchFamily="34" charset="-122"/>
            </a:endParaRPr>
          </a:p>
        </p:txBody>
      </p:sp>
      <p:sp>
        <p:nvSpPr>
          <p:cNvPr id="22" name="Text Box 21"/>
          <p:cNvSpPr txBox="1">
            <a:spLocks noChangeArrowheads="1"/>
          </p:cNvSpPr>
          <p:nvPr/>
        </p:nvSpPr>
        <p:spPr bwMode="auto">
          <a:xfrm>
            <a:off x="2635704" y="3109532"/>
            <a:ext cx="57099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send</a:t>
            </a:r>
          </a:p>
        </p:txBody>
      </p:sp>
      <p:sp>
        <p:nvSpPr>
          <p:cNvPr id="23" name="Text Box 22"/>
          <p:cNvSpPr txBox="1">
            <a:spLocks noChangeArrowheads="1"/>
          </p:cNvSpPr>
          <p:nvPr/>
        </p:nvSpPr>
        <p:spPr bwMode="auto">
          <a:xfrm>
            <a:off x="2625090" y="4046758"/>
            <a:ext cx="59343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solidFill>
                  <a:srgbClr val="C00000"/>
                </a:solidFill>
                <a:latin typeface="微软雅黑 Light" panose="020B0502040204020203" pitchFamily="34" charset="-122"/>
                <a:ea typeface="微软雅黑 Light" panose="020B0502040204020203" pitchFamily="34" charset="-122"/>
              </a:rPr>
              <a:t>close</a:t>
            </a:r>
          </a:p>
        </p:txBody>
      </p:sp>
      <p:sp>
        <p:nvSpPr>
          <p:cNvPr id="24" name="Text Box 23"/>
          <p:cNvSpPr txBox="1">
            <a:spLocks noChangeArrowheads="1"/>
          </p:cNvSpPr>
          <p:nvPr/>
        </p:nvSpPr>
        <p:spPr bwMode="auto">
          <a:xfrm>
            <a:off x="2506469" y="2645853"/>
            <a:ext cx="83067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en-US" altLang="zh-CN" sz="1400" b="1" dirty="0">
                <a:latin typeface="微软雅黑 Light" panose="020B0502040204020203" pitchFamily="34" charset="-122"/>
                <a:ea typeface="微软雅黑 Light" panose="020B0502040204020203" pitchFamily="34" charset="-122"/>
              </a:rPr>
              <a:t>connect</a:t>
            </a:r>
          </a:p>
        </p:txBody>
      </p:sp>
      <p:sp>
        <p:nvSpPr>
          <p:cNvPr id="25" name="Line 24"/>
          <p:cNvSpPr>
            <a:spLocks noChangeShapeType="1"/>
          </p:cNvSpPr>
          <p:nvPr/>
        </p:nvSpPr>
        <p:spPr bwMode="auto">
          <a:xfrm>
            <a:off x="2921200" y="247443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6" name="Line 25"/>
          <p:cNvSpPr>
            <a:spLocks noChangeShapeType="1"/>
          </p:cNvSpPr>
          <p:nvPr/>
        </p:nvSpPr>
        <p:spPr bwMode="auto">
          <a:xfrm>
            <a:off x="2921200" y="292208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7" name="Line 26"/>
          <p:cNvSpPr>
            <a:spLocks noChangeShapeType="1"/>
          </p:cNvSpPr>
          <p:nvPr/>
        </p:nvSpPr>
        <p:spPr bwMode="auto">
          <a:xfrm>
            <a:off x="2921200" y="3369737"/>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8" name="Line 27"/>
          <p:cNvSpPr>
            <a:spLocks noChangeShapeType="1"/>
          </p:cNvSpPr>
          <p:nvPr/>
        </p:nvSpPr>
        <p:spPr bwMode="auto">
          <a:xfrm>
            <a:off x="2921200" y="3872879"/>
            <a:ext cx="0" cy="279934"/>
          </a:xfrm>
          <a:prstGeom prst="line">
            <a:avLst/>
          </a:prstGeom>
          <a:noFill/>
          <a:ln w="31750">
            <a:solidFill>
              <a:srgbClr val="FF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29" name="Freeform 28"/>
          <p:cNvSpPr>
            <a:spLocks/>
          </p:cNvSpPr>
          <p:nvPr/>
        </p:nvSpPr>
        <p:spPr bwMode="auto">
          <a:xfrm flipH="1">
            <a:off x="1997574" y="3280835"/>
            <a:ext cx="656690" cy="462447"/>
          </a:xfrm>
          <a:custGeom>
            <a:avLst/>
            <a:gdLst>
              <a:gd name="T0" fmla="*/ 0 w 540"/>
              <a:gd name="T1" fmla="*/ 2147483646 h 391"/>
              <a:gd name="T2" fmla="*/ 2147483646 w 540"/>
              <a:gd name="T3" fmla="*/ 2147483646 h 391"/>
              <a:gd name="T4" fmla="*/ 2147483646 w 540"/>
              <a:gd name="T5" fmla="*/ 2147483646 h 391"/>
              <a:gd name="T6" fmla="*/ 2147483646 w 540"/>
              <a:gd name="T7" fmla="*/ 2147483646 h 391"/>
              <a:gd name="T8" fmla="*/ 2147483646 w 540"/>
              <a:gd name="T9" fmla="*/ 2147483646 h 391"/>
              <a:gd name="T10" fmla="*/ 2147483646 w 540"/>
              <a:gd name="T11" fmla="*/ 2147483646 h 391"/>
              <a:gd name="T12" fmla="*/ 2147483646 w 540"/>
              <a:gd name="T13" fmla="*/ 2147483646 h 391"/>
              <a:gd name="T14" fmla="*/ 2147483646 w 540"/>
              <a:gd name="T15" fmla="*/ 2147483646 h 391"/>
              <a:gd name="T16" fmla="*/ 0 w 540"/>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40" h="391">
                <a:moveTo>
                  <a:pt x="0" y="384"/>
                </a:moveTo>
                <a:cubicBezTo>
                  <a:pt x="52" y="385"/>
                  <a:pt x="240" y="389"/>
                  <a:pt x="311" y="389"/>
                </a:cubicBezTo>
                <a:cubicBezTo>
                  <a:pt x="382" y="389"/>
                  <a:pt x="397" y="391"/>
                  <a:pt x="427" y="385"/>
                </a:cubicBezTo>
                <a:cubicBezTo>
                  <a:pt x="457" y="379"/>
                  <a:pt x="477" y="372"/>
                  <a:pt x="494" y="355"/>
                </a:cubicBezTo>
                <a:cubicBezTo>
                  <a:pt x="511" y="338"/>
                  <a:pt x="523" y="324"/>
                  <a:pt x="529" y="284"/>
                </a:cubicBezTo>
                <a:cubicBezTo>
                  <a:pt x="535" y="244"/>
                  <a:pt x="540" y="155"/>
                  <a:pt x="533" y="113"/>
                </a:cubicBezTo>
                <a:cubicBezTo>
                  <a:pt x="526" y="71"/>
                  <a:pt x="515" y="52"/>
                  <a:pt x="488" y="34"/>
                </a:cubicBezTo>
                <a:cubicBezTo>
                  <a:pt x="461" y="16"/>
                  <a:pt x="451" y="10"/>
                  <a:pt x="370" y="5"/>
                </a:cubicBezTo>
                <a:cubicBezTo>
                  <a:pt x="289" y="0"/>
                  <a:pt x="77" y="6"/>
                  <a:pt x="0" y="6"/>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0" name="Freeform 29"/>
          <p:cNvSpPr>
            <a:spLocks/>
          </p:cNvSpPr>
          <p:nvPr/>
        </p:nvSpPr>
        <p:spPr bwMode="auto">
          <a:xfrm>
            <a:off x="5995317" y="3261693"/>
            <a:ext cx="378204" cy="482177"/>
          </a:xfrm>
          <a:custGeom>
            <a:avLst/>
            <a:gdLst>
              <a:gd name="T0" fmla="*/ 0 w 311"/>
              <a:gd name="T1" fmla="*/ 2147483646 h 391"/>
              <a:gd name="T2" fmla="*/ 2147483646 w 311"/>
              <a:gd name="T3" fmla="*/ 2147483646 h 391"/>
              <a:gd name="T4" fmla="*/ 2147483646 w 311"/>
              <a:gd name="T5" fmla="*/ 2147483646 h 391"/>
              <a:gd name="T6" fmla="*/ 2147483646 w 311"/>
              <a:gd name="T7" fmla="*/ 2147483646 h 391"/>
              <a:gd name="T8" fmla="*/ 2147483646 w 311"/>
              <a:gd name="T9" fmla="*/ 2147483646 h 391"/>
              <a:gd name="T10" fmla="*/ 2147483646 w 311"/>
              <a:gd name="T11" fmla="*/ 2147483646 h 391"/>
              <a:gd name="T12" fmla="*/ 2147483646 w 311"/>
              <a:gd name="T13" fmla="*/ 2147483646 h 391"/>
              <a:gd name="T14" fmla="*/ 2147483646 w 311"/>
              <a:gd name="T15" fmla="*/ 2147483646 h 391"/>
              <a:gd name="T16" fmla="*/ 0 w 311"/>
              <a:gd name="T17" fmla="*/ 2147483646 h 39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311" h="391">
                <a:moveTo>
                  <a:pt x="0" y="387"/>
                </a:moveTo>
                <a:cubicBezTo>
                  <a:pt x="30" y="387"/>
                  <a:pt x="139" y="391"/>
                  <a:pt x="182" y="389"/>
                </a:cubicBezTo>
                <a:cubicBezTo>
                  <a:pt x="225" y="387"/>
                  <a:pt x="238" y="382"/>
                  <a:pt x="256" y="373"/>
                </a:cubicBezTo>
                <a:cubicBezTo>
                  <a:pt x="274" y="364"/>
                  <a:pt x="284" y="354"/>
                  <a:pt x="293" y="337"/>
                </a:cubicBezTo>
                <a:cubicBezTo>
                  <a:pt x="302" y="320"/>
                  <a:pt x="306" y="304"/>
                  <a:pt x="308" y="269"/>
                </a:cubicBezTo>
                <a:cubicBezTo>
                  <a:pt x="310" y="234"/>
                  <a:pt x="311" y="160"/>
                  <a:pt x="308" y="124"/>
                </a:cubicBezTo>
                <a:cubicBezTo>
                  <a:pt x="305" y="88"/>
                  <a:pt x="305" y="70"/>
                  <a:pt x="289" y="50"/>
                </a:cubicBezTo>
                <a:cubicBezTo>
                  <a:pt x="273" y="30"/>
                  <a:pt x="259" y="14"/>
                  <a:pt x="211" y="7"/>
                </a:cubicBezTo>
                <a:cubicBezTo>
                  <a:pt x="163" y="0"/>
                  <a:pt x="44" y="9"/>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1" name="Freeform 30"/>
          <p:cNvSpPr>
            <a:spLocks/>
          </p:cNvSpPr>
          <p:nvPr/>
        </p:nvSpPr>
        <p:spPr bwMode="auto">
          <a:xfrm>
            <a:off x="6085478" y="2779571"/>
            <a:ext cx="654258" cy="1442834"/>
          </a:xfrm>
          <a:custGeom>
            <a:avLst/>
            <a:gdLst>
              <a:gd name="T0" fmla="*/ 0 w 538"/>
              <a:gd name="T1" fmla="*/ 2147483646 h 1175"/>
              <a:gd name="T2" fmla="*/ 2147483646 w 538"/>
              <a:gd name="T3" fmla="*/ 2147483646 h 1175"/>
              <a:gd name="T4" fmla="*/ 2147483646 w 538"/>
              <a:gd name="T5" fmla="*/ 2147483646 h 1175"/>
              <a:gd name="T6" fmla="*/ 2147483646 w 538"/>
              <a:gd name="T7" fmla="*/ 2147483646 h 1175"/>
              <a:gd name="T8" fmla="*/ 2147483646 w 538"/>
              <a:gd name="T9" fmla="*/ 2147483646 h 1175"/>
              <a:gd name="T10" fmla="*/ 2147483646 w 538"/>
              <a:gd name="T11" fmla="*/ 2147483646 h 1175"/>
              <a:gd name="T12" fmla="*/ 2147483646 w 538"/>
              <a:gd name="T13" fmla="*/ 2147483646 h 1175"/>
              <a:gd name="T14" fmla="*/ 2147483646 w 538"/>
              <a:gd name="T15" fmla="*/ 2147483646 h 1175"/>
              <a:gd name="T16" fmla="*/ 0 w 538"/>
              <a:gd name="T17" fmla="*/ 2147483646 h 1175"/>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0" t="0" r="r" b="b"/>
            <a:pathLst>
              <a:path w="538" h="1175">
                <a:moveTo>
                  <a:pt x="0" y="1171"/>
                </a:moveTo>
                <a:cubicBezTo>
                  <a:pt x="51" y="1171"/>
                  <a:pt x="237" y="1175"/>
                  <a:pt x="306" y="1168"/>
                </a:cubicBezTo>
                <a:cubicBezTo>
                  <a:pt x="375" y="1161"/>
                  <a:pt x="386" y="1151"/>
                  <a:pt x="417" y="1129"/>
                </a:cubicBezTo>
                <a:cubicBezTo>
                  <a:pt x="448" y="1107"/>
                  <a:pt x="472" y="1080"/>
                  <a:pt x="489" y="1036"/>
                </a:cubicBezTo>
                <a:cubicBezTo>
                  <a:pt x="506" y="992"/>
                  <a:pt x="515" y="980"/>
                  <a:pt x="522" y="865"/>
                </a:cubicBezTo>
                <a:cubicBezTo>
                  <a:pt x="529" y="750"/>
                  <a:pt x="538" y="472"/>
                  <a:pt x="534" y="348"/>
                </a:cubicBezTo>
                <a:cubicBezTo>
                  <a:pt x="530" y="224"/>
                  <a:pt x="529" y="176"/>
                  <a:pt x="501" y="121"/>
                </a:cubicBezTo>
                <a:cubicBezTo>
                  <a:pt x="473" y="66"/>
                  <a:pt x="448" y="38"/>
                  <a:pt x="365" y="19"/>
                </a:cubicBezTo>
                <a:cubicBezTo>
                  <a:pt x="282" y="0"/>
                  <a:pt x="76" y="11"/>
                  <a:pt x="0" y="9"/>
                </a:cubicBezTo>
              </a:path>
            </a:pathLst>
          </a:custGeom>
          <a:noFill/>
          <a:ln w="38100" cmpd="sng">
            <a:solidFill>
              <a:srgbClr val="CC00CC"/>
            </a:solidFill>
            <a:round/>
            <a:headEnd type="none" w="med" len="lg"/>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2" name="Line 31"/>
          <p:cNvSpPr>
            <a:spLocks noChangeShapeType="1"/>
          </p:cNvSpPr>
          <p:nvPr/>
        </p:nvSpPr>
        <p:spPr bwMode="auto">
          <a:xfrm>
            <a:off x="3170499" y="338823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3" name="Line 32"/>
          <p:cNvSpPr>
            <a:spLocks noChangeShapeType="1"/>
          </p:cNvSpPr>
          <p:nvPr/>
        </p:nvSpPr>
        <p:spPr bwMode="auto">
          <a:xfrm flipH="1">
            <a:off x="3051321" y="3859314"/>
            <a:ext cx="2482044" cy="110987"/>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4" name="Line 34"/>
          <p:cNvSpPr>
            <a:spLocks noChangeShapeType="1"/>
          </p:cNvSpPr>
          <p:nvPr/>
        </p:nvSpPr>
        <p:spPr bwMode="auto">
          <a:xfrm rot="186387" flipV="1">
            <a:off x="3322510" y="2917156"/>
            <a:ext cx="2280172" cy="6165"/>
          </a:xfrm>
          <a:prstGeom prst="line">
            <a:avLst/>
          </a:prstGeom>
          <a:noFill/>
          <a:ln w="28575">
            <a:solidFill>
              <a:srgbClr val="0000FF"/>
            </a:solidFill>
            <a:prstDash val="dash"/>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dirty="0">
              <a:latin typeface="微软雅黑 Light" panose="020B0502040204020203" pitchFamily="34" charset="-122"/>
              <a:ea typeface="微软雅黑 Light" panose="020B0502040204020203" pitchFamily="34" charset="-122"/>
            </a:endParaRPr>
          </a:p>
        </p:txBody>
      </p:sp>
      <p:sp>
        <p:nvSpPr>
          <p:cNvPr id="35" name="Text Box 35"/>
          <p:cNvSpPr txBox="1">
            <a:spLocks noChangeArrowheads="1"/>
          </p:cNvSpPr>
          <p:nvPr/>
        </p:nvSpPr>
        <p:spPr bwMode="auto">
          <a:xfrm rot="186387">
            <a:off x="3809156" y="2614862"/>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eaLnBrk="1" hangingPunct="1"/>
            <a:r>
              <a:rPr lang="zh-CN" altLang="en-US" sz="1400" b="1" dirty="0">
                <a:latin typeface="微软雅黑 Light" panose="020B0502040204020203" pitchFamily="34" charset="-122"/>
                <a:ea typeface="微软雅黑 Light" panose="020B0502040204020203" pitchFamily="34" charset="-122"/>
              </a:rPr>
              <a:t>连接建立请求</a:t>
            </a:r>
          </a:p>
        </p:txBody>
      </p:sp>
      <p:sp>
        <p:nvSpPr>
          <p:cNvPr id="42" name="Text Box 18"/>
          <p:cNvSpPr txBox="1">
            <a:spLocks noChangeArrowheads="1"/>
          </p:cNvSpPr>
          <p:nvPr/>
        </p:nvSpPr>
        <p:spPr bwMode="auto">
          <a:xfrm>
            <a:off x="6855413" y="202911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连接建立</a:t>
            </a:r>
          </a:p>
        </p:txBody>
      </p:sp>
      <p:sp>
        <p:nvSpPr>
          <p:cNvPr id="43" name="Text Box 18"/>
          <p:cNvSpPr txBox="1">
            <a:spLocks noChangeArrowheads="1"/>
          </p:cNvSpPr>
          <p:nvPr/>
        </p:nvSpPr>
        <p:spPr bwMode="auto">
          <a:xfrm>
            <a:off x="6855413" y="3251673"/>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数据传送</a:t>
            </a:r>
          </a:p>
        </p:txBody>
      </p:sp>
      <p:sp>
        <p:nvSpPr>
          <p:cNvPr id="44" name="Text Box 18"/>
          <p:cNvSpPr txBox="1">
            <a:spLocks noChangeArrowheads="1"/>
          </p:cNvSpPr>
          <p:nvPr/>
        </p:nvSpPr>
        <p:spPr bwMode="auto">
          <a:xfrm>
            <a:off x="6855413" y="3939676"/>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eaLnBrk="1" hangingPunct="1"/>
            <a:r>
              <a:rPr lang="zh-CN" altLang="en-US" sz="1400" b="1" dirty="0">
                <a:solidFill>
                  <a:srgbClr val="C00000"/>
                </a:solidFill>
                <a:latin typeface="微软雅黑 Light" panose="020B0502040204020203" pitchFamily="34" charset="-122"/>
                <a:ea typeface="微软雅黑 Light" panose="020B0502040204020203" pitchFamily="34" charset="-122"/>
              </a:rPr>
              <a:t>连接释放</a:t>
            </a:r>
          </a:p>
        </p:txBody>
      </p:sp>
      <p:grpSp>
        <p:nvGrpSpPr>
          <p:cNvPr id="45" name="组合 44"/>
          <p:cNvGrpSpPr/>
          <p:nvPr/>
        </p:nvGrpSpPr>
        <p:grpSpPr>
          <a:xfrm>
            <a:off x="2228295" y="1365082"/>
            <a:ext cx="3337380" cy="2787731"/>
            <a:chOff x="2228295" y="1425503"/>
            <a:chExt cx="3337380" cy="2787731"/>
          </a:xfrm>
        </p:grpSpPr>
        <p:cxnSp>
          <p:nvCxnSpPr>
            <p:cNvPr id="47" name="直接箭头连接符 46"/>
            <p:cNvCxnSpPr/>
            <p:nvPr/>
          </p:nvCxnSpPr>
          <p:spPr>
            <a:xfrm flipH="1">
              <a:off x="3082773" y="2010278"/>
              <a:ext cx="519829"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48" name="直接箭头连接符 47"/>
            <p:cNvCxnSpPr/>
            <p:nvPr/>
          </p:nvCxnSpPr>
          <p:spPr>
            <a:xfrm>
              <a:off x="4666774" y="2010278"/>
              <a:ext cx="898901" cy="22029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46" name="矩形 45"/>
            <p:cNvSpPr/>
            <p:nvPr/>
          </p:nvSpPr>
          <p:spPr>
            <a:xfrm>
              <a:off x="2228295" y="1425503"/>
              <a:ext cx="3065965" cy="58477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600" b="1" dirty="0">
                  <a:solidFill>
                    <a:srgbClr val="C00000"/>
                  </a:solidFill>
                  <a:latin typeface="微软雅黑 Light" panose="020B0502040204020203" pitchFamily="34" charset="-122"/>
                  <a:ea typeface="微软雅黑 Light" panose="020B0502040204020203" pitchFamily="34" charset="-122"/>
                </a:rPr>
                <a:t>客户</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C00000"/>
                  </a:solidFill>
                  <a:latin typeface="微软雅黑 Light" panose="020B0502040204020203" pitchFamily="34" charset="-122"/>
                  <a:ea typeface="微软雅黑 Light" panose="020B0502040204020203" pitchFamily="34" charset="-122"/>
                </a:rPr>
                <a:t>服务器</a:t>
              </a:r>
              <a:r>
                <a:rPr lang="zh-CN" altLang="en-US" sz="1600" b="1" dirty="0">
                  <a:latin typeface="微软雅黑 Light" panose="020B0502040204020203" pitchFamily="34" charset="-122"/>
                  <a:ea typeface="微软雅黑 Light" panose="020B0502040204020203" pitchFamily="34" charset="-122"/>
                </a:rPr>
                <a:t>通信结束，调用 </a:t>
              </a:r>
              <a:r>
                <a:rPr lang="en-US" altLang="zh-CN" sz="1600" b="1" dirty="0">
                  <a:latin typeface="微软雅黑 Light" panose="020B0502040204020203" pitchFamily="34" charset="-122"/>
                  <a:ea typeface="微软雅黑 Light" panose="020B0502040204020203" pitchFamily="34" charset="-122"/>
                </a:rPr>
                <a:t>close </a:t>
              </a:r>
              <a:r>
                <a:rPr lang="zh-CN" altLang="en-US" sz="1600" b="1" dirty="0">
                  <a:latin typeface="微软雅黑 Light" panose="020B0502040204020203" pitchFamily="34" charset="-122"/>
                  <a:ea typeface="微软雅黑 Light" panose="020B0502040204020203" pitchFamily="34" charset="-122"/>
                </a:rPr>
                <a:t>释放连接和撤销套接字。</a:t>
              </a:r>
            </a:p>
          </p:txBody>
        </p:sp>
      </p:grpSp>
    </p:spTree>
    <p:extLst>
      <p:ext uri="{BB962C8B-B14F-4D97-AF65-F5344CB8AC3E}">
        <p14:creationId xmlns:p14="http://schemas.microsoft.com/office/powerpoint/2010/main" val="11245807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2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p:bldP spid="23" grpId="0"/>
    </p:bldLst>
  </p:timing>
</p:sld>
</file>

<file path=ppt/slides/slide2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a:extLst>
              <a:ext uri="{FF2B5EF4-FFF2-40B4-BE49-F238E27FC236}">
                <a16:creationId xmlns:a16="http://schemas.microsoft.com/office/drawing/2014/main" id="{8BFD196E-853C-A362-FFD4-CF806991107A}"/>
              </a:ext>
            </a:extLst>
          </p:cNvPr>
          <p:cNvGrpSpPr/>
          <p:nvPr/>
        </p:nvGrpSpPr>
        <p:grpSpPr>
          <a:xfrm>
            <a:off x="3631653" y="2257126"/>
            <a:ext cx="4173259" cy="338554"/>
            <a:chOff x="4243545" y="874787"/>
            <a:chExt cx="4173259" cy="338554"/>
          </a:xfrm>
        </p:grpSpPr>
        <p:sp>
          <p:nvSpPr>
            <p:cNvPr id="14" name="文本框 13">
              <a:extLst>
                <a:ext uri="{FF2B5EF4-FFF2-40B4-BE49-F238E27FC236}">
                  <a16:creationId xmlns:a16="http://schemas.microsoft.com/office/drawing/2014/main" id="{155457A7-C0F1-C270-0401-5256AC73C294}"/>
                </a:ext>
              </a:extLst>
            </p:cNvPr>
            <p:cNvSpPr txBox="1"/>
            <p:nvPr/>
          </p:nvSpPr>
          <p:spPr>
            <a:xfrm>
              <a:off x="4243545" y="874787"/>
              <a:ext cx="595035"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6.9.1</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5" name="文本框 14">
              <a:extLst>
                <a:ext uri="{FF2B5EF4-FFF2-40B4-BE49-F238E27FC236}">
                  <a16:creationId xmlns:a16="http://schemas.microsoft.com/office/drawing/2014/main" id="{9B1DF647-2352-6C72-D1FA-8B6F48732A73}"/>
                </a:ext>
              </a:extLst>
            </p:cNvPr>
            <p:cNvSpPr txBox="1"/>
            <p:nvPr/>
          </p:nvSpPr>
          <p:spPr>
            <a:xfrm>
              <a:off x="4838580" y="874787"/>
              <a:ext cx="3578224" cy="338554"/>
            </a:xfrm>
            <a:prstGeom prst="rect">
              <a:avLst/>
            </a:prstGeom>
            <a:noFill/>
          </p:spPr>
          <p:txBody>
            <a:bodyPr wrap="none" rtlCol="0">
              <a:spAutoFit/>
            </a:bodyPr>
            <a:lstStyle/>
            <a:p>
              <a:r>
                <a:rPr lang="zh-CN" altLang="en-US" sz="1600" dirty="0">
                  <a:latin typeface="Montserrat" panose="00000500000000000000" pitchFamily="2" charset="0"/>
                  <a:ea typeface="微软雅黑 Light" panose="020B0502040204020203" pitchFamily="34" charset="-122"/>
                </a:rPr>
                <a:t>具有集中目录服务器的 </a:t>
              </a:r>
              <a:r>
                <a:rPr lang="en-US" altLang="zh-CN" sz="1600" dirty="0">
                  <a:latin typeface="Montserrat" panose="00000500000000000000" pitchFamily="2" charset="0"/>
                  <a:ea typeface="微软雅黑 Light" panose="020B0502040204020203" pitchFamily="34" charset="-122"/>
                </a:rPr>
                <a:t>P2P </a:t>
              </a:r>
              <a:r>
                <a:rPr lang="zh-CN" altLang="en-US" sz="1600" dirty="0">
                  <a:latin typeface="Montserrat" panose="00000500000000000000" pitchFamily="2" charset="0"/>
                  <a:ea typeface="微软雅黑 Light" panose="020B0502040204020203" pitchFamily="34" charset="-122"/>
                </a:rPr>
                <a:t>工作方式</a:t>
              </a:r>
            </a:p>
          </p:txBody>
        </p:sp>
      </p:grpSp>
      <p:grpSp>
        <p:nvGrpSpPr>
          <p:cNvPr id="17" name="组合 16">
            <a:extLst>
              <a:ext uri="{FF2B5EF4-FFF2-40B4-BE49-F238E27FC236}">
                <a16:creationId xmlns:a16="http://schemas.microsoft.com/office/drawing/2014/main" id="{B33EC8D0-1CDF-FEF3-C525-D61D266C36D2}"/>
              </a:ext>
            </a:extLst>
          </p:cNvPr>
          <p:cNvGrpSpPr/>
          <p:nvPr/>
        </p:nvGrpSpPr>
        <p:grpSpPr>
          <a:xfrm>
            <a:off x="3631653" y="2659534"/>
            <a:ext cx="4333559" cy="338554"/>
            <a:chOff x="4243545" y="874787"/>
            <a:chExt cx="4333559" cy="338554"/>
          </a:xfrm>
        </p:grpSpPr>
        <p:sp>
          <p:nvSpPr>
            <p:cNvPr id="18" name="文本框 17">
              <a:extLst>
                <a:ext uri="{FF2B5EF4-FFF2-40B4-BE49-F238E27FC236}">
                  <a16:creationId xmlns:a16="http://schemas.microsoft.com/office/drawing/2014/main" id="{60A565A3-CA8E-CA71-13E0-949F20EFDD47}"/>
                </a:ext>
              </a:extLst>
            </p:cNvPr>
            <p:cNvSpPr txBox="1"/>
            <p:nvPr/>
          </p:nvSpPr>
          <p:spPr>
            <a:xfrm>
              <a:off x="4243545" y="874787"/>
              <a:ext cx="638316"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6.9.2</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19" name="文本框 18">
              <a:extLst>
                <a:ext uri="{FF2B5EF4-FFF2-40B4-BE49-F238E27FC236}">
                  <a16:creationId xmlns:a16="http://schemas.microsoft.com/office/drawing/2014/main" id="{A4A6B20E-8B7A-B3C1-A85A-AF1952068185}"/>
                </a:ext>
              </a:extLst>
            </p:cNvPr>
            <p:cNvSpPr txBox="1"/>
            <p:nvPr/>
          </p:nvSpPr>
          <p:spPr>
            <a:xfrm>
              <a:off x="4838580" y="874787"/>
              <a:ext cx="3738524"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具有全分布式结构的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文件共享程序</a:t>
              </a:r>
              <a:endParaRPr lang="zh-CN" altLang="en-US" sz="1600" dirty="0">
                <a:latin typeface="Montserrat" panose="00000500000000000000" pitchFamily="2" charset="0"/>
                <a:ea typeface="微软雅黑 Light" panose="020B0502040204020203" pitchFamily="34" charset="-122"/>
              </a:endParaRPr>
            </a:p>
          </p:txBody>
        </p:sp>
      </p:grpSp>
      <p:grpSp>
        <p:nvGrpSpPr>
          <p:cNvPr id="20" name="组合 19">
            <a:extLst>
              <a:ext uri="{FF2B5EF4-FFF2-40B4-BE49-F238E27FC236}">
                <a16:creationId xmlns:a16="http://schemas.microsoft.com/office/drawing/2014/main" id="{09AE20DD-8F7F-4719-315B-22F9045B4015}"/>
              </a:ext>
            </a:extLst>
          </p:cNvPr>
          <p:cNvGrpSpPr/>
          <p:nvPr/>
        </p:nvGrpSpPr>
        <p:grpSpPr>
          <a:xfrm>
            <a:off x="3631653" y="3061942"/>
            <a:ext cx="2631170" cy="338554"/>
            <a:chOff x="4243545" y="874787"/>
            <a:chExt cx="2631170" cy="338554"/>
          </a:xfrm>
        </p:grpSpPr>
        <p:sp>
          <p:nvSpPr>
            <p:cNvPr id="21" name="文本框 20">
              <a:extLst>
                <a:ext uri="{FF2B5EF4-FFF2-40B4-BE49-F238E27FC236}">
                  <a16:creationId xmlns:a16="http://schemas.microsoft.com/office/drawing/2014/main" id="{C85E86BD-9C09-12D7-FC2E-C200FD0DA80A}"/>
                </a:ext>
              </a:extLst>
            </p:cNvPr>
            <p:cNvSpPr txBox="1"/>
            <p:nvPr/>
          </p:nvSpPr>
          <p:spPr>
            <a:xfrm>
              <a:off x="4243545" y="874787"/>
              <a:ext cx="636713"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6.9.3</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2" name="文本框 21">
              <a:extLst>
                <a:ext uri="{FF2B5EF4-FFF2-40B4-BE49-F238E27FC236}">
                  <a16:creationId xmlns:a16="http://schemas.microsoft.com/office/drawing/2014/main" id="{7FF3C563-AB68-A3C4-2CF8-F238BD6EDA14}"/>
                </a:ext>
              </a:extLst>
            </p:cNvPr>
            <p:cNvSpPr txBox="1"/>
            <p:nvPr/>
          </p:nvSpPr>
          <p:spPr>
            <a:xfrm>
              <a:off x="4838580" y="874787"/>
              <a:ext cx="2036135" cy="338554"/>
            </a:xfrm>
            <a:prstGeom prst="rect">
              <a:avLst/>
            </a:prstGeom>
            <a:noFill/>
          </p:spPr>
          <p:txBody>
            <a:bodyPr wrap="none" rtlCol="0">
              <a:spAutoFit/>
            </a:bodyPr>
            <a:lstStyle/>
            <a:p>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文件分发的分析</a:t>
              </a:r>
              <a:endParaRPr lang="zh-CN" altLang="en-US" sz="1600" dirty="0">
                <a:latin typeface="Montserrat" panose="00000500000000000000" pitchFamily="2" charset="0"/>
                <a:ea typeface="微软雅黑 Light" panose="020B0502040204020203" pitchFamily="34" charset="-122"/>
              </a:endParaRPr>
            </a:p>
          </p:txBody>
        </p:sp>
      </p:grpSp>
      <p:grpSp>
        <p:nvGrpSpPr>
          <p:cNvPr id="23" name="组合 22">
            <a:extLst>
              <a:ext uri="{FF2B5EF4-FFF2-40B4-BE49-F238E27FC236}">
                <a16:creationId xmlns:a16="http://schemas.microsoft.com/office/drawing/2014/main" id="{E3909E45-E775-CE7C-1E71-6DE720AF26BE}"/>
              </a:ext>
            </a:extLst>
          </p:cNvPr>
          <p:cNvGrpSpPr/>
          <p:nvPr/>
        </p:nvGrpSpPr>
        <p:grpSpPr>
          <a:xfrm>
            <a:off x="3631653" y="3464348"/>
            <a:ext cx="3102453" cy="338554"/>
            <a:chOff x="4243545" y="874787"/>
            <a:chExt cx="3102453" cy="338554"/>
          </a:xfrm>
        </p:grpSpPr>
        <p:sp>
          <p:nvSpPr>
            <p:cNvPr id="24" name="文本框 23">
              <a:extLst>
                <a:ext uri="{FF2B5EF4-FFF2-40B4-BE49-F238E27FC236}">
                  <a16:creationId xmlns:a16="http://schemas.microsoft.com/office/drawing/2014/main" id="{8842A888-5140-58EF-8191-D2060D873274}"/>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6.9.4</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88ED28D2-B49F-3712-CADD-A6882B2099A4}"/>
                </a:ext>
              </a:extLst>
            </p:cNvPr>
            <p:cNvSpPr txBox="1"/>
            <p:nvPr/>
          </p:nvSpPr>
          <p:spPr>
            <a:xfrm>
              <a:off x="4838580" y="874787"/>
              <a:ext cx="2507418" cy="338554"/>
            </a:xfrm>
            <a:prstGeom prst="rect">
              <a:avLst/>
            </a:prstGeom>
            <a:noFill/>
          </p:spPr>
          <p:txBody>
            <a:bodyPr wrap="none" rtlCol="0">
              <a:spAutoFit/>
            </a:bodyPr>
            <a:lstStyle/>
            <a:p>
              <a:r>
                <a:rPr lang="zh-CN" altLang="en-US" sz="1600" dirty="0">
                  <a:latin typeface="微软雅黑 Light" panose="020B0502040204020203" pitchFamily="34" charset="-122"/>
                  <a:ea typeface="微软雅黑 Light" panose="020B0502040204020203" pitchFamily="34" charset="-122"/>
                </a:rPr>
                <a:t>在 </a:t>
              </a:r>
              <a:r>
                <a:rPr lang="en-US" altLang="zh-CN" sz="1600" dirty="0">
                  <a:latin typeface="微软雅黑 Light" panose="020B0502040204020203" pitchFamily="34" charset="-122"/>
                  <a:ea typeface="微软雅黑 Light" panose="020B0502040204020203" pitchFamily="34" charset="-122"/>
                </a:rPr>
                <a:t>P2P </a:t>
              </a:r>
              <a:r>
                <a:rPr lang="zh-CN" altLang="en-US" sz="1600" dirty="0">
                  <a:latin typeface="微软雅黑 Light" panose="020B0502040204020203" pitchFamily="34" charset="-122"/>
                  <a:ea typeface="微软雅黑 Light" panose="020B0502040204020203" pitchFamily="34" charset="-122"/>
                </a:rPr>
                <a:t>对等方中搜索对象</a:t>
              </a:r>
              <a:endParaRPr lang="zh-CN" altLang="en-US" sz="1600" dirty="0">
                <a:latin typeface="Montserrat" panose="00000500000000000000" pitchFamily="2" charset="0"/>
                <a:ea typeface="微软雅黑 Light" panose="020B0502040204020203" pitchFamily="34" charset="-122"/>
              </a:endParaRPr>
            </a:p>
          </p:txBody>
        </p:sp>
      </p:grpSp>
      <p:sp>
        <p:nvSpPr>
          <p:cNvPr id="26" name="Rectangle 29">
            <a:extLst>
              <a:ext uri="{FF2B5EF4-FFF2-40B4-BE49-F238E27FC236}">
                <a16:creationId xmlns:a16="http://schemas.microsoft.com/office/drawing/2014/main" id="{6C47C291-1EFF-A69F-CA05-F26CA1F6C8FD}"/>
              </a:ext>
            </a:extLst>
          </p:cNvPr>
          <p:cNvSpPr>
            <a:spLocks noChangeArrowheads="1"/>
          </p:cNvSpPr>
          <p:nvPr/>
        </p:nvSpPr>
        <p:spPr bwMode="auto">
          <a:xfrm>
            <a:off x="3631653" y="1277784"/>
            <a:ext cx="2506071" cy="4001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en-US" altLang="zh-CN" sz="2000" dirty="0">
                <a:solidFill>
                  <a:srgbClr val="C00000"/>
                </a:solidFill>
                <a:latin typeface="Montserrat" panose="00000500000000000000" pitchFamily="2" charset="0"/>
                <a:ea typeface="微软雅黑 Light" panose="020B0502040204020203" pitchFamily="34" charset="-122"/>
              </a:rPr>
              <a:t>6.9</a:t>
            </a:r>
            <a:r>
              <a:rPr lang="en-US" altLang="zh-CN" sz="2000" dirty="0">
                <a:latin typeface="Montserrat" panose="00000500000000000000" pitchFamily="2" charset="0"/>
                <a:ea typeface="微软雅黑 Light" panose="020B0502040204020203" pitchFamily="34" charset="-122"/>
              </a:rPr>
              <a:t> P2P </a:t>
            </a:r>
            <a:r>
              <a:rPr lang="zh-CN" altLang="en-US" sz="2000" dirty="0">
                <a:latin typeface="Montserrat" panose="00000500000000000000" pitchFamily="2" charset="0"/>
                <a:ea typeface="微软雅黑 Light" panose="020B0502040204020203" pitchFamily="34" charset="-122"/>
              </a:rPr>
              <a:t>应用</a:t>
            </a:r>
            <a:endParaRPr lang="zh-CN" altLang="fr-FR" sz="2000" dirty="0">
              <a:latin typeface="Montserrat" panose="00000500000000000000" pitchFamily="2" charset="0"/>
              <a:ea typeface="微软雅黑 Light" panose="020B0502040204020203" pitchFamily="34" charset="-122"/>
            </a:endParaRPr>
          </a:p>
        </p:txBody>
      </p:sp>
      <p:grpSp>
        <p:nvGrpSpPr>
          <p:cNvPr id="27" name="组合 26">
            <a:extLst>
              <a:ext uri="{FF2B5EF4-FFF2-40B4-BE49-F238E27FC236}">
                <a16:creationId xmlns:a16="http://schemas.microsoft.com/office/drawing/2014/main" id="{7E2D8212-BDFA-ACFC-C137-4CAFFBFF2E30}"/>
              </a:ext>
            </a:extLst>
          </p:cNvPr>
          <p:cNvGrpSpPr/>
          <p:nvPr/>
        </p:nvGrpSpPr>
        <p:grpSpPr>
          <a:xfrm>
            <a:off x="3631653" y="1854718"/>
            <a:ext cx="1191673" cy="338554"/>
            <a:chOff x="4243545" y="874787"/>
            <a:chExt cx="1191673" cy="338554"/>
          </a:xfrm>
        </p:grpSpPr>
        <p:sp>
          <p:nvSpPr>
            <p:cNvPr id="28" name="文本框 27">
              <a:extLst>
                <a:ext uri="{FF2B5EF4-FFF2-40B4-BE49-F238E27FC236}">
                  <a16:creationId xmlns:a16="http://schemas.microsoft.com/office/drawing/2014/main" id="{6A8FF59E-A946-BC24-6CC3-7E67A67D922E}"/>
                </a:ext>
              </a:extLst>
            </p:cNvPr>
            <p:cNvSpPr txBox="1"/>
            <p:nvPr/>
          </p:nvSpPr>
          <p:spPr>
            <a:xfrm>
              <a:off x="4243545" y="874787"/>
              <a:ext cx="657552" cy="338554"/>
            </a:xfrm>
            <a:prstGeom prst="rect">
              <a:avLst/>
            </a:prstGeom>
            <a:noFill/>
          </p:spPr>
          <p:txBody>
            <a:bodyPr wrap="none" rtlCol="0">
              <a:spAutoFit/>
            </a:bodyPr>
            <a:lstStyle/>
            <a:p>
              <a:r>
                <a:rPr lang="en-US" altLang="zh-CN" sz="1600" dirty="0">
                  <a:solidFill>
                    <a:srgbClr val="FF0000"/>
                  </a:solidFill>
                  <a:latin typeface="Montserrat" panose="00000500000000000000" pitchFamily="2" charset="0"/>
                  <a:ea typeface="微软雅黑 Light" panose="020B0502040204020203" pitchFamily="34" charset="-122"/>
                </a:rPr>
                <a:t>6.9.0</a:t>
              </a:r>
              <a:endParaRPr lang="zh-CN" altLang="en-US" sz="1600" dirty="0">
                <a:solidFill>
                  <a:srgbClr val="FF0000"/>
                </a:solidFill>
                <a:latin typeface="Montserrat" panose="00000500000000000000" pitchFamily="2" charset="0"/>
                <a:ea typeface="微软雅黑 Light" panose="020B0502040204020203" pitchFamily="34" charset="-122"/>
              </a:endParaRPr>
            </a:p>
          </p:txBody>
        </p:sp>
        <p:sp>
          <p:nvSpPr>
            <p:cNvPr id="29" name="文本框 28">
              <a:extLst>
                <a:ext uri="{FF2B5EF4-FFF2-40B4-BE49-F238E27FC236}">
                  <a16:creationId xmlns:a16="http://schemas.microsoft.com/office/drawing/2014/main" id="{C108C08C-6731-B8D6-8EAE-D34385B286D3}"/>
                </a:ext>
              </a:extLst>
            </p:cNvPr>
            <p:cNvSpPr txBox="1"/>
            <p:nvPr/>
          </p:nvSpPr>
          <p:spPr>
            <a:xfrm>
              <a:off x="4838580" y="874787"/>
              <a:ext cx="596638" cy="338554"/>
            </a:xfrm>
            <a:prstGeom prst="rect">
              <a:avLst/>
            </a:prstGeom>
            <a:noFill/>
          </p:spPr>
          <p:txBody>
            <a:bodyPr wrap="none" rtlCol="0">
              <a:spAutoFit/>
            </a:bodyPr>
            <a:lstStyle/>
            <a:p>
              <a:r>
                <a:rPr lang="en-US" altLang="zh-CN" sz="1600" dirty="0">
                  <a:latin typeface="Montserrat" panose="00000500000000000000" pitchFamily="2" charset="0"/>
                  <a:ea typeface="微软雅黑 Light" panose="020B0502040204020203" pitchFamily="34" charset="-122"/>
                </a:rPr>
                <a:t>P2P</a:t>
              </a:r>
              <a:endParaRPr lang="zh-CN" altLang="en-US" sz="1600" dirty="0">
                <a:latin typeface="Montserrat" panose="00000500000000000000" pitchFamily="2" charset="0"/>
                <a:ea typeface="微软雅黑 Light" panose="020B0502040204020203" pitchFamily="34" charset="-122"/>
              </a:endParaRPr>
            </a:p>
          </p:txBody>
        </p:sp>
      </p:grpSp>
    </p:spTree>
    <p:extLst>
      <p:ext uri="{BB962C8B-B14F-4D97-AF65-F5344CB8AC3E}">
        <p14:creationId xmlns:p14="http://schemas.microsoft.com/office/powerpoint/2010/main" val="16488890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6">
            <a:extLst>
              <a:ext uri="{FF2B5EF4-FFF2-40B4-BE49-F238E27FC236}">
                <a16:creationId xmlns:a16="http://schemas.microsoft.com/office/drawing/2014/main" id="{F8FAFB5A-AC43-C234-948E-17670A18F530}"/>
              </a:ext>
            </a:extLst>
          </p:cNvPr>
          <p:cNvSpPr>
            <a:spLocks noChangeShapeType="1"/>
          </p:cNvSpPr>
          <p:nvPr/>
        </p:nvSpPr>
        <p:spPr bwMode="auto">
          <a:xfrm flipH="1" flipV="1">
            <a:off x="2985500" y="3078136"/>
            <a:ext cx="772509" cy="269821"/>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1" name="Line 7">
            <a:extLst>
              <a:ext uri="{FF2B5EF4-FFF2-40B4-BE49-F238E27FC236}">
                <a16:creationId xmlns:a16="http://schemas.microsoft.com/office/drawing/2014/main" id="{C272F48E-7F83-69E7-848B-1C35AFEE4CFF}"/>
              </a:ext>
            </a:extLst>
          </p:cNvPr>
          <p:cNvSpPr>
            <a:spLocks noChangeShapeType="1"/>
          </p:cNvSpPr>
          <p:nvPr/>
        </p:nvSpPr>
        <p:spPr bwMode="auto">
          <a:xfrm flipH="1">
            <a:off x="5414021" y="3356730"/>
            <a:ext cx="783490" cy="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2" name="Line 8">
            <a:extLst>
              <a:ext uri="{FF2B5EF4-FFF2-40B4-BE49-F238E27FC236}">
                <a16:creationId xmlns:a16="http://schemas.microsoft.com/office/drawing/2014/main" id="{DB3D1EAE-3555-D06E-FEF9-56C2D0E3FDD4}"/>
              </a:ext>
            </a:extLst>
          </p:cNvPr>
          <p:cNvSpPr>
            <a:spLocks noChangeShapeType="1"/>
          </p:cNvSpPr>
          <p:nvPr/>
        </p:nvSpPr>
        <p:spPr bwMode="auto">
          <a:xfrm flipH="1">
            <a:off x="4893439" y="2410822"/>
            <a:ext cx="449997" cy="66968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3" name="Line 9">
            <a:extLst>
              <a:ext uri="{FF2B5EF4-FFF2-40B4-BE49-F238E27FC236}">
                <a16:creationId xmlns:a16="http://schemas.microsoft.com/office/drawing/2014/main" id="{44C30A27-53DD-7298-8FD1-50A83B2CCBB1}"/>
              </a:ext>
            </a:extLst>
          </p:cNvPr>
          <p:cNvSpPr>
            <a:spLocks noChangeShapeType="1"/>
          </p:cNvSpPr>
          <p:nvPr/>
        </p:nvSpPr>
        <p:spPr bwMode="auto">
          <a:xfrm flipH="1" flipV="1">
            <a:off x="4888716" y="3827203"/>
            <a:ext cx="397570" cy="394714"/>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4" name="Line 10">
            <a:extLst>
              <a:ext uri="{FF2B5EF4-FFF2-40B4-BE49-F238E27FC236}">
                <a16:creationId xmlns:a16="http://schemas.microsoft.com/office/drawing/2014/main" id="{6B4F092D-C0D3-CA58-1BD2-50E68D96CE30}"/>
              </a:ext>
            </a:extLst>
          </p:cNvPr>
          <p:cNvSpPr>
            <a:spLocks noChangeShapeType="1"/>
          </p:cNvSpPr>
          <p:nvPr/>
        </p:nvSpPr>
        <p:spPr bwMode="auto">
          <a:xfrm>
            <a:off x="3574359" y="2505016"/>
            <a:ext cx="451453" cy="483413"/>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15" name="Line 11">
            <a:extLst>
              <a:ext uri="{FF2B5EF4-FFF2-40B4-BE49-F238E27FC236}">
                <a16:creationId xmlns:a16="http://schemas.microsoft.com/office/drawing/2014/main" id="{E158CAD3-0E5A-A773-76CD-F45B45AAF6DF}"/>
              </a:ext>
            </a:extLst>
          </p:cNvPr>
          <p:cNvSpPr>
            <a:spLocks noChangeShapeType="1"/>
          </p:cNvSpPr>
          <p:nvPr/>
        </p:nvSpPr>
        <p:spPr bwMode="auto">
          <a:xfrm flipV="1">
            <a:off x="3965814" y="3782995"/>
            <a:ext cx="91747" cy="548460"/>
          </a:xfrm>
          <a:prstGeom prst="line">
            <a:avLst/>
          </a:prstGeom>
          <a:noFill/>
          <a:ln w="28575">
            <a:solidFill>
              <a:schemeClr val="tx1"/>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52" name="云形 51">
            <a:extLst>
              <a:ext uri="{FF2B5EF4-FFF2-40B4-BE49-F238E27FC236}">
                <a16:creationId xmlns:a16="http://schemas.microsoft.com/office/drawing/2014/main" id="{7B232DDD-B483-200B-026F-155B951FF70C}"/>
              </a:ext>
            </a:extLst>
          </p:cNvPr>
          <p:cNvSpPr/>
          <p:nvPr/>
        </p:nvSpPr>
        <p:spPr>
          <a:xfrm>
            <a:off x="3321003" y="2690913"/>
            <a:ext cx="2347402" cy="1246103"/>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A3D903DF-B419-8C7C-6467-60EF15D5F893}"/>
              </a:ext>
            </a:extLst>
          </p:cNvPr>
          <p:cNvSpPr>
            <a:spLocks noGrp="1"/>
          </p:cNvSpPr>
          <p:nvPr>
            <p:ph type="title"/>
          </p:nvPr>
        </p:nvSpPr>
        <p:spPr>
          <a:xfrm>
            <a:off x="485999" y="144000"/>
            <a:ext cx="8171999" cy="338554"/>
          </a:xfrm>
        </p:spPr>
        <p:txBody>
          <a:bodyPr/>
          <a:lstStyle/>
          <a:p>
            <a:r>
              <a:rPr lang="en-US" altLang="zh-CN" dirty="0"/>
              <a:t>6.9.0 P2P</a:t>
            </a:r>
            <a:endParaRPr lang="zh-CN" altLang="en-US" dirty="0"/>
          </a:p>
        </p:txBody>
      </p:sp>
      <p:sp>
        <p:nvSpPr>
          <p:cNvPr id="3" name="内容占位符 2">
            <a:extLst>
              <a:ext uri="{FF2B5EF4-FFF2-40B4-BE49-F238E27FC236}">
                <a16:creationId xmlns:a16="http://schemas.microsoft.com/office/drawing/2014/main" id="{162ADCCB-9777-D965-EC11-7B42BB555E22}"/>
              </a:ext>
            </a:extLst>
          </p:cNvPr>
          <p:cNvSpPr>
            <a:spLocks noGrp="1"/>
          </p:cNvSpPr>
          <p:nvPr>
            <p:ph sz="quarter" idx="11"/>
          </p:nvPr>
        </p:nvSpPr>
        <p:spPr>
          <a:xfrm>
            <a:off x="486000" y="687518"/>
            <a:ext cx="8172000" cy="4079035"/>
          </a:xfrm>
        </p:spPr>
        <p:txBody>
          <a:bodyPr/>
          <a:lstStyle/>
          <a:p>
            <a:r>
              <a:rPr lang="zh-CN" altLang="en-US" dirty="0"/>
              <a:t>两台主机在通信时不区分服务请求方和服务提供方</a:t>
            </a:r>
          </a:p>
          <a:p>
            <a:r>
              <a:rPr lang="zh-CN" altLang="en-US" dirty="0"/>
              <a:t>运行 </a:t>
            </a:r>
            <a:r>
              <a:rPr lang="en-US" altLang="zh-CN" dirty="0"/>
              <a:t>P2P </a:t>
            </a:r>
            <a:r>
              <a:rPr lang="zh-CN" altLang="en-US" dirty="0"/>
              <a:t>软件</a:t>
            </a:r>
            <a:endParaRPr lang="en-US" altLang="zh-CN" dirty="0"/>
          </a:p>
          <a:p>
            <a:r>
              <a:rPr lang="zh-CN" altLang="en-US" dirty="0"/>
              <a:t>对等连接通信</a:t>
            </a:r>
            <a:endParaRPr lang="en-US" altLang="zh-CN" dirty="0"/>
          </a:p>
          <a:p>
            <a:pPr lvl="1"/>
            <a:r>
              <a:rPr lang="zh-CN" altLang="en-US" dirty="0"/>
              <a:t>对等连接方式从本质上看仍然是使用客户服务器方式</a:t>
            </a:r>
            <a:endParaRPr lang="en-US" altLang="zh-CN" dirty="0"/>
          </a:p>
          <a:p>
            <a:pPr lvl="1"/>
            <a:r>
              <a:rPr lang="zh-CN" altLang="en-US" dirty="0"/>
              <a:t>对等连接中的每一个主机既是客户又是服务器</a:t>
            </a:r>
          </a:p>
          <a:p>
            <a:endParaRPr lang="zh-CN" altLang="en-US" dirty="0"/>
          </a:p>
          <a:p>
            <a:endParaRPr lang="zh-CN" altLang="en-US" dirty="0"/>
          </a:p>
        </p:txBody>
      </p:sp>
      <p:sp>
        <p:nvSpPr>
          <p:cNvPr id="8" name="Oval 4">
            <a:extLst>
              <a:ext uri="{FF2B5EF4-FFF2-40B4-BE49-F238E27FC236}">
                <a16:creationId xmlns:a16="http://schemas.microsoft.com/office/drawing/2014/main" id="{6196F85F-EFC0-BCDE-6EF0-F465734B1A2C}"/>
              </a:ext>
            </a:extLst>
          </p:cNvPr>
          <p:cNvSpPr>
            <a:spLocks noChangeArrowheads="1"/>
          </p:cNvSpPr>
          <p:nvPr/>
        </p:nvSpPr>
        <p:spPr bwMode="auto">
          <a:xfrm>
            <a:off x="2351314" y="1950294"/>
            <a:ext cx="4441371" cy="2816969"/>
          </a:xfrm>
          <a:prstGeom prst="ellipse">
            <a:avLst/>
          </a:prstGeom>
          <a:noFill/>
          <a:ln w="9525">
            <a:solidFill>
              <a:schemeClr val="tx1"/>
            </a:solidFill>
            <a:prstDash val="lgDash"/>
          </a:ln>
          <a:effectLst/>
          <a:scene3d>
            <a:camera prst="orthographicFront">
              <a:rot lat="0" lon="0" rev="0"/>
            </a:camera>
            <a:lightRig rig="contrasting" dir="t">
              <a:rot lat="0" lon="0" rev="7800000"/>
            </a:lightRig>
          </a:scene3d>
          <a:sp3d/>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latin typeface="Montserrat" panose="00000500000000000000" pitchFamily="2" charset="0"/>
              <a:ea typeface="微软雅黑 Light" panose="020B0502040204020203" pitchFamily="34" charset="-122"/>
            </a:endParaRPr>
          </a:p>
        </p:txBody>
      </p:sp>
      <p:sp>
        <p:nvSpPr>
          <p:cNvPr id="9" name="Line 5">
            <a:extLst>
              <a:ext uri="{FF2B5EF4-FFF2-40B4-BE49-F238E27FC236}">
                <a16:creationId xmlns:a16="http://schemas.microsoft.com/office/drawing/2014/main" id="{4F5DBDF3-5F55-0651-D87A-67739DA46227}"/>
              </a:ext>
            </a:extLst>
          </p:cNvPr>
          <p:cNvSpPr>
            <a:spLocks noChangeShapeType="1"/>
          </p:cNvSpPr>
          <p:nvPr/>
        </p:nvSpPr>
        <p:spPr bwMode="auto">
          <a:xfrm flipV="1">
            <a:off x="3235382" y="3634142"/>
            <a:ext cx="512618" cy="338537"/>
          </a:xfrm>
          <a:prstGeom prst="line">
            <a:avLst/>
          </a:prstGeom>
          <a:noFill/>
          <a:ln w="28575">
            <a:solidFill>
              <a:srgbClr val="008000"/>
            </a:solidFill>
            <a:rou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4D7A48C8-9F9B-F7C8-756B-B8D5C9850655}"/>
              </a:ext>
            </a:extLst>
          </p:cNvPr>
          <p:cNvSpPr txBox="1">
            <a:spLocks noChangeArrowheads="1"/>
          </p:cNvSpPr>
          <p:nvPr/>
        </p:nvSpPr>
        <p:spPr bwMode="auto">
          <a:xfrm>
            <a:off x="4142331" y="3321876"/>
            <a:ext cx="1090078" cy="307777"/>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400" dirty="0">
                <a:latin typeface="Montserrat" panose="00000500000000000000" pitchFamily="2" charset="0"/>
                <a:ea typeface="微软雅黑 Light" panose="020B0502040204020203" pitchFamily="34" charset="-122"/>
              </a:rPr>
              <a:t>网络核心</a:t>
            </a:r>
          </a:p>
        </p:txBody>
      </p:sp>
      <p:sp>
        <p:nvSpPr>
          <p:cNvPr id="28" name="Text Box 30">
            <a:extLst>
              <a:ext uri="{FF2B5EF4-FFF2-40B4-BE49-F238E27FC236}">
                <a16:creationId xmlns:a16="http://schemas.microsoft.com/office/drawing/2014/main" id="{B5026941-0CFD-3946-D3D8-A710CE4B138F}"/>
              </a:ext>
            </a:extLst>
          </p:cNvPr>
          <p:cNvSpPr txBox="1">
            <a:spLocks noChangeArrowheads="1"/>
          </p:cNvSpPr>
          <p:nvPr/>
        </p:nvSpPr>
        <p:spPr bwMode="auto">
          <a:xfrm>
            <a:off x="5541300" y="2482375"/>
            <a:ext cx="1370528"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29" name="Text Box 31">
            <a:extLst>
              <a:ext uri="{FF2B5EF4-FFF2-40B4-BE49-F238E27FC236}">
                <a16:creationId xmlns:a16="http://schemas.microsoft.com/office/drawing/2014/main" id="{D3AC7E9B-A6DF-AD23-02F2-508AE5090317}"/>
              </a:ext>
            </a:extLst>
          </p:cNvPr>
          <p:cNvSpPr txBox="1">
            <a:spLocks noChangeArrowheads="1"/>
          </p:cNvSpPr>
          <p:nvPr/>
        </p:nvSpPr>
        <p:spPr bwMode="auto">
          <a:xfrm>
            <a:off x="5580908" y="3990642"/>
            <a:ext cx="1162535"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30" name="Line 32">
            <a:extLst>
              <a:ext uri="{FF2B5EF4-FFF2-40B4-BE49-F238E27FC236}">
                <a16:creationId xmlns:a16="http://schemas.microsoft.com/office/drawing/2014/main" id="{18816B48-6758-661A-81AF-2DEC503D477F}"/>
              </a:ext>
            </a:extLst>
          </p:cNvPr>
          <p:cNvSpPr>
            <a:spLocks noChangeShapeType="1"/>
          </p:cNvSpPr>
          <p:nvPr/>
        </p:nvSpPr>
        <p:spPr bwMode="auto">
          <a:xfrm flipH="1">
            <a:off x="5363348" y="2599140"/>
            <a:ext cx="0" cy="1577377"/>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1" name="Line 33">
            <a:extLst>
              <a:ext uri="{FF2B5EF4-FFF2-40B4-BE49-F238E27FC236}">
                <a16:creationId xmlns:a16="http://schemas.microsoft.com/office/drawing/2014/main" id="{51B02DC5-B80E-DCA0-A1E9-71B02ADBD78F}"/>
              </a:ext>
            </a:extLst>
          </p:cNvPr>
          <p:cNvSpPr>
            <a:spLocks noChangeShapeType="1"/>
          </p:cNvSpPr>
          <p:nvPr/>
        </p:nvSpPr>
        <p:spPr bwMode="auto">
          <a:xfrm flipH="1" flipV="1">
            <a:off x="5542118" y="2410288"/>
            <a:ext cx="231860" cy="132613"/>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19CC8C87-ECFF-878E-7E8C-5CC5287D3CD0}"/>
              </a:ext>
            </a:extLst>
          </p:cNvPr>
          <p:cNvSpPr>
            <a:spLocks noChangeShapeType="1"/>
          </p:cNvSpPr>
          <p:nvPr/>
        </p:nvSpPr>
        <p:spPr bwMode="auto">
          <a:xfrm flipH="1">
            <a:off x="5567793" y="4201725"/>
            <a:ext cx="232938" cy="12973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3" name="Text Box 35">
            <a:extLst>
              <a:ext uri="{FF2B5EF4-FFF2-40B4-BE49-F238E27FC236}">
                <a16:creationId xmlns:a16="http://schemas.microsoft.com/office/drawing/2014/main" id="{A12B16B7-E42B-B582-2C52-8454E558ED50}"/>
              </a:ext>
            </a:extLst>
          </p:cNvPr>
          <p:cNvSpPr txBox="1">
            <a:spLocks noChangeArrowheads="1"/>
          </p:cNvSpPr>
          <p:nvPr/>
        </p:nvSpPr>
        <p:spPr bwMode="auto">
          <a:xfrm>
            <a:off x="4893439" y="4237781"/>
            <a:ext cx="28851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D</a:t>
            </a:r>
          </a:p>
        </p:txBody>
      </p:sp>
      <p:sp>
        <p:nvSpPr>
          <p:cNvPr id="34" name="Text Box 36">
            <a:extLst>
              <a:ext uri="{FF2B5EF4-FFF2-40B4-BE49-F238E27FC236}">
                <a16:creationId xmlns:a16="http://schemas.microsoft.com/office/drawing/2014/main" id="{E920EFC0-7C9B-3750-7E5F-A3BF75975F41}"/>
              </a:ext>
            </a:extLst>
          </p:cNvPr>
          <p:cNvSpPr txBox="1">
            <a:spLocks noChangeArrowheads="1"/>
          </p:cNvSpPr>
          <p:nvPr/>
        </p:nvSpPr>
        <p:spPr bwMode="auto">
          <a:xfrm>
            <a:off x="5465715" y="2128690"/>
            <a:ext cx="269400"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C</a:t>
            </a:r>
          </a:p>
        </p:txBody>
      </p:sp>
      <p:sp>
        <p:nvSpPr>
          <p:cNvPr id="35" name="Line 38">
            <a:extLst>
              <a:ext uri="{FF2B5EF4-FFF2-40B4-BE49-F238E27FC236}">
                <a16:creationId xmlns:a16="http://schemas.microsoft.com/office/drawing/2014/main" id="{7785B140-5F1A-B8E7-27AB-1AD8804E694A}"/>
              </a:ext>
            </a:extLst>
          </p:cNvPr>
          <p:cNvSpPr>
            <a:spLocks noChangeShapeType="1"/>
          </p:cNvSpPr>
          <p:nvPr/>
        </p:nvSpPr>
        <p:spPr bwMode="auto">
          <a:xfrm flipH="1">
            <a:off x="3329405" y="2669284"/>
            <a:ext cx="263066" cy="1113712"/>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36" name="Text Box 39">
            <a:extLst>
              <a:ext uri="{FF2B5EF4-FFF2-40B4-BE49-F238E27FC236}">
                <a16:creationId xmlns:a16="http://schemas.microsoft.com/office/drawing/2014/main" id="{A378B0E8-0159-A601-D693-BD7BCCCB26AF}"/>
              </a:ext>
            </a:extLst>
          </p:cNvPr>
          <p:cNvSpPr txBox="1">
            <a:spLocks noChangeArrowheads="1"/>
          </p:cNvSpPr>
          <p:nvPr/>
        </p:nvSpPr>
        <p:spPr bwMode="auto">
          <a:xfrm>
            <a:off x="3647089" y="2064613"/>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E</a:t>
            </a:r>
          </a:p>
        </p:txBody>
      </p:sp>
      <p:sp>
        <p:nvSpPr>
          <p:cNvPr id="37" name="Text Box 40">
            <a:extLst>
              <a:ext uri="{FF2B5EF4-FFF2-40B4-BE49-F238E27FC236}">
                <a16:creationId xmlns:a16="http://schemas.microsoft.com/office/drawing/2014/main" id="{827A4F61-8B87-3D7E-0333-1FE38CD60C7A}"/>
              </a:ext>
            </a:extLst>
          </p:cNvPr>
          <p:cNvSpPr txBox="1">
            <a:spLocks noChangeArrowheads="1"/>
          </p:cNvSpPr>
          <p:nvPr/>
        </p:nvSpPr>
        <p:spPr bwMode="auto">
          <a:xfrm>
            <a:off x="2893303" y="3997434"/>
            <a:ext cx="256166"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F</a:t>
            </a:r>
          </a:p>
        </p:txBody>
      </p:sp>
      <p:sp>
        <p:nvSpPr>
          <p:cNvPr id="38" name="Text Box 41">
            <a:extLst>
              <a:ext uri="{FF2B5EF4-FFF2-40B4-BE49-F238E27FC236}">
                <a16:creationId xmlns:a16="http://schemas.microsoft.com/office/drawing/2014/main" id="{5D7E9807-00AD-5097-D27D-61F86C244E0E}"/>
              </a:ext>
            </a:extLst>
          </p:cNvPr>
          <p:cNvSpPr txBox="1">
            <a:spLocks noChangeArrowheads="1"/>
          </p:cNvSpPr>
          <p:nvPr/>
        </p:nvSpPr>
        <p:spPr bwMode="auto">
          <a:xfrm>
            <a:off x="2166582" y="2466034"/>
            <a:ext cx="1170349" cy="261610"/>
          </a:xfrm>
          <a:prstGeom prst="rect">
            <a:avLst/>
          </a:prstGeom>
          <a:solidFill>
            <a:schemeClr val="bg1"/>
          </a:solid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zh-CN" altLang="en-US" sz="1100" dirty="0">
                <a:latin typeface="Montserrat" panose="00000500000000000000" pitchFamily="2" charset="0"/>
                <a:ea typeface="微软雅黑 Light" panose="020B0502040204020203" pitchFamily="34" charset="-122"/>
              </a:rPr>
              <a:t>运行</a:t>
            </a:r>
            <a:r>
              <a:rPr kumimoji="1" lang="en-US" altLang="zh-CN" sz="1100" dirty="0">
                <a:latin typeface="Montserrat" panose="00000500000000000000" pitchFamily="2" charset="0"/>
                <a:ea typeface="微软雅黑 Light" panose="020B0502040204020203" pitchFamily="34" charset="-122"/>
              </a:rPr>
              <a:t>P2P </a:t>
            </a:r>
            <a:r>
              <a:rPr kumimoji="1" lang="zh-CN" altLang="en-US" sz="1100" dirty="0">
                <a:latin typeface="Montserrat" panose="00000500000000000000" pitchFamily="2" charset="0"/>
                <a:ea typeface="微软雅黑 Light" panose="020B0502040204020203" pitchFamily="34" charset="-122"/>
              </a:rPr>
              <a:t>程序</a:t>
            </a:r>
          </a:p>
        </p:txBody>
      </p:sp>
      <p:sp>
        <p:nvSpPr>
          <p:cNvPr id="39" name="Text Box 42">
            <a:extLst>
              <a:ext uri="{FF2B5EF4-FFF2-40B4-BE49-F238E27FC236}">
                <a16:creationId xmlns:a16="http://schemas.microsoft.com/office/drawing/2014/main" id="{08349959-9A18-E6BD-C077-7945617E2EF6}"/>
              </a:ext>
            </a:extLst>
          </p:cNvPr>
          <p:cNvSpPr txBox="1">
            <a:spLocks noChangeArrowheads="1"/>
          </p:cNvSpPr>
          <p:nvPr/>
        </p:nvSpPr>
        <p:spPr bwMode="auto">
          <a:xfrm>
            <a:off x="1836338" y="3613742"/>
            <a:ext cx="1073837" cy="261610"/>
          </a:xfrm>
          <a:prstGeom prst="rect">
            <a:avLst/>
          </a:prstGeom>
          <a:solidFill>
            <a:schemeClr val="bg1"/>
          </a:solidFill>
          <a:ln>
            <a:noFill/>
          </a:ln>
          <a:effectLst/>
        </p:spPr>
        <p:txBody>
          <a:bodyPr wrap="square">
            <a:spAutoFit/>
          </a:bodyPr>
          <a:lstStyle>
            <a:defPPr>
              <a:defRPr lang="zh-CN"/>
            </a:defPPr>
            <a:lvl1pPr algn="ctr">
              <a:defRPr kumimoji="1" sz="1100">
                <a:latin typeface="Montserrat" panose="00000500000000000000" pitchFamily="2" charset="0"/>
                <a:ea typeface="微软雅黑 Light" panose="020B0502040204020203" pitchFamily="34" charset="-122"/>
              </a:defRPr>
            </a:lvl1pPr>
            <a:lvl2pPr marL="742950" indent="-285750">
              <a:defRPr>
                <a:latin typeface="Calibri" panose="020F0502020204030204" pitchFamily="34" charset="0"/>
                <a:ea typeface="宋体" panose="02010600030101010101" pitchFamily="2" charset="-122"/>
              </a:defRPr>
            </a:lvl2pPr>
            <a:lvl3pPr marL="1143000" indent="-228600">
              <a:defRPr>
                <a:latin typeface="Calibri" panose="020F0502020204030204" pitchFamily="34" charset="0"/>
                <a:ea typeface="宋体" panose="02010600030101010101" pitchFamily="2" charset="-122"/>
              </a:defRPr>
            </a:lvl3pPr>
            <a:lvl4pPr marL="1600200" indent="-228600">
              <a:defRPr>
                <a:latin typeface="Calibri" panose="020F0502020204030204" pitchFamily="34" charset="0"/>
                <a:ea typeface="宋体" panose="02010600030101010101" pitchFamily="2" charset="-122"/>
              </a:defRPr>
            </a:lvl4pPr>
            <a:lvl5pPr marL="2057400" indent="-228600">
              <a:defRPr>
                <a:latin typeface="Calibri" panose="020F0502020204030204" pitchFamily="34" charset="0"/>
                <a:ea typeface="宋体" panose="02010600030101010101" pitchFamily="2" charset="-122"/>
              </a:defRPr>
            </a:lvl5pPr>
            <a:lvl6pPr marL="2514600" indent="-228600" fontAlgn="base">
              <a:spcBef>
                <a:spcPct val="0"/>
              </a:spcBef>
              <a:spcAft>
                <a:spcPct val="0"/>
              </a:spcAft>
              <a:defRPr>
                <a:latin typeface="Calibri" panose="020F0502020204030204" pitchFamily="34" charset="0"/>
                <a:ea typeface="宋体" panose="02010600030101010101" pitchFamily="2" charset="-122"/>
              </a:defRPr>
            </a:lvl6pPr>
            <a:lvl7pPr marL="2971800" indent="-228600" fontAlgn="base">
              <a:spcBef>
                <a:spcPct val="0"/>
              </a:spcBef>
              <a:spcAft>
                <a:spcPct val="0"/>
              </a:spcAft>
              <a:defRPr>
                <a:latin typeface="Calibri" panose="020F0502020204030204" pitchFamily="34" charset="0"/>
                <a:ea typeface="宋体" panose="02010600030101010101" pitchFamily="2" charset="-122"/>
              </a:defRPr>
            </a:lvl7pPr>
            <a:lvl8pPr marL="3429000" indent="-228600" fontAlgn="base">
              <a:spcBef>
                <a:spcPct val="0"/>
              </a:spcBef>
              <a:spcAft>
                <a:spcPct val="0"/>
              </a:spcAft>
              <a:defRPr>
                <a:latin typeface="Calibri" panose="020F0502020204030204" pitchFamily="34" charset="0"/>
                <a:ea typeface="宋体" panose="02010600030101010101" pitchFamily="2" charset="-122"/>
              </a:defRPr>
            </a:lvl8pPr>
            <a:lvl9pPr marL="3886200" indent="-228600" fontAlgn="base">
              <a:spcBef>
                <a:spcPct val="0"/>
              </a:spcBef>
              <a:spcAft>
                <a:spcPct val="0"/>
              </a:spcAft>
              <a:defRPr>
                <a:latin typeface="Calibri" panose="020F0502020204030204" pitchFamily="34" charset="0"/>
                <a:ea typeface="宋体" panose="02010600030101010101" pitchFamily="2" charset="-122"/>
              </a:defRPr>
            </a:lvl9pPr>
          </a:lstStyle>
          <a:p>
            <a:r>
              <a:rPr lang="zh-CN" altLang="en-US" dirty="0"/>
              <a:t>运行</a:t>
            </a:r>
            <a:r>
              <a:rPr lang="en-US" altLang="zh-CN" dirty="0"/>
              <a:t>P2P </a:t>
            </a:r>
            <a:r>
              <a:rPr lang="zh-CN" altLang="en-US" dirty="0"/>
              <a:t>程序</a:t>
            </a:r>
          </a:p>
        </p:txBody>
      </p:sp>
      <p:sp>
        <p:nvSpPr>
          <p:cNvPr id="40" name="Line 43">
            <a:extLst>
              <a:ext uri="{FF2B5EF4-FFF2-40B4-BE49-F238E27FC236}">
                <a16:creationId xmlns:a16="http://schemas.microsoft.com/office/drawing/2014/main" id="{A202D064-15EC-7216-3B3A-512A32E8DB80}"/>
              </a:ext>
            </a:extLst>
          </p:cNvPr>
          <p:cNvSpPr>
            <a:spLocks noChangeShapeType="1"/>
          </p:cNvSpPr>
          <p:nvPr/>
        </p:nvSpPr>
        <p:spPr bwMode="auto">
          <a:xfrm flipV="1">
            <a:off x="3233896" y="2425145"/>
            <a:ext cx="401939" cy="159660"/>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1" name="Line 44">
            <a:extLst>
              <a:ext uri="{FF2B5EF4-FFF2-40B4-BE49-F238E27FC236}">
                <a16:creationId xmlns:a16="http://schemas.microsoft.com/office/drawing/2014/main" id="{0B688781-323E-51F0-011F-227B1A214946}"/>
              </a:ext>
            </a:extLst>
          </p:cNvPr>
          <p:cNvSpPr>
            <a:spLocks noChangeShapeType="1"/>
          </p:cNvSpPr>
          <p:nvPr/>
        </p:nvSpPr>
        <p:spPr bwMode="auto">
          <a:xfrm>
            <a:off x="2861730" y="3733767"/>
            <a:ext cx="240625" cy="189198"/>
          </a:xfrm>
          <a:prstGeom prst="line">
            <a:avLst/>
          </a:prstGeom>
          <a:noFill/>
          <a:ln w="19050">
            <a:solidFill>
              <a:schemeClr val="tx1"/>
            </a:solidFill>
            <a:prstDash val="sysDash"/>
            <a:round/>
            <a:headEnd type="triangle"/>
            <a:tailEnd type="none"/>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sp>
        <p:nvSpPr>
          <p:cNvPr id="42" name="Line 45">
            <a:extLst>
              <a:ext uri="{FF2B5EF4-FFF2-40B4-BE49-F238E27FC236}">
                <a16:creationId xmlns:a16="http://schemas.microsoft.com/office/drawing/2014/main" id="{A339371D-2AEE-E1B9-2874-8A3334DFCDE8}"/>
              </a:ext>
            </a:extLst>
          </p:cNvPr>
          <p:cNvSpPr>
            <a:spLocks noChangeShapeType="1"/>
          </p:cNvSpPr>
          <p:nvPr/>
        </p:nvSpPr>
        <p:spPr bwMode="auto">
          <a:xfrm flipH="1">
            <a:off x="3439966" y="2501462"/>
            <a:ext cx="1753518" cy="1275179"/>
          </a:xfrm>
          <a:prstGeom prst="line">
            <a:avLst/>
          </a:prstGeom>
          <a:noFill/>
          <a:ln w="28575">
            <a:solidFill>
              <a:srgbClr val="CC00CC">
                <a:alpha val="79999"/>
              </a:srgbClr>
            </a:solidFill>
            <a:prstDash val="sysDot"/>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latin typeface="Montserrat" panose="00000500000000000000" pitchFamily="2" charset="0"/>
              <a:ea typeface="微软雅黑 Light" panose="020B0502040204020203" pitchFamily="34" charset="-122"/>
            </a:endParaRPr>
          </a:p>
        </p:txBody>
      </p:sp>
      <p:pic>
        <p:nvPicPr>
          <p:cNvPr id="43" name="Picture 246" descr="jisuanji">
            <a:extLst>
              <a:ext uri="{FF2B5EF4-FFF2-40B4-BE49-F238E27FC236}">
                <a16:creationId xmlns:a16="http://schemas.microsoft.com/office/drawing/2014/main" id="{63A12B60-2A93-E1FA-4FD5-79ED0E8739A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463321" y="2307515"/>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4" name="图片 38">
            <a:extLst>
              <a:ext uri="{FF2B5EF4-FFF2-40B4-BE49-F238E27FC236}">
                <a16:creationId xmlns:a16="http://schemas.microsoft.com/office/drawing/2014/main" id="{14BBF761-0504-A8E5-2C07-B53056B714B7}"/>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074335" y="3034761"/>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5" name="Picture 246" descr="jisuanji">
            <a:extLst>
              <a:ext uri="{FF2B5EF4-FFF2-40B4-BE49-F238E27FC236}">
                <a16:creationId xmlns:a16="http://schemas.microsoft.com/office/drawing/2014/main" id="{514EE9D9-F751-B360-C3B8-A2945C29BCF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12372" y="2949859"/>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6" name="Picture 246" descr="jisuanji">
            <a:extLst>
              <a:ext uri="{FF2B5EF4-FFF2-40B4-BE49-F238E27FC236}">
                <a16:creationId xmlns:a16="http://schemas.microsoft.com/office/drawing/2014/main" id="{5E5D0280-256D-0518-1393-096751329BF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15524" y="3807736"/>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7" name="Picture 246" descr="jisuanji">
            <a:extLst>
              <a:ext uri="{FF2B5EF4-FFF2-40B4-BE49-F238E27FC236}">
                <a16:creationId xmlns:a16="http://schemas.microsoft.com/office/drawing/2014/main" id="{840E078F-8844-1BF6-7CD2-64AC8CF5EB2A}"/>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00975" y="4125280"/>
            <a:ext cx="360000" cy="3585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8" name="Picture 246" descr="jisuanji">
            <a:extLst>
              <a:ext uri="{FF2B5EF4-FFF2-40B4-BE49-F238E27FC236}">
                <a16:creationId xmlns:a16="http://schemas.microsoft.com/office/drawing/2014/main" id="{6D82C318-310E-B571-BC41-91AA417B17EC}"/>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59127" y="4193094"/>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49" name="Picture 246" descr="jisuanji">
            <a:extLst>
              <a:ext uri="{FF2B5EF4-FFF2-40B4-BE49-F238E27FC236}">
                <a16:creationId xmlns:a16="http://schemas.microsoft.com/office/drawing/2014/main" id="{9405DF62-28E2-7EEE-6E8A-14523F3D3FE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24291" y="2234353"/>
            <a:ext cx="360000" cy="360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0" name="Text Box 39">
            <a:extLst>
              <a:ext uri="{FF2B5EF4-FFF2-40B4-BE49-F238E27FC236}">
                <a16:creationId xmlns:a16="http://schemas.microsoft.com/office/drawing/2014/main" id="{1081EF23-A2B8-7432-0297-E42E0D6D61B9}"/>
              </a:ext>
            </a:extLst>
          </p:cNvPr>
          <p:cNvSpPr txBox="1">
            <a:spLocks noChangeArrowheads="1"/>
          </p:cNvSpPr>
          <p:nvPr/>
        </p:nvSpPr>
        <p:spPr bwMode="auto">
          <a:xfrm>
            <a:off x="2615703" y="2997929"/>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A</a:t>
            </a:r>
          </a:p>
        </p:txBody>
      </p:sp>
      <p:sp>
        <p:nvSpPr>
          <p:cNvPr id="51" name="Text Box 39">
            <a:extLst>
              <a:ext uri="{FF2B5EF4-FFF2-40B4-BE49-F238E27FC236}">
                <a16:creationId xmlns:a16="http://schemas.microsoft.com/office/drawing/2014/main" id="{A738514F-D984-29BF-E0D9-559588017523}"/>
              </a:ext>
            </a:extLst>
          </p:cNvPr>
          <p:cNvSpPr txBox="1">
            <a:spLocks noChangeArrowheads="1"/>
          </p:cNvSpPr>
          <p:nvPr/>
        </p:nvSpPr>
        <p:spPr bwMode="auto">
          <a:xfrm>
            <a:off x="4130556" y="4210086"/>
            <a:ext cx="260577" cy="338554"/>
          </a:xfrm>
          <a:prstGeom prst="rect">
            <a:avLst/>
          </a:prstGeom>
          <a:noFill/>
          <a:ln>
            <a:noFill/>
          </a:ln>
          <a:effec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600" dirty="0">
                <a:latin typeface="Montserrat" panose="00000500000000000000" pitchFamily="2" charset="0"/>
                <a:ea typeface="微软雅黑 Light" panose="020B0502040204020203" pitchFamily="34" charset="-122"/>
              </a:rPr>
              <a:t>B</a:t>
            </a:r>
          </a:p>
        </p:txBody>
      </p:sp>
    </p:spTree>
    <p:extLst>
      <p:ext uri="{BB962C8B-B14F-4D97-AF65-F5344CB8AC3E}">
        <p14:creationId xmlns:p14="http://schemas.microsoft.com/office/powerpoint/2010/main" val="1241473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42"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barn(outHorizontal)">
                                      <p:cBhvr>
                                        <p:cTn id="7" dur="2000"/>
                                        <p:tgtEl>
                                          <p:spTgt spid="30"/>
                                        </p:tgtEl>
                                      </p:cBhvr>
                                    </p:animEffect>
                                  </p:childTnLst>
                                </p:cTn>
                              </p:par>
                            </p:childTnLst>
                          </p:cTn>
                        </p:par>
                        <p:par>
                          <p:cTn id="8" fill="hold">
                            <p:stCondLst>
                              <p:cond delay="2000"/>
                            </p:stCondLst>
                            <p:childTnLst>
                              <p:par>
                                <p:cTn id="9" presetID="16" presetClass="entr" presetSubtype="42" fill="hold" grpId="0" nodeType="afterEffect">
                                  <p:stCondLst>
                                    <p:cond delay="500"/>
                                  </p:stCondLst>
                                  <p:childTnLst>
                                    <p:set>
                                      <p:cBhvr>
                                        <p:cTn id="10" dur="1" fill="hold">
                                          <p:stCondLst>
                                            <p:cond delay="0"/>
                                          </p:stCondLst>
                                        </p:cTn>
                                        <p:tgtEl>
                                          <p:spTgt spid="42"/>
                                        </p:tgtEl>
                                        <p:attrNameLst>
                                          <p:attrName>style.visibility</p:attrName>
                                        </p:attrNameLst>
                                      </p:cBhvr>
                                      <p:to>
                                        <p:strVal val="visible"/>
                                      </p:to>
                                    </p:set>
                                    <p:animEffect transition="in" filter="barn(outHorizontal)">
                                      <p:cBhvr>
                                        <p:cTn id="11" dur="2000"/>
                                        <p:tgtEl>
                                          <p:spTgt spid="42"/>
                                        </p:tgtEl>
                                      </p:cBhvr>
                                    </p:animEffect>
                                  </p:childTnLst>
                                </p:cTn>
                              </p:par>
                            </p:childTnLst>
                          </p:cTn>
                        </p:par>
                        <p:par>
                          <p:cTn id="12" fill="hold">
                            <p:stCondLst>
                              <p:cond delay="4500"/>
                            </p:stCondLst>
                            <p:childTnLst>
                              <p:par>
                                <p:cTn id="13" presetID="16" presetClass="entr" presetSubtype="42" fill="hold" grpId="0" nodeType="afterEffect">
                                  <p:stCondLst>
                                    <p:cond delay="500"/>
                                  </p:stCondLst>
                                  <p:childTnLst>
                                    <p:set>
                                      <p:cBhvr>
                                        <p:cTn id="14" dur="1" fill="hold">
                                          <p:stCondLst>
                                            <p:cond delay="0"/>
                                          </p:stCondLst>
                                        </p:cTn>
                                        <p:tgtEl>
                                          <p:spTgt spid="35"/>
                                        </p:tgtEl>
                                        <p:attrNameLst>
                                          <p:attrName>style.visibility</p:attrName>
                                        </p:attrNameLst>
                                      </p:cBhvr>
                                      <p:to>
                                        <p:strVal val="visible"/>
                                      </p:to>
                                    </p:set>
                                    <p:animEffect transition="in" filter="barn(outHorizontal)">
                                      <p:cBhvr>
                                        <p:cTn id="15" dur="20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5" grpId="0" animBg="1"/>
      <p:bldP spid="42" grpId="0" animBg="1"/>
    </p:bldLst>
  </p:timing>
</p:sld>
</file>

<file path=ppt/slides/slide2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87C824-8E02-0A90-D361-BC8B9C2ABCFD}"/>
              </a:ext>
            </a:extLst>
          </p:cNvPr>
          <p:cNvSpPr>
            <a:spLocks noGrp="1"/>
          </p:cNvSpPr>
          <p:nvPr>
            <p:ph type="title"/>
          </p:nvPr>
        </p:nvSpPr>
        <p:spPr>
          <a:xfrm>
            <a:off x="485999" y="174482"/>
            <a:ext cx="8171999" cy="338554"/>
          </a:xfrm>
        </p:spPr>
        <p:txBody>
          <a:bodyPr/>
          <a:lstStyle/>
          <a:p>
            <a:r>
              <a:rPr lang="en-US" altLang="zh-CN" dirty="0"/>
              <a:t>6.9.0 P2P – </a:t>
            </a:r>
            <a:r>
              <a:rPr lang="zh-CN" altLang="en-US" dirty="0"/>
              <a:t>应用</a:t>
            </a:r>
          </a:p>
        </p:txBody>
      </p:sp>
      <p:sp>
        <p:nvSpPr>
          <p:cNvPr id="3" name="内容占位符 2">
            <a:extLst>
              <a:ext uri="{FF2B5EF4-FFF2-40B4-BE49-F238E27FC236}">
                <a16:creationId xmlns:a16="http://schemas.microsoft.com/office/drawing/2014/main" id="{7EC0004E-7192-CD97-7940-2D62574868EB}"/>
              </a:ext>
            </a:extLst>
          </p:cNvPr>
          <p:cNvSpPr>
            <a:spLocks noGrp="1"/>
          </p:cNvSpPr>
          <p:nvPr>
            <p:ph sz="quarter" idx="11"/>
          </p:nvPr>
        </p:nvSpPr>
        <p:spPr>
          <a:xfrm>
            <a:off x="486000" y="687518"/>
            <a:ext cx="8172000" cy="4079035"/>
          </a:xfrm>
        </p:spPr>
        <p:txBody>
          <a:bodyPr/>
          <a:lstStyle/>
          <a:p>
            <a:r>
              <a:rPr lang="zh-CN" altLang="en-US" dirty="0"/>
              <a:t>文件分发⭐</a:t>
            </a:r>
            <a:endParaRPr lang="en-US" altLang="zh-CN" dirty="0"/>
          </a:p>
          <a:p>
            <a:pPr lvl="1"/>
            <a:r>
              <a:rPr lang="zh-CN" altLang="en-US" dirty="0"/>
              <a:t>文件都是在普通</a:t>
            </a:r>
            <a:r>
              <a:rPr lang="en-US" altLang="zh-CN" dirty="0"/>
              <a:t>/</a:t>
            </a:r>
            <a:r>
              <a:rPr lang="zh-CN" altLang="en-US" dirty="0"/>
              <a:t>对等互联网用户之间传输</a:t>
            </a:r>
            <a:endParaRPr lang="en-US" altLang="zh-CN" dirty="0"/>
          </a:p>
          <a:p>
            <a:r>
              <a:rPr lang="zh-CN" altLang="en-US" dirty="0"/>
              <a:t>实时音频视频</a:t>
            </a:r>
            <a:endParaRPr lang="en-US" altLang="zh-CN" dirty="0"/>
          </a:p>
          <a:p>
            <a:r>
              <a:rPr lang="zh-CN" altLang="en-US" dirty="0"/>
              <a:t>视频会议</a:t>
            </a:r>
            <a:endParaRPr lang="en-US" altLang="zh-CN" dirty="0"/>
          </a:p>
          <a:p>
            <a:r>
              <a:rPr lang="zh-CN" altLang="en-US" dirty="0"/>
              <a:t>数据库系统</a:t>
            </a:r>
            <a:endParaRPr lang="en-US" altLang="zh-CN" dirty="0"/>
          </a:p>
          <a:p>
            <a:r>
              <a:rPr lang="zh-CN" altLang="en-US" dirty="0"/>
              <a:t>特定的应用</a:t>
            </a:r>
            <a:endParaRPr lang="en-US" altLang="zh-CN" dirty="0"/>
          </a:p>
          <a:p>
            <a:pPr lvl="1"/>
            <a:r>
              <a:rPr lang="zh-CN" altLang="en-US" dirty="0"/>
              <a:t>各种</a:t>
            </a:r>
            <a:r>
              <a:rPr lang="en-US" altLang="zh-CN" dirty="0"/>
              <a:t>P2P</a:t>
            </a:r>
            <a:r>
              <a:rPr lang="zh-CN" altLang="en-US" dirty="0"/>
              <a:t>软件</a:t>
            </a:r>
          </a:p>
        </p:txBody>
      </p:sp>
      <p:sp>
        <p:nvSpPr>
          <p:cNvPr id="14" name="云形 13">
            <a:extLst>
              <a:ext uri="{FF2B5EF4-FFF2-40B4-BE49-F238E27FC236}">
                <a16:creationId xmlns:a16="http://schemas.microsoft.com/office/drawing/2014/main" id="{73F97386-65DB-321B-D994-A96C053B1BD8}"/>
              </a:ext>
            </a:extLst>
          </p:cNvPr>
          <p:cNvSpPr/>
          <p:nvPr/>
        </p:nvSpPr>
        <p:spPr>
          <a:xfrm>
            <a:off x="3949066" y="2430925"/>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6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15" name="Picture 197" descr="jisuanji">
            <a:extLst>
              <a:ext uri="{FF2B5EF4-FFF2-40B4-BE49-F238E27FC236}">
                <a16:creationId xmlns:a16="http://schemas.microsoft.com/office/drawing/2014/main" id="{978AB398-1D55-C76D-684B-EABA0486F8E0}"/>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674235" y="262126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97" descr="jisuanji">
            <a:extLst>
              <a:ext uri="{FF2B5EF4-FFF2-40B4-BE49-F238E27FC236}">
                <a16:creationId xmlns:a16="http://schemas.microsoft.com/office/drawing/2014/main" id="{FBC53155-4AC8-BEF2-B203-7B6D0789E99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36161" y="178772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BB176D14-883C-AE81-D413-9AAF43915DFD}"/>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950483" y="198948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C74E20B4-3AF2-0E82-C980-AC44A91C080F}"/>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142712" y="3907246"/>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AD99B913-CA86-A8F7-8B81-020D9F34B47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11714" y="4455999"/>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F0188CFA-B6A4-CCDF-9CFA-FA8ECCB058E9}"/>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101223" y="3854850"/>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21" name="Line 479">
            <a:extLst>
              <a:ext uri="{FF2B5EF4-FFF2-40B4-BE49-F238E27FC236}">
                <a16:creationId xmlns:a16="http://schemas.microsoft.com/office/drawing/2014/main" id="{08FB34E9-753C-AFA4-5C6C-C436B7E32F05}"/>
              </a:ext>
            </a:extLst>
          </p:cNvPr>
          <p:cNvSpPr>
            <a:spLocks noChangeShapeType="1"/>
          </p:cNvSpPr>
          <p:nvPr/>
        </p:nvSpPr>
        <p:spPr bwMode="auto">
          <a:xfrm>
            <a:off x="3039211" y="2889067"/>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2" name="Line 480">
            <a:extLst>
              <a:ext uri="{FF2B5EF4-FFF2-40B4-BE49-F238E27FC236}">
                <a16:creationId xmlns:a16="http://schemas.microsoft.com/office/drawing/2014/main" id="{B72C982F-73BF-201F-07BB-312171B8C07A}"/>
              </a:ext>
            </a:extLst>
          </p:cNvPr>
          <p:cNvSpPr>
            <a:spLocks noChangeShapeType="1"/>
          </p:cNvSpPr>
          <p:nvPr/>
        </p:nvSpPr>
        <p:spPr bwMode="auto">
          <a:xfrm rot="10800000">
            <a:off x="2936418" y="2975894"/>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23" name="Text Box 2748">
            <a:extLst>
              <a:ext uri="{FF2B5EF4-FFF2-40B4-BE49-F238E27FC236}">
                <a16:creationId xmlns:a16="http://schemas.microsoft.com/office/drawing/2014/main" id="{336F0EEE-BA08-84F5-94BF-99AA20D8BACA}"/>
              </a:ext>
            </a:extLst>
          </p:cNvPr>
          <p:cNvSpPr txBox="1">
            <a:spLocks noChangeArrowheads="1"/>
          </p:cNvSpPr>
          <p:nvPr/>
        </p:nvSpPr>
        <p:spPr bwMode="auto">
          <a:xfrm>
            <a:off x="6897721" y="2816692"/>
            <a:ext cx="441146"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20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24" name="Line 2750">
            <a:extLst>
              <a:ext uri="{FF2B5EF4-FFF2-40B4-BE49-F238E27FC236}">
                <a16:creationId xmlns:a16="http://schemas.microsoft.com/office/drawing/2014/main" id="{2778F15F-B8AD-CB78-E400-F29785585846}"/>
              </a:ext>
            </a:extLst>
          </p:cNvPr>
          <p:cNvSpPr>
            <a:spLocks noChangeShapeType="1"/>
          </p:cNvSpPr>
          <p:nvPr/>
        </p:nvSpPr>
        <p:spPr bwMode="auto">
          <a:xfrm rot="816166">
            <a:off x="4176700" y="2163925"/>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5" name="Line 2751">
            <a:extLst>
              <a:ext uri="{FF2B5EF4-FFF2-40B4-BE49-F238E27FC236}">
                <a16:creationId xmlns:a16="http://schemas.microsoft.com/office/drawing/2014/main" id="{13D0AF3E-B583-3500-3EBF-E8ADB90797BC}"/>
              </a:ext>
            </a:extLst>
          </p:cNvPr>
          <p:cNvSpPr>
            <a:spLocks noChangeShapeType="1"/>
          </p:cNvSpPr>
          <p:nvPr/>
        </p:nvSpPr>
        <p:spPr bwMode="auto">
          <a:xfrm rot="11616166">
            <a:off x="4051317" y="2233578"/>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6" name="Line 2753">
            <a:extLst>
              <a:ext uri="{FF2B5EF4-FFF2-40B4-BE49-F238E27FC236}">
                <a16:creationId xmlns:a16="http://schemas.microsoft.com/office/drawing/2014/main" id="{7D3E14B4-A254-6520-8D87-3F2434455634}"/>
              </a:ext>
            </a:extLst>
          </p:cNvPr>
          <p:cNvSpPr>
            <a:spLocks noChangeShapeType="1"/>
          </p:cNvSpPr>
          <p:nvPr/>
        </p:nvSpPr>
        <p:spPr bwMode="auto">
          <a:xfrm rot="18950026">
            <a:off x="3491449" y="367393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7" name="Line 2754">
            <a:extLst>
              <a:ext uri="{FF2B5EF4-FFF2-40B4-BE49-F238E27FC236}">
                <a16:creationId xmlns:a16="http://schemas.microsoft.com/office/drawing/2014/main" id="{FD11B8AA-6DF7-E379-12B2-4AF3DED89272}"/>
              </a:ext>
            </a:extLst>
          </p:cNvPr>
          <p:cNvSpPr>
            <a:spLocks noChangeShapeType="1"/>
          </p:cNvSpPr>
          <p:nvPr/>
        </p:nvSpPr>
        <p:spPr bwMode="auto">
          <a:xfrm rot="8150026">
            <a:off x="3482412" y="378175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8" name="Line 2756">
            <a:extLst>
              <a:ext uri="{FF2B5EF4-FFF2-40B4-BE49-F238E27FC236}">
                <a16:creationId xmlns:a16="http://schemas.microsoft.com/office/drawing/2014/main" id="{BFAF52CC-EE54-034D-DEE2-3F1C904323AF}"/>
              </a:ext>
            </a:extLst>
          </p:cNvPr>
          <p:cNvSpPr>
            <a:spLocks noChangeShapeType="1"/>
          </p:cNvSpPr>
          <p:nvPr/>
        </p:nvSpPr>
        <p:spPr bwMode="auto">
          <a:xfrm rot="13567995">
            <a:off x="5268795" y="4004047"/>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29" name="Line 2757">
            <a:extLst>
              <a:ext uri="{FF2B5EF4-FFF2-40B4-BE49-F238E27FC236}">
                <a16:creationId xmlns:a16="http://schemas.microsoft.com/office/drawing/2014/main" id="{2D6138AA-208D-9497-D7E4-2485995291A6}"/>
              </a:ext>
            </a:extLst>
          </p:cNvPr>
          <p:cNvSpPr>
            <a:spLocks noChangeShapeType="1"/>
          </p:cNvSpPr>
          <p:nvPr/>
        </p:nvSpPr>
        <p:spPr bwMode="auto">
          <a:xfrm rot="2767995">
            <a:off x="5374493" y="3990689"/>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0" name="Line 2759">
            <a:extLst>
              <a:ext uri="{FF2B5EF4-FFF2-40B4-BE49-F238E27FC236}">
                <a16:creationId xmlns:a16="http://schemas.microsoft.com/office/drawing/2014/main" id="{544865B1-D4B5-9DAC-4010-6ED995861EFD}"/>
              </a:ext>
            </a:extLst>
          </p:cNvPr>
          <p:cNvSpPr>
            <a:spLocks noChangeShapeType="1"/>
          </p:cNvSpPr>
          <p:nvPr/>
        </p:nvSpPr>
        <p:spPr bwMode="auto">
          <a:xfrm rot="18997895">
            <a:off x="6195231" y="2179305"/>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1" name="Line 2760">
            <a:extLst>
              <a:ext uri="{FF2B5EF4-FFF2-40B4-BE49-F238E27FC236}">
                <a16:creationId xmlns:a16="http://schemas.microsoft.com/office/drawing/2014/main" id="{07F4C451-03A8-7F3D-BB64-D4A0B8A08E37}"/>
              </a:ext>
            </a:extLst>
          </p:cNvPr>
          <p:cNvSpPr>
            <a:spLocks noChangeShapeType="1"/>
          </p:cNvSpPr>
          <p:nvPr/>
        </p:nvSpPr>
        <p:spPr bwMode="auto">
          <a:xfrm rot="8197895">
            <a:off x="6267223" y="2298686"/>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2" name="Line 2762">
            <a:extLst>
              <a:ext uri="{FF2B5EF4-FFF2-40B4-BE49-F238E27FC236}">
                <a16:creationId xmlns:a16="http://schemas.microsoft.com/office/drawing/2014/main" id="{1CD21D00-38E3-2350-7692-E0C41B3C1865}"/>
              </a:ext>
            </a:extLst>
          </p:cNvPr>
          <p:cNvSpPr>
            <a:spLocks noChangeShapeType="1"/>
          </p:cNvSpPr>
          <p:nvPr/>
        </p:nvSpPr>
        <p:spPr bwMode="auto">
          <a:xfrm rot="1048487">
            <a:off x="6370352" y="3566343"/>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3" name="Line 2763">
            <a:extLst>
              <a:ext uri="{FF2B5EF4-FFF2-40B4-BE49-F238E27FC236}">
                <a16:creationId xmlns:a16="http://schemas.microsoft.com/office/drawing/2014/main" id="{E4DA1144-FEF8-F539-8B52-43C3770C2C02}"/>
              </a:ext>
            </a:extLst>
          </p:cNvPr>
          <p:cNvSpPr>
            <a:spLocks noChangeShapeType="1"/>
          </p:cNvSpPr>
          <p:nvPr/>
        </p:nvSpPr>
        <p:spPr bwMode="auto">
          <a:xfrm rot="11848487">
            <a:off x="6240449" y="3629316"/>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34" name="Text Box 2767">
            <a:extLst>
              <a:ext uri="{FF2B5EF4-FFF2-40B4-BE49-F238E27FC236}">
                <a16:creationId xmlns:a16="http://schemas.microsoft.com/office/drawing/2014/main" id="{9EC2162E-FECA-137B-8C82-BAEE74381D7F}"/>
              </a:ext>
            </a:extLst>
          </p:cNvPr>
          <p:cNvSpPr txBox="1">
            <a:spLocks noChangeArrowheads="1"/>
          </p:cNvSpPr>
          <p:nvPr/>
        </p:nvSpPr>
        <p:spPr bwMode="auto">
          <a:xfrm>
            <a:off x="6573504" y="2263145"/>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u</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35" name="Text Box 2768">
            <a:extLst>
              <a:ext uri="{FF2B5EF4-FFF2-40B4-BE49-F238E27FC236}">
                <a16:creationId xmlns:a16="http://schemas.microsoft.com/office/drawing/2014/main" id="{0E9B2B8E-A995-C9DD-5509-4C48F7EE76A1}"/>
              </a:ext>
            </a:extLst>
          </p:cNvPr>
          <p:cNvSpPr txBox="1">
            <a:spLocks noChangeArrowheads="1"/>
          </p:cNvSpPr>
          <p:nvPr/>
        </p:nvSpPr>
        <p:spPr bwMode="auto">
          <a:xfrm>
            <a:off x="6421182" y="3608325"/>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36" name="Text Box 2769">
            <a:extLst>
              <a:ext uri="{FF2B5EF4-FFF2-40B4-BE49-F238E27FC236}">
                <a16:creationId xmlns:a16="http://schemas.microsoft.com/office/drawing/2014/main" id="{EC020583-59EF-DE1C-C7A4-349BB5B01C0E}"/>
              </a:ext>
            </a:extLst>
          </p:cNvPr>
          <p:cNvSpPr txBox="1">
            <a:spLocks noChangeArrowheads="1"/>
          </p:cNvSpPr>
          <p:nvPr/>
        </p:nvSpPr>
        <p:spPr bwMode="auto">
          <a:xfrm>
            <a:off x="5316748" y="3989870"/>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37" name="Text Box 2770">
            <a:extLst>
              <a:ext uri="{FF2B5EF4-FFF2-40B4-BE49-F238E27FC236}">
                <a16:creationId xmlns:a16="http://schemas.microsoft.com/office/drawing/2014/main" id="{347B2BA2-68CE-454D-D2A5-30B7534CCAE3}"/>
              </a:ext>
            </a:extLst>
          </p:cNvPr>
          <p:cNvSpPr txBox="1">
            <a:spLocks noChangeArrowheads="1"/>
          </p:cNvSpPr>
          <p:nvPr/>
        </p:nvSpPr>
        <p:spPr bwMode="auto">
          <a:xfrm>
            <a:off x="3643943" y="347412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38" name="Text Box 2771">
            <a:extLst>
              <a:ext uri="{FF2B5EF4-FFF2-40B4-BE49-F238E27FC236}">
                <a16:creationId xmlns:a16="http://schemas.microsoft.com/office/drawing/2014/main" id="{FC9BFE53-531C-2FB1-CEBC-80E27F82D399}"/>
              </a:ext>
            </a:extLst>
          </p:cNvPr>
          <p:cNvSpPr txBox="1">
            <a:spLocks noChangeArrowheads="1"/>
          </p:cNvSpPr>
          <p:nvPr/>
        </p:nvSpPr>
        <p:spPr bwMode="auto">
          <a:xfrm>
            <a:off x="3244794" y="2683052"/>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
        <p:nvSpPr>
          <p:cNvPr id="39" name="Text Box 2772">
            <a:extLst>
              <a:ext uri="{FF2B5EF4-FFF2-40B4-BE49-F238E27FC236}">
                <a16:creationId xmlns:a16="http://schemas.microsoft.com/office/drawing/2014/main" id="{0F3B79B5-E782-0530-9EB9-96BFC880A8B6}"/>
              </a:ext>
            </a:extLst>
          </p:cNvPr>
          <p:cNvSpPr txBox="1">
            <a:spLocks noChangeArrowheads="1"/>
          </p:cNvSpPr>
          <p:nvPr/>
        </p:nvSpPr>
        <p:spPr bwMode="auto">
          <a:xfrm>
            <a:off x="4372118" y="1956560"/>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u</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0" name="Text Box 2773">
            <a:extLst>
              <a:ext uri="{FF2B5EF4-FFF2-40B4-BE49-F238E27FC236}">
                <a16:creationId xmlns:a16="http://schemas.microsoft.com/office/drawing/2014/main" id="{082F591C-7938-28D3-91F0-43EE7933F3B9}"/>
              </a:ext>
            </a:extLst>
          </p:cNvPr>
          <p:cNvSpPr txBox="1">
            <a:spLocks noChangeArrowheads="1"/>
          </p:cNvSpPr>
          <p:nvPr/>
        </p:nvSpPr>
        <p:spPr bwMode="auto">
          <a:xfrm>
            <a:off x="6305342" y="1967726"/>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solidFill>
                  <a:srgbClr val="0000FF"/>
                </a:solidFill>
                <a:latin typeface="Montserrat" panose="00000500000000000000" pitchFamily="2" charset="0"/>
                <a:ea typeface="微软雅黑 Light" panose="020B0502040204020203" pitchFamily="34" charset="-122"/>
              </a:rPr>
              <a:t>d</a:t>
            </a:r>
            <a:r>
              <a:rPr kumimoji="1" lang="en-US" altLang="zh-CN" sz="1400" i="1" baseline="-25000" dirty="0" err="1">
                <a:solidFill>
                  <a:srgbClr val="0000FF"/>
                </a:solidFill>
                <a:latin typeface="Montserrat" panose="00000500000000000000" pitchFamily="2" charset="0"/>
                <a:ea typeface="微软雅黑 Light" panose="020B0502040204020203" pitchFamily="34" charset="-122"/>
              </a:rPr>
              <a:t>N</a:t>
            </a:r>
            <a:endParaRPr kumimoji="1" lang="en-US" altLang="zh-CN" sz="1400" i="1" baseline="-25000" dirty="0">
              <a:solidFill>
                <a:srgbClr val="0000FF"/>
              </a:solidFill>
              <a:latin typeface="Montserrat" panose="00000500000000000000" pitchFamily="2" charset="0"/>
              <a:ea typeface="微软雅黑 Light" panose="020B0502040204020203" pitchFamily="34" charset="-122"/>
            </a:endParaRPr>
          </a:p>
        </p:txBody>
      </p:sp>
      <p:sp>
        <p:nvSpPr>
          <p:cNvPr id="41" name="Text Box 2774">
            <a:extLst>
              <a:ext uri="{FF2B5EF4-FFF2-40B4-BE49-F238E27FC236}">
                <a16:creationId xmlns:a16="http://schemas.microsoft.com/office/drawing/2014/main" id="{3BD4AE0E-7817-229B-9102-5C53CCA3DDC2}"/>
              </a:ext>
            </a:extLst>
          </p:cNvPr>
          <p:cNvSpPr txBox="1">
            <a:spLocks noChangeArrowheads="1"/>
          </p:cNvSpPr>
          <p:nvPr/>
        </p:nvSpPr>
        <p:spPr bwMode="auto">
          <a:xfrm>
            <a:off x="4120814" y="2228012"/>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1</a:t>
            </a:r>
          </a:p>
        </p:txBody>
      </p:sp>
      <p:sp>
        <p:nvSpPr>
          <p:cNvPr id="42" name="Text Box 2775">
            <a:extLst>
              <a:ext uri="{FF2B5EF4-FFF2-40B4-BE49-F238E27FC236}">
                <a16:creationId xmlns:a16="http://schemas.microsoft.com/office/drawing/2014/main" id="{DA4D93F4-A0A7-A1B9-F67A-1BFB5D1037EE}"/>
              </a:ext>
            </a:extLst>
          </p:cNvPr>
          <p:cNvSpPr txBox="1">
            <a:spLocks noChangeArrowheads="1"/>
          </p:cNvSpPr>
          <p:nvPr/>
        </p:nvSpPr>
        <p:spPr bwMode="auto">
          <a:xfrm>
            <a:off x="6643925" y="339173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5</a:t>
            </a:r>
          </a:p>
        </p:txBody>
      </p:sp>
      <p:sp>
        <p:nvSpPr>
          <p:cNvPr id="43" name="Text Box 2776">
            <a:extLst>
              <a:ext uri="{FF2B5EF4-FFF2-40B4-BE49-F238E27FC236}">
                <a16:creationId xmlns:a16="http://schemas.microsoft.com/office/drawing/2014/main" id="{EC813D1D-50FA-0FA8-B813-8B701AC2D4FD}"/>
              </a:ext>
            </a:extLst>
          </p:cNvPr>
          <p:cNvSpPr txBox="1">
            <a:spLocks noChangeArrowheads="1"/>
          </p:cNvSpPr>
          <p:nvPr/>
        </p:nvSpPr>
        <p:spPr bwMode="auto">
          <a:xfrm>
            <a:off x="5688003" y="3903998"/>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4</a:t>
            </a:r>
          </a:p>
        </p:txBody>
      </p:sp>
      <p:sp>
        <p:nvSpPr>
          <p:cNvPr id="44" name="Text Box 2777">
            <a:extLst>
              <a:ext uri="{FF2B5EF4-FFF2-40B4-BE49-F238E27FC236}">
                <a16:creationId xmlns:a16="http://schemas.microsoft.com/office/drawing/2014/main" id="{F3DDE3C4-199E-9401-BC2E-3111D380F402}"/>
              </a:ext>
            </a:extLst>
          </p:cNvPr>
          <p:cNvSpPr txBox="1">
            <a:spLocks noChangeArrowheads="1"/>
          </p:cNvSpPr>
          <p:nvPr/>
        </p:nvSpPr>
        <p:spPr bwMode="auto">
          <a:xfrm>
            <a:off x="3859749" y="375655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3</a:t>
            </a:r>
          </a:p>
        </p:txBody>
      </p:sp>
      <p:sp>
        <p:nvSpPr>
          <p:cNvPr id="45" name="Text Box 2778">
            <a:extLst>
              <a:ext uri="{FF2B5EF4-FFF2-40B4-BE49-F238E27FC236}">
                <a16:creationId xmlns:a16="http://schemas.microsoft.com/office/drawing/2014/main" id="{01949736-7421-1B32-47D8-F540304FDCF2}"/>
              </a:ext>
            </a:extLst>
          </p:cNvPr>
          <p:cNvSpPr txBox="1">
            <a:spLocks noChangeArrowheads="1"/>
          </p:cNvSpPr>
          <p:nvPr/>
        </p:nvSpPr>
        <p:spPr bwMode="auto">
          <a:xfrm>
            <a:off x="3192834" y="3039186"/>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solidFill>
                  <a:srgbClr val="0000FF"/>
                </a:solidFill>
                <a:latin typeface="Montserrat" panose="00000500000000000000" pitchFamily="2" charset="0"/>
                <a:ea typeface="微软雅黑 Light" panose="020B0502040204020203" pitchFamily="34" charset="-122"/>
              </a:rPr>
              <a:t>d</a:t>
            </a:r>
            <a:r>
              <a:rPr kumimoji="1" lang="en-US" altLang="zh-CN" sz="1400" baseline="-25000" dirty="0">
                <a:solidFill>
                  <a:srgbClr val="0000FF"/>
                </a:solidFill>
                <a:latin typeface="Montserrat" panose="00000500000000000000" pitchFamily="2" charset="0"/>
                <a:ea typeface="微软雅黑 Light" panose="020B0502040204020203" pitchFamily="34" charset="-122"/>
              </a:rPr>
              <a:t>2</a:t>
            </a:r>
          </a:p>
        </p:txBody>
      </p:sp>
    </p:spTree>
    <p:extLst>
      <p:ext uri="{BB962C8B-B14F-4D97-AF65-F5344CB8AC3E}">
        <p14:creationId xmlns:p14="http://schemas.microsoft.com/office/powerpoint/2010/main" val="1122920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567EA21-EADF-B64E-9DC5-75556FADA4B5}"/>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a:t>
            </a:r>
          </a:p>
        </p:txBody>
      </p:sp>
      <p:sp>
        <p:nvSpPr>
          <p:cNvPr id="6" name="内容占位符 5">
            <a:extLst>
              <a:ext uri="{FF2B5EF4-FFF2-40B4-BE49-F238E27FC236}">
                <a16:creationId xmlns:a16="http://schemas.microsoft.com/office/drawing/2014/main" id="{763DD7E0-6160-A3B8-0823-26B40C6FCF8A}"/>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最早使用 </a:t>
            </a:r>
            <a:r>
              <a:rPr lang="en-US" altLang="zh-CN" dirty="0"/>
              <a:t>P2P </a:t>
            </a:r>
            <a:r>
              <a:rPr lang="zh-CN" altLang="en-US" dirty="0"/>
              <a:t>技术，提供免费下载 </a:t>
            </a:r>
            <a:r>
              <a:rPr lang="en-US" altLang="zh-CN" dirty="0"/>
              <a:t>MP3 </a:t>
            </a:r>
            <a:r>
              <a:rPr lang="zh-CN" altLang="en-US" dirty="0"/>
              <a:t>音乐</a:t>
            </a:r>
          </a:p>
          <a:p>
            <a:r>
              <a:rPr lang="en-US" altLang="zh-CN" dirty="0"/>
              <a:t>Napster </a:t>
            </a:r>
            <a:r>
              <a:rPr lang="zh-CN" altLang="en-US" dirty="0"/>
              <a:t>将所有音乐文件的索引信息都集中存放在 </a:t>
            </a:r>
            <a:r>
              <a:rPr lang="en-US" altLang="zh-CN" dirty="0"/>
              <a:t>Napster </a:t>
            </a:r>
            <a:r>
              <a:rPr lang="zh-CN" altLang="en-US" dirty="0"/>
              <a:t>目录服务器中</a:t>
            </a:r>
            <a:endParaRPr lang="en-US" altLang="zh-CN" dirty="0"/>
          </a:p>
          <a:p>
            <a:r>
              <a:rPr lang="zh-CN" altLang="en-US" dirty="0"/>
              <a:t>使用者只要查找目录服务器，就可知道应从何处下载所要的 </a:t>
            </a:r>
            <a:r>
              <a:rPr lang="en-US" altLang="zh-CN" dirty="0"/>
              <a:t>MP3 </a:t>
            </a:r>
            <a:r>
              <a:rPr lang="zh-CN" altLang="en-US" dirty="0"/>
              <a:t>文件</a:t>
            </a:r>
            <a:endParaRPr lang="en-US" altLang="zh-CN" dirty="0"/>
          </a:p>
          <a:p>
            <a:r>
              <a:rPr lang="zh-CN" altLang="en-US" dirty="0"/>
              <a:t>用户要及时向 </a:t>
            </a:r>
            <a:r>
              <a:rPr lang="en-US" altLang="zh-CN" dirty="0"/>
              <a:t>Napster </a:t>
            </a:r>
            <a:r>
              <a:rPr lang="zh-CN" altLang="en-US" dirty="0"/>
              <a:t>的目录服务器报告自己存有的音乐文件</a:t>
            </a:r>
            <a:endParaRPr lang="en-US" altLang="zh-CN" dirty="0"/>
          </a:p>
          <a:p>
            <a:r>
              <a:rPr lang="en-US" altLang="zh-CN" dirty="0"/>
              <a:t>Napster </a:t>
            </a:r>
            <a:r>
              <a:rPr lang="zh-CN" altLang="en-US" dirty="0"/>
              <a:t>的文件传输是分散的，文件的定位则是集中的</a:t>
            </a:r>
            <a:endParaRPr lang="en-US" altLang="zh-CN" dirty="0"/>
          </a:p>
          <a:p>
            <a:endParaRPr lang="zh-CN" altLang="en-US" dirty="0"/>
          </a:p>
          <a:p>
            <a:endParaRPr lang="zh-CN" altLang="en-US" dirty="0"/>
          </a:p>
        </p:txBody>
      </p:sp>
    </p:spTree>
    <p:extLst>
      <p:ext uri="{BB962C8B-B14F-4D97-AF65-F5344CB8AC3E}">
        <p14:creationId xmlns:p14="http://schemas.microsoft.com/office/powerpoint/2010/main" val="385342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 name="标题 42">
            <a:extLst>
              <a:ext uri="{FF2B5EF4-FFF2-40B4-BE49-F238E27FC236}">
                <a16:creationId xmlns:a16="http://schemas.microsoft.com/office/drawing/2014/main" id="{9FC0E9F2-3C51-DA69-387C-7459FEE1956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工作过程</a:t>
            </a:r>
          </a:p>
        </p:txBody>
      </p:sp>
      <p:sp>
        <p:nvSpPr>
          <p:cNvPr id="52" name="内容占位符 51">
            <a:extLst>
              <a:ext uri="{FF2B5EF4-FFF2-40B4-BE49-F238E27FC236}">
                <a16:creationId xmlns:a16="http://schemas.microsoft.com/office/drawing/2014/main" id="{898DDF5B-3D6E-97E1-ABB7-9A2DAD02666D}"/>
              </a:ext>
            </a:extLst>
          </p:cNvPr>
          <p:cNvSpPr>
            <a:spLocks noGrp="1"/>
          </p:cNvSpPr>
          <p:nvPr>
            <p:ph sz="quarter" idx="11"/>
          </p:nvPr>
        </p:nvSpPr>
        <p:spPr/>
        <p:txBody>
          <a:bodyPr/>
          <a:lstStyle/>
          <a:p>
            <a:endParaRPr lang="zh-CN" altLang="en-US"/>
          </a:p>
        </p:txBody>
      </p:sp>
      <p:sp>
        <p:nvSpPr>
          <p:cNvPr id="9" name="Text Box 6"/>
          <p:cNvSpPr txBox="1">
            <a:spLocks noChangeArrowheads="1"/>
          </p:cNvSpPr>
          <p:nvPr/>
        </p:nvSpPr>
        <p:spPr bwMode="auto">
          <a:xfrm>
            <a:off x="1715462" y="1659754"/>
            <a:ext cx="1484702" cy="523220"/>
          </a:xfrm>
          <a:prstGeom prst="rect">
            <a:avLst/>
          </a:prstGeom>
          <a:noFill/>
          <a:ln w="9525">
            <a:noFill/>
            <a:miter lim="800000"/>
            <a:headEnd/>
            <a:tailEnd/>
          </a:ln>
        </p:spPr>
        <p:txBody>
          <a:bodyPr wrap="none">
            <a:spAutoFit/>
          </a:bodyPr>
          <a:lstStyle/>
          <a:p>
            <a:pPr algn="ctr"/>
            <a:r>
              <a:rPr kumimoji="1" lang="en-US" altLang="zh-CN" sz="1400" dirty="0">
                <a:latin typeface="Montserrat" panose="00000500000000000000" pitchFamily="2" charset="0"/>
                <a:ea typeface="微软雅黑 Light" panose="020B0502040204020203" pitchFamily="34" charset="-122"/>
                <a:cs typeface="Times New Roman" pitchFamily="18" charset="0"/>
              </a:rPr>
              <a:t>Napster </a:t>
            </a:r>
            <a:r>
              <a:rPr kumimoji="1" lang="zh-CN" altLang="en-US" sz="1400" dirty="0">
                <a:latin typeface="Montserrat" panose="00000500000000000000" pitchFamily="2" charset="0"/>
                <a:ea typeface="微软雅黑 Light" panose="020B0502040204020203" pitchFamily="34" charset="-122"/>
                <a:cs typeface="Times New Roman" pitchFamily="18" charset="0"/>
              </a:rPr>
              <a:t>集中式</a:t>
            </a:r>
          </a:p>
          <a:p>
            <a:pPr algn="ctr"/>
            <a:r>
              <a:rPr kumimoji="1" lang="zh-CN" altLang="en-US" sz="1400" dirty="0">
                <a:latin typeface="Montserrat" panose="00000500000000000000" pitchFamily="2" charset="0"/>
                <a:ea typeface="微软雅黑 Light" panose="020B0502040204020203" pitchFamily="34" charset="-122"/>
                <a:cs typeface="Times New Roman" pitchFamily="18" charset="0"/>
              </a:rPr>
              <a:t>目录服务器</a:t>
            </a:r>
          </a:p>
        </p:txBody>
      </p:sp>
      <p:sp>
        <p:nvSpPr>
          <p:cNvPr id="11" name="Text Box 13"/>
          <p:cNvSpPr txBox="1">
            <a:spLocks noChangeArrowheads="1"/>
          </p:cNvSpPr>
          <p:nvPr/>
        </p:nvSpPr>
        <p:spPr bwMode="auto">
          <a:xfrm>
            <a:off x="5581165" y="3673572"/>
            <a:ext cx="285656"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X</a:t>
            </a:r>
          </a:p>
        </p:txBody>
      </p:sp>
      <p:sp>
        <p:nvSpPr>
          <p:cNvPr id="17" name="Text Box 13"/>
          <p:cNvSpPr txBox="1">
            <a:spLocks noChangeArrowheads="1"/>
          </p:cNvSpPr>
          <p:nvPr/>
        </p:nvSpPr>
        <p:spPr bwMode="auto">
          <a:xfrm>
            <a:off x="3852968" y="3784426"/>
            <a:ext cx="295274"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C</a:t>
            </a:r>
          </a:p>
        </p:txBody>
      </p:sp>
      <p:sp>
        <p:nvSpPr>
          <p:cNvPr id="18" name="Text Box 13"/>
          <p:cNvSpPr txBox="1">
            <a:spLocks noChangeArrowheads="1"/>
          </p:cNvSpPr>
          <p:nvPr/>
        </p:nvSpPr>
        <p:spPr bwMode="auto">
          <a:xfrm>
            <a:off x="6445256" y="2654880"/>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B</a:t>
            </a:r>
          </a:p>
        </p:txBody>
      </p:sp>
      <p:sp>
        <p:nvSpPr>
          <p:cNvPr id="19" name="Text Box 13"/>
          <p:cNvSpPr txBox="1">
            <a:spLocks noChangeArrowheads="1"/>
          </p:cNvSpPr>
          <p:nvPr/>
        </p:nvSpPr>
        <p:spPr bwMode="auto">
          <a:xfrm>
            <a:off x="4600946" y="1379756"/>
            <a:ext cx="300082" cy="276999"/>
          </a:xfrm>
          <a:prstGeom prst="rect">
            <a:avLst/>
          </a:prstGeom>
          <a:noFill/>
          <a:ln w="9525">
            <a:noFill/>
            <a:miter lim="800000"/>
            <a:headEnd/>
            <a:tailEnd/>
          </a:ln>
        </p:spPr>
        <p:txBody>
          <a:bodyPr wrap="none">
            <a:spAutoFit/>
          </a:bodyPr>
          <a:lstStyle/>
          <a:p>
            <a:r>
              <a:rPr lang="en-US" altLang="zh-CN" sz="1200" dirty="0">
                <a:latin typeface="Montserrat" panose="00000500000000000000" pitchFamily="2" charset="0"/>
                <a:ea typeface="微软雅黑 Light" panose="020B0502040204020203" pitchFamily="34" charset="-122"/>
                <a:cs typeface="Times New Roman" pitchFamily="18" charset="0"/>
              </a:rPr>
              <a:t>A</a:t>
            </a:r>
          </a:p>
        </p:txBody>
      </p:sp>
      <p:cxnSp>
        <p:nvCxnSpPr>
          <p:cNvPr id="20" name="直接箭头连接符 19"/>
          <p:cNvCxnSpPr/>
          <p:nvPr/>
        </p:nvCxnSpPr>
        <p:spPr>
          <a:xfrm flipH="1" flipV="1">
            <a:off x="2840283" y="2881484"/>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cxnSp>
        <p:nvCxnSpPr>
          <p:cNvPr id="21" name="直接箭头连接符 20"/>
          <p:cNvCxnSpPr/>
          <p:nvPr/>
        </p:nvCxnSpPr>
        <p:spPr>
          <a:xfrm rot="10800000" flipH="1" flipV="1">
            <a:off x="2876432" y="2980386"/>
            <a:ext cx="2376264" cy="792088"/>
          </a:xfrm>
          <a:prstGeom prst="straightConnector1">
            <a:avLst/>
          </a:prstGeom>
          <a:noFill/>
          <a:ln w="19050" cap="flat" cmpd="sng" algn="ctr">
            <a:solidFill>
              <a:sysClr val="windowText" lastClr="000000"/>
            </a:solidFill>
            <a:prstDash val="solid"/>
            <a:headEnd type="none" w="med" len="med"/>
            <a:tailEnd type="triangle" w="med" len="lg"/>
          </a:ln>
          <a:effectLst/>
        </p:spPr>
      </p:cxnSp>
      <p:sp>
        <p:nvSpPr>
          <p:cNvPr id="22" name="TextBox 21"/>
          <p:cNvSpPr txBox="1"/>
          <p:nvPr/>
        </p:nvSpPr>
        <p:spPr>
          <a:xfrm rot="1111699">
            <a:off x="3303204" y="3002304"/>
            <a:ext cx="1419187"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谁有文件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3" name="TextBox 22"/>
          <p:cNvSpPr txBox="1"/>
          <p:nvPr/>
        </p:nvSpPr>
        <p:spPr>
          <a:xfrm rot="3660000">
            <a:off x="4473374" y="2433250"/>
            <a:ext cx="1435291"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请求文件 </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24" name="TextBox 23"/>
          <p:cNvSpPr txBox="1"/>
          <p:nvPr/>
        </p:nvSpPr>
        <p:spPr>
          <a:xfrm>
            <a:off x="4933088" y="3374960"/>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5" name="TextBox 24"/>
          <p:cNvSpPr txBox="1"/>
          <p:nvPr/>
        </p:nvSpPr>
        <p:spPr>
          <a:xfrm>
            <a:off x="5407334" y="3221652"/>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6" name="TextBox 25"/>
          <p:cNvSpPr txBox="1"/>
          <p:nvPr/>
        </p:nvSpPr>
        <p:spPr>
          <a:xfrm>
            <a:off x="2700840" y="2956289"/>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7" name="TextBox 26"/>
          <p:cNvSpPr txBox="1"/>
          <p:nvPr/>
        </p:nvSpPr>
        <p:spPr>
          <a:xfrm>
            <a:off x="4213008" y="1790784"/>
            <a:ext cx="389850" cy="369332"/>
          </a:xfrm>
          <a:prstGeom prst="rect">
            <a:avLst/>
          </a:prstGeom>
          <a:noFill/>
        </p:spPr>
        <p:txBody>
          <a:bodyPr wrap="none" rtlCol="0">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sym typeface="Wingdings"/>
              </a:rPr>
              <a:t></a:t>
            </a:r>
            <a:endParaRPr kumimoji="0" lang="zh-CN" altLang="en-US" i="0" u="none" strike="noStrike" kern="0" cap="none" spc="0" normalizeH="0" baseline="0" noProof="0" dirty="0">
              <a:ln>
                <a:noFill/>
              </a:ln>
              <a:solidFill>
                <a:srgbClr val="CC00CC"/>
              </a:solidFill>
              <a:effectLst/>
              <a:uLnTx/>
              <a:uFillTx/>
              <a:latin typeface="Montserrat" panose="00000500000000000000" pitchFamily="2" charset="0"/>
              <a:ea typeface="微软雅黑 Light" panose="020B0502040204020203" pitchFamily="34" charset="-122"/>
            </a:endParaRPr>
          </a:p>
        </p:txBody>
      </p:sp>
      <p:sp>
        <p:nvSpPr>
          <p:cNvPr id="28" name="TextBox 27"/>
          <p:cNvSpPr txBox="1"/>
          <p:nvPr/>
        </p:nvSpPr>
        <p:spPr>
          <a:xfrm rot="1111699">
            <a:off x="3146416" y="3347402"/>
            <a:ext cx="1376824" cy="276999"/>
          </a:xfrm>
          <a:prstGeom prst="rect">
            <a:avLst/>
          </a:prstGeom>
          <a:noFill/>
        </p:spPr>
        <p:txBody>
          <a:bodyPr wrap="square" rtlCol="0">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A</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B</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r>
              <a:rPr kumimoji="0" lang="en-US" altLang="zh-CN"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C</a:t>
            </a:r>
            <a:r>
              <a:rPr kumimoji="0" lang="zh-CN" altLang="en-US" sz="12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cs typeface="Times New Roman" pitchFamily="18" charset="0"/>
              </a:rPr>
              <a:t>有</a:t>
            </a: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cxnSp>
        <p:nvCxnSpPr>
          <p:cNvPr id="29" name="直接箭头连接符 28"/>
          <p:cNvCxnSpPr/>
          <p:nvPr/>
        </p:nvCxnSpPr>
        <p:spPr>
          <a:xfrm flipH="1" flipV="1">
            <a:off x="4573048" y="1790784"/>
            <a:ext cx="936314" cy="1656184"/>
          </a:xfrm>
          <a:prstGeom prst="straightConnector1">
            <a:avLst/>
          </a:prstGeom>
          <a:noFill/>
          <a:ln w="19050" cap="flat" cmpd="sng" algn="ctr">
            <a:solidFill>
              <a:sysClr val="windowText" lastClr="000000"/>
            </a:solidFill>
            <a:prstDash val="solid"/>
            <a:headEnd type="none" w="med" len="med"/>
            <a:tailEnd type="triangle" w="med" len="lg"/>
          </a:ln>
          <a:effectLst/>
        </p:spPr>
      </p:cxnSp>
      <p:grpSp>
        <p:nvGrpSpPr>
          <p:cNvPr id="30" name="组合 29"/>
          <p:cNvGrpSpPr/>
          <p:nvPr/>
        </p:nvGrpSpPr>
        <p:grpSpPr>
          <a:xfrm rot="3622659">
            <a:off x="4079917" y="2618995"/>
            <a:ext cx="1584176" cy="288032"/>
            <a:chOff x="5796136" y="1484784"/>
            <a:chExt cx="1584176" cy="288032"/>
          </a:xfrm>
        </p:grpSpPr>
        <p:sp>
          <p:nvSpPr>
            <p:cNvPr id="31" name="矩形 30"/>
            <p:cNvSpPr/>
            <p:nvPr/>
          </p:nvSpPr>
          <p:spPr>
            <a:xfrm>
              <a:off x="5796136" y="1484784"/>
              <a:ext cx="1080120" cy="288032"/>
            </a:xfrm>
            <a:prstGeom prst="rect">
              <a:avLst/>
            </a:prstGeom>
            <a:solidFill>
              <a:srgbClr val="00B0F0"/>
            </a:solidFill>
            <a:ln w="9525" cap="flat" cmpd="sng" algn="ctr">
              <a:solidFill>
                <a:srgbClr val="00B0F0"/>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rPr>
                <a:t>MP3#</a:t>
              </a:r>
              <a:endParaRPr kumimoji="0" lang="zh-CN" altLang="en-US" sz="120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cs typeface="Times New Roman" pitchFamily="18" charset="0"/>
              </a:endParaRPr>
            </a:p>
          </p:txBody>
        </p:sp>
        <p:sp>
          <p:nvSpPr>
            <p:cNvPr id="32" name="右箭头 31"/>
            <p:cNvSpPr/>
            <p:nvPr/>
          </p:nvSpPr>
          <p:spPr>
            <a:xfrm>
              <a:off x="6876256" y="1556792"/>
              <a:ext cx="504056" cy="144016"/>
            </a:xfrm>
            <a:prstGeom prst="rightArrow">
              <a:avLst>
                <a:gd name="adj1" fmla="val 50000"/>
                <a:gd name="adj2" fmla="val 162395"/>
              </a:avLst>
            </a:prstGeom>
            <a:solidFill>
              <a:srgbClr val="00B0F0"/>
            </a:solidFill>
            <a:ln w="25400" cap="flat" cmpd="sng" algn="ctr">
              <a:no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 lastClr="FFFFFF"/>
                </a:solidFill>
                <a:effectLst/>
                <a:uLnTx/>
                <a:uFillTx/>
                <a:latin typeface="Montserrat" panose="00000500000000000000" pitchFamily="2" charset="0"/>
                <a:ea typeface="微软雅黑 Light" panose="020B0502040204020203" pitchFamily="34" charset="-122"/>
              </a:endParaRPr>
            </a:p>
          </p:txBody>
        </p:sp>
      </p:grpSp>
      <p:pic>
        <p:nvPicPr>
          <p:cNvPr id="2" name="Picture 197" descr="jisuanji">
            <a:extLst>
              <a:ext uri="{FF2B5EF4-FFF2-40B4-BE49-F238E27FC236}">
                <a16:creationId xmlns:a16="http://schemas.microsoft.com/office/drawing/2014/main" id="{B0F5756B-B769-41A0-C83B-0E3CAB521DB6}"/>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77140" y="1421755"/>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97" descr="jisuanji">
            <a:extLst>
              <a:ext uri="{FF2B5EF4-FFF2-40B4-BE49-F238E27FC236}">
                <a16:creationId xmlns:a16="http://schemas.microsoft.com/office/drawing/2014/main" id="{7FB37288-3501-CF80-EA5D-05D944B19BF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253259" y="3634601"/>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197" descr="jisuanji">
            <a:extLst>
              <a:ext uri="{FF2B5EF4-FFF2-40B4-BE49-F238E27FC236}">
                <a16:creationId xmlns:a16="http://schemas.microsoft.com/office/drawing/2014/main" id="{4A4E0EB8-3066-B0E8-4CFA-0A686D8D25E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466502" y="1757996"/>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197" descr="jisuanji">
            <a:extLst>
              <a:ext uri="{FF2B5EF4-FFF2-40B4-BE49-F238E27FC236}">
                <a16:creationId xmlns:a16="http://schemas.microsoft.com/office/drawing/2014/main" id="{1DB2F33D-689D-7CC1-BF70-34945A03C9FB}"/>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32020" y="2613378"/>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97" descr="jisuanji">
            <a:extLst>
              <a:ext uri="{FF2B5EF4-FFF2-40B4-BE49-F238E27FC236}">
                <a16:creationId xmlns:a16="http://schemas.microsoft.com/office/drawing/2014/main" id="{6C2597C3-D1E3-3FF2-EB66-2D5D4F0F18E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446189" y="3525463"/>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97" descr="jisuanji">
            <a:extLst>
              <a:ext uri="{FF2B5EF4-FFF2-40B4-BE49-F238E27FC236}">
                <a16:creationId xmlns:a16="http://schemas.microsoft.com/office/drawing/2014/main" id="{2312335A-2EBE-E2A2-F8E0-1F6696397C6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92968" y="3744292"/>
            <a:ext cx="360000" cy="360001"/>
          </a:xfrm>
          <a:prstGeom prst="rect">
            <a:avLst/>
          </a:prstGeom>
          <a:noFill/>
          <a:extLst>
            <a:ext uri="{909E8E84-426E-40DD-AFC4-6F175D3DCCD1}">
              <a14:hiddenFill xmlns:a14="http://schemas.microsoft.com/office/drawing/2010/main">
                <a:solidFill>
                  <a:srgbClr val="FFFFFF"/>
                </a:solidFill>
              </a14:hiddenFill>
            </a:ext>
          </a:extLst>
        </p:spPr>
      </p:pic>
      <p:sp>
        <p:nvSpPr>
          <p:cNvPr id="38" name="文本框 37">
            <a:extLst>
              <a:ext uri="{FF2B5EF4-FFF2-40B4-BE49-F238E27FC236}">
                <a16:creationId xmlns:a16="http://schemas.microsoft.com/office/drawing/2014/main" id="{9C1347A0-1E85-0AA1-439B-5615DA1C7FAD}"/>
              </a:ext>
            </a:extLst>
          </p:cNvPr>
          <p:cNvSpPr txBox="1"/>
          <p:nvPr/>
        </p:nvSpPr>
        <p:spPr>
          <a:xfrm>
            <a:off x="2720216" y="3744292"/>
            <a:ext cx="311304"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D</a:t>
            </a:r>
            <a:endParaRPr lang="zh-CN" altLang="en-US" sz="1200" dirty="0">
              <a:latin typeface="Montserrat" panose="00000500000000000000" pitchFamily="2" charset="0"/>
              <a:ea typeface="微软雅黑 Light" panose="020B0502040204020203" pitchFamily="34" charset="-122"/>
            </a:endParaRPr>
          </a:p>
        </p:txBody>
      </p:sp>
      <p:sp>
        <p:nvSpPr>
          <p:cNvPr id="39" name="文本框 38">
            <a:extLst>
              <a:ext uri="{FF2B5EF4-FFF2-40B4-BE49-F238E27FC236}">
                <a16:creationId xmlns:a16="http://schemas.microsoft.com/office/drawing/2014/main" id="{7FBF82A1-149B-CFB5-3105-E7BC03ED9965}"/>
              </a:ext>
            </a:extLst>
          </p:cNvPr>
          <p:cNvSpPr txBox="1"/>
          <p:nvPr/>
        </p:nvSpPr>
        <p:spPr>
          <a:xfrm>
            <a:off x="5813182" y="1799496"/>
            <a:ext cx="287258" cy="276999"/>
          </a:xfrm>
          <a:prstGeom prst="rect">
            <a:avLst/>
          </a:prstGeom>
          <a:noFill/>
        </p:spPr>
        <p:txBody>
          <a:bodyPr wrap="none" rtlCol="0">
            <a:spAutoFit/>
          </a:bodyPr>
          <a:lstStyle/>
          <a:p>
            <a:pPr algn="just"/>
            <a:r>
              <a:rPr lang="en-US" altLang="zh-CN" sz="1200" dirty="0">
                <a:latin typeface="Montserrat" panose="00000500000000000000" pitchFamily="2" charset="0"/>
                <a:ea typeface="微软雅黑 Light" panose="020B0502040204020203" pitchFamily="34" charset="-122"/>
              </a:rPr>
              <a:t>E</a:t>
            </a:r>
            <a:endParaRPr lang="zh-CN" altLang="en-US" sz="1200" dirty="0">
              <a:latin typeface="Montserrat" panose="00000500000000000000" pitchFamily="2" charset="0"/>
              <a:ea typeface="微软雅黑 Light" panose="020B0502040204020203" pitchFamily="34" charset="-122"/>
            </a:endParaRPr>
          </a:p>
        </p:txBody>
      </p:sp>
      <p:pic>
        <p:nvPicPr>
          <p:cNvPr id="42" name="图片 38">
            <a:extLst>
              <a:ext uri="{FF2B5EF4-FFF2-40B4-BE49-F238E27FC236}">
                <a16:creationId xmlns:a16="http://schemas.microsoft.com/office/drawing/2014/main" id="{6C68A815-2E63-D4CB-32F6-3229AA8CFABC}"/>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356464" y="2315715"/>
            <a:ext cx="484846" cy="678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577057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0290A-1DA9-2EBC-1E58-B02C44449FCF}"/>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2CA09A38-570D-0D05-1496-F9BEEDF1A0FE}"/>
              </a:ext>
            </a:extLst>
          </p:cNvPr>
          <p:cNvSpPr>
            <a:spLocks noGrp="1"/>
          </p:cNvSpPr>
          <p:nvPr>
            <p:ph type="title"/>
          </p:nvPr>
        </p:nvSpPr>
        <p:spPr>
          <a:xfrm>
            <a:off x="485999" y="174482"/>
            <a:ext cx="8171999" cy="338554"/>
          </a:xfrm>
        </p:spPr>
        <p:txBody>
          <a:bodyPr/>
          <a:lstStyle/>
          <a:p>
            <a:r>
              <a:rPr lang="en-US" altLang="zh-CN" dirty="0"/>
              <a:t>6.9.1 </a:t>
            </a:r>
            <a:r>
              <a:rPr lang="zh-CN" altLang="en-US" dirty="0"/>
              <a:t>集中目录服务器 </a:t>
            </a:r>
            <a:r>
              <a:rPr lang="en-US" altLang="zh-CN" dirty="0"/>
              <a:t>- </a:t>
            </a:r>
            <a:r>
              <a:rPr lang="zh-CN" altLang="en-US" dirty="0"/>
              <a:t>缺点</a:t>
            </a:r>
          </a:p>
        </p:txBody>
      </p:sp>
      <p:sp>
        <p:nvSpPr>
          <p:cNvPr id="6" name="内容占位符 5">
            <a:extLst>
              <a:ext uri="{FF2B5EF4-FFF2-40B4-BE49-F238E27FC236}">
                <a16:creationId xmlns:a16="http://schemas.microsoft.com/office/drawing/2014/main" id="{9112FE62-C0FC-9E07-D0C8-30E7C0DDC009}"/>
              </a:ext>
            </a:extLst>
          </p:cNvPr>
          <p:cNvSpPr>
            <a:spLocks noGrp="1"/>
          </p:cNvSpPr>
          <p:nvPr>
            <p:ph sz="quarter" idx="11"/>
          </p:nvPr>
        </p:nvSpPr>
        <p:spPr>
          <a:xfrm>
            <a:off x="486000" y="687518"/>
            <a:ext cx="8172000" cy="4079035"/>
          </a:xfrm>
        </p:spPr>
        <p:txBody>
          <a:bodyPr/>
          <a:lstStyle/>
          <a:p>
            <a:r>
              <a:rPr lang="zh-CN" altLang="en-US" dirty="0"/>
              <a:t>可靠性差 </a:t>
            </a:r>
            <a:r>
              <a:rPr lang="en-US" altLang="zh-CN" dirty="0"/>
              <a:t>Reliability Issues</a:t>
            </a:r>
          </a:p>
          <a:p>
            <a:r>
              <a:rPr lang="zh-CN" altLang="en-US" dirty="0"/>
              <a:t>性能瓶颈 </a:t>
            </a:r>
            <a:r>
              <a:rPr lang="en-US" altLang="zh-CN" dirty="0"/>
              <a:t>Scalability and Performance Bottleneck</a:t>
            </a:r>
            <a:endParaRPr lang="zh-CN" altLang="en-US" dirty="0"/>
          </a:p>
          <a:p>
            <a:r>
              <a:rPr lang="zh-CN" altLang="en-US" dirty="0"/>
              <a:t>知识产权侵权 </a:t>
            </a:r>
            <a:r>
              <a:rPr lang="en-US" altLang="zh-CN" dirty="0"/>
              <a:t>Copyright Infringement</a:t>
            </a:r>
            <a:endParaRPr lang="zh-CN" altLang="en-US" dirty="0"/>
          </a:p>
          <a:p>
            <a:endParaRPr lang="zh-CN" altLang="en-US" dirty="0"/>
          </a:p>
        </p:txBody>
      </p:sp>
    </p:spTree>
    <p:extLst>
      <p:ext uri="{BB962C8B-B14F-4D97-AF65-F5344CB8AC3E}">
        <p14:creationId xmlns:p14="http://schemas.microsoft.com/office/powerpoint/2010/main" val="29302263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AB163A2F-097E-5983-AB7D-A840DBF7A8D7}"/>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a:t>
            </a:r>
          </a:p>
        </p:txBody>
      </p:sp>
      <p:sp>
        <p:nvSpPr>
          <p:cNvPr id="6" name="内容占位符 5">
            <a:extLst>
              <a:ext uri="{FF2B5EF4-FFF2-40B4-BE49-F238E27FC236}">
                <a16:creationId xmlns:a16="http://schemas.microsoft.com/office/drawing/2014/main" id="{D279A7E6-C069-1154-8DB6-9C207BB2DC88}"/>
              </a:ext>
            </a:extLst>
          </p:cNvPr>
          <p:cNvSpPr>
            <a:spLocks noGrp="1"/>
          </p:cNvSpPr>
          <p:nvPr>
            <p:ph sz="quarter" idx="11"/>
          </p:nvPr>
        </p:nvSpPr>
        <p:spPr>
          <a:xfrm>
            <a:off x="486000" y="687518"/>
            <a:ext cx="8172000" cy="4079035"/>
          </a:xfrm>
        </p:spPr>
        <p:txBody>
          <a:bodyPr/>
          <a:lstStyle/>
          <a:p>
            <a:r>
              <a:rPr lang="en-US" altLang="zh-CN" dirty="0"/>
              <a:t>Gnutella </a:t>
            </a:r>
            <a:r>
              <a:rPr lang="zh-CN" altLang="en-US" dirty="0"/>
              <a:t>是第二代 </a:t>
            </a:r>
            <a:r>
              <a:rPr lang="en-US" altLang="zh-CN" dirty="0"/>
              <a:t>P2P </a:t>
            </a:r>
            <a:r>
              <a:rPr lang="zh-CN" altLang="en-US" dirty="0"/>
              <a:t>文件共享程序</a:t>
            </a:r>
            <a:endParaRPr lang="en-US" altLang="zh-CN" dirty="0"/>
          </a:p>
          <a:p>
            <a:pPr lvl="1"/>
            <a:r>
              <a:rPr lang="zh-CN" altLang="en-US" dirty="0"/>
              <a:t>采用全分布方法定位内容的 </a:t>
            </a:r>
            <a:r>
              <a:rPr lang="en-US" altLang="zh-CN" dirty="0"/>
              <a:t>P2P </a:t>
            </a:r>
            <a:r>
              <a:rPr lang="zh-CN" altLang="en-US" dirty="0"/>
              <a:t>文件共享应用程序</a:t>
            </a:r>
          </a:p>
          <a:p>
            <a:r>
              <a:rPr lang="en-US" altLang="zh-CN" dirty="0"/>
              <a:t>Gnutella </a:t>
            </a:r>
            <a:r>
              <a:rPr lang="zh-CN" altLang="en-US" dirty="0"/>
              <a:t>与 </a:t>
            </a:r>
            <a:r>
              <a:rPr lang="en-US" altLang="zh-CN" dirty="0"/>
              <a:t>Napster </a:t>
            </a:r>
            <a:r>
              <a:rPr lang="zh-CN" altLang="en-US" dirty="0"/>
              <a:t>最大的区别</a:t>
            </a:r>
            <a:endParaRPr lang="en-US" altLang="zh-CN" dirty="0"/>
          </a:p>
          <a:p>
            <a:pPr lvl="1"/>
            <a:r>
              <a:rPr lang="zh-CN" altLang="en-US" dirty="0"/>
              <a:t>不使用集中式的目录服务器</a:t>
            </a:r>
            <a:endParaRPr lang="en-US" altLang="zh-CN" dirty="0"/>
          </a:p>
          <a:p>
            <a:pPr lvl="1"/>
            <a:r>
              <a:rPr lang="zh-CN" altLang="en-US" dirty="0"/>
              <a:t>使用洪泛法在大量 </a:t>
            </a:r>
            <a:r>
              <a:rPr lang="en-US" altLang="zh-CN" dirty="0"/>
              <a:t>Gnutella </a:t>
            </a:r>
            <a:r>
              <a:rPr lang="zh-CN" altLang="en-US" dirty="0"/>
              <a:t>用户之间进行查询</a:t>
            </a:r>
          </a:p>
          <a:p>
            <a:r>
              <a:rPr lang="zh-CN" altLang="en-US" dirty="0"/>
              <a:t>为了不使查询的通信量过大，</a:t>
            </a:r>
            <a:r>
              <a:rPr lang="en-US" altLang="zh-CN" dirty="0"/>
              <a:t>Gnutella </a:t>
            </a:r>
            <a:r>
              <a:rPr lang="zh-CN" altLang="en-US" dirty="0"/>
              <a:t>设计了一种有限范围的洪泛查询，减少了倾注到互联网的查询流量，但也影响到查询定位的准确性</a:t>
            </a:r>
            <a:endParaRPr lang="en-US" altLang="zh-CN" dirty="0"/>
          </a:p>
          <a:p>
            <a:r>
              <a:rPr lang="zh-CN" altLang="en-US" dirty="0"/>
              <a:t>第三代 </a:t>
            </a:r>
            <a:r>
              <a:rPr lang="en-US" altLang="zh-CN" dirty="0"/>
              <a:t>P2P </a:t>
            </a:r>
            <a:r>
              <a:rPr lang="zh-CN" altLang="en-US" dirty="0"/>
              <a:t>文件共享程序采用分散定位和分散传输技术</a:t>
            </a:r>
            <a:endParaRPr lang="en-US" altLang="zh-CN" dirty="0"/>
          </a:p>
          <a:p>
            <a:endParaRPr lang="zh-CN" altLang="en-US" dirty="0"/>
          </a:p>
        </p:txBody>
      </p:sp>
    </p:spTree>
    <p:extLst>
      <p:ext uri="{BB962C8B-B14F-4D97-AF65-F5344CB8AC3E}">
        <p14:creationId xmlns:p14="http://schemas.microsoft.com/office/powerpoint/2010/main" val="12225524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E7BFB4-6496-BD2C-91E7-A385BA5DE176}"/>
            </a:ext>
          </a:extLst>
        </p:cNvPr>
        <p:cNvGrpSpPr/>
        <p:nvPr/>
      </p:nvGrpSpPr>
      <p:grpSpPr>
        <a:xfrm>
          <a:off x="0" y="0"/>
          <a:ext cx="0" cy="0"/>
          <a:chOff x="0" y="0"/>
          <a:chExt cx="0" cy="0"/>
        </a:xfrm>
      </p:grpSpPr>
      <p:sp>
        <p:nvSpPr>
          <p:cNvPr id="5" name="标题 4">
            <a:extLst>
              <a:ext uri="{FF2B5EF4-FFF2-40B4-BE49-F238E27FC236}">
                <a16:creationId xmlns:a16="http://schemas.microsoft.com/office/drawing/2014/main" id="{5950782A-CA50-A7AE-5CE1-87B14C34624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应用</a:t>
            </a:r>
          </a:p>
        </p:txBody>
      </p:sp>
      <p:sp>
        <p:nvSpPr>
          <p:cNvPr id="6" name="内容占位符 5">
            <a:extLst>
              <a:ext uri="{FF2B5EF4-FFF2-40B4-BE49-F238E27FC236}">
                <a16:creationId xmlns:a16="http://schemas.microsoft.com/office/drawing/2014/main" id="{63048B14-783E-9055-E4C8-5FFB1B3C429A}"/>
              </a:ext>
            </a:extLst>
          </p:cNvPr>
          <p:cNvSpPr>
            <a:spLocks noGrp="1"/>
          </p:cNvSpPr>
          <p:nvPr>
            <p:ph sz="quarter" idx="11"/>
          </p:nvPr>
        </p:nvSpPr>
        <p:spPr>
          <a:xfrm>
            <a:off x="486000" y="687518"/>
            <a:ext cx="8172000" cy="4079035"/>
          </a:xfrm>
        </p:spPr>
        <p:txBody>
          <a:bodyPr/>
          <a:lstStyle/>
          <a:p>
            <a:endParaRPr lang="en-US" altLang="zh-CN" dirty="0"/>
          </a:p>
          <a:p>
            <a:r>
              <a:rPr lang="zh-CN" altLang="en-US" dirty="0"/>
              <a:t>电骡 </a:t>
            </a:r>
            <a:r>
              <a:rPr lang="en-US" altLang="zh-CN" dirty="0" err="1"/>
              <a:t>eMule</a:t>
            </a:r>
            <a:endParaRPr lang="en-US" altLang="zh-CN" dirty="0"/>
          </a:p>
          <a:p>
            <a:endParaRPr lang="en-US" altLang="zh-CN" dirty="0"/>
          </a:p>
          <a:p>
            <a:r>
              <a:rPr lang="zh-CN" altLang="en-US" dirty="0"/>
              <a:t>比特洪流 </a:t>
            </a:r>
            <a:r>
              <a:rPr lang="en-US" altLang="zh-CN" dirty="0"/>
              <a:t>BT (Bit Torrent) </a:t>
            </a:r>
          </a:p>
          <a:p>
            <a:endParaRPr lang="en-US" altLang="zh-CN" dirty="0"/>
          </a:p>
          <a:p>
            <a:r>
              <a:rPr lang="zh-CN" altLang="en-US" dirty="0"/>
              <a:t>马子 </a:t>
            </a:r>
            <a:r>
              <a:rPr lang="en-US" altLang="zh-CN" dirty="0"/>
              <a:t>Maze</a:t>
            </a:r>
          </a:p>
          <a:p>
            <a:endParaRPr lang="zh-CN" altLang="en-US" dirty="0"/>
          </a:p>
          <a:p>
            <a:r>
              <a:rPr lang="en-US" altLang="zh-CN" dirty="0" err="1"/>
              <a:t>KaZaA</a:t>
            </a:r>
            <a:endParaRPr lang="en-US" altLang="zh-CN" dirty="0"/>
          </a:p>
          <a:p>
            <a:endParaRPr lang="en-US" altLang="zh-CN" dirty="0"/>
          </a:p>
          <a:p>
            <a:r>
              <a:rPr lang="zh-CN" altLang="en-US" dirty="0"/>
              <a:t>迅雷</a:t>
            </a:r>
            <a:endParaRPr lang="en-US" altLang="zh-CN" dirty="0"/>
          </a:p>
          <a:p>
            <a:endParaRPr lang="zh-CN" altLang="en-US" dirty="0"/>
          </a:p>
        </p:txBody>
      </p:sp>
      <p:pic>
        <p:nvPicPr>
          <p:cNvPr id="1026" name="Picture 2">
            <a:extLst>
              <a:ext uri="{FF2B5EF4-FFF2-40B4-BE49-F238E27FC236}">
                <a16:creationId xmlns:a16="http://schemas.microsoft.com/office/drawing/2014/main" id="{F60B2411-1DD4-DB40-32AD-9B754C8C85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17610" y="936382"/>
            <a:ext cx="4572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a:extLst>
              <a:ext uri="{FF2B5EF4-FFF2-40B4-BE49-F238E27FC236}">
                <a16:creationId xmlns:a16="http://schemas.microsoft.com/office/drawing/2014/main" id="{050FFBF8-9DFA-690D-0F09-27C6A3035ED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138331" y="3518733"/>
            <a:ext cx="503434" cy="457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30576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54"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5"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347371" y="2372864"/>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5" name="标题 4">
            <a:extLst>
              <a:ext uri="{FF2B5EF4-FFF2-40B4-BE49-F238E27FC236}">
                <a16:creationId xmlns:a16="http://schemas.microsoft.com/office/drawing/2014/main" id="{931A9957-7F1A-DB85-512C-D816C26F2022}"/>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6" name="内容占位符 5">
            <a:extLst>
              <a:ext uri="{FF2B5EF4-FFF2-40B4-BE49-F238E27FC236}">
                <a16:creationId xmlns:a16="http://schemas.microsoft.com/office/drawing/2014/main" id="{7B70764B-C301-1896-D6BB-62FF60D32718}"/>
              </a:ext>
            </a:extLst>
          </p:cNvPr>
          <p:cNvSpPr>
            <a:spLocks noGrp="1"/>
          </p:cNvSpPr>
          <p:nvPr>
            <p:ph sz="quarter" idx="11"/>
          </p:nvPr>
        </p:nvSpPr>
        <p:spPr>
          <a:xfrm>
            <a:off x="486000" y="687518"/>
            <a:ext cx="8172000" cy="4079035"/>
          </a:xfrm>
        </p:spPr>
        <p:txBody>
          <a:bodyPr/>
          <a:lstStyle/>
          <a:p>
            <a:r>
              <a:rPr lang="zh-CN" altLang="en-US" dirty="0"/>
              <a:t>洪流 </a:t>
            </a:r>
            <a:r>
              <a:rPr lang="en-US" altLang="zh-CN" dirty="0"/>
              <a:t>torrent </a:t>
            </a:r>
            <a:r>
              <a:rPr lang="zh-CN" altLang="en-US" dirty="0"/>
              <a:t>：</a:t>
            </a:r>
            <a:r>
              <a:rPr lang="en-US" altLang="zh-CN" dirty="0"/>
              <a:t>BitTorrent </a:t>
            </a:r>
            <a:r>
              <a:rPr lang="zh-CN" altLang="en-US" dirty="0"/>
              <a:t>所有对等方集合</a:t>
            </a:r>
            <a:endParaRPr lang="en-US" altLang="zh-CN" dirty="0"/>
          </a:p>
          <a:p>
            <a:r>
              <a:rPr lang="zh-CN" altLang="en-US" dirty="0"/>
              <a:t>文件块 </a:t>
            </a:r>
            <a:r>
              <a:rPr lang="en-US" altLang="zh-CN" dirty="0"/>
              <a:t>chunk</a:t>
            </a:r>
            <a:r>
              <a:rPr lang="zh-CN" altLang="en-US" dirty="0"/>
              <a:t>：下载文件的数据单元，长度固定不变</a:t>
            </a:r>
            <a:endParaRPr lang="en-US" altLang="zh-CN" dirty="0"/>
          </a:p>
          <a:p>
            <a:r>
              <a:rPr lang="zh-CN" altLang="en-US" dirty="0"/>
              <a:t>追踪器 </a:t>
            </a:r>
            <a:r>
              <a:rPr lang="en-US" altLang="zh-CN" dirty="0"/>
              <a:t>tracker</a:t>
            </a:r>
            <a:r>
              <a:rPr lang="zh-CN" altLang="en-US" dirty="0"/>
              <a:t>：基础设施结点；管理对等用户</a:t>
            </a:r>
            <a:endParaRPr lang="en-US" altLang="zh-CN" dirty="0"/>
          </a:p>
          <a:p>
            <a:r>
              <a:rPr lang="zh-CN" altLang="en-US" dirty="0"/>
              <a:t>相邻对等方 </a:t>
            </a:r>
            <a:r>
              <a:rPr lang="en-US" altLang="zh-CN" dirty="0"/>
              <a:t>neighboring peers</a:t>
            </a:r>
            <a:r>
              <a:rPr lang="zh-CN" altLang="en-US" dirty="0"/>
              <a:t>：所有与 </a:t>
            </a:r>
            <a:r>
              <a:rPr lang="en-US" altLang="zh-CN" dirty="0"/>
              <a:t>A </a:t>
            </a:r>
            <a:r>
              <a:rPr lang="zh-CN" altLang="en-US" dirty="0"/>
              <a:t>建立了 </a:t>
            </a:r>
            <a:r>
              <a:rPr lang="en-US" altLang="zh-CN" dirty="0"/>
              <a:t>TCP </a:t>
            </a:r>
            <a:r>
              <a:rPr lang="zh-CN" altLang="en-US" dirty="0"/>
              <a:t>连接的对等方</a:t>
            </a:r>
            <a:endParaRPr lang="en-US" altLang="zh-CN" dirty="0"/>
          </a:p>
          <a:p>
            <a:pPr lvl="1"/>
            <a:r>
              <a:rPr lang="zh-CN" altLang="en-US" dirty="0"/>
              <a:t>登记</a:t>
            </a:r>
            <a:endParaRPr lang="en-US" altLang="zh-CN" dirty="0"/>
          </a:p>
          <a:p>
            <a:pPr lvl="1"/>
            <a:r>
              <a:rPr lang="zh-CN" altLang="en-US" dirty="0"/>
              <a:t>汇报</a:t>
            </a:r>
            <a:endParaRPr lang="en-US" altLang="zh-CN" dirty="0"/>
          </a:p>
          <a:p>
            <a:pPr lvl="1"/>
            <a:r>
              <a:rPr lang="zh-CN" altLang="en-US" dirty="0"/>
              <a:t>加入离开任意</a:t>
            </a:r>
            <a:endParaRPr lang="en-US" altLang="zh-CN" dirty="0"/>
          </a:p>
          <a:p>
            <a:pPr lvl="1"/>
            <a:r>
              <a:rPr lang="zh-CN" altLang="en-US" dirty="0"/>
              <a:t>无私用户</a:t>
            </a:r>
            <a:endParaRPr lang="en-US" altLang="zh-CN" dirty="0"/>
          </a:p>
          <a:p>
            <a:pPr lvl="1"/>
            <a:r>
              <a:rPr lang="zh-CN" altLang="en-US" dirty="0"/>
              <a:t>自私用户</a:t>
            </a:r>
          </a:p>
        </p:txBody>
      </p:sp>
      <p:pic>
        <p:nvPicPr>
          <p:cNvPr id="3649"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740237" y="3080827"/>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1"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894522" y="4317080"/>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2"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187131" y="417306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3"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123235" y="381302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6"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19379" y="3164952"/>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3657" name="Picture 197"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785856" y="2114187"/>
            <a:ext cx="360000" cy="360001"/>
          </a:xfrm>
          <a:prstGeom prst="rect">
            <a:avLst/>
          </a:prstGeom>
          <a:noFill/>
          <a:extLst>
            <a:ext uri="{909E8E84-426E-40DD-AFC4-6F175D3DCCD1}">
              <a14:hiddenFill xmlns:a14="http://schemas.microsoft.com/office/drawing/2010/main">
                <a:solidFill>
                  <a:srgbClr val="FFFFFF"/>
                </a:solidFill>
              </a14:hiddenFill>
            </a:ext>
          </a:extLst>
        </p:spPr>
      </p:pic>
      <p:pic>
        <p:nvPicPr>
          <p:cNvPr id="3650" name="图片 3649"/>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37706" y="2032391"/>
            <a:ext cx="485811" cy="680135"/>
          </a:xfrm>
          <a:prstGeom prst="rect">
            <a:avLst/>
          </a:prstGeom>
        </p:spPr>
      </p:pic>
      <p:sp>
        <p:nvSpPr>
          <p:cNvPr id="459" name="Text Box 457"/>
          <p:cNvSpPr txBox="1">
            <a:spLocks noChangeArrowheads="1"/>
          </p:cNvSpPr>
          <p:nvPr/>
        </p:nvSpPr>
        <p:spPr bwMode="auto">
          <a:xfrm rot="475942">
            <a:off x="6429351" y="2131022"/>
            <a:ext cx="7569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chunk</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461" name="Text Box 459"/>
          <p:cNvSpPr txBox="1">
            <a:spLocks noChangeArrowheads="1"/>
          </p:cNvSpPr>
          <p:nvPr/>
        </p:nvSpPr>
        <p:spPr bwMode="auto">
          <a:xfrm>
            <a:off x="3971685" y="2246999"/>
            <a:ext cx="82426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lang="en-US" altLang="zh-CN" sz="1400" dirty="0">
                <a:latin typeface="Montserrat" panose="00000500000000000000" pitchFamily="2" charset="0"/>
              </a:rPr>
              <a:t>tracker</a:t>
            </a:r>
            <a:endParaRPr kumimoji="1" lang="zh-CN" altLang="en-US" sz="1400" dirty="0">
              <a:solidFill>
                <a:sysClr val="windowText" lastClr="000000"/>
              </a:solidFill>
              <a:latin typeface="Montserrat" panose="00000500000000000000" pitchFamily="2" charset="0"/>
              <a:ea typeface="微软雅黑 Light" panose="020B0502040204020203" pitchFamily="34" charset="-122"/>
            </a:endParaRPr>
          </a:p>
        </p:txBody>
      </p:sp>
      <p:sp>
        <p:nvSpPr>
          <p:cNvPr id="2727" name="Line 2725"/>
          <p:cNvSpPr>
            <a:spLocks noChangeShapeType="1"/>
          </p:cNvSpPr>
          <p:nvPr/>
        </p:nvSpPr>
        <p:spPr bwMode="auto">
          <a:xfrm rot="816166">
            <a:off x="3248626" y="3747467"/>
            <a:ext cx="2015690" cy="248572"/>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28" name="Text Box 2726"/>
          <p:cNvSpPr txBox="1">
            <a:spLocks noChangeArrowheads="1"/>
          </p:cNvSpPr>
          <p:nvPr/>
        </p:nvSpPr>
        <p:spPr bwMode="auto">
          <a:xfrm>
            <a:off x="2504840" y="3080827"/>
            <a:ext cx="31290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A</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2729" name="Line 2727"/>
          <p:cNvSpPr>
            <a:spLocks noChangeShapeType="1"/>
          </p:cNvSpPr>
          <p:nvPr/>
        </p:nvSpPr>
        <p:spPr bwMode="auto">
          <a:xfrm rot="816166" flipV="1">
            <a:off x="3425329" y="2989678"/>
            <a:ext cx="3996187" cy="821086"/>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0" name="Line 2728"/>
          <p:cNvSpPr>
            <a:spLocks noChangeShapeType="1"/>
          </p:cNvSpPr>
          <p:nvPr/>
        </p:nvSpPr>
        <p:spPr bwMode="auto">
          <a:xfrm rot="816166" flipV="1">
            <a:off x="3417579" y="2252529"/>
            <a:ext cx="2258355" cy="1194749"/>
          </a:xfrm>
          <a:prstGeom prst="line">
            <a:avLst/>
          </a:prstGeom>
          <a:noFill/>
          <a:ln w="19050">
            <a:solidFill>
              <a:srgbClr val="5780CA"/>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2731" name="Line 2729"/>
          <p:cNvSpPr>
            <a:spLocks noChangeShapeType="1"/>
          </p:cNvSpPr>
          <p:nvPr/>
        </p:nvSpPr>
        <p:spPr bwMode="auto">
          <a:xfrm rot="816166" flipV="1">
            <a:off x="2961698" y="2518082"/>
            <a:ext cx="441805" cy="574543"/>
          </a:xfrm>
          <a:prstGeom prst="line">
            <a:avLst/>
          </a:prstGeom>
          <a:noFill/>
          <a:ln w="381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8" name="Line 3637"/>
          <p:cNvSpPr>
            <a:spLocks noChangeShapeType="1"/>
          </p:cNvSpPr>
          <p:nvPr/>
        </p:nvSpPr>
        <p:spPr bwMode="auto">
          <a:xfrm rot="816166">
            <a:off x="5867585" y="2756884"/>
            <a:ext cx="1703238" cy="1349082"/>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39" name="Line 3638"/>
          <p:cNvSpPr>
            <a:spLocks noChangeShapeType="1"/>
          </p:cNvSpPr>
          <p:nvPr/>
        </p:nvSpPr>
        <p:spPr bwMode="auto">
          <a:xfrm rot="816166" flipV="1">
            <a:off x="6257173" y="2427701"/>
            <a:ext cx="1090939" cy="10752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0" name="Line 3639"/>
          <p:cNvSpPr>
            <a:spLocks noChangeShapeType="1"/>
          </p:cNvSpPr>
          <p:nvPr/>
        </p:nvSpPr>
        <p:spPr bwMode="auto">
          <a:xfrm rot="816166" flipH="1">
            <a:off x="4568785" y="2442731"/>
            <a:ext cx="1152312" cy="2142376"/>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1" name="Line 3640"/>
          <p:cNvSpPr>
            <a:spLocks noChangeShapeType="1"/>
          </p:cNvSpPr>
          <p:nvPr/>
        </p:nvSpPr>
        <p:spPr bwMode="auto">
          <a:xfrm rot="816166">
            <a:off x="6208902" y="2670726"/>
            <a:ext cx="1277756" cy="41972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2" name="Line 3641"/>
          <p:cNvSpPr>
            <a:spLocks noChangeShapeType="1"/>
          </p:cNvSpPr>
          <p:nvPr/>
        </p:nvSpPr>
        <p:spPr bwMode="auto">
          <a:xfrm rot="816166" flipV="1">
            <a:off x="5729864" y="4081020"/>
            <a:ext cx="462178" cy="297134"/>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3" name="Line 3642"/>
          <p:cNvSpPr>
            <a:spLocks noChangeShapeType="1"/>
          </p:cNvSpPr>
          <p:nvPr/>
        </p:nvSpPr>
        <p:spPr bwMode="auto">
          <a:xfrm rot="816166" flipV="1">
            <a:off x="4342080" y="4378154"/>
            <a:ext cx="807871" cy="29829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4" name="Line 3643"/>
          <p:cNvSpPr>
            <a:spLocks noChangeShapeType="1"/>
          </p:cNvSpPr>
          <p:nvPr/>
        </p:nvSpPr>
        <p:spPr bwMode="auto">
          <a:xfrm rot="816166">
            <a:off x="6497655" y="4341156"/>
            <a:ext cx="884274" cy="159551"/>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5" name="Line 3644"/>
          <p:cNvSpPr>
            <a:spLocks noChangeShapeType="1"/>
          </p:cNvSpPr>
          <p:nvPr/>
        </p:nvSpPr>
        <p:spPr bwMode="auto">
          <a:xfrm rot="816166" flipH="1" flipV="1">
            <a:off x="7542836" y="3612320"/>
            <a:ext cx="173033" cy="706903"/>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6" name="Line 3645"/>
          <p:cNvSpPr>
            <a:spLocks noChangeShapeType="1"/>
          </p:cNvSpPr>
          <p:nvPr/>
        </p:nvSpPr>
        <p:spPr bwMode="auto">
          <a:xfrm rot="816166" flipH="1">
            <a:off x="6779470" y="2736397"/>
            <a:ext cx="457168" cy="1152698"/>
          </a:xfrm>
          <a:prstGeom prst="line">
            <a:avLst/>
          </a:prstGeom>
          <a:noFill/>
          <a:ln w="9525">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200" dirty="0">
              <a:solidFill>
                <a:srgbClr val="000099"/>
              </a:solidFill>
              <a:latin typeface="Montserrat" panose="00000500000000000000" pitchFamily="2" charset="0"/>
              <a:ea typeface="微软雅黑 Light" panose="020B0502040204020203" pitchFamily="34" charset="-122"/>
            </a:endParaRPr>
          </a:p>
        </p:txBody>
      </p:sp>
      <p:sp>
        <p:nvSpPr>
          <p:cNvPr id="3647" name="Text Box 3646"/>
          <p:cNvSpPr txBox="1">
            <a:spLocks noChangeArrowheads="1"/>
          </p:cNvSpPr>
          <p:nvPr/>
        </p:nvSpPr>
        <p:spPr bwMode="auto">
          <a:xfrm>
            <a:off x="1765703" y="3606006"/>
            <a:ext cx="17328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获得对等方列表</a:t>
            </a:r>
          </a:p>
        </p:txBody>
      </p:sp>
      <p:sp>
        <p:nvSpPr>
          <p:cNvPr id="3" name="Text Box 2726">
            <a:extLst>
              <a:ext uri="{FF2B5EF4-FFF2-40B4-BE49-F238E27FC236}">
                <a16:creationId xmlns:a16="http://schemas.microsoft.com/office/drawing/2014/main" id="{DC42EAAD-E93D-F07E-0EA0-86D626B7E65C}"/>
              </a:ext>
            </a:extLst>
          </p:cNvPr>
          <p:cNvSpPr txBox="1">
            <a:spLocks noChangeArrowheads="1"/>
          </p:cNvSpPr>
          <p:nvPr/>
        </p:nvSpPr>
        <p:spPr bwMode="auto">
          <a:xfrm>
            <a:off x="5395374" y="2189777"/>
            <a:ext cx="31931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B</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4" name="Text Box 2726">
            <a:extLst>
              <a:ext uri="{FF2B5EF4-FFF2-40B4-BE49-F238E27FC236}">
                <a16:creationId xmlns:a16="http://schemas.microsoft.com/office/drawing/2014/main" id="{5D055E71-7EB4-BB84-0C21-6DB58FE24D92}"/>
              </a:ext>
            </a:extLst>
          </p:cNvPr>
          <p:cNvSpPr txBox="1">
            <a:spLocks noChangeArrowheads="1"/>
          </p:cNvSpPr>
          <p:nvPr/>
        </p:nvSpPr>
        <p:spPr bwMode="auto">
          <a:xfrm>
            <a:off x="5236083" y="3866752"/>
            <a:ext cx="33374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D</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7" name="Text Box 2726">
            <a:extLst>
              <a:ext uri="{FF2B5EF4-FFF2-40B4-BE49-F238E27FC236}">
                <a16:creationId xmlns:a16="http://schemas.microsoft.com/office/drawing/2014/main" id="{F3EA9EC4-4C41-C23D-EB53-4F4A04779374}"/>
              </a:ext>
            </a:extLst>
          </p:cNvPr>
          <p:cNvSpPr txBox="1">
            <a:spLocks noChangeArrowheads="1"/>
          </p:cNvSpPr>
          <p:nvPr/>
        </p:nvSpPr>
        <p:spPr bwMode="auto">
          <a:xfrm>
            <a:off x="7761796" y="3229531"/>
            <a:ext cx="31450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C</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8" name="Text Box 459">
            <a:extLst>
              <a:ext uri="{FF2B5EF4-FFF2-40B4-BE49-F238E27FC236}">
                <a16:creationId xmlns:a16="http://schemas.microsoft.com/office/drawing/2014/main" id="{371001F1-9165-A850-425D-955CFE269FF4}"/>
              </a:ext>
            </a:extLst>
          </p:cNvPr>
          <p:cNvSpPr txBox="1">
            <a:spLocks noChangeArrowheads="1"/>
          </p:cNvSpPr>
          <p:nvPr/>
        </p:nvSpPr>
        <p:spPr bwMode="auto">
          <a:xfrm rot="20697272">
            <a:off x="4296073" y="259335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9" name="Text Box 459">
            <a:extLst>
              <a:ext uri="{FF2B5EF4-FFF2-40B4-BE49-F238E27FC236}">
                <a16:creationId xmlns:a16="http://schemas.microsoft.com/office/drawing/2014/main" id="{0674DFE7-3860-AFC2-0B01-98E1C15E585B}"/>
              </a:ext>
            </a:extLst>
          </p:cNvPr>
          <p:cNvSpPr txBox="1">
            <a:spLocks noChangeArrowheads="1"/>
          </p:cNvSpPr>
          <p:nvPr/>
        </p:nvSpPr>
        <p:spPr bwMode="auto">
          <a:xfrm rot="1053266">
            <a:off x="4174026" y="3667410"/>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0" name="Text Box 459">
            <a:extLst>
              <a:ext uri="{FF2B5EF4-FFF2-40B4-BE49-F238E27FC236}">
                <a16:creationId xmlns:a16="http://schemas.microsoft.com/office/drawing/2014/main" id="{BBCC7909-921B-9910-411C-912179737511}"/>
              </a:ext>
            </a:extLst>
          </p:cNvPr>
          <p:cNvSpPr txBox="1">
            <a:spLocks noChangeArrowheads="1"/>
          </p:cNvSpPr>
          <p:nvPr/>
        </p:nvSpPr>
        <p:spPr bwMode="auto">
          <a:xfrm rot="193254">
            <a:off x="4546102" y="3098951"/>
            <a:ext cx="5453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rgbClr val="5780CA"/>
                </a:solidFill>
                <a:latin typeface="Montserrat" panose="00000500000000000000" pitchFamily="2" charset="0"/>
                <a:ea typeface="微软雅黑 Light" panose="020B0502040204020203" pitchFamily="34" charset="-122"/>
              </a:rPr>
              <a:t>TCP</a:t>
            </a:r>
            <a:endParaRPr kumimoji="1" lang="zh-CN" altLang="en-US" sz="1400" dirty="0">
              <a:solidFill>
                <a:srgbClr val="5780CA"/>
              </a:solidFill>
              <a:latin typeface="Montserrat" panose="00000500000000000000" pitchFamily="2" charset="0"/>
              <a:ea typeface="微软雅黑 Light" panose="020B0502040204020203" pitchFamily="34" charset="-122"/>
            </a:endParaRPr>
          </a:p>
        </p:txBody>
      </p:sp>
      <p:sp>
        <p:nvSpPr>
          <p:cNvPr id="11" name="Text Box 2726">
            <a:extLst>
              <a:ext uri="{FF2B5EF4-FFF2-40B4-BE49-F238E27FC236}">
                <a16:creationId xmlns:a16="http://schemas.microsoft.com/office/drawing/2014/main" id="{15589E71-14A9-EF49-968F-83D6C39323A4}"/>
              </a:ext>
            </a:extLst>
          </p:cNvPr>
          <p:cNvSpPr txBox="1">
            <a:spLocks noChangeArrowheads="1"/>
          </p:cNvSpPr>
          <p:nvPr/>
        </p:nvSpPr>
        <p:spPr bwMode="auto">
          <a:xfrm>
            <a:off x="3552504" y="4420931"/>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E</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2" name="Text Box 2726">
            <a:extLst>
              <a:ext uri="{FF2B5EF4-FFF2-40B4-BE49-F238E27FC236}">
                <a16:creationId xmlns:a16="http://schemas.microsoft.com/office/drawing/2014/main" id="{52951546-F18F-B238-B7D8-9B091F868A8B}"/>
              </a:ext>
            </a:extLst>
          </p:cNvPr>
          <p:cNvSpPr txBox="1">
            <a:spLocks noChangeArrowheads="1"/>
          </p:cNvSpPr>
          <p:nvPr/>
        </p:nvSpPr>
        <p:spPr bwMode="auto">
          <a:xfrm>
            <a:off x="7705040" y="2263194"/>
            <a:ext cx="30489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F</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3" name="Text Box 2726">
            <a:extLst>
              <a:ext uri="{FF2B5EF4-FFF2-40B4-BE49-F238E27FC236}">
                <a16:creationId xmlns:a16="http://schemas.microsoft.com/office/drawing/2014/main" id="{FE182B66-418E-4EAD-D618-25C02EEC19BA}"/>
              </a:ext>
            </a:extLst>
          </p:cNvPr>
          <p:cNvSpPr txBox="1">
            <a:spLocks noChangeArrowheads="1"/>
          </p:cNvSpPr>
          <p:nvPr/>
        </p:nvSpPr>
        <p:spPr bwMode="auto">
          <a:xfrm>
            <a:off x="7718477" y="4360434"/>
            <a:ext cx="32412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G</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
        <p:nvSpPr>
          <p:cNvPr id="14" name="Text Box 2726">
            <a:extLst>
              <a:ext uri="{FF2B5EF4-FFF2-40B4-BE49-F238E27FC236}">
                <a16:creationId xmlns:a16="http://schemas.microsoft.com/office/drawing/2014/main" id="{5DC469F7-CFD1-4899-9B5E-6256C9B02AE5}"/>
              </a:ext>
            </a:extLst>
          </p:cNvPr>
          <p:cNvSpPr txBox="1">
            <a:spLocks noChangeArrowheads="1"/>
          </p:cNvSpPr>
          <p:nvPr/>
        </p:nvSpPr>
        <p:spPr bwMode="auto">
          <a:xfrm>
            <a:off x="6199791" y="4167437"/>
            <a:ext cx="33054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pPr algn="ctr"/>
            <a:r>
              <a:rPr kumimoji="1" lang="en-US" altLang="zh-CN" sz="1400" dirty="0">
                <a:solidFill>
                  <a:sysClr val="windowText" lastClr="000000"/>
                </a:solidFill>
                <a:latin typeface="Montserrat" panose="00000500000000000000" pitchFamily="2" charset="0"/>
                <a:ea typeface="微软雅黑 Light" panose="020B0502040204020203" pitchFamily="34" charset="-122"/>
              </a:rPr>
              <a:t>H</a:t>
            </a:r>
            <a:endParaRPr kumimoji="1" lang="en-US" altLang="zh-CN" sz="1400" i="1" dirty="0">
              <a:solidFill>
                <a:sysClr val="windowText" lastClr="000000"/>
              </a:solidFill>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14329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012053" y="1189440"/>
            <a:ext cx="7199791" cy="2805511"/>
            <a:chOff x="107950" y="117307"/>
            <a:chExt cx="8928100" cy="4607093"/>
          </a:xfrm>
        </p:grpSpPr>
        <p:sp>
          <p:nvSpPr>
            <p:cNvPr id="32" name="平行四边形 5697"/>
            <p:cNvSpPr>
              <a:spLocks noChangeArrowheads="1"/>
            </p:cNvSpPr>
            <p:nvPr/>
          </p:nvSpPr>
          <p:spPr bwMode="auto">
            <a:xfrm>
              <a:off x="107950" y="2565400"/>
              <a:ext cx="8928100" cy="2159000"/>
            </a:xfrm>
            <a:prstGeom prst="parallelogram">
              <a:avLst>
                <a:gd name="adj" fmla="val 76618"/>
              </a:avLst>
            </a:prstGeom>
            <a:solidFill>
              <a:schemeClr val="bg1">
                <a:lumMod val="95000"/>
              </a:schemeClr>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33" name="平行四边形 5697"/>
            <p:cNvSpPr>
              <a:spLocks noChangeArrowheads="1"/>
            </p:cNvSpPr>
            <p:nvPr/>
          </p:nvSpPr>
          <p:spPr bwMode="auto">
            <a:xfrm>
              <a:off x="107950" y="260350"/>
              <a:ext cx="8928100" cy="2160588"/>
            </a:xfrm>
            <a:prstGeom prst="parallelogram">
              <a:avLst>
                <a:gd name="adj" fmla="val 76561"/>
              </a:avLst>
            </a:prstGeom>
            <a:solidFill>
              <a:srgbClr val="66FF66"/>
            </a:solidFill>
            <a:ln w="9525" algn="ctr">
              <a:solidFill>
                <a:schemeClr val="tx1"/>
              </a:solidFill>
              <a:round/>
              <a:headEnd/>
              <a:tailEnd/>
            </a:ln>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34" name="直接连接符 8002"/>
            <p:cNvCxnSpPr>
              <a:cxnSpLocks noChangeShapeType="1"/>
              <a:stCxn id="518" idx="1"/>
            </p:cNvCxnSpPr>
            <p:nvPr/>
          </p:nvCxnSpPr>
          <p:spPr bwMode="auto">
            <a:xfrm flipH="1" flipV="1">
              <a:off x="2987675" y="3933825"/>
              <a:ext cx="176213" cy="4635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5" name="直接连接符 8006"/>
            <p:cNvCxnSpPr>
              <a:cxnSpLocks noChangeShapeType="1"/>
              <a:stCxn id="521" idx="2"/>
            </p:cNvCxnSpPr>
            <p:nvPr/>
          </p:nvCxnSpPr>
          <p:spPr bwMode="auto">
            <a:xfrm flipH="1">
              <a:off x="5076825" y="3249613"/>
              <a:ext cx="1150938"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6" name="直接连接符 8000"/>
            <p:cNvCxnSpPr>
              <a:cxnSpLocks noChangeShapeType="1"/>
              <a:stCxn id="516" idx="6"/>
            </p:cNvCxnSpPr>
            <p:nvPr/>
          </p:nvCxnSpPr>
          <p:spPr bwMode="auto">
            <a:xfrm flipV="1">
              <a:off x="1042988" y="3860800"/>
              <a:ext cx="1368425" cy="5397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7" name="直接连接符 7998"/>
            <p:cNvCxnSpPr>
              <a:cxnSpLocks noChangeShapeType="1"/>
              <a:stCxn id="517" idx="5"/>
            </p:cNvCxnSpPr>
            <p:nvPr/>
          </p:nvCxnSpPr>
          <p:spPr bwMode="auto">
            <a:xfrm>
              <a:off x="2163763" y="3036888"/>
              <a:ext cx="392112" cy="53657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8" name="直接连接符 8004"/>
            <p:cNvCxnSpPr>
              <a:cxnSpLocks noChangeShapeType="1"/>
              <a:stCxn id="518" idx="3"/>
            </p:cNvCxnSpPr>
            <p:nvPr/>
          </p:nvCxnSpPr>
          <p:spPr bwMode="auto">
            <a:xfrm flipV="1">
              <a:off x="3163888" y="3500438"/>
              <a:ext cx="1552575" cy="1049337"/>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9" name="直接连接符 8015"/>
            <p:cNvCxnSpPr>
              <a:cxnSpLocks noChangeShapeType="1"/>
              <a:stCxn id="519" idx="2"/>
            </p:cNvCxnSpPr>
            <p:nvPr/>
          </p:nvCxnSpPr>
          <p:spPr bwMode="auto">
            <a:xfrm flipH="1" flipV="1">
              <a:off x="4932363" y="3429000"/>
              <a:ext cx="792162" cy="900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0" name="直接连接符 8013"/>
            <p:cNvCxnSpPr>
              <a:cxnSpLocks noChangeShapeType="1"/>
              <a:stCxn id="519" idx="7"/>
            </p:cNvCxnSpPr>
            <p:nvPr/>
          </p:nvCxnSpPr>
          <p:spPr bwMode="auto">
            <a:xfrm flipV="1">
              <a:off x="5908675" y="3933825"/>
              <a:ext cx="750888" cy="319088"/>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1" name="直接连接符 8011"/>
            <p:cNvCxnSpPr>
              <a:cxnSpLocks noChangeShapeType="1"/>
              <a:stCxn id="522" idx="2"/>
            </p:cNvCxnSpPr>
            <p:nvPr/>
          </p:nvCxnSpPr>
          <p:spPr bwMode="auto">
            <a:xfrm flipH="1">
              <a:off x="7308850" y="3536950"/>
              <a:ext cx="503238" cy="2524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42" name="直接连接符 8008"/>
            <p:cNvCxnSpPr>
              <a:cxnSpLocks noChangeShapeType="1"/>
              <a:stCxn id="520" idx="4"/>
            </p:cNvCxnSpPr>
            <p:nvPr/>
          </p:nvCxnSpPr>
          <p:spPr bwMode="auto">
            <a:xfrm flipH="1">
              <a:off x="7019925" y="3070225"/>
              <a:ext cx="180975" cy="646113"/>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43" name="Text Box 510"/>
            <p:cNvSpPr txBox="1">
              <a:spLocks noChangeArrowheads="1"/>
            </p:cNvSpPr>
            <p:nvPr/>
          </p:nvSpPr>
          <p:spPr bwMode="auto">
            <a:xfrm rot="20956220">
              <a:off x="2819913" y="661909"/>
              <a:ext cx="115480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TCP </a:t>
              </a:r>
              <a:r>
                <a:rPr lang="zh-CN" altLang="en-US" sz="1100" dirty="0">
                  <a:latin typeface="微软雅黑 Light" panose="020B0502040204020203" pitchFamily="34" charset="-122"/>
                  <a:ea typeface="微软雅黑 Light" panose="020B0502040204020203" pitchFamily="34" charset="-122"/>
                </a:rPr>
                <a:t>连接</a:t>
              </a:r>
            </a:p>
          </p:txBody>
        </p:sp>
        <p:graphicFrame>
          <p:nvGraphicFramePr>
            <p:cNvPr id="44" name="Object 1188">
              <a:hlinkClick r:id="" action="ppaction://ole?verb=0"/>
            </p:cNvPr>
            <p:cNvGraphicFramePr>
              <a:graphicFrameLocks/>
            </p:cNvGraphicFramePr>
            <p:nvPr>
              <p:extLst>
                <p:ext uri="{D42A27DB-BD31-4B8C-83A1-F6EECF244321}">
                  <p14:modId xmlns:p14="http://schemas.microsoft.com/office/powerpoint/2010/main" val="1214934849"/>
                </p:ext>
              </p:extLst>
            </p:nvPr>
          </p:nvGraphicFramePr>
          <p:xfrm>
            <a:off x="1979613" y="404813"/>
            <a:ext cx="360362" cy="647700"/>
          </p:xfrm>
          <a:graphic>
            <a:graphicData uri="http://schemas.openxmlformats.org/presentationml/2006/ole">
              <mc:AlternateContent xmlns:mc="http://schemas.openxmlformats.org/markup-compatibility/2006">
                <mc:Choice xmlns:v="urn:schemas-microsoft-com:vml" Requires="v">
                  <p:oleObj name="Microsoft ClipArt Gallery" r:id="rId3" imgW="2735263" imgH="3825875" progId="">
                    <p:embed/>
                  </p:oleObj>
                </mc:Choice>
                <mc:Fallback>
                  <p:oleObj name="Microsoft ClipArt Gallery" r:id="rId3" imgW="2735263" imgH="3825875" progId="">
                    <p:embed/>
                    <p:pic>
                      <p:nvPicPr>
                        <p:cNvPr id="0" name="Picture 9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79613" y="404813"/>
                          <a:ext cx="360362" cy="6477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
          <p:nvSpPr>
            <p:cNvPr id="45" name="Text Box 1189"/>
            <p:cNvSpPr txBox="1">
              <a:spLocks noChangeArrowheads="1"/>
            </p:cNvSpPr>
            <p:nvPr/>
          </p:nvSpPr>
          <p:spPr bwMode="auto">
            <a:xfrm>
              <a:off x="2268539" y="333375"/>
              <a:ext cx="913458"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100" dirty="0">
                  <a:latin typeface="微软雅黑 Light" panose="020B0502040204020203" pitchFamily="34" charset="-122"/>
                  <a:ea typeface="微软雅黑 Light" panose="020B0502040204020203" pitchFamily="34" charset="-122"/>
                </a:rPr>
                <a:t>追踪器</a:t>
              </a:r>
            </a:p>
          </p:txBody>
        </p:sp>
        <p:grpSp>
          <p:nvGrpSpPr>
            <p:cNvPr id="46" name="Group 2096"/>
            <p:cNvGrpSpPr>
              <a:grpSpLocks/>
            </p:cNvGrpSpPr>
            <p:nvPr/>
          </p:nvGrpSpPr>
          <p:grpSpPr bwMode="auto">
            <a:xfrm>
              <a:off x="6659563" y="549275"/>
              <a:ext cx="433387" cy="328613"/>
              <a:chOff x="624" y="2968"/>
              <a:chExt cx="1331" cy="920"/>
            </a:xfrm>
          </p:grpSpPr>
          <p:sp>
            <p:nvSpPr>
              <p:cNvPr id="47"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2"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9" name="Group 2109"/>
              <p:cNvGrpSpPr>
                <a:grpSpLocks/>
              </p:cNvGrpSpPr>
              <p:nvPr/>
            </p:nvGrpSpPr>
            <p:grpSpPr bwMode="auto">
              <a:xfrm>
                <a:off x="700" y="3526"/>
                <a:ext cx="515" cy="270"/>
                <a:chOff x="700" y="3526"/>
                <a:chExt cx="515" cy="270"/>
              </a:xfrm>
            </p:grpSpPr>
            <p:grpSp>
              <p:nvGrpSpPr>
                <p:cNvPr id="85" name="Group 2110"/>
                <p:cNvGrpSpPr>
                  <a:grpSpLocks/>
                </p:cNvGrpSpPr>
                <p:nvPr/>
              </p:nvGrpSpPr>
              <p:grpSpPr bwMode="auto">
                <a:xfrm>
                  <a:off x="737" y="3534"/>
                  <a:ext cx="49" cy="23"/>
                  <a:chOff x="737" y="3534"/>
                  <a:chExt cx="49" cy="23"/>
                </a:xfrm>
              </p:grpSpPr>
              <p:sp>
                <p:nvSpPr>
                  <p:cNvPr id="4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 name="Group 2114"/>
                <p:cNvGrpSpPr>
                  <a:grpSpLocks/>
                </p:cNvGrpSpPr>
                <p:nvPr/>
              </p:nvGrpSpPr>
              <p:grpSpPr bwMode="auto">
                <a:xfrm>
                  <a:off x="748" y="3547"/>
                  <a:ext cx="50" cy="23"/>
                  <a:chOff x="748" y="3547"/>
                  <a:chExt cx="50" cy="23"/>
                </a:xfrm>
              </p:grpSpPr>
              <p:sp>
                <p:nvSpPr>
                  <p:cNvPr id="4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87"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1" name="Group 2122"/>
                <p:cNvGrpSpPr>
                  <a:grpSpLocks/>
                </p:cNvGrpSpPr>
                <p:nvPr/>
              </p:nvGrpSpPr>
              <p:grpSpPr bwMode="auto">
                <a:xfrm>
                  <a:off x="872" y="3547"/>
                  <a:ext cx="50" cy="23"/>
                  <a:chOff x="872" y="3547"/>
                  <a:chExt cx="50" cy="23"/>
                </a:xfrm>
              </p:grpSpPr>
              <p:sp>
                <p:nvSpPr>
                  <p:cNvPr id="4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 name="Group 2126"/>
                <p:cNvGrpSpPr>
                  <a:grpSpLocks/>
                </p:cNvGrpSpPr>
                <p:nvPr/>
              </p:nvGrpSpPr>
              <p:grpSpPr bwMode="auto">
                <a:xfrm>
                  <a:off x="885" y="3559"/>
                  <a:ext cx="50" cy="23"/>
                  <a:chOff x="885" y="3559"/>
                  <a:chExt cx="50" cy="23"/>
                </a:xfrm>
              </p:grpSpPr>
              <p:sp>
                <p:nvSpPr>
                  <p:cNvPr id="4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 name="Group 2130"/>
                <p:cNvGrpSpPr>
                  <a:grpSpLocks/>
                </p:cNvGrpSpPr>
                <p:nvPr/>
              </p:nvGrpSpPr>
              <p:grpSpPr bwMode="auto">
                <a:xfrm>
                  <a:off x="898" y="3571"/>
                  <a:ext cx="49" cy="23"/>
                  <a:chOff x="898" y="3571"/>
                  <a:chExt cx="49" cy="23"/>
                </a:xfrm>
              </p:grpSpPr>
              <p:sp>
                <p:nvSpPr>
                  <p:cNvPr id="4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 name="Group 2134"/>
                <p:cNvGrpSpPr>
                  <a:grpSpLocks/>
                </p:cNvGrpSpPr>
                <p:nvPr/>
              </p:nvGrpSpPr>
              <p:grpSpPr bwMode="auto">
                <a:xfrm>
                  <a:off x="911" y="3585"/>
                  <a:ext cx="49" cy="23"/>
                  <a:chOff x="911" y="3585"/>
                  <a:chExt cx="49" cy="23"/>
                </a:xfrm>
              </p:grpSpPr>
              <p:sp>
                <p:nvSpPr>
                  <p:cNvPr id="4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 name="Group 2138"/>
                <p:cNvGrpSpPr>
                  <a:grpSpLocks/>
                </p:cNvGrpSpPr>
                <p:nvPr/>
              </p:nvGrpSpPr>
              <p:grpSpPr bwMode="auto">
                <a:xfrm>
                  <a:off x="923" y="3600"/>
                  <a:ext cx="99" cy="73"/>
                  <a:chOff x="923" y="3600"/>
                  <a:chExt cx="99" cy="73"/>
                </a:xfrm>
              </p:grpSpPr>
              <p:grpSp>
                <p:nvGrpSpPr>
                  <p:cNvPr id="463" name="Group 2139"/>
                  <p:cNvGrpSpPr>
                    <a:grpSpLocks/>
                  </p:cNvGrpSpPr>
                  <p:nvPr/>
                </p:nvGrpSpPr>
                <p:grpSpPr bwMode="auto">
                  <a:xfrm>
                    <a:off x="923" y="3600"/>
                    <a:ext cx="49" cy="23"/>
                    <a:chOff x="923" y="3600"/>
                    <a:chExt cx="49" cy="23"/>
                  </a:xfrm>
                </p:grpSpPr>
                <p:sp>
                  <p:nvSpPr>
                    <p:cNvPr id="4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4" name="Group 2143"/>
                  <p:cNvGrpSpPr>
                    <a:grpSpLocks/>
                  </p:cNvGrpSpPr>
                  <p:nvPr/>
                </p:nvGrpSpPr>
                <p:grpSpPr bwMode="auto">
                  <a:xfrm>
                    <a:off x="935" y="3612"/>
                    <a:ext cx="48" cy="23"/>
                    <a:chOff x="935" y="3612"/>
                    <a:chExt cx="48" cy="23"/>
                  </a:xfrm>
                </p:grpSpPr>
                <p:sp>
                  <p:nvSpPr>
                    <p:cNvPr id="4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5" name="Group 2147"/>
                  <p:cNvGrpSpPr>
                    <a:grpSpLocks/>
                  </p:cNvGrpSpPr>
                  <p:nvPr/>
                </p:nvGrpSpPr>
                <p:grpSpPr bwMode="auto">
                  <a:xfrm>
                    <a:off x="947" y="3625"/>
                    <a:ext cx="50" cy="22"/>
                    <a:chOff x="947" y="3625"/>
                    <a:chExt cx="50" cy="22"/>
                  </a:xfrm>
                </p:grpSpPr>
                <p:sp>
                  <p:nvSpPr>
                    <p:cNvPr id="4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6" name="Group 2151"/>
                  <p:cNvGrpSpPr>
                    <a:grpSpLocks/>
                  </p:cNvGrpSpPr>
                  <p:nvPr/>
                </p:nvGrpSpPr>
                <p:grpSpPr bwMode="auto">
                  <a:xfrm>
                    <a:off x="960" y="3637"/>
                    <a:ext cx="50" cy="23"/>
                    <a:chOff x="960" y="3637"/>
                    <a:chExt cx="50" cy="23"/>
                  </a:xfrm>
                </p:grpSpPr>
                <p:sp>
                  <p:nvSpPr>
                    <p:cNvPr id="4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67" name="Group 2155"/>
                  <p:cNvGrpSpPr>
                    <a:grpSpLocks/>
                  </p:cNvGrpSpPr>
                  <p:nvPr/>
                </p:nvGrpSpPr>
                <p:grpSpPr bwMode="auto">
                  <a:xfrm>
                    <a:off x="973" y="3650"/>
                    <a:ext cx="49" cy="23"/>
                    <a:chOff x="973" y="3650"/>
                    <a:chExt cx="49" cy="23"/>
                  </a:xfrm>
                </p:grpSpPr>
                <p:sp>
                  <p:nvSpPr>
                    <p:cNvPr id="4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6" name="Group 2159"/>
                <p:cNvGrpSpPr>
                  <a:grpSpLocks/>
                </p:cNvGrpSpPr>
                <p:nvPr/>
              </p:nvGrpSpPr>
              <p:grpSpPr bwMode="auto">
                <a:xfrm>
                  <a:off x="985" y="3665"/>
                  <a:ext cx="100" cy="73"/>
                  <a:chOff x="985" y="3665"/>
                  <a:chExt cx="100" cy="73"/>
                </a:xfrm>
              </p:grpSpPr>
              <p:grpSp>
                <p:nvGrpSpPr>
                  <p:cNvPr id="441" name="Group 2160"/>
                  <p:cNvGrpSpPr>
                    <a:grpSpLocks/>
                  </p:cNvGrpSpPr>
                  <p:nvPr/>
                </p:nvGrpSpPr>
                <p:grpSpPr bwMode="auto">
                  <a:xfrm>
                    <a:off x="985" y="3665"/>
                    <a:ext cx="50" cy="23"/>
                    <a:chOff x="985" y="3665"/>
                    <a:chExt cx="50" cy="23"/>
                  </a:xfrm>
                </p:grpSpPr>
                <p:sp>
                  <p:nvSpPr>
                    <p:cNvPr id="458"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2" name="Group 2164"/>
                  <p:cNvGrpSpPr>
                    <a:grpSpLocks/>
                  </p:cNvGrpSpPr>
                  <p:nvPr/>
                </p:nvGrpSpPr>
                <p:grpSpPr bwMode="auto">
                  <a:xfrm>
                    <a:off x="997" y="3677"/>
                    <a:ext cx="49" cy="23"/>
                    <a:chOff x="997" y="3677"/>
                    <a:chExt cx="49" cy="23"/>
                  </a:xfrm>
                </p:grpSpPr>
                <p:sp>
                  <p:nvSpPr>
                    <p:cNvPr id="455"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6"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7"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3" name="Group 2168"/>
                  <p:cNvGrpSpPr>
                    <a:grpSpLocks/>
                  </p:cNvGrpSpPr>
                  <p:nvPr/>
                </p:nvGrpSpPr>
                <p:grpSpPr bwMode="auto">
                  <a:xfrm>
                    <a:off x="1010" y="3690"/>
                    <a:ext cx="48" cy="23"/>
                    <a:chOff x="1010" y="3690"/>
                    <a:chExt cx="48" cy="23"/>
                  </a:xfrm>
                </p:grpSpPr>
                <p:sp>
                  <p:nvSpPr>
                    <p:cNvPr id="452"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3"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4"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4" name="Group 2172"/>
                  <p:cNvGrpSpPr>
                    <a:grpSpLocks/>
                  </p:cNvGrpSpPr>
                  <p:nvPr/>
                </p:nvGrpSpPr>
                <p:grpSpPr bwMode="auto">
                  <a:xfrm>
                    <a:off x="1023" y="3703"/>
                    <a:ext cx="49" cy="22"/>
                    <a:chOff x="1023" y="3703"/>
                    <a:chExt cx="49" cy="22"/>
                  </a:xfrm>
                </p:grpSpPr>
                <p:sp>
                  <p:nvSpPr>
                    <p:cNvPr id="449"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0"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51"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45" name="Group 2176"/>
                  <p:cNvGrpSpPr>
                    <a:grpSpLocks/>
                  </p:cNvGrpSpPr>
                  <p:nvPr/>
                </p:nvGrpSpPr>
                <p:grpSpPr bwMode="auto">
                  <a:xfrm>
                    <a:off x="1036" y="3716"/>
                    <a:ext cx="49" cy="22"/>
                    <a:chOff x="1036" y="3716"/>
                    <a:chExt cx="49" cy="22"/>
                  </a:xfrm>
                </p:grpSpPr>
                <p:sp>
                  <p:nvSpPr>
                    <p:cNvPr id="446"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7"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8"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7" name="Group 2180"/>
                <p:cNvGrpSpPr>
                  <a:grpSpLocks/>
                </p:cNvGrpSpPr>
                <p:nvPr/>
              </p:nvGrpSpPr>
              <p:grpSpPr bwMode="auto">
                <a:xfrm>
                  <a:off x="1046" y="3727"/>
                  <a:ext cx="49" cy="23"/>
                  <a:chOff x="1046" y="3727"/>
                  <a:chExt cx="49" cy="23"/>
                </a:xfrm>
              </p:grpSpPr>
              <p:sp>
                <p:nvSpPr>
                  <p:cNvPr id="438"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9"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40"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8" name="Group 2184"/>
                <p:cNvGrpSpPr>
                  <a:grpSpLocks/>
                </p:cNvGrpSpPr>
                <p:nvPr/>
              </p:nvGrpSpPr>
              <p:grpSpPr bwMode="auto">
                <a:xfrm>
                  <a:off x="1058" y="3739"/>
                  <a:ext cx="50" cy="23"/>
                  <a:chOff x="1058" y="3739"/>
                  <a:chExt cx="50" cy="23"/>
                </a:xfrm>
              </p:grpSpPr>
              <p:sp>
                <p:nvSpPr>
                  <p:cNvPr id="435"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6"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7"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 name="Group 2188"/>
                <p:cNvGrpSpPr>
                  <a:grpSpLocks/>
                </p:cNvGrpSpPr>
                <p:nvPr/>
              </p:nvGrpSpPr>
              <p:grpSpPr bwMode="auto">
                <a:xfrm>
                  <a:off x="1072" y="3753"/>
                  <a:ext cx="48" cy="22"/>
                  <a:chOff x="1072" y="3753"/>
                  <a:chExt cx="48" cy="22"/>
                </a:xfrm>
              </p:grpSpPr>
              <p:sp>
                <p:nvSpPr>
                  <p:cNvPr id="432"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3"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4"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0"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3" name="Group 2195"/>
                <p:cNvGrpSpPr>
                  <a:grpSpLocks/>
                </p:cNvGrpSpPr>
                <p:nvPr/>
              </p:nvGrpSpPr>
              <p:grpSpPr bwMode="auto">
                <a:xfrm>
                  <a:off x="832" y="3547"/>
                  <a:ext cx="49" cy="23"/>
                  <a:chOff x="832" y="3547"/>
                  <a:chExt cx="49" cy="23"/>
                </a:xfrm>
              </p:grpSpPr>
              <p:sp>
                <p:nvSpPr>
                  <p:cNvPr id="429"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0"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31"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 name="Group 2199"/>
                <p:cNvGrpSpPr>
                  <a:grpSpLocks/>
                </p:cNvGrpSpPr>
                <p:nvPr/>
              </p:nvGrpSpPr>
              <p:grpSpPr bwMode="auto">
                <a:xfrm>
                  <a:off x="844" y="3560"/>
                  <a:ext cx="49" cy="22"/>
                  <a:chOff x="844" y="3560"/>
                  <a:chExt cx="49" cy="22"/>
                </a:xfrm>
              </p:grpSpPr>
              <p:sp>
                <p:nvSpPr>
                  <p:cNvPr id="426"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7"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8"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 name="Group 2203"/>
                <p:cNvGrpSpPr>
                  <a:grpSpLocks/>
                </p:cNvGrpSpPr>
                <p:nvPr/>
              </p:nvGrpSpPr>
              <p:grpSpPr bwMode="auto">
                <a:xfrm>
                  <a:off x="857" y="3572"/>
                  <a:ext cx="50" cy="23"/>
                  <a:chOff x="857" y="3572"/>
                  <a:chExt cx="50" cy="23"/>
                </a:xfrm>
              </p:grpSpPr>
              <p:sp>
                <p:nvSpPr>
                  <p:cNvPr id="423"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4"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5"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 name="Group 2207"/>
                <p:cNvGrpSpPr>
                  <a:grpSpLocks/>
                </p:cNvGrpSpPr>
                <p:nvPr/>
              </p:nvGrpSpPr>
              <p:grpSpPr bwMode="auto">
                <a:xfrm>
                  <a:off x="870" y="3585"/>
                  <a:ext cx="48" cy="23"/>
                  <a:chOff x="870" y="3585"/>
                  <a:chExt cx="48" cy="23"/>
                </a:xfrm>
              </p:grpSpPr>
              <p:sp>
                <p:nvSpPr>
                  <p:cNvPr id="420"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1"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22"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 name="Group 2211"/>
                <p:cNvGrpSpPr>
                  <a:grpSpLocks/>
                </p:cNvGrpSpPr>
                <p:nvPr/>
              </p:nvGrpSpPr>
              <p:grpSpPr bwMode="auto">
                <a:xfrm>
                  <a:off x="882" y="3600"/>
                  <a:ext cx="100" cy="73"/>
                  <a:chOff x="882" y="3600"/>
                  <a:chExt cx="100" cy="73"/>
                </a:xfrm>
              </p:grpSpPr>
              <p:grpSp>
                <p:nvGrpSpPr>
                  <p:cNvPr id="400" name="Group 2212"/>
                  <p:cNvGrpSpPr>
                    <a:grpSpLocks/>
                  </p:cNvGrpSpPr>
                  <p:nvPr/>
                </p:nvGrpSpPr>
                <p:grpSpPr bwMode="auto">
                  <a:xfrm>
                    <a:off x="882" y="3600"/>
                    <a:ext cx="49" cy="23"/>
                    <a:chOff x="882" y="3600"/>
                    <a:chExt cx="49" cy="23"/>
                  </a:xfrm>
                </p:grpSpPr>
                <p:sp>
                  <p:nvSpPr>
                    <p:cNvPr id="417"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8"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9"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1" name="Group 2216"/>
                  <p:cNvGrpSpPr>
                    <a:grpSpLocks/>
                  </p:cNvGrpSpPr>
                  <p:nvPr/>
                </p:nvGrpSpPr>
                <p:grpSpPr bwMode="auto">
                  <a:xfrm>
                    <a:off x="894" y="3612"/>
                    <a:ext cx="49" cy="23"/>
                    <a:chOff x="894" y="3612"/>
                    <a:chExt cx="49" cy="23"/>
                  </a:xfrm>
                </p:grpSpPr>
                <p:sp>
                  <p:nvSpPr>
                    <p:cNvPr id="414"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5"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6"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2" name="Group 2220"/>
                  <p:cNvGrpSpPr>
                    <a:grpSpLocks/>
                  </p:cNvGrpSpPr>
                  <p:nvPr/>
                </p:nvGrpSpPr>
                <p:grpSpPr bwMode="auto">
                  <a:xfrm>
                    <a:off x="907" y="3625"/>
                    <a:ext cx="49" cy="23"/>
                    <a:chOff x="907" y="3625"/>
                    <a:chExt cx="49" cy="23"/>
                  </a:xfrm>
                </p:grpSpPr>
                <p:sp>
                  <p:nvSpPr>
                    <p:cNvPr id="411"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2"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3"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3" name="Group 2224"/>
                  <p:cNvGrpSpPr>
                    <a:grpSpLocks/>
                  </p:cNvGrpSpPr>
                  <p:nvPr/>
                </p:nvGrpSpPr>
                <p:grpSpPr bwMode="auto">
                  <a:xfrm>
                    <a:off x="919" y="3638"/>
                    <a:ext cx="49" cy="22"/>
                    <a:chOff x="919" y="3638"/>
                    <a:chExt cx="49" cy="22"/>
                  </a:xfrm>
                </p:grpSpPr>
                <p:sp>
                  <p:nvSpPr>
                    <p:cNvPr id="408"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9"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10"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404" name="Group 2228"/>
                  <p:cNvGrpSpPr>
                    <a:grpSpLocks/>
                  </p:cNvGrpSpPr>
                  <p:nvPr/>
                </p:nvGrpSpPr>
                <p:grpSpPr bwMode="auto">
                  <a:xfrm>
                    <a:off x="932" y="3651"/>
                    <a:ext cx="50" cy="22"/>
                    <a:chOff x="932" y="3651"/>
                    <a:chExt cx="50" cy="22"/>
                  </a:xfrm>
                </p:grpSpPr>
                <p:sp>
                  <p:nvSpPr>
                    <p:cNvPr id="405"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6"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407"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8" name="Group 2232"/>
                <p:cNvGrpSpPr>
                  <a:grpSpLocks/>
                </p:cNvGrpSpPr>
                <p:nvPr/>
              </p:nvGrpSpPr>
              <p:grpSpPr bwMode="auto">
                <a:xfrm>
                  <a:off x="944" y="3665"/>
                  <a:ext cx="99" cy="74"/>
                  <a:chOff x="944" y="3665"/>
                  <a:chExt cx="99" cy="74"/>
                </a:xfrm>
              </p:grpSpPr>
              <p:grpSp>
                <p:nvGrpSpPr>
                  <p:cNvPr id="380" name="Group 2233"/>
                  <p:cNvGrpSpPr>
                    <a:grpSpLocks/>
                  </p:cNvGrpSpPr>
                  <p:nvPr/>
                </p:nvGrpSpPr>
                <p:grpSpPr bwMode="auto">
                  <a:xfrm>
                    <a:off x="944" y="3665"/>
                    <a:ext cx="49" cy="23"/>
                    <a:chOff x="944" y="3665"/>
                    <a:chExt cx="49" cy="23"/>
                  </a:xfrm>
                </p:grpSpPr>
                <p:sp>
                  <p:nvSpPr>
                    <p:cNvPr id="397"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8"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9"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1" name="Group 2237"/>
                  <p:cNvGrpSpPr>
                    <a:grpSpLocks/>
                  </p:cNvGrpSpPr>
                  <p:nvPr/>
                </p:nvGrpSpPr>
                <p:grpSpPr bwMode="auto">
                  <a:xfrm>
                    <a:off x="957" y="3678"/>
                    <a:ext cx="48" cy="23"/>
                    <a:chOff x="957" y="3678"/>
                    <a:chExt cx="48" cy="23"/>
                  </a:xfrm>
                </p:grpSpPr>
                <p:sp>
                  <p:nvSpPr>
                    <p:cNvPr id="394"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5"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6"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2" name="Group 2241"/>
                  <p:cNvGrpSpPr>
                    <a:grpSpLocks/>
                  </p:cNvGrpSpPr>
                  <p:nvPr/>
                </p:nvGrpSpPr>
                <p:grpSpPr bwMode="auto">
                  <a:xfrm>
                    <a:off x="969" y="3690"/>
                    <a:ext cx="49" cy="23"/>
                    <a:chOff x="969" y="3690"/>
                    <a:chExt cx="49" cy="23"/>
                  </a:xfrm>
                </p:grpSpPr>
                <p:sp>
                  <p:nvSpPr>
                    <p:cNvPr id="391"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2"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3"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3" name="Group 2245"/>
                  <p:cNvGrpSpPr>
                    <a:grpSpLocks/>
                  </p:cNvGrpSpPr>
                  <p:nvPr/>
                </p:nvGrpSpPr>
                <p:grpSpPr bwMode="auto">
                  <a:xfrm>
                    <a:off x="982" y="3703"/>
                    <a:ext cx="49" cy="23"/>
                    <a:chOff x="982" y="3703"/>
                    <a:chExt cx="49" cy="23"/>
                  </a:xfrm>
                </p:grpSpPr>
                <p:sp>
                  <p:nvSpPr>
                    <p:cNvPr id="388"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9"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90"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84" name="Group 2249"/>
                  <p:cNvGrpSpPr>
                    <a:grpSpLocks/>
                  </p:cNvGrpSpPr>
                  <p:nvPr/>
                </p:nvGrpSpPr>
                <p:grpSpPr bwMode="auto">
                  <a:xfrm>
                    <a:off x="995" y="3716"/>
                    <a:ext cx="48" cy="23"/>
                    <a:chOff x="995" y="3716"/>
                    <a:chExt cx="48" cy="23"/>
                  </a:xfrm>
                </p:grpSpPr>
                <p:sp>
                  <p:nvSpPr>
                    <p:cNvPr id="385"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6"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87"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9" name="Group 2253"/>
                <p:cNvGrpSpPr>
                  <a:grpSpLocks/>
                </p:cNvGrpSpPr>
                <p:nvPr/>
              </p:nvGrpSpPr>
              <p:grpSpPr bwMode="auto">
                <a:xfrm>
                  <a:off x="1005" y="3727"/>
                  <a:ext cx="49" cy="23"/>
                  <a:chOff x="1005" y="3727"/>
                  <a:chExt cx="49" cy="23"/>
                </a:xfrm>
              </p:grpSpPr>
              <p:sp>
                <p:nvSpPr>
                  <p:cNvPr id="377"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8"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9"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 name="Group 2257"/>
                <p:cNvGrpSpPr>
                  <a:grpSpLocks/>
                </p:cNvGrpSpPr>
                <p:nvPr/>
              </p:nvGrpSpPr>
              <p:grpSpPr bwMode="auto">
                <a:xfrm>
                  <a:off x="1018" y="3740"/>
                  <a:ext cx="49" cy="22"/>
                  <a:chOff x="1018" y="3740"/>
                  <a:chExt cx="49" cy="22"/>
                </a:xfrm>
              </p:grpSpPr>
              <p:sp>
                <p:nvSpPr>
                  <p:cNvPr id="374"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5"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6"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1" name="Group 2261"/>
                <p:cNvGrpSpPr>
                  <a:grpSpLocks/>
                </p:cNvGrpSpPr>
                <p:nvPr/>
              </p:nvGrpSpPr>
              <p:grpSpPr bwMode="auto">
                <a:xfrm>
                  <a:off x="1030" y="3753"/>
                  <a:ext cx="49" cy="23"/>
                  <a:chOff x="1030" y="3753"/>
                  <a:chExt cx="49" cy="23"/>
                </a:xfrm>
              </p:grpSpPr>
              <p:sp>
                <p:nvSpPr>
                  <p:cNvPr id="371"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2"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3"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2"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15" name="Group 2268"/>
                <p:cNvGrpSpPr>
                  <a:grpSpLocks/>
                </p:cNvGrpSpPr>
                <p:nvPr/>
              </p:nvGrpSpPr>
              <p:grpSpPr bwMode="auto">
                <a:xfrm>
                  <a:off x="790" y="3547"/>
                  <a:ext cx="49" cy="23"/>
                  <a:chOff x="790" y="3547"/>
                  <a:chExt cx="49" cy="23"/>
                </a:xfrm>
              </p:grpSpPr>
              <p:sp>
                <p:nvSpPr>
                  <p:cNvPr id="368"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9"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70"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6" name="Group 2272"/>
                <p:cNvGrpSpPr>
                  <a:grpSpLocks/>
                </p:cNvGrpSpPr>
                <p:nvPr/>
              </p:nvGrpSpPr>
              <p:grpSpPr bwMode="auto">
                <a:xfrm>
                  <a:off x="803" y="3560"/>
                  <a:ext cx="49" cy="22"/>
                  <a:chOff x="803" y="3560"/>
                  <a:chExt cx="49" cy="22"/>
                </a:xfrm>
              </p:grpSpPr>
              <p:sp>
                <p:nvSpPr>
                  <p:cNvPr id="365"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6"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7"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 name="Group 2276"/>
                <p:cNvGrpSpPr>
                  <a:grpSpLocks/>
                </p:cNvGrpSpPr>
                <p:nvPr/>
              </p:nvGrpSpPr>
              <p:grpSpPr bwMode="auto">
                <a:xfrm>
                  <a:off x="815" y="3572"/>
                  <a:ext cx="50" cy="23"/>
                  <a:chOff x="815" y="3572"/>
                  <a:chExt cx="50" cy="23"/>
                </a:xfrm>
              </p:grpSpPr>
              <p:sp>
                <p:nvSpPr>
                  <p:cNvPr id="362"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3"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4"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8" name="Group 2280"/>
                <p:cNvGrpSpPr>
                  <a:grpSpLocks/>
                </p:cNvGrpSpPr>
                <p:nvPr/>
              </p:nvGrpSpPr>
              <p:grpSpPr bwMode="auto">
                <a:xfrm>
                  <a:off x="828" y="3585"/>
                  <a:ext cx="49" cy="23"/>
                  <a:chOff x="828" y="3585"/>
                  <a:chExt cx="49" cy="23"/>
                </a:xfrm>
              </p:grpSpPr>
              <p:sp>
                <p:nvSpPr>
                  <p:cNvPr id="359"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0"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61"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9" name="Group 2284"/>
                <p:cNvGrpSpPr>
                  <a:grpSpLocks/>
                </p:cNvGrpSpPr>
                <p:nvPr/>
              </p:nvGrpSpPr>
              <p:grpSpPr bwMode="auto">
                <a:xfrm>
                  <a:off x="840" y="3600"/>
                  <a:ext cx="100" cy="73"/>
                  <a:chOff x="840" y="3600"/>
                  <a:chExt cx="100" cy="73"/>
                </a:xfrm>
              </p:grpSpPr>
              <p:grpSp>
                <p:nvGrpSpPr>
                  <p:cNvPr id="339" name="Group 2285"/>
                  <p:cNvGrpSpPr>
                    <a:grpSpLocks/>
                  </p:cNvGrpSpPr>
                  <p:nvPr/>
                </p:nvGrpSpPr>
                <p:grpSpPr bwMode="auto">
                  <a:xfrm>
                    <a:off x="840" y="3600"/>
                    <a:ext cx="49" cy="23"/>
                    <a:chOff x="840" y="3600"/>
                    <a:chExt cx="49" cy="23"/>
                  </a:xfrm>
                </p:grpSpPr>
                <p:sp>
                  <p:nvSpPr>
                    <p:cNvPr id="356"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7"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8"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0" name="Group 2289"/>
                  <p:cNvGrpSpPr>
                    <a:grpSpLocks/>
                  </p:cNvGrpSpPr>
                  <p:nvPr/>
                </p:nvGrpSpPr>
                <p:grpSpPr bwMode="auto">
                  <a:xfrm>
                    <a:off x="853" y="3612"/>
                    <a:ext cx="48" cy="23"/>
                    <a:chOff x="853" y="3612"/>
                    <a:chExt cx="48" cy="23"/>
                  </a:xfrm>
                </p:grpSpPr>
                <p:sp>
                  <p:nvSpPr>
                    <p:cNvPr id="353"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4"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5"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1" name="Group 2293"/>
                  <p:cNvGrpSpPr>
                    <a:grpSpLocks/>
                  </p:cNvGrpSpPr>
                  <p:nvPr/>
                </p:nvGrpSpPr>
                <p:grpSpPr bwMode="auto">
                  <a:xfrm>
                    <a:off x="865" y="3625"/>
                    <a:ext cx="49" cy="23"/>
                    <a:chOff x="865" y="3625"/>
                    <a:chExt cx="49" cy="23"/>
                  </a:xfrm>
                </p:grpSpPr>
                <p:sp>
                  <p:nvSpPr>
                    <p:cNvPr id="350"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1"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52"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2" name="Group 2297"/>
                  <p:cNvGrpSpPr>
                    <a:grpSpLocks/>
                  </p:cNvGrpSpPr>
                  <p:nvPr/>
                </p:nvGrpSpPr>
                <p:grpSpPr bwMode="auto">
                  <a:xfrm>
                    <a:off x="878" y="3638"/>
                    <a:ext cx="49" cy="22"/>
                    <a:chOff x="878" y="3638"/>
                    <a:chExt cx="49" cy="22"/>
                  </a:xfrm>
                </p:grpSpPr>
                <p:sp>
                  <p:nvSpPr>
                    <p:cNvPr id="347"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8"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9"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43" name="Group 2301"/>
                  <p:cNvGrpSpPr>
                    <a:grpSpLocks/>
                  </p:cNvGrpSpPr>
                  <p:nvPr/>
                </p:nvGrpSpPr>
                <p:grpSpPr bwMode="auto">
                  <a:xfrm>
                    <a:off x="890" y="3651"/>
                    <a:ext cx="50" cy="22"/>
                    <a:chOff x="890" y="3651"/>
                    <a:chExt cx="50" cy="22"/>
                  </a:xfrm>
                </p:grpSpPr>
                <p:sp>
                  <p:nvSpPr>
                    <p:cNvPr id="344"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5"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46"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0" name="Group 2305"/>
                <p:cNvGrpSpPr>
                  <a:grpSpLocks/>
                </p:cNvGrpSpPr>
                <p:nvPr/>
              </p:nvGrpSpPr>
              <p:grpSpPr bwMode="auto">
                <a:xfrm>
                  <a:off x="903" y="3665"/>
                  <a:ext cx="99" cy="74"/>
                  <a:chOff x="903" y="3665"/>
                  <a:chExt cx="99" cy="74"/>
                </a:xfrm>
              </p:grpSpPr>
              <p:grpSp>
                <p:nvGrpSpPr>
                  <p:cNvPr id="319" name="Group 2306"/>
                  <p:cNvGrpSpPr>
                    <a:grpSpLocks/>
                  </p:cNvGrpSpPr>
                  <p:nvPr/>
                </p:nvGrpSpPr>
                <p:grpSpPr bwMode="auto">
                  <a:xfrm>
                    <a:off x="903" y="3665"/>
                    <a:ext cx="49" cy="23"/>
                    <a:chOff x="903" y="3665"/>
                    <a:chExt cx="49" cy="23"/>
                  </a:xfrm>
                </p:grpSpPr>
                <p:sp>
                  <p:nvSpPr>
                    <p:cNvPr id="336"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7"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8"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 name="Group 2310"/>
                  <p:cNvGrpSpPr>
                    <a:grpSpLocks/>
                  </p:cNvGrpSpPr>
                  <p:nvPr/>
                </p:nvGrpSpPr>
                <p:grpSpPr bwMode="auto">
                  <a:xfrm>
                    <a:off x="914" y="3678"/>
                    <a:ext cx="49" cy="23"/>
                    <a:chOff x="914" y="3678"/>
                    <a:chExt cx="49" cy="23"/>
                  </a:xfrm>
                </p:grpSpPr>
                <p:sp>
                  <p:nvSpPr>
                    <p:cNvPr id="333"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4"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5"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 name="Group 2314"/>
                  <p:cNvGrpSpPr>
                    <a:grpSpLocks/>
                  </p:cNvGrpSpPr>
                  <p:nvPr/>
                </p:nvGrpSpPr>
                <p:grpSpPr bwMode="auto">
                  <a:xfrm>
                    <a:off x="928" y="3690"/>
                    <a:ext cx="48" cy="23"/>
                    <a:chOff x="928" y="3690"/>
                    <a:chExt cx="48" cy="23"/>
                  </a:xfrm>
                </p:grpSpPr>
                <p:sp>
                  <p:nvSpPr>
                    <p:cNvPr id="330"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1"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32"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 name="Group 2318"/>
                  <p:cNvGrpSpPr>
                    <a:grpSpLocks/>
                  </p:cNvGrpSpPr>
                  <p:nvPr/>
                </p:nvGrpSpPr>
                <p:grpSpPr bwMode="auto">
                  <a:xfrm>
                    <a:off x="940" y="3703"/>
                    <a:ext cx="49" cy="23"/>
                    <a:chOff x="940" y="3703"/>
                    <a:chExt cx="49" cy="23"/>
                  </a:xfrm>
                </p:grpSpPr>
                <p:sp>
                  <p:nvSpPr>
                    <p:cNvPr id="327"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8"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9"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3" name="Group 2322"/>
                  <p:cNvGrpSpPr>
                    <a:grpSpLocks/>
                  </p:cNvGrpSpPr>
                  <p:nvPr/>
                </p:nvGrpSpPr>
                <p:grpSpPr bwMode="auto">
                  <a:xfrm>
                    <a:off x="953" y="3716"/>
                    <a:ext cx="49" cy="23"/>
                    <a:chOff x="953" y="3716"/>
                    <a:chExt cx="49" cy="23"/>
                  </a:xfrm>
                </p:grpSpPr>
                <p:sp>
                  <p:nvSpPr>
                    <p:cNvPr id="324"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6"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1" name="Group 2326"/>
                <p:cNvGrpSpPr>
                  <a:grpSpLocks/>
                </p:cNvGrpSpPr>
                <p:nvPr/>
              </p:nvGrpSpPr>
              <p:grpSpPr bwMode="auto">
                <a:xfrm>
                  <a:off x="963" y="3727"/>
                  <a:ext cx="49" cy="23"/>
                  <a:chOff x="963" y="3727"/>
                  <a:chExt cx="49" cy="23"/>
                </a:xfrm>
              </p:grpSpPr>
              <p:sp>
                <p:nvSpPr>
                  <p:cNvPr id="316"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 name="Group 2330"/>
                <p:cNvGrpSpPr>
                  <a:grpSpLocks/>
                </p:cNvGrpSpPr>
                <p:nvPr/>
              </p:nvGrpSpPr>
              <p:grpSpPr bwMode="auto">
                <a:xfrm>
                  <a:off x="976" y="3740"/>
                  <a:ext cx="50" cy="22"/>
                  <a:chOff x="976" y="3740"/>
                  <a:chExt cx="50" cy="22"/>
                </a:xfrm>
              </p:grpSpPr>
              <p:sp>
                <p:nvSpPr>
                  <p:cNvPr id="313"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3" name="Group 2334"/>
                <p:cNvGrpSpPr>
                  <a:grpSpLocks/>
                </p:cNvGrpSpPr>
                <p:nvPr/>
              </p:nvGrpSpPr>
              <p:grpSpPr bwMode="auto">
                <a:xfrm>
                  <a:off x="761" y="3560"/>
                  <a:ext cx="50" cy="22"/>
                  <a:chOff x="761" y="3560"/>
                  <a:chExt cx="50" cy="22"/>
                </a:xfrm>
              </p:grpSpPr>
              <p:sp>
                <p:nvSpPr>
                  <p:cNvPr id="310"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4" name="Group 2338"/>
                <p:cNvGrpSpPr>
                  <a:grpSpLocks/>
                </p:cNvGrpSpPr>
                <p:nvPr/>
              </p:nvGrpSpPr>
              <p:grpSpPr bwMode="auto">
                <a:xfrm>
                  <a:off x="774" y="3572"/>
                  <a:ext cx="49" cy="23"/>
                  <a:chOff x="774" y="3572"/>
                  <a:chExt cx="49" cy="23"/>
                </a:xfrm>
              </p:grpSpPr>
              <p:sp>
                <p:nvSpPr>
                  <p:cNvPr id="307"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 name="Group 2342"/>
                <p:cNvGrpSpPr>
                  <a:grpSpLocks/>
                </p:cNvGrpSpPr>
                <p:nvPr/>
              </p:nvGrpSpPr>
              <p:grpSpPr bwMode="auto">
                <a:xfrm>
                  <a:off x="787" y="3585"/>
                  <a:ext cx="49" cy="23"/>
                  <a:chOff x="787" y="3585"/>
                  <a:chExt cx="49" cy="23"/>
                </a:xfrm>
              </p:grpSpPr>
              <p:sp>
                <p:nvSpPr>
                  <p:cNvPr id="304"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 name="Group 2346"/>
                <p:cNvGrpSpPr>
                  <a:grpSpLocks/>
                </p:cNvGrpSpPr>
                <p:nvPr/>
              </p:nvGrpSpPr>
              <p:grpSpPr bwMode="auto">
                <a:xfrm>
                  <a:off x="799" y="3600"/>
                  <a:ext cx="99" cy="73"/>
                  <a:chOff x="799" y="3600"/>
                  <a:chExt cx="99" cy="73"/>
                </a:xfrm>
              </p:grpSpPr>
              <p:grpSp>
                <p:nvGrpSpPr>
                  <p:cNvPr id="284" name="Group 2347"/>
                  <p:cNvGrpSpPr>
                    <a:grpSpLocks/>
                  </p:cNvGrpSpPr>
                  <p:nvPr/>
                </p:nvGrpSpPr>
                <p:grpSpPr bwMode="auto">
                  <a:xfrm>
                    <a:off x="799" y="3600"/>
                    <a:ext cx="48" cy="23"/>
                    <a:chOff x="799" y="3600"/>
                    <a:chExt cx="48" cy="23"/>
                  </a:xfrm>
                </p:grpSpPr>
                <p:sp>
                  <p:nvSpPr>
                    <p:cNvPr id="301"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 name="Group 2351"/>
                  <p:cNvGrpSpPr>
                    <a:grpSpLocks/>
                  </p:cNvGrpSpPr>
                  <p:nvPr/>
                </p:nvGrpSpPr>
                <p:grpSpPr bwMode="auto">
                  <a:xfrm>
                    <a:off x="811" y="3612"/>
                    <a:ext cx="48" cy="23"/>
                    <a:chOff x="811" y="3612"/>
                    <a:chExt cx="48" cy="23"/>
                  </a:xfrm>
                </p:grpSpPr>
                <p:sp>
                  <p:nvSpPr>
                    <p:cNvPr id="298"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 name="Group 2355"/>
                  <p:cNvGrpSpPr>
                    <a:grpSpLocks/>
                  </p:cNvGrpSpPr>
                  <p:nvPr/>
                </p:nvGrpSpPr>
                <p:grpSpPr bwMode="auto">
                  <a:xfrm>
                    <a:off x="823" y="3625"/>
                    <a:ext cx="49" cy="23"/>
                    <a:chOff x="823" y="3625"/>
                    <a:chExt cx="49" cy="23"/>
                  </a:xfrm>
                </p:grpSpPr>
                <p:sp>
                  <p:nvSpPr>
                    <p:cNvPr id="295"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 name="Group 2359"/>
                  <p:cNvGrpSpPr>
                    <a:grpSpLocks/>
                  </p:cNvGrpSpPr>
                  <p:nvPr/>
                </p:nvGrpSpPr>
                <p:grpSpPr bwMode="auto">
                  <a:xfrm>
                    <a:off x="836" y="3638"/>
                    <a:ext cx="50" cy="22"/>
                    <a:chOff x="836" y="3638"/>
                    <a:chExt cx="50" cy="22"/>
                  </a:xfrm>
                </p:grpSpPr>
                <p:sp>
                  <p:nvSpPr>
                    <p:cNvPr id="292"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 name="Group 2363"/>
                  <p:cNvGrpSpPr>
                    <a:grpSpLocks/>
                  </p:cNvGrpSpPr>
                  <p:nvPr/>
                </p:nvGrpSpPr>
                <p:grpSpPr bwMode="auto">
                  <a:xfrm>
                    <a:off x="849" y="3651"/>
                    <a:ext cx="49" cy="22"/>
                    <a:chOff x="849" y="3651"/>
                    <a:chExt cx="49" cy="22"/>
                  </a:xfrm>
                </p:grpSpPr>
                <p:sp>
                  <p:nvSpPr>
                    <p:cNvPr id="289"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7" name="Group 2367"/>
                <p:cNvGrpSpPr>
                  <a:grpSpLocks/>
                </p:cNvGrpSpPr>
                <p:nvPr/>
              </p:nvGrpSpPr>
              <p:grpSpPr bwMode="auto">
                <a:xfrm>
                  <a:off x="861" y="3665"/>
                  <a:ext cx="99" cy="74"/>
                  <a:chOff x="861" y="3665"/>
                  <a:chExt cx="99" cy="74"/>
                </a:xfrm>
              </p:grpSpPr>
              <p:grpSp>
                <p:nvGrpSpPr>
                  <p:cNvPr id="264" name="Group 2368"/>
                  <p:cNvGrpSpPr>
                    <a:grpSpLocks/>
                  </p:cNvGrpSpPr>
                  <p:nvPr/>
                </p:nvGrpSpPr>
                <p:grpSpPr bwMode="auto">
                  <a:xfrm>
                    <a:off x="861" y="3665"/>
                    <a:ext cx="50" cy="23"/>
                    <a:chOff x="861" y="3665"/>
                    <a:chExt cx="50" cy="23"/>
                  </a:xfrm>
                </p:grpSpPr>
                <p:sp>
                  <p:nvSpPr>
                    <p:cNvPr id="281"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5" name="Group 2372"/>
                  <p:cNvGrpSpPr>
                    <a:grpSpLocks/>
                  </p:cNvGrpSpPr>
                  <p:nvPr/>
                </p:nvGrpSpPr>
                <p:grpSpPr bwMode="auto">
                  <a:xfrm>
                    <a:off x="873" y="3678"/>
                    <a:ext cx="49" cy="23"/>
                    <a:chOff x="873" y="3678"/>
                    <a:chExt cx="49" cy="23"/>
                  </a:xfrm>
                </p:grpSpPr>
                <p:sp>
                  <p:nvSpPr>
                    <p:cNvPr id="278"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6" name="Group 2376"/>
                  <p:cNvGrpSpPr>
                    <a:grpSpLocks/>
                  </p:cNvGrpSpPr>
                  <p:nvPr/>
                </p:nvGrpSpPr>
                <p:grpSpPr bwMode="auto">
                  <a:xfrm>
                    <a:off x="886" y="3690"/>
                    <a:ext cx="49" cy="23"/>
                    <a:chOff x="886" y="3690"/>
                    <a:chExt cx="49" cy="23"/>
                  </a:xfrm>
                </p:grpSpPr>
                <p:sp>
                  <p:nvSpPr>
                    <p:cNvPr id="275"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 name="Group 2380"/>
                  <p:cNvGrpSpPr>
                    <a:grpSpLocks/>
                  </p:cNvGrpSpPr>
                  <p:nvPr/>
                </p:nvGrpSpPr>
                <p:grpSpPr bwMode="auto">
                  <a:xfrm>
                    <a:off x="899" y="3703"/>
                    <a:ext cx="48" cy="23"/>
                    <a:chOff x="899" y="3703"/>
                    <a:chExt cx="48" cy="23"/>
                  </a:xfrm>
                </p:grpSpPr>
                <p:sp>
                  <p:nvSpPr>
                    <p:cNvPr id="272"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 name="Group 2384"/>
                  <p:cNvGrpSpPr>
                    <a:grpSpLocks/>
                  </p:cNvGrpSpPr>
                  <p:nvPr/>
                </p:nvGrpSpPr>
                <p:grpSpPr bwMode="auto">
                  <a:xfrm>
                    <a:off x="912" y="3716"/>
                    <a:ext cx="48" cy="23"/>
                    <a:chOff x="912" y="3716"/>
                    <a:chExt cx="48" cy="23"/>
                  </a:xfrm>
                </p:grpSpPr>
                <p:sp>
                  <p:nvSpPr>
                    <p:cNvPr id="269"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28" name="Group 2388"/>
                <p:cNvGrpSpPr>
                  <a:grpSpLocks/>
                </p:cNvGrpSpPr>
                <p:nvPr/>
              </p:nvGrpSpPr>
              <p:grpSpPr bwMode="auto">
                <a:xfrm>
                  <a:off x="922" y="3727"/>
                  <a:ext cx="49" cy="23"/>
                  <a:chOff x="922" y="3727"/>
                  <a:chExt cx="49" cy="23"/>
                </a:xfrm>
              </p:grpSpPr>
              <p:sp>
                <p:nvSpPr>
                  <p:cNvPr id="261"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9" name="Group 2392"/>
                <p:cNvGrpSpPr>
                  <a:grpSpLocks/>
                </p:cNvGrpSpPr>
                <p:nvPr/>
              </p:nvGrpSpPr>
              <p:grpSpPr bwMode="auto">
                <a:xfrm>
                  <a:off x="895" y="3526"/>
                  <a:ext cx="44" cy="23"/>
                  <a:chOff x="895" y="3526"/>
                  <a:chExt cx="44" cy="23"/>
                </a:xfrm>
              </p:grpSpPr>
              <p:sp>
                <p:nvSpPr>
                  <p:cNvPr id="258"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0" name="Group 2396"/>
                <p:cNvGrpSpPr>
                  <a:grpSpLocks/>
                </p:cNvGrpSpPr>
                <p:nvPr/>
              </p:nvGrpSpPr>
              <p:grpSpPr bwMode="auto">
                <a:xfrm>
                  <a:off x="907" y="3540"/>
                  <a:ext cx="45" cy="22"/>
                  <a:chOff x="907" y="3540"/>
                  <a:chExt cx="45" cy="22"/>
                </a:xfrm>
              </p:grpSpPr>
              <p:sp>
                <p:nvSpPr>
                  <p:cNvPr id="255"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 name="Group 2400"/>
                <p:cNvGrpSpPr>
                  <a:grpSpLocks/>
                </p:cNvGrpSpPr>
                <p:nvPr/>
              </p:nvGrpSpPr>
              <p:grpSpPr bwMode="auto">
                <a:xfrm>
                  <a:off x="920" y="3553"/>
                  <a:ext cx="45" cy="23"/>
                  <a:chOff x="920" y="3553"/>
                  <a:chExt cx="45" cy="23"/>
                </a:xfrm>
              </p:grpSpPr>
              <p:sp>
                <p:nvSpPr>
                  <p:cNvPr id="252"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 name="Group 2404"/>
                <p:cNvGrpSpPr>
                  <a:grpSpLocks/>
                </p:cNvGrpSpPr>
                <p:nvPr/>
              </p:nvGrpSpPr>
              <p:grpSpPr bwMode="auto">
                <a:xfrm>
                  <a:off x="934" y="3566"/>
                  <a:ext cx="44" cy="23"/>
                  <a:chOff x="934" y="3566"/>
                  <a:chExt cx="44" cy="23"/>
                </a:xfrm>
              </p:grpSpPr>
              <p:sp>
                <p:nvSpPr>
                  <p:cNvPr id="249"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 name="Group 2408"/>
                <p:cNvGrpSpPr>
                  <a:grpSpLocks/>
                </p:cNvGrpSpPr>
                <p:nvPr/>
              </p:nvGrpSpPr>
              <p:grpSpPr bwMode="auto">
                <a:xfrm>
                  <a:off x="949" y="3579"/>
                  <a:ext cx="83" cy="63"/>
                  <a:chOff x="949" y="3579"/>
                  <a:chExt cx="83" cy="63"/>
                </a:xfrm>
              </p:grpSpPr>
              <p:grpSp>
                <p:nvGrpSpPr>
                  <p:cNvPr id="233" name="Group 2409"/>
                  <p:cNvGrpSpPr>
                    <a:grpSpLocks/>
                  </p:cNvGrpSpPr>
                  <p:nvPr/>
                </p:nvGrpSpPr>
                <p:grpSpPr bwMode="auto">
                  <a:xfrm>
                    <a:off x="949" y="3579"/>
                    <a:ext cx="44" cy="23"/>
                    <a:chOff x="949" y="3579"/>
                    <a:chExt cx="44" cy="23"/>
                  </a:xfrm>
                </p:grpSpPr>
                <p:sp>
                  <p:nvSpPr>
                    <p:cNvPr id="246"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4" name="Group 2413"/>
                  <p:cNvGrpSpPr>
                    <a:grpSpLocks/>
                  </p:cNvGrpSpPr>
                  <p:nvPr/>
                </p:nvGrpSpPr>
                <p:grpSpPr bwMode="auto">
                  <a:xfrm>
                    <a:off x="961" y="3592"/>
                    <a:ext cx="45" cy="23"/>
                    <a:chOff x="961" y="3592"/>
                    <a:chExt cx="45" cy="23"/>
                  </a:xfrm>
                </p:grpSpPr>
                <p:sp>
                  <p:nvSpPr>
                    <p:cNvPr id="243"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5"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 name="Group 2417"/>
                  <p:cNvGrpSpPr>
                    <a:grpSpLocks/>
                  </p:cNvGrpSpPr>
                  <p:nvPr/>
                </p:nvGrpSpPr>
                <p:grpSpPr bwMode="auto">
                  <a:xfrm>
                    <a:off x="974" y="3606"/>
                    <a:ext cx="44" cy="23"/>
                    <a:chOff x="974" y="3606"/>
                    <a:chExt cx="44" cy="23"/>
                  </a:xfrm>
                </p:grpSpPr>
                <p:sp>
                  <p:nvSpPr>
                    <p:cNvPr id="240"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2"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6" name="Group 2421"/>
                  <p:cNvGrpSpPr>
                    <a:grpSpLocks/>
                  </p:cNvGrpSpPr>
                  <p:nvPr/>
                </p:nvGrpSpPr>
                <p:grpSpPr bwMode="auto">
                  <a:xfrm>
                    <a:off x="987" y="3619"/>
                    <a:ext cx="45" cy="23"/>
                    <a:chOff x="987" y="3619"/>
                    <a:chExt cx="45" cy="23"/>
                  </a:xfrm>
                </p:grpSpPr>
                <p:sp>
                  <p:nvSpPr>
                    <p:cNvPr id="237"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4" name="Group 2425"/>
                <p:cNvGrpSpPr>
                  <a:grpSpLocks/>
                </p:cNvGrpSpPr>
                <p:nvPr/>
              </p:nvGrpSpPr>
              <p:grpSpPr bwMode="auto">
                <a:xfrm>
                  <a:off x="1002" y="3632"/>
                  <a:ext cx="83" cy="63"/>
                  <a:chOff x="1002" y="3632"/>
                  <a:chExt cx="83" cy="63"/>
                </a:xfrm>
              </p:grpSpPr>
              <p:grpSp>
                <p:nvGrpSpPr>
                  <p:cNvPr id="217" name="Group 2426"/>
                  <p:cNvGrpSpPr>
                    <a:grpSpLocks/>
                  </p:cNvGrpSpPr>
                  <p:nvPr/>
                </p:nvGrpSpPr>
                <p:grpSpPr bwMode="auto">
                  <a:xfrm>
                    <a:off x="1002" y="3632"/>
                    <a:ext cx="44" cy="22"/>
                    <a:chOff x="1002" y="3632"/>
                    <a:chExt cx="44" cy="22"/>
                  </a:xfrm>
                </p:grpSpPr>
                <p:sp>
                  <p:nvSpPr>
                    <p:cNvPr id="230"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 name="Group 2430"/>
                  <p:cNvGrpSpPr>
                    <a:grpSpLocks/>
                  </p:cNvGrpSpPr>
                  <p:nvPr/>
                </p:nvGrpSpPr>
                <p:grpSpPr bwMode="auto">
                  <a:xfrm>
                    <a:off x="1014" y="3645"/>
                    <a:ext cx="44" cy="23"/>
                    <a:chOff x="1014" y="3645"/>
                    <a:chExt cx="44" cy="23"/>
                  </a:xfrm>
                </p:grpSpPr>
                <p:sp>
                  <p:nvSpPr>
                    <p:cNvPr id="227"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9" name="Group 2434"/>
                  <p:cNvGrpSpPr>
                    <a:grpSpLocks/>
                  </p:cNvGrpSpPr>
                  <p:nvPr/>
                </p:nvGrpSpPr>
                <p:grpSpPr bwMode="auto">
                  <a:xfrm>
                    <a:off x="1027" y="3659"/>
                    <a:ext cx="45" cy="23"/>
                    <a:chOff x="1027" y="3659"/>
                    <a:chExt cx="45" cy="23"/>
                  </a:xfrm>
                </p:grpSpPr>
                <p:sp>
                  <p:nvSpPr>
                    <p:cNvPr id="224"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0" name="Group 2438"/>
                  <p:cNvGrpSpPr>
                    <a:grpSpLocks/>
                  </p:cNvGrpSpPr>
                  <p:nvPr/>
                </p:nvGrpSpPr>
                <p:grpSpPr bwMode="auto">
                  <a:xfrm>
                    <a:off x="1040" y="3672"/>
                    <a:ext cx="45" cy="23"/>
                    <a:chOff x="1040" y="3672"/>
                    <a:chExt cx="45" cy="23"/>
                  </a:xfrm>
                </p:grpSpPr>
                <p:sp>
                  <p:nvSpPr>
                    <p:cNvPr id="221"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35" name="Group 2442"/>
                <p:cNvGrpSpPr>
                  <a:grpSpLocks/>
                </p:cNvGrpSpPr>
                <p:nvPr/>
              </p:nvGrpSpPr>
              <p:grpSpPr bwMode="auto">
                <a:xfrm>
                  <a:off x="1054" y="3685"/>
                  <a:ext cx="45" cy="23"/>
                  <a:chOff x="1054" y="3685"/>
                  <a:chExt cx="45" cy="23"/>
                </a:xfrm>
              </p:grpSpPr>
              <p:sp>
                <p:nvSpPr>
                  <p:cNvPr id="214"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6" name="Group 2446"/>
                <p:cNvGrpSpPr>
                  <a:grpSpLocks/>
                </p:cNvGrpSpPr>
                <p:nvPr/>
              </p:nvGrpSpPr>
              <p:grpSpPr bwMode="auto">
                <a:xfrm>
                  <a:off x="1067" y="3698"/>
                  <a:ext cx="45" cy="23"/>
                  <a:chOff x="1067" y="3698"/>
                  <a:chExt cx="45" cy="23"/>
                </a:xfrm>
              </p:grpSpPr>
              <p:sp>
                <p:nvSpPr>
                  <p:cNvPr id="211"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7" name="Group 2450"/>
                <p:cNvGrpSpPr>
                  <a:grpSpLocks/>
                </p:cNvGrpSpPr>
                <p:nvPr/>
              </p:nvGrpSpPr>
              <p:grpSpPr bwMode="auto">
                <a:xfrm>
                  <a:off x="1079" y="3712"/>
                  <a:ext cx="44" cy="23"/>
                  <a:chOff x="1079" y="3712"/>
                  <a:chExt cx="44" cy="23"/>
                </a:xfrm>
              </p:grpSpPr>
              <p:sp>
                <p:nvSpPr>
                  <p:cNvPr id="208"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 name="Group 2454"/>
                <p:cNvGrpSpPr>
                  <a:grpSpLocks/>
                </p:cNvGrpSpPr>
                <p:nvPr/>
              </p:nvGrpSpPr>
              <p:grpSpPr bwMode="auto">
                <a:xfrm>
                  <a:off x="1093" y="3725"/>
                  <a:ext cx="45" cy="23"/>
                  <a:chOff x="1093" y="3725"/>
                  <a:chExt cx="45" cy="23"/>
                </a:xfrm>
              </p:grpSpPr>
              <p:sp>
                <p:nvSpPr>
                  <p:cNvPr id="205"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9" name="Group 2458"/>
                <p:cNvGrpSpPr>
                  <a:grpSpLocks/>
                </p:cNvGrpSpPr>
                <p:nvPr/>
              </p:nvGrpSpPr>
              <p:grpSpPr bwMode="auto">
                <a:xfrm>
                  <a:off x="1108" y="3739"/>
                  <a:ext cx="44" cy="23"/>
                  <a:chOff x="1108" y="3739"/>
                  <a:chExt cx="44" cy="23"/>
                </a:xfrm>
              </p:grpSpPr>
              <p:sp>
                <p:nvSpPr>
                  <p:cNvPr id="202"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 name="Group 2462"/>
                <p:cNvGrpSpPr>
                  <a:grpSpLocks/>
                </p:cNvGrpSpPr>
                <p:nvPr/>
              </p:nvGrpSpPr>
              <p:grpSpPr bwMode="auto">
                <a:xfrm>
                  <a:off x="1121" y="3753"/>
                  <a:ext cx="45" cy="23"/>
                  <a:chOff x="1121" y="3753"/>
                  <a:chExt cx="45" cy="23"/>
                </a:xfrm>
              </p:grpSpPr>
              <p:sp>
                <p:nvSpPr>
                  <p:cNvPr id="199"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1" name="Group 2466"/>
                <p:cNvGrpSpPr>
                  <a:grpSpLocks/>
                </p:cNvGrpSpPr>
                <p:nvPr/>
              </p:nvGrpSpPr>
              <p:grpSpPr bwMode="auto">
                <a:xfrm>
                  <a:off x="1133" y="3767"/>
                  <a:ext cx="44" cy="23"/>
                  <a:chOff x="1133" y="3767"/>
                  <a:chExt cx="44" cy="23"/>
                </a:xfrm>
              </p:grpSpPr>
              <p:sp>
                <p:nvSpPr>
                  <p:cNvPr id="196"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7"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2"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1"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2"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3" name="Group 2481"/>
                <p:cNvGrpSpPr>
                  <a:grpSpLocks/>
                </p:cNvGrpSpPr>
                <p:nvPr/>
              </p:nvGrpSpPr>
              <p:grpSpPr bwMode="auto">
                <a:xfrm>
                  <a:off x="700" y="3535"/>
                  <a:ext cx="49" cy="24"/>
                  <a:chOff x="700" y="3535"/>
                  <a:chExt cx="49" cy="24"/>
                </a:xfrm>
              </p:grpSpPr>
              <p:sp>
                <p:nvSpPr>
                  <p:cNvPr id="193"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 name="Group 2485"/>
                <p:cNvGrpSpPr>
                  <a:grpSpLocks/>
                </p:cNvGrpSpPr>
                <p:nvPr/>
              </p:nvGrpSpPr>
              <p:grpSpPr bwMode="auto">
                <a:xfrm>
                  <a:off x="714" y="3551"/>
                  <a:ext cx="49" cy="22"/>
                  <a:chOff x="714" y="3551"/>
                  <a:chExt cx="49" cy="22"/>
                </a:xfrm>
              </p:grpSpPr>
              <p:sp>
                <p:nvSpPr>
                  <p:cNvPr id="190"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 name="Group 2489"/>
                <p:cNvGrpSpPr>
                  <a:grpSpLocks/>
                </p:cNvGrpSpPr>
                <p:nvPr/>
              </p:nvGrpSpPr>
              <p:grpSpPr bwMode="auto">
                <a:xfrm>
                  <a:off x="728" y="3564"/>
                  <a:ext cx="48" cy="23"/>
                  <a:chOff x="728" y="3564"/>
                  <a:chExt cx="48" cy="23"/>
                </a:xfrm>
              </p:grpSpPr>
              <p:sp>
                <p:nvSpPr>
                  <p:cNvPr id="187"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6" name="Group 2493"/>
                <p:cNvGrpSpPr>
                  <a:grpSpLocks/>
                </p:cNvGrpSpPr>
                <p:nvPr/>
              </p:nvGrpSpPr>
              <p:grpSpPr bwMode="auto">
                <a:xfrm>
                  <a:off x="742" y="3582"/>
                  <a:ext cx="49" cy="23"/>
                  <a:chOff x="742" y="3582"/>
                  <a:chExt cx="49" cy="23"/>
                </a:xfrm>
              </p:grpSpPr>
              <p:sp>
                <p:nvSpPr>
                  <p:cNvPr id="184"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7" name="Group 2497"/>
                <p:cNvGrpSpPr>
                  <a:grpSpLocks/>
                </p:cNvGrpSpPr>
                <p:nvPr/>
              </p:nvGrpSpPr>
              <p:grpSpPr bwMode="auto">
                <a:xfrm>
                  <a:off x="752" y="3597"/>
                  <a:ext cx="133" cy="106"/>
                  <a:chOff x="752" y="3597"/>
                  <a:chExt cx="133" cy="106"/>
                </a:xfrm>
              </p:grpSpPr>
              <p:sp>
                <p:nvSpPr>
                  <p:cNvPr id="181"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8" name="Group 2501"/>
                <p:cNvGrpSpPr>
                  <a:grpSpLocks/>
                </p:cNvGrpSpPr>
                <p:nvPr/>
              </p:nvGrpSpPr>
              <p:grpSpPr bwMode="auto">
                <a:xfrm>
                  <a:off x="844" y="3694"/>
                  <a:ext cx="48" cy="23"/>
                  <a:chOff x="844" y="3694"/>
                  <a:chExt cx="48" cy="23"/>
                </a:xfrm>
              </p:grpSpPr>
              <p:sp>
                <p:nvSpPr>
                  <p:cNvPr id="178"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9" name="Group 2505"/>
                <p:cNvGrpSpPr>
                  <a:grpSpLocks/>
                </p:cNvGrpSpPr>
                <p:nvPr/>
              </p:nvGrpSpPr>
              <p:grpSpPr bwMode="auto">
                <a:xfrm>
                  <a:off x="857" y="3710"/>
                  <a:ext cx="49" cy="22"/>
                  <a:chOff x="857" y="3710"/>
                  <a:chExt cx="49" cy="22"/>
                </a:xfrm>
              </p:grpSpPr>
              <p:sp>
                <p:nvSpPr>
                  <p:cNvPr id="175"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 name="Group 2509"/>
                <p:cNvGrpSpPr>
                  <a:grpSpLocks/>
                </p:cNvGrpSpPr>
                <p:nvPr/>
              </p:nvGrpSpPr>
              <p:grpSpPr bwMode="auto">
                <a:xfrm>
                  <a:off x="1086" y="3766"/>
                  <a:ext cx="49" cy="23"/>
                  <a:chOff x="1086" y="3766"/>
                  <a:chExt cx="49" cy="23"/>
                </a:xfrm>
              </p:grpSpPr>
              <p:sp>
                <p:nvSpPr>
                  <p:cNvPr id="172"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 name="Group 2513"/>
                <p:cNvGrpSpPr>
                  <a:grpSpLocks/>
                </p:cNvGrpSpPr>
                <p:nvPr/>
              </p:nvGrpSpPr>
              <p:grpSpPr bwMode="auto">
                <a:xfrm>
                  <a:off x="934" y="3740"/>
                  <a:ext cx="48" cy="23"/>
                  <a:chOff x="934" y="3740"/>
                  <a:chExt cx="48" cy="23"/>
                </a:xfrm>
              </p:grpSpPr>
              <p:sp>
                <p:nvSpPr>
                  <p:cNvPr id="169"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 name="Group 2517"/>
                <p:cNvGrpSpPr>
                  <a:grpSpLocks/>
                </p:cNvGrpSpPr>
                <p:nvPr/>
              </p:nvGrpSpPr>
              <p:grpSpPr bwMode="auto">
                <a:xfrm>
                  <a:off x="943" y="3754"/>
                  <a:ext cx="49" cy="23"/>
                  <a:chOff x="943" y="3754"/>
                  <a:chExt cx="49" cy="23"/>
                </a:xfrm>
              </p:grpSpPr>
              <p:sp>
                <p:nvSpPr>
                  <p:cNvPr id="166"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63"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 name="Group 2524"/>
              <p:cNvGrpSpPr>
                <a:grpSpLocks/>
              </p:cNvGrpSpPr>
              <p:nvPr/>
            </p:nvGrpSpPr>
            <p:grpSpPr bwMode="auto">
              <a:xfrm>
                <a:off x="920" y="3821"/>
                <a:ext cx="413" cy="50"/>
                <a:chOff x="920" y="3821"/>
                <a:chExt cx="413" cy="50"/>
              </a:xfrm>
            </p:grpSpPr>
            <p:sp>
              <p:nvSpPr>
                <p:cNvPr id="81"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4"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 name="Group 2529"/>
              <p:cNvGrpSpPr>
                <a:grpSpLocks/>
              </p:cNvGrpSpPr>
              <p:nvPr/>
            </p:nvGrpSpPr>
            <p:grpSpPr bwMode="auto">
              <a:xfrm>
                <a:off x="1227" y="3477"/>
                <a:ext cx="508" cy="321"/>
                <a:chOff x="1227" y="3477"/>
                <a:chExt cx="508" cy="321"/>
              </a:xfrm>
            </p:grpSpPr>
            <p:sp>
              <p:nvSpPr>
                <p:cNvPr id="62"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7"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78"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80"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sp>
          <p:nvSpPr>
            <p:cNvPr id="501" name="Line 3458"/>
            <p:cNvSpPr>
              <a:spLocks noChangeShapeType="1"/>
            </p:cNvSpPr>
            <p:nvPr/>
          </p:nvSpPr>
          <p:spPr bwMode="auto">
            <a:xfrm rot="816166" flipV="1">
              <a:off x="1373235" y="1425345"/>
              <a:ext cx="3117942" cy="691145"/>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2" name="Text Box 3475"/>
            <p:cNvSpPr txBox="1">
              <a:spLocks noChangeArrowheads="1"/>
            </p:cNvSpPr>
            <p:nvPr/>
          </p:nvSpPr>
          <p:spPr bwMode="auto">
            <a:xfrm>
              <a:off x="900112" y="1341437"/>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503" name="Line 3490"/>
            <p:cNvSpPr>
              <a:spLocks noChangeShapeType="1"/>
            </p:cNvSpPr>
            <p:nvPr/>
          </p:nvSpPr>
          <p:spPr bwMode="auto">
            <a:xfrm rot="816166" flipV="1">
              <a:off x="1503461" y="721166"/>
              <a:ext cx="4194552" cy="1476844"/>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4" name="Line 3491"/>
            <p:cNvSpPr>
              <a:spLocks noChangeShapeType="1"/>
            </p:cNvSpPr>
            <p:nvPr/>
          </p:nvSpPr>
          <p:spPr bwMode="auto">
            <a:xfrm rot="816166" flipV="1">
              <a:off x="1607792" y="117307"/>
              <a:ext cx="3250921" cy="1899473"/>
            </a:xfrm>
            <a:prstGeom prst="line">
              <a:avLst/>
            </a:prstGeom>
            <a:noFill/>
            <a:ln w="19050">
              <a:solidFill>
                <a:srgbClr val="00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5" name="Line 3492"/>
            <p:cNvSpPr>
              <a:spLocks noChangeShapeType="1"/>
            </p:cNvSpPr>
            <p:nvPr/>
          </p:nvSpPr>
          <p:spPr bwMode="auto">
            <a:xfrm rot="816166" flipV="1">
              <a:off x="1392238" y="838200"/>
              <a:ext cx="506412" cy="744538"/>
            </a:xfrm>
            <a:prstGeom prst="line">
              <a:avLst/>
            </a:prstGeom>
            <a:noFill/>
            <a:ln w="38100">
              <a:solidFill>
                <a:srgbClr val="9900CC"/>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6" name="Line 4401"/>
            <p:cNvSpPr>
              <a:spLocks noChangeShapeType="1"/>
            </p:cNvSpPr>
            <p:nvPr/>
          </p:nvSpPr>
          <p:spPr bwMode="auto">
            <a:xfrm rot="816166" flipV="1">
              <a:off x="5429250" y="528638"/>
              <a:ext cx="1381125" cy="1127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7" name="Line 4402"/>
            <p:cNvSpPr>
              <a:spLocks noChangeShapeType="1"/>
            </p:cNvSpPr>
            <p:nvPr/>
          </p:nvSpPr>
          <p:spPr bwMode="auto">
            <a:xfrm rot="816166" flipH="1">
              <a:off x="3189288" y="438150"/>
              <a:ext cx="1752600" cy="19272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8" name="Line 4403"/>
            <p:cNvSpPr>
              <a:spLocks noChangeShapeType="1"/>
            </p:cNvSpPr>
            <p:nvPr/>
          </p:nvSpPr>
          <p:spPr bwMode="auto">
            <a:xfrm rot="816166">
              <a:off x="5305425" y="641350"/>
              <a:ext cx="836613" cy="39052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09" name="Line 4404"/>
            <p:cNvSpPr>
              <a:spLocks noChangeShapeType="1"/>
            </p:cNvSpPr>
            <p:nvPr/>
          </p:nvSpPr>
          <p:spPr bwMode="auto">
            <a:xfrm rot="816166" flipV="1">
              <a:off x="4945063" y="2055813"/>
              <a:ext cx="1173162" cy="15875"/>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0" name="Line 4408"/>
            <p:cNvSpPr>
              <a:spLocks noChangeShapeType="1"/>
            </p:cNvSpPr>
            <p:nvPr/>
          </p:nvSpPr>
          <p:spPr bwMode="auto">
            <a:xfrm rot="816166" flipH="1">
              <a:off x="6443663" y="860425"/>
              <a:ext cx="228600" cy="1243013"/>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1" name="Text Box 3475"/>
            <p:cNvSpPr txBox="1">
              <a:spLocks noChangeArrowheads="1"/>
            </p:cNvSpPr>
            <p:nvPr/>
          </p:nvSpPr>
          <p:spPr bwMode="auto">
            <a:xfrm>
              <a:off x="4467224" y="1603084"/>
              <a:ext cx="386609"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endParaRPr lang="en-US" altLang="zh-CN" sz="1100" i="1" dirty="0">
                <a:latin typeface="微软雅黑 Light" panose="020B0502040204020203" pitchFamily="34" charset="-122"/>
                <a:ea typeface="微软雅黑 Light" panose="020B0502040204020203" pitchFamily="34" charset="-122"/>
              </a:endParaRPr>
            </a:p>
          </p:txBody>
        </p:sp>
        <p:sp>
          <p:nvSpPr>
            <p:cNvPr id="512" name="Text Box 3475"/>
            <p:cNvSpPr txBox="1">
              <a:spLocks noChangeArrowheads="1"/>
            </p:cNvSpPr>
            <p:nvPr/>
          </p:nvSpPr>
          <p:spPr bwMode="auto">
            <a:xfrm>
              <a:off x="5678712" y="991925"/>
              <a:ext cx="48048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513" name="Text Box 3475"/>
            <p:cNvSpPr txBox="1">
              <a:spLocks noChangeArrowheads="1"/>
            </p:cNvSpPr>
            <p:nvPr/>
          </p:nvSpPr>
          <p:spPr bwMode="auto">
            <a:xfrm>
              <a:off x="4932363" y="1889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p>
          </p:txBody>
        </p:sp>
        <p:sp>
          <p:nvSpPr>
            <p:cNvPr id="514" name="Line 4406"/>
            <p:cNvSpPr>
              <a:spLocks noChangeShapeType="1"/>
            </p:cNvSpPr>
            <p:nvPr/>
          </p:nvSpPr>
          <p:spPr bwMode="auto">
            <a:xfrm rot="816166" flipV="1">
              <a:off x="5060950" y="1389063"/>
              <a:ext cx="752475" cy="558800"/>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5" name="Line 4406"/>
            <p:cNvSpPr>
              <a:spLocks noChangeShapeType="1"/>
            </p:cNvSpPr>
            <p:nvPr/>
          </p:nvSpPr>
          <p:spPr bwMode="auto">
            <a:xfrm rot="816166" flipH="1">
              <a:off x="5062538" y="674688"/>
              <a:ext cx="26987" cy="1116012"/>
            </a:xfrm>
            <a:prstGeom prst="line">
              <a:avLst/>
            </a:prstGeom>
            <a:noFill/>
            <a:ln w="19050">
              <a:solidFill>
                <a:srgbClr val="777777"/>
              </a:solidFill>
              <a:round/>
              <a:headEnd type="triangle" w="med" len="lg"/>
              <a:tailEnd type="triangle" w="med" len="lg"/>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16" name="椭圆 515"/>
            <p:cNvSpPr/>
            <p:nvPr/>
          </p:nvSpPr>
          <p:spPr bwMode="auto">
            <a:xfrm>
              <a:off x="827088" y="42926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7" name="椭圆 516"/>
            <p:cNvSpPr/>
            <p:nvPr/>
          </p:nvSpPr>
          <p:spPr bwMode="auto">
            <a:xfrm>
              <a:off x="1979613" y="2852738"/>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8" name="椭圆 517"/>
            <p:cNvSpPr/>
            <p:nvPr/>
          </p:nvSpPr>
          <p:spPr bwMode="auto">
            <a:xfrm>
              <a:off x="3132138" y="4365625"/>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19" name="椭圆 518"/>
            <p:cNvSpPr/>
            <p:nvPr/>
          </p:nvSpPr>
          <p:spPr bwMode="auto">
            <a:xfrm>
              <a:off x="5724525" y="42211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0" name="椭圆 519"/>
            <p:cNvSpPr/>
            <p:nvPr/>
          </p:nvSpPr>
          <p:spPr bwMode="auto">
            <a:xfrm>
              <a:off x="7092950" y="2852738"/>
              <a:ext cx="215900" cy="217487"/>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1" name="椭圆 520"/>
            <p:cNvSpPr/>
            <p:nvPr/>
          </p:nvSpPr>
          <p:spPr bwMode="auto">
            <a:xfrm>
              <a:off x="6227763" y="3141663"/>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sp>
          <p:nvSpPr>
            <p:cNvPr id="522" name="椭圆 521"/>
            <p:cNvSpPr/>
            <p:nvPr/>
          </p:nvSpPr>
          <p:spPr bwMode="auto">
            <a:xfrm>
              <a:off x="7812088" y="3429000"/>
              <a:ext cx="215900" cy="215900"/>
            </a:xfrm>
            <a:prstGeom prst="ellipse">
              <a:avLst/>
            </a:prstGeom>
            <a:solidFill>
              <a:schemeClr val="bg2">
                <a:lumMod val="40000"/>
                <a:lumOff val="60000"/>
              </a:schemeClr>
            </a:solidFill>
            <a:ln w="9525" cap="flat" cmpd="sng" algn="ctr">
              <a:solidFill>
                <a:schemeClr val="tx1"/>
              </a:solidFill>
              <a:prstDash val="solid"/>
              <a:round/>
              <a:headEnd type="none" w="med" len="med"/>
              <a:tailEnd type="none" w="med" len="med"/>
            </a:ln>
            <a:effectLst/>
          </p:spPr>
          <p:txBody>
            <a:bodyPr/>
            <a:lstStyle/>
            <a:p>
              <a:pPr>
                <a:defRPr/>
              </a:pPr>
              <a:endParaRPr lang="zh-CN" altLang="en-US" sz="1100" dirty="0">
                <a:latin typeface="微软雅黑 Light" panose="020B0502040204020203" pitchFamily="34" charset="-122"/>
                <a:ea typeface="微软雅黑 Light" panose="020B0502040204020203" pitchFamily="34" charset="-122"/>
              </a:endParaRPr>
            </a:p>
          </p:txBody>
        </p:sp>
        <p:cxnSp>
          <p:nvCxnSpPr>
            <p:cNvPr id="523" name="直接连接符 5708"/>
            <p:cNvCxnSpPr>
              <a:cxnSpLocks noChangeShapeType="1"/>
              <a:endCxn id="516" idx="0"/>
            </p:cNvCxnSpPr>
            <p:nvPr/>
          </p:nvCxnSpPr>
          <p:spPr bwMode="auto">
            <a:xfrm flipH="1">
              <a:off x="935038" y="1844675"/>
              <a:ext cx="252412" cy="244792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4" name="直接连接符 5709"/>
            <p:cNvCxnSpPr>
              <a:cxnSpLocks noChangeShapeType="1"/>
              <a:stCxn id="2835" idx="7"/>
              <a:endCxn id="521" idx="0"/>
            </p:cNvCxnSpPr>
            <p:nvPr/>
          </p:nvCxnSpPr>
          <p:spPr bwMode="auto">
            <a:xfrm>
              <a:off x="6223000" y="2347913"/>
              <a:ext cx="112713" cy="79375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5" name="直接连接符 5710"/>
            <p:cNvCxnSpPr>
              <a:cxnSpLocks noChangeShapeType="1"/>
              <a:endCxn id="518" idx="7"/>
            </p:cNvCxnSpPr>
            <p:nvPr/>
          </p:nvCxnSpPr>
          <p:spPr bwMode="auto">
            <a:xfrm flipH="1">
              <a:off x="3316288" y="2060575"/>
              <a:ext cx="1327150" cy="23368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6" name="直接连接符 5711"/>
            <p:cNvCxnSpPr>
              <a:cxnSpLocks noChangeShapeType="1"/>
              <a:stCxn id="1473" idx="7"/>
              <a:endCxn id="517" idx="7"/>
            </p:cNvCxnSpPr>
            <p:nvPr/>
          </p:nvCxnSpPr>
          <p:spPr bwMode="auto">
            <a:xfrm flipH="1">
              <a:off x="2163763" y="2225675"/>
              <a:ext cx="584200" cy="658813"/>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7" name="直接连接符 5712"/>
            <p:cNvCxnSpPr>
              <a:cxnSpLocks noChangeShapeType="1"/>
              <a:endCxn id="522" idx="1"/>
            </p:cNvCxnSpPr>
            <p:nvPr/>
          </p:nvCxnSpPr>
          <p:spPr bwMode="auto">
            <a:xfrm>
              <a:off x="6948488" y="908050"/>
              <a:ext cx="895350" cy="2552700"/>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8" name="直接连接符 5713"/>
            <p:cNvCxnSpPr>
              <a:cxnSpLocks noChangeShapeType="1"/>
              <a:endCxn id="519" idx="0"/>
            </p:cNvCxnSpPr>
            <p:nvPr/>
          </p:nvCxnSpPr>
          <p:spPr bwMode="auto">
            <a:xfrm>
              <a:off x="5292725" y="549275"/>
              <a:ext cx="539750" cy="3671888"/>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cxnSp>
          <p:nvCxnSpPr>
            <p:cNvPr id="529" name="直接连接符 5714"/>
            <p:cNvCxnSpPr>
              <a:cxnSpLocks noChangeShapeType="1"/>
              <a:endCxn id="520" idx="1"/>
            </p:cNvCxnSpPr>
            <p:nvPr/>
          </p:nvCxnSpPr>
          <p:spPr bwMode="auto">
            <a:xfrm>
              <a:off x="6084888" y="1484313"/>
              <a:ext cx="1039812" cy="1400175"/>
            </a:xfrm>
            <a:prstGeom prst="line">
              <a:avLst/>
            </a:prstGeom>
            <a:noFill/>
            <a:ln w="9525" algn="ctr">
              <a:solidFill>
                <a:schemeClr val="tx1"/>
              </a:solidFill>
              <a:prstDash val="dash"/>
              <a:round/>
              <a:headEnd/>
              <a:tailEnd/>
            </a:ln>
            <a:extLst>
              <a:ext uri="{909E8E84-426E-40DD-AFC4-6F175D3DCCD1}">
                <a14:hiddenFill xmlns:a14="http://schemas.microsoft.com/office/drawing/2010/main">
                  <a:noFill/>
                </a14:hiddenFill>
              </a:ext>
            </a:extLst>
          </p:spPr>
        </p:cxnSp>
        <p:graphicFrame>
          <p:nvGraphicFramePr>
            <p:cNvPr id="530" name="Object 58"/>
            <p:cNvGraphicFramePr>
              <a:graphicFrameLocks noChangeAspect="1"/>
            </p:cNvGraphicFramePr>
            <p:nvPr>
              <p:extLst>
                <p:ext uri="{D42A27DB-BD31-4B8C-83A1-F6EECF244321}">
                  <p14:modId xmlns:p14="http://schemas.microsoft.com/office/powerpoint/2010/main" val="3542672907"/>
                </p:ext>
              </p:extLst>
            </p:nvPr>
          </p:nvGraphicFramePr>
          <p:xfrm>
            <a:off x="4284663" y="3068638"/>
            <a:ext cx="957262" cy="693737"/>
          </p:xfrm>
          <a:graphic>
            <a:graphicData uri="http://schemas.openxmlformats.org/presentationml/2006/ole">
              <mc:AlternateContent xmlns:mc="http://schemas.openxmlformats.org/markup-compatibility/2006">
                <mc:Choice xmlns:v="urn:schemas-microsoft-com:vml" Requires="v">
                  <p:oleObj name="VISIO" r:id="rId5" imgW="1687068" imgH="964692" progId="">
                    <p:embed/>
                  </p:oleObj>
                </mc:Choice>
                <mc:Fallback>
                  <p:oleObj name="VISIO" r:id="rId5" imgW="1687068" imgH="964692" progId="">
                    <p:embed/>
                    <p:pic>
                      <p:nvPicPr>
                        <p:cNvPr id="0" name="Picture 98"/>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284663" y="3068638"/>
                          <a:ext cx="957262" cy="6937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pSp>
          <p:nvGrpSpPr>
            <p:cNvPr id="531" name="Group 2096"/>
            <p:cNvGrpSpPr>
              <a:grpSpLocks/>
            </p:cNvGrpSpPr>
            <p:nvPr/>
          </p:nvGrpSpPr>
          <p:grpSpPr bwMode="auto">
            <a:xfrm>
              <a:off x="971550" y="1484313"/>
              <a:ext cx="431800" cy="330200"/>
              <a:chOff x="624" y="2968"/>
              <a:chExt cx="1331" cy="920"/>
            </a:xfrm>
          </p:grpSpPr>
          <p:sp>
            <p:nvSpPr>
              <p:cNvPr id="53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3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44" name="Group 2109"/>
              <p:cNvGrpSpPr>
                <a:grpSpLocks/>
              </p:cNvGrpSpPr>
              <p:nvPr/>
            </p:nvGrpSpPr>
            <p:grpSpPr bwMode="auto">
              <a:xfrm>
                <a:off x="700" y="3526"/>
                <a:ext cx="515" cy="270"/>
                <a:chOff x="700" y="3526"/>
                <a:chExt cx="515" cy="270"/>
              </a:xfrm>
            </p:grpSpPr>
            <p:grpSp>
              <p:nvGrpSpPr>
                <p:cNvPr id="570" name="Group 2110"/>
                <p:cNvGrpSpPr>
                  <a:grpSpLocks/>
                </p:cNvGrpSpPr>
                <p:nvPr/>
              </p:nvGrpSpPr>
              <p:grpSpPr bwMode="auto">
                <a:xfrm>
                  <a:off x="737" y="3534"/>
                  <a:ext cx="49" cy="23"/>
                  <a:chOff x="737" y="3534"/>
                  <a:chExt cx="49" cy="23"/>
                </a:xfrm>
              </p:grpSpPr>
              <p:sp>
                <p:nvSpPr>
                  <p:cNvPr id="98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1" name="Group 2114"/>
                <p:cNvGrpSpPr>
                  <a:grpSpLocks/>
                </p:cNvGrpSpPr>
                <p:nvPr/>
              </p:nvGrpSpPr>
              <p:grpSpPr bwMode="auto">
                <a:xfrm>
                  <a:off x="748" y="3547"/>
                  <a:ext cx="50" cy="23"/>
                  <a:chOff x="748" y="3547"/>
                  <a:chExt cx="50" cy="23"/>
                </a:xfrm>
              </p:grpSpPr>
              <p:sp>
                <p:nvSpPr>
                  <p:cNvPr id="97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7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7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76" name="Group 2122"/>
                <p:cNvGrpSpPr>
                  <a:grpSpLocks/>
                </p:cNvGrpSpPr>
                <p:nvPr/>
              </p:nvGrpSpPr>
              <p:grpSpPr bwMode="auto">
                <a:xfrm>
                  <a:off x="872" y="3547"/>
                  <a:ext cx="50" cy="23"/>
                  <a:chOff x="872" y="3547"/>
                  <a:chExt cx="50" cy="23"/>
                </a:xfrm>
              </p:grpSpPr>
              <p:sp>
                <p:nvSpPr>
                  <p:cNvPr id="97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7" name="Group 2126"/>
                <p:cNvGrpSpPr>
                  <a:grpSpLocks/>
                </p:cNvGrpSpPr>
                <p:nvPr/>
              </p:nvGrpSpPr>
              <p:grpSpPr bwMode="auto">
                <a:xfrm>
                  <a:off x="885" y="3559"/>
                  <a:ext cx="50" cy="23"/>
                  <a:chOff x="885" y="3559"/>
                  <a:chExt cx="50" cy="23"/>
                </a:xfrm>
              </p:grpSpPr>
              <p:sp>
                <p:nvSpPr>
                  <p:cNvPr id="97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8" name="Group 2130"/>
                <p:cNvGrpSpPr>
                  <a:grpSpLocks/>
                </p:cNvGrpSpPr>
                <p:nvPr/>
              </p:nvGrpSpPr>
              <p:grpSpPr bwMode="auto">
                <a:xfrm>
                  <a:off x="898" y="3571"/>
                  <a:ext cx="49" cy="23"/>
                  <a:chOff x="898" y="3571"/>
                  <a:chExt cx="49" cy="23"/>
                </a:xfrm>
              </p:grpSpPr>
              <p:sp>
                <p:nvSpPr>
                  <p:cNvPr id="96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7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79" name="Group 2134"/>
                <p:cNvGrpSpPr>
                  <a:grpSpLocks/>
                </p:cNvGrpSpPr>
                <p:nvPr/>
              </p:nvGrpSpPr>
              <p:grpSpPr bwMode="auto">
                <a:xfrm>
                  <a:off x="911" y="3585"/>
                  <a:ext cx="49" cy="23"/>
                  <a:chOff x="911" y="3585"/>
                  <a:chExt cx="49" cy="23"/>
                </a:xfrm>
              </p:grpSpPr>
              <p:sp>
                <p:nvSpPr>
                  <p:cNvPr id="96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0" name="Group 2138"/>
                <p:cNvGrpSpPr>
                  <a:grpSpLocks/>
                </p:cNvGrpSpPr>
                <p:nvPr/>
              </p:nvGrpSpPr>
              <p:grpSpPr bwMode="auto">
                <a:xfrm>
                  <a:off x="923" y="3600"/>
                  <a:ext cx="99" cy="73"/>
                  <a:chOff x="923" y="3600"/>
                  <a:chExt cx="99" cy="73"/>
                </a:xfrm>
              </p:grpSpPr>
              <p:grpSp>
                <p:nvGrpSpPr>
                  <p:cNvPr id="946" name="Group 2139"/>
                  <p:cNvGrpSpPr>
                    <a:grpSpLocks/>
                  </p:cNvGrpSpPr>
                  <p:nvPr/>
                </p:nvGrpSpPr>
                <p:grpSpPr bwMode="auto">
                  <a:xfrm>
                    <a:off x="923" y="3600"/>
                    <a:ext cx="49" cy="23"/>
                    <a:chOff x="923" y="3600"/>
                    <a:chExt cx="49" cy="23"/>
                  </a:xfrm>
                </p:grpSpPr>
                <p:sp>
                  <p:nvSpPr>
                    <p:cNvPr id="96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7" name="Group 2143"/>
                  <p:cNvGrpSpPr>
                    <a:grpSpLocks/>
                  </p:cNvGrpSpPr>
                  <p:nvPr/>
                </p:nvGrpSpPr>
                <p:grpSpPr bwMode="auto">
                  <a:xfrm>
                    <a:off x="935" y="3612"/>
                    <a:ext cx="48" cy="23"/>
                    <a:chOff x="935" y="3612"/>
                    <a:chExt cx="48" cy="23"/>
                  </a:xfrm>
                </p:grpSpPr>
                <p:sp>
                  <p:nvSpPr>
                    <p:cNvPr id="96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6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8" name="Group 2147"/>
                  <p:cNvGrpSpPr>
                    <a:grpSpLocks/>
                  </p:cNvGrpSpPr>
                  <p:nvPr/>
                </p:nvGrpSpPr>
                <p:grpSpPr bwMode="auto">
                  <a:xfrm>
                    <a:off x="947" y="3625"/>
                    <a:ext cx="50" cy="22"/>
                    <a:chOff x="947" y="3625"/>
                    <a:chExt cx="50" cy="22"/>
                  </a:xfrm>
                </p:grpSpPr>
                <p:sp>
                  <p:nvSpPr>
                    <p:cNvPr id="95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49" name="Group 2151"/>
                  <p:cNvGrpSpPr>
                    <a:grpSpLocks/>
                  </p:cNvGrpSpPr>
                  <p:nvPr/>
                </p:nvGrpSpPr>
                <p:grpSpPr bwMode="auto">
                  <a:xfrm>
                    <a:off x="960" y="3637"/>
                    <a:ext cx="50" cy="23"/>
                    <a:chOff x="960" y="3637"/>
                    <a:chExt cx="50" cy="23"/>
                  </a:xfrm>
                </p:grpSpPr>
                <p:sp>
                  <p:nvSpPr>
                    <p:cNvPr id="95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50" name="Group 2155"/>
                  <p:cNvGrpSpPr>
                    <a:grpSpLocks/>
                  </p:cNvGrpSpPr>
                  <p:nvPr/>
                </p:nvGrpSpPr>
                <p:grpSpPr bwMode="auto">
                  <a:xfrm>
                    <a:off x="973" y="3650"/>
                    <a:ext cx="49" cy="23"/>
                    <a:chOff x="973" y="3650"/>
                    <a:chExt cx="49" cy="23"/>
                  </a:xfrm>
                </p:grpSpPr>
                <p:sp>
                  <p:nvSpPr>
                    <p:cNvPr id="95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5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1" name="Group 2159"/>
                <p:cNvGrpSpPr>
                  <a:grpSpLocks/>
                </p:cNvGrpSpPr>
                <p:nvPr/>
              </p:nvGrpSpPr>
              <p:grpSpPr bwMode="auto">
                <a:xfrm>
                  <a:off x="985" y="3665"/>
                  <a:ext cx="100" cy="73"/>
                  <a:chOff x="985" y="3665"/>
                  <a:chExt cx="100" cy="73"/>
                </a:xfrm>
              </p:grpSpPr>
              <p:grpSp>
                <p:nvGrpSpPr>
                  <p:cNvPr id="926" name="Group 2160"/>
                  <p:cNvGrpSpPr>
                    <a:grpSpLocks/>
                  </p:cNvGrpSpPr>
                  <p:nvPr/>
                </p:nvGrpSpPr>
                <p:grpSpPr bwMode="auto">
                  <a:xfrm>
                    <a:off x="985" y="3665"/>
                    <a:ext cx="50" cy="23"/>
                    <a:chOff x="985" y="3665"/>
                    <a:chExt cx="50" cy="23"/>
                  </a:xfrm>
                </p:grpSpPr>
                <p:sp>
                  <p:nvSpPr>
                    <p:cNvPr id="94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7" name="Group 2164"/>
                  <p:cNvGrpSpPr>
                    <a:grpSpLocks/>
                  </p:cNvGrpSpPr>
                  <p:nvPr/>
                </p:nvGrpSpPr>
                <p:grpSpPr bwMode="auto">
                  <a:xfrm>
                    <a:off x="997" y="3677"/>
                    <a:ext cx="49" cy="23"/>
                    <a:chOff x="997" y="3677"/>
                    <a:chExt cx="49" cy="23"/>
                  </a:xfrm>
                </p:grpSpPr>
                <p:sp>
                  <p:nvSpPr>
                    <p:cNvPr id="94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4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8" name="Group 2168"/>
                  <p:cNvGrpSpPr>
                    <a:grpSpLocks/>
                  </p:cNvGrpSpPr>
                  <p:nvPr/>
                </p:nvGrpSpPr>
                <p:grpSpPr bwMode="auto">
                  <a:xfrm>
                    <a:off x="1010" y="3690"/>
                    <a:ext cx="48" cy="23"/>
                    <a:chOff x="1010" y="3690"/>
                    <a:chExt cx="48" cy="23"/>
                  </a:xfrm>
                </p:grpSpPr>
                <p:sp>
                  <p:nvSpPr>
                    <p:cNvPr id="93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29" name="Group 2172"/>
                  <p:cNvGrpSpPr>
                    <a:grpSpLocks/>
                  </p:cNvGrpSpPr>
                  <p:nvPr/>
                </p:nvGrpSpPr>
                <p:grpSpPr bwMode="auto">
                  <a:xfrm>
                    <a:off x="1023" y="3703"/>
                    <a:ext cx="49" cy="22"/>
                    <a:chOff x="1023" y="3703"/>
                    <a:chExt cx="49" cy="22"/>
                  </a:xfrm>
                </p:grpSpPr>
                <p:sp>
                  <p:nvSpPr>
                    <p:cNvPr id="93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30" name="Group 2176"/>
                  <p:cNvGrpSpPr>
                    <a:grpSpLocks/>
                  </p:cNvGrpSpPr>
                  <p:nvPr/>
                </p:nvGrpSpPr>
                <p:grpSpPr bwMode="auto">
                  <a:xfrm>
                    <a:off x="1036" y="3716"/>
                    <a:ext cx="49" cy="22"/>
                    <a:chOff x="1036" y="3716"/>
                    <a:chExt cx="49" cy="22"/>
                  </a:xfrm>
                </p:grpSpPr>
                <p:sp>
                  <p:nvSpPr>
                    <p:cNvPr id="93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3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82" name="Group 2180"/>
                <p:cNvGrpSpPr>
                  <a:grpSpLocks/>
                </p:cNvGrpSpPr>
                <p:nvPr/>
              </p:nvGrpSpPr>
              <p:grpSpPr bwMode="auto">
                <a:xfrm>
                  <a:off x="1046" y="3727"/>
                  <a:ext cx="49" cy="23"/>
                  <a:chOff x="1046" y="3727"/>
                  <a:chExt cx="49" cy="23"/>
                </a:xfrm>
              </p:grpSpPr>
              <p:sp>
                <p:nvSpPr>
                  <p:cNvPr id="92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3" name="Group 2184"/>
                <p:cNvGrpSpPr>
                  <a:grpSpLocks/>
                </p:cNvGrpSpPr>
                <p:nvPr/>
              </p:nvGrpSpPr>
              <p:grpSpPr bwMode="auto">
                <a:xfrm>
                  <a:off x="1058" y="3739"/>
                  <a:ext cx="50" cy="23"/>
                  <a:chOff x="1058" y="3739"/>
                  <a:chExt cx="50" cy="23"/>
                </a:xfrm>
              </p:grpSpPr>
              <p:sp>
                <p:nvSpPr>
                  <p:cNvPr id="92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2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4" name="Group 2188"/>
                <p:cNvGrpSpPr>
                  <a:grpSpLocks/>
                </p:cNvGrpSpPr>
                <p:nvPr/>
              </p:nvGrpSpPr>
              <p:grpSpPr bwMode="auto">
                <a:xfrm>
                  <a:off x="1072" y="3753"/>
                  <a:ext cx="48" cy="22"/>
                  <a:chOff x="1072" y="3753"/>
                  <a:chExt cx="48" cy="22"/>
                </a:xfrm>
              </p:grpSpPr>
              <p:sp>
                <p:nvSpPr>
                  <p:cNvPr id="91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8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8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588" name="Group 2195"/>
                <p:cNvGrpSpPr>
                  <a:grpSpLocks/>
                </p:cNvGrpSpPr>
                <p:nvPr/>
              </p:nvGrpSpPr>
              <p:grpSpPr bwMode="auto">
                <a:xfrm>
                  <a:off x="832" y="3547"/>
                  <a:ext cx="49" cy="23"/>
                  <a:chOff x="832" y="3547"/>
                  <a:chExt cx="49" cy="23"/>
                </a:xfrm>
              </p:grpSpPr>
              <p:sp>
                <p:nvSpPr>
                  <p:cNvPr id="91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89" name="Group 2199"/>
                <p:cNvGrpSpPr>
                  <a:grpSpLocks/>
                </p:cNvGrpSpPr>
                <p:nvPr/>
              </p:nvGrpSpPr>
              <p:grpSpPr bwMode="auto">
                <a:xfrm>
                  <a:off x="844" y="3560"/>
                  <a:ext cx="49" cy="22"/>
                  <a:chOff x="844" y="3560"/>
                  <a:chExt cx="49" cy="22"/>
                </a:xfrm>
              </p:grpSpPr>
              <p:sp>
                <p:nvSpPr>
                  <p:cNvPr id="91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0" name="Group 2203"/>
                <p:cNvGrpSpPr>
                  <a:grpSpLocks/>
                </p:cNvGrpSpPr>
                <p:nvPr/>
              </p:nvGrpSpPr>
              <p:grpSpPr bwMode="auto">
                <a:xfrm>
                  <a:off x="857" y="3572"/>
                  <a:ext cx="50" cy="23"/>
                  <a:chOff x="857" y="3572"/>
                  <a:chExt cx="50" cy="23"/>
                </a:xfrm>
              </p:grpSpPr>
              <p:sp>
                <p:nvSpPr>
                  <p:cNvPr id="90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1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1" name="Group 2207"/>
                <p:cNvGrpSpPr>
                  <a:grpSpLocks/>
                </p:cNvGrpSpPr>
                <p:nvPr/>
              </p:nvGrpSpPr>
              <p:grpSpPr bwMode="auto">
                <a:xfrm>
                  <a:off x="870" y="3585"/>
                  <a:ext cx="48" cy="23"/>
                  <a:chOff x="870" y="3585"/>
                  <a:chExt cx="48" cy="23"/>
                </a:xfrm>
              </p:grpSpPr>
              <p:sp>
                <p:nvSpPr>
                  <p:cNvPr id="90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2" name="Group 2211"/>
                <p:cNvGrpSpPr>
                  <a:grpSpLocks/>
                </p:cNvGrpSpPr>
                <p:nvPr/>
              </p:nvGrpSpPr>
              <p:grpSpPr bwMode="auto">
                <a:xfrm>
                  <a:off x="882" y="3600"/>
                  <a:ext cx="100" cy="73"/>
                  <a:chOff x="882" y="3600"/>
                  <a:chExt cx="100" cy="73"/>
                </a:xfrm>
              </p:grpSpPr>
              <p:grpSp>
                <p:nvGrpSpPr>
                  <p:cNvPr id="885" name="Group 2212"/>
                  <p:cNvGrpSpPr>
                    <a:grpSpLocks/>
                  </p:cNvGrpSpPr>
                  <p:nvPr/>
                </p:nvGrpSpPr>
                <p:grpSpPr bwMode="auto">
                  <a:xfrm>
                    <a:off x="882" y="3600"/>
                    <a:ext cx="49" cy="23"/>
                    <a:chOff x="882" y="3600"/>
                    <a:chExt cx="49" cy="23"/>
                  </a:xfrm>
                </p:grpSpPr>
                <p:sp>
                  <p:nvSpPr>
                    <p:cNvPr id="90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6" name="Group 2216"/>
                  <p:cNvGrpSpPr>
                    <a:grpSpLocks/>
                  </p:cNvGrpSpPr>
                  <p:nvPr/>
                </p:nvGrpSpPr>
                <p:grpSpPr bwMode="auto">
                  <a:xfrm>
                    <a:off x="894" y="3612"/>
                    <a:ext cx="49" cy="23"/>
                    <a:chOff x="894" y="3612"/>
                    <a:chExt cx="49" cy="23"/>
                  </a:xfrm>
                </p:grpSpPr>
                <p:sp>
                  <p:nvSpPr>
                    <p:cNvPr id="89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0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7" name="Group 2220"/>
                  <p:cNvGrpSpPr>
                    <a:grpSpLocks/>
                  </p:cNvGrpSpPr>
                  <p:nvPr/>
                </p:nvGrpSpPr>
                <p:grpSpPr bwMode="auto">
                  <a:xfrm>
                    <a:off x="907" y="3625"/>
                    <a:ext cx="49" cy="23"/>
                    <a:chOff x="907" y="3625"/>
                    <a:chExt cx="49" cy="23"/>
                  </a:xfrm>
                </p:grpSpPr>
                <p:sp>
                  <p:nvSpPr>
                    <p:cNvPr id="89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8" name="Group 2224"/>
                  <p:cNvGrpSpPr>
                    <a:grpSpLocks/>
                  </p:cNvGrpSpPr>
                  <p:nvPr/>
                </p:nvGrpSpPr>
                <p:grpSpPr bwMode="auto">
                  <a:xfrm>
                    <a:off x="919" y="3638"/>
                    <a:ext cx="49" cy="22"/>
                    <a:chOff x="919" y="3638"/>
                    <a:chExt cx="49" cy="22"/>
                  </a:xfrm>
                </p:grpSpPr>
                <p:sp>
                  <p:nvSpPr>
                    <p:cNvPr id="89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89" name="Group 2228"/>
                  <p:cNvGrpSpPr>
                    <a:grpSpLocks/>
                  </p:cNvGrpSpPr>
                  <p:nvPr/>
                </p:nvGrpSpPr>
                <p:grpSpPr bwMode="auto">
                  <a:xfrm>
                    <a:off x="932" y="3651"/>
                    <a:ext cx="50" cy="22"/>
                    <a:chOff x="932" y="3651"/>
                    <a:chExt cx="50" cy="22"/>
                  </a:xfrm>
                </p:grpSpPr>
                <p:sp>
                  <p:nvSpPr>
                    <p:cNvPr id="89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9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3" name="Group 2232"/>
                <p:cNvGrpSpPr>
                  <a:grpSpLocks/>
                </p:cNvGrpSpPr>
                <p:nvPr/>
              </p:nvGrpSpPr>
              <p:grpSpPr bwMode="auto">
                <a:xfrm>
                  <a:off x="944" y="3665"/>
                  <a:ext cx="99" cy="74"/>
                  <a:chOff x="944" y="3665"/>
                  <a:chExt cx="99" cy="74"/>
                </a:xfrm>
              </p:grpSpPr>
              <p:grpSp>
                <p:nvGrpSpPr>
                  <p:cNvPr id="865" name="Group 2233"/>
                  <p:cNvGrpSpPr>
                    <a:grpSpLocks/>
                  </p:cNvGrpSpPr>
                  <p:nvPr/>
                </p:nvGrpSpPr>
                <p:grpSpPr bwMode="auto">
                  <a:xfrm>
                    <a:off x="944" y="3665"/>
                    <a:ext cx="49" cy="23"/>
                    <a:chOff x="944" y="3665"/>
                    <a:chExt cx="49" cy="23"/>
                  </a:xfrm>
                </p:grpSpPr>
                <p:sp>
                  <p:nvSpPr>
                    <p:cNvPr id="88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6" name="Group 2237"/>
                  <p:cNvGrpSpPr>
                    <a:grpSpLocks/>
                  </p:cNvGrpSpPr>
                  <p:nvPr/>
                </p:nvGrpSpPr>
                <p:grpSpPr bwMode="auto">
                  <a:xfrm>
                    <a:off x="957" y="3678"/>
                    <a:ext cx="48" cy="23"/>
                    <a:chOff x="957" y="3678"/>
                    <a:chExt cx="48" cy="23"/>
                  </a:xfrm>
                </p:grpSpPr>
                <p:sp>
                  <p:nvSpPr>
                    <p:cNvPr id="87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8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7" name="Group 2241"/>
                  <p:cNvGrpSpPr>
                    <a:grpSpLocks/>
                  </p:cNvGrpSpPr>
                  <p:nvPr/>
                </p:nvGrpSpPr>
                <p:grpSpPr bwMode="auto">
                  <a:xfrm>
                    <a:off x="969" y="3690"/>
                    <a:ext cx="49" cy="23"/>
                    <a:chOff x="969" y="3690"/>
                    <a:chExt cx="49" cy="23"/>
                  </a:xfrm>
                </p:grpSpPr>
                <p:sp>
                  <p:nvSpPr>
                    <p:cNvPr id="87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8" name="Group 2245"/>
                  <p:cNvGrpSpPr>
                    <a:grpSpLocks/>
                  </p:cNvGrpSpPr>
                  <p:nvPr/>
                </p:nvGrpSpPr>
                <p:grpSpPr bwMode="auto">
                  <a:xfrm>
                    <a:off x="982" y="3703"/>
                    <a:ext cx="49" cy="23"/>
                    <a:chOff x="982" y="3703"/>
                    <a:chExt cx="49" cy="23"/>
                  </a:xfrm>
                </p:grpSpPr>
                <p:sp>
                  <p:nvSpPr>
                    <p:cNvPr id="87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69" name="Group 2249"/>
                  <p:cNvGrpSpPr>
                    <a:grpSpLocks/>
                  </p:cNvGrpSpPr>
                  <p:nvPr/>
                </p:nvGrpSpPr>
                <p:grpSpPr bwMode="auto">
                  <a:xfrm>
                    <a:off x="995" y="3716"/>
                    <a:ext cx="48" cy="23"/>
                    <a:chOff x="995" y="3716"/>
                    <a:chExt cx="48" cy="23"/>
                  </a:xfrm>
                </p:grpSpPr>
                <p:sp>
                  <p:nvSpPr>
                    <p:cNvPr id="87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7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594" name="Group 2253"/>
                <p:cNvGrpSpPr>
                  <a:grpSpLocks/>
                </p:cNvGrpSpPr>
                <p:nvPr/>
              </p:nvGrpSpPr>
              <p:grpSpPr bwMode="auto">
                <a:xfrm>
                  <a:off x="1005" y="3727"/>
                  <a:ext cx="49" cy="23"/>
                  <a:chOff x="1005" y="3727"/>
                  <a:chExt cx="49" cy="23"/>
                </a:xfrm>
              </p:grpSpPr>
              <p:sp>
                <p:nvSpPr>
                  <p:cNvPr id="86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5" name="Group 2257"/>
                <p:cNvGrpSpPr>
                  <a:grpSpLocks/>
                </p:cNvGrpSpPr>
                <p:nvPr/>
              </p:nvGrpSpPr>
              <p:grpSpPr bwMode="auto">
                <a:xfrm>
                  <a:off x="1018" y="3740"/>
                  <a:ext cx="49" cy="22"/>
                  <a:chOff x="1018" y="3740"/>
                  <a:chExt cx="49" cy="22"/>
                </a:xfrm>
              </p:grpSpPr>
              <p:sp>
                <p:nvSpPr>
                  <p:cNvPr id="85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6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96" name="Group 2261"/>
                <p:cNvGrpSpPr>
                  <a:grpSpLocks/>
                </p:cNvGrpSpPr>
                <p:nvPr/>
              </p:nvGrpSpPr>
              <p:grpSpPr bwMode="auto">
                <a:xfrm>
                  <a:off x="1030" y="3753"/>
                  <a:ext cx="49" cy="23"/>
                  <a:chOff x="1030" y="3753"/>
                  <a:chExt cx="49" cy="23"/>
                </a:xfrm>
              </p:grpSpPr>
              <p:sp>
                <p:nvSpPr>
                  <p:cNvPr id="85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59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9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00" name="Group 2268"/>
                <p:cNvGrpSpPr>
                  <a:grpSpLocks/>
                </p:cNvGrpSpPr>
                <p:nvPr/>
              </p:nvGrpSpPr>
              <p:grpSpPr bwMode="auto">
                <a:xfrm>
                  <a:off x="790" y="3547"/>
                  <a:ext cx="49" cy="23"/>
                  <a:chOff x="790" y="3547"/>
                  <a:chExt cx="49" cy="23"/>
                </a:xfrm>
              </p:grpSpPr>
              <p:sp>
                <p:nvSpPr>
                  <p:cNvPr id="85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1" name="Group 2272"/>
                <p:cNvGrpSpPr>
                  <a:grpSpLocks/>
                </p:cNvGrpSpPr>
                <p:nvPr/>
              </p:nvGrpSpPr>
              <p:grpSpPr bwMode="auto">
                <a:xfrm>
                  <a:off x="803" y="3560"/>
                  <a:ext cx="49" cy="22"/>
                  <a:chOff x="803" y="3560"/>
                  <a:chExt cx="49" cy="22"/>
                </a:xfrm>
              </p:grpSpPr>
              <p:sp>
                <p:nvSpPr>
                  <p:cNvPr id="85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5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2" name="Group 2276"/>
                <p:cNvGrpSpPr>
                  <a:grpSpLocks/>
                </p:cNvGrpSpPr>
                <p:nvPr/>
              </p:nvGrpSpPr>
              <p:grpSpPr bwMode="auto">
                <a:xfrm>
                  <a:off x="815" y="3572"/>
                  <a:ext cx="50" cy="23"/>
                  <a:chOff x="815" y="3572"/>
                  <a:chExt cx="50" cy="23"/>
                </a:xfrm>
              </p:grpSpPr>
              <p:sp>
                <p:nvSpPr>
                  <p:cNvPr id="84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3" name="Group 2280"/>
                <p:cNvGrpSpPr>
                  <a:grpSpLocks/>
                </p:cNvGrpSpPr>
                <p:nvPr/>
              </p:nvGrpSpPr>
              <p:grpSpPr bwMode="auto">
                <a:xfrm>
                  <a:off x="828" y="3585"/>
                  <a:ext cx="49" cy="23"/>
                  <a:chOff x="828" y="3585"/>
                  <a:chExt cx="49" cy="23"/>
                </a:xfrm>
              </p:grpSpPr>
              <p:sp>
                <p:nvSpPr>
                  <p:cNvPr id="84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4" name="Group 2284"/>
                <p:cNvGrpSpPr>
                  <a:grpSpLocks/>
                </p:cNvGrpSpPr>
                <p:nvPr/>
              </p:nvGrpSpPr>
              <p:grpSpPr bwMode="auto">
                <a:xfrm>
                  <a:off x="840" y="3600"/>
                  <a:ext cx="100" cy="73"/>
                  <a:chOff x="840" y="3600"/>
                  <a:chExt cx="100" cy="73"/>
                </a:xfrm>
              </p:grpSpPr>
              <p:grpSp>
                <p:nvGrpSpPr>
                  <p:cNvPr id="824" name="Group 2285"/>
                  <p:cNvGrpSpPr>
                    <a:grpSpLocks/>
                  </p:cNvGrpSpPr>
                  <p:nvPr/>
                </p:nvGrpSpPr>
                <p:grpSpPr bwMode="auto">
                  <a:xfrm>
                    <a:off x="840" y="3600"/>
                    <a:ext cx="49" cy="23"/>
                    <a:chOff x="840" y="3600"/>
                    <a:chExt cx="49" cy="23"/>
                  </a:xfrm>
                </p:grpSpPr>
                <p:sp>
                  <p:nvSpPr>
                    <p:cNvPr id="84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5" name="Group 2289"/>
                  <p:cNvGrpSpPr>
                    <a:grpSpLocks/>
                  </p:cNvGrpSpPr>
                  <p:nvPr/>
                </p:nvGrpSpPr>
                <p:grpSpPr bwMode="auto">
                  <a:xfrm>
                    <a:off x="853" y="3612"/>
                    <a:ext cx="48" cy="23"/>
                    <a:chOff x="853" y="3612"/>
                    <a:chExt cx="48" cy="23"/>
                  </a:xfrm>
                </p:grpSpPr>
                <p:sp>
                  <p:nvSpPr>
                    <p:cNvPr id="83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4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6" name="Group 2293"/>
                  <p:cNvGrpSpPr>
                    <a:grpSpLocks/>
                  </p:cNvGrpSpPr>
                  <p:nvPr/>
                </p:nvGrpSpPr>
                <p:grpSpPr bwMode="auto">
                  <a:xfrm>
                    <a:off x="865" y="3625"/>
                    <a:ext cx="49" cy="23"/>
                    <a:chOff x="865" y="3625"/>
                    <a:chExt cx="49" cy="23"/>
                  </a:xfrm>
                </p:grpSpPr>
                <p:sp>
                  <p:nvSpPr>
                    <p:cNvPr id="83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7" name="Group 2297"/>
                  <p:cNvGrpSpPr>
                    <a:grpSpLocks/>
                  </p:cNvGrpSpPr>
                  <p:nvPr/>
                </p:nvGrpSpPr>
                <p:grpSpPr bwMode="auto">
                  <a:xfrm>
                    <a:off x="878" y="3638"/>
                    <a:ext cx="49" cy="22"/>
                    <a:chOff x="878" y="3638"/>
                    <a:chExt cx="49" cy="22"/>
                  </a:xfrm>
                </p:grpSpPr>
                <p:sp>
                  <p:nvSpPr>
                    <p:cNvPr id="83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28" name="Group 2301"/>
                  <p:cNvGrpSpPr>
                    <a:grpSpLocks/>
                  </p:cNvGrpSpPr>
                  <p:nvPr/>
                </p:nvGrpSpPr>
                <p:grpSpPr bwMode="auto">
                  <a:xfrm>
                    <a:off x="890" y="3651"/>
                    <a:ext cx="50" cy="22"/>
                    <a:chOff x="890" y="3651"/>
                    <a:chExt cx="50" cy="22"/>
                  </a:xfrm>
                </p:grpSpPr>
                <p:sp>
                  <p:nvSpPr>
                    <p:cNvPr id="82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3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5" name="Group 2305"/>
                <p:cNvGrpSpPr>
                  <a:grpSpLocks/>
                </p:cNvGrpSpPr>
                <p:nvPr/>
              </p:nvGrpSpPr>
              <p:grpSpPr bwMode="auto">
                <a:xfrm>
                  <a:off x="903" y="3665"/>
                  <a:ext cx="99" cy="74"/>
                  <a:chOff x="903" y="3665"/>
                  <a:chExt cx="99" cy="74"/>
                </a:xfrm>
              </p:grpSpPr>
              <p:grpSp>
                <p:nvGrpSpPr>
                  <p:cNvPr id="804" name="Group 2306"/>
                  <p:cNvGrpSpPr>
                    <a:grpSpLocks/>
                  </p:cNvGrpSpPr>
                  <p:nvPr/>
                </p:nvGrpSpPr>
                <p:grpSpPr bwMode="auto">
                  <a:xfrm>
                    <a:off x="903" y="3665"/>
                    <a:ext cx="49" cy="23"/>
                    <a:chOff x="903" y="3665"/>
                    <a:chExt cx="49" cy="23"/>
                  </a:xfrm>
                </p:grpSpPr>
                <p:sp>
                  <p:nvSpPr>
                    <p:cNvPr id="82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5" name="Group 2310"/>
                  <p:cNvGrpSpPr>
                    <a:grpSpLocks/>
                  </p:cNvGrpSpPr>
                  <p:nvPr/>
                </p:nvGrpSpPr>
                <p:grpSpPr bwMode="auto">
                  <a:xfrm>
                    <a:off x="914" y="3678"/>
                    <a:ext cx="49" cy="23"/>
                    <a:chOff x="914" y="3678"/>
                    <a:chExt cx="49" cy="23"/>
                  </a:xfrm>
                </p:grpSpPr>
                <p:sp>
                  <p:nvSpPr>
                    <p:cNvPr id="81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2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6" name="Group 2314"/>
                  <p:cNvGrpSpPr>
                    <a:grpSpLocks/>
                  </p:cNvGrpSpPr>
                  <p:nvPr/>
                </p:nvGrpSpPr>
                <p:grpSpPr bwMode="auto">
                  <a:xfrm>
                    <a:off x="928" y="3690"/>
                    <a:ext cx="48" cy="23"/>
                    <a:chOff x="928" y="3690"/>
                    <a:chExt cx="48" cy="23"/>
                  </a:xfrm>
                </p:grpSpPr>
                <p:sp>
                  <p:nvSpPr>
                    <p:cNvPr id="81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7" name="Group 2318"/>
                  <p:cNvGrpSpPr>
                    <a:grpSpLocks/>
                  </p:cNvGrpSpPr>
                  <p:nvPr/>
                </p:nvGrpSpPr>
                <p:grpSpPr bwMode="auto">
                  <a:xfrm>
                    <a:off x="940" y="3703"/>
                    <a:ext cx="49" cy="23"/>
                    <a:chOff x="940" y="3703"/>
                    <a:chExt cx="49" cy="23"/>
                  </a:xfrm>
                </p:grpSpPr>
                <p:sp>
                  <p:nvSpPr>
                    <p:cNvPr id="81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808" name="Group 2322"/>
                  <p:cNvGrpSpPr>
                    <a:grpSpLocks/>
                  </p:cNvGrpSpPr>
                  <p:nvPr/>
                </p:nvGrpSpPr>
                <p:grpSpPr bwMode="auto">
                  <a:xfrm>
                    <a:off x="953" y="3716"/>
                    <a:ext cx="49" cy="23"/>
                    <a:chOff x="953" y="3716"/>
                    <a:chExt cx="49" cy="23"/>
                  </a:xfrm>
                </p:grpSpPr>
                <p:sp>
                  <p:nvSpPr>
                    <p:cNvPr id="80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1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06" name="Group 2326"/>
                <p:cNvGrpSpPr>
                  <a:grpSpLocks/>
                </p:cNvGrpSpPr>
                <p:nvPr/>
              </p:nvGrpSpPr>
              <p:grpSpPr bwMode="auto">
                <a:xfrm>
                  <a:off x="963" y="3727"/>
                  <a:ext cx="49" cy="23"/>
                  <a:chOff x="963" y="3727"/>
                  <a:chExt cx="49" cy="23"/>
                </a:xfrm>
              </p:grpSpPr>
              <p:sp>
                <p:nvSpPr>
                  <p:cNvPr id="80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7" name="Group 2330"/>
                <p:cNvGrpSpPr>
                  <a:grpSpLocks/>
                </p:cNvGrpSpPr>
                <p:nvPr/>
              </p:nvGrpSpPr>
              <p:grpSpPr bwMode="auto">
                <a:xfrm>
                  <a:off x="976" y="3740"/>
                  <a:ext cx="50" cy="22"/>
                  <a:chOff x="976" y="3740"/>
                  <a:chExt cx="50" cy="22"/>
                </a:xfrm>
              </p:grpSpPr>
              <p:sp>
                <p:nvSpPr>
                  <p:cNvPr id="79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80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8" name="Group 2334"/>
                <p:cNvGrpSpPr>
                  <a:grpSpLocks/>
                </p:cNvGrpSpPr>
                <p:nvPr/>
              </p:nvGrpSpPr>
              <p:grpSpPr bwMode="auto">
                <a:xfrm>
                  <a:off x="761" y="3560"/>
                  <a:ext cx="50" cy="22"/>
                  <a:chOff x="761" y="3560"/>
                  <a:chExt cx="50" cy="22"/>
                </a:xfrm>
              </p:grpSpPr>
              <p:sp>
                <p:nvSpPr>
                  <p:cNvPr id="79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09" name="Group 2338"/>
                <p:cNvGrpSpPr>
                  <a:grpSpLocks/>
                </p:cNvGrpSpPr>
                <p:nvPr/>
              </p:nvGrpSpPr>
              <p:grpSpPr bwMode="auto">
                <a:xfrm>
                  <a:off x="774" y="3572"/>
                  <a:ext cx="49" cy="23"/>
                  <a:chOff x="774" y="3572"/>
                  <a:chExt cx="49" cy="23"/>
                </a:xfrm>
              </p:grpSpPr>
              <p:sp>
                <p:nvSpPr>
                  <p:cNvPr id="79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0" name="Group 2342"/>
                <p:cNvGrpSpPr>
                  <a:grpSpLocks/>
                </p:cNvGrpSpPr>
                <p:nvPr/>
              </p:nvGrpSpPr>
              <p:grpSpPr bwMode="auto">
                <a:xfrm>
                  <a:off x="787" y="3585"/>
                  <a:ext cx="49" cy="23"/>
                  <a:chOff x="787" y="3585"/>
                  <a:chExt cx="49" cy="23"/>
                </a:xfrm>
              </p:grpSpPr>
              <p:sp>
                <p:nvSpPr>
                  <p:cNvPr id="78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9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1" name="Group 2346"/>
                <p:cNvGrpSpPr>
                  <a:grpSpLocks/>
                </p:cNvGrpSpPr>
                <p:nvPr/>
              </p:nvGrpSpPr>
              <p:grpSpPr bwMode="auto">
                <a:xfrm>
                  <a:off x="799" y="3600"/>
                  <a:ext cx="99" cy="73"/>
                  <a:chOff x="799" y="3600"/>
                  <a:chExt cx="99" cy="73"/>
                </a:xfrm>
              </p:grpSpPr>
              <p:grpSp>
                <p:nvGrpSpPr>
                  <p:cNvPr id="769" name="Group 2347"/>
                  <p:cNvGrpSpPr>
                    <a:grpSpLocks/>
                  </p:cNvGrpSpPr>
                  <p:nvPr/>
                </p:nvGrpSpPr>
                <p:grpSpPr bwMode="auto">
                  <a:xfrm>
                    <a:off x="799" y="3600"/>
                    <a:ext cx="48" cy="23"/>
                    <a:chOff x="799" y="3600"/>
                    <a:chExt cx="48" cy="23"/>
                  </a:xfrm>
                </p:grpSpPr>
                <p:sp>
                  <p:nvSpPr>
                    <p:cNvPr id="78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0" name="Group 2351"/>
                  <p:cNvGrpSpPr>
                    <a:grpSpLocks/>
                  </p:cNvGrpSpPr>
                  <p:nvPr/>
                </p:nvGrpSpPr>
                <p:grpSpPr bwMode="auto">
                  <a:xfrm>
                    <a:off x="811" y="3612"/>
                    <a:ext cx="48" cy="23"/>
                    <a:chOff x="811" y="3612"/>
                    <a:chExt cx="48" cy="23"/>
                  </a:xfrm>
                </p:grpSpPr>
                <p:sp>
                  <p:nvSpPr>
                    <p:cNvPr id="78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1" name="Group 2355"/>
                  <p:cNvGrpSpPr>
                    <a:grpSpLocks/>
                  </p:cNvGrpSpPr>
                  <p:nvPr/>
                </p:nvGrpSpPr>
                <p:grpSpPr bwMode="auto">
                  <a:xfrm>
                    <a:off x="823" y="3625"/>
                    <a:ext cx="49" cy="23"/>
                    <a:chOff x="823" y="3625"/>
                    <a:chExt cx="49" cy="23"/>
                  </a:xfrm>
                </p:grpSpPr>
                <p:sp>
                  <p:nvSpPr>
                    <p:cNvPr id="78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8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2" name="Group 2359"/>
                  <p:cNvGrpSpPr>
                    <a:grpSpLocks/>
                  </p:cNvGrpSpPr>
                  <p:nvPr/>
                </p:nvGrpSpPr>
                <p:grpSpPr bwMode="auto">
                  <a:xfrm>
                    <a:off x="836" y="3638"/>
                    <a:ext cx="50" cy="22"/>
                    <a:chOff x="836" y="3638"/>
                    <a:chExt cx="50" cy="22"/>
                  </a:xfrm>
                </p:grpSpPr>
                <p:sp>
                  <p:nvSpPr>
                    <p:cNvPr id="77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73" name="Group 2363"/>
                  <p:cNvGrpSpPr>
                    <a:grpSpLocks/>
                  </p:cNvGrpSpPr>
                  <p:nvPr/>
                </p:nvGrpSpPr>
                <p:grpSpPr bwMode="auto">
                  <a:xfrm>
                    <a:off x="849" y="3651"/>
                    <a:ext cx="49" cy="22"/>
                    <a:chOff x="849" y="3651"/>
                    <a:chExt cx="49" cy="22"/>
                  </a:xfrm>
                </p:grpSpPr>
                <p:sp>
                  <p:nvSpPr>
                    <p:cNvPr id="77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7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2" name="Group 2367"/>
                <p:cNvGrpSpPr>
                  <a:grpSpLocks/>
                </p:cNvGrpSpPr>
                <p:nvPr/>
              </p:nvGrpSpPr>
              <p:grpSpPr bwMode="auto">
                <a:xfrm>
                  <a:off x="861" y="3665"/>
                  <a:ext cx="99" cy="74"/>
                  <a:chOff x="861" y="3665"/>
                  <a:chExt cx="99" cy="74"/>
                </a:xfrm>
              </p:grpSpPr>
              <p:grpSp>
                <p:nvGrpSpPr>
                  <p:cNvPr id="749" name="Group 2368"/>
                  <p:cNvGrpSpPr>
                    <a:grpSpLocks/>
                  </p:cNvGrpSpPr>
                  <p:nvPr/>
                </p:nvGrpSpPr>
                <p:grpSpPr bwMode="auto">
                  <a:xfrm>
                    <a:off x="861" y="3665"/>
                    <a:ext cx="50" cy="23"/>
                    <a:chOff x="861" y="3665"/>
                    <a:chExt cx="50" cy="23"/>
                  </a:xfrm>
                </p:grpSpPr>
                <p:sp>
                  <p:nvSpPr>
                    <p:cNvPr id="76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0" name="Group 2372"/>
                  <p:cNvGrpSpPr>
                    <a:grpSpLocks/>
                  </p:cNvGrpSpPr>
                  <p:nvPr/>
                </p:nvGrpSpPr>
                <p:grpSpPr bwMode="auto">
                  <a:xfrm>
                    <a:off x="873" y="3678"/>
                    <a:ext cx="49" cy="23"/>
                    <a:chOff x="873" y="3678"/>
                    <a:chExt cx="49" cy="23"/>
                  </a:xfrm>
                </p:grpSpPr>
                <p:sp>
                  <p:nvSpPr>
                    <p:cNvPr id="76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1" name="Group 2376"/>
                  <p:cNvGrpSpPr>
                    <a:grpSpLocks/>
                  </p:cNvGrpSpPr>
                  <p:nvPr/>
                </p:nvGrpSpPr>
                <p:grpSpPr bwMode="auto">
                  <a:xfrm>
                    <a:off x="886" y="3690"/>
                    <a:ext cx="49" cy="23"/>
                    <a:chOff x="886" y="3690"/>
                    <a:chExt cx="49" cy="23"/>
                  </a:xfrm>
                </p:grpSpPr>
                <p:sp>
                  <p:nvSpPr>
                    <p:cNvPr id="76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6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2" name="Group 2380"/>
                  <p:cNvGrpSpPr>
                    <a:grpSpLocks/>
                  </p:cNvGrpSpPr>
                  <p:nvPr/>
                </p:nvGrpSpPr>
                <p:grpSpPr bwMode="auto">
                  <a:xfrm>
                    <a:off x="899" y="3703"/>
                    <a:ext cx="48" cy="23"/>
                    <a:chOff x="899" y="3703"/>
                    <a:chExt cx="48" cy="23"/>
                  </a:xfrm>
                </p:grpSpPr>
                <p:sp>
                  <p:nvSpPr>
                    <p:cNvPr id="75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53" name="Group 2384"/>
                  <p:cNvGrpSpPr>
                    <a:grpSpLocks/>
                  </p:cNvGrpSpPr>
                  <p:nvPr/>
                </p:nvGrpSpPr>
                <p:grpSpPr bwMode="auto">
                  <a:xfrm>
                    <a:off x="912" y="3716"/>
                    <a:ext cx="48" cy="23"/>
                    <a:chOff x="912" y="3716"/>
                    <a:chExt cx="48" cy="23"/>
                  </a:xfrm>
                </p:grpSpPr>
                <p:sp>
                  <p:nvSpPr>
                    <p:cNvPr id="75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5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3" name="Group 2388"/>
                <p:cNvGrpSpPr>
                  <a:grpSpLocks/>
                </p:cNvGrpSpPr>
                <p:nvPr/>
              </p:nvGrpSpPr>
              <p:grpSpPr bwMode="auto">
                <a:xfrm>
                  <a:off x="922" y="3727"/>
                  <a:ext cx="49" cy="23"/>
                  <a:chOff x="922" y="3727"/>
                  <a:chExt cx="49" cy="23"/>
                </a:xfrm>
              </p:grpSpPr>
              <p:sp>
                <p:nvSpPr>
                  <p:cNvPr id="74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4" name="Group 2392"/>
                <p:cNvGrpSpPr>
                  <a:grpSpLocks/>
                </p:cNvGrpSpPr>
                <p:nvPr/>
              </p:nvGrpSpPr>
              <p:grpSpPr bwMode="auto">
                <a:xfrm>
                  <a:off x="895" y="3526"/>
                  <a:ext cx="44" cy="23"/>
                  <a:chOff x="895" y="3526"/>
                  <a:chExt cx="44" cy="23"/>
                </a:xfrm>
              </p:grpSpPr>
              <p:sp>
                <p:nvSpPr>
                  <p:cNvPr id="74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5" name="Group 2396"/>
                <p:cNvGrpSpPr>
                  <a:grpSpLocks/>
                </p:cNvGrpSpPr>
                <p:nvPr/>
              </p:nvGrpSpPr>
              <p:grpSpPr bwMode="auto">
                <a:xfrm>
                  <a:off x="907" y="3540"/>
                  <a:ext cx="45" cy="22"/>
                  <a:chOff x="907" y="3540"/>
                  <a:chExt cx="45" cy="22"/>
                </a:xfrm>
              </p:grpSpPr>
              <p:sp>
                <p:nvSpPr>
                  <p:cNvPr id="74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4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6" name="Group 2400"/>
                <p:cNvGrpSpPr>
                  <a:grpSpLocks/>
                </p:cNvGrpSpPr>
                <p:nvPr/>
              </p:nvGrpSpPr>
              <p:grpSpPr bwMode="auto">
                <a:xfrm>
                  <a:off x="920" y="3553"/>
                  <a:ext cx="45" cy="23"/>
                  <a:chOff x="920" y="3553"/>
                  <a:chExt cx="45" cy="23"/>
                </a:xfrm>
              </p:grpSpPr>
              <p:sp>
                <p:nvSpPr>
                  <p:cNvPr id="73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7" name="Group 2404"/>
                <p:cNvGrpSpPr>
                  <a:grpSpLocks/>
                </p:cNvGrpSpPr>
                <p:nvPr/>
              </p:nvGrpSpPr>
              <p:grpSpPr bwMode="auto">
                <a:xfrm>
                  <a:off x="934" y="3566"/>
                  <a:ext cx="44" cy="23"/>
                  <a:chOff x="934" y="3566"/>
                  <a:chExt cx="44" cy="23"/>
                </a:xfrm>
              </p:grpSpPr>
              <p:sp>
                <p:nvSpPr>
                  <p:cNvPr id="73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18" name="Group 2408"/>
                <p:cNvGrpSpPr>
                  <a:grpSpLocks/>
                </p:cNvGrpSpPr>
                <p:nvPr/>
              </p:nvGrpSpPr>
              <p:grpSpPr bwMode="auto">
                <a:xfrm>
                  <a:off x="949" y="3579"/>
                  <a:ext cx="83" cy="63"/>
                  <a:chOff x="949" y="3579"/>
                  <a:chExt cx="83" cy="63"/>
                </a:xfrm>
              </p:grpSpPr>
              <p:grpSp>
                <p:nvGrpSpPr>
                  <p:cNvPr id="718" name="Group 2409"/>
                  <p:cNvGrpSpPr>
                    <a:grpSpLocks/>
                  </p:cNvGrpSpPr>
                  <p:nvPr/>
                </p:nvGrpSpPr>
                <p:grpSpPr bwMode="auto">
                  <a:xfrm>
                    <a:off x="949" y="3579"/>
                    <a:ext cx="44" cy="23"/>
                    <a:chOff x="949" y="3579"/>
                    <a:chExt cx="44" cy="23"/>
                  </a:xfrm>
                </p:grpSpPr>
                <p:sp>
                  <p:nvSpPr>
                    <p:cNvPr id="73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19" name="Group 2413"/>
                  <p:cNvGrpSpPr>
                    <a:grpSpLocks/>
                  </p:cNvGrpSpPr>
                  <p:nvPr/>
                </p:nvGrpSpPr>
                <p:grpSpPr bwMode="auto">
                  <a:xfrm>
                    <a:off x="961" y="3592"/>
                    <a:ext cx="45" cy="23"/>
                    <a:chOff x="961" y="3592"/>
                    <a:chExt cx="45" cy="23"/>
                  </a:xfrm>
                </p:grpSpPr>
                <p:sp>
                  <p:nvSpPr>
                    <p:cNvPr id="72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3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0" name="Group 2417"/>
                  <p:cNvGrpSpPr>
                    <a:grpSpLocks/>
                  </p:cNvGrpSpPr>
                  <p:nvPr/>
                </p:nvGrpSpPr>
                <p:grpSpPr bwMode="auto">
                  <a:xfrm>
                    <a:off x="974" y="3606"/>
                    <a:ext cx="44" cy="23"/>
                    <a:chOff x="974" y="3606"/>
                    <a:chExt cx="44" cy="23"/>
                  </a:xfrm>
                </p:grpSpPr>
                <p:sp>
                  <p:nvSpPr>
                    <p:cNvPr id="72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21" name="Group 2421"/>
                  <p:cNvGrpSpPr>
                    <a:grpSpLocks/>
                  </p:cNvGrpSpPr>
                  <p:nvPr/>
                </p:nvGrpSpPr>
                <p:grpSpPr bwMode="auto">
                  <a:xfrm>
                    <a:off x="987" y="3619"/>
                    <a:ext cx="45" cy="23"/>
                    <a:chOff x="987" y="3619"/>
                    <a:chExt cx="45" cy="23"/>
                  </a:xfrm>
                </p:grpSpPr>
                <p:sp>
                  <p:nvSpPr>
                    <p:cNvPr id="72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2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19" name="Group 2425"/>
                <p:cNvGrpSpPr>
                  <a:grpSpLocks/>
                </p:cNvGrpSpPr>
                <p:nvPr/>
              </p:nvGrpSpPr>
              <p:grpSpPr bwMode="auto">
                <a:xfrm>
                  <a:off x="1002" y="3632"/>
                  <a:ext cx="83" cy="63"/>
                  <a:chOff x="1002" y="3632"/>
                  <a:chExt cx="83" cy="63"/>
                </a:xfrm>
              </p:grpSpPr>
              <p:grpSp>
                <p:nvGrpSpPr>
                  <p:cNvPr id="702" name="Group 2426"/>
                  <p:cNvGrpSpPr>
                    <a:grpSpLocks/>
                  </p:cNvGrpSpPr>
                  <p:nvPr/>
                </p:nvGrpSpPr>
                <p:grpSpPr bwMode="auto">
                  <a:xfrm>
                    <a:off x="1002" y="3632"/>
                    <a:ext cx="44" cy="22"/>
                    <a:chOff x="1002" y="3632"/>
                    <a:chExt cx="44" cy="22"/>
                  </a:xfrm>
                </p:grpSpPr>
                <p:sp>
                  <p:nvSpPr>
                    <p:cNvPr id="71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3" name="Group 2430"/>
                  <p:cNvGrpSpPr>
                    <a:grpSpLocks/>
                  </p:cNvGrpSpPr>
                  <p:nvPr/>
                </p:nvGrpSpPr>
                <p:grpSpPr bwMode="auto">
                  <a:xfrm>
                    <a:off x="1014" y="3645"/>
                    <a:ext cx="44" cy="23"/>
                    <a:chOff x="1014" y="3645"/>
                    <a:chExt cx="44" cy="23"/>
                  </a:xfrm>
                </p:grpSpPr>
                <p:sp>
                  <p:nvSpPr>
                    <p:cNvPr id="71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4" name="Group 2434"/>
                  <p:cNvGrpSpPr>
                    <a:grpSpLocks/>
                  </p:cNvGrpSpPr>
                  <p:nvPr/>
                </p:nvGrpSpPr>
                <p:grpSpPr bwMode="auto">
                  <a:xfrm>
                    <a:off x="1027" y="3659"/>
                    <a:ext cx="45" cy="23"/>
                    <a:chOff x="1027" y="3659"/>
                    <a:chExt cx="45" cy="23"/>
                  </a:xfrm>
                </p:grpSpPr>
                <p:sp>
                  <p:nvSpPr>
                    <p:cNvPr id="70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1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705" name="Group 2438"/>
                  <p:cNvGrpSpPr>
                    <a:grpSpLocks/>
                  </p:cNvGrpSpPr>
                  <p:nvPr/>
                </p:nvGrpSpPr>
                <p:grpSpPr bwMode="auto">
                  <a:xfrm>
                    <a:off x="1040" y="3672"/>
                    <a:ext cx="45" cy="23"/>
                    <a:chOff x="1040" y="3672"/>
                    <a:chExt cx="45" cy="23"/>
                  </a:xfrm>
                </p:grpSpPr>
                <p:sp>
                  <p:nvSpPr>
                    <p:cNvPr id="70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620" name="Group 2442"/>
                <p:cNvGrpSpPr>
                  <a:grpSpLocks/>
                </p:cNvGrpSpPr>
                <p:nvPr/>
              </p:nvGrpSpPr>
              <p:grpSpPr bwMode="auto">
                <a:xfrm>
                  <a:off x="1054" y="3685"/>
                  <a:ext cx="45" cy="23"/>
                  <a:chOff x="1054" y="3685"/>
                  <a:chExt cx="45" cy="23"/>
                </a:xfrm>
              </p:grpSpPr>
              <p:sp>
                <p:nvSpPr>
                  <p:cNvPr id="69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70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1" name="Group 2446"/>
                <p:cNvGrpSpPr>
                  <a:grpSpLocks/>
                </p:cNvGrpSpPr>
                <p:nvPr/>
              </p:nvGrpSpPr>
              <p:grpSpPr bwMode="auto">
                <a:xfrm>
                  <a:off x="1067" y="3698"/>
                  <a:ext cx="45" cy="23"/>
                  <a:chOff x="1067" y="3698"/>
                  <a:chExt cx="45" cy="23"/>
                </a:xfrm>
              </p:grpSpPr>
              <p:sp>
                <p:nvSpPr>
                  <p:cNvPr id="69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2" name="Group 2450"/>
                <p:cNvGrpSpPr>
                  <a:grpSpLocks/>
                </p:cNvGrpSpPr>
                <p:nvPr/>
              </p:nvGrpSpPr>
              <p:grpSpPr bwMode="auto">
                <a:xfrm>
                  <a:off x="1079" y="3712"/>
                  <a:ext cx="44" cy="23"/>
                  <a:chOff x="1079" y="3712"/>
                  <a:chExt cx="44" cy="23"/>
                </a:xfrm>
              </p:grpSpPr>
              <p:sp>
                <p:nvSpPr>
                  <p:cNvPr id="69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3" name="Group 2454"/>
                <p:cNvGrpSpPr>
                  <a:grpSpLocks/>
                </p:cNvGrpSpPr>
                <p:nvPr/>
              </p:nvGrpSpPr>
              <p:grpSpPr bwMode="auto">
                <a:xfrm>
                  <a:off x="1093" y="3725"/>
                  <a:ext cx="45" cy="23"/>
                  <a:chOff x="1093" y="3725"/>
                  <a:chExt cx="45" cy="23"/>
                </a:xfrm>
              </p:grpSpPr>
              <p:sp>
                <p:nvSpPr>
                  <p:cNvPr id="69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9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4" name="Group 2458"/>
                <p:cNvGrpSpPr>
                  <a:grpSpLocks/>
                </p:cNvGrpSpPr>
                <p:nvPr/>
              </p:nvGrpSpPr>
              <p:grpSpPr bwMode="auto">
                <a:xfrm>
                  <a:off x="1108" y="3739"/>
                  <a:ext cx="44" cy="23"/>
                  <a:chOff x="1108" y="3739"/>
                  <a:chExt cx="44" cy="23"/>
                </a:xfrm>
              </p:grpSpPr>
              <p:sp>
                <p:nvSpPr>
                  <p:cNvPr id="68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5" name="Group 2462"/>
                <p:cNvGrpSpPr>
                  <a:grpSpLocks/>
                </p:cNvGrpSpPr>
                <p:nvPr/>
              </p:nvGrpSpPr>
              <p:grpSpPr bwMode="auto">
                <a:xfrm>
                  <a:off x="1121" y="3753"/>
                  <a:ext cx="45" cy="23"/>
                  <a:chOff x="1121" y="3753"/>
                  <a:chExt cx="45" cy="23"/>
                </a:xfrm>
              </p:grpSpPr>
              <p:sp>
                <p:nvSpPr>
                  <p:cNvPr id="68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26" name="Group 2466"/>
                <p:cNvGrpSpPr>
                  <a:grpSpLocks/>
                </p:cNvGrpSpPr>
                <p:nvPr/>
              </p:nvGrpSpPr>
              <p:grpSpPr bwMode="auto">
                <a:xfrm>
                  <a:off x="1133" y="3767"/>
                  <a:ext cx="44" cy="23"/>
                  <a:chOff x="1133" y="3767"/>
                  <a:chExt cx="44" cy="23"/>
                </a:xfrm>
              </p:grpSpPr>
              <p:sp>
                <p:nvSpPr>
                  <p:cNvPr id="68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2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2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3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638" name="Group 2481"/>
                <p:cNvGrpSpPr>
                  <a:grpSpLocks/>
                </p:cNvGrpSpPr>
                <p:nvPr/>
              </p:nvGrpSpPr>
              <p:grpSpPr bwMode="auto">
                <a:xfrm>
                  <a:off x="700" y="3535"/>
                  <a:ext cx="49" cy="24"/>
                  <a:chOff x="700" y="3535"/>
                  <a:chExt cx="49" cy="24"/>
                </a:xfrm>
              </p:grpSpPr>
              <p:sp>
                <p:nvSpPr>
                  <p:cNvPr id="67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8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39" name="Group 2485"/>
                <p:cNvGrpSpPr>
                  <a:grpSpLocks/>
                </p:cNvGrpSpPr>
                <p:nvPr/>
              </p:nvGrpSpPr>
              <p:grpSpPr bwMode="auto">
                <a:xfrm>
                  <a:off x="714" y="3551"/>
                  <a:ext cx="49" cy="22"/>
                  <a:chOff x="714" y="3551"/>
                  <a:chExt cx="49" cy="22"/>
                </a:xfrm>
              </p:grpSpPr>
              <p:sp>
                <p:nvSpPr>
                  <p:cNvPr id="67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0" name="Group 2489"/>
                <p:cNvGrpSpPr>
                  <a:grpSpLocks/>
                </p:cNvGrpSpPr>
                <p:nvPr/>
              </p:nvGrpSpPr>
              <p:grpSpPr bwMode="auto">
                <a:xfrm>
                  <a:off x="728" y="3564"/>
                  <a:ext cx="48" cy="23"/>
                  <a:chOff x="728" y="3564"/>
                  <a:chExt cx="48" cy="23"/>
                </a:xfrm>
              </p:grpSpPr>
              <p:sp>
                <p:nvSpPr>
                  <p:cNvPr id="67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1" name="Group 2493"/>
                <p:cNvGrpSpPr>
                  <a:grpSpLocks/>
                </p:cNvGrpSpPr>
                <p:nvPr/>
              </p:nvGrpSpPr>
              <p:grpSpPr bwMode="auto">
                <a:xfrm>
                  <a:off x="742" y="3582"/>
                  <a:ext cx="49" cy="23"/>
                  <a:chOff x="742" y="3582"/>
                  <a:chExt cx="49" cy="23"/>
                </a:xfrm>
              </p:grpSpPr>
              <p:sp>
                <p:nvSpPr>
                  <p:cNvPr id="66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7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2" name="Group 2497"/>
                <p:cNvGrpSpPr>
                  <a:grpSpLocks/>
                </p:cNvGrpSpPr>
                <p:nvPr/>
              </p:nvGrpSpPr>
              <p:grpSpPr bwMode="auto">
                <a:xfrm>
                  <a:off x="752" y="3597"/>
                  <a:ext cx="133" cy="106"/>
                  <a:chOff x="752" y="3597"/>
                  <a:chExt cx="133" cy="106"/>
                </a:xfrm>
              </p:grpSpPr>
              <p:sp>
                <p:nvSpPr>
                  <p:cNvPr id="66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3" name="Group 2501"/>
                <p:cNvGrpSpPr>
                  <a:grpSpLocks/>
                </p:cNvGrpSpPr>
                <p:nvPr/>
              </p:nvGrpSpPr>
              <p:grpSpPr bwMode="auto">
                <a:xfrm>
                  <a:off x="844" y="3694"/>
                  <a:ext cx="48" cy="23"/>
                  <a:chOff x="844" y="3694"/>
                  <a:chExt cx="48" cy="23"/>
                </a:xfrm>
              </p:grpSpPr>
              <p:sp>
                <p:nvSpPr>
                  <p:cNvPr id="66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4" name="Group 2505"/>
                <p:cNvGrpSpPr>
                  <a:grpSpLocks/>
                </p:cNvGrpSpPr>
                <p:nvPr/>
              </p:nvGrpSpPr>
              <p:grpSpPr bwMode="auto">
                <a:xfrm>
                  <a:off x="857" y="3710"/>
                  <a:ext cx="49" cy="22"/>
                  <a:chOff x="857" y="3710"/>
                  <a:chExt cx="49" cy="22"/>
                </a:xfrm>
              </p:grpSpPr>
              <p:sp>
                <p:nvSpPr>
                  <p:cNvPr id="66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6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5" name="Group 2509"/>
                <p:cNvGrpSpPr>
                  <a:grpSpLocks/>
                </p:cNvGrpSpPr>
                <p:nvPr/>
              </p:nvGrpSpPr>
              <p:grpSpPr bwMode="auto">
                <a:xfrm>
                  <a:off x="1086" y="3766"/>
                  <a:ext cx="49" cy="23"/>
                  <a:chOff x="1086" y="3766"/>
                  <a:chExt cx="49" cy="23"/>
                </a:xfrm>
              </p:grpSpPr>
              <p:sp>
                <p:nvSpPr>
                  <p:cNvPr id="65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6" name="Group 2513"/>
                <p:cNvGrpSpPr>
                  <a:grpSpLocks/>
                </p:cNvGrpSpPr>
                <p:nvPr/>
              </p:nvGrpSpPr>
              <p:grpSpPr bwMode="auto">
                <a:xfrm>
                  <a:off x="934" y="3740"/>
                  <a:ext cx="48" cy="23"/>
                  <a:chOff x="934" y="3740"/>
                  <a:chExt cx="48" cy="23"/>
                </a:xfrm>
              </p:grpSpPr>
              <p:sp>
                <p:nvSpPr>
                  <p:cNvPr id="65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647" name="Group 2517"/>
                <p:cNvGrpSpPr>
                  <a:grpSpLocks/>
                </p:cNvGrpSpPr>
                <p:nvPr/>
              </p:nvGrpSpPr>
              <p:grpSpPr bwMode="auto">
                <a:xfrm>
                  <a:off x="943" y="3754"/>
                  <a:ext cx="49" cy="23"/>
                  <a:chOff x="943" y="3754"/>
                  <a:chExt cx="49" cy="23"/>
                </a:xfrm>
              </p:grpSpPr>
              <p:sp>
                <p:nvSpPr>
                  <p:cNvPr id="65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64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4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65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5" name="Group 2524"/>
              <p:cNvGrpSpPr>
                <a:grpSpLocks/>
              </p:cNvGrpSpPr>
              <p:nvPr/>
            </p:nvGrpSpPr>
            <p:grpSpPr bwMode="auto">
              <a:xfrm>
                <a:off x="920" y="3821"/>
                <a:ext cx="413" cy="50"/>
                <a:chOff x="920" y="3821"/>
                <a:chExt cx="413" cy="50"/>
              </a:xfrm>
            </p:grpSpPr>
            <p:sp>
              <p:nvSpPr>
                <p:cNvPr id="56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546" name="Group 2529"/>
              <p:cNvGrpSpPr>
                <a:grpSpLocks/>
              </p:cNvGrpSpPr>
              <p:nvPr/>
            </p:nvGrpSpPr>
            <p:grpSpPr bwMode="auto">
              <a:xfrm>
                <a:off x="1227" y="3477"/>
                <a:ext cx="508" cy="321"/>
                <a:chOff x="1227" y="3477"/>
                <a:chExt cx="508" cy="321"/>
              </a:xfrm>
            </p:grpSpPr>
            <p:sp>
              <p:nvSpPr>
                <p:cNvPr id="54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4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5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56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56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984" name="Group 2096"/>
            <p:cNvGrpSpPr>
              <a:grpSpLocks/>
            </p:cNvGrpSpPr>
            <p:nvPr/>
          </p:nvGrpSpPr>
          <p:grpSpPr bwMode="auto">
            <a:xfrm>
              <a:off x="5795963" y="1125538"/>
              <a:ext cx="431800" cy="330200"/>
              <a:chOff x="624" y="2968"/>
              <a:chExt cx="1331" cy="920"/>
            </a:xfrm>
          </p:grpSpPr>
          <p:sp>
            <p:nvSpPr>
              <p:cNvPr id="985"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6"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7"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8"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89"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0"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1"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2"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3"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4"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5"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996"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997" name="Group 2109"/>
              <p:cNvGrpSpPr>
                <a:grpSpLocks/>
              </p:cNvGrpSpPr>
              <p:nvPr/>
            </p:nvGrpSpPr>
            <p:grpSpPr bwMode="auto">
              <a:xfrm>
                <a:off x="700" y="3526"/>
                <a:ext cx="515" cy="270"/>
                <a:chOff x="700" y="3526"/>
                <a:chExt cx="515" cy="270"/>
              </a:xfrm>
            </p:grpSpPr>
            <p:grpSp>
              <p:nvGrpSpPr>
                <p:cNvPr id="1023" name="Group 2110"/>
                <p:cNvGrpSpPr>
                  <a:grpSpLocks/>
                </p:cNvGrpSpPr>
                <p:nvPr/>
              </p:nvGrpSpPr>
              <p:grpSpPr bwMode="auto">
                <a:xfrm>
                  <a:off x="737" y="3534"/>
                  <a:ext cx="49" cy="23"/>
                  <a:chOff x="737" y="3534"/>
                  <a:chExt cx="49" cy="23"/>
                </a:xfrm>
              </p:grpSpPr>
              <p:sp>
                <p:nvSpPr>
                  <p:cNvPr id="1434"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5"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6"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24" name="Group 2114"/>
                <p:cNvGrpSpPr>
                  <a:grpSpLocks/>
                </p:cNvGrpSpPr>
                <p:nvPr/>
              </p:nvGrpSpPr>
              <p:grpSpPr bwMode="auto">
                <a:xfrm>
                  <a:off x="748" y="3547"/>
                  <a:ext cx="50" cy="23"/>
                  <a:chOff x="748" y="3547"/>
                  <a:chExt cx="50" cy="23"/>
                </a:xfrm>
              </p:grpSpPr>
              <p:sp>
                <p:nvSpPr>
                  <p:cNvPr id="1431"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2"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3"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25"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6"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7"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8"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29" name="Group 2122"/>
                <p:cNvGrpSpPr>
                  <a:grpSpLocks/>
                </p:cNvGrpSpPr>
                <p:nvPr/>
              </p:nvGrpSpPr>
              <p:grpSpPr bwMode="auto">
                <a:xfrm>
                  <a:off x="872" y="3547"/>
                  <a:ext cx="50" cy="23"/>
                  <a:chOff x="872" y="3547"/>
                  <a:chExt cx="50" cy="23"/>
                </a:xfrm>
              </p:grpSpPr>
              <p:sp>
                <p:nvSpPr>
                  <p:cNvPr id="1428"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9"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0"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0" name="Group 2126"/>
                <p:cNvGrpSpPr>
                  <a:grpSpLocks/>
                </p:cNvGrpSpPr>
                <p:nvPr/>
              </p:nvGrpSpPr>
              <p:grpSpPr bwMode="auto">
                <a:xfrm>
                  <a:off x="885" y="3559"/>
                  <a:ext cx="50" cy="23"/>
                  <a:chOff x="885" y="3559"/>
                  <a:chExt cx="50" cy="23"/>
                </a:xfrm>
              </p:grpSpPr>
              <p:sp>
                <p:nvSpPr>
                  <p:cNvPr id="1425"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6"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7"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1" name="Group 2130"/>
                <p:cNvGrpSpPr>
                  <a:grpSpLocks/>
                </p:cNvGrpSpPr>
                <p:nvPr/>
              </p:nvGrpSpPr>
              <p:grpSpPr bwMode="auto">
                <a:xfrm>
                  <a:off x="898" y="3571"/>
                  <a:ext cx="49" cy="23"/>
                  <a:chOff x="898" y="3571"/>
                  <a:chExt cx="49" cy="23"/>
                </a:xfrm>
              </p:grpSpPr>
              <p:sp>
                <p:nvSpPr>
                  <p:cNvPr id="1422"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3"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4"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2" name="Group 2134"/>
                <p:cNvGrpSpPr>
                  <a:grpSpLocks/>
                </p:cNvGrpSpPr>
                <p:nvPr/>
              </p:nvGrpSpPr>
              <p:grpSpPr bwMode="auto">
                <a:xfrm>
                  <a:off x="911" y="3585"/>
                  <a:ext cx="49" cy="23"/>
                  <a:chOff x="911" y="3585"/>
                  <a:chExt cx="49" cy="23"/>
                </a:xfrm>
              </p:grpSpPr>
              <p:sp>
                <p:nvSpPr>
                  <p:cNvPr id="1419"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0"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21"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3" name="Group 2138"/>
                <p:cNvGrpSpPr>
                  <a:grpSpLocks/>
                </p:cNvGrpSpPr>
                <p:nvPr/>
              </p:nvGrpSpPr>
              <p:grpSpPr bwMode="auto">
                <a:xfrm>
                  <a:off x="923" y="3600"/>
                  <a:ext cx="99" cy="73"/>
                  <a:chOff x="923" y="3600"/>
                  <a:chExt cx="99" cy="73"/>
                </a:xfrm>
              </p:grpSpPr>
              <p:grpSp>
                <p:nvGrpSpPr>
                  <p:cNvPr id="1399" name="Group 2139"/>
                  <p:cNvGrpSpPr>
                    <a:grpSpLocks/>
                  </p:cNvGrpSpPr>
                  <p:nvPr/>
                </p:nvGrpSpPr>
                <p:grpSpPr bwMode="auto">
                  <a:xfrm>
                    <a:off x="923" y="3600"/>
                    <a:ext cx="49" cy="23"/>
                    <a:chOff x="923" y="3600"/>
                    <a:chExt cx="49" cy="23"/>
                  </a:xfrm>
                </p:grpSpPr>
                <p:sp>
                  <p:nvSpPr>
                    <p:cNvPr id="1416"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7"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8"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0" name="Group 2143"/>
                  <p:cNvGrpSpPr>
                    <a:grpSpLocks/>
                  </p:cNvGrpSpPr>
                  <p:nvPr/>
                </p:nvGrpSpPr>
                <p:grpSpPr bwMode="auto">
                  <a:xfrm>
                    <a:off x="935" y="3612"/>
                    <a:ext cx="48" cy="23"/>
                    <a:chOff x="935" y="3612"/>
                    <a:chExt cx="48" cy="23"/>
                  </a:xfrm>
                </p:grpSpPr>
                <p:sp>
                  <p:nvSpPr>
                    <p:cNvPr id="1413"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4"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5"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1" name="Group 2147"/>
                  <p:cNvGrpSpPr>
                    <a:grpSpLocks/>
                  </p:cNvGrpSpPr>
                  <p:nvPr/>
                </p:nvGrpSpPr>
                <p:grpSpPr bwMode="auto">
                  <a:xfrm>
                    <a:off x="947" y="3625"/>
                    <a:ext cx="50" cy="22"/>
                    <a:chOff x="947" y="3625"/>
                    <a:chExt cx="50" cy="22"/>
                  </a:xfrm>
                </p:grpSpPr>
                <p:sp>
                  <p:nvSpPr>
                    <p:cNvPr id="1410"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1"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12"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2" name="Group 2151"/>
                  <p:cNvGrpSpPr>
                    <a:grpSpLocks/>
                  </p:cNvGrpSpPr>
                  <p:nvPr/>
                </p:nvGrpSpPr>
                <p:grpSpPr bwMode="auto">
                  <a:xfrm>
                    <a:off x="960" y="3637"/>
                    <a:ext cx="50" cy="23"/>
                    <a:chOff x="960" y="3637"/>
                    <a:chExt cx="50" cy="23"/>
                  </a:xfrm>
                </p:grpSpPr>
                <p:sp>
                  <p:nvSpPr>
                    <p:cNvPr id="1407"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8"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9"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03" name="Group 2155"/>
                  <p:cNvGrpSpPr>
                    <a:grpSpLocks/>
                  </p:cNvGrpSpPr>
                  <p:nvPr/>
                </p:nvGrpSpPr>
                <p:grpSpPr bwMode="auto">
                  <a:xfrm>
                    <a:off x="973" y="3650"/>
                    <a:ext cx="49" cy="23"/>
                    <a:chOff x="973" y="3650"/>
                    <a:chExt cx="49" cy="23"/>
                  </a:xfrm>
                </p:grpSpPr>
                <p:sp>
                  <p:nvSpPr>
                    <p:cNvPr id="1404"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5"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06"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4" name="Group 2159"/>
                <p:cNvGrpSpPr>
                  <a:grpSpLocks/>
                </p:cNvGrpSpPr>
                <p:nvPr/>
              </p:nvGrpSpPr>
              <p:grpSpPr bwMode="auto">
                <a:xfrm>
                  <a:off x="985" y="3665"/>
                  <a:ext cx="100" cy="73"/>
                  <a:chOff x="985" y="3665"/>
                  <a:chExt cx="100" cy="73"/>
                </a:xfrm>
              </p:grpSpPr>
              <p:grpSp>
                <p:nvGrpSpPr>
                  <p:cNvPr id="1379" name="Group 2160"/>
                  <p:cNvGrpSpPr>
                    <a:grpSpLocks/>
                  </p:cNvGrpSpPr>
                  <p:nvPr/>
                </p:nvGrpSpPr>
                <p:grpSpPr bwMode="auto">
                  <a:xfrm>
                    <a:off x="985" y="3665"/>
                    <a:ext cx="50" cy="23"/>
                    <a:chOff x="985" y="3665"/>
                    <a:chExt cx="50" cy="23"/>
                  </a:xfrm>
                </p:grpSpPr>
                <p:sp>
                  <p:nvSpPr>
                    <p:cNvPr id="1396"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7"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8"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0" name="Group 2164"/>
                  <p:cNvGrpSpPr>
                    <a:grpSpLocks/>
                  </p:cNvGrpSpPr>
                  <p:nvPr/>
                </p:nvGrpSpPr>
                <p:grpSpPr bwMode="auto">
                  <a:xfrm>
                    <a:off x="997" y="3677"/>
                    <a:ext cx="49" cy="23"/>
                    <a:chOff x="997" y="3677"/>
                    <a:chExt cx="49" cy="23"/>
                  </a:xfrm>
                </p:grpSpPr>
                <p:sp>
                  <p:nvSpPr>
                    <p:cNvPr id="1393"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4"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5"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1" name="Group 2168"/>
                  <p:cNvGrpSpPr>
                    <a:grpSpLocks/>
                  </p:cNvGrpSpPr>
                  <p:nvPr/>
                </p:nvGrpSpPr>
                <p:grpSpPr bwMode="auto">
                  <a:xfrm>
                    <a:off x="1010" y="3690"/>
                    <a:ext cx="48" cy="23"/>
                    <a:chOff x="1010" y="3690"/>
                    <a:chExt cx="48" cy="23"/>
                  </a:xfrm>
                </p:grpSpPr>
                <p:sp>
                  <p:nvSpPr>
                    <p:cNvPr id="1390"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1"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92"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2" name="Group 2172"/>
                  <p:cNvGrpSpPr>
                    <a:grpSpLocks/>
                  </p:cNvGrpSpPr>
                  <p:nvPr/>
                </p:nvGrpSpPr>
                <p:grpSpPr bwMode="auto">
                  <a:xfrm>
                    <a:off x="1023" y="3703"/>
                    <a:ext cx="49" cy="22"/>
                    <a:chOff x="1023" y="3703"/>
                    <a:chExt cx="49" cy="22"/>
                  </a:xfrm>
                </p:grpSpPr>
                <p:sp>
                  <p:nvSpPr>
                    <p:cNvPr id="1387"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8"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9"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83" name="Group 2176"/>
                  <p:cNvGrpSpPr>
                    <a:grpSpLocks/>
                  </p:cNvGrpSpPr>
                  <p:nvPr/>
                </p:nvGrpSpPr>
                <p:grpSpPr bwMode="auto">
                  <a:xfrm>
                    <a:off x="1036" y="3716"/>
                    <a:ext cx="49" cy="22"/>
                    <a:chOff x="1036" y="3716"/>
                    <a:chExt cx="49" cy="22"/>
                  </a:xfrm>
                </p:grpSpPr>
                <p:sp>
                  <p:nvSpPr>
                    <p:cNvPr id="1384"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5"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86"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35" name="Group 2180"/>
                <p:cNvGrpSpPr>
                  <a:grpSpLocks/>
                </p:cNvGrpSpPr>
                <p:nvPr/>
              </p:nvGrpSpPr>
              <p:grpSpPr bwMode="auto">
                <a:xfrm>
                  <a:off x="1046" y="3727"/>
                  <a:ext cx="49" cy="23"/>
                  <a:chOff x="1046" y="3727"/>
                  <a:chExt cx="49" cy="23"/>
                </a:xfrm>
              </p:grpSpPr>
              <p:sp>
                <p:nvSpPr>
                  <p:cNvPr id="1376"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7"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8"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6" name="Group 2184"/>
                <p:cNvGrpSpPr>
                  <a:grpSpLocks/>
                </p:cNvGrpSpPr>
                <p:nvPr/>
              </p:nvGrpSpPr>
              <p:grpSpPr bwMode="auto">
                <a:xfrm>
                  <a:off x="1058" y="3739"/>
                  <a:ext cx="50" cy="23"/>
                  <a:chOff x="1058" y="3739"/>
                  <a:chExt cx="50" cy="23"/>
                </a:xfrm>
              </p:grpSpPr>
              <p:sp>
                <p:nvSpPr>
                  <p:cNvPr id="1373"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4"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5"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37" name="Group 2188"/>
                <p:cNvGrpSpPr>
                  <a:grpSpLocks/>
                </p:cNvGrpSpPr>
                <p:nvPr/>
              </p:nvGrpSpPr>
              <p:grpSpPr bwMode="auto">
                <a:xfrm>
                  <a:off x="1072" y="3753"/>
                  <a:ext cx="48" cy="22"/>
                  <a:chOff x="1072" y="3753"/>
                  <a:chExt cx="48" cy="22"/>
                </a:xfrm>
              </p:grpSpPr>
              <p:sp>
                <p:nvSpPr>
                  <p:cNvPr id="1370"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1"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72"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38"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39"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40"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41" name="Group 2195"/>
                <p:cNvGrpSpPr>
                  <a:grpSpLocks/>
                </p:cNvGrpSpPr>
                <p:nvPr/>
              </p:nvGrpSpPr>
              <p:grpSpPr bwMode="auto">
                <a:xfrm>
                  <a:off x="832" y="3547"/>
                  <a:ext cx="49" cy="23"/>
                  <a:chOff x="832" y="3547"/>
                  <a:chExt cx="49" cy="23"/>
                </a:xfrm>
              </p:grpSpPr>
              <p:sp>
                <p:nvSpPr>
                  <p:cNvPr id="1367"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8"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9"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2" name="Group 2199"/>
                <p:cNvGrpSpPr>
                  <a:grpSpLocks/>
                </p:cNvGrpSpPr>
                <p:nvPr/>
              </p:nvGrpSpPr>
              <p:grpSpPr bwMode="auto">
                <a:xfrm>
                  <a:off x="844" y="3560"/>
                  <a:ext cx="49" cy="22"/>
                  <a:chOff x="844" y="3560"/>
                  <a:chExt cx="49" cy="22"/>
                </a:xfrm>
              </p:grpSpPr>
              <p:sp>
                <p:nvSpPr>
                  <p:cNvPr id="1364"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5"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6"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3" name="Group 2203"/>
                <p:cNvGrpSpPr>
                  <a:grpSpLocks/>
                </p:cNvGrpSpPr>
                <p:nvPr/>
              </p:nvGrpSpPr>
              <p:grpSpPr bwMode="auto">
                <a:xfrm>
                  <a:off x="857" y="3572"/>
                  <a:ext cx="50" cy="23"/>
                  <a:chOff x="857" y="3572"/>
                  <a:chExt cx="50" cy="23"/>
                </a:xfrm>
              </p:grpSpPr>
              <p:sp>
                <p:nvSpPr>
                  <p:cNvPr id="1361"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2"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3"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4" name="Group 2207"/>
                <p:cNvGrpSpPr>
                  <a:grpSpLocks/>
                </p:cNvGrpSpPr>
                <p:nvPr/>
              </p:nvGrpSpPr>
              <p:grpSpPr bwMode="auto">
                <a:xfrm>
                  <a:off x="870" y="3585"/>
                  <a:ext cx="48" cy="23"/>
                  <a:chOff x="870" y="3585"/>
                  <a:chExt cx="48" cy="23"/>
                </a:xfrm>
              </p:grpSpPr>
              <p:sp>
                <p:nvSpPr>
                  <p:cNvPr id="1358"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9"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60"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5" name="Group 2211"/>
                <p:cNvGrpSpPr>
                  <a:grpSpLocks/>
                </p:cNvGrpSpPr>
                <p:nvPr/>
              </p:nvGrpSpPr>
              <p:grpSpPr bwMode="auto">
                <a:xfrm>
                  <a:off x="882" y="3600"/>
                  <a:ext cx="100" cy="73"/>
                  <a:chOff x="882" y="3600"/>
                  <a:chExt cx="100" cy="73"/>
                </a:xfrm>
              </p:grpSpPr>
              <p:grpSp>
                <p:nvGrpSpPr>
                  <p:cNvPr id="1338" name="Group 2212"/>
                  <p:cNvGrpSpPr>
                    <a:grpSpLocks/>
                  </p:cNvGrpSpPr>
                  <p:nvPr/>
                </p:nvGrpSpPr>
                <p:grpSpPr bwMode="auto">
                  <a:xfrm>
                    <a:off x="882" y="3600"/>
                    <a:ext cx="49" cy="23"/>
                    <a:chOff x="882" y="3600"/>
                    <a:chExt cx="49" cy="23"/>
                  </a:xfrm>
                </p:grpSpPr>
                <p:sp>
                  <p:nvSpPr>
                    <p:cNvPr id="1355"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6"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7"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39" name="Group 2216"/>
                  <p:cNvGrpSpPr>
                    <a:grpSpLocks/>
                  </p:cNvGrpSpPr>
                  <p:nvPr/>
                </p:nvGrpSpPr>
                <p:grpSpPr bwMode="auto">
                  <a:xfrm>
                    <a:off x="894" y="3612"/>
                    <a:ext cx="49" cy="23"/>
                    <a:chOff x="894" y="3612"/>
                    <a:chExt cx="49" cy="23"/>
                  </a:xfrm>
                </p:grpSpPr>
                <p:sp>
                  <p:nvSpPr>
                    <p:cNvPr id="1352"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3"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4"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0" name="Group 2220"/>
                  <p:cNvGrpSpPr>
                    <a:grpSpLocks/>
                  </p:cNvGrpSpPr>
                  <p:nvPr/>
                </p:nvGrpSpPr>
                <p:grpSpPr bwMode="auto">
                  <a:xfrm>
                    <a:off x="907" y="3625"/>
                    <a:ext cx="49" cy="23"/>
                    <a:chOff x="907" y="3625"/>
                    <a:chExt cx="49" cy="23"/>
                  </a:xfrm>
                </p:grpSpPr>
                <p:sp>
                  <p:nvSpPr>
                    <p:cNvPr id="1349"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0"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51"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1" name="Group 2224"/>
                  <p:cNvGrpSpPr>
                    <a:grpSpLocks/>
                  </p:cNvGrpSpPr>
                  <p:nvPr/>
                </p:nvGrpSpPr>
                <p:grpSpPr bwMode="auto">
                  <a:xfrm>
                    <a:off x="919" y="3638"/>
                    <a:ext cx="49" cy="22"/>
                    <a:chOff x="919" y="3638"/>
                    <a:chExt cx="49" cy="22"/>
                  </a:xfrm>
                </p:grpSpPr>
                <p:sp>
                  <p:nvSpPr>
                    <p:cNvPr id="1346"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7"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8"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42" name="Group 2228"/>
                  <p:cNvGrpSpPr>
                    <a:grpSpLocks/>
                  </p:cNvGrpSpPr>
                  <p:nvPr/>
                </p:nvGrpSpPr>
                <p:grpSpPr bwMode="auto">
                  <a:xfrm>
                    <a:off x="932" y="3651"/>
                    <a:ext cx="50" cy="22"/>
                    <a:chOff x="932" y="3651"/>
                    <a:chExt cx="50" cy="22"/>
                  </a:xfrm>
                </p:grpSpPr>
                <p:sp>
                  <p:nvSpPr>
                    <p:cNvPr id="1343"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4"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45"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6" name="Group 2232"/>
                <p:cNvGrpSpPr>
                  <a:grpSpLocks/>
                </p:cNvGrpSpPr>
                <p:nvPr/>
              </p:nvGrpSpPr>
              <p:grpSpPr bwMode="auto">
                <a:xfrm>
                  <a:off x="944" y="3665"/>
                  <a:ext cx="99" cy="74"/>
                  <a:chOff x="944" y="3665"/>
                  <a:chExt cx="99" cy="74"/>
                </a:xfrm>
              </p:grpSpPr>
              <p:grpSp>
                <p:nvGrpSpPr>
                  <p:cNvPr id="1318" name="Group 2233"/>
                  <p:cNvGrpSpPr>
                    <a:grpSpLocks/>
                  </p:cNvGrpSpPr>
                  <p:nvPr/>
                </p:nvGrpSpPr>
                <p:grpSpPr bwMode="auto">
                  <a:xfrm>
                    <a:off x="944" y="3665"/>
                    <a:ext cx="49" cy="23"/>
                    <a:chOff x="944" y="3665"/>
                    <a:chExt cx="49" cy="23"/>
                  </a:xfrm>
                </p:grpSpPr>
                <p:sp>
                  <p:nvSpPr>
                    <p:cNvPr id="1335"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6"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7"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19" name="Group 2237"/>
                  <p:cNvGrpSpPr>
                    <a:grpSpLocks/>
                  </p:cNvGrpSpPr>
                  <p:nvPr/>
                </p:nvGrpSpPr>
                <p:grpSpPr bwMode="auto">
                  <a:xfrm>
                    <a:off x="957" y="3678"/>
                    <a:ext cx="48" cy="23"/>
                    <a:chOff x="957" y="3678"/>
                    <a:chExt cx="48" cy="23"/>
                  </a:xfrm>
                </p:grpSpPr>
                <p:sp>
                  <p:nvSpPr>
                    <p:cNvPr id="1332"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3"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4"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0" name="Group 2241"/>
                  <p:cNvGrpSpPr>
                    <a:grpSpLocks/>
                  </p:cNvGrpSpPr>
                  <p:nvPr/>
                </p:nvGrpSpPr>
                <p:grpSpPr bwMode="auto">
                  <a:xfrm>
                    <a:off x="969" y="3690"/>
                    <a:ext cx="49" cy="23"/>
                    <a:chOff x="969" y="3690"/>
                    <a:chExt cx="49" cy="23"/>
                  </a:xfrm>
                </p:grpSpPr>
                <p:sp>
                  <p:nvSpPr>
                    <p:cNvPr id="1329"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0"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31"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1" name="Group 2245"/>
                  <p:cNvGrpSpPr>
                    <a:grpSpLocks/>
                  </p:cNvGrpSpPr>
                  <p:nvPr/>
                </p:nvGrpSpPr>
                <p:grpSpPr bwMode="auto">
                  <a:xfrm>
                    <a:off x="982" y="3703"/>
                    <a:ext cx="49" cy="23"/>
                    <a:chOff x="982" y="3703"/>
                    <a:chExt cx="49" cy="23"/>
                  </a:xfrm>
                </p:grpSpPr>
                <p:sp>
                  <p:nvSpPr>
                    <p:cNvPr id="1326"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7"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8"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322" name="Group 2249"/>
                  <p:cNvGrpSpPr>
                    <a:grpSpLocks/>
                  </p:cNvGrpSpPr>
                  <p:nvPr/>
                </p:nvGrpSpPr>
                <p:grpSpPr bwMode="auto">
                  <a:xfrm>
                    <a:off x="995" y="3716"/>
                    <a:ext cx="48" cy="23"/>
                    <a:chOff x="995" y="3716"/>
                    <a:chExt cx="48" cy="23"/>
                  </a:xfrm>
                </p:grpSpPr>
                <p:sp>
                  <p:nvSpPr>
                    <p:cNvPr id="1323"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4"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25"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47" name="Group 2253"/>
                <p:cNvGrpSpPr>
                  <a:grpSpLocks/>
                </p:cNvGrpSpPr>
                <p:nvPr/>
              </p:nvGrpSpPr>
              <p:grpSpPr bwMode="auto">
                <a:xfrm>
                  <a:off x="1005" y="3727"/>
                  <a:ext cx="49" cy="23"/>
                  <a:chOff x="1005" y="3727"/>
                  <a:chExt cx="49" cy="23"/>
                </a:xfrm>
              </p:grpSpPr>
              <p:sp>
                <p:nvSpPr>
                  <p:cNvPr id="1315"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6"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7"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8" name="Group 2257"/>
                <p:cNvGrpSpPr>
                  <a:grpSpLocks/>
                </p:cNvGrpSpPr>
                <p:nvPr/>
              </p:nvGrpSpPr>
              <p:grpSpPr bwMode="auto">
                <a:xfrm>
                  <a:off x="1018" y="3740"/>
                  <a:ext cx="49" cy="22"/>
                  <a:chOff x="1018" y="3740"/>
                  <a:chExt cx="49" cy="22"/>
                </a:xfrm>
              </p:grpSpPr>
              <p:sp>
                <p:nvSpPr>
                  <p:cNvPr id="1312"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3"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4"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49" name="Group 2261"/>
                <p:cNvGrpSpPr>
                  <a:grpSpLocks/>
                </p:cNvGrpSpPr>
                <p:nvPr/>
              </p:nvGrpSpPr>
              <p:grpSpPr bwMode="auto">
                <a:xfrm>
                  <a:off x="1030" y="3753"/>
                  <a:ext cx="49" cy="23"/>
                  <a:chOff x="1030" y="3753"/>
                  <a:chExt cx="49" cy="23"/>
                </a:xfrm>
              </p:grpSpPr>
              <p:sp>
                <p:nvSpPr>
                  <p:cNvPr id="1309"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0"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11"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50"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1"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52"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53" name="Group 2268"/>
                <p:cNvGrpSpPr>
                  <a:grpSpLocks/>
                </p:cNvGrpSpPr>
                <p:nvPr/>
              </p:nvGrpSpPr>
              <p:grpSpPr bwMode="auto">
                <a:xfrm>
                  <a:off x="790" y="3547"/>
                  <a:ext cx="49" cy="23"/>
                  <a:chOff x="790" y="3547"/>
                  <a:chExt cx="49" cy="23"/>
                </a:xfrm>
              </p:grpSpPr>
              <p:sp>
                <p:nvSpPr>
                  <p:cNvPr id="1306"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7"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8"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4" name="Group 2272"/>
                <p:cNvGrpSpPr>
                  <a:grpSpLocks/>
                </p:cNvGrpSpPr>
                <p:nvPr/>
              </p:nvGrpSpPr>
              <p:grpSpPr bwMode="auto">
                <a:xfrm>
                  <a:off x="803" y="3560"/>
                  <a:ext cx="49" cy="22"/>
                  <a:chOff x="803" y="3560"/>
                  <a:chExt cx="49" cy="22"/>
                </a:xfrm>
              </p:grpSpPr>
              <p:sp>
                <p:nvSpPr>
                  <p:cNvPr id="1303"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4"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5"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5" name="Group 2276"/>
                <p:cNvGrpSpPr>
                  <a:grpSpLocks/>
                </p:cNvGrpSpPr>
                <p:nvPr/>
              </p:nvGrpSpPr>
              <p:grpSpPr bwMode="auto">
                <a:xfrm>
                  <a:off x="815" y="3572"/>
                  <a:ext cx="50" cy="23"/>
                  <a:chOff x="815" y="3572"/>
                  <a:chExt cx="50" cy="23"/>
                </a:xfrm>
              </p:grpSpPr>
              <p:sp>
                <p:nvSpPr>
                  <p:cNvPr id="1300"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1"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302"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6" name="Group 2280"/>
                <p:cNvGrpSpPr>
                  <a:grpSpLocks/>
                </p:cNvGrpSpPr>
                <p:nvPr/>
              </p:nvGrpSpPr>
              <p:grpSpPr bwMode="auto">
                <a:xfrm>
                  <a:off x="828" y="3585"/>
                  <a:ext cx="49" cy="23"/>
                  <a:chOff x="828" y="3585"/>
                  <a:chExt cx="49" cy="23"/>
                </a:xfrm>
              </p:grpSpPr>
              <p:sp>
                <p:nvSpPr>
                  <p:cNvPr id="1297"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8"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9"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57" name="Group 2284"/>
                <p:cNvGrpSpPr>
                  <a:grpSpLocks/>
                </p:cNvGrpSpPr>
                <p:nvPr/>
              </p:nvGrpSpPr>
              <p:grpSpPr bwMode="auto">
                <a:xfrm>
                  <a:off x="840" y="3600"/>
                  <a:ext cx="100" cy="73"/>
                  <a:chOff x="840" y="3600"/>
                  <a:chExt cx="100" cy="73"/>
                </a:xfrm>
              </p:grpSpPr>
              <p:grpSp>
                <p:nvGrpSpPr>
                  <p:cNvPr id="1277" name="Group 2285"/>
                  <p:cNvGrpSpPr>
                    <a:grpSpLocks/>
                  </p:cNvGrpSpPr>
                  <p:nvPr/>
                </p:nvGrpSpPr>
                <p:grpSpPr bwMode="auto">
                  <a:xfrm>
                    <a:off x="840" y="3600"/>
                    <a:ext cx="49" cy="23"/>
                    <a:chOff x="840" y="3600"/>
                    <a:chExt cx="49" cy="23"/>
                  </a:xfrm>
                </p:grpSpPr>
                <p:sp>
                  <p:nvSpPr>
                    <p:cNvPr id="1294"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5"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6"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8" name="Group 2289"/>
                  <p:cNvGrpSpPr>
                    <a:grpSpLocks/>
                  </p:cNvGrpSpPr>
                  <p:nvPr/>
                </p:nvGrpSpPr>
                <p:grpSpPr bwMode="auto">
                  <a:xfrm>
                    <a:off x="853" y="3612"/>
                    <a:ext cx="48" cy="23"/>
                    <a:chOff x="853" y="3612"/>
                    <a:chExt cx="48" cy="23"/>
                  </a:xfrm>
                </p:grpSpPr>
                <p:sp>
                  <p:nvSpPr>
                    <p:cNvPr id="1291"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2"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3"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79" name="Group 2293"/>
                  <p:cNvGrpSpPr>
                    <a:grpSpLocks/>
                  </p:cNvGrpSpPr>
                  <p:nvPr/>
                </p:nvGrpSpPr>
                <p:grpSpPr bwMode="auto">
                  <a:xfrm>
                    <a:off x="865" y="3625"/>
                    <a:ext cx="49" cy="23"/>
                    <a:chOff x="865" y="3625"/>
                    <a:chExt cx="49" cy="23"/>
                  </a:xfrm>
                </p:grpSpPr>
                <p:sp>
                  <p:nvSpPr>
                    <p:cNvPr id="1288"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9"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90"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0" name="Group 2297"/>
                  <p:cNvGrpSpPr>
                    <a:grpSpLocks/>
                  </p:cNvGrpSpPr>
                  <p:nvPr/>
                </p:nvGrpSpPr>
                <p:grpSpPr bwMode="auto">
                  <a:xfrm>
                    <a:off x="878" y="3638"/>
                    <a:ext cx="49" cy="22"/>
                    <a:chOff x="878" y="3638"/>
                    <a:chExt cx="49" cy="22"/>
                  </a:xfrm>
                </p:grpSpPr>
                <p:sp>
                  <p:nvSpPr>
                    <p:cNvPr id="1285"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6"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7"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81" name="Group 2301"/>
                  <p:cNvGrpSpPr>
                    <a:grpSpLocks/>
                  </p:cNvGrpSpPr>
                  <p:nvPr/>
                </p:nvGrpSpPr>
                <p:grpSpPr bwMode="auto">
                  <a:xfrm>
                    <a:off x="890" y="3651"/>
                    <a:ext cx="50" cy="22"/>
                    <a:chOff x="890" y="3651"/>
                    <a:chExt cx="50" cy="22"/>
                  </a:xfrm>
                </p:grpSpPr>
                <p:sp>
                  <p:nvSpPr>
                    <p:cNvPr id="1282"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3"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84"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8" name="Group 2305"/>
                <p:cNvGrpSpPr>
                  <a:grpSpLocks/>
                </p:cNvGrpSpPr>
                <p:nvPr/>
              </p:nvGrpSpPr>
              <p:grpSpPr bwMode="auto">
                <a:xfrm>
                  <a:off x="903" y="3665"/>
                  <a:ext cx="99" cy="74"/>
                  <a:chOff x="903" y="3665"/>
                  <a:chExt cx="99" cy="74"/>
                </a:xfrm>
              </p:grpSpPr>
              <p:grpSp>
                <p:nvGrpSpPr>
                  <p:cNvPr id="1257" name="Group 2306"/>
                  <p:cNvGrpSpPr>
                    <a:grpSpLocks/>
                  </p:cNvGrpSpPr>
                  <p:nvPr/>
                </p:nvGrpSpPr>
                <p:grpSpPr bwMode="auto">
                  <a:xfrm>
                    <a:off x="903" y="3665"/>
                    <a:ext cx="49" cy="23"/>
                    <a:chOff x="903" y="3665"/>
                    <a:chExt cx="49" cy="23"/>
                  </a:xfrm>
                </p:grpSpPr>
                <p:sp>
                  <p:nvSpPr>
                    <p:cNvPr id="1274"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5"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6"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8" name="Group 2310"/>
                  <p:cNvGrpSpPr>
                    <a:grpSpLocks/>
                  </p:cNvGrpSpPr>
                  <p:nvPr/>
                </p:nvGrpSpPr>
                <p:grpSpPr bwMode="auto">
                  <a:xfrm>
                    <a:off x="914" y="3678"/>
                    <a:ext cx="49" cy="23"/>
                    <a:chOff x="914" y="3678"/>
                    <a:chExt cx="49" cy="23"/>
                  </a:xfrm>
                </p:grpSpPr>
                <p:sp>
                  <p:nvSpPr>
                    <p:cNvPr id="1271"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2"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3"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59" name="Group 2314"/>
                  <p:cNvGrpSpPr>
                    <a:grpSpLocks/>
                  </p:cNvGrpSpPr>
                  <p:nvPr/>
                </p:nvGrpSpPr>
                <p:grpSpPr bwMode="auto">
                  <a:xfrm>
                    <a:off x="928" y="3690"/>
                    <a:ext cx="48" cy="23"/>
                    <a:chOff x="928" y="3690"/>
                    <a:chExt cx="48" cy="23"/>
                  </a:xfrm>
                </p:grpSpPr>
                <p:sp>
                  <p:nvSpPr>
                    <p:cNvPr id="1268"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9"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70"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0" name="Group 2318"/>
                  <p:cNvGrpSpPr>
                    <a:grpSpLocks/>
                  </p:cNvGrpSpPr>
                  <p:nvPr/>
                </p:nvGrpSpPr>
                <p:grpSpPr bwMode="auto">
                  <a:xfrm>
                    <a:off x="940" y="3703"/>
                    <a:ext cx="49" cy="23"/>
                    <a:chOff x="940" y="3703"/>
                    <a:chExt cx="49" cy="23"/>
                  </a:xfrm>
                </p:grpSpPr>
                <p:sp>
                  <p:nvSpPr>
                    <p:cNvPr id="1265"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6"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7"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61" name="Group 2322"/>
                  <p:cNvGrpSpPr>
                    <a:grpSpLocks/>
                  </p:cNvGrpSpPr>
                  <p:nvPr/>
                </p:nvGrpSpPr>
                <p:grpSpPr bwMode="auto">
                  <a:xfrm>
                    <a:off x="953" y="3716"/>
                    <a:ext cx="49" cy="23"/>
                    <a:chOff x="953" y="3716"/>
                    <a:chExt cx="49" cy="23"/>
                  </a:xfrm>
                </p:grpSpPr>
                <p:sp>
                  <p:nvSpPr>
                    <p:cNvPr id="1262"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3"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64"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59" name="Group 2326"/>
                <p:cNvGrpSpPr>
                  <a:grpSpLocks/>
                </p:cNvGrpSpPr>
                <p:nvPr/>
              </p:nvGrpSpPr>
              <p:grpSpPr bwMode="auto">
                <a:xfrm>
                  <a:off x="963" y="3727"/>
                  <a:ext cx="49" cy="23"/>
                  <a:chOff x="963" y="3727"/>
                  <a:chExt cx="49" cy="23"/>
                </a:xfrm>
              </p:grpSpPr>
              <p:sp>
                <p:nvSpPr>
                  <p:cNvPr id="1254"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5"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6"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0" name="Group 2330"/>
                <p:cNvGrpSpPr>
                  <a:grpSpLocks/>
                </p:cNvGrpSpPr>
                <p:nvPr/>
              </p:nvGrpSpPr>
              <p:grpSpPr bwMode="auto">
                <a:xfrm>
                  <a:off x="976" y="3740"/>
                  <a:ext cx="50" cy="22"/>
                  <a:chOff x="976" y="3740"/>
                  <a:chExt cx="50" cy="22"/>
                </a:xfrm>
              </p:grpSpPr>
              <p:sp>
                <p:nvSpPr>
                  <p:cNvPr id="1251"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2"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3"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1" name="Group 2334"/>
                <p:cNvGrpSpPr>
                  <a:grpSpLocks/>
                </p:cNvGrpSpPr>
                <p:nvPr/>
              </p:nvGrpSpPr>
              <p:grpSpPr bwMode="auto">
                <a:xfrm>
                  <a:off x="761" y="3560"/>
                  <a:ext cx="50" cy="22"/>
                  <a:chOff x="761" y="3560"/>
                  <a:chExt cx="50" cy="22"/>
                </a:xfrm>
              </p:grpSpPr>
              <p:sp>
                <p:nvSpPr>
                  <p:cNvPr id="1248"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9"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50"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2" name="Group 2338"/>
                <p:cNvGrpSpPr>
                  <a:grpSpLocks/>
                </p:cNvGrpSpPr>
                <p:nvPr/>
              </p:nvGrpSpPr>
              <p:grpSpPr bwMode="auto">
                <a:xfrm>
                  <a:off x="774" y="3572"/>
                  <a:ext cx="49" cy="23"/>
                  <a:chOff x="774" y="3572"/>
                  <a:chExt cx="49" cy="23"/>
                </a:xfrm>
              </p:grpSpPr>
              <p:sp>
                <p:nvSpPr>
                  <p:cNvPr id="1245"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6"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7"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3" name="Group 2342"/>
                <p:cNvGrpSpPr>
                  <a:grpSpLocks/>
                </p:cNvGrpSpPr>
                <p:nvPr/>
              </p:nvGrpSpPr>
              <p:grpSpPr bwMode="auto">
                <a:xfrm>
                  <a:off x="787" y="3585"/>
                  <a:ext cx="49" cy="23"/>
                  <a:chOff x="787" y="3585"/>
                  <a:chExt cx="49" cy="23"/>
                </a:xfrm>
              </p:grpSpPr>
              <p:sp>
                <p:nvSpPr>
                  <p:cNvPr id="1242"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3"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4"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4" name="Group 2346"/>
                <p:cNvGrpSpPr>
                  <a:grpSpLocks/>
                </p:cNvGrpSpPr>
                <p:nvPr/>
              </p:nvGrpSpPr>
              <p:grpSpPr bwMode="auto">
                <a:xfrm>
                  <a:off x="799" y="3600"/>
                  <a:ext cx="99" cy="73"/>
                  <a:chOff x="799" y="3600"/>
                  <a:chExt cx="99" cy="73"/>
                </a:xfrm>
              </p:grpSpPr>
              <p:grpSp>
                <p:nvGrpSpPr>
                  <p:cNvPr id="1222" name="Group 2347"/>
                  <p:cNvGrpSpPr>
                    <a:grpSpLocks/>
                  </p:cNvGrpSpPr>
                  <p:nvPr/>
                </p:nvGrpSpPr>
                <p:grpSpPr bwMode="auto">
                  <a:xfrm>
                    <a:off x="799" y="3600"/>
                    <a:ext cx="48" cy="23"/>
                    <a:chOff x="799" y="3600"/>
                    <a:chExt cx="48" cy="23"/>
                  </a:xfrm>
                </p:grpSpPr>
                <p:sp>
                  <p:nvSpPr>
                    <p:cNvPr id="1239"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0"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41"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3" name="Group 2351"/>
                  <p:cNvGrpSpPr>
                    <a:grpSpLocks/>
                  </p:cNvGrpSpPr>
                  <p:nvPr/>
                </p:nvGrpSpPr>
                <p:grpSpPr bwMode="auto">
                  <a:xfrm>
                    <a:off x="811" y="3612"/>
                    <a:ext cx="48" cy="23"/>
                    <a:chOff x="811" y="3612"/>
                    <a:chExt cx="48" cy="23"/>
                  </a:xfrm>
                </p:grpSpPr>
                <p:sp>
                  <p:nvSpPr>
                    <p:cNvPr id="1236"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7"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8"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4" name="Group 2355"/>
                  <p:cNvGrpSpPr>
                    <a:grpSpLocks/>
                  </p:cNvGrpSpPr>
                  <p:nvPr/>
                </p:nvGrpSpPr>
                <p:grpSpPr bwMode="auto">
                  <a:xfrm>
                    <a:off x="823" y="3625"/>
                    <a:ext cx="49" cy="23"/>
                    <a:chOff x="823" y="3625"/>
                    <a:chExt cx="49" cy="23"/>
                  </a:xfrm>
                </p:grpSpPr>
                <p:sp>
                  <p:nvSpPr>
                    <p:cNvPr id="1233"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4"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5"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5" name="Group 2359"/>
                  <p:cNvGrpSpPr>
                    <a:grpSpLocks/>
                  </p:cNvGrpSpPr>
                  <p:nvPr/>
                </p:nvGrpSpPr>
                <p:grpSpPr bwMode="auto">
                  <a:xfrm>
                    <a:off x="836" y="3638"/>
                    <a:ext cx="50" cy="22"/>
                    <a:chOff x="836" y="3638"/>
                    <a:chExt cx="50" cy="22"/>
                  </a:xfrm>
                </p:grpSpPr>
                <p:sp>
                  <p:nvSpPr>
                    <p:cNvPr id="1230"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1"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32"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26" name="Group 2363"/>
                  <p:cNvGrpSpPr>
                    <a:grpSpLocks/>
                  </p:cNvGrpSpPr>
                  <p:nvPr/>
                </p:nvGrpSpPr>
                <p:grpSpPr bwMode="auto">
                  <a:xfrm>
                    <a:off x="849" y="3651"/>
                    <a:ext cx="49" cy="22"/>
                    <a:chOff x="849" y="3651"/>
                    <a:chExt cx="49" cy="22"/>
                  </a:xfrm>
                </p:grpSpPr>
                <p:sp>
                  <p:nvSpPr>
                    <p:cNvPr id="1227"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8"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9"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5" name="Group 2367"/>
                <p:cNvGrpSpPr>
                  <a:grpSpLocks/>
                </p:cNvGrpSpPr>
                <p:nvPr/>
              </p:nvGrpSpPr>
              <p:grpSpPr bwMode="auto">
                <a:xfrm>
                  <a:off x="861" y="3665"/>
                  <a:ext cx="99" cy="74"/>
                  <a:chOff x="861" y="3665"/>
                  <a:chExt cx="99" cy="74"/>
                </a:xfrm>
              </p:grpSpPr>
              <p:grpSp>
                <p:nvGrpSpPr>
                  <p:cNvPr id="1202" name="Group 2368"/>
                  <p:cNvGrpSpPr>
                    <a:grpSpLocks/>
                  </p:cNvGrpSpPr>
                  <p:nvPr/>
                </p:nvGrpSpPr>
                <p:grpSpPr bwMode="auto">
                  <a:xfrm>
                    <a:off x="861" y="3665"/>
                    <a:ext cx="50" cy="23"/>
                    <a:chOff x="861" y="3665"/>
                    <a:chExt cx="50" cy="23"/>
                  </a:xfrm>
                </p:grpSpPr>
                <p:sp>
                  <p:nvSpPr>
                    <p:cNvPr id="1219"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0"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21"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3" name="Group 2372"/>
                  <p:cNvGrpSpPr>
                    <a:grpSpLocks/>
                  </p:cNvGrpSpPr>
                  <p:nvPr/>
                </p:nvGrpSpPr>
                <p:grpSpPr bwMode="auto">
                  <a:xfrm>
                    <a:off x="873" y="3678"/>
                    <a:ext cx="49" cy="23"/>
                    <a:chOff x="873" y="3678"/>
                    <a:chExt cx="49" cy="23"/>
                  </a:xfrm>
                </p:grpSpPr>
                <p:sp>
                  <p:nvSpPr>
                    <p:cNvPr id="1216"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7"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8"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4" name="Group 2376"/>
                  <p:cNvGrpSpPr>
                    <a:grpSpLocks/>
                  </p:cNvGrpSpPr>
                  <p:nvPr/>
                </p:nvGrpSpPr>
                <p:grpSpPr bwMode="auto">
                  <a:xfrm>
                    <a:off x="886" y="3690"/>
                    <a:ext cx="49" cy="23"/>
                    <a:chOff x="886" y="3690"/>
                    <a:chExt cx="49" cy="23"/>
                  </a:xfrm>
                </p:grpSpPr>
                <p:sp>
                  <p:nvSpPr>
                    <p:cNvPr id="1213"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4"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5"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5" name="Group 2380"/>
                  <p:cNvGrpSpPr>
                    <a:grpSpLocks/>
                  </p:cNvGrpSpPr>
                  <p:nvPr/>
                </p:nvGrpSpPr>
                <p:grpSpPr bwMode="auto">
                  <a:xfrm>
                    <a:off x="899" y="3703"/>
                    <a:ext cx="48" cy="23"/>
                    <a:chOff x="899" y="3703"/>
                    <a:chExt cx="48" cy="23"/>
                  </a:xfrm>
                </p:grpSpPr>
                <p:sp>
                  <p:nvSpPr>
                    <p:cNvPr id="1210"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1"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12"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206" name="Group 2384"/>
                  <p:cNvGrpSpPr>
                    <a:grpSpLocks/>
                  </p:cNvGrpSpPr>
                  <p:nvPr/>
                </p:nvGrpSpPr>
                <p:grpSpPr bwMode="auto">
                  <a:xfrm>
                    <a:off x="912" y="3716"/>
                    <a:ext cx="48" cy="23"/>
                    <a:chOff x="912" y="3716"/>
                    <a:chExt cx="48" cy="23"/>
                  </a:xfrm>
                </p:grpSpPr>
                <p:sp>
                  <p:nvSpPr>
                    <p:cNvPr id="1207"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8"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9"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66" name="Group 2388"/>
                <p:cNvGrpSpPr>
                  <a:grpSpLocks/>
                </p:cNvGrpSpPr>
                <p:nvPr/>
              </p:nvGrpSpPr>
              <p:grpSpPr bwMode="auto">
                <a:xfrm>
                  <a:off x="922" y="3727"/>
                  <a:ext cx="49" cy="23"/>
                  <a:chOff x="922" y="3727"/>
                  <a:chExt cx="49" cy="23"/>
                </a:xfrm>
              </p:grpSpPr>
              <p:sp>
                <p:nvSpPr>
                  <p:cNvPr id="1199"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0"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201"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7" name="Group 2392"/>
                <p:cNvGrpSpPr>
                  <a:grpSpLocks/>
                </p:cNvGrpSpPr>
                <p:nvPr/>
              </p:nvGrpSpPr>
              <p:grpSpPr bwMode="auto">
                <a:xfrm>
                  <a:off x="895" y="3526"/>
                  <a:ext cx="44" cy="23"/>
                  <a:chOff x="895" y="3526"/>
                  <a:chExt cx="44" cy="23"/>
                </a:xfrm>
              </p:grpSpPr>
              <p:sp>
                <p:nvSpPr>
                  <p:cNvPr id="1196"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7"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8"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8" name="Group 2396"/>
                <p:cNvGrpSpPr>
                  <a:grpSpLocks/>
                </p:cNvGrpSpPr>
                <p:nvPr/>
              </p:nvGrpSpPr>
              <p:grpSpPr bwMode="auto">
                <a:xfrm>
                  <a:off x="907" y="3540"/>
                  <a:ext cx="45" cy="22"/>
                  <a:chOff x="907" y="3540"/>
                  <a:chExt cx="45" cy="22"/>
                </a:xfrm>
              </p:grpSpPr>
              <p:sp>
                <p:nvSpPr>
                  <p:cNvPr id="1193"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4"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5"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69" name="Group 2400"/>
                <p:cNvGrpSpPr>
                  <a:grpSpLocks/>
                </p:cNvGrpSpPr>
                <p:nvPr/>
              </p:nvGrpSpPr>
              <p:grpSpPr bwMode="auto">
                <a:xfrm>
                  <a:off x="920" y="3553"/>
                  <a:ext cx="45" cy="23"/>
                  <a:chOff x="920" y="3553"/>
                  <a:chExt cx="45" cy="23"/>
                </a:xfrm>
              </p:grpSpPr>
              <p:sp>
                <p:nvSpPr>
                  <p:cNvPr id="1190"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1"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92"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0" name="Group 2404"/>
                <p:cNvGrpSpPr>
                  <a:grpSpLocks/>
                </p:cNvGrpSpPr>
                <p:nvPr/>
              </p:nvGrpSpPr>
              <p:grpSpPr bwMode="auto">
                <a:xfrm>
                  <a:off x="934" y="3566"/>
                  <a:ext cx="44" cy="23"/>
                  <a:chOff x="934" y="3566"/>
                  <a:chExt cx="44" cy="23"/>
                </a:xfrm>
              </p:grpSpPr>
              <p:sp>
                <p:nvSpPr>
                  <p:cNvPr id="1187"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8"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9"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1" name="Group 2408"/>
                <p:cNvGrpSpPr>
                  <a:grpSpLocks/>
                </p:cNvGrpSpPr>
                <p:nvPr/>
              </p:nvGrpSpPr>
              <p:grpSpPr bwMode="auto">
                <a:xfrm>
                  <a:off x="949" y="3579"/>
                  <a:ext cx="83" cy="63"/>
                  <a:chOff x="949" y="3579"/>
                  <a:chExt cx="83" cy="63"/>
                </a:xfrm>
              </p:grpSpPr>
              <p:grpSp>
                <p:nvGrpSpPr>
                  <p:cNvPr id="1171" name="Group 2409"/>
                  <p:cNvGrpSpPr>
                    <a:grpSpLocks/>
                  </p:cNvGrpSpPr>
                  <p:nvPr/>
                </p:nvGrpSpPr>
                <p:grpSpPr bwMode="auto">
                  <a:xfrm>
                    <a:off x="949" y="3579"/>
                    <a:ext cx="44" cy="23"/>
                    <a:chOff x="949" y="3579"/>
                    <a:chExt cx="44" cy="23"/>
                  </a:xfrm>
                </p:grpSpPr>
                <p:sp>
                  <p:nvSpPr>
                    <p:cNvPr id="1184"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5"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6"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2" name="Group 2413"/>
                  <p:cNvGrpSpPr>
                    <a:grpSpLocks/>
                  </p:cNvGrpSpPr>
                  <p:nvPr/>
                </p:nvGrpSpPr>
                <p:grpSpPr bwMode="auto">
                  <a:xfrm>
                    <a:off x="961" y="3592"/>
                    <a:ext cx="45" cy="23"/>
                    <a:chOff x="961" y="3592"/>
                    <a:chExt cx="45" cy="23"/>
                  </a:xfrm>
                </p:grpSpPr>
                <p:sp>
                  <p:nvSpPr>
                    <p:cNvPr id="1181"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2"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3"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3" name="Group 2417"/>
                  <p:cNvGrpSpPr>
                    <a:grpSpLocks/>
                  </p:cNvGrpSpPr>
                  <p:nvPr/>
                </p:nvGrpSpPr>
                <p:grpSpPr bwMode="auto">
                  <a:xfrm>
                    <a:off x="974" y="3606"/>
                    <a:ext cx="44" cy="23"/>
                    <a:chOff x="974" y="3606"/>
                    <a:chExt cx="44" cy="23"/>
                  </a:xfrm>
                </p:grpSpPr>
                <p:sp>
                  <p:nvSpPr>
                    <p:cNvPr id="1178"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9"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80"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74" name="Group 2421"/>
                  <p:cNvGrpSpPr>
                    <a:grpSpLocks/>
                  </p:cNvGrpSpPr>
                  <p:nvPr/>
                </p:nvGrpSpPr>
                <p:grpSpPr bwMode="auto">
                  <a:xfrm>
                    <a:off x="987" y="3619"/>
                    <a:ext cx="45" cy="23"/>
                    <a:chOff x="987" y="3619"/>
                    <a:chExt cx="45" cy="23"/>
                  </a:xfrm>
                </p:grpSpPr>
                <p:sp>
                  <p:nvSpPr>
                    <p:cNvPr id="1175"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6"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7"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2" name="Group 2425"/>
                <p:cNvGrpSpPr>
                  <a:grpSpLocks/>
                </p:cNvGrpSpPr>
                <p:nvPr/>
              </p:nvGrpSpPr>
              <p:grpSpPr bwMode="auto">
                <a:xfrm>
                  <a:off x="1002" y="3632"/>
                  <a:ext cx="83" cy="63"/>
                  <a:chOff x="1002" y="3632"/>
                  <a:chExt cx="83" cy="63"/>
                </a:xfrm>
              </p:grpSpPr>
              <p:grpSp>
                <p:nvGrpSpPr>
                  <p:cNvPr id="1155" name="Group 2426"/>
                  <p:cNvGrpSpPr>
                    <a:grpSpLocks/>
                  </p:cNvGrpSpPr>
                  <p:nvPr/>
                </p:nvGrpSpPr>
                <p:grpSpPr bwMode="auto">
                  <a:xfrm>
                    <a:off x="1002" y="3632"/>
                    <a:ext cx="44" cy="22"/>
                    <a:chOff x="1002" y="3632"/>
                    <a:chExt cx="44" cy="22"/>
                  </a:xfrm>
                </p:grpSpPr>
                <p:sp>
                  <p:nvSpPr>
                    <p:cNvPr id="1168"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9"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70"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6" name="Group 2430"/>
                  <p:cNvGrpSpPr>
                    <a:grpSpLocks/>
                  </p:cNvGrpSpPr>
                  <p:nvPr/>
                </p:nvGrpSpPr>
                <p:grpSpPr bwMode="auto">
                  <a:xfrm>
                    <a:off x="1014" y="3645"/>
                    <a:ext cx="44" cy="23"/>
                    <a:chOff x="1014" y="3645"/>
                    <a:chExt cx="44" cy="23"/>
                  </a:xfrm>
                </p:grpSpPr>
                <p:sp>
                  <p:nvSpPr>
                    <p:cNvPr id="1165"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6"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7"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7" name="Group 2434"/>
                  <p:cNvGrpSpPr>
                    <a:grpSpLocks/>
                  </p:cNvGrpSpPr>
                  <p:nvPr/>
                </p:nvGrpSpPr>
                <p:grpSpPr bwMode="auto">
                  <a:xfrm>
                    <a:off x="1027" y="3659"/>
                    <a:ext cx="45" cy="23"/>
                    <a:chOff x="1027" y="3659"/>
                    <a:chExt cx="45" cy="23"/>
                  </a:xfrm>
                </p:grpSpPr>
                <p:sp>
                  <p:nvSpPr>
                    <p:cNvPr id="1162"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3"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4"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58" name="Group 2438"/>
                  <p:cNvGrpSpPr>
                    <a:grpSpLocks/>
                  </p:cNvGrpSpPr>
                  <p:nvPr/>
                </p:nvGrpSpPr>
                <p:grpSpPr bwMode="auto">
                  <a:xfrm>
                    <a:off x="1040" y="3672"/>
                    <a:ext cx="45" cy="23"/>
                    <a:chOff x="1040" y="3672"/>
                    <a:chExt cx="45" cy="23"/>
                  </a:xfrm>
                </p:grpSpPr>
                <p:sp>
                  <p:nvSpPr>
                    <p:cNvPr id="1159"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0"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61"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073" name="Group 2442"/>
                <p:cNvGrpSpPr>
                  <a:grpSpLocks/>
                </p:cNvGrpSpPr>
                <p:nvPr/>
              </p:nvGrpSpPr>
              <p:grpSpPr bwMode="auto">
                <a:xfrm>
                  <a:off x="1054" y="3685"/>
                  <a:ext cx="45" cy="23"/>
                  <a:chOff x="1054" y="3685"/>
                  <a:chExt cx="45" cy="23"/>
                </a:xfrm>
              </p:grpSpPr>
              <p:sp>
                <p:nvSpPr>
                  <p:cNvPr id="1152"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3"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4"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4" name="Group 2446"/>
                <p:cNvGrpSpPr>
                  <a:grpSpLocks/>
                </p:cNvGrpSpPr>
                <p:nvPr/>
              </p:nvGrpSpPr>
              <p:grpSpPr bwMode="auto">
                <a:xfrm>
                  <a:off x="1067" y="3698"/>
                  <a:ext cx="45" cy="23"/>
                  <a:chOff x="1067" y="3698"/>
                  <a:chExt cx="45" cy="23"/>
                </a:xfrm>
              </p:grpSpPr>
              <p:sp>
                <p:nvSpPr>
                  <p:cNvPr id="1149"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0"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51"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5" name="Group 2450"/>
                <p:cNvGrpSpPr>
                  <a:grpSpLocks/>
                </p:cNvGrpSpPr>
                <p:nvPr/>
              </p:nvGrpSpPr>
              <p:grpSpPr bwMode="auto">
                <a:xfrm>
                  <a:off x="1079" y="3712"/>
                  <a:ext cx="44" cy="23"/>
                  <a:chOff x="1079" y="3712"/>
                  <a:chExt cx="44" cy="23"/>
                </a:xfrm>
              </p:grpSpPr>
              <p:sp>
                <p:nvSpPr>
                  <p:cNvPr id="1146"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7"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8"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6" name="Group 2454"/>
                <p:cNvGrpSpPr>
                  <a:grpSpLocks/>
                </p:cNvGrpSpPr>
                <p:nvPr/>
              </p:nvGrpSpPr>
              <p:grpSpPr bwMode="auto">
                <a:xfrm>
                  <a:off x="1093" y="3725"/>
                  <a:ext cx="45" cy="23"/>
                  <a:chOff x="1093" y="3725"/>
                  <a:chExt cx="45" cy="23"/>
                </a:xfrm>
              </p:grpSpPr>
              <p:sp>
                <p:nvSpPr>
                  <p:cNvPr id="1143"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4"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5"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7" name="Group 2458"/>
                <p:cNvGrpSpPr>
                  <a:grpSpLocks/>
                </p:cNvGrpSpPr>
                <p:nvPr/>
              </p:nvGrpSpPr>
              <p:grpSpPr bwMode="auto">
                <a:xfrm>
                  <a:off x="1108" y="3739"/>
                  <a:ext cx="44" cy="23"/>
                  <a:chOff x="1108" y="3739"/>
                  <a:chExt cx="44" cy="23"/>
                </a:xfrm>
              </p:grpSpPr>
              <p:sp>
                <p:nvSpPr>
                  <p:cNvPr id="1140"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1"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42"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8" name="Group 2462"/>
                <p:cNvGrpSpPr>
                  <a:grpSpLocks/>
                </p:cNvGrpSpPr>
                <p:nvPr/>
              </p:nvGrpSpPr>
              <p:grpSpPr bwMode="auto">
                <a:xfrm>
                  <a:off x="1121" y="3753"/>
                  <a:ext cx="45" cy="23"/>
                  <a:chOff x="1121" y="3753"/>
                  <a:chExt cx="45" cy="23"/>
                </a:xfrm>
              </p:grpSpPr>
              <p:sp>
                <p:nvSpPr>
                  <p:cNvPr id="1137"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8"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9"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79" name="Group 2466"/>
                <p:cNvGrpSpPr>
                  <a:grpSpLocks/>
                </p:cNvGrpSpPr>
                <p:nvPr/>
              </p:nvGrpSpPr>
              <p:grpSpPr bwMode="auto">
                <a:xfrm>
                  <a:off x="1133" y="3767"/>
                  <a:ext cx="44" cy="23"/>
                  <a:chOff x="1133" y="3767"/>
                  <a:chExt cx="44" cy="23"/>
                </a:xfrm>
              </p:grpSpPr>
              <p:sp>
                <p:nvSpPr>
                  <p:cNvPr id="1134"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5"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6"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080"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1"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2"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3"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4"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5"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6"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7"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8"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89"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90"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091" name="Group 2481"/>
                <p:cNvGrpSpPr>
                  <a:grpSpLocks/>
                </p:cNvGrpSpPr>
                <p:nvPr/>
              </p:nvGrpSpPr>
              <p:grpSpPr bwMode="auto">
                <a:xfrm>
                  <a:off x="700" y="3535"/>
                  <a:ext cx="49" cy="24"/>
                  <a:chOff x="700" y="3535"/>
                  <a:chExt cx="49" cy="24"/>
                </a:xfrm>
              </p:grpSpPr>
              <p:sp>
                <p:nvSpPr>
                  <p:cNvPr id="1131"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2"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3"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2" name="Group 2485"/>
                <p:cNvGrpSpPr>
                  <a:grpSpLocks/>
                </p:cNvGrpSpPr>
                <p:nvPr/>
              </p:nvGrpSpPr>
              <p:grpSpPr bwMode="auto">
                <a:xfrm>
                  <a:off x="714" y="3551"/>
                  <a:ext cx="49" cy="22"/>
                  <a:chOff x="714" y="3551"/>
                  <a:chExt cx="49" cy="22"/>
                </a:xfrm>
              </p:grpSpPr>
              <p:sp>
                <p:nvSpPr>
                  <p:cNvPr id="1128"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9"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30"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3" name="Group 2489"/>
                <p:cNvGrpSpPr>
                  <a:grpSpLocks/>
                </p:cNvGrpSpPr>
                <p:nvPr/>
              </p:nvGrpSpPr>
              <p:grpSpPr bwMode="auto">
                <a:xfrm>
                  <a:off x="728" y="3564"/>
                  <a:ext cx="48" cy="23"/>
                  <a:chOff x="728" y="3564"/>
                  <a:chExt cx="48" cy="23"/>
                </a:xfrm>
              </p:grpSpPr>
              <p:sp>
                <p:nvSpPr>
                  <p:cNvPr id="1125"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6"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7"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4" name="Group 2493"/>
                <p:cNvGrpSpPr>
                  <a:grpSpLocks/>
                </p:cNvGrpSpPr>
                <p:nvPr/>
              </p:nvGrpSpPr>
              <p:grpSpPr bwMode="auto">
                <a:xfrm>
                  <a:off x="742" y="3582"/>
                  <a:ext cx="49" cy="23"/>
                  <a:chOff x="742" y="3582"/>
                  <a:chExt cx="49" cy="23"/>
                </a:xfrm>
              </p:grpSpPr>
              <p:sp>
                <p:nvSpPr>
                  <p:cNvPr id="1122"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3"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4"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5" name="Group 2497"/>
                <p:cNvGrpSpPr>
                  <a:grpSpLocks/>
                </p:cNvGrpSpPr>
                <p:nvPr/>
              </p:nvGrpSpPr>
              <p:grpSpPr bwMode="auto">
                <a:xfrm>
                  <a:off x="752" y="3597"/>
                  <a:ext cx="133" cy="106"/>
                  <a:chOff x="752" y="3597"/>
                  <a:chExt cx="133" cy="106"/>
                </a:xfrm>
              </p:grpSpPr>
              <p:sp>
                <p:nvSpPr>
                  <p:cNvPr id="1119"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0"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21"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6" name="Group 2501"/>
                <p:cNvGrpSpPr>
                  <a:grpSpLocks/>
                </p:cNvGrpSpPr>
                <p:nvPr/>
              </p:nvGrpSpPr>
              <p:grpSpPr bwMode="auto">
                <a:xfrm>
                  <a:off x="844" y="3694"/>
                  <a:ext cx="48" cy="23"/>
                  <a:chOff x="844" y="3694"/>
                  <a:chExt cx="48" cy="23"/>
                </a:xfrm>
              </p:grpSpPr>
              <p:sp>
                <p:nvSpPr>
                  <p:cNvPr id="1116"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7"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8"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7" name="Group 2505"/>
                <p:cNvGrpSpPr>
                  <a:grpSpLocks/>
                </p:cNvGrpSpPr>
                <p:nvPr/>
              </p:nvGrpSpPr>
              <p:grpSpPr bwMode="auto">
                <a:xfrm>
                  <a:off x="857" y="3710"/>
                  <a:ext cx="49" cy="22"/>
                  <a:chOff x="857" y="3710"/>
                  <a:chExt cx="49" cy="22"/>
                </a:xfrm>
              </p:grpSpPr>
              <p:sp>
                <p:nvSpPr>
                  <p:cNvPr id="1113"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4"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5"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8" name="Group 2509"/>
                <p:cNvGrpSpPr>
                  <a:grpSpLocks/>
                </p:cNvGrpSpPr>
                <p:nvPr/>
              </p:nvGrpSpPr>
              <p:grpSpPr bwMode="auto">
                <a:xfrm>
                  <a:off x="1086" y="3766"/>
                  <a:ext cx="49" cy="23"/>
                  <a:chOff x="1086" y="3766"/>
                  <a:chExt cx="49" cy="23"/>
                </a:xfrm>
              </p:grpSpPr>
              <p:sp>
                <p:nvSpPr>
                  <p:cNvPr id="1110"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1"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12"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099" name="Group 2513"/>
                <p:cNvGrpSpPr>
                  <a:grpSpLocks/>
                </p:cNvGrpSpPr>
                <p:nvPr/>
              </p:nvGrpSpPr>
              <p:grpSpPr bwMode="auto">
                <a:xfrm>
                  <a:off x="934" y="3740"/>
                  <a:ext cx="48" cy="23"/>
                  <a:chOff x="934" y="3740"/>
                  <a:chExt cx="48" cy="23"/>
                </a:xfrm>
              </p:grpSpPr>
              <p:sp>
                <p:nvSpPr>
                  <p:cNvPr id="1107"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8"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9"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100" name="Group 2517"/>
                <p:cNvGrpSpPr>
                  <a:grpSpLocks/>
                </p:cNvGrpSpPr>
                <p:nvPr/>
              </p:nvGrpSpPr>
              <p:grpSpPr bwMode="auto">
                <a:xfrm>
                  <a:off x="943" y="3754"/>
                  <a:ext cx="49" cy="23"/>
                  <a:chOff x="943" y="3754"/>
                  <a:chExt cx="49" cy="23"/>
                </a:xfrm>
              </p:grpSpPr>
              <p:sp>
                <p:nvSpPr>
                  <p:cNvPr id="1104"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5"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6"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101"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2"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103"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8" name="Group 2524"/>
              <p:cNvGrpSpPr>
                <a:grpSpLocks/>
              </p:cNvGrpSpPr>
              <p:nvPr/>
            </p:nvGrpSpPr>
            <p:grpSpPr bwMode="auto">
              <a:xfrm>
                <a:off x="920" y="3821"/>
                <a:ext cx="413" cy="50"/>
                <a:chOff x="920" y="3821"/>
                <a:chExt cx="413" cy="50"/>
              </a:xfrm>
            </p:grpSpPr>
            <p:sp>
              <p:nvSpPr>
                <p:cNvPr id="1019"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0"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21"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22"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999" name="Group 2529"/>
              <p:cNvGrpSpPr>
                <a:grpSpLocks/>
              </p:cNvGrpSpPr>
              <p:nvPr/>
            </p:nvGrpSpPr>
            <p:grpSpPr bwMode="auto">
              <a:xfrm>
                <a:off x="1227" y="3477"/>
                <a:ext cx="508" cy="321"/>
                <a:chOff x="1227" y="3477"/>
                <a:chExt cx="508" cy="321"/>
              </a:xfrm>
            </p:grpSpPr>
            <p:sp>
              <p:nvSpPr>
                <p:cNvPr id="1000"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1"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2"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3"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4"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5"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6"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7"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8"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09"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0"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1"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2"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3"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4"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5"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6"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017"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018"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37" name="Group 2096"/>
            <p:cNvGrpSpPr>
              <a:grpSpLocks/>
            </p:cNvGrpSpPr>
            <p:nvPr/>
          </p:nvGrpSpPr>
          <p:grpSpPr bwMode="auto">
            <a:xfrm>
              <a:off x="2627313" y="1916113"/>
              <a:ext cx="431800" cy="330200"/>
              <a:chOff x="624" y="2968"/>
              <a:chExt cx="1331" cy="920"/>
            </a:xfrm>
          </p:grpSpPr>
          <p:sp>
            <p:nvSpPr>
              <p:cNvPr id="1438"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39"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0"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1"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2"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3"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4"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5"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6"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7"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8"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49"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50" name="Group 2109"/>
              <p:cNvGrpSpPr>
                <a:grpSpLocks/>
              </p:cNvGrpSpPr>
              <p:nvPr/>
            </p:nvGrpSpPr>
            <p:grpSpPr bwMode="auto">
              <a:xfrm>
                <a:off x="700" y="3526"/>
                <a:ext cx="515" cy="270"/>
                <a:chOff x="700" y="3526"/>
                <a:chExt cx="515" cy="270"/>
              </a:xfrm>
            </p:grpSpPr>
            <p:grpSp>
              <p:nvGrpSpPr>
                <p:cNvPr id="1476" name="Group 2110"/>
                <p:cNvGrpSpPr>
                  <a:grpSpLocks/>
                </p:cNvGrpSpPr>
                <p:nvPr/>
              </p:nvGrpSpPr>
              <p:grpSpPr bwMode="auto">
                <a:xfrm>
                  <a:off x="737" y="3534"/>
                  <a:ext cx="49" cy="23"/>
                  <a:chOff x="737" y="3534"/>
                  <a:chExt cx="49" cy="23"/>
                </a:xfrm>
              </p:grpSpPr>
              <p:sp>
                <p:nvSpPr>
                  <p:cNvPr id="1887"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8"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9"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77" name="Group 2114"/>
                <p:cNvGrpSpPr>
                  <a:grpSpLocks/>
                </p:cNvGrpSpPr>
                <p:nvPr/>
              </p:nvGrpSpPr>
              <p:grpSpPr bwMode="auto">
                <a:xfrm>
                  <a:off x="748" y="3547"/>
                  <a:ext cx="50" cy="23"/>
                  <a:chOff x="748" y="3547"/>
                  <a:chExt cx="50" cy="23"/>
                </a:xfrm>
              </p:grpSpPr>
              <p:sp>
                <p:nvSpPr>
                  <p:cNvPr id="1884"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5"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6"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78"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9"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0"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81"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82" name="Group 2122"/>
                <p:cNvGrpSpPr>
                  <a:grpSpLocks/>
                </p:cNvGrpSpPr>
                <p:nvPr/>
              </p:nvGrpSpPr>
              <p:grpSpPr bwMode="auto">
                <a:xfrm>
                  <a:off x="872" y="3547"/>
                  <a:ext cx="50" cy="23"/>
                  <a:chOff x="872" y="3547"/>
                  <a:chExt cx="50" cy="23"/>
                </a:xfrm>
              </p:grpSpPr>
              <p:sp>
                <p:nvSpPr>
                  <p:cNvPr id="1881"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2"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3"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3" name="Group 2126"/>
                <p:cNvGrpSpPr>
                  <a:grpSpLocks/>
                </p:cNvGrpSpPr>
                <p:nvPr/>
              </p:nvGrpSpPr>
              <p:grpSpPr bwMode="auto">
                <a:xfrm>
                  <a:off x="885" y="3559"/>
                  <a:ext cx="50" cy="23"/>
                  <a:chOff x="885" y="3559"/>
                  <a:chExt cx="50" cy="23"/>
                </a:xfrm>
              </p:grpSpPr>
              <p:sp>
                <p:nvSpPr>
                  <p:cNvPr id="1878"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9"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80"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4" name="Group 2130"/>
                <p:cNvGrpSpPr>
                  <a:grpSpLocks/>
                </p:cNvGrpSpPr>
                <p:nvPr/>
              </p:nvGrpSpPr>
              <p:grpSpPr bwMode="auto">
                <a:xfrm>
                  <a:off x="898" y="3571"/>
                  <a:ext cx="49" cy="23"/>
                  <a:chOff x="898" y="3571"/>
                  <a:chExt cx="49" cy="23"/>
                </a:xfrm>
              </p:grpSpPr>
              <p:sp>
                <p:nvSpPr>
                  <p:cNvPr id="1875"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6"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7"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5" name="Group 2134"/>
                <p:cNvGrpSpPr>
                  <a:grpSpLocks/>
                </p:cNvGrpSpPr>
                <p:nvPr/>
              </p:nvGrpSpPr>
              <p:grpSpPr bwMode="auto">
                <a:xfrm>
                  <a:off x="911" y="3585"/>
                  <a:ext cx="49" cy="23"/>
                  <a:chOff x="911" y="3585"/>
                  <a:chExt cx="49" cy="23"/>
                </a:xfrm>
              </p:grpSpPr>
              <p:sp>
                <p:nvSpPr>
                  <p:cNvPr id="1872"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3"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4"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6" name="Group 2138"/>
                <p:cNvGrpSpPr>
                  <a:grpSpLocks/>
                </p:cNvGrpSpPr>
                <p:nvPr/>
              </p:nvGrpSpPr>
              <p:grpSpPr bwMode="auto">
                <a:xfrm>
                  <a:off x="923" y="3600"/>
                  <a:ext cx="99" cy="73"/>
                  <a:chOff x="923" y="3600"/>
                  <a:chExt cx="99" cy="73"/>
                </a:xfrm>
              </p:grpSpPr>
              <p:grpSp>
                <p:nvGrpSpPr>
                  <p:cNvPr id="1852" name="Group 2139"/>
                  <p:cNvGrpSpPr>
                    <a:grpSpLocks/>
                  </p:cNvGrpSpPr>
                  <p:nvPr/>
                </p:nvGrpSpPr>
                <p:grpSpPr bwMode="auto">
                  <a:xfrm>
                    <a:off x="923" y="3600"/>
                    <a:ext cx="49" cy="23"/>
                    <a:chOff x="923" y="3600"/>
                    <a:chExt cx="49" cy="23"/>
                  </a:xfrm>
                </p:grpSpPr>
                <p:sp>
                  <p:nvSpPr>
                    <p:cNvPr id="1869"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0"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71"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3" name="Group 2143"/>
                  <p:cNvGrpSpPr>
                    <a:grpSpLocks/>
                  </p:cNvGrpSpPr>
                  <p:nvPr/>
                </p:nvGrpSpPr>
                <p:grpSpPr bwMode="auto">
                  <a:xfrm>
                    <a:off x="935" y="3612"/>
                    <a:ext cx="48" cy="23"/>
                    <a:chOff x="935" y="3612"/>
                    <a:chExt cx="48" cy="23"/>
                  </a:xfrm>
                </p:grpSpPr>
                <p:sp>
                  <p:nvSpPr>
                    <p:cNvPr id="1866"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7"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8"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4" name="Group 2147"/>
                  <p:cNvGrpSpPr>
                    <a:grpSpLocks/>
                  </p:cNvGrpSpPr>
                  <p:nvPr/>
                </p:nvGrpSpPr>
                <p:grpSpPr bwMode="auto">
                  <a:xfrm>
                    <a:off x="947" y="3625"/>
                    <a:ext cx="50" cy="22"/>
                    <a:chOff x="947" y="3625"/>
                    <a:chExt cx="50" cy="22"/>
                  </a:xfrm>
                </p:grpSpPr>
                <p:sp>
                  <p:nvSpPr>
                    <p:cNvPr id="1863"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4"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5"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5" name="Group 2151"/>
                  <p:cNvGrpSpPr>
                    <a:grpSpLocks/>
                  </p:cNvGrpSpPr>
                  <p:nvPr/>
                </p:nvGrpSpPr>
                <p:grpSpPr bwMode="auto">
                  <a:xfrm>
                    <a:off x="960" y="3637"/>
                    <a:ext cx="50" cy="23"/>
                    <a:chOff x="960" y="3637"/>
                    <a:chExt cx="50" cy="23"/>
                  </a:xfrm>
                </p:grpSpPr>
                <p:sp>
                  <p:nvSpPr>
                    <p:cNvPr id="1860"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1"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62"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56" name="Group 2155"/>
                  <p:cNvGrpSpPr>
                    <a:grpSpLocks/>
                  </p:cNvGrpSpPr>
                  <p:nvPr/>
                </p:nvGrpSpPr>
                <p:grpSpPr bwMode="auto">
                  <a:xfrm>
                    <a:off x="973" y="3650"/>
                    <a:ext cx="49" cy="23"/>
                    <a:chOff x="973" y="3650"/>
                    <a:chExt cx="49" cy="23"/>
                  </a:xfrm>
                </p:grpSpPr>
                <p:sp>
                  <p:nvSpPr>
                    <p:cNvPr id="1857"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8"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9"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7" name="Group 2159"/>
                <p:cNvGrpSpPr>
                  <a:grpSpLocks/>
                </p:cNvGrpSpPr>
                <p:nvPr/>
              </p:nvGrpSpPr>
              <p:grpSpPr bwMode="auto">
                <a:xfrm>
                  <a:off x="985" y="3665"/>
                  <a:ext cx="100" cy="73"/>
                  <a:chOff x="985" y="3665"/>
                  <a:chExt cx="100" cy="73"/>
                </a:xfrm>
              </p:grpSpPr>
              <p:grpSp>
                <p:nvGrpSpPr>
                  <p:cNvPr id="1832" name="Group 2160"/>
                  <p:cNvGrpSpPr>
                    <a:grpSpLocks/>
                  </p:cNvGrpSpPr>
                  <p:nvPr/>
                </p:nvGrpSpPr>
                <p:grpSpPr bwMode="auto">
                  <a:xfrm>
                    <a:off x="985" y="3665"/>
                    <a:ext cx="50" cy="23"/>
                    <a:chOff x="985" y="3665"/>
                    <a:chExt cx="50" cy="23"/>
                  </a:xfrm>
                </p:grpSpPr>
                <p:sp>
                  <p:nvSpPr>
                    <p:cNvPr id="1849"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0"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51"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3" name="Group 2164"/>
                  <p:cNvGrpSpPr>
                    <a:grpSpLocks/>
                  </p:cNvGrpSpPr>
                  <p:nvPr/>
                </p:nvGrpSpPr>
                <p:grpSpPr bwMode="auto">
                  <a:xfrm>
                    <a:off x="997" y="3677"/>
                    <a:ext cx="49" cy="23"/>
                    <a:chOff x="997" y="3677"/>
                    <a:chExt cx="49" cy="23"/>
                  </a:xfrm>
                </p:grpSpPr>
                <p:sp>
                  <p:nvSpPr>
                    <p:cNvPr id="1846"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7"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8"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4" name="Group 2168"/>
                  <p:cNvGrpSpPr>
                    <a:grpSpLocks/>
                  </p:cNvGrpSpPr>
                  <p:nvPr/>
                </p:nvGrpSpPr>
                <p:grpSpPr bwMode="auto">
                  <a:xfrm>
                    <a:off x="1010" y="3690"/>
                    <a:ext cx="48" cy="23"/>
                    <a:chOff x="1010" y="3690"/>
                    <a:chExt cx="48" cy="23"/>
                  </a:xfrm>
                </p:grpSpPr>
                <p:sp>
                  <p:nvSpPr>
                    <p:cNvPr id="1843"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4"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5"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5" name="Group 2172"/>
                  <p:cNvGrpSpPr>
                    <a:grpSpLocks/>
                  </p:cNvGrpSpPr>
                  <p:nvPr/>
                </p:nvGrpSpPr>
                <p:grpSpPr bwMode="auto">
                  <a:xfrm>
                    <a:off x="1023" y="3703"/>
                    <a:ext cx="49" cy="22"/>
                    <a:chOff x="1023" y="3703"/>
                    <a:chExt cx="49" cy="22"/>
                  </a:xfrm>
                </p:grpSpPr>
                <p:sp>
                  <p:nvSpPr>
                    <p:cNvPr id="1840"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1"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42"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836" name="Group 2176"/>
                  <p:cNvGrpSpPr>
                    <a:grpSpLocks/>
                  </p:cNvGrpSpPr>
                  <p:nvPr/>
                </p:nvGrpSpPr>
                <p:grpSpPr bwMode="auto">
                  <a:xfrm>
                    <a:off x="1036" y="3716"/>
                    <a:ext cx="49" cy="22"/>
                    <a:chOff x="1036" y="3716"/>
                    <a:chExt cx="49" cy="22"/>
                  </a:xfrm>
                </p:grpSpPr>
                <p:sp>
                  <p:nvSpPr>
                    <p:cNvPr id="1837"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8"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9"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88" name="Group 2180"/>
                <p:cNvGrpSpPr>
                  <a:grpSpLocks/>
                </p:cNvGrpSpPr>
                <p:nvPr/>
              </p:nvGrpSpPr>
              <p:grpSpPr bwMode="auto">
                <a:xfrm>
                  <a:off x="1046" y="3727"/>
                  <a:ext cx="49" cy="23"/>
                  <a:chOff x="1046" y="3727"/>
                  <a:chExt cx="49" cy="23"/>
                </a:xfrm>
              </p:grpSpPr>
              <p:sp>
                <p:nvSpPr>
                  <p:cNvPr id="1829"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0"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31"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89" name="Group 2184"/>
                <p:cNvGrpSpPr>
                  <a:grpSpLocks/>
                </p:cNvGrpSpPr>
                <p:nvPr/>
              </p:nvGrpSpPr>
              <p:grpSpPr bwMode="auto">
                <a:xfrm>
                  <a:off x="1058" y="3739"/>
                  <a:ext cx="50" cy="23"/>
                  <a:chOff x="1058" y="3739"/>
                  <a:chExt cx="50" cy="23"/>
                </a:xfrm>
              </p:grpSpPr>
              <p:sp>
                <p:nvSpPr>
                  <p:cNvPr id="1826"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7"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8"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0" name="Group 2188"/>
                <p:cNvGrpSpPr>
                  <a:grpSpLocks/>
                </p:cNvGrpSpPr>
                <p:nvPr/>
              </p:nvGrpSpPr>
              <p:grpSpPr bwMode="auto">
                <a:xfrm>
                  <a:off x="1072" y="3753"/>
                  <a:ext cx="48" cy="22"/>
                  <a:chOff x="1072" y="3753"/>
                  <a:chExt cx="48" cy="22"/>
                </a:xfrm>
              </p:grpSpPr>
              <p:sp>
                <p:nvSpPr>
                  <p:cNvPr id="1823"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4"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5"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491"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2"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93"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494" name="Group 2195"/>
                <p:cNvGrpSpPr>
                  <a:grpSpLocks/>
                </p:cNvGrpSpPr>
                <p:nvPr/>
              </p:nvGrpSpPr>
              <p:grpSpPr bwMode="auto">
                <a:xfrm>
                  <a:off x="832" y="3547"/>
                  <a:ext cx="49" cy="23"/>
                  <a:chOff x="832" y="3547"/>
                  <a:chExt cx="49" cy="23"/>
                </a:xfrm>
              </p:grpSpPr>
              <p:sp>
                <p:nvSpPr>
                  <p:cNvPr id="1820"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1"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22"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5" name="Group 2199"/>
                <p:cNvGrpSpPr>
                  <a:grpSpLocks/>
                </p:cNvGrpSpPr>
                <p:nvPr/>
              </p:nvGrpSpPr>
              <p:grpSpPr bwMode="auto">
                <a:xfrm>
                  <a:off x="844" y="3560"/>
                  <a:ext cx="49" cy="22"/>
                  <a:chOff x="844" y="3560"/>
                  <a:chExt cx="49" cy="22"/>
                </a:xfrm>
              </p:grpSpPr>
              <p:sp>
                <p:nvSpPr>
                  <p:cNvPr id="1817"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8"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9"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6" name="Group 2203"/>
                <p:cNvGrpSpPr>
                  <a:grpSpLocks/>
                </p:cNvGrpSpPr>
                <p:nvPr/>
              </p:nvGrpSpPr>
              <p:grpSpPr bwMode="auto">
                <a:xfrm>
                  <a:off x="857" y="3572"/>
                  <a:ext cx="50" cy="23"/>
                  <a:chOff x="857" y="3572"/>
                  <a:chExt cx="50" cy="23"/>
                </a:xfrm>
              </p:grpSpPr>
              <p:sp>
                <p:nvSpPr>
                  <p:cNvPr id="1814"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5"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6"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7" name="Group 2207"/>
                <p:cNvGrpSpPr>
                  <a:grpSpLocks/>
                </p:cNvGrpSpPr>
                <p:nvPr/>
              </p:nvGrpSpPr>
              <p:grpSpPr bwMode="auto">
                <a:xfrm>
                  <a:off x="870" y="3585"/>
                  <a:ext cx="48" cy="23"/>
                  <a:chOff x="870" y="3585"/>
                  <a:chExt cx="48" cy="23"/>
                </a:xfrm>
              </p:grpSpPr>
              <p:sp>
                <p:nvSpPr>
                  <p:cNvPr id="1811"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2"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3"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98" name="Group 2211"/>
                <p:cNvGrpSpPr>
                  <a:grpSpLocks/>
                </p:cNvGrpSpPr>
                <p:nvPr/>
              </p:nvGrpSpPr>
              <p:grpSpPr bwMode="auto">
                <a:xfrm>
                  <a:off x="882" y="3600"/>
                  <a:ext cx="100" cy="73"/>
                  <a:chOff x="882" y="3600"/>
                  <a:chExt cx="100" cy="73"/>
                </a:xfrm>
              </p:grpSpPr>
              <p:grpSp>
                <p:nvGrpSpPr>
                  <p:cNvPr id="1791" name="Group 2212"/>
                  <p:cNvGrpSpPr>
                    <a:grpSpLocks/>
                  </p:cNvGrpSpPr>
                  <p:nvPr/>
                </p:nvGrpSpPr>
                <p:grpSpPr bwMode="auto">
                  <a:xfrm>
                    <a:off x="882" y="3600"/>
                    <a:ext cx="49" cy="23"/>
                    <a:chOff x="882" y="3600"/>
                    <a:chExt cx="49" cy="23"/>
                  </a:xfrm>
                </p:grpSpPr>
                <p:sp>
                  <p:nvSpPr>
                    <p:cNvPr id="1808"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9"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10"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2" name="Group 2216"/>
                  <p:cNvGrpSpPr>
                    <a:grpSpLocks/>
                  </p:cNvGrpSpPr>
                  <p:nvPr/>
                </p:nvGrpSpPr>
                <p:grpSpPr bwMode="auto">
                  <a:xfrm>
                    <a:off x="894" y="3612"/>
                    <a:ext cx="49" cy="23"/>
                    <a:chOff x="894" y="3612"/>
                    <a:chExt cx="49" cy="23"/>
                  </a:xfrm>
                </p:grpSpPr>
                <p:sp>
                  <p:nvSpPr>
                    <p:cNvPr id="1805"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6"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7"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3" name="Group 2220"/>
                  <p:cNvGrpSpPr>
                    <a:grpSpLocks/>
                  </p:cNvGrpSpPr>
                  <p:nvPr/>
                </p:nvGrpSpPr>
                <p:grpSpPr bwMode="auto">
                  <a:xfrm>
                    <a:off x="907" y="3625"/>
                    <a:ext cx="49" cy="23"/>
                    <a:chOff x="907" y="3625"/>
                    <a:chExt cx="49" cy="23"/>
                  </a:xfrm>
                </p:grpSpPr>
                <p:sp>
                  <p:nvSpPr>
                    <p:cNvPr id="1802"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3"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4"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4" name="Group 2224"/>
                  <p:cNvGrpSpPr>
                    <a:grpSpLocks/>
                  </p:cNvGrpSpPr>
                  <p:nvPr/>
                </p:nvGrpSpPr>
                <p:grpSpPr bwMode="auto">
                  <a:xfrm>
                    <a:off x="919" y="3638"/>
                    <a:ext cx="49" cy="22"/>
                    <a:chOff x="919" y="3638"/>
                    <a:chExt cx="49" cy="22"/>
                  </a:xfrm>
                </p:grpSpPr>
                <p:sp>
                  <p:nvSpPr>
                    <p:cNvPr id="1799"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0"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01"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95" name="Group 2228"/>
                  <p:cNvGrpSpPr>
                    <a:grpSpLocks/>
                  </p:cNvGrpSpPr>
                  <p:nvPr/>
                </p:nvGrpSpPr>
                <p:grpSpPr bwMode="auto">
                  <a:xfrm>
                    <a:off x="932" y="3651"/>
                    <a:ext cx="50" cy="22"/>
                    <a:chOff x="932" y="3651"/>
                    <a:chExt cx="50" cy="22"/>
                  </a:xfrm>
                </p:grpSpPr>
                <p:sp>
                  <p:nvSpPr>
                    <p:cNvPr id="1796"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7"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8"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499" name="Group 2232"/>
                <p:cNvGrpSpPr>
                  <a:grpSpLocks/>
                </p:cNvGrpSpPr>
                <p:nvPr/>
              </p:nvGrpSpPr>
              <p:grpSpPr bwMode="auto">
                <a:xfrm>
                  <a:off x="944" y="3665"/>
                  <a:ext cx="99" cy="74"/>
                  <a:chOff x="944" y="3665"/>
                  <a:chExt cx="99" cy="74"/>
                </a:xfrm>
              </p:grpSpPr>
              <p:grpSp>
                <p:nvGrpSpPr>
                  <p:cNvPr id="1771" name="Group 2233"/>
                  <p:cNvGrpSpPr>
                    <a:grpSpLocks/>
                  </p:cNvGrpSpPr>
                  <p:nvPr/>
                </p:nvGrpSpPr>
                <p:grpSpPr bwMode="auto">
                  <a:xfrm>
                    <a:off x="944" y="3665"/>
                    <a:ext cx="49" cy="23"/>
                    <a:chOff x="944" y="3665"/>
                    <a:chExt cx="49" cy="23"/>
                  </a:xfrm>
                </p:grpSpPr>
                <p:sp>
                  <p:nvSpPr>
                    <p:cNvPr id="1788"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9"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90"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2" name="Group 2237"/>
                  <p:cNvGrpSpPr>
                    <a:grpSpLocks/>
                  </p:cNvGrpSpPr>
                  <p:nvPr/>
                </p:nvGrpSpPr>
                <p:grpSpPr bwMode="auto">
                  <a:xfrm>
                    <a:off x="957" y="3678"/>
                    <a:ext cx="48" cy="23"/>
                    <a:chOff x="957" y="3678"/>
                    <a:chExt cx="48" cy="23"/>
                  </a:xfrm>
                </p:grpSpPr>
                <p:sp>
                  <p:nvSpPr>
                    <p:cNvPr id="1785"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6"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7"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3" name="Group 2241"/>
                  <p:cNvGrpSpPr>
                    <a:grpSpLocks/>
                  </p:cNvGrpSpPr>
                  <p:nvPr/>
                </p:nvGrpSpPr>
                <p:grpSpPr bwMode="auto">
                  <a:xfrm>
                    <a:off x="969" y="3690"/>
                    <a:ext cx="49" cy="23"/>
                    <a:chOff x="969" y="3690"/>
                    <a:chExt cx="49" cy="23"/>
                  </a:xfrm>
                </p:grpSpPr>
                <p:sp>
                  <p:nvSpPr>
                    <p:cNvPr id="1782"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3"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4"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4" name="Group 2245"/>
                  <p:cNvGrpSpPr>
                    <a:grpSpLocks/>
                  </p:cNvGrpSpPr>
                  <p:nvPr/>
                </p:nvGrpSpPr>
                <p:grpSpPr bwMode="auto">
                  <a:xfrm>
                    <a:off x="982" y="3703"/>
                    <a:ext cx="49" cy="23"/>
                    <a:chOff x="982" y="3703"/>
                    <a:chExt cx="49" cy="23"/>
                  </a:xfrm>
                </p:grpSpPr>
                <p:sp>
                  <p:nvSpPr>
                    <p:cNvPr id="1779"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0"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81"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75" name="Group 2249"/>
                  <p:cNvGrpSpPr>
                    <a:grpSpLocks/>
                  </p:cNvGrpSpPr>
                  <p:nvPr/>
                </p:nvGrpSpPr>
                <p:grpSpPr bwMode="auto">
                  <a:xfrm>
                    <a:off x="995" y="3716"/>
                    <a:ext cx="48" cy="23"/>
                    <a:chOff x="995" y="3716"/>
                    <a:chExt cx="48" cy="23"/>
                  </a:xfrm>
                </p:grpSpPr>
                <p:sp>
                  <p:nvSpPr>
                    <p:cNvPr id="1776"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7"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8"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00" name="Group 2253"/>
                <p:cNvGrpSpPr>
                  <a:grpSpLocks/>
                </p:cNvGrpSpPr>
                <p:nvPr/>
              </p:nvGrpSpPr>
              <p:grpSpPr bwMode="auto">
                <a:xfrm>
                  <a:off x="1005" y="3727"/>
                  <a:ext cx="49" cy="23"/>
                  <a:chOff x="1005" y="3727"/>
                  <a:chExt cx="49" cy="23"/>
                </a:xfrm>
              </p:grpSpPr>
              <p:sp>
                <p:nvSpPr>
                  <p:cNvPr id="1768"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9"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70"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1" name="Group 2257"/>
                <p:cNvGrpSpPr>
                  <a:grpSpLocks/>
                </p:cNvGrpSpPr>
                <p:nvPr/>
              </p:nvGrpSpPr>
              <p:grpSpPr bwMode="auto">
                <a:xfrm>
                  <a:off x="1018" y="3740"/>
                  <a:ext cx="49" cy="22"/>
                  <a:chOff x="1018" y="3740"/>
                  <a:chExt cx="49" cy="22"/>
                </a:xfrm>
              </p:grpSpPr>
              <p:sp>
                <p:nvSpPr>
                  <p:cNvPr id="1765"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6"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7"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2" name="Group 2261"/>
                <p:cNvGrpSpPr>
                  <a:grpSpLocks/>
                </p:cNvGrpSpPr>
                <p:nvPr/>
              </p:nvGrpSpPr>
              <p:grpSpPr bwMode="auto">
                <a:xfrm>
                  <a:off x="1030" y="3753"/>
                  <a:ext cx="49" cy="23"/>
                  <a:chOff x="1030" y="3753"/>
                  <a:chExt cx="49" cy="23"/>
                </a:xfrm>
              </p:grpSpPr>
              <p:sp>
                <p:nvSpPr>
                  <p:cNvPr id="1762"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3"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4"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03"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4"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05"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06" name="Group 2268"/>
                <p:cNvGrpSpPr>
                  <a:grpSpLocks/>
                </p:cNvGrpSpPr>
                <p:nvPr/>
              </p:nvGrpSpPr>
              <p:grpSpPr bwMode="auto">
                <a:xfrm>
                  <a:off x="790" y="3547"/>
                  <a:ext cx="49" cy="23"/>
                  <a:chOff x="790" y="3547"/>
                  <a:chExt cx="49" cy="23"/>
                </a:xfrm>
              </p:grpSpPr>
              <p:sp>
                <p:nvSpPr>
                  <p:cNvPr id="1759"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0"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61"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7" name="Group 2272"/>
                <p:cNvGrpSpPr>
                  <a:grpSpLocks/>
                </p:cNvGrpSpPr>
                <p:nvPr/>
              </p:nvGrpSpPr>
              <p:grpSpPr bwMode="auto">
                <a:xfrm>
                  <a:off x="803" y="3560"/>
                  <a:ext cx="49" cy="22"/>
                  <a:chOff x="803" y="3560"/>
                  <a:chExt cx="49" cy="22"/>
                </a:xfrm>
              </p:grpSpPr>
              <p:sp>
                <p:nvSpPr>
                  <p:cNvPr id="1756"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7"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8"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8" name="Group 2276"/>
                <p:cNvGrpSpPr>
                  <a:grpSpLocks/>
                </p:cNvGrpSpPr>
                <p:nvPr/>
              </p:nvGrpSpPr>
              <p:grpSpPr bwMode="auto">
                <a:xfrm>
                  <a:off x="815" y="3572"/>
                  <a:ext cx="50" cy="23"/>
                  <a:chOff x="815" y="3572"/>
                  <a:chExt cx="50" cy="23"/>
                </a:xfrm>
              </p:grpSpPr>
              <p:sp>
                <p:nvSpPr>
                  <p:cNvPr id="1753"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4"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5"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09" name="Group 2280"/>
                <p:cNvGrpSpPr>
                  <a:grpSpLocks/>
                </p:cNvGrpSpPr>
                <p:nvPr/>
              </p:nvGrpSpPr>
              <p:grpSpPr bwMode="auto">
                <a:xfrm>
                  <a:off x="828" y="3585"/>
                  <a:ext cx="49" cy="23"/>
                  <a:chOff x="828" y="3585"/>
                  <a:chExt cx="49" cy="23"/>
                </a:xfrm>
              </p:grpSpPr>
              <p:sp>
                <p:nvSpPr>
                  <p:cNvPr id="1750"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1"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52"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0" name="Group 2284"/>
                <p:cNvGrpSpPr>
                  <a:grpSpLocks/>
                </p:cNvGrpSpPr>
                <p:nvPr/>
              </p:nvGrpSpPr>
              <p:grpSpPr bwMode="auto">
                <a:xfrm>
                  <a:off x="840" y="3600"/>
                  <a:ext cx="100" cy="73"/>
                  <a:chOff x="840" y="3600"/>
                  <a:chExt cx="100" cy="73"/>
                </a:xfrm>
              </p:grpSpPr>
              <p:grpSp>
                <p:nvGrpSpPr>
                  <p:cNvPr id="1730" name="Group 2285"/>
                  <p:cNvGrpSpPr>
                    <a:grpSpLocks/>
                  </p:cNvGrpSpPr>
                  <p:nvPr/>
                </p:nvGrpSpPr>
                <p:grpSpPr bwMode="auto">
                  <a:xfrm>
                    <a:off x="840" y="3600"/>
                    <a:ext cx="49" cy="23"/>
                    <a:chOff x="840" y="3600"/>
                    <a:chExt cx="49" cy="23"/>
                  </a:xfrm>
                </p:grpSpPr>
                <p:sp>
                  <p:nvSpPr>
                    <p:cNvPr id="1747"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8"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9"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1" name="Group 2289"/>
                  <p:cNvGrpSpPr>
                    <a:grpSpLocks/>
                  </p:cNvGrpSpPr>
                  <p:nvPr/>
                </p:nvGrpSpPr>
                <p:grpSpPr bwMode="auto">
                  <a:xfrm>
                    <a:off x="853" y="3612"/>
                    <a:ext cx="48" cy="23"/>
                    <a:chOff x="853" y="3612"/>
                    <a:chExt cx="48" cy="23"/>
                  </a:xfrm>
                </p:grpSpPr>
                <p:sp>
                  <p:nvSpPr>
                    <p:cNvPr id="1744"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5"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6"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2" name="Group 2293"/>
                  <p:cNvGrpSpPr>
                    <a:grpSpLocks/>
                  </p:cNvGrpSpPr>
                  <p:nvPr/>
                </p:nvGrpSpPr>
                <p:grpSpPr bwMode="auto">
                  <a:xfrm>
                    <a:off x="865" y="3625"/>
                    <a:ext cx="49" cy="23"/>
                    <a:chOff x="865" y="3625"/>
                    <a:chExt cx="49" cy="23"/>
                  </a:xfrm>
                </p:grpSpPr>
                <p:sp>
                  <p:nvSpPr>
                    <p:cNvPr id="1741"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2"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3"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3" name="Group 2297"/>
                  <p:cNvGrpSpPr>
                    <a:grpSpLocks/>
                  </p:cNvGrpSpPr>
                  <p:nvPr/>
                </p:nvGrpSpPr>
                <p:grpSpPr bwMode="auto">
                  <a:xfrm>
                    <a:off x="878" y="3638"/>
                    <a:ext cx="49" cy="22"/>
                    <a:chOff x="878" y="3638"/>
                    <a:chExt cx="49" cy="22"/>
                  </a:xfrm>
                </p:grpSpPr>
                <p:sp>
                  <p:nvSpPr>
                    <p:cNvPr id="1738"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9"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40"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34" name="Group 2301"/>
                  <p:cNvGrpSpPr>
                    <a:grpSpLocks/>
                  </p:cNvGrpSpPr>
                  <p:nvPr/>
                </p:nvGrpSpPr>
                <p:grpSpPr bwMode="auto">
                  <a:xfrm>
                    <a:off x="890" y="3651"/>
                    <a:ext cx="50" cy="22"/>
                    <a:chOff x="890" y="3651"/>
                    <a:chExt cx="50" cy="22"/>
                  </a:xfrm>
                </p:grpSpPr>
                <p:sp>
                  <p:nvSpPr>
                    <p:cNvPr id="1735"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6"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37"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1" name="Group 2305"/>
                <p:cNvGrpSpPr>
                  <a:grpSpLocks/>
                </p:cNvGrpSpPr>
                <p:nvPr/>
              </p:nvGrpSpPr>
              <p:grpSpPr bwMode="auto">
                <a:xfrm>
                  <a:off x="903" y="3665"/>
                  <a:ext cx="99" cy="74"/>
                  <a:chOff x="903" y="3665"/>
                  <a:chExt cx="99" cy="74"/>
                </a:xfrm>
              </p:grpSpPr>
              <p:grpSp>
                <p:nvGrpSpPr>
                  <p:cNvPr id="1710" name="Group 2306"/>
                  <p:cNvGrpSpPr>
                    <a:grpSpLocks/>
                  </p:cNvGrpSpPr>
                  <p:nvPr/>
                </p:nvGrpSpPr>
                <p:grpSpPr bwMode="auto">
                  <a:xfrm>
                    <a:off x="903" y="3665"/>
                    <a:ext cx="49" cy="23"/>
                    <a:chOff x="903" y="3665"/>
                    <a:chExt cx="49" cy="23"/>
                  </a:xfrm>
                </p:grpSpPr>
                <p:sp>
                  <p:nvSpPr>
                    <p:cNvPr id="1727"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8"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9"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1" name="Group 2310"/>
                  <p:cNvGrpSpPr>
                    <a:grpSpLocks/>
                  </p:cNvGrpSpPr>
                  <p:nvPr/>
                </p:nvGrpSpPr>
                <p:grpSpPr bwMode="auto">
                  <a:xfrm>
                    <a:off x="914" y="3678"/>
                    <a:ext cx="49" cy="23"/>
                    <a:chOff x="914" y="3678"/>
                    <a:chExt cx="49" cy="23"/>
                  </a:xfrm>
                </p:grpSpPr>
                <p:sp>
                  <p:nvSpPr>
                    <p:cNvPr id="1724"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5"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6"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2" name="Group 2314"/>
                  <p:cNvGrpSpPr>
                    <a:grpSpLocks/>
                  </p:cNvGrpSpPr>
                  <p:nvPr/>
                </p:nvGrpSpPr>
                <p:grpSpPr bwMode="auto">
                  <a:xfrm>
                    <a:off x="928" y="3690"/>
                    <a:ext cx="48" cy="23"/>
                    <a:chOff x="928" y="3690"/>
                    <a:chExt cx="48" cy="23"/>
                  </a:xfrm>
                </p:grpSpPr>
                <p:sp>
                  <p:nvSpPr>
                    <p:cNvPr id="1721"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2"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3"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3" name="Group 2318"/>
                  <p:cNvGrpSpPr>
                    <a:grpSpLocks/>
                  </p:cNvGrpSpPr>
                  <p:nvPr/>
                </p:nvGrpSpPr>
                <p:grpSpPr bwMode="auto">
                  <a:xfrm>
                    <a:off x="940" y="3703"/>
                    <a:ext cx="49" cy="23"/>
                    <a:chOff x="940" y="3703"/>
                    <a:chExt cx="49" cy="23"/>
                  </a:xfrm>
                </p:grpSpPr>
                <p:sp>
                  <p:nvSpPr>
                    <p:cNvPr id="1718"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9"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20"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714" name="Group 2322"/>
                  <p:cNvGrpSpPr>
                    <a:grpSpLocks/>
                  </p:cNvGrpSpPr>
                  <p:nvPr/>
                </p:nvGrpSpPr>
                <p:grpSpPr bwMode="auto">
                  <a:xfrm>
                    <a:off x="953" y="3716"/>
                    <a:ext cx="49" cy="23"/>
                    <a:chOff x="953" y="3716"/>
                    <a:chExt cx="49" cy="23"/>
                  </a:xfrm>
                </p:grpSpPr>
                <p:sp>
                  <p:nvSpPr>
                    <p:cNvPr id="1715"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6"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17"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2" name="Group 2326"/>
                <p:cNvGrpSpPr>
                  <a:grpSpLocks/>
                </p:cNvGrpSpPr>
                <p:nvPr/>
              </p:nvGrpSpPr>
              <p:grpSpPr bwMode="auto">
                <a:xfrm>
                  <a:off x="963" y="3727"/>
                  <a:ext cx="49" cy="23"/>
                  <a:chOff x="963" y="3727"/>
                  <a:chExt cx="49" cy="23"/>
                </a:xfrm>
              </p:grpSpPr>
              <p:sp>
                <p:nvSpPr>
                  <p:cNvPr id="1707"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8"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9"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3" name="Group 2330"/>
                <p:cNvGrpSpPr>
                  <a:grpSpLocks/>
                </p:cNvGrpSpPr>
                <p:nvPr/>
              </p:nvGrpSpPr>
              <p:grpSpPr bwMode="auto">
                <a:xfrm>
                  <a:off x="976" y="3740"/>
                  <a:ext cx="50" cy="22"/>
                  <a:chOff x="976" y="3740"/>
                  <a:chExt cx="50" cy="22"/>
                </a:xfrm>
              </p:grpSpPr>
              <p:sp>
                <p:nvSpPr>
                  <p:cNvPr id="1704"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5"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6"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4" name="Group 2334"/>
                <p:cNvGrpSpPr>
                  <a:grpSpLocks/>
                </p:cNvGrpSpPr>
                <p:nvPr/>
              </p:nvGrpSpPr>
              <p:grpSpPr bwMode="auto">
                <a:xfrm>
                  <a:off x="761" y="3560"/>
                  <a:ext cx="50" cy="22"/>
                  <a:chOff x="761" y="3560"/>
                  <a:chExt cx="50" cy="22"/>
                </a:xfrm>
              </p:grpSpPr>
              <p:sp>
                <p:nvSpPr>
                  <p:cNvPr id="1701"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2"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3"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5" name="Group 2338"/>
                <p:cNvGrpSpPr>
                  <a:grpSpLocks/>
                </p:cNvGrpSpPr>
                <p:nvPr/>
              </p:nvGrpSpPr>
              <p:grpSpPr bwMode="auto">
                <a:xfrm>
                  <a:off x="774" y="3572"/>
                  <a:ext cx="49" cy="23"/>
                  <a:chOff x="774" y="3572"/>
                  <a:chExt cx="49" cy="23"/>
                </a:xfrm>
              </p:grpSpPr>
              <p:sp>
                <p:nvSpPr>
                  <p:cNvPr id="1698"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9"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700"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6" name="Group 2342"/>
                <p:cNvGrpSpPr>
                  <a:grpSpLocks/>
                </p:cNvGrpSpPr>
                <p:nvPr/>
              </p:nvGrpSpPr>
              <p:grpSpPr bwMode="auto">
                <a:xfrm>
                  <a:off x="787" y="3585"/>
                  <a:ext cx="49" cy="23"/>
                  <a:chOff x="787" y="3585"/>
                  <a:chExt cx="49" cy="23"/>
                </a:xfrm>
              </p:grpSpPr>
              <p:sp>
                <p:nvSpPr>
                  <p:cNvPr id="1695"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6"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7"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17" name="Group 2346"/>
                <p:cNvGrpSpPr>
                  <a:grpSpLocks/>
                </p:cNvGrpSpPr>
                <p:nvPr/>
              </p:nvGrpSpPr>
              <p:grpSpPr bwMode="auto">
                <a:xfrm>
                  <a:off x="799" y="3600"/>
                  <a:ext cx="99" cy="73"/>
                  <a:chOff x="799" y="3600"/>
                  <a:chExt cx="99" cy="73"/>
                </a:xfrm>
              </p:grpSpPr>
              <p:grpSp>
                <p:nvGrpSpPr>
                  <p:cNvPr id="1675" name="Group 2347"/>
                  <p:cNvGrpSpPr>
                    <a:grpSpLocks/>
                  </p:cNvGrpSpPr>
                  <p:nvPr/>
                </p:nvGrpSpPr>
                <p:grpSpPr bwMode="auto">
                  <a:xfrm>
                    <a:off x="799" y="3600"/>
                    <a:ext cx="48" cy="23"/>
                    <a:chOff x="799" y="3600"/>
                    <a:chExt cx="48" cy="23"/>
                  </a:xfrm>
                </p:grpSpPr>
                <p:sp>
                  <p:nvSpPr>
                    <p:cNvPr id="1692"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3"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4"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6" name="Group 2351"/>
                  <p:cNvGrpSpPr>
                    <a:grpSpLocks/>
                  </p:cNvGrpSpPr>
                  <p:nvPr/>
                </p:nvGrpSpPr>
                <p:grpSpPr bwMode="auto">
                  <a:xfrm>
                    <a:off x="811" y="3612"/>
                    <a:ext cx="48" cy="23"/>
                    <a:chOff x="811" y="3612"/>
                    <a:chExt cx="48" cy="23"/>
                  </a:xfrm>
                </p:grpSpPr>
                <p:sp>
                  <p:nvSpPr>
                    <p:cNvPr id="1689"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0"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91"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7" name="Group 2355"/>
                  <p:cNvGrpSpPr>
                    <a:grpSpLocks/>
                  </p:cNvGrpSpPr>
                  <p:nvPr/>
                </p:nvGrpSpPr>
                <p:grpSpPr bwMode="auto">
                  <a:xfrm>
                    <a:off x="823" y="3625"/>
                    <a:ext cx="49" cy="23"/>
                    <a:chOff x="823" y="3625"/>
                    <a:chExt cx="49" cy="23"/>
                  </a:xfrm>
                </p:grpSpPr>
                <p:sp>
                  <p:nvSpPr>
                    <p:cNvPr id="1686"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7"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8"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8" name="Group 2359"/>
                  <p:cNvGrpSpPr>
                    <a:grpSpLocks/>
                  </p:cNvGrpSpPr>
                  <p:nvPr/>
                </p:nvGrpSpPr>
                <p:grpSpPr bwMode="auto">
                  <a:xfrm>
                    <a:off x="836" y="3638"/>
                    <a:ext cx="50" cy="22"/>
                    <a:chOff x="836" y="3638"/>
                    <a:chExt cx="50" cy="22"/>
                  </a:xfrm>
                </p:grpSpPr>
                <p:sp>
                  <p:nvSpPr>
                    <p:cNvPr id="1683"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4"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5"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79" name="Group 2363"/>
                  <p:cNvGrpSpPr>
                    <a:grpSpLocks/>
                  </p:cNvGrpSpPr>
                  <p:nvPr/>
                </p:nvGrpSpPr>
                <p:grpSpPr bwMode="auto">
                  <a:xfrm>
                    <a:off x="849" y="3651"/>
                    <a:ext cx="49" cy="22"/>
                    <a:chOff x="849" y="3651"/>
                    <a:chExt cx="49" cy="22"/>
                  </a:xfrm>
                </p:grpSpPr>
                <p:sp>
                  <p:nvSpPr>
                    <p:cNvPr id="1680"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1"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82"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8" name="Group 2367"/>
                <p:cNvGrpSpPr>
                  <a:grpSpLocks/>
                </p:cNvGrpSpPr>
                <p:nvPr/>
              </p:nvGrpSpPr>
              <p:grpSpPr bwMode="auto">
                <a:xfrm>
                  <a:off x="861" y="3665"/>
                  <a:ext cx="99" cy="74"/>
                  <a:chOff x="861" y="3665"/>
                  <a:chExt cx="99" cy="74"/>
                </a:xfrm>
              </p:grpSpPr>
              <p:grpSp>
                <p:nvGrpSpPr>
                  <p:cNvPr id="1655" name="Group 2368"/>
                  <p:cNvGrpSpPr>
                    <a:grpSpLocks/>
                  </p:cNvGrpSpPr>
                  <p:nvPr/>
                </p:nvGrpSpPr>
                <p:grpSpPr bwMode="auto">
                  <a:xfrm>
                    <a:off x="861" y="3665"/>
                    <a:ext cx="50" cy="23"/>
                    <a:chOff x="861" y="3665"/>
                    <a:chExt cx="50" cy="23"/>
                  </a:xfrm>
                </p:grpSpPr>
                <p:sp>
                  <p:nvSpPr>
                    <p:cNvPr id="1672"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3"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4"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6" name="Group 2372"/>
                  <p:cNvGrpSpPr>
                    <a:grpSpLocks/>
                  </p:cNvGrpSpPr>
                  <p:nvPr/>
                </p:nvGrpSpPr>
                <p:grpSpPr bwMode="auto">
                  <a:xfrm>
                    <a:off x="873" y="3678"/>
                    <a:ext cx="49" cy="23"/>
                    <a:chOff x="873" y="3678"/>
                    <a:chExt cx="49" cy="23"/>
                  </a:xfrm>
                </p:grpSpPr>
                <p:sp>
                  <p:nvSpPr>
                    <p:cNvPr id="1669"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0"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71"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7" name="Group 2376"/>
                  <p:cNvGrpSpPr>
                    <a:grpSpLocks/>
                  </p:cNvGrpSpPr>
                  <p:nvPr/>
                </p:nvGrpSpPr>
                <p:grpSpPr bwMode="auto">
                  <a:xfrm>
                    <a:off x="886" y="3690"/>
                    <a:ext cx="49" cy="23"/>
                    <a:chOff x="886" y="3690"/>
                    <a:chExt cx="49" cy="23"/>
                  </a:xfrm>
                </p:grpSpPr>
                <p:sp>
                  <p:nvSpPr>
                    <p:cNvPr id="1666"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7"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8"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8" name="Group 2380"/>
                  <p:cNvGrpSpPr>
                    <a:grpSpLocks/>
                  </p:cNvGrpSpPr>
                  <p:nvPr/>
                </p:nvGrpSpPr>
                <p:grpSpPr bwMode="auto">
                  <a:xfrm>
                    <a:off x="899" y="3703"/>
                    <a:ext cx="48" cy="23"/>
                    <a:chOff x="899" y="3703"/>
                    <a:chExt cx="48" cy="23"/>
                  </a:xfrm>
                </p:grpSpPr>
                <p:sp>
                  <p:nvSpPr>
                    <p:cNvPr id="1663"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4"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5"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59" name="Group 2384"/>
                  <p:cNvGrpSpPr>
                    <a:grpSpLocks/>
                  </p:cNvGrpSpPr>
                  <p:nvPr/>
                </p:nvGrpSpPr>
                <p:grpSpPr bwMode="auto">
                  <a:xfrm>
                    <a:off x="912" y="3716"/>
                    <a:ext cx="48" cy="23"/>
                    <a:chOff x="912" y="3716"/>
                    <a:chExt cx="48" cy="23"/>
                  </a:xfrm>
                </p:grpSpPr>
                <p:sp>
                  <p:nvSpPr>
                    <p:cNvPr id="1660"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1"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62"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19" name="Group 2388"/>
                <p:cNvGrpSpPr>
                  <a:grpSpLocks/>
                </p:cNvGrpSpPr>
                <p:nvPr/>
              </p:nvGrpSpPr>
              <p:grpSpPr bwMode="auto">
                <a:xfrm>
                  <a:off x="922" y="3727"/>
                  <a:ext cx="49" cy="23"/>
                  <a:chOff x="922" y="3727"/>
                  <a:chExt cx="49" cy="23"/>
                </a:xfrm>
              </p:grpSpPr>
              <p:sp>
                <p:nvSpPr>
                  <p:cNvPr id="1652"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3"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4"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0" name="Group 2392"/>
                <p:cNvGrpSpPr>
                  <a:grpSpLocks/>
                </p:cNvGrpSpPr>
                <p:nvPr/>
              </p:nvGrpSpPr>
              <p:grpSpPr bwMode="auto">
                <a:xfrm>
                  <a:off x="895" y="3526"/>
                  <a:ext cx="44" cy="23"/>
                  <a:chOff x="895" y="3526"/>
                  <a:chExt cx="44" cy="23"/>
                </a:xfrm>
              </p:grpSpPr>
              <p:sp>
                <p:nvSpPr>
                  <p:cNvPr id="1649"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0"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51"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1" name="Group 2396"/>
                <p:cNvGrpSpPr>
                  <a:grpSpLocks/>
                </p:cNvGrpSpPr>
                <p:nvPr/>
              </p:nvGrpSpPr>
              <p:grpSpPr bwMode="auto">
                <a:xfrm>
                  <a:off x="907" y="3540"/>
                  <a:ext cx="45" cy="22"/>
                  <a:chOff x="907" y="3540"/>
                  <a:chExt cx="45" cy="22"/>
                </a:xfrm>
              </p:grpSpPr>
              <p:sp>
                <p:nvSpPr>
                  <p:cNvPr id="1646"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7"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8"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2" name="Group 2400"/>
                <p:cNvGrpSpPr>
                  <a:grpSpLocks/>
                </p:cNvGrpSpPr>
                <p:nvPr/>
              </p:nvGrpSpPr>
              <p:grpSpPr bwMode="auto">
                <a:xfrm>
                  <a:off x="920" y="3553"/>
                  <a:ext cx="45" cy="23"/>
                  <a:chOff x="920" y="3553"/>
                  <a:chExt cx="45" cy="23"/>
                </a:xfrm>
              </p:grpSpPr>
              <p:sp>
                <p:nvSpPr>
                  <p:cNvPr id="1643"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4"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5"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3" name="Group 2404"/>
                <p:cNvGrpSpPr>
                  <a:grpSpLocks/>
                </p:cNvGrpSpPr>
                <p:nvPr/>
              </p:nvGrpSpPr>
              <p:grpSpPr bwMode="auto">
                <a:xfrm>
                  <a:off x="934" y="3566"/>
                  <a:ext cx="44" cy="23"/>
                  <a:chOff x="934" y="3566"/>
                  <a:chExt cx="44" cy="23"/>
                </a:xfrm>
              </p:grpSpPr>
              <p:sp>
                <p:nvSpPr>
                  <p:cNvPr id="1640"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1"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42"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4" name="Group 2408"/>
                <p:cNvGrpSpPr>
                  <a:grpSpLocks/>
                </p:cNvGrpSpPr>
                <p:nvPr/>
              </p:nvGrpSpPr>
              <p:grpSpPr bwMode="auto">
                <a:xfrm>
                  <a:off x="949" y="3579"/>
                  <a:ext cx="83" cy="63"/>
                  <a:chOff x="949" y="3579"/>
                  <a:chExt cx="83" cy="63"/>
                </a:xfrm>
              </p:grpSpPr>
              <p:grpSp>
                <p:nvGrpSpPr>
                  <p:cNvPr id="1624" name="Group 2409"/>
                  <p:cNvGrpSpPr>
                    <a:grpSpLocks/>
                  </p:cNvGrpSpPr>
                  <p:nvPr/>
                </p:nvGrpSpPr>
                <p:grpSpPr bwMode="auto">
                  <a:xfrm>
                    <a:off x="949" y="3579"/>
                    <a:ext cx="44" cy="23"/>
                    <a:chOff x="949" y="3579"/>
                    <a:chExt cx="44" cy="23"/>
                  </a:xfrm>
                </p:grpSpPr>
                <p:sp>
                  <p:nvSpPr>
                    <p:cNvPr id="1637"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8"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9"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5" name="Group 2413"/>
                  <p:cNvGrpSpPr>
                    <a:grpSpLocks/>
                  </p:cNvGrpSpPr>
                  <p:nvPr/>
                </p:nvGrpSpPr>
                <p:grpSpPr bwMode="auto">
                  <a:xfrm>
                    <a:off x="961" y="3592"/>
                    <a:ext cx="45" cy="23"/>
                    <a:chOff x="961" y="3592"/>
                    <a:chExt cx="45" cy="23"/>
                  </a:xfrm>
                </p:grpSpPr>
                <p:sp>
                  <p:nvSpPr>
                    <p:cNvPr id="1634"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5"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6"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6" name="Group 2417"/>
                  <p:cNvGrpSpPr>
                    <a:grpSpLocks/>
                  </p:cNvGrpSpPr>
                  <p:nvPr/>
                </p:nvGrpSpPr>
                <p:grpSpPr bwMode="auto">
                  <a:xfrm>
                    <a:off x="974" y="3606"/>
                    <a:ext cx="44" cy="23"/>
                    <a:chOff x="974" y="3606"/>
                    <a:chExt cx="44" cy="23"/>
                  </a:xfrm>
                </p:grpSpPr>
                <p:sp>
                  <p:nvSpPr>
                    <p:cNvPr id="1631"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2"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3"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27" name="Group 2421"/>
                  <p:cNvGrpSpPr>
                    <a:grpSpLocks/>
                  </p:cNvGrpSpPr>
                  <p:nvPr/>
                </p:nvGrpSpPr>
                <p:grpSpPr bwMode="auto">
                  <a:xfrm>
                    <a:off x="987" y="3619"/>
                    <a:ext cx="45" cy="23"/>
                    <a:chOff x="987" y="3619"/>
                    <a:chExt cx="45" cy="23"/>
                  </a:xfrm>
                </p:grpSpPr>
                <p:sp>
                  <p:nvSpPr>
                    <p:cNvPr id="1628"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9"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30"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5" name="Group 2425"/>
                <p:cNvGrpSpPr>
                  <a:grpSpLocks/>
                </p:cNvGrpSpPr>
                <p:nvPr/>
              </p:nvGrpSpPr>
              <p:grpSpPr bwMode="auto">
                <a:xfrm>
                  <a:off x="1002" y="3632"/>
                  <a:ext cx="83" cy="63"/>
                  <a:chOff x="1002" y="3632"/>
                  <a:chExt cx="83" cy="63"/>
                </a:xfrm>
              </p:grpSpPr>
              <p:grpSp>
                <p:nvGrpSpPr>
                  <p:cNvPr id="1608" name="Group 2426"/>
                  <p:cNvGrpSpPr>
                    <a:grpSpLocks/>
                  </p:cNvGrpSpPr>
                  <p:nvPr/>
                </p:nvGrpSpPr>
                <p:grpSpPr bwMode="auto">
                  <a:xfrm>
                    <a:off x="1002" y="3632"/>
                    <a:ext cx="44" cy="22"/>
                    <a:chOff x="1002" y="3632"/>
                    <a:chExt cx="44" cy="22"/>
                  </a:xfrm>
                </p:grpSpPr>
                <p:sp>
                  <p:nvSpPr>
                    <p:cNvPr id="1621"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2"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3"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09" name="Group 2430"/>
                  <p:cNvGrpSpPr>
                    <a:grpSpLocks/>
                  </p:cNvGrpSpPr>
                  <p:nvPr/>
                </p:nvGrpSpPr>
                <p:grpSpPr bwMode="auto">
                  <a:xfrm>
                    <a:off x="1014" y="3645"/>
                    <a:ext cx="44" cy="23"/>
                    <a:chOff x="1014" y="3645"/>
                    <a:chExt cx="44" cy="23"/>
                  </a:xfrm>
                </p:grpSpPr>
                <p:sp>
                  <p:nvSpPr>
                    <p:cNvPr id="1618"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9"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20"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0" name="Group 2434"/>
                  <p:cNvGrpSpPr>
                    <a:grpSpLocks/>
                  </p:cNvGrpSpPr>
                  <p:nvPr/>
                </p:nvGrpSpPr>
                <p:grpSpPr bwMode="auto">
                  <a:xfrm>
                    <a:off x="1027" y="3659"/>
                    <a:ext cx="45" cy="23"/>
                    <a:chOff x="1027" y="3659"/>
                    <a:chExt cx="45" cy="23"/>
                  </a:xfrm>
                </p:grpSpPr>
                <p:sp>
                  <p:nvSpPr>
                    <p:cNvPr id="1615"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6"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7"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611" name="Group 2438"/>
                  <p:cNvGrpSpPr>
                    <a:grpSpLocks/>
                  </p:cNvGrpSpPr>
                  <p:nvPr/>
                </p:nvGrpSpPr>
                <p:grpSpPr bwMode="auto">
                  <a:xfrm>
                    <a:off x="1040" y="3672"/>
                    <a:ext cx="45" cy="23"/>
                    <a:chOff x="1040" y="3672"/>
                    <a:chExt cx="45" cy="23"/>
                  </a:xfrm>
                </p:grpSpPr>
                <p:sp>
                  <p:nvSpPr>
                    <p:cNvPr id="1612"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3"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14"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526" name="Group 2442"/>
                <p:cNvGrpSpPr>
                  <a:grpSpLocks/>
                </p:cNvGrpSpPr>
                <p:nvPr/>
              </p:nvGrpSpPr>
              <p:grpSpPr bwMode="auto">
                <a:xfrm>
                  <a:off x="1054" y="3685"/>
                  <a:ext cx="45" cy="23"/>
                  <a:chOff x="1054" y="3685"/>
                  <a:chExt cx="45" cy="23"/>
                </a:xfrm>
              </p:grpSpPr>
              <p:sp>
                <p:nvSpPr>
                  <p:cNvPr id="1605"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6"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7"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7" name="Group 2446"/>
                <p:cNvGrpSpPr>
                  <a:grpSpLocks/>
                </p:cNvGrpSpPr>
                <p:nvPr/>
              </p:nvGrpSpPr>
              <p:grpSpPr bwMode="auto">
                <a:xfrm>
                  <a:off x="1067" y="3698"/>
                  <a:ext cx="45" cy="23"/>
                  <a:chOff x="1067" y="3698"/>
                  <a:chExt cx="45" cy="23"/>
                </a:xfrm>
              </p:grpSpPr>
              <p:sp>
                <p:nvSpPr>
                  <p:cNvPr id="1602"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3"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4"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8" name="Group 2450"/>
                <p:cNvGrpSpPr>
                  <a:grpSpLocks/>
                </p:cNvGrpSpPr>
                <p:nvPr/>
              </p:nvGrpSpPr>
              <p:grpSpPr bwMode="auto">
                <a:xfrm>
                  <a:off x="1079" y="3712"/>
                  <a:ext cx="44" cy="23"/>
                  <a:chOff x="1079" y="3712"/>
                  <a:chExt cx="44" cy="23"/>
                </a:xfrm>
              </p:grpSpPr>
              <p:sp>
                <p:nvSpPr>
                  <p:cNvPr id="1599"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0"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601"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29" name="Group 2454"/>
                <p:cNvGrpSpPr>
                  <a:grpSpLocks/>
                </p:cNvGrpSpPr>
                <p:nvPr/>
              </p:nvGrpSpPr>
              <p:grpSpPr bwMode="auto">
                <a:xfrm>
                  <a:off x="1093" y="3725"/>
                  <a:ext cx="45" cy="23"/>
                  <a:chOff x="1093" y="3725"/>
                  <a:chExt cx="45" cy="23"/>
                </a:xfrm>
              </p:grpSpPr>
              <p:sp>
                <p:nvSpPr>
                  <p:cNvPr id="1596"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7"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8"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0" name="Group 2458"/>
                <p:cNvGrpSpPr>
                  <a:grpSpLocks/>
                </p:cNvGrpSpPr>
                <p:nvPr/>
              </p:nvGrpSpPr>
              <p:grpSpPr bwMode="auto">
                <a:xfrm>
                  <a:off x="1108" y="3739"/>
                  <a:ext cx="44" cy="23"/>
                  <a:chOff x="1108" y="3739"/>
                  <a:chExt cx="44" cy="23"/>
                </a:xfrm>
              </p:grpSpPr>
              <p:sp>
                <p:nvSpPr>
                  <p:cNvPr id="1593"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4"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5"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1" name="Group 2462"/>
                <p:cNvGrpSpPr>
                  <a:grpSpLocks/>
                </p:cNvGrpSpPr>
                <p:nvPr/>
              </p:nvGrpSpPr>
              <p:grpSpPr bwMode="auto">
                <a:xfrm>
                  <a:off x="1121" y="3753"/>
                  <a:ext cx="45" cy="23"/>
                  <a:chOff x="1121" y="3753"/>
                  <a:chExt cx="45" cy="23"/>
                </a:xfrm>
              </p:grpSpPr>
              <p:sp>
                <p:nvSpPr>
                  <p:cNvPr id="1590"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1"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92"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32" name="Group 2466"/>
                <p:cNvGrpSpPr>
                  <a:grpSpLocks/>
                </p:cNvGrpSpPr>
                <p:nvPr/>
              </p:nvGrpSpPr>
              <p:grpSpPr bwMode="auto">
                <a:xfrm>
                  <a:off x="1133" y="3767"/>
                  <a:ext cx="44" cy="23"/>
                  <a:chOff x="1133" y="3767"/>
                  <a:chExt cx="44" cy="23"/>
                </a:xfrm>
              </p:grpSpPr>
              <p:sp>
                <p:nvSpPr>
                  <p:cNvPr id="1587"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8"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9"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33"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4"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5"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6"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7"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8"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39"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0"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1"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2"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43"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544" name="Group 2481"/>
                <p:cNvGrpSpPr>
                  <a:grpSpLocks/>
                </p:cNvGrpSpPr>
                <p:nvPr/>
              </p:nvGrpSpPr>
              <p:grpSpPr bwMode="auto">
                <a:xfrm>
                  <a:off x="700" y="3535"/>
                  <a:ext cx="49" cy="24"/>
                  <a:chOff x="700" y="3535"/>
                  <a:chExt cx="49" cy="24"/>
                </a:xfrm>
              </p:grpSpPr>
              <p:sp>
                <p:nvSpPr>
                  <p:cNvPr id="1584"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5"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6"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5" name="Group 2485"/>
                <p:cNvGrpSpPr>
                  <a:grpSpLocks/>
                </p:cNvGrpSpPr>
                <p:nvPr/>
              </p:nvGrpSpPr>
              <p:grpSpPr bwMode="auto">
                <a:xfrm>
                  <a:off x="714" y="3551"/>
                  <a:ext cx="49" cy="22"/>
                  <a:chOff x="714" y="3551"/>
                  <a:chExt cx="49" cy="22"/>
                </a:xfrm>
              </p:grpSpPr>
              <p:sp>
                <p:nvSpPr>
                  <p:cNvPr id="1581"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2"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3"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6" name="Group 2489"/>
                <p:cNvGrpSpPr>
                  <a:grpSpLocks/>
                </p:cNvGrpSpPr>
                <p:nvPr/>
              </p:nvGrpSpPr>
              <p:grpSpPr bwMode="auto">
                <a:xfrm>
                  <a:off x="728" y="3564"/>
                  <a:ext cx="48" cy="23"/>
                  <a:chOff x="728" y="3564"/>
                  <a:chExt cx="48" cy="23"/>
                </a:xfrm>
              </p:grpSpPr>
              <p:sp>
                <p:nvSpPr>
                  <p:cNvPr id="1578"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9"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80"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7" name="Group 2493"/>
                <p:cNvGrpSpPr>
                  <a:grpSpLocks/>
                </p:cNvGrpSpPr>
                <p:nvPr/>
              </p:nvGrpSpPr>
              <p:grpSpPr bwMode="auto">
                <a:xfrm>
                  <a:off x="742" y="3582"/>
                  <a:ext cx="49" cy="23"/>
                  <a:chOff x="742" y="3582"/>
                  <a:chExt cx="49" cy="23"/>
                </a:xfrm>
              </p:grpSpPr>
              <p:sp>
                <p:nvSpPr>
                  <p:cNvPr id="1575"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6"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7"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8" name="Group 2497"/>
                <p:cNvGrpSpPr>
                  <a:grpSpLocks/>
                </p:cNvGrpSpPr>
                <p:nvPr/>
              </p:nvGrpSpPr>
              <p:grpSpPr bwMode="auto">
                <a:xfrm>
                  <a:off x="752" y="3597"/>
                  <a:ext cx="133" cy="106"/>
                  <a:chOff x="752" y="3597"/>
                  <a:chExt cx="133" cy="106"/>
                </a:xfrm>
              </p:grpSpPr>
              <p:sp>
                <p:nvSpPr>
                  <p:cNvPr id="1572"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3"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4"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49" name="Group 2501"/>
                <p:cNvGrpSpPr>
                  <a:grpSpLocks/>
                </p:cNvGrpSpPr>
                <p:nvPr/>
              </p:nvGrpSpPr>
              <p:grpSpPr bwMode="auto">
                <a:xfrm>
                  <a:off x="844" y="3694"/>
                  <a:ext cx="48" cy="23"/>
                  <a:chOff x="844" y="3694"/>
                  <a:chExt cx="48" cy="23"/>
                </a:xfrm>
              </p:grpSpPr>
              <p:sp>
                <p:nvSpPr>
                  <p:cNvPr id="1569"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0"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71"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0" name="Group 2505"/>
                <p:cNvGrpSpPr>
                  <a:grpSpLocks/>
                </p:cNvGrpSpPr>
                <p:nvPr/>
              </p:nvGrpSpPr>
              <p:grpSpPr bwMode="auto">
                <a:xfrm>
                  <a:off x="857" y="3710"/>
                  <a:ext cx="49" cy="22"/>
                  <a:chOff x="857" y="3710"/>
                  <a:chExt cx="49" cy="22"/>
                </a:xfrm>
              </p:grpSpPr>
              <p:sp>
                <p:nvSpPr>
                  <p:cNvPr id="1566"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7"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8"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1" name="Group 2509"/>
                <p:cNvGrpSpPr>
                  <a:grpSpLocks/>
                </p:cNvGrpSpPr>
                <p:nvPr/>
              </p:nvGrpSpPr>
              <p:grpSpPr bwMode="auto">
                <a:xfrm>
                  <a:off x="1086" y="3766"/>
                  <a:ext cx="49" cy="23"/>
                  <a:chOff x="1086" y="3766"/>
                  <a:chExt cx="49" cy="23"/>
                </a:xfrm>
              </p:grpSpPr>
              <p:sp>
                <p:nvSpPr>
                  <p:cNvPr id="1563"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4"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5"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2" name="Group 2513"/>
                <p:cNvGrpSpPr>
                  <a:grpSpLocks/>
                </p:cNvGrpSpPr>
                <p:nvPr/>
              </p:nvGrpSpPr>
              <p:grpSpPr bwMode="auto">
                <a:xfrm>
                  <a:off x="934" y="3740"/>
                  <a:ext cx="48" cy="23"/>
                  <a:chOff x="934" y="3740"/>
                  <a:chExt cx="48" cy="23"/>
                </a:xfrm>
              </p:grpSpPr>
              <p:sp>
                <p:nvSpPr>
                  <p:cNvPr id="1560"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1"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62"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553" name="Group 2517"/>
                <p:cNvGrpSpPr>
                  <a:grpSpLocks/>
                </p:cNvGrpSpPr>
                <p:nvPr/>
              </p:nvGrpSpPr>
              <p:grpSpPr bwMode="auto">
                <a:xfrm>
                  <a:off x="943" y="3754"/>
                  <a:ext cx="49" cy="23"/>
                  <a:chOff x="943" y="3754"/>
                  <a:chExt cx="49" cy="23"/>
                </a:xfrm>
              </p:grpSpPr>
              <p:sp>
                <p:nvSpPr>
                  <p:cNvPr id="1557"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8"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9"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554"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5"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556"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1" name="Group 2524"/>
              <p:cNvGrpSpPr>
                <a:grpSpLocks/>
              </p:cNvGrpSpPr>
              <p:nvPr/>
            </p:nvGrpSpPr>
            <p:grpSpPr bwMode="auto">
              <a:xfrm>
                <a:off x="920" y="3821"/>
                <a:ext cx="413" cy="50"/>
                <a:chOff x="920" y="3821"/>
                <a:chExt cx="413" cy="50"/>
              </a:xfrm>
            </p:grpSpPr>
            <p:sp>
              <p:nvSpPr>
                <p:cNvPr id="1472"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3"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4"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5"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452" name="Group 2529"/>
              <p:cNvGrpSpPr>
                <a:grpSpLocks/>
              </p:cNvGrpSpPr>
              <p:nvPr/>
            </p:nvGrpSpPr>
            <p:grpSpPr bwMode="auto">
              <a:xfrm>
                <a:off x="1227" y="3477"/>
                <a:ext cx="508" cy="321"/>
                <a:chOff x="1227" y="3477"/>
                <a:chExt cx="508" cy="321"/>
              </a:xfrm>
            </p:grpSpPr>
            <p:sp>
              <p:nvSpPr>
                <p:cNvPr id="1453"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4"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5"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6"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7"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8"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59"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0"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1"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2"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3"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4"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5"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6"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67"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8"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69"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470"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471"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890" name="Group 2096"/>
            <p:cNvGrpSpPr>
              <a:grpSpLocks/>
            </p:cNvGrpSpPr>
            <p:nvPr/>
          </p:nvGrpSpPr>
          <p:grpSpPr bwMode="auto">
            <a:xfrm>
              <a:off x="4572000" y="1700213"/>
              <a:ext cx="431800" cy="330200"/>
              <a:chOff x="624" y="2968"/>
              <a:chExt cx="1331" cy="920"/>
            </a:xfrm>
          </p:grpSpPr>
          <p:sp>
            <p:nvSpPr>
              <p:cNvPr id="1891"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2"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3"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4"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5"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6"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7"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8"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899"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0"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1"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2"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03" name="Group 2109"/>
              <p:cNvGrpSpPr>
                <a:grpSpLocks/>
              </p:cNvGrpSpPr>
              <p:nvPr/>
            </p:nvGrpSpPr>
            <p:grpSpPr bwMode="auto">
              <a:xfrm>
                <a:off x="700" y="3526"/>
                <a:ext cx="515" cy="270"/>
                <a:chOff x="700" y="3526"/>
                <a:chExt cx="515" cy="270"/>
              </a:xfrm>
            </p:grpSpPr>
            <p:grpSp>
              <p:nvGrpSpPr>
                <p:cNvPr id="1929" name="Group 2110"/>
                <p:cNvGrpSpPr>
                  <a:grpSpLocks/>
                </p:cNvGrpSpPr>
                <p:nvPr/>
              </p:nvGrpSpPr>
              <p:grpSpPr bwMode="auto">
                <a:xfrm>
                  <a:off x="737" y="3534"/>
                  <a:ext cx="49" cy="23"/>
                  <a:chOff x="737" y="3534"/>
                  <a:chExt cx="49" cy="23"/>
                </a:xfrm>
              </p:grpSpPr>
              <p:sp>
                <p:nvSpPr>
                  <p:cNvPr id="2340"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1"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2"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0" name="Group 2114"/>
                <p:cNvGrpSpPr>
                  <a:grpSpLocks/>
                </p:cNvGrpSpPr>
                <p:nvPr/>
              </p:nvGrpSpPr>
              <p:grpSpPr bwMode="auto">
                <a:xfrm>
                  <a:off x="748" y="3547"/>
                  <a:ext cx="50" cy="23"/>
                  <a:chOff x="748" y="3547"/>
                  <a:chExt cx="50" cy="23"/>
                </a:xfrm>
              </p:grpSpPr>
              <p:sp>
                <p:nvSpPr>
                  <p:cNvPr id="2337"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8"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9"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31"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2"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3"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34"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35" name="Group 2122"/>
                <p:cNvGrpSpPr>
                  <a:grpSpLocks/>
                </p:cNvGrpSpPr>
                <p:nvPr/>
              </p:nvGrpSpPr>
              <p:grpSpPr bwMode="auto">
                <a:xfrm>
                  <a:off x="872" y="3547"/>
                  <a:ext cx="50" cy="23"/>
                  <a:chOff x="872" y="3547"/>
                  <a:chExt cx="50" cy="23"/>
                </a:xfrm>
              </p:grpSpPr>
              <p:sp>
                <p:nvSpPr>
                  <p:cNvPr id="2334"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5"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6"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6" name="Group 2126"/>
                <p:cNvGrpSpPr>
                  <a:grpSpLocks/>
                </p:cNvGrpSpPr>
                <p:nvPr/>
              </p:nvGrpSpPr>
              <p:grpSpPr bwMode="auto">
                <a:xfrm>
                  <a:off x="885" y="3559"/>
                  <a:ext cx="50" cy="23"/>
                  <a:chOff x="885" y="3559"/>
                  <a:chExt cx="50" cy="23"/>
                </a:xfrm>
              </p:grpSpPr>
              <p:sp>
                <p:nvSpPr>
                  <p:cNvPr id="2331"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2"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3"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7" name="Group 2130"/>
                <p:cNvGrpSpPr>
                  <a:grpSpLocks/>
                </p:cNvGrpSpPr>
                <p:nvPr/>
              </p:nvGrpSpPr>
              <p:grpSpPr bwMode="auto">
                <a:xfrm>
                  <a:off x="898" y="3571"/>
                  <a:ext cx="49" cy="23"/>
                  <a:chOff x="898" y="3571"/>
                  <a:chExt cx="49" cy="23"/>
                </a:xfrm>
              </p:grpSpPr>
              <p:sp>
                <p:nvSpPr>
                  <p:cNvPr id="2328"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9"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30"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8" name="Group 2134"/>
                <p:cNvGrpSpPr>
                  <a:grpSpLocks/>
                </p:cNvGrpSpPr>
                <p:nvPr/>
              </p:nvGrpSpPr>
              <p:grpSpPr bwMode="auto">
                <a:xfrm>
                  <a:off x="911" y="3585"/>
                  <a:ext cx="49" cy="23"/>
                  <a:chOff x="911" y="3585"/>
                  <a:chExt cx="49" cy="23"/>
                </a:xfrm>
              </p:grpSpPr>
              <p:sp>
                <p:nvSpPr>
                  <p:cNvPr id="2325"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6"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7"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39" name="Group 2138"/>
                <p:cNvGrpSpPr>
                  <a:grpSpLocks/>
                </p:cNvGrpSpPr>
                <p:nvPr/>
              </p:nvGrpSpPr>
              <p:grpSpPr bwMode="auto">
                <a:xfrm>
                  <a:off x="923" y="3600"/>
                  <a:ext cx="99" cy="73"/>
                  <a:chOff x="923" y="3600"/>
                  <a:chExt cx="99" cy="73"/>
                </a:xfrm>
              </p:grpSpPr>
              <p:grpSp>
                <p:nvGrpSpPr>
                  <p:cNvPr id="2305" name="Group 2139"/>
                  <p:cNvGrpSpPr>
                    <a:grpSpLocks/>
                  </p:cNvGrpSpPr>
                  <p:nvPr/>
                </p:nvGrpSpPr>
                <p:grpSpPr bwMode="auto">
                  <a:xfrm>
                    <a:off x="923" y="3600"/>
                    <a:ext cx="49" cy="23"/>
                    <a:chOff x="923" y="3600"/>
                    <a:chExt cx="49" cy="23"/>
                  </a:xfrm>
                </p:grpSpPr>
                <p:sp>
                  <p:nvSpPr>
                    <p:cNvPr id="2322"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3"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4"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6" name="Group 2143"/>
                  <p:cNvGrpSpPr>
                    <a:grpSpLocks/>
                  </p:cNvGrpSpPr>
                  <p:nvPr/>
                </p:nvGrpSpPr>
                <p:grpSpPr bwMode="auto">
                  <a:xfrm>
                    <a:off x="935" y="3612"/>
                    <a:ext cx="48" cy="23"/>
                    <a:chOff x="935" y="3612"/>
                    <a:chExt cx="48" cy="23"/>
                  </a:xfrm>
                </p:grpSpPr>
                <p:sp>
                  <p:nvSpPr>
                    <p:cNvPr id="2319"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0"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21"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7" name="Group 2147"/>
                  <p:cNvGrpSpPr>
                    <a:grpSpLocks/>
                  </p:cNvGrpSpPr>
                  <p:nvPr/>
                </p:nvGrpSpPr>
                <p:grpSpPr bwMode="auto">
                  <a:xfrm>
                    <a:off x="947" y="3625"/>
                    <a:ext cx="50" cy="22"/>
                    <a:chOff x="947" y="3625"/>
                    <a:chExt cx="50" cy="22"/>
                  </a:xfrm>
                </p:grpSpPr>
                <p:sp>
                  <p:nvSpPr>
                    <p:cNvPr id="2316"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7"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8"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8" name="Group 2151"/>
                  <p:cNvGrpSpPr>
                    <a:grpSpLocks/>
                  </p:cNvGrpSpPr>
                  <p:nvPr/>
                </p:nvGrpSpPr>
                <p:grpSpPr bwMode="auto">
                  <a:xfrm>
                    <a:off x="960" y="3637"/>
                    <a:ext cx="50" cy="23"/>
                    <a:chOff x="960" y="3637"/>
                    <a:chExt cx="50" cy="23"/>
                  </a:xfrm>
                </p:grpSpPr>
                <p:sp>
                  <p:nvSpPr>
                    <p:cNvPr id="2313"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4"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5"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09" name="Group 2155"/>
                  <p:cNvGrpSpPr>
                    <a:grpSpLocks/>
                  </p:cNvGrpSpPr>
                  <p:nvPr/>
                </p:nvGrpSpPr>
                <p:grpSpPr bwMode="auto">
                  <a:xfrm>
                    <a:off x="973" y="3650"/>
                    <a:ext cx="49" cy="23"/>
                    <a:chOff x="973" y="3650"/>
                    <a:chExt cx="49" cy="23"/>
                  </a:xfrm>
                </p:grpSpPr>
                <p:sp>
                  <p:nvSpPr>
                    <p:cNvPr id="2310"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1"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12"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0" name="Group 2159"/>
                <p:cNvGrpSpPr>
                  <a:grpSpLocks/>
                </p:cNvGrpSpPr>
                <p:nvPr/>
              </p:nvGrpSpPr>
              <p:grpSpPr bwMode="auto">
                <a:xfrm>
                  <a:off x="985" y="3665"/>
                  <a:ext cx="100" cy="73"/>
                  <a:chOff x="985" y="3665"/>
                  <a:chExt cx="100" cy="73"/>
                </a:xfrm>
              </p:grpSpPr>
              <p:grpSp>
                <p:nvGrpSpPr>
                  <p:cNvPr id="2285" name="Group 2160"/>
                  <p:cNvGrpSpPr>
                    <a:grpSpLocks/>
                  </p:cNvGrpSpPr>
                  <p:nvPr/>
                </p:nvGrpSpPr>
                <p:grpSpPr bwMode="auto">
                  <a:xfrm>
                    <a:off x="985" y="3665"/>
                    <a:ext cx="50" cy="23"/>
                    <a:chOff x="985" y="3665"/>
                    <a:chExt cx="50" cy="23"/>
                  </a:xfrm>
                </p:grpSpPr>
                <p:sp>
                  <p:nvSpPr>
                    <p:cNvPr id="2302"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3"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4"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6" name="Group 2164"/>
                  <p:cNvGrpSpPr>
                    <a:grpSpLocks/>
                  </p:cNvGrpSpPr>
                  <p:nvPr/>
                </p:nvGrpSpPr>
                <p:grpSpPr bwMode="auto">
                  <a:xfrm>
                    <a:off x="997" y="3677"/>
                    <a:ext cx="49" cy="23"/>
                    <a:chOff x="997" y="3677"/>
                    <a:chExt cx="49" cy="23"/>
                  </a:xfrm>
                </p:grpSpPr>
                <p:sp>
                  <p:nvSpPr>
                    <p:cNvPr id="2299"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0"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01"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7" name="Group 2168"/>
                  <p:cNvGrpSpPr>
                    <a:grpSpLocks/>
                  </p:cNvGrpSpPr>
                  <p:nvPr/>
                </p:nvGrpSpPr>
                <p:grpSpPr bwMode="auto">
                  <a:xfrm>
                    <a:off x="1010" y="3690"/>
                    <a:ext cx="48" cy="23"/>
                    <a:chOff x="1010" y="3690"/>
                    <a:chExt cx="48" cy="23"/>
                  </a:xfrm>
                </p:grpSpPr>
                <p:sp>
                  <p:nvSpPr>
                    <p:cNvPr id="2296"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7"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8"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8" name="Group 2172"/>
                  <p:cNvGrpSpPr>
                    <a:grpSpLocks/>
                  </p:cNvGrpSpPr>
                  <p:nvPr/>
                </p:nvGrpSpPr>
                <p:grpSpPr bwMode="auto">
                  <a:xfrm>
                    <a:off x="1023" y="3703"/>
                    <a:ext cx="49" cy="22"/>
                    <a:chOff x="1023" y="3703"/>
                    <a:chExt cx="49" cy="22"/>
                  </a:xfrm>
                </p:grpSpPr>
                <p:sp>
                  <p:nvSpPr>
                    <p:cNvPr id="2293"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4"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5"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89" name="Group 2176"/>
                  <p:cNvGrpSpPr>
                    <a:grpSpLocks/>
                  </p:cNvGrpSpPr>
                  <p:nvPr/>
                </p:nvGrpSpPr>
                <p:grpSpPr bwMode="auto">
                  <a:xfrm>
                    <a:off x="1036" y="3716"/>
                    <a:ext cx="49" cy="22"/>
                    <a:chOff x="1036" y="3716"/>
                    <a:chExt cx="49" cy="22"/>
                  </a:xfrm>
                </p:grpSpPr>
                <p:sp>
                  <p:nvSpPr>
                    <p:cNvPr id="2290"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1"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92"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41" name="Group 2180"/>
                <p:cNvGrpSpPr>
                  <a:grpSpLocks/>
                </p:cNvGrpSpPr>
                <p:nvPr/>
              </p:nvGrpSpPr>
              <p:grpSpPr bwMode="auto">
                <a:xfrm>
                  <a:off x="1046" y="3727"/>
                  <a:ext cx="49" cy="23"/>
                  <a:chOff x="1046" y="3727"/>
                  <a:chExt cx="49" cy="23"/>
                </a:xfrm>
              </p:grpSpPr>
              <p:sp>
                <p:nvSpPr>
                  <p:cNvPr id="2282"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3"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4"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2" name="Group 2184"/>
                <p:cNvGrpSpPr>
                  <a:grpSpLocks/>
                </p:cNvGrpSpPr>
                <p:nvPr/>
              </p:nvGrpSpPr>
              <p:grpSpPr bwMode="auto">
                <a:xfrm>
                  <a:off x="1058" y="3739"/>
                  <a:ext cx="50" cy="23"/>
                  <a:chOff x="1058" y="3739"/>
                  <a:chExt cx="50" cy="23"/>
                </a:xfrm>
              </p:grpSpPr>
              <p:sp>
                <p:nvSpPr>
                  <p:cNvPr id="2279"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0"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81"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3" name="Group 2188"/>
                <p:cNvGrpSpPr>
                  <a:grpSpLocks/>
                </p:cNvGrpSpPr>
                <p:nvPr/>
              </p:nvGrpSpPr>
              <p:grpSpPr bwMode="auto">
                <a:xfrm>
                  <a:off x="1072" y="3753"/>
                  <a:ext cx="48" cy="22"/>
                  <a:chOff x="1072" y="3753"/>
                  <a:chExt cx="48" cy="22"/>
                </a:xfrm>
              </p:grpSpPr>
              <p:sp>
                <p:nvSpPr>
                  <p:cNvPr id="2276"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7"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8"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44"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5"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46"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47" name="Group 2195"/>
                <p:cNvGrpSpPr>
                  <a:grpSpLocks/>
                </p:cNvGrpSpPr>
                <p:nvPr/>
              </p:nvGrpSpPr>
              <p:grpSpPr bwMode="auto">
                <a:xfrm>
                  <a:off x="832" y="3547"/>
                  <a:ext cx="49" cy="23"/>
                  <a:chOff x="832" y="3547"/>
                  <a:chExt cx="49" cy="23"/>
                </a:xfrm>
              </p:grpSpPr>
              <p:sp>
                <p:nvSpPr>
                  <p:cNvPr id="2273"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4"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5"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8" name="Group 2199"/>
                <p:cNvGrpSpPr>
                  <a:grpSpLocks/>
                </p:cNvGrpSpPr>
                <p:nvPr/>
              </p:nvGrpSpPr>
              <p:grpSpPr bwMode="auto">
                <a:xfrm>
                  <a:off x="844" y="3560"/>
                  <a:ext cx="49" cy="22"/>
                  <a:chOff x="844" y="3560"/>
                  <a:chExt cx="49" cy="22"/>
                </a:xfrm>
              </p:grpSpPr>
              <p:sp>
                <p:nvSpPr>
                  <p:cNvPr id="2270"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1"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72"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49" name="Group 2203"/>
                <p:cNvGrpSpPr>
                  <a:grpSpLocks/>
                </p:cNvGrpSpPr>
                <p:nvPr/>
              </p:nvGrpSpPr>
              <p:grpSpPr bwMode="auto">
                <a:xfrm>
                  <a:off x="857" y="3572"/>
                  <a:ext cx="50" cy="23"/>
                  <a:chOff x="857" y="3572"/>
                  <a:chExt cx="50" cy="23"/>
                </a:xfrm>
              </p:grpSpPr>
              <p:sp>
                <p:nvSpPr>
                  <p:cNvPr id="2267"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8"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9"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0" name="Group 2207"/>
                <p:cNvGrpSpPr>
                  <a:grpSpLocks/>
                </p:cNvGrpSpPr>
                <p:nvPr/>
              </p:nvGrpSpPr>
              <p:grpSpPr bwMode="auto">
                <a:xfrm>
                  <a:off x="870" y="3585"/>
                  <a:ext cx="48" cy="23"/>
                  <a:chOff x="870" y="3585"/>
                  <a:chExt cx="48" cy="23"/>
                </a:xfrm>
              </p:grpSpPr>
              <p:sp>
                <p:nvSpPr>
                  <p:cNvPr id="2264"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5"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6"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1" name="Group 2211"/>
                <p:cNvGrpSpPr>
                  <a:grpSpLocks/>
                </p:cNvGrpSpPr>
                <p:nvPr/>
              </p:nvGrpSpPr>
              <p:grpSpPr bwMode="auto">
                <a:xfrm>
                  <a:off x="882" y="3600"/>
                  <a:ext cx="100" cy="73"/>
                  <a:chOff x="882" y="3600"/>
                  <a:chExt cx="100" cy="73"/>
                </a:xfrm>
              </p:grpSpPr>
              <p:grpSp>
                <p:nvGrpSpPr>
                  <p:cNvPr id="2244" name="Group 2212"/>
                  <p:cNvGrpSpPr>
                    <a:grpSpLocks/>
                  </p:cNvGrpSpPr>
                  <p:nvPr/>
                </p:nvGrpSpPr>
                <p:grpSpPr bwMode="auto">
                  <a:xfrm>
                    <a:off x="882" y="3600"/>
                    <a:ext cx="49" cy="23"/>
                    <a:chOff x="882" y="3600"/>
                    <a:chExt cx="49" cy="23"/>
                  </a:xfrm>
                </p:grpSpPr>
                <p:sp>
                  <p:nvSpPr>
                    <p:cNvPr id="2261"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2"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3"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5" name="Group 2216"/>
                  <p:cNvGrpSpPr>
                    <a:grpSpLocks/>
                  </p:cNvGrpSpPr>
                  <p:nvPr/>
                </p:nvGrpSpPr>
                <p:grpSpPr bwMode="auto">
                  <a:xfrm>
                    <a:off x="894" y="3612"/>
                    <a:ext cx="49" cy="23"/>
                    <a:chOff x="894" y="3612"/>
                    <a:chExt cx="49" cy="23"/>
                  </a:xfrm>
                </p:grpSpPr>
                <p:sp>
                  <p:nvSpPr>
                    <p:cNvPr id="2258"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9"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60"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6" name="Group 2220"/>
                  <p:cNvGrpSpPr>
                    <a:grpSpLocks/>
                  </p:cNvGrpSpPr>
                  <p:nvPr/>
                </p:nvGrpSpPr>
                <p:grpSpPr bwMode="auto">
                  <a:xfrm>
                    <a:off x="907" y="3625"/>
                    <a:ext cx="49" cy="23"/>
                    <a:chOff x="907" y="3625"/>
                    <a:chExt cx="49" cy="23"/>
                  </a:xfrm>
                </p:grpSpPr>
                <p:sp>
                  <p:nvSpPr>
                    <p:cNvPr id="2255"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6"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7"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7" name="Group 2224"/>
                  <p:cNvGrpSpPr>
                    <a:grpSpLocks/>
                  </p:cNvGrpSpPr>
                  <p:nvPr/>
                </p:nvGrpSpPr>
                <p:grpSpPr bwMode="auto">
                  <a:xfrm>
                    <a:off x="919" y="3638"/>
                    <a:ext cx="49" cy="22"/>
                    <a:chOff x="919" y="3638"/>
                    <a:chExt cx="49" cy="22"/>
                  </a:xfrm>
                </p:grpSpPr>
                <p:sp>
                  <p:nvSpPr>
                    <p:cNvPr id="2252"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3"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4"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48" name="Group 2228"/>
                  <p:cNvGrpSpPr>
                    <a:grpSpLocks/>
                  </p:cNvGrpSpPr>
                  <p:nvPr/>
                </p:nvGrpSpPr>
                <p:grpSpPr bwMode="auto">
                  <a:xfrm>
                    <a:off x="932" y="3651"/>
                    <a:ext cx="50" cy="22"/>
                    <a:chOff x="932" y="3651"/>
                    <a:chExt cx="50" cy="22"/>
                  </a:xfrm>
                </p:grpSpPr>
                <p:sp>
                  <p:nvSpPr>
                    <p:cNvPr id="2249"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0"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51"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2" name="Group 2232"/>
                <p:cNvGrpSpPr>
                  <a:grpSpLocks/>
                </p:cNvGrpSpPr>
                <p:nvPr/>
              </p:nvGrpSpPr>
              <p:grpSpPr bwMode="auto">
                <a:xfrm>
                  <a:off x="944" y="3665"/>
                  <a:ext cx="99" cy="74"/>
                  <a:chOff x="944" y="3665"/>
                  <a:chExt cx="99" cy="74"/>
                </a:xfrm>
              </p:grpSpPr>
              <p:grpSp>
                <p:nvGrpSpPr>
                  <p:cNvPr id="2224" name="Group 2233"/>
                  <p:cNvGrpSpPr>
                    <a:grpSpLocks/>
                  </p:cNvGrpSpPr>
                  <p:nvPr/>
                </p:nvGrpSpPr>
                <p:grpSpPr bwMode="auto">
                  <a:xfrm>
                    <a:off x="944" y="3665"/>
                    <a:ext cx="49" cy="23"/>
                    <a:chOff x="944" y="3665"/>
                    <a:chExt cx="49" cy="23"/>
                  </a:xfrm>
                </p:grpSpPr>
                <p:sp>
                  <p:nvSpPr>
                    <p:cNvPr id="2241"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2"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3"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5" name="Group 2237"/>
                  <p:cNvGrpSpPr>
                    <a:grpSpLocks/>
                  </p:cNvGrpSpPr>
                  <p:nvPr/>
                </p:nvGrpSpPr>
                <p:grpSpPr bwMode="auto">
                  <a:xfrm>
                    <a:off x="957" y="3678"/>
                    <a:ext cx="48" cy="23"/>
                    <a:chOff x="957" y="3678"/>
                    <a:chExt cx="48" cy="23"/>
                  </a:xfrm>
                </p:grpSpPr>
                <p:sp>
                  <p:nvSpPr>
                    <p:cNvPr id="2238"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9"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40"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6" name="Group 2241"/>
                  <p:cNvGrpSpPr>
                    <a:grpSpLocks/>
                  </p:cNvGrpSpPr>
                  <p:nvPr/>
                </p:nvGrpSpPr>
                <p:grpSpPr bwMode="auto">
                  <a:xfrm>
                    <a:off x="969" y="3690"/>
                    <a:ext cx="49" cy="23"/>
                    <a:chOff x="969" y="3690"/>
                    <a:chExt cx="49" cy="23"/>
                  </a:xfrm>
                </p:grpSpPr>
                <p:sp>
                  <p:nvSpPr>
                    <p:cNvPr id="2235"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6"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7"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7" name="Group 2245"/>
                  <p:cNvGrpSpPr>
                    <a:grpSpLocks/>
                  </p:cNvGrpSpPr>
                  <p:nvPr/>
                </p:nvGrpSpPr>
                <p:grpSpPr bwMode="auto">
                  <a:xfrm>
                    <a:off x="982" y="3703"/>
                    <a:ext cx="49" cy="23"/>
                    <a:chOff x="982" y="3703"/>
                    <a:chExt cx="49" cy="23"/>
                  </a:xfrm>
                </p:grpSpPr>
                <p:sp>
                  <p:nvSpPr>
                    <p:cNvPr id="2232"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3"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4"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228" name="Group 2249"/>
                  <p:cNvGrpSpPr>
                    <a:grpSpLocks/>
                  </p:cNvGrpSpPr>
                  <p:nvPr/>
                </p:nvGrpSpPr>
                <p:grpSpPr bwMode="auto">
                  <a:xfrm>
                    <a:off x="995" y="3716"/>
                    <a:ext cx="48" cy="23"/>
                    <a:chOff x="995" y="3716"/>
                    <a:chExt cx="48" cy="23"/>
                  </a:xfrm>
                </p:grpSpPr>
                <p:sp>
                  <p:nvSpPr>
                    <p:cNvPr id="2229"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0"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31"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53" name="Group 2253"/>
                <p:cNvGrpSpPr>
                  <a:grpSpLocks/>
                </p:cNvGrpSpPr>
                <p:nvPr/>
              </p:nvGrpSpPr>
              <p:grpSpPr bwMode="auto">
                <a:xfrm>
                  <a:off x="1005" y="3727"/>
                  <a:ext cx="49" cy="23"/>
                  <a:chOff x="1005" y="3727"/>
                  <a:chExt cx="49" cy="23"/>
                </a:xfrm>
              </p:grpSpPr>
              <p:sp>
                <p:nvSpPr>
                  <p:cNvPr id="2221"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2"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3"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4" name="Group 2257"/>
                <p:cNvGrpSpPr>
                  <a:grpSpLocks/>
                </p:cNvGrpSpPr>
                <p:nvPr/>
              </p:nvGrpSpPr>
              <p:grpSpPr bwMode="auto">
                <a:xfrm>
                  <a:off x="1018" y="3740"/>
                  <a:ext cx="49" cy="22"/>
                  <a:chOff x="1018" y="3740"/>
                  <a:chExt cx="49" cy="22"/>
                </a:xfrm>
              </p:grpSpPr>
              <p:sp>
                <p:nvSpPr>
                  <p:cNvPr id="2218"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9"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20"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55" name="Group 2261"/>
                <p:cNvGrpSpPr>
                  <a:grpSpLocks/>
                </p:cNvGrpSpPr>
                <p:nvPr/>
              </p:nvGrpSpPr>
              <p:grpSpPr bwMode="auto">
                <a:xfrm>
                  <a:off x="1030" y="3753"/>
                  <a:ext cx="49" cy="23"/>
                  <a:chOff x="1030" y="3753"/>
                  <a:chExt cx="49" cy="23"/>
                </a:xfrm>
              </p:grpSpPr>
              <p:sp>
                <p:nvSpPr>
                  <p:cNvPr id="2215"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6"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7"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56"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7"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58"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59" name="Group 2268"/>
                <p:cNvGrpSpPr>
                  <a:grpSpLocks/>
                </p:cNvGrpSpPr>
                <p:nvPr/>
              </p:nvGrpSpPr>
              <p:grpSpPr bwMode="auto">
                <a:xfrm>
                  <a:off x="790" y="3547"/>
                  <a:ext cx="49" cy="23"/>
                  <a:chOff x="790" y="3547"/>
                  <a:chExt cx="49" cy="23"/>
                </a:xfrm>
              </p:grpSpPr>
              <p:sp>
                <p:nvSpPr>
                  <p:cNvPr id="2212"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3"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4"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0" name="Group 2272"/>
                <p:cNvGrpSpPr>
                  <a:grpSpLocks/>
                </p:cNvGrpSpPr>
                <p:nvPr/>
              </p:nvGrpSpPr>
              <p:grpSpPr bwMode="auto">
                <a:xfrm>
                  <a:off x="803" y="3560"/>
                  <a:ext cx="49" cy="22"/>
                  <a:chOff x="803" y="3560"/>
                  <a:chExt cx="49" cy="22"/>
                </a:xfrm>
              </p:grpSpPr>
              <p:sp>
                <p:nvSpPr>
                  <p:cNvPr id="2209"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0"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11"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1" name="Group 2276"/>
                <p:cNvGrpSpPr>
                  <a:grpSpLocks/>
                </p:cNvGrpSpPr>
                <p:nvPr/>
              </p:nvGrpSpPr>
              <p:grpSpPr bwMode="auto">
                <a:xfrm>
                  <a:off x="815" y="3572"/>
                  <a:ext cx="50" cy="23"/>
                  <a:chOff x="815" y="3572"/>
                  <a:chExt cx="50" cy="23"/>
                </a:xfrm>
              </p:grpSpPr>
              <p:sp>
                <p:nvSpPr>
                  <p:cNvPr id="2206"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7"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8"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2" name="Group 2280"/>
                <p:cNvGrpSpPr>
                  <a:grpSpLocks/>
                </p:cNvGrpSpPr>
                <p:nvPr/>
              </p:nvGrpSpPr>
              <p:grpSpPr bwMode="auto">
                <a:xfrm>
                  <a:off x="828" y="3585"/>
                  <a:ext cx="49" cy="23"/>
                  <a:chOff x="828" y="3585"/>
                  <a:chExt cx="49" cy="23"/>
                </a:xfrm>
              </p:grpSpPr>
              <p:sp>
                <p:nvSpPr>
                  <p:cNvPr id="2203"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4"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5"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3" name="Group 2284"/>
                <p:cNvGrpSpPr>
                  <a:grpSpLocks/>
                </p:cNvGrpSpPr>
                <p:nvPr/>
              </p:nvGrpSpPr>
              <p:grpSpPr bwMode="auto">
                <a:xfrm>
                  <a:off x="840" y="3600"/>
                  <a:ext cx="100" cy="73"/>
                  <a:chOff x="840" y="3600"/>
                  <a:chExt cx="100" cy="73"/>
                </a:xfrm>
              </p:grpSpPr>
              <p:grpSp>
                <p:nvGrpSpPr>
                  <p:cNvPr id="2183" name="Group 2285"/>
                  <p:cNvGrpSpPr>
                    <a:grpSpLocks/>
                  </p:cNvGrpSpPr>
                  <p:nvPr/>
                </p:nvGrpSpPr>
                <p:grpSpPr bwMode="auto">
                  <a:xfrm>
                    <a:off x="840" y="3600"/>
                    <a:ext cx="49" cy="23"/>
                    <a:chOff x="840" y="3600"/>
                    <a:chExt cx="49" cy="23"/>
                  </a:xfrm>
                </p:grpSpPr>
                <p:sp>
                  <p:nvSpPr>
                    <p:cNvPr id="2200"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1"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202"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4" name="Group 2289"/>
                  <p:cNvGrpSpPr>
                    <a:grpSpLocks/>
                  </p:cNvGrpSpPr>
                  <p:nvPr/>
                </p:nvGrpSpPr>
                <p:grpSpPr bwMode="auto">
                  <a:xfrm>
                    <a:off x="853" y="3612"/>
                    <a:ext cx="48" cy="23"/>
                    <a:chOff x="853" y="3612"/>
                    <a:chExt cx="48" cy="23"/>
                  </a:xfrm>
                </p:grpSpPr>
                <p:sp>
                  <p:nvSpPr>
                    <p:cNvPr id="2197"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8"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9"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5" name="Group 2293"/>
                  <p:cNvGrpSpPr>
                    <a:grpSpLocks/>
                  </p:cNvGrpSpPr>
                  <p:nvPr/>
                </p:nvGrpSpPr>
                <p:grpSpPr bwMode="auto">
                  <a:xfrm>
                    <a:off x="865" y="3625"/>
                    <a:ext cx="49" cy="23"/>
                    <a:chOff x="865" y="3625"/>
                    <a:chExt cx="49" cy="23"/>
                  </a:xfrm>
                </p:grpSpPr>
                <p:sp>
                  <p:nvSpPr>
                    <p:cNvPr id="2194"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5"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6"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6" name="Group 2297"/>
                  <p:cNvGrpSpPr>
                    <a:grpSpLocks/>
                  </p:cNvGrpSpPr>
                  <p:nvPr/>
                </p:nvGrpSpPr>
                <p:grpSpPr bwMode="auto">
                  <a:xfrm>
                    <a:off x="878" y="3638"/>
                    <a:ext cx="49" cy="22"/>
                    <a:chOff x="878" y="3638"/>
                    <a:chExt cx="49" cy="22"/>
                  </a:xfrm>
                </p:grpSpPr>
                <p:sp>
                  <p:nvSpPr>
                    <p:cNvPr id="2191"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2"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3"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87" name="Group 2301"/>
                  <p:cNvGrpSpPr>
                    <a:grpSpLocks/>
                  </p:cNvGrpSpPr>
                  <p:nvPr/>
                </p:nvGrpSpPr>
                <p:grpSpPr bwMode="auto">
                  <a:xfrm>
                    <a:off x="890" y="3651"/>
                    <a:ext cx="50" cy="22"/>
                    <a:chOff x="890" y="3651"/>
                    <a:chExt cx="50" cy="22"/>
                  </a:xfrm>
                </p:grpSpPr>
                <p:sp>
                  <p:nvSpPr>
                    <p:cNvPr id="2188"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9"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90"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4" name="Group 2305"/>
                <p:cNvGrpSpPr>
                  <a:grpSpLocks/>
                </p:cNvGrpSpPr>
                <p:nvPr/>
              </p:nvGrpSpPr>
              <p:grpSpPr bwMode="auto">
                <a:xfrm>
                  <a:off x="903" y="3665"/>
                  <a:ext cx="99" cy="74"/>
                  <a:chOff x="903" y="3665"/>
                  <a:chExt cx="99" cy="74"/>
                </a:xfrm>
              </p:grpSpPr>
              <p:grpSp>
                <p:nvGrpSpPr>
                  <p:cNvPr id="2163" name="Group 2306"/>
                  <p:cNvGrpSpPr>
                    <a:grpSpLocks/>
                  </p:cNvGrpSpPr>
                  <p:nvPr/>
                </p:nvGrpSpPr>
                <p:grpSpPr bwMode="auto">
                  <a:xfrm>
                    <a:off x="903" y="3665"/>
                    <a:ext cx="49" cy="23"/>
                    <a:chOff x="903" y="3665"/>
                    <a:chExt cx="49" cy="23"/>
                  </a:xfrm>
                </p:grpSpPr>
                <p:sp>
                  <p:nvSpPr>
                    <p:cNvPr id="2180"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1"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82"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4" name="Group 2310"/>
                  <p:cNvGrpSpPr>
                    <a:grpSpLocks/>
                  </p:cNvGrpSpPr>
                  <p:nvPr/>
                </p:nvGrpSpPr>
                <p:grpSpPr bwMode="auto">
                  <a:xfrm>
                    <a:off x="914" y="3678"/>
                    <a:ext cx="49" cy="23"/>
                    <a:chOff x="914" y="3678"/>
                    <a:chExt cx="49" cy="23"/>
                  </a:xfrm>
                </p:grpSpPr>
                <p:sp>
                  <p:nvSpPr>
                    <p:cNvPr id="2177"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8"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9"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5" name="Group 2314"/>
                  <p:cNvGrpSpPr>
                    <a:grpSpLocks/>
                  </p:cNvGrpSpPr>
                  <p:nvPr/>
                </p:nvGrpSpPr>
                <p:grpSpPr bwMode="auto">
                  <a:xfrm>
                    <a:off x="928" y="3690"/>
                    <a:ext cx="48" cy="23"/>
                    <a:chOff x="928" y="3690"/>
                    <a:chExt cx="48" cy="23"/>
                  </a:xfrm>
                </p:grpSpPr>
                <p:sp>
                  <p:nvSpPr>
                    <p:cNvPr id="2174"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5"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6"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6" name="Group 2318"/>
                  <p:cNvGrpSpPr>
                    <a:grpSpLocks/>
                  </p:cNvGrpSpPr>
                  <p:nvPr/>
                </p:nvGrpSpPr>
                <p:grpSpPr bwMode="auto">
                  <a:xfrm>
                    <a:off x="940" y="3703"/>
                    <a:ext cx="49" cy="23"/>
                    <a:chOff x="940" y="3703"/>
                    <a:chExt cx="49" cy="23"/>
                  </a:xfrm>
                </p:grpSpPr>
                <p:sp>
                  <p:nvSpPr>
                    <p:cNvPr id="2171"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2"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3"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67" name="Group 2322"/>
                  <p:cNvGrpSpPr>
                    <a:grpSpLocks/>
                  </p:cNvGrpSpPr>
                  <p:nvPr/>
                </p:nvGrpSpPr>
                <p:grpSpPr bwMode="auto">
                  <a:xfrm>
                    <a:off x="953" y="3716"/>
                    <a:ext cx="49" cy="23"/>
                    <a:chOff x="953" y="3716"/>
                    <a:chExt cx="49" cy="23"/>
                  </a:xfrm>
                </p:grpSpPr>
                <p:sp>
                  <p:nvSpPr>
                    <p:cNvPr id="2168"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9"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70"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65" name="Group 2326"/>
                <p:cNvGrpSpPr>
                  <a:grpSpLocks/>
                </p:cNvGrpSpPr>
                <p:nvPr/>
              </p:nvGrpSpPr>
              <p:grpSpPr bwMode="auto">
                <a:xfrm>
                  <a:off x="963" y="3727"/>
                  <a:ext cx="49" cy="23"/>
                  <a:chOff x="963" y="3727"/>
                  <a:chExt cx="49" cy="23"/>
                </a:xfrm>
              </p:grpSpPr>
              <p:sp>
                <p:nvSpPr>
                  <p:cNvPr id="2160"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1"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62"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6" name="Group 2330"/>
                <p:cNvGrpSpPr>
                  <a:grpSpLocks/>
                </p:cNvGrpSpPr>
                <p:nvPr/>
              </p:nvGrpSpPr>
              <p:grpSpPr bwMode="auto">
                <a:xfrm>
                  <a:off x="976" y="3740"/>
                  <a:ext cx="50" cy="22"/>
                  <a:chOff x="976" y="3740"/>
                  <a:chExt cx="50" cy="22"/>
                </a:xfrm>
              </p:grpSpPr>
              <p:sp>
                <p:nvSpPr>
                  <p:cNvPr id="2157"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8"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9"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7" name="Group 2334"/>
                <p:cNvGrpSpPr>
                  <a:grpSpLocks/>
                </p:cNvGrpSpPr>
                <p:nvPr/>
              </p:nvGrpSpPr>
              <p:grpSpPr bwMode="auto">
                <a:xfrm>
                  <a:off x="761" y="3560"/>
                  <a:ext cx="50" cy="22"/>
                  <a:chOff x="761" y="3560"/>
                  <a:chExt cx="50" cy="22"/>
                </a:xfrm>
              </p:grpSpPr>
              <p:sp>
                <p:nvSpPr>
                  <p:cNvPr id="2154"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5"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6"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8" name="Group 2338"/>
                <p:cNvGrpSpPr>
                  <a:grpSpLocks/>
                </p:cNvGrpSpPr>
                <p:nvPr/>
              </p:nvGrpSpPr>
              <p:grpSpPr bwMode="auto">
                <a:xfrm>
                  <a:off x="774" y="3572"/>
                  <a:ext cx="49" cy="23"/>
                  <a:chOff x="774" y="3572"/>
                  <a:chExt cx="49" cy="23"/>
                </a:xfrm>
              </p:grpSpPr>
              <p:sp>
                <p:nvSpPr>
                  <p:cNvPr id="2151"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2"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3"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69" name="Group 2342"/>
                <p:cNvGrpSpPr>
                  <a:grpSpLocks/>
                </p:cNvGrpSpPr>
                <p:nvPr/>
              </p:nvGrpSpPr>
              <p:grpSpPr bwMode="auto">
                <a:xfrm>
                  <a:off x="787" y="3585"/>
                  <a:ext cx="49" cy="23"/>
                  <a:chOff x="787" y="3585"/>
                  <a:chExt cx="49" cy="23"/>
                </a:xfrm>
              </p:grpSpPr>
              <p:sp>
                <p:nvSpPr>
                  <p:cNvPr id="2148"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9"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50"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0" name="Group 2346"/>
                <p:cNvGrpSpPr>
                  <a:grpSpLocks/>
                </p:cNvGrpSpPr>
                <p:nvPr/>
              </p:nvGrpSpPr>
              <p:grpSpPr bwMode="auto">
                <a:xfrm>
                  <a:off x="799" y="3600"/>
                  <a:ext cx="99" cy="73"/>
                  <a:chOff x="799" y="3600"/>
                  <a:chExt cx="99" cy="73"/>
                </a:xfrm>
              </p:grpSpPr>
              <p:grpSp>
                <p:nvGrpSpPr>
                  <p:cNvPr id="2128" name="Group 2347"/>
                  <p:cNvGrpSpPr>
                    <a:grpSpLocks/>
                  </p:cNvGrpSpPr>
                  <p:nvPr/>
                </p:nvGrpSpPr>
                <p:grpSpPr bwMode="auto">
                  <a:xfrm>
                    <a:off x="799" y="3600"/>
                    <a:ext cx="48" cy="23"/>
                    <a:chOff x="799" y="3600"/>
                    <a:chExt cx="48" cy="23"/>
                  </a:xfrm>
                </p:grpSpPr>
                <p:sp>
                  <p:nvSpPr>
                    <p:cNvPr id="2145"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6"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7"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29" name="Group 2351"/>
                  <p:cNvGrpSpPr>
                    <a:grpSpLocks/>
                  </p:cNvGrpSpPr>
                  <p:nvPr/>
                </p:nvGrpSpPr>
                <p:grpSpPr bwMode="auto">
                  <a:xfrm>
                    <a:off x="811" y="3612"/>
                    <a:ext cx="48" cy="23"/>
                    <a:chOff x="811" y="3612"/>
                    <a:chExt cx="48" cy="23"/>
                  </a:xfrm>
                </p:grpSpPr>
                <p:sp>
                  <p:nvSpPr>
                    <p:cNvPr id="2142"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3"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4"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0" name="Group 2355"/>
                  <p:cNvGrpSpPr>
                    <a:grpSpLocks/>
                  </p:cNvGrpSpPr>
                  <p:nvPr/>
                </p:nvGrpSpPr>
                <p:grpSpPr bwMode="auto">
                  <a:xfrm>
                    <a:off x="823" y="3625"/>
                    <a:ext cx="49" cy="23"/>
                    <a:chOff x="823" y="3625"/>
                    <a:chExt cx="49" cy="23"/>
                  </a:xfrm>
                </p:grpSpPr>
                <p:sp>
                  <p:nvSpPr>
                    <p:cNvPr id="2139"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0"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41"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1" name="Group 2359"/>
                  <p:cNvGrpSpPr>
                    <a:grpSpLocks/>
                  </p:cNvGrpSpPr>
                  <p:nvPr/>
                </p:nvGrpSpPr>
                <p:grpSpPr bwMode="auto">
                  <a:xfrm>
                    <a:off x="836" y="3638"/>
                    <a:ext cx="50" cy="22"/>
                    <a:chOff x="836" y="3638"/>
                    <a:chExt cx="50" cy="22"/>
                  </a:xfrm>
                </p:grpSpPr>
                <p:sp>
                  <p:nvSpPr>
                    <p:cNvPr id="2136"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7"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8"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32" name="Group 2363"/>
                  <p:cNvGrpSpPr>
                    <a:grpSpLocks/>
                  </p:cNvGrpSpPr>
                  <p:nvPr/>
                </p:nvGrpSpPr>
                <p:grpSpPr bwMode="auto">
                  <a:xfrm>
                    <a:off x="849" y="3651"/>
                    <a:ext cx="49" cy="22"/>
                    <a:chOff x="849" y="3651"/>
                    <a:chExt cx="49" cy="22"/>
                  </a:xfrm>
                </p:grpSpPr>
                <p:sp>
                  <p:nvSpPr>
                    <p:cNvPr id="2133"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4"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35"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1" name="Group 2367"/>
                <p:cNvGrpSpPr>
                  <a:grpSpLocks/>
                </p:cNvGrpSpPr>
                <p:nvPr/>
              </p:nvGrpSpPr>
              <p:grpSpPr bwMode="auto">
                <a:xfrm>
                  <a:off x="861" y="3665"/>
                  <a:ext cx="99" cy="74"/>
                  <a:chOff x="861" y="3665"/>
                  <a:chExt cx="99" cy="74"/>
                </a:xfrm>
              </p:grpSpPr>
              <p:grpSp>
                <p:nvGrpSpPr>
                  <p:cNvPr id="2108" name="Group 2368"/>
                  <p:cNvGrpSpPr>
                    <a:grpSpLocks/>
                  </p:cNvGrpSpPr>
                  <p:nvPr/>
                </p:nvGrpSpPr>
                <p:grpSpPr bwMode="auto">
                  <a:xfrm>
                    <a:off x="861" y="3665"/>
                    <a:ext cx="50" cy="23"/>
                    <a:chOff x="861" y="3665"/>
                    <a:chExt cx="50" cy="23"/>
                  </a:xfrm>
                </p:grpSpPr>
                <p:sp>
                  <p:nvSpPr>
                    <p:cNvPr id="2125"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6"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7"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09" name="Group 2372"/>
                  <p:cNvGrpSpPr>
                    <a:grpSpLocks/>
                  </p:cNvGrpSpPr>
                  <p:nvPr/>
                </p:nvGrpSpPr>
                <p:grpSpPr bwMode="auto">
                  <a:xfrm>
                    <a:off x="873" y="3678"/>
                    <a:ext cx="49" cy="23"/>
                    <a:chOff x="873" y="3678"/>
                    <a:chExt cx="49" cy="23"/>
                  </a:xfrm>
                </p:grpSpPr>
                <p:sp>
                  <p:nvSpPr>
                    <p:cNvPr id="2122"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3"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4"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0" name="Group 2376"/>
                  <p:cNvGrpSpPr>
                    <a:grpSpLocks/>
                  </p:cNvGrpSpPr>
                  <p:nvPr/>
                </p:nvGrpSpPr>
                <p:grpSpPr bwMode="auto">
                  <a:xfrm>
                    <a:off x="886" y="3690"/>
                    <a:ext cx="49" cy="23"/>
                    <a:chOff x="886" y="3690"/>
                    <a:chExt cx="49" cy="23"/>
                  </a:xfrm>
                </p:grpSpPr>
                <p:sp>
                  <p:nvSpPr>
                    <p:cNvPr id="2119"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0"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21"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1" name="Group 2380"/>
                  <p:cNvGrpSpPr>
                    <a:grpSpLocks/>
                  </p:cNvGrpSpPr>
                  <p:nvPr/>
                </p:nvGrpSpPr>
                <p:grpSpPr bwMode="auto">
                  <a:xfrm>
                    <a:off x="899" y="3703"/>
                    <a:ext cx="48" cy="23"/>
                    <a:chOff x="899" y="3703"/>
                    <a:chExt cx="48" cy="23"/>
                  </a:xfrm>
                </p:grpSpPr>
                <p:sp>
                  <p:nvSpPr>
                    <p:cNvPr id="2116"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7"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8"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112" name="Group 2384"/>
                  <p:cNvGrpSpPr>
                    <a:grpSpLocks/>
                  </p:cNvGrpSpPr>
                  <p:nvPr/>
                </p:nvGrpSpPr>
                <p:grpSpPr bwMode="auto">
                  <a:xfrm>
                    <a:off x="912" y="3716"/>
                    <a:ext cx="48" cy="23"/>
                    <a:chOff x="912" y="3716"/>
                    <a:chExt cx="48" cy="23"/>
                  </a:xfrm>
                </p:grpSpPr>
                <p:sp>
                  <p:nvSpPr>
                    <p:cNvPr id="2113"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4"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15"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2" name="Group 2388"/>
                <p:cNvGrpSpPr>
                  <a:grpSpLocks/>
                </p:cNvGrpSpPr>
                <p:nvPr/>
              </p:nvGrpSpPr>
              <p:grpSpPr bwMode="auto">
                <a:xfrm>
                  <a:off x="922" y="3727"/>
                  <a:ext cx="49" cy="23"/>
                  <a:chOff x="922" y="3727"/>
                  <a:chExt cx="49" cy="23"/>
                </a:xfrm>
              </p:grpSpPr>
              <p:sp>
                <p:nvSpPr>
                  <p:cNvPr id="2105"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6"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7"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3" name="Group 2392"/>
                <p:cNvGrpSpPr>
                  <a:grpSpLocks/>
                </p:cNvGrpSpPr>
                <p:nvPr/>
              </p:nvGrpSpPr>
              <p:grpSpPr bwMode="auto">
                <a:xfrm>
                  <a:off x="895" y="3526"/>
                  <a:ext cx="44" cy="23"/>
                  <a:chOff x="895" y="3526"/>
                  <a:chExt cx="44" cy="23"/>
                </a:xfrm>
              </p:grpSpPr>
              <p:sp>
                <p:nvSpPr>
                  <p:cNvPr id="2102"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3"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4"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4" name="Group 2396"/>
                <p:cNvGrpSpPr>
                  <a:grpSpLocks/>
                </p:cNvGrpSpPr>
                <p:nvPr/>
              </p:nvGrpSpPr>
              <p:grpSpPr bwMode="auto">
                <a:xfrm>
                  <a:off x="907" y="3540"/>
                  <a:ext cx="45" cy="22"/>
                  <a:chOff x="907" y="3540"/>
                  <a:chExt cx="45" cy="22"/>
                </a:xfrm>
              </p:grpSpPr>
              <p:sp>
                <p:nvSpPr>
                  <p:cNvPr id="2099"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0"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101"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5" name="Group 2400"/>
                <p:cNvGrpSpPr>
                  <a:grpSpLocks/>
                </p:cNvGrpSpPr>
                <p:nvPr/>
              </p:nvGrpSpPr>
              <p:grpSpPr bwMode="auto">
                <a:xfrm>
                  <a:off x="920" y="3553"/>
                  <a:ext cx="45" cy="23"/>
                  <a:chOff x="920" y="3553"/>
                  <a:chExt cx="45" cy="23"/>
                </a:xfrm>
              </p:grpSpPr>
              <p:sp>
                <p:nvSpPr>
                  <p:cNvPr id="2096"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7"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8"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6" name="Group 2404"/>
                <p:cNvGrpSpPr>
                  <a:grpSpLocks/>
                </p:cNvGrpSpPr>
                <p:nvPr/>
              </p:nvGrpSpPr>
              <p:grpSpPr bwMode="auto">
                <a:xfrm>
                  <a:off x="934" y="3566"/>
                  <a:ext cx="44" cy="23"/>
                  <a:chOff x="934" y="3566"/>
                  <a:chExt cx="44" cy="23"/>
                </a:xfrm>
              </p:grpSpPr>
              <p:sp>
                <p:nvSpPr>
                  <p:cNvPr id="2093"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4"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5"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77" name="Group 2408"/>
                <p:cNvGrpSpPr>
                  <a:grpSpLocks/>
                </p:cNvGrpSpPr>
                <p:nvPr/>
              </p:nvGrpSpPr>
              <p:grpSpPr bwMode="auto">
                <a:xfrm>
                  <a:off x="949" y="3579"/>
                  <a:ext cx="83" cy="63"/>
                  <a:chOff x="949" y="3579"/>
                  <a:chExt cx="83" cy="63"/>
                </a:xfrm>
              </p:grpSpPr>
              <p:grpSp>
                <p:nvGrpSpPr>
                  <p:cNvPr id="2077" name="Group 2409"/>
                  <p:cNvGrpSpPr>
                    <a:grpSpLocks/>
                  </p:cNvGrpSpPr>
                  <p:nvPr/>
                </p:nvGrpSpPr>
                <p:grpSpPr bwMode="auto">
                  <a:xfrm>
                    <a:off x="949" y="3579"/>
                    <a:ext cx="44" cy="23"/>
                    <a:chOff x="949" y="3579"/>
                    <a:chExt cx="44" cy="23"/>
                  </a:xfrm>
                </p:grpSpPr>
                <p:sp>
                  <p:nvSpPr>
                    <p:cNvPr id="2090"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1"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92"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8" name="Group 2413"/>
                  <p:cNvGrpSpPr>
                    <a:grpSpLocks/>
                  </p:cNvGrpSpPr>
                  <p:nvPr/>
                </p:nvGrpSpPr>
                <p:grpSpPr bwMode="auto">
                  <a:xfrm>
                    <a:off x="961" y="3592"/>
                    <a:ext cx="45" cy="23"/>
                    <a:chOff x="961" y="3592"/>
                    <a:chExt cx="45" cy="23"/>
                  </a:xfrm>
                </p:grpSpPr>
                <p:sp>
                  <p:nvSpPr>
                    <p:cNvPr id="2087"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8"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9"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79" name="Group 2417"/>
                  <p:cNvGrpSpPr>
                    <a:grpSpLocks/>
                  </p:cNvGrpSpPr>
                  <p:nvPr/>
                </p:nvGrpSpPr>
                <p:grpSpPr bwMode="auto">
                  <a:xfrm>
                    <a:off x="974" y="3606"/>
                    <a:ext cx="44" cy="23"/>
                    <a:chOff x="974" y="3606"/>
                    <a:chExt cx="44" cy="23"/>
                  </a:xfrm>
                </p:grpSpPr>
                <p:sp>
                  <p:nvSpPr>
                    <p:cNvPr id="2084"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5"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6"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80" name="Group 2421"/>
                  <p:cNvGrpSpPr>
                    <a:grpSpLocks/>
                  </p:cNvGrpSpPr>
                  <p:nvPr/>
                </p:nvGrpSpPr>
                <p:grpSpPr bwMode="auto">
                  <a:xfrm>
                    <a:off x="987" y="3619"/>
                    <a:ext cx="45" cy="23"/>
                    <a:chOff x="987" y="3619"/>
                    <a:chExt cx="45" cy="23"/>
                  </a:xfrm>
                </p:grpSpPr>
                <p:sp>
                  <p:nvSpPr>
                    <p:cNvPr id="2081"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2"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83"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8" name="Group 2425"/>
                <p:cNvGrpSpPr>
                  <a:grpSpLocks/>
                </p:cNvGrpSpPr>
                <p:nvPr/>
              </p:nvGrpSpPr>
              <p:grpSpPr bwMode="auto">
                <a:xfrm>
                  <a:off x="1002" y="3632"/>
                  <a:ext cx="83" cy="63"/>
                  <a:chOff x="1002" y="3632"/>
                  <a:chExt cx="83" cy="63"/>
                </a:xfrm>
              </p:grpSpPr>
              <p:grpSp>
                <p:nvGrpSpPr>
                  <p:cNvPr id="2061" name="Group 2426"/>
                  <p:cNvGrpSpPr>
                    <a:grpSpLocks/>
                  </p:cNvGrpSpPr>
                  <p:nvPr/>
                </p:nvGrpSpPr>
                <p:grpSpPr bwMode="auto">
                  <a:xfrm>
                    <a:off x="1002" y="3632"/>
                    <a:ext cx="44" cy="22"/>
                    <a:chOff x="1002" y="3632"/>
                    <a:chExt cx="44" cy="22"/>
                  </a:xfrm>
                </p:grpSpPr>
                <p:sp>
                  <p:nvSpPr>
                    <p:cNvPr id="2074"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5"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6"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2" name="Group 2430"/>
                  <p:cNvGrpSpPr>
                    <a:grpSpLocks/>
                  </p:cNvGrpSpPr>
                  <p:nvPr/>
                </p:nvGrpSpPr>
                <p:grpSpPr bwMode="auto">
                  <a:xfrm>
                    <a:off x="1014" y="3645"/>
                    <a:ext cx="44" cy="23"/>
                    <a:chOff x="1014" y="3645"/>
                    <a:chExt cx="44" cy="23"/>
                  </a:xfrm>
                </p:grpSpPr>
                <p:sp>
                  <p:nvSpPr>
                    <p:cNvPr id="2071"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2"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3"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3" name="Group 2434"/>
                  <p:cNvGrpSpPr>
                    <a:grpSpLocks/>
                  </p:cNvGrpSpPr>
                  <p:nvPr/>
                </p:nvGrpSpPr>
                <p:grpSpPr bwMode="auto">
                  <a:xfrm>
                    <a:off x="1027" y="3659"/>
                    <a:ext cx="45" cy="23"/>
                    <a:chOff x="1027" y="3659"/>
                    <a:chExt cx="45" cy="23"/>
                  </a:xfrm>
                </p:grpSpPr>
                <p:sp>
                  <p:nvSpPr>
                    <p:cNvPr id="2068"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9"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70"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64" name="Group 2438"/>
                  <p:cNvGrpSpPr>
                    <a:grpSpLocks/>
                  </p:cNvGrpSpPr>
                  <p:nvPr/>
                </p:nvGrpSpPr>
                <p:grpSpPr bwMode="auto">
                  <a:xfrm>
                    <a:off x="1040" y="3672"/>
                    <a:ext cx="45" cy="23"/>
                    <a:chOff x="1040" y="3672"/>
                    <a:chExt cx="45" cy="23"/>
                  </a:xfrm>
                </p:grpSpPr>
                <p:sp>
                  <p:nvSpPr>
                    <p:cNvPr id="2065"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6"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7"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1979" name="Group 2442"/>
                <p:cNvGrpSpPr>
                  <a:grpSpLocks/>
                </p:cNvGrpSpPr>
                <p:nvPr/>
              </p:nvGrpSpPr>
              <p:grpSpPr bwMode="auto">
                <a:xfrm>
                  <a:off x="1054" y="3685"/>
                  <a:ext cx="45" cy="23"/>
                  <a:chOff x="1054" y="3685"/>
                  <a:chExt cx="45" cy="23"/>
                </a:xfrm>
              </p:grpSpPr>
              <p:sp>
                <p:nvSpPr>
                  <p:cNvPr id="2058"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9"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60"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0" name="Group 2446"/>
                <p:cNvGrpSpPr>
                  <a:grpSpLocks/>
                </p:cNvGrpSpPr>
                <p:nvPr/>
              </p:nvGrpSpPr>
              <p:grpSpPr bwMode="auto">
                <a:xfrm>
                  <a:off x="1067" y="3698"/>
                  <a:ext cx="45" cy="23"/>
                  <a:chOff x="1067" y="3698"/>
                  <a:chExt cx="45" cy="23"/>
                </a:xfrm>
              </p:grpSpPr>
              <p:sp>
                <p:nvSpPr>
                  <p:cNvPr id="2055"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6"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7"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1" name="Group 2450"/>
                <p:cNvGrpSpPr>
                  <a:grpSpLocks/>
                </p:cNvGrpSpPr>
                <p:nvPr/>
              </p:nvGrpSpPr>
              <p:grpSpPr bwMode="auto">
                <a:xfrm>
                  <a:off x="1079" y="3712"/>
                  <a:ext cx="44" cy="23"/>
                  <a:chOff x="1079" y="3712"/>
                  <a:chExt cx="44" cy="23"/>
                </a:xfrm>
              </p:grpSpPr>
              <p:sp>
                <p:nvSpPr>
                  <p:cNvPr id="2052"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3"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4"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2" name="Group 2454"/>
                <p:cNvGrpSpPr>
                  <a:grpSpLocks/>
                </p:cNvGrpSpPr>
                <p:nvPr/>
              </p:nvGrpSpPr>
              <p:grpSpPr bwMode="auto">
                <a:xfrm>
                  <a:off x="1093" y="3725"/>
                  <a:ext cx="45" cy="23"/>
                  <a:chOff x="1093" y="3725"/>
                  <a:chExt cx="45" cy="23"/>
                </a:xfrm>
              </p:grpSpPr>
              <p:sp>
                <p:nvSpPr>
                  <p:cNvPr id="2049"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0"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51"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3" name="Group 2458"/>
                <p:cNvGrpSpPr>
                  <a:grpSpLocks/>
                </p:cNvGrpSpPr>
                <p:nvPr/>
              </p:nvGrpSpPr>
              <p:grpSpPr bwMode="auto">
                <a:xfrm>
                  <a:off x="1108" y="3739"/>
                  <a:ext cx="44" cy="23"/>
                  <a:chOff x="1108" y="3739"/>
                  <a:chExt cx="44" cy="23"/>
                </a:xfrm>
              </p:grpSpPr>
              <p:sp>
                <p:nvSpPr>
                  <p:cNvPr id="2046"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7"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8"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4" name="Group 2462"/>
                <p:cNvGrpSpPr>
                  <a:grpSpLocks/>
                </p:cNvGrpSpPr>
                <p:nvPr/>
              </p:nvGrpSpPr>
              <p:grpSpPr bwMode="auto">
                <a:xfrm>
                  <a:off x="1121" y="3753"/>
                  <a:ext cx="45" cy="23"/>
                  <a:chOff x="1121" y="3753"/>
                  <a:chExt cx="45" cy="23"/>
                </a:xfrm>
              </p:grpSpPr>
              <p:sp>
                <p:nvSpPr>
                  <p:cNvPr id="2043"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4"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5"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85" name="Group 2466"/>
                <p:cNvGrpSpPr>
                  <a:grpSpLocks/>
                </p:cNvGrpSpPr>
                <p:nvPr/>
              </p:nvGrpSpPr>
              <p:grpSpPr bwMode="auto">
                <a:xfrm>
                  <a:off x="1133" y="3767"/>
                  <a:ext cx="44" cy="23"/>
                  <a:chOff x="1133" y="3767"/>
                  <a:chExt cx="44" cy="23"/>
                </a:xfrm>
              </p:grpSpPr>
              <p:sp>
                <p:nvSpPr>
                  <p:cNvPr id="2040"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1"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42"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1986"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7"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8"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89"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0"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1"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2"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3"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4"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5"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96"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1997" name="Group 2481"/>
                <p:cNvGrpSpPr>
                  <a:grpSpLocks/>
                </p:cNvGrpSpPr>
                <p:nvPr/>
              </p:nvGrpSpPr>
              <p:grpSpPr bwMode="auto">
                <a:xfrm>
                  <a:off x="700" y="3535"/>
                  <a:ext cx="49" cy="24"/>
                  <a:chOff x="700" y="3535"/>
                  <a:chExt cx="49" cy="24"/>
                </a:xfrm>
              </p:grpSpPr>
              <p:sp>
                <p:nvSpPr>
                  <p:cNvPr id="2037"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8"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9"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8" name="Group 2485"/>
                <p:cNvGrpSpPr>
                  <a:grpSpLocks/>
                </p:cNvGrpSpPr>
                <p:nvPr/>
              </p:nvGrpSpPr>
              <p:grpSpPr bwMode="auto">
                <a:xfrm>
                  <a:off x="714" y="3551"/>
                  <a:ext cx="49" cy="22"/>
                  <a:chOff x="714" y="3551"/>
                  <a:chExt cx="49" cy="22"/>
                </a:xfrm>
              </p:grpSpPr>
              <p:sp>
                <p:nvSpPr>
                  <p:cNvPr id="2034"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5"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6"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99" name="Group 2489"/>
                <p:cNvGrpSpPr>
                  <a:grpSpLocks/>
                </p:cNvGrpSpPr>
                <p:nvPr/>
              </p:nvGrpSpPr>
              <p:grpSpPr bwMode="auto">
                <a:xfrm>
                  <a:off x="728" y="3564"/>
                  <a:ext cx="48" cy="23"/>
                  <a:chOff x="728" y="3564"/>
                  <a:chExt cx="48" cy="23"/>
                </a:xfrm>
              </p:grpSpPr>
              <p:sp>
                <p:nvSpPr>
                  <p:cNvPr id="2031"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2"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3"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0" name="Group 2493"/>
                <p:cNvGrpSpPr>
                  <a:grpSpLocks/>
                </p:cNvGrpSpPr>
                <p:nvPr/>
              </p:nvGrpSpPr>
              <p:grpSpPr bwMode="auto">
                <a:xfrm>
                  <a:off x="742" y="3582"/>
                  <a:ext cx="49" cy="23"/>
                  <a:chOff x="742" y="3582"/>
                  <a:chExt cx="49" cy="23"/>
                </a:xfrm>
              </p:grpSpPr>
              <p:sp>
                <p:nvSpPr>
                  <p:cNvPr id="2028"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9"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30"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1" name="Group 2497"/>
                <p:cNvGrpSpPr>
                  <a:grpSpLocks/>
                </p:cNvGrpSpPr>
                <p:nvPr/>
              </p:nvGrpSpPr>
              <p:grpSpPr bwMode="auto">
                <a:xfrm>
                  <a:off x="752" y="3597"/>
                  <a:ext cx="133" cy="106"/>
                  <a:chOff x="752" y="3597"/>
                  <a:chExt cx="133" cy="106"/>
                </a:xfrm>
              </p:grpSpPr>
              <p:sp>
                <p:nvSpPr>
                  <p:cNvPr id="2025"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6"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7"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2" name="Group 2501"/>
                <p:cNvGrpSpPr>
                  <a:grpSpLocks/>
                </p:cNvGrpSpPr>
                <p:nvPr/>
              </p:nvGrpSpPr>
              <p:grpSpPr bwMode="auto">
                <a:xfrm>
                  <a:off x="844" y="3694"/>
                  <a:ext cx="48" cy="23"/>
                  <a:chOff x="844" y="3694"/>
                  <a:chExt cx="48" cy="23"/>
                </a:xfrm>
              </p:grpSpPr>
              <p:sp>
                <p:nvSpPr>
                  <p:cNvPr id="2022"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3"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4"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3" name="Group 2505"/>
                <p:cNvGrpSpPr>
                  <a:grpSpLocks/>
                </p:cNvGrpSpPr>
                <p:nvPr/>
              </p:nvGrpSpPr>
              <p:grpSpPr bwMode="auto">
                <a:xfrm>
                  <a:off x="857" y="3710"/>
                  <a:ext cx="49" cy="22"/>
                  <a:chOff x="857" y="3710"/>
                  <a:chExt cx="49" cy="22"/>
                </a:xfrm>
              </p:grpSpPr>
              <p:sp>
                <p:nvSpPr>
                  <p:cNvPr id="2019"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0"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21"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4" name="Group 2509"/>
                <p:cNvGrpSpPr>
                  <a:grpSpLocks/>
                </p:cNvGrpSpPr>
                <p:nvPr/>
              </p:nvGrpSpPr>
              <p:grpSpPr bwMode="auto">
                <a:xfrm>
                  <a:off x="1086" y="3766"/>
                  <a:ext cx="49" cy="23"/>
                  <a:chOff x="1086" y="3766"/>
                  <a:chExt cx="49" cy="23"/>
                </a:xfrm>
              </p:grpSpPr>
              <p:sp>
                <p:nvSpPr>
                  <p:cNvPr id="2016"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7"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8"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5" name="Group 2513"/>
                <p:cNvGrpSpPr>
                  <a:grpSpLocks/>
                </p:cNvGrpSpPr>
                <p:nvPr/>
              </p:nvGrpSpPr>
              <p:grpSpPr bwMode="auto">
                <a:xfrm>
                  <a:off x="934" y="3740"/>
                  <a:ext cx="48" cy="23"/>
                  <a:chOff x="934" y="3740"/>
                  <a:chExt cx="48" cy="23"/>
                </a:xfrm>
              </p:grpSpPr>
              <p:sp>
                <p:nvSpPr>
                  <p:cNvPr id="2013"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4"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5"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006" name="Group 2517"/>
                <p:cNvGrpSpPr>
                  <a:grpSpLocks/>
                </p:cNvGrpSpPr>
                <p:nvPr/>
              </p:nvGrpSpPr>
              <p:grpSpPr bwMode="auto">
                <a:xfrm>
                  <a:off x="943" y="3754"/>
                  <a:ext cx="49" cy="23"/>
                  <a:chOff x="943" y="3754"/>
                  <a:chExt cx="49" cy="23"/>
                </a:xfrm>
              </p:grpSpPr>
              <p:sp>
                <p:nvSpPr>
                  <p:cNvPr id="2010"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1"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12"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007"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8"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009"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4" name="Group 2524"/>
              <p:cNvGrpSpPr>
                <a:grpSpLocks/>
              </p:cNvGrpSpPr>
              <p:nvPr/>
            </p:nvGrpSpPr>
            <p:grpSpPr bwMode="auto">
              <a:xfrm>
                <a:off x="920" y="3821"/>
                <a:ext cx="413" cy="50"/>
                <a:chOff x="920" y="3821"/>
                <a:chExt cx="413" cy="50"/>
              </a:xfrm>
            </p:grpSpPr>
            <p:sp>
              <p:nvSpPr>
                <p:cNvPr id="1925"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6"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7"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8"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1905" name="Group 2529"/>
              <p:cNvGrpSpPr>
                <a:grpSpLocks/>
              </p:cNvGrpSpPr>
              <p:nvPr/>
            </p:nvGrpSpPr>
            <p:grpSpPr bwMode="auto">
              <a:xfrm>
                <a:off x="1227" y="3477"/>
                <a:ext cx="508" cy="321"/>
                <a:chOff x="1227" y="3477"/>
                <a:chExt cx="508" cy="321"/>
              </a:xfrm>
            </p:grpSpPr>
            <p:sp>
              <p:nvSpPr>
                <p:cNvPr id="1906"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7"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8"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09"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0"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1"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2"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3"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4"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5"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6"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7"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8"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19"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0"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1"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2"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1923"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1924"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43" name="Group 2096"/>
            <p:cNvGrpSpPr>
              <a:grpSpLocks/>
            </p:cNvGrpSpPr>
            <p:nvPr/>
          </p:nvGrpSpPr>
          <p:grpSpPr bwMode="auto">
            <a:xfrm>
              <a:off x="5003800" y="333375"/>
              <a:ext cx="431800" cy="328613"/>
              <a:chOff x="624" y="2968"/>
              <a:chExt cx="1331" cy="920"/>
            </a:xfrm>
          </p:grpSpPr>
          <p:sp>
            <p:nvSpPr>
              <p:cNvPr id="2344"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5"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6"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7"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8"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49"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0"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1"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2"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3"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4"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55"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56" name="Group 2109"/>
              <p:cNvGrpSpPr>
                <a:grpSpLocks/>
              </p:cNvGrpSpPr>
              <p:nvPr/>
            </p:nvGrpSpPr>
            <p:grpSpPr bwMode="auto">
              <a:xfrm>
                <a:off x="700" y="3526"/>
                <a:ext cx="515" cy="270"/>
                <a:chOff x="700" y="3526"/>
                <a:chExt cx="515" cy="270"/>
              </a:xfrm>
            </p:grpSpPr>
            <p:grpSp>
              <p:nvGrpSpPr>
                <p:cNvPr id="2382" name="Group 2110"/>
                <p:cNvGrpSpPr>
                  <a:grpSpLocks/>
                </p:cNvGrpSpPr>
                <p:nvPr/>
              </p:nvGrpSpPr>
              <p:grpSpPr bwMode="auto">
                <a:xfrm>
                  <a:off x="737" y="3534"/>
                  <a:ext cx="49" cy="23"/>
                  <a:chOff x="737" y="3534"/>
                  <a:chExt cx="49" cy="23"/>
                </a:xfrm>
              </p:grpSpPr>
              <p:sp>
                <p:nvSpPr>
                  <p:cNvPr id="2798"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9"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0"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3" name="Group 2114"/>
                <p:cNvGrpSpPr>
                  <a:grpSpLocks/>
                </p:cNvGrpSpPr>
                <p:nvPr/>
              </p:nvGrpSpPr>
              <p:grpSpPr bwMode="auto">
                <a:xfrm>
                  <a:off x="748" y="3547"/>
                  <a:ext cx="50" cy="23"/>
                  <a:chOff x="748" y="3547"/>
                  <a:chExt cx="50" cy="23"/>
                </a:xfrm>
              </p:grpSpPr>
              <p:sp>
                <p:nvSpPr>
                  <p:cNvPr id="2795"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6"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7"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84"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5"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6"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7"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388" name="Group 2122"/>
                <p:cNvGrpSpPr>
                  <a:grpSpLocks/>
                </p:cNvGrpSpPr>
                <p:nvPr/>
              </p:nvGrpSpPr>
              <p:grpSpPr bwMode="auto">
                <a:xfrm>
                  <a:off x="872" y="3547"/>
                  <a:ext cx="50" cy="23"/>
                  <a:chOff x="872" y="3547"/>
                  <a:chExt cx="50" cy="23"/>
                </a:xfrm>
              </p:grpSpPr>
              <p:sp>
                <p:nvSpPr>
                  <p:cNvPr id="2792"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3"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4"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89" name="Group 2126"/>
                <p:cNvGrpSpPr>
                  <a:grpSpLocks/>
                </p:cNvGrpSpPr>
                <p:nvPr/>
              </p:nvGrpSpPr>
              <p:grpSpPr bwMode="auto">
                <a:xfrm>
                  <a:off x="885" y="3559"/>
                  <a:ext cx="50" cy="23"/>
                  <a:chOff x="885" y="3559"/>
                  <a:chExt cx="50" cy="23"/>
                </a:xfrm>
              </p:grpSpPr>
              <p:sp>
                <p:nvSpPr>
                  <p:cNvPr id="2789"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0"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91"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0" name="Group 2130"/>
                <p:cNvGrpSpPr>
                  <a:grpSpLocks/>
                </p:cNvGrpSpPr>
                <p:nvPr/>
              </p:nvGrpSpPr>
              <p:grpSpPr bwMode="auto">
                <a:xfrm>
                  <a:off x="898" y="3571"/>
                  <a:ext cx="49" cy="23"/>
                  <a:chOff x="898" y="3571"/>
                  <a:chExt cx="49" cy="23"/>
                </a:xfrm>
              </p:grpSpPr>
              <p:sp>
                <p:nvSpPr>
                  <p:cNvPr id="2786"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7"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8"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1" name="Group 2134"/>
                <p:cNvGrpSpPr>
                  <a:grpSpLocks/>
                </p:cNvGrpSpPr>
                <p:nvPr/>
              </p:nvGrpSpPr>
              <p:grpSpPr bwMode="auto">
                <a:xfrm>
                  <a:off x="911" y="3585"/>
                  <a:ext cx="49" cy="23"/>
                  <a:chOff x="911" y="3585"/>
                  <a:chExt cx="49" cy="23"/>
                </a:xfrm>
              </p:grpSpPr>
              <p:sp>
                <p:nvSpPr>
                  <p:cNvPr id="2783"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4"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5"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2" name="Group 2138"/>
                <p:cNvGrpSpPr>
                  <a:grpSpLocks/>
                </p:cNvGrpSpPr>
                <p:nvPr/>
              </p:nvGrpSpPr>
              <p:grpSpPr bwMode="auto">
                <a:xfrm>
                  <a:off x="923" y="3600"/>
                  <a:ext cx="99" cy="73"/>
                  <a:chOff x="923" y="3600"/>
                  <a:chExt cx="99" cy="73"/>
                </a:xfrm>
              </p:grpSpPr>
              <p:grpSp>
                <p:nvGrpSpPr>
                  <p:cNvPr id="2763" name="Group 2139"/>
                  <p:cNvGrpSpPr>
                    <a:grpSpLocks/>
                  </p:cNvGrpSpPr>
                  <p:nvPr/>
                </p:nvGrpSpPr>
                <p:grpSpPr bwMode="auto">
                  <a:xfrm>
                    <a:off x="923" y="3600"/>
                    <a:ext cx="49" cy="23"/>
                    <a:chOff x="923" y="3600"/>
                    <a:chExt cx="49" cy="23"/>
                  </a:xfrm>
                </p:grpSpPr>
                <p:sp>
                  <p:nvSpPr>
                    <p:cNvPr id="2780"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1"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82"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4" name="Group 2143"/>
                  <p:cNvGrpSpPr>
                    <a:grpSpLocks/>
                  </p:cNvGrpSpPr>
                  <p:nvPr/>
                </p:nvGrpSpPr>
                <p:grpSpPr bwMode="auto">
                  <a:xfrm>
                    <a:off x="935" y="3612"/>
                    <a:ext cx="48" cy="23"/>
                    <a:chOff x="935" y="3612"/>
                    <a:chExt cx="48" cy="23"/>
                  </a:xfrm>
                </p:grpSpPr>
                <p:sp>
                  <p:nvSpPr>
                    <p:cNvPr id="2777"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8"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9"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5" name="Group 2147"/>
                  <p:cNvGrpSpPr>
                    <a:grpSpLocks/>
                  </p:cNvGrpSpPr>
                  <p:nvPr/>
                </p:nvGrpSpPr>
                <p:grpSpPr bwMode="auto">
                  <a:xfrm>
                    <a:off x="947" y="3625"/>
                    <a:ext cx="50" cy="22"/>
                    <a:chOff x="947" y="3625"/>
                    <a:chExt cx="50" cy="22"/>
                  </a:xfrm>
                </p:grpSpPr>
                <p:sp>
                  <p:nvSpPr>
                    <p:cNvPr id="2774"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5"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6"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6" name="Group 2151"/>
                  <p:cNvGrpSpPr>
                    <a:grpSpLocks/>
                  </p:cNvGrpSpPr>
                  <p:nvPr/>
                </p:nvGrpSpPr>
                <p:grpSpPr bwMode="auto">
                  <a:xfrm>
                    <a:off x="960" y="3637"/>
                    <a:ext cx="50" cy="23"/>
                    <a:chOff x="960" y="3637"/>
                    <a:chExt cx="50" cy="23"/>
                  </a:xfrm>
                </p:grpSpPr>
                <p:sp>
                  <p:nvSpPr>
                    <p:cNvPr id="2771"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2"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3"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67" name="Group 2155"/>
                  <p:cNvGrpSpPr>
                    <a:grpSpLocks/>
                  </p:cNvGrpSpPr>
                  <p:nvPr/>
                </p:nvGrpSpPr>
                <p:grpSpPr bwMode="auto">
                  <a:xfrm>
                    <a:off x="973" y="3650"/>
                    <a:ext cx="49" cy="23"/>
                    <a:chOff x="973" y="3650"/>
                    <a:chExt cx="49" cy="23"/>
                  </a:xfrm>
                </p:grpSpPr>
                <p:sp>
                  <p:nvSpPr>
                    <p:cNvPr id="2768"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9"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70"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3" name="Group 2159"/>
                <p:cNvGrpSpPr>
                  <a:grpSpLocks/>
                </p:cNvGrpSpPr>
                <p:nvPr/>
              </p:nvGrpSpPr>
              <p:grpSpPr bwMode="auto">
                <a:xfrm>
                  <a:off x="985" y="3665"/>
                  <a:ext cx="100" cy="73"/>
                  <a:chOff x="985" y="3665"/>
                  <a:chExt cx="100" cy="73"/>
                </a:xfrm>
              </p:grpSpPr>
              <p:grpSp>
                <p:nvGrpSpPr>
                  <p:cNvPr id="2743" name="Group 2160"/>
                  <p:cNvGrpSpPr>
                    <a:grpSpLocks/>
                  </p:cNvGrpSpPr>
                  <p:nvPr/>
                </p:nvGrpSpPr>
                <p:grpSpPr bwMode="auto">
                  <a:xfrm>
                    <a:off x="985" y="3665"/>
                    <a:ext cx="50" cy="23"/>
                    <a:chOff x="985" y="3665"/>
                    <a:chExt cx="50" cy="23"/>
                  </a:xfrm>
                </p:grpSpPr>
                <p:sp>
                  <p:nvSpPr>
                    <p:cNvPr id="2760"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1"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62"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4" name="Group 2164"/>
                  <p:cNvGrpSpPr>
                    <a:grpSpLocks/>
                  </p:cNvGrpSpPr>
                  <p:nvPr/>
                </p:nvGrpSpPr>
                <p:grpSpPr bwMode="auto">
                  <a:xfrm>
                    <a:off x="997" y="3677"/>
                    <a:ext cx="49" cy="23"/>
                    <a:chOff x="997" y="3677"/>
                    <a:chExt cx="49" cy="23"/>
                  </a:xfrm>
                </p:grpSpPr>
                <p:sp>
                  <p:nvSpPr>
                    <p:cNvPr id="2757"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8"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9"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5" name="Group 2168"/>
                  <p:cNvGrpSpPr>
                    <a:grpSpLocks/>
                  </p:cNvGrpSpPr>
                  <p:nvPr/>
                </p:nvGrpSpPr>
                <p:grpSpPr bwMode="auto">
                  <a:xfrm>
                    <a:off x="1010" y="3690"/>
                    <a:ext cx="48" cy="23"/>
                    <a:chOff x="1010" y="3690"/>
                    <a:chExt cx="48" cy="23"/>
                  </a:xfrm>
                </p:grpSpPr>
                <p:sp>
                  <p:nvSpPr>
                    <p:cNvPr id="2754"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5"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6"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6" name="Group 2172"/>
                  <p:cNvGrpSpPr>
                    <a:grpSpLocks/>
                  </p:cNvGrpSpPr>
                  <p:nvPr/>
                </p:nvGrpSpPr>
                <p:grpSpPr bwMode="auto">
                  <a:xfrm>
                    <a:off x="1023" y="3703"/>
                    <a:ext cx="49" cy="22"/>
                    <a:chOff x="1023" y="3703"/>
                    <a:chExt cx="49" cy="22"/>
                  </a:xfrm>
                </p:grpSpPr>
                <p:sp>
                  <p:nvSpPr>
                    <p:cNvPr id="2751"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2"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3"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47" name="Group 2176"/>
                  <p:cNvGrpSpPr>
                    <a:grpSpLocks/>
                  </p:cNvGrpSpPr>
                  <p:nvPr/>
                </p:nvGrpSpPr>
                <p:grpSpPr bwMode="auto">
                  <a:xfrm>
                    <a:off x="1036" y="3716"/>
                    <a:ext cx="49" cy="22"/>
                    <a:chOff x="1036" y="3716"/>
                    <a:chExt cx="49" cy="22"/>
                  </a:xfrm>
                </p:grpSpPr>
                <p:sp>
                  <p:nvSpPr>
                    <p:cNvPr id="2748"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9"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50"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394" name="Group 2180"/>
                <p:cNvGrpSpPr>
                  <a:grpSpLocks/>
                </p:cNvGrpSpPr>
                <p:nvPr/>
              </p:nvGrpSpPr>
              <p:grpSpPr bwMode="auto">
                <a:xfrm>
                  <a:off x="1046" y="3727"/>
                  <a:ext cx="49" cy="23"/>
                  <a:chOff x="1046" y="3727"/>
                  <a:chExt cx="49" cy="23"/>
                </a:xfrm>
              </p:grpSpPr>
              <p:sp>
                <p:nvSpPr>
                  <p:cNvPr id="2740"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1"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42"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5" name="Group 2184"/>
                <p:cNvGrpSpPr>
                  <a:grpSpLocks/>
                </p:cNvGrpSpPr>
                <p:nvPr/>
              </p:nvGrpSpPr>
              <p:grpSpPr bwMode="auto">
                <a:xfrm>
                  <a:off x="1058" y="3739"/>
                  <a:ext cx="50" cy="23"/>
                  <a:chOff x="1058" y="3739"/>
                  <a:chExt cx="50" cy="23"/>
                </a:xfrm>
              </p:grpSpPr>
              <p:sp>
                <p:nvSpPr>
                  <p:cNvPr id="2737"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8"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9"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96" name="Group 2188"/>
                <p:cNvGrpSpPr>
                  <a:grpSpLocks/>
                </p:cNvGrpSpPr>
                <p:nvPr/>
              </p:nvGrpSpPr>
              <p:grpSpPr bwMode="auto">
                <a:xfrm>
                  <a:off x="1072" y="3753"/>
                  <a:ext cx="48" cy="22"/>
                  <a:chOff x="1072" y="3753"/>
                  <a:chExt cx="48" cy="22"/>
                </a:xfrm>
              </p:grpSpPr>
              <p:sp>
                <p:nvSpPr>
                  <p:cNvPr id="2734"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5"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6"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397"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8"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99"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00" name="Group 2195"/>
                <p:cNvGrpSpPr>
                  <a:grpSpLocks/>
                </p:cNvGrpSpPr>
                <p:nvPr/>
              </p:nvGrpSpPr>
              <p:grpSpPr bwMode="auto">
                <a:xfrm>
                  <a:off x="832" y="3547"/>
                  <a:ext cx="49" cy="23"/>
                  <a:chOff x="832" y="3547"/>
                  <a:chExt cx="49" cy="23"/>
                </a:xfrm>
              </p:grpSpPr>
              <p:sp>
                <p:nvSpPr>
                  <p:cNvPr id="2726"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2"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33"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1" name="Group 2199"/>
                <p:cNvGrpSpPr>
                  <a:grpSpLocks/>
                </p:cNvGrpSpPr>
                <p:nvPr/>
              </p:nvGrpSpPr>
              <p:grpSpPr bwMode="auto">
                <a:xfrm>
                  <a:off x="844" y="3560"/>
                  <a:ext cx="49" cy="22"/>
                  <a:chOff x="844" y="3560"/>
                  <a:chExt cx="49" cy="22"/>
                </a:xfrm>
              </p:grpSpPr>
              <p:sp>
                <p:nvSpPr>
                  <p:cNvPr id="2723"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4"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5"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2" name="Group 2203"/>
                <p:cNvGrpSpPr>
                  <a:grpSpLocks/>
                </p:cNvGrpSpPr>
                <p:nvPr/>
              </p:nvGrpSpPr>
              <p:grpSpPr bwMode="auto">
                <a:xfrm>
                  <a:off x="857" y="3572"/>
                  <a:ext cx="50" cy="23"/>
                  <a:chOff x="857" y="3572"/>
                  <a:chExt cx="50" cy="23"/>
                </a:xfrm>
              </p:grpSpPr>
              <p:sp>
                <p:nvSpPr>
                  <p:cNvPr id="2720"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1"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22"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3" name="Group 2207"/>
                <p:cNvGrpSpPr>
                  <a:grpSpLocks/>
                </p:cNvGrpSpPr>
                <p:nvPr/>
              </p:nvGrpSpPr>
              <p:grpSpPr bwMode="auto">
                <a:xfrm>
                  <a:off x="870" y="3585"/>
                  <a:ext cx="48" cy="23"/>
                  <a:chOff x="870" y="3585"/>
                  <a:chExt cx="48" cy="23"/>
                </a:xfrm>
              </p:grpSpPr>
              <p:sp>
                <p:nvSpPr>
                  <p:cNvPr id="2717"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8"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9"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4" name="Group 2211"/>
                <p:cNvGrpSpPr>
                  <a:grpSpLocks/>
                </p:cNvGrpSpPr>
                <p:nvPr/>
              </p:nvGrpSpPr>
              <p:grpSpPr bwMode="auto">
                <a:xfrm>
                  <a:off x="882" y="3600"/>
                  <a:ext cx="100" cy="73"/>
                  <a:chOff x="882" y="3600"/>
                  <a:chExt cx="100" cy="73"/>
                </a:xfrm>
              </p:grpSpPr>
              <p:grpSp>
                <p:nvGrpSpPr>
                  <p:cNvPr id="2697" name="Group 2212"/>
                  <p:cNvGrpSpPr>
                    <a:grpSpLocks/>
                  </p:cNvGrpSpPr>
                  <p:nvPr/>
                </p:nvGrpSpPr>
                <p:grpSpPr bwMode="auto">
                  <a:xfrm>
                    <a:off x="882" y="3600"/>
                    <a:ext cx="49" cy="23"/>
                    <a:chOff x="882" y="3600"/>
                    <a:chExt cx="49" cy="23"/>
                  </a:xfrm>
                </p:grpSpPr>
                <p:sp>
                  <p:nvSpPr>
                    <p:cNvPr id="2714"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5"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6"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8" name="Group 2216"/>
                  <p:cNvGrpSpPr>
                    <a:grpSpLocks/>
                  </p:cNvGrpSpPr>
                  <p:nvPr/>
                </p:nvGrpSpPr>
                <p:grpSpPr bwMode="auto">
                  <a:xfrm>
                    <a:off x="894" y="3612"/>
                    <a:ext cx="49" cy="23"/>
                    <a:chOff x="894" y="3612"/>
                    <a:chExt cx="49" cy="23"/>
                  </a:xfrm>
                </p:grpSpPr>
                <p:sp>
                  <p:nvSpPr>
                    <p:cNvPr id="2711"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2"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3"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99" name="Group 2220"/>
                  <p:cNvGrpSpPr>
                    <a:grpSpLocks/>
                  </p:cNvGrpSpPr>
                  <p:nvPr/>
                </p:nvGrpSpPr>
                <p:grpSpPr bwMode="auto">
                  <a:xfrm>
                    <a:off x="907" y="3625"/>
                    <a:ext cx="49" cy="23"/>
                    <a:chOff x="907" y="3625"/>
                    <a:chExt cx="49" cy="23"/>
                  </a:xfrm>
                </p:grpSpPr>
                <p:sp>
                  <p:nvSpPr>
                    <p:cNvPr id="2708"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9"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10"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0" name="Group 2224"/>
                  <p:cNvGrpSpPr>
                    <a:grpSpLocks/>
                  </p:cNvGrpSpPr>
                  <p:nvPr/>
                </p:nvGrpSpPr>
                <p:grpSpPr bwMode="auto">
                  <a:xfrm>
                    <a:off x="919" y="3638"/>
                    <a:ext cx="49" cy="22"/>
                    <a:chOff x="919" y="3638"/>
                    <a:chExt cx="49" cy="22"/>
                  </a:xfrm>
                </p:grpSpPr>
                <p:sp>
                  <p:nvSpPr>
                    <p:cNvPr id="2705"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6"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7"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701" name="Group 2228"/>
                  <p:cNvGrpSpPr>
                    <a:grpSpLocks/>
                  </p:cNvGrpSpPr>
                  <p:nvPr/>
                </p:nvGrpSpPr>
                <p:grpSpPr bwMode="auto">
                  <a:xfrm>
                    <a:off x="932" y="3651"/>
                    <a:ext cx="50" cy="22"/>
                    <a:chOff x="932" y="3651"/>
                    <a:chExt cx="50" cy="22"/>
                  </a:xfrm>
                </p:grpSpPr>
                <p:sp>
                  <p:nvSpPr>
                    <p:cNvPr id="2702"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3"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704"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5" name="Group 2232"/>
                <p:cNvGrpSpPr>
                  <a:grpSpLocks/>
                </p:cNvGrpSpPr>
                <p:nvPr/>
              </p:nvGrpSpPr>
              <p:grpSpPr bwMode="auto">
                <a:xfrm>
                  <a:off x="944" y="3665"/>
                  <a:ext cx="99" cy="74"/>
                  <a:chOff x="944" y="3665"/>
                  <a:chExt cx="99" cy="74"/>
                </a:xfrm>
              </p:grpSpPr>
              <p:grpSp>
                <p:nvGrpSpPr>
                  <p:cNvPr id="2677" name="Group 2233"/>
                  <p:cNvGrpSpPr>
                    <a:grpSpLocks/>
                  </p:cNvGrpSpPr>
                  <p:nvPr/>
                </p:nvGrpSpPr>
                <p:grpSpPr bwMode="auto">
                  <a:xfrm>
                    <a:off x="944" y="3665"/>
                    <a:ext cx="49" cy="23"/>
                    <a:chOff x="944" y="3665"/>
                    <a:chExt cx="49" cy="23"/>
                  </a:xfrm>
                </p:grpSpPr>
                <p:sp>
                  <p:nvSpPr>
                    <p:cNvPr id="2694"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5"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6"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8" name="Group 2237"/>
                  <p:cNvGrpSpPr>
                    <a:grpSpLocks/>
                  </p:cNvGrpSpPr>
                  <p:nvPr/>
                </p:nvGrpSpPr>
                <p:grpSpPr bwMode="auto">
                  <a:xfrm>
                    <a:off x="957" y="3678"/>
                    <a:ext cx="48" cy="23"/>
                    <a:chOff x="957" y="3678"/>
                    <a:chExt cx="48" cy="23"/>
                  </a:xfrm>
                </p:grpSpPr>
                <p:sp>
                  <p:nvSpPr>
                    <p:cNvPr id="2691"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2"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3"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79" name="Group 2241"/>
                  <p:cNvGrpSpPr>
                    <a:grpSpLocks/>
                  </p:cNvGrpSpPr>
                  <p:nvPr/>
                </p:nvGrpSpPr>
                <p:grpSpPr bwMode="auto">
                  <a:xfrm>
                    <a:off x="969" y="3690"/>
                    <a:ext cx="49" cy="23"/>
                    <a:chOff x="969" y="3690"/>
                    <a:chExt cx="49" cy="23"/>
                  </a:xfrm>
                </p:grpSpPr>
                <p:sp>
                  <p:nvSpPr>
                    <p:cNvPr id="2688"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9"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90"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0" name="Group 2245"/>
                  <p:cNvGrpSpPr>
                    <a:grpSpLocks/>
                  </p:cNvGrpSpPr>
                  <p:nvPr/>
                </p:nvGrpSpPr>
                <p:grpSpPr bwMode="auto">
                  <a:xfrm>
                    <a:off x="982" y="3703"/>
                    <a:ext cx="49" cy="23"/>
                    <a:chOff x="982" y="3703"/>
                    <a:chExt cx="49" cy="23"/>
                  </a:xfrm>
                </p:grpSpPr>
                <p:sp>
                  <p:nvSpPr>
                    <p:cNvPr id="2685"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6"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7"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81" name="Group 2249"/>
                  <p:cNvGrpSpPr>
                    <a:grpSpLocks/>
                  </p:cNvGrpSpPr>
                  <p:nvPr/>
                </p:nvGrpSpPr>
                <p:grpSpPr bwMode="auto">
                  <a:xfrm>
                    <a:off x="995" y="3716"/>
                    <a:ext cx="48" cy="23"/>
                    <a:chOff x="995" y="3716"/>
                    <a:chExt cx="48" cy="23"/>
                  </a:xfrm>
                </p:grpSpPr>
                <p:sp>
                  <p:nvSpPr>
                    <p:cNvPr id="2682"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3"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84"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06" name="Group 2253"/>
                <p:cNvGrpSpPr>
                  <a:grpSpLocks/>
                </p:cNvGrpSpPr>
                <p:nvPr/>
              </p:nvGrpSpPr>
              <p:grpSpPr bwMode="auto">
                <a:xfrm>
                  <a:off x="1005" y="3727"/>
                  <a:ext cx="49" cy="23"/>
                  <a:chOff x="1005" y="3727"/>
                  <a:chExt cx="49" cy="23"/>
                </a:xfrm>
              </p:grpSpPr>
              <p:sp>
                <p:nvSpPr>
                  <p:cNvPr id="2674"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5"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6"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7" name="Group 2257"/>
                <p:cNvGrpSpPr>
                  <a:grpSpLocks/>
                </p:cNvGrpSpPr>
                <p:nvPr/>
              </p:nvGrpSpPr>
              <p:grpSpPr bwMode="auto">
                <a:xfrm>
                  <a:off x="1018" y="3740"/>
                  <a:ext cx="49" cy="22"/>
                  <a:chOff x="1018" y="3740"/>
                  <a:chExt cx="49" cy="22"/>
                </a:xfrm>
              </p:grpSpPr>
              <p:sp>
                <p:nvSpPr>
                  <p:cNvPr id="2671"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2"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3"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08" name="Group 2261"/>
                <p:cNvGrpSpPr>
                  <a:grpSpLocks/>
                </p:cNvGrpSpPr>
                <p:nvPr/>
              </p:nvGrpSpPr>
              <p:grpSpPr bwMode="auto">
                <a:xfrm>
                  <a:off x="1030" y="3753"/>
                  <a:ext cx="49" cy="23"/>
                  <a:chOff x="1030" y="3753"/>
                  <a:chExt cx="49" cy="23"/>
                </a:xfrm>
              </p:grpSpPr>
              <p:sp>
                <p:nvSpPr>
                  <p:cNvPr id="2668"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9"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70"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09"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0"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11"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12" name="Group 2268"/>
                <p:cNvGrpSpPr>
                  <a:grpSpLocks/>
                </p:cNvGrpSpPr>
                <p:nvPr/>
              </p:nvGrpSpPr>
              <p:grpSpPr bwMode="auto">
                <a:xfrm>
                  <a:off x="790" y="3547"/>
                  <a:ext cx="49" cy="23"/>
                  <a:chOff x="790" y="3547"/>
                  <a:chExt cx="49" cy="23"/>
                </a:xfrm>
              </p:grpSpPr>
              <p:sp>
                <p:nvSpPr>
                  <p:cNvPr id="2665"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6"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7"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3" name="Group 2272"/>
                <p:cNvGrpSpPr>
                  <a:grpSpLocks/>
                </p:cNvGrpSpPr>
                <p:nvPr/>
              </p:nvGrpSpPr>
              <p:grpSpPr bwMode="auto">
                <a:xfrm>
                  <a:off x="803" y="3560"/>
                  <a:ext cx="49" cy="22"/>
                  <a:chOff x="803" y="3560"/>
                  <a:chExt cx="49" cy="22"/>
                </a:xfrm>
              </p:grpSpPr>
              <p:sp>
                <p:nvSpPr>
                  <p:cNvPr id="2662"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3"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4"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4" name="Group 2276"/>
                <p:cNvGrpSpPr>
                  <a:grpSpLocks/>
                </p:cNvGrpSpPr>
                <p:nvPr/>
              </p:nvGrpSpPr>
              <p:grpSpPr bwMode="auto">
                <a:xfrm>
                  <a:off x="815" y="3572"/>
                  <a:ext cx="50" cy="23"/>
                  <a:chOff x="815" y="3572"/>
                  <a:chExt cx="50" cy="23"/>
                </a:xfrm>
              </p:grpSpPr>
              <p:sp>
                <p:nvSpPr>
                  <p:cNvPr id="2659"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0"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61"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5" name="Group 2280"/>
                <p:cNvGrpSpPr>
                  <a:grpSpLocks/>
                </p:cNvGrpSpPr>
                <p:nvPr/>
              </p:nvGrpSpPr>
              <p:grpSpPr bwMode="auto">
                <a:xfrm>
                  <a:off x="828" y="3585"/>
                  <a:ext cx="49" cy="23"/>
                  <a:chOff x="828" y="3585"/>
                  <a:chExt cx="49" cy="23"/>
                </a:xfrm>
              </p:grpSpPr>
              <p:sp>
                <p:nvSpPr>
                  <p:cNvPr id="2656"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7"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8"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6" name="Group 2284"/>
                <p:cNvGrpSpPr>
                  <a:grpSpLocks/>
                </p:cNvGrpSpPr>
                <p:nvPr/>
              </p:nvGrpSpPr>
              <p:grpSpPr bwMode="auto">
                <a:xfrm>
                  <a:off x="840" y="3600"/>
                  <a:ext cx="100" cy="73"/>
                  <a:chOff x="840" y="3600"/>
                  <a:chExt cx="100" cy="73"/>
                </a:xfrm>
              </p:grpSpPr>
              <p:grpSp>
                <p:nvGrpSpPr>
                  <p:cNvPr id="2636" name="Group 2285"/>
                  <p:cNvGrpSpPr>
                    <a:grpSpLocks/>
                  </p:cNvGrpSpPr>
                  <p:nvPr/>
                </p:nvGrpSpPr>
                <p:grpSpPr bwMode="auto">
                  <a:xfrm>
                    <a:off x="840" y="3600"/>
                    <a:ext cx="49" cy="23"/>
                    <a:chOff x="840" y="3600"/>
                    <a:chExt cx="49" cy="23"/>
                  </a:xfrm>
                </p:grpSpPr>
                <p:sp>
                  <p:nvSpPr>
                    <p:cNvPr id="2653"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4"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5"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7" name="Group 2289"/>
                  <p:cNvGrpSpPr>
                    <a:grpSpLocks/>
                  </p:cNvGrpSpPr>
                  <p:nvPr/>
                </p:nvGrpSpPr>
                <p:grpSpPr bwMode="auto">
                  <a:xfrm>
                    <a:off x="853" y="3612"/>
                    <a:ext cx="48" cy="23"/>
                    <a:chOff x="853" y="3612"/>
                    <a:chExt cx="48" cy="23"/>
                  </a:xfrm>
                </p:grpSpPr>
                <p:sp>
                  <p:nvSpPr>
                    <p:cNvPr id="2650"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1"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52"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8" name="Group 2293"/>
                  <p:cNvGrpSpPr>
                    <a:grpSpLocks/>
                  </p:cNvGrpSpPr>
                  <p:nvPr/>
                </p:nvGrpSpPr>
                <p:grpSpPr bwMode="auto">
                  <a:xfrm>
                    <a:off x="865" y="3625"/>
                    <a:ext cx="49" cy="23"/>
                    <a:chOff x="865" y="3625"/>
                    <a:chExt cx="49" cy="23"/>
                  </a:xfrm>
                </p:grpSpPr>
                <p:sp>
                  <p:nvSpPr>
                    <p:cNvPr id="2647"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8"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9"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39" name="Group 2297"/>
                  <p:cNvGrpSpPr>
                    <a:grpSpLocks/>
                  </p:cNvGrpSpPr>
                  <p:nvPr/>
                </p:nvGrpSpPr>
                <p:grpSpPr bwMode="auto">
                  <a:xfrm>
                    <a:off x="878" y="3638"/>
                    <a:ext cx="49" cy="22"/>
                    <a:chOff x="878" y="3638"/>
                    <a:chExt cx="49" cy="22"/>
                  </a:xfrm>
                </p:grpSpPr>
                <p:sp>
                  <p:nvSpPr>
                    <p:cNvPr id="2644"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5"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6"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40" name="Group 2301"/>
                  <p:cNvGrpSpPr>
                    <a:grpSpLocks/>
                  </p:cNvGrpSpPr>
                  <p:nvPr/>
                </p:nvGrpSpPr>
                <p:grpSpPr bwMode="auto">
                  <a:xfrm>
                    <a:off x="890" y="3651"/>
                    <a:ext cx="50" cy="22"/>
                    <a:chOff x="890" y="3651"/>
                    <a:chExt cx="50" cy="22"/>
                  </a:xfrm>
                </p:grpSpPr>
                <p:sp>
                  <p:nvSpPr>
                    <p:cNvPr id="2641"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2"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43"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7" name="Group 2305"/>
                <p:cNvGrpSpPr>
                  <a:grpSpLocks/>
                </p:cNvGrpSpPr>
                <p:nvPr/>
              </p:nvGrpSpPr>
              <p:grpSpPr bwMode="auto">
                <a:xfrm>
                  <a:off x="903" y="3665"/>
                  <a:ext cx="99" cy="74"/>
                  <a:chOff x="903" y="3665"/>
                  <a:chExt cx="99" cy="74"/>
                </a:xfrm>
              </p:grpSpPr>
              <p:grpSp>
                <p:nvGrpSpPr>
                  <p:cNvPr id="2616" name="Group 2306"/>
                  <p:cNvGrpSpPr>
                    <a:grpSpLocks/>
                  </p:cNvGrpSpPr>
                  <p:nvPr/>
                </p:nvGrpSpPr>
                <p:grpSpPr bwMode="auto">
                  <a:xfrm>
                    <a:off x="903" y="3665"/>
                    <a:ext cx="49" cy="23"/>
                    <a:chOff x="903" y="3665"/>
                    <a:chExt cx="49" cy="23"/>
                  </a:xfrm>
                </p:grpSpPr>
                <p:sp>
                  <p:nvSpPr>
                    <p:cNvPr id="2633"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4"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5"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7" name="Group 2310"/>
                  <p:cNvGrpSpPr>
                    <a:grpSpLocks/>
                  </p:cNvGrpSpPr>
                  <p:nvPr/>
                </p:nvGrpSpPr>
                <p:grpSpPr bwMode="auto">
                  <a:xfrm>
                    <a:off x="914" y="3678"/>
                    <a:ext cx="49" cy="23"/>
                    <a:chOff x="914" y="3678"/>
                    <a:chExt cx="49" cy="23"/>
                  </a:xfrm>
                </p:grpSpPr>
                <p:sp>
                  <p:nvSpPr>
                    <p:cNvPr id="2630"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1"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32"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8" name="Group 2314"/>
                  <p:cNvGrpSpPr>
                    <a:grpSpLocks/>
                  </p:cNvGrpSpPr>
                  <p:nvPr/>
                </p:nvGrpSpPr>
                <p:grpSpPr bwMode="auto">
                  <a:xfrm>
                    <a:off x="928" y="3690"/>
                    <a:ext cx="48" cy="23"/>
                    <a:chOff x="928" y="3690"/>
                    <a:chExt cx="48" cy="23"/>
                  </a:xfrm>
                </p:grpSpPr>
                <p:sp>
                  <p:nvSpPr>
                    <p:cNvPr id="2627"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8"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9"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19" name="Group 2318"/>
                  <p:cNvGrpSpPr>
                    <a:grpSpLocks/>
                  </p:cNvGrpSpPr>
                  <p:nvPr/>
                </p:nvGrpSpPr>
                <p:grpSpPr bwMode="auto">
                  <a:xfrm>
                    <a:off x="940" y="3703"/>
                    <a:ext cx="49" cy="23"/>
                    <a:chOff x="940" y="3703"/>
                    <a:chExt cx="49" cy="23"/>
                  </a:xfrm>
                </p:grpSpPr>
                <p:sp>
                  <p:nvSpPr>
                    <p:cNvPr id="2624"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5"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6"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620" name="Group 2322"/>
                  <p:cNvGrpSpPr>
                    <a:grpSpLocks/>
                  </p:cNvGrpSpPr>
                  <p:nvPr/>
                </p:nvGrpSpPr>
                <p:grpSpPr bwMode="auto">
                  <a:xfrm>
                    <a:off x="953" y="3716"/>
                    <a:ext cx="49" cy="23"/>
                    <a:chOff x="953" y="3716"/>
                    <a:chExt cx="49" cy="23"/>
                  </a:xfrm>
                </p:grpSpPr>
                <p:sp>
                  <p:nvSpPr>
                    <p:cNvPr id="2621"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2"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23"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18" name="Group 2326"/>
                <p:cNvGrpSpPr>
                  <a:grpSpLocks/>
                </p:cNvGrpSpPr>
                <p:nvPr/>
              </p:nvGrpSpPr>
              <p:grpSpPr bwMode="auto">
                <a:xfrm>
                  <a:off x="963" y="3727"/>
                  <a:ext cx="49" cy="23"/>
                  <a:chOff x="963" y="3727"/>
                  <a:chExt cx="49" cy="23"/>
                </a:xfrm>
              </p:grpSpPr>
              <p:sp>
                <p:nvSpPr>
                  <p:cNvPr id="2613"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4"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5"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19" name="Group 2330"/>
                <p:cNvGrpSpPr>
                  <a:grpSpLocks/>
                </p:cNvGrpSpPr>
                <p:nvPr/>
              </p:nvGrpSpPr>
              <p:grpSpPr bwMode="auto">
                <a:xfrm>
                  <a:off x="976" y="3740"/>
                  <a:ext cx="50" cy="22"/>
                  <a:chOff x="976" y="3740"/>
                  <a:chExt cx="50" cy="22"/>
                </a:xfrm>
              </p:grpSpPr>
              <p:sp>
                <p:nvSpPr>
                  <p:cNvPr id="2610"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1"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12"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0" name="Group 2334"/>
                <p:cNvGrpSpPr>
                  <a:grpSpLocks/>
                </p:cNvGrpSpPr>
                <p:nvPr/>
              </p:nvGrpSpPr>
              <p:grpSpPr bwMode="auto">
                <a:xfrm>
                  <a:off x="761" y="3560"/>
                  <a:ext cx="50" cy="22"/>
                  <a:chOff x="761" y="3560"/>
                  <a:chExt cx="50" cy="22"/>
                </a:xfrm>
              </p:grpSpPr>
              <p:sp>
                <p:nvSpPr>
                  <p:cNvPr id="2607"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8"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9"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1" name="Group 2338"/>
                <p:cNvGrpSpPr>
                  <a:grpSpLocks/>
                </p:cNvGrpSpPr>
                <p:nvPr/>
              </p:nvGrpSpPr>
              <p:grpSpPr bwMode="auto">
                <a:xfrm>
                  <a:off x="774" y="3572"/>
                  <a:ext cx="49" cy="23"/>
                  <a:chOff x="774" y="3572"/>
                  <a:chExt cx="49" cy="23"/>
                </a:xfrm>
              </p:grpSpPr>
              <p:sp>
                <p:nvSpPr>
                  <p:cNvPr id="2604"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5"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6"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2" name="Group 2342"/>
                <p:cNvGrpSpPr>
                  <a:grpSpLocks/>
                </p:cNvGrpSpPr>
                <p:nvPr/>
              </p:nvGrpSpPr>
              <p:grpSpPr bwMode="auto">
                <a:xfrm>
                  <a:off x="787" y="3585"/>
                  <a:ext cx="49" cy="23"/>
                  <a:chOff x="787" y="3585"/>
                  <a:chExt cx="49" cy="23"/>
                </a:xfrm>
              </p:grpSpPr>
              <p:sp>
                <p:nvSpPr>
                  <p:cNvPr id="2601"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2"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3"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3" name="Group 2346"/>
                <p:cNvGrpSpPr>
                  <a:grpSpLocks/>
                </p:cNvGrpSpPr>
                <p:nvPr/>
              </p:nvGrpSpPr>
              <p:grpSpPr bwMode="auto">
                <a:xfrm>
                  <a:off x="799" y="3600"/>
                  <a:ext cx="99" cy="73"/>
                  <a:chOff x="799" y="3600"/>
                  <a:chExt cx="99" cy="73"/>
                </a:xfrm>
              </p:grpSpPr>
              <p:grpSp>
                <p:nvGrpSpPr>
                  <p:cNvPr id="2581" name="Group 2347"/>
                  <p:cNvGrpSpPr>
                    <a:grpSpLocks/>
                  </p:cNvGrpSpPr>
                  <p:nvPr/>
                </p:nvGrpSpPr>
                <p:grpSpPr bwMode="auto">
                  <a:xfrm>
                    <a:off x="799" y="3600"/>
                    <a:ext cx="48" cy="23"/>
                    <a:chOff x="799" y="3600"/>
                    <a:chExt cx="48" cy="23"/>
                  </a:xfrm>
                </p:grpSpPr>
                <p:sp>
                  <p:nvSpPr>
                    <p:cNvPr id="2598"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9"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600"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2" name="Group 2351"/>
                  <p:cNvGrpSpPr>
                    <a:grpSpLocks/>
                  </p:cNvGrpSpPr>
                  <p:nvPr/>
                </p:nvGrpSpPr>
                <p:grpSpPr bwMode="auto">
                  <a:xfrm>
                    <a:off x="811" y="3612"/>
                    <a:ext cx="48" cy="23"/>
                    <a:chOff x="811" y="3612"/>
                    <a:chExt cx="48" cy="23"/>
                  </a:xfrm>
                </p:grpSpPr>
                <p:sp>
                  <p:nvSpPr>
                    <p:cNvPr id="2595"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6"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7"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3" name="Group 2355"/>
                  <p:cNvGrpSpPr>
                    <a:grpSpLocks/>
                  </p:cNvGrpSpPr>
                  <p:nvPr/>
                </p:nvGrpSpPr>
                <p:grpSpPr bwMode="auto">
                  <a:xfrm>
                    <a:off x="823" y="3625"/>
                    <a:ext cx="49" cy="23"/>
                    <a:chOff x="823" y="3625"/>
                    <a:chExt cx="49" cy="23"/>
                  </a:xfrm>
                </p:grpSpPr>
                <p:sp>
                  <p:nvSpPr>
                    <p:cNvPr id="2592"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3"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4"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4" name="Group 2359"/>
                  <p:cNvGrpSpPr>
                    <a:grpSpLocks/>
                  </p:cNvGrpSpPr>
                  <p:nvPr/>
                </p:nvGrpSpPr>
                <p:grpSpPr bwMode="auto">
                  <a:xfrm>
                    <a:off x="836" y="3638"/>
                    <a:ext cx="50" cy="22"/>
                    <a:chOff x="836" y="3638"/>
                    <a:chExt cx="50" cy="22"/>
                  </a:xfrm>
                </p:grpSpPr>
                <p:sp>
                  <p:nvSpPr>
                    <p:cNvPr id="2589"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0"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91"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85" name="Group 2363"/>
                  <p:cNvGrpSpPr>
                    <a:grpSpLocks/>
                  </p:cNvGrpSpPr>
                  <p:nvPr/>
                </p:nvGrpSpPr>
                <p:grpSpPr bwMode="auto">
                  <a:xfrm>
                    <a:off x="849" y="3651"/>
                    <a:ext cx="49" cy="22"/>
                    <a:chOff x="849" y="3651"/>
                    <a:chExt cx="49" cy="22"/>
                  </a:xfrm>
                </p:grpSpPr>
                <p:sp>
                  <p:nvSpPr>
                    <p:cNvPr id="2586"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7"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8"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4" name="Group 2367"/>
                <p:cNvGrpSpPr>
                  <a:grpSpLocks/>
                </p:cNvGrpSpPr>
                <p:nvPr/>
              </p:nvGrpSpPr>
              <p:grpSpPr bwMode="auto">
                <a:xfrm>
                  <a:off x="861" y="3665"/>
                  <a:ext cx="99" cy="74"/>
                  <a:chOff x="861" y="3665"/>
                  <a:chExt cx="99" cy="74"/>
                </a:xfrm>
              </p:grpSpPr>
              <p:grpSp>
                <p:nvGrpSpPr>
                  <p:cNvPr id="2561" name="Group 2368"/>
                  <p:cNvGrpSpPr>
                    <a:grpSpLocks/>
                  </p:cNvGrpSpPr>
                  <p:nvPr/>
                </p:nvGrpSpPr>
                <p:grpSpPr bwMode="auto">
                  <a:xfrm>
                    <a:off x="861" y="3665"/>
                    <a:ext cx="50" cy="23"/>
                    <a:chOff x="861" y="3665"/>
                    <a:chExt cx="50" cy="23"/>
                  </a:xfrm>
                </p:grpSpPr>
                <p:sp>
                  <p:nvSpPr>
                    <p:cNvPr id="2578"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9"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80"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2" name="Group 2372"/>
                  <p:cNvGrpSpPr>
                    <a:grpSpLocks/>
                  </p:cNvGrpSpPr>
                  <p:nvPr/>
                </p:nvGrpSpPr>
                <p:grpSpPr bwMode="auto">
                  <a:xfrm>
                    <a:off x="873" y="3678"/>
                    <a:ext cx="49" cy="23"/>
                    <a:chOff x="873" y="3678"/>
                    <a:chExt cx="49" cy="23"/>
                  </a:xfrm>
                </p:grpSpPr>
                <p:sp>
                  <p:nvSpPr>
                    <p:cNvPr id="2575"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6"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7"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3" name="Group 2376"/>
                  <p:cNvGrpSpPr>
                    <a:grpSpLocks/>
                  </p:cNvGrpSpPr>
                  <p:nvPr/>
                </p:nvGrpSpPr>
                <p:grpSpPr bwMode="auto">
                  <a:xfrm>
                    <a:off x="886" y="3690"/>
                    <a:ext cx="49" cy="23"/>
                    <a:chOff x="886" y="3690"/>
                    <a:chExt cx="49" cy="23"/>
                  </a:xfrm>
                </p:grpSpPr>
                <p:sp>
                  <p:nvSpPr>
                    <p:cNvPr id="2572"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3"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4"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4" name="Group 2380"/>
                  <p:cNvGrpSpPr>
                    <a:grpSpLocks/>
                  </p:cNvGrpSpPr>
                  <p:nvPr/>
                </p:nvGrpSpPr>
                <p:grpSpPr bwMode="auto">
                  <a:xfrm>
                    <a:off x="899" y="3703"/>
                    <a:ext cx="48" cy="23"/>
                    <a:chOff x="899" y="3703"/>
                    <a:chExt cx="48" cy="23"/>
                  </a:xfrm>
                </p:grpSpPr>
                <p:sp>
                  <p:nvSpPr>
                    <p:cNvPr id="2569"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0"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71"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65" name="Group 2384"/>
                  <p:cNvGrpSpPr>
                    <a:grpSpLocks/>
                  </p:cNvGrpSpPr>
                  <p:nvPr/>
                </p:nvGrpSpPr>
                <p:grpSpPr bwMode="auto">
                  <a:xfrm>
                    <a:off x="912" y="3716"/>
                    <a:ext cx="48" cy="23"/>
                    <a:chOff x="912" y="3716"/>
                    <a:chExt cx="48" cy="23"/>
                  </a:xfrm>
                </p:grpSpPr>
                <p:sp>
                  <p:nvSpPr>
                    <p:cNvPr id="2566"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7"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8"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25" name="Group 2388"/>
                <p:cNvGrpSpPr>
                  <a:grpSpLocks/>
                </p:cNvGrpSpPr>
                <p:nvPr/>
              </p:nvGrpSpPr>
              <p:grpSpPr bwMode="auto">
                <a:xfrm>
                  <a:off x="922" y="3727"/>
                  <a:ext cx="49" cy="23"/>
                  <a:chOff x="922" y="3727"/>
                  <a:chExt cx="49" cy="23"/>
                </a:xfrm>
              </p:grpSpPr>
              <p:sp>
                <p:nvSpPr>
                  <p:cNvPr id="2558"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9"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60"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6" name="Group 2392"/>
                <p:cNvGrpSpPr>
                  <a:grpSpLocks/>
                </p:cNvGrpSpPr>
                <p:nvPr/>
              </p:nvGrpSpPr>
              <p:grpSpPr bwMode="auto">
                <a:xfrm>
                  <a:off x="895" y="3526"/>
                  <a:ext cx="44" cy="23"/>
                  <a:chOff x="895" y="3526"/>
                  <a:chExt cx="44" cy="23"/>
                </a:xfrm>
              </p:grpSpPr>
              <p:sp>
                <p:nvSpPr>
                  <p:cNvPr id="2555"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6"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7"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7" name="Group 2396"/>
                <p:cNvGrpSpPr>
                  <a:grpSpLocks/>
                </p:cNvGrpSpPr>
                <p:nvPr/>
              </p:nvGrpSpPr>
              <p:grpSpPr bwMode="auto">
                <a:xfrm>
                  <a:off x="907" y="3540"/>
                  <a:ext cx="45" cy="22"/>
                  <a:chOff x="907" y="3540"/>
                  <a:chExt cx="45" cy="22"/>
                </a:xfrm>
              </p:grpSpPr>
              <p:sp>
                <p:nvSpPr>
                  <p:cNvPr id="2552"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3"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4"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8" name="Group 2400"/>
                <p:cNvGrpSpPr>
                  <a:grpSpLocks/>
                </p:cNvGrpSpPr>
                <p:nvPr/>
              </p:nvGrpSpPr>
              <p:grpSpPr bwMode="auto">
                <a:xfrm>
                  <a:off x="920" y="3553"/>
                  <a:ext cx="45" cy="23"/>
                  <a:chOff x="920" y="3553"/>
                  <a:chExt cx="45" cy="23"/>
                </a:xfrm>
              </p:grpSpPr>
              <p:sp>
                <p:nvSpPr>
                  <p:cNvPr id="2549"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0"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51"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29" name="Group 2404"/>
                <p:cNvGrpSpPr>
                  <a:grpSpLocks/>
                </p:cNvGrpSpPr>
                <p:nvPr/>
              </p:nvGrpSpPr>
              <p:grpSpPr bwMode="auto">
                <a:xfrm>
                  <a:off x="934" y="3566"/>
                  <a:ext cx="44" cy="23"/>
                  <a:chOff x="934" y="3566"/>
                  <a:chExt cx="44" cy="23"/>
                </a:xfrm>
              </p:grpSpPr>
              <p:sp>
                <p:nvSpPr>
                  <p:cNvPr id="2546"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7"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8"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0" name="Group 2408"/>
                <p:cNvGrpSpPr>
                  <a:grpSpLocks/>
                </p:cNvGrpSpPr>
                <p:nvPr/>
              </p:nvGrpSpPr>
              <p:grpSpPr bwMode="auto">
                <a:xfrm>
                  <a:off x="949" y="3579"/>
                  <a:ext cx="83" cy="63"/>
                  <a:chOff x="949" y="3579"/>
                  <a:chExt cx="83" cy="63"/>
                </a:xfrm>
              </p:grpSpPr>
              <p:grpSp>
                <p:nvGrpSpPr>
                  <p:cNvPr id="2530" name="Group 2409"/>
                  <p:cNvGrpSpPr>
                    <a:grpSpLocks/>
                  </p:cNvGrpSpPr>
                  <p:nvPr/>
                </p:nvGrpSpPr>
                <p:grpSpPr bwMode="auto">
                  <a:xfrm>
                    <a:off x="949" y="3579"/>
                    <a:ext cx="44" cy="23"/>
                    <a:chOff x="949" y="3579"/>
                    <a:chExt cx="44" cy="23"/>
                  </a:xfrm>
                </p:grpSpPr>
                <p:sp>
                  <p:nvSpPr>
                    <p:cNvPr id="2543"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4"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5"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1" name="Group 2413"/>
                  <p:cNvGrpSpPr>
                    <a:grpSpLocks/>
                  </p:cNvGrpSpPr>
                  <p:nvPr/>
                </p:nvGrpSpPr>
                <p:grpSpPr bwMode="auto">
                  <a:xfrm>
                    <a:off x="961" y="3592"/>
                    <a:ext cx="45" cy="23"/>
                    <a:chOff x="961" y="3592"/>
                    <a:chExt cx="45" cy="23"/>
                  </a:xfrm>
                </p:grpSpPr>
                <p:sp>
                  <p:nvSpPr>
                    <p:cNvPr id="2540"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1"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42"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2" name="Group 2417"/>
                  <p:cNvGrpSpPr>
                    <a:grpSpLocks/>
                  </p:cNvGrpSpPr>
                  <p:nvPr/>
                </p:nvGrpSpPr>
                <p:grpSpPr bwMode="auto">
                  <a:xfrm>
                    <a:off x="974" y="3606"/>
                    <a:ext cx="44" cy="23"/>
                    <a:chOff x="974" y="3606"/>
                    <a:chExt cx="44" cy="23"/>
                  </a:xfrm>
                </p:grpSpPr>
                <p:sp>
                  <p:nvSpPr>
                    <p:cNvPr id="2537"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8"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9"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33" name="Group 2421"/>
                  <p:cNvGrpSpPr>
                    <a:grpSpLocks/>
                  </p:cNvGrpSpPr>
                  <p:nvPr/>
                </p:nvGrpSpPr>
                <p:grpSpPr bwMode="auto">
                  <a:xfrm>
                    <a:off x="987" y="3619"/>
                    <a:ext cx="45" cy="23"/>
                    <a:chOff x="987" y="3619"/>
                    <a:chExt cx="45" cy="23"/>
                  </a:xfrm>
                </p:grpSpPr>
                <p:sp>
                  <p:nvSpPr>
                    <p:cNvPr id="2534"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5"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36"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1" name="Group 2425"/>
                <p:cNvGrpSpPr>
                  <a:grpSpLocks/>
                </p:cNvGrpSpPr>
                <p:nvPr/>
              </p:nvGrpSpPr>
              <p:grpSpPr bwMode="auto">
                <a:xfrm>
                  <a:off x="1002" y="3632"/>
                  <a:ext cx="83" cy="63"/>
                  <a:chOff x="1002" y="3632"/>
                  <a:chExt cx="83" cy="63"/>
                </a:xfrm>
              </p:grpSpPr>
              <p:grpSp>
                <p:nvGrpSpPr>
                  <p:cNvPr id="2514" name="Group 2426"/>
                  <p:cNvGrpSpPr>
                    <a:grpSpLocks/>
                  </p:cNvGrpSpPr>
                  <p:nvPr/>
                </p:nvGrpSpPr>
                <p:grpSpPr bwMode="auto">
                  <a:xfrm>
                    <a:off x="1002" y="3632"/>
                    <a:ext cx="44" cy="22"/>
                    <a:chOff x="1002" y="3632"/>
                    <a:chExt cx="44" cy="22"/>
                  </a:xfrm>
                </p:grpSpPr>
                <p:sp>
                  <p:nvSpPr>
                    <p:cNvPr id="2527"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8"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9"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5" name="Group 2430"/>
                  <p:cNvGrpSpPr>
                    <a:grpSpLocks/>
                  </p:cNvGrpSpPr>
                  <p:nvPr/>
                </p:nvGrpSpPr>
                <p:grpSpPr bwMode="auto">
                  <a:xfrm>
                    <a:off x="1014" y="3645"/>
                    <a:ext cx="44" cy="23"/>
                    <a:chOff x="1014" y="3645"/>
                    <a:chExt cx="44" cy="23"/>
                  </a:xfrm>
                </p:grpSpPr>
                <p:sp>
                  <p:nvSpPr>
                    <p:cNvPr id="2524"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5"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6"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6" name="Group 2434"/>
                  <p:cNvGrpSpPr>
                    <a:grpSpLocks/>
                  </p:cNvGrpSpPr>
                  <p:nvPr/>
                </p:nvGrpSpPr>
                <p:grpSpPr bwMode="auto">
                  <a:xfrm>
                    <a:off x="1027" y="3659"/>
                    <a:ext cx="45" cy="23"/>
                    <a:chOff x="1027" y="3659"/>
                    <a:chExt cx="45" cy="23"/>
                  </a:xfrm>
                </p:grpSpPr>
                <p:sp>
                  <p:nvSpPr>
                    <p:cNvPr id="2521"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2"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3"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517" name="Group 2438"/>
                  <p:cNvGrpSpPr>
                    <a:grpSpLocks/>
                  </p:cNvGrpSpPr>
                  <p:nvPr/>
                </p:nvGrpSpPr>
                <p:grpSpPr bwMode="auto">
                  <a:xfrm>
                    <a:off x="1040" y="3672"/>
                    <a:ext cx="45" cy="23"/>
                    <a:chOff x="1040" y="3672"/>
                    <a:chExt cx="45" cy="23"/>
                  </a:xfrm>
                </p:grpSpPr>
                <p:sp>
                  <p:nvSpPr>
                    <p:cNvPr id="2518"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9"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20"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432" name="Group 2442"/>
                <p:cNvGrpSpPr>
                  <a:grpSpLocks/>
                </p:cNvGrpSpPr>
                <p:nvPr/>
              </p:nvGrpSpPr>
              <p:grpSpPr bwMode="auto">
                <a:xfrm>
                  <a:off x="1054" y="3685"/>
                  <a:ext cx="45" cy="23"/>
                  <a:chOff x="1054" y="3685"/>
                  <a:chExt cx="45" cy="23"/>
                </a:xfrm>
              </p:grpSpPr>
              <p:sp>
                <p:nvSpPr>
                  <p:cNvPr id="2511"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2"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3"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3" name="Group 2446"/>
                <p:cNvGrpSpPr>
                  <a:grpSpLocks/>
                </p:cNvGrpSpPr>
                <p:nvPr/>
              </p:nvGrpSpPr>
              <p:grpSpPr bwMode="auto">
                <a:xfrm>
                  <a:off x="1067" y="3698"/>
                  <a:ext cx="45" cy="23"/>
                  <a:chOff x="1067" y="3698"/>
                  <a:chExt cx="45" cy="23"/>
                </a:xfrm>
              </p:grpSpPr>
              <p:sp>
                <p:nvSpPr>
                  <p:cNvPr id="2508"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9"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10"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4" name="Group 2450"/>
                <p:cNvGrpSpPr>
                  <a:grpSpLocks/>
                </p:cNvGrpSpPr>
                <p:nvPr/>
              </p:nvGrpSpPr>
              <p:grpSpPr bwMode="auto">
                <a:xfrm>
                  <a:off x="1079" y="3712"/>
                  <a:ext cx="44" cy="23"/>
                  <a:chOff x="1079" y="3712"/>
                  <a:chExt cx="44" cy="23"/>
                </a:xfrm>
              </p:grpSpPr>
              <p:sp>
                <p:nvSpPr>
                  <p:cNvPr id="2505"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6"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7"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5" name="Group 2454"/>
                <p:cNvGrpSpPr>
                  <a:grpSpLocks/>
                </p:cNvGrpSpPr>
                <p:nvPr/>
              </p:nvGrpSpPr>
              <p:grpSpPr bwMode="auto">
                <a:xfrm>
                  <a:off x="1093" y="3725"/>
                  <a:ext cx="45" cy="23"/>
                  <a:chOff x="1093" y="3725"/>
                  <a:chExt cx="45" cy="23"/>
                </a:xfrm>
              </p:grpSpPr>
              <p:sp>
                <p:nvSpPr>
                  <p:cNvPr id="2502"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3"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4"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6" name="Group 2458"/>
                <p:cNvGrpSpPr>
                  <a:grpSpLocks/>
                </p:cNvGrpSpPr>
                <p:nvPr/>
              </p:nvGrpSpPr>
              <p:grpSpPr bwMode="auto">
                <a:xfrm>
                  <a:off x="1108" y="3739"/>
                  <a:ext cx="44" cy="23"/>
                  <a:chOff x="1108" y="3739"/>
                  <a:chExt cx="44" cy="23"/>
                </a:xfrm>
              </p:grpSpPr>
              <p:sp>
                <p:nvSpPr>
                  <p:cNvPr id="2499"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0"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501"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7" name="Group 2462"/>
                <p:cNvGrpSpPr>
                  <a:grpSpLocks/>
                </p:cNvGrpSpPr>
                <p:nvPr/>
              </p:nvGrpSpPr>
              <p:grpSpPr bwMode="auto">
                <a:xfrm>
                  <a:off x="1121" y="3753"/>
                  <a:ext cx="45" cy="23"/>
                  <a:chOff x="1121" y="3753"/>
                  <a:chExt cx="45" cy="23"/>
                </a:xfrm>
              </p:grpSpPr>
              <p:sp>
                <p:nvSpPr>
                  <p:cNvPr id="2496"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7"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8"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38" name="Group 2466"/>
                <p:cNvGrpSpPr>
                  <a:grpSpLocks/>
                </p:cNvGrpSpPr>
                <p:nvPr/>
              </p:nvGrpSpPr>
              <p:grpSpPr bwMode="auto">
                <a:xfrm>
                  <a:off x="1133" y="3767"/>
                  <a:ext cx="44" cy="23"/>
                  <a:chOff x="1133" y="3767"/>
                  <a:chExt cx="44" cy="23"/>
                </a:xfrm>
              </p:grpSpPr>
              <p:sp>
                <p:nvSpPr>
                  <p:cNvPr id="2493"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4"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5"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39"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0"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1"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2"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3"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4"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5"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6"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7"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8"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49"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450" name="Group 2481"/>
                <p:cNvGrpSpPr>
                  <a:grpSpLocks/>
                </p:cNvGrpSpPr>
                <p:nvPr/>
              </p:nvGrpSpPr>
              <p:grpSpPr bwMode="auto">
                <a:xfrm>
                  <a:off x="700" y="3535"/>
                  <a:ext cx="49" cy="24"/>
                  <a:chOff x="700" y="3535"/>
                  <a:chExt cx="49" cy="24"/>
                </a:xfrm>
              </p:grpSpPr>
              <p:sp>
                <p:nvSpPr>
                  <p:cNvPr id="2490"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1"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92"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1" name="Group 2485"/>
                <p:cNvGrpSpPr>
                  <a:grpSpLocks/>
                </p:cNvGrpSpPr>
                <p:nvPr/>
              </p:nvGrpSpPr>
              <p:grpSpPr bwMode="auto">
                <a:xfrm>
                  <a:off x="714" y="3551"/>
                  <a:ext cx="49" cy="22"/>
                  <a:chOff x="714" y="3551"/>
                  <a:chExt cx="49" cy="22"/>
                </a:xfrm>
              </p:grpSpPr>
              <p:sp>
                <p:nvSpPr>
                  <p:cNvPr id="2487"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8"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9"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2" name="Group 2489"/>
                <p:cNvGrpSpPr>
                  <a:grpSpLocks/>
                </p:cNvGrpSpPr>
                <p:nvPr/>
              </p:nvGrpSpPr>
              <p:grpSpPr bwMode="auto">
                <a:xfrm>
                  <a:off x="728" y="3564"/>
                  <a:ext cx="48" cy="23"/>
                  <a:chOff x="728" y="3564"/>
                  <a:chExt cx="48" cy="23"/>
                </a:xfrm>
              </p:grpSpPr>
              <p:sp>
                <p:nvSpPr>
                  <p:cNvPr id="2484"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5"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6"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3" name="Group 2493"/>
                <p:cNvGrpSpPr>
                  <a:grpSpLocks/>
                </p:cNvGrpSpPr>
                <p:nvPr/>
              </p:nvGrpSpPr>
              <p:grpSpPr bwMode="auto">
                <a:xfrm>
                  <a:off x="742" y="3582"/>
                  <a:ext cx="49" cy="23"/>
                  <a:chOff x="742" y="3582"/>
                  <a:chExt cx="49" cy="23"/>
                </a:xfrm>
              </p:grpSpPr>
              <p:sp>
                <p:nvSpPr>
                  <p:cNvPr id="2481"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2"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3"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4" name="Group 2497"/>
                <p:cNvGrpSpPr>
                  <a:grpSpLocks/>
                </p:cNvGrpSpPr>
                <p:nvPr/>
              </p:nvGrpSpPr>
              <p:grpSpPr bwMode="auto">
                <a:xfrm>
                  <a:off x="752" y="3597"/>
                  <a:ext cx="133" cy="106"/>
                  <a:chOff x="752" y="3597"/>
                  <a:chExt cx="133" cy="106"/>
                </a:xfrm>
              </p:grpSpPr>
              <p:sp>
                <p:nvSpPr>
                  <p:cNvPr id="2478"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9"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80"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5" name="Group 2501"/>
                <p:cNvGrpSpPr>
                  <a:grpSpLocks/>
                </p:cNvGrpSpPr>
                <p:nvPr/>
              </p:nvGrpSpPr>
              <p:grpSpPr bwMode="auto">
                <a:xfrm>
                  <a:off x="844" y="3694"/>
                  <a:ext cx="48" cy="23"/>
                  <a:chOff x="844" y="3694"/>
                  <a:chExt cx="48" cy="23"/>
                </a:xfrm>
              </p:grpSpPr>
              <p:sp>
                <p:nvSpPr>
                  <p:cNvPr id="2475"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6"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7"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6" name="Group 2505"/>
                <p:cNvGrpSpPr>
                  <a:grpSpLocks/>
                </p:cNvGrpSpPr>
                <p:nvPr/>
              </p:nvGrpSpPr>
              <p:grpSpPr bwMode="auto">
                <a:xfrm>
                  <a:off x="857" y="3710"/>
                  <a:ext cx="49" cy="22"/>
                  <a:chOff x="857" y="3710"/>
                  <a:chExt cx="49" cy="22"/>
                </a:xfrm>
              </p:grpSpPr>
              <p:sp>
                <p:nvSpPr>
                  <p:cNvPr id="2472"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3"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4"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7" name="Group 2509"/>
                <p:cNvGrpSpPr>
                  <a:grpSpLocks/>
                </p:cNvGrpSpPr>
                <p:nvPr/>
              </p:nvGrpSpPr>
              <p:grpSpPr bwMode="auto">
                <a:xfrm>
                  <a:off x="1086" y="3766"/>
                  <a:ext cx="49" cy="23"/>
                  <a:chOff x="1086" y="3766"/>
                  <a:chExt cx="49" cy="23"/>
                </a:xfrm>
              </p:grpSpPr>
              <p:sp>
                <p:nvSpPr>
                  <p:cNvPr id="2469"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0"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71"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8" name="Group 2513"/>
                <p:cNvGrpSpPr>
                  <a:grpSpLocks/>
                </p:cNvGrpSpPr>
                <p:nvPr/>
              </p:nvGrpSpPr>
              <p:grpSpPr bwMode="auto">
                <a:xfrm>
                  <a:off x="934" y="3740"/>
                  <a:ext cx="48" cy="23"/>
                  <a:chOff x="934" y="3740"/>
                  <a:chExt cx="48" cy="23"/>
                </a:xfrm>
              </p:grpSpPr>
              <p:sp>
                <p:nvSpPr>
                  <p:cNvPr id="2466"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7"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8"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459" name="Group 2517"/>
                <p:cNvGrpSpPr>
                  <a:grpSpLocks/>
                </p:cNvGrpSpPr>
                <p:nvPr/>
              </p:nvGrpSpPr>
              <p:grpSpPr bwMode="auto">
                <a:xfrm>
                  <a:off x="943" y="3754"/>
                  <a:ext cx="49" cy="23"/>
                  <a:chOff x="943" y="3754"/>
                  <a:chExt cx="49" cy="23"/>
                </a:xfrm>
              </p:grpSpPr>
              <p:sp>
                <p:nvSpPr>
                  <p:cNvPr id="2463"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4"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5"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460"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1"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462"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7" name="Group 2524"/>
              <p:cNvGrpSpPr>
                <a:grpSpLocks/>
              </p:cNvGrpSpPr>
              <p:nvPr/>
            </p:nvGrpSpPr>
            <p:grpSpPr bwMode="auto">
              <a:xfrm>
                <a:off x="920" y="3821"/>
                <a:ext cx="413" cy="50"/>
                <a:chOff x="920" y="3821"/>
                <a:chExt cx="413" cy="50"/>
              </a:xfrm>
            </p:grpSpPr>
            <p:sp>
              <p:nvSpPr>
                <p:cNvPr id="2378"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9"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80"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81"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358" name="Group 2529"/>
              <p:cNvGrpSpPr>
                <a:grpSpLocks/>
              </p:cNvGrpSpPr>
              <p:nvPr/>
            </p:nvGrpSpPr>
            <p:grpSpPr bwMode="auto">
              <a:xfrm>
                <a:off x="1227" y="3477"/>
                <a:ext cx="508" cy="321"/>
                <a:chOff x="1227" y="3477"/>
                <a:chExt cx="508" cy="321"/>
              </a:xfrm>
            </p:grpSpPr>
            <p:sp>
              <p:nvSpPr>
                <p:cNvPr id="2359"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0"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1"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2"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3"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4"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5"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6"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7"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8"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69"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0"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1"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2"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3"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4"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5"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376"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377"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01" name="Group 2096"/>
            <p:cNvGrpSpPr>
              <a:grpSpLocks/>
            </p:cNvGrpSpPr>
            <p:nvPr/>
          </p:nvGrpSpPr>
          <p:grpSpPr bwMode="auto">
            <a:xfrm>
              <a:off x="5940425" y="2060575"/>
              <a:ext cx="431800" cy="330200"/>
              <a:chOff x="624" y="2968"/>
              <a:chExt cx="1331" cy="920"/>
            </a:xfrm>
          </p:grpSpPr>
          <p:sp>
            <p:nvSpPr>
              <p:cNvPr id="2802" name="Freeform 2097"/>
              <p:cNvSpPr>
                <a:spLocks/>
              </p:cNvSpPr>
              <p:nvPr/>
            </p:nvSpPr>
            <p:spPr bwMode="auto">
              <a:xfrm>
                <a:off x="1238" y="2968"/>
                <a:ext cx="713" cy="770"/>
              </a:xfrm>
              <a:custGeom>
                <a:avLst/>
                <a:gdLst>
                  <a:gd name="T0" fmla="*/ 7 w 1426"/>
                  <a:gd name="T1" fmla="*/ 1 h 2309"/>
                  <a:gd name="T2" fmla="*/ 7 w 1426"/>
                  <a:gd name="T3" fmla="*/ 1 h 2309"/>
                  <a:gd name="T4" fmla="*/ 0 w 1426"/>
                  <a:gd name="T5" fmla="*/ 1 h 2309"/>
                  <a:gd name="T6" fmla="*/ 3 w 1426"/>
                  <a:gd name="T7" fmla="*/ 0 h 2309"/>
                  <a:gd name="T8" fmla="*/ 3 w 1426"/>
                  <a:gd name="T9" fmla="*/ 0 h 2309"/>
                  <a:gd name="T10" fmla="*/ 3 w 1426"/>
                  <a:gd name="T11" fmla="*/ 0 h 2309"/>
                  <a:gd name="T12" fmla="*/ 3 w 1426"/>
                  <a:gd name="T13" fmla="*/ 0 h 2309"/>
                  <a:gd name="T14" fmla="*/ 11 w 1426"/>
                  <a:gd name="T15" fmla="*/ 0 h 2309"/>
                  <a:gd name="T16" fmla="*/ 11 w 1426"/>
                  <a:gd name="T17" fmla="*/ 0 h 2309"/>
                  <a:gd name="T18" fmla="*/ 11 w 1426"/>
                  <a:gd name="T19" fmla="*/ 0 h 2309"/>
                  <a:gd name="T20" fmla="*/ 11 w 1426"/>
                  <a:gd name="T21" fmla="*/ 0 h 2309"/>
                  <a:gd name="T22" fmla="*/ 7 w 1426"/>
                  <a:gd name="T23" fmla="*/ 1 h 2309"/>
                  <a:gd name="T24" fmla="*/ 7 w 1426"/>
                  <a:gd name="T25" fmla="*/ 1 h 230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1426"/>
                  <a:gd name="T40" fmla="*/ 0 h 2309"/>
                  <a:gd name="T41" fmla="*/ 1426 w 1426"/>
                  <a:gd name="T42" fmla="*/ 2309 h 230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1426" h="2309">
                    <a:moveTo>
                      <a:pt x="992" y="2292"/>
                    </a:moveTo>
                    <a:lnTo>
                      <a:pt x="964" y="2309"/>
                    </a:lnTo>
                    <a:lnTo>
                      <a:pt x="0" y="1462"/>
                    </a:lnTo>
                    <a:lnTo>
                      <a:pt x="326" y="59"/>
                    </a:lnTo>
                    <a:lnTo>
                      <a:pt x="369" y="18"/>
                    </a:lnTo>
                    <a:lnTo>
                      <a:pt x="414" y="0"/>
                    </a:lnTo>
                    <a:lnTo>
                      <a:pt x="457" y="9"/>
                    </a:lnTo>
                    <a:lnTo>
                      <a:pt x="1381" y="400"/>
                    </a:lnTo>
                    <a:lnTo>
                      <a:pt x="1411" y="421"/>
                    </a:lnTo>
                    <a:lnTo>
                      <a:pt x="1422" y="425"/>
                    </a:lnTo>
                    <a:lnTo>
                      <a:pt x="1426" y="445"/>
                    </a:lnTo>
                    <a:lnTo>
                      <a:pt x="1017" y="2306"/>
                    </a:lnTo>
                    <a:lnTo>
                      <a:pt x="992" y="2292"/>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3" name="Freeform 2098"/>
              <p:cNvSpPr>
                <a:spLocks/>
              </p:cNvSpPr>
              <p:nvPr/>
            </p:nvSpPr>
            <p:spPr bwMode="auto">
              <a:xfrm>
                <a:off x="1668" y="3087"/>
                <a:ext cx="286" cy="660"/>
              </a:xfrm>
              <a:custGeom>
                <a:avLst/>
                <a:gdLst>
                  <a:gd name="T0" fmla="*/ 4 w 573"/>
                  <a:gd name="T1" fmla="*/ 0 h 1980"/>
                  <a:gd name="T2" fmla="*/ 4 w 573"/>
                  <a:gd name="T3" fmla="*/ 0 h 1980"/>
                  <a:gd name="T4" fmla="*/ 1 w 573"/>
                  <a:gd name="T5" fmla="*/ 1 h 1980"/>
                  <a:gd name="T6" fmla="*/ 1 w 573"/>
                  <a:gd name="T7" fmla="*/ 1 h 1980"/>
                  <a:gd name="T8" fmla="*/ 1 w 573"/>
                  <a:gd name="T9" fmla="*/ 1 h 1980"/>
                  <a:gd name="T10" fmla="*/ 0 w 573"/>
                  <a:gd name="T11" fmla="*/ 1 h 1980"/>
                  <a:gd name="T12" fmla="*/ 0 w 573"/>
                  <a:gd name="T13" fmla="*/ 1 h 1980"/>
                  <a:gd name="T14" fmla="*/ 0 w 573"/>
                  <a:gd name="T15" fmla="*/ 1 h 1980"/>
                  <a:gd name="T16" fmla="*/ 0 w 573"/>
                  <a:gd name="T17" fmla="*/ 1 h 1980"/>
                  <a:gd name="T18" fmla="*/ 3 w 573"/>
                  <a:gd name="T19" fmla="*/ 0 h 1980"/>
                  <a:gd name="T20" fmla="*/ 3 w 573"/>
                  <a:gd name="T21" fmla="*/ 0 h 1980"/>
                  <a:gd name="T22" fmla="*/ 3 w 573"/>
                  <a:gd name="T23" fmla="*/ 0 h 1980"/>
                  <a:gd name="T24" fmla="*/ 3 w 573"/>
                  <a:gd name="T25" fmla="*/ 0 h 1980"/>
                  <a:gd name="T26" fmla="*/ 4 w 573"/>
                  <a:gd name="T27" fmla="*/ 0 h 1980"/>
                  <a:gd name="T28" fmla="*/ 4 w 573"/>
                  <a:gd name="T29" fmla="*/ 0 h 1980"/>
                  <a:gd name="T30" fmla="*/ 4 w 573"/>
                  <a:gd name="T31" fmla="*/ 0 h 19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573"/>
                  <a:gd name="T49" fmla="*/ 0 h 1980"/>
                  <a:gd name="T50" fmla="*/ 573 w 573"/>
                  <a:gd name="T51" fmla="*/ 1980 h 19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573" h="1980">
                    <a:moveTo>
                      <a:pt x="573" y="86"/>
                    </a:moveTo>
                    <a:lnTo>
                      <a:pt x="568" y="132"/>
                    </a:lnTo>
                    <a:lnTo>
                      <a:pt x="155" y="1923"/>
                    </a:lnTo>
                    <a:lnTo>
                      <a:pt x="151" y="1955"/>
                    </a:lnTo>
                    <a:lnTo>
                      <a:pt x="140" y="1972"/>
                    </a:lnTo>
                    <a:lnTo>
                      <a:pt x="125" y="1980"/>
                    </a:lnTo>
                    <a:lnTo>
                      <a:pt x="111" y="1975"/>
                    </a:lnTo>
                    <a:lnTo>
                      <a:pt x="86" y="1955"/>
                    </a:lnTo>
                    <a:lnTo>
                      <a:pt x="0" y="1880"/>
                    </a:lnTo>
                    <a:lnTo>
                      <a:pt x="425" y="39"/>
                    </a:lnTo>
                    <a:lnTo>
                      <a:pt x="420" y="27"/>
                    </a:lnTo>
                    <a:lnTo>
                      <a:pt x="396" y="0"/>
                    </a:lnTo>
                    <a:lnTo>
                      <a:pt x="445" y="20"/>
                    </a:lnTo>
                    <a:lnTo>
                      <a:pt x="541" y="61"/>
                    </a:lnTo>
                    <a:lnTo>
                      <a:pt x="559" y="75"/>
                    </a:lnTo>
                    <a:lnTo>
                      <a:pt x="573" y="86"/>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4" name="Freeform 2099"/>
              <p:cNvSpPr>
                <a:spLocks/>
              </p:cNvSpPr>
              <p:nvPr/>
            </p:nvSpPr>
            <p:spPr bwMode="auto">
              <a:xfrm>
                <a:off x="1432" y="2970"/>
                <a:ext cx="523" cy="147"/>
              </a:xfrm>
              <a:custGeom>
                <a:avLst/>
                <a:gdLst>
                  <a:gd name="T0" fmla="*/ 0 w 1045"/>
                  <a:gd name="T1" fmla="*/ 0 h 441"/>
                  <a:gd name="T2" fmla="*/ 1 w 1045"/>
                  <a:gd name="T3" fmla="*/ 0 h 441"/>
                  <a:gd name="T4" fmla="*/ 1 w 1045"/>
                  <a:gd name="T5" fmla="*/ 0 h 441"/>
                  <a:gd name="T6" fmla="*/ 8 w 1045"/>
                  <a:gd name="T7" fmla="*/ 0 h 441"/>
                  <a:gd name="T8" fmla="*/ 9 w 1045"/>
                  <a:gd name="T9" fmla="*/ 0 h 441"/>
                  <a:gd name="T10" fmla="*/ 9 w 1045"/>
                  <a:gd name="T11" fmla="*/ 0 h 441"/>
                  <a:gd name="T12" fmla="*/ 0 w 1045"/>
                  <a:gd name="T13" fmla="*/ 0 h 441"/>
                  <a:gd name="T14" fmla="*/ 0 60000 65536"/>
                  <a:gd name="T15" fmla="*/ 0 60000 65536"/>
                  <a:gd name="T16" fmla="*/ 0 60000 65536"/>
                  <a:gd name="T17" fmla="*/ 0 60000 65536"/>
                  <a:gd name="T18" fmla="*/ 0 60000 65536"/>
                  <a:gd name="T19" fmla="*/ 0 60000 65536"/>
                  <a:gd name="T20" fmla="*/ 0 60000 65536"/>
                  <a:gd name="T21" fmla="*/ 0 w 1045"/>
                  <a:gd name="T22" fmla="*/ 0 h 441"/>
                  <a:gd name="T23" fmla="*/ 1045 w 1045"/>
                  <a:gd name="T24" fmla="*/ 441 h 441"/>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045" h="441">
                    <a:moveTo>
                      <a:pt x="0" y="0"/>
                    </a:moveTo>
                    <a:lnTo>
                      <a:pt x="31" y="1"/>
                    </a:lnTo>
                    <a:lnTo>
                      <a:pt x="62" y="10"/>
                    </a:lnTo>
                    <a:lnTo>
                      <a:pt x="1005" y="409"/>
                    </a:lnTo>
                    <a:lnTo>
                      <a:pt x="1037" y="427"/>
                    </a:lnTo>
                    <a:lnTo>
                      <a:pt x="1045" y="441"/>
                    </a:lnTo>
                    <a:lnTo>
                      <a:pt x="0" y="0"/>
                    </a:lnTo>
                    <a:close/>
                  </a:path>
                </a:pathLst>
              </a:custGeom>
              <a:solidFill>
                <a:srgbClr val="202020"/>
              </a:solidFill>
              <a:ln w="7938">
                <a:solidFill>
                  <a:srgbClr val="20202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5" name="Freeform 2100"/>
              <p:cNvSpPr>
                <a:spLocks/>
              </p:cNvSpPr>
              <p:nvPr/>
            </p:nvSpPr>
            <p:spPr bwMode="auto">
              <a:xfrm>
                <a:off x="1315" y="3056"/>
                <a:ext cx="478" cy="573"/>
              </a:xfrm>
              <a:custGeom>
                <a:avLst/>
                <a:gdLst>
                  <a:gd name="T0" fmla="*/ 5 w 955"/>
                  <a:gd name="T1" fmla="*/ 1 h 1719"/>
                  <a:gd name="T2" fmla="*/ 0 w 955"/>
                  <a:gd name="T3" fmla="*/ 1 h 1719"/>
                  <a:gd name="T4" fmla="*/ 3 w 955"/>
                  <a:gd name="T5" fmla="*/ 0 h 1719"/>
                  <a:gd name="T6" fmla="*/ 8 w 955"/>
                  <a:gd name="T7" fmla="*/ 0 h 1719"/>
                  <a:gd name="T8" fmla="*/ 5 w 955"/>
                  <a:gd name="T9" fmla="*/ 1 h 1719"/>
                  <a:gd name="T10" fmla="*/ 0 60000 65536"/>
                  <a:gd name="T11" fmla="*/ 0 60000 65536"/>
                  <a:gd name="T12" fmla="*/ 0 60000 65536"/>
                  <a:gd name="T13" fmla="*/ 0 60000 65536"/>
                  <a:gd name="T14" fmla="*/ 0 60000 65536"/>
                  <a:gd name="T15" fmla="*/ 0 w 955"/>
                  <a:gd name="T16" fmla="*/ 0 h 1719"/>
                  <a:gd name="T17" fmla="*/ 955 w 955"/>
                  <a:gd name="T18" fmla="*/ 1719 h 1719"/>
                </a:gdLst>
                <a:ahLst/>
                <a:cxnLst>
                  <a:cxn ang="T10">
                    <a:pos x="T0" y="T1"/>
                  </a:cxn>
                  <a:cxn ang="T11">
                    <a:pos x="T2" y="T3"/>
                  </a:cxn>
                  <a:cxn ang="T12">
                    <a:pos x="T4" y="T5"/>
                  </a:cxn>
                  <a:cxn ang="T13">
                    <a:pos x="T6" y="T7"/>
                  </a:cxn>
                  <a:cxn ang="T14">
                    <a:pos x="T8" y="T9"/>
                  </a:cxn>
                </a:cxnLst>
                <a:rect l="T15" t="T16" r="T17" b="T18"/>
                <a:pathLst>
                  <a:path w="955" h="1719">
                    <a:moveTo>
                      <a:pt x="619" y="1719"/>
                    </a:moveTo>
                    <a:lnTo>
                      <a:pt x="0" y="1212"/>
                    </a:lnTo>
                    <a:lnTo>
                      <a:pt x="290" y="0"/>
                    </a:lnTo>
                    <a:lnTo>
                      <a:pt x="955" y="313"/>
                    </a:lnTo>
                    <a:lnTo>
                      <a:pt x="619" y="1719"/>
                    </a:lnTo>
                    <a:close/>
                  </a:path>
                </a:pathLst>
              </a:custGeom>
              <a:solidFill>
                <a:srgbClr val="000000"/>
              </a:solidFill>
              <a:ln w="7938">
                <a:solidFill>
                  <a:srgbClr val="80808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6" name="Freeform 2101"/>
              <p:cNvSpPr>
                <a:spLocks/>
              </p:cNvSpPr>
              <p:nvPr/>
            </p:nvSpPr>
            <p:spPr bwMode="auto">
              <a:xfrm>
                <a:off x="1337" y="3076"/>
                <a:ext cx="431" cy="529"/>
              </a:xfrm>
              <a:custGeom>
                <a:avLst/>
                <a:gdLst>
                  <a:gd name="T0" fmla="*/ 5 w 862"/>
                  <a:gd name="T1" fmla="*/ 1 h 1587"/>
                  <a:gd name="T2" fmla="*/ 0 w 862"/>
                  <a:gd name="T3" fmla="*/ 1 h 1587"/>
                  <a:gd name="T4" fmla="*/ 3 w 862"/>
                  <a:gd name="T5" fmla="*/ 0 h 1587"/>
                  <a:gd name="T6" fmla="*/ 7 w 862"/>
                  <a:gd name="T7" fmla="*/ 0 h 1587"/>
                  <a:gd name="T8" fmla="*/ 5 w 862"/>
                  <a:gd name="T9" fmla="*/ 1 h 1587"/>
                  <a:gd name="T10" fmla="*/ 0 60000 65536"/>
                  <a:gd name="T11" fmla="*/ 0 60000 65536"/>
                  <a:gd name="T12" fmla="*/ 0 60000 65536"/>
                  <a:gd name="T13" fmla="*/ 0 60000 65536"/>
                  <a:gd name="T14" fmla="*/ 0 60000 65536"/>
                  <a:gd name="T15" fmla="*/ 0 w 862"/>
                  <a:gd name="T16" fmla="*/ 0 h 1587"/>
                  <a:gd name="T17" fmla="*/ 862 w 862"/>
                  <a:gd name="T18" fmla="*/ 1587 h 1587"/>
                </a:gdLst>
                <a:ahLst/>
                <a:cxnLst>
                  <a:cxn ang="T10">
                    <a:pos x="T0" y="T1"/>
                  </a:cxn>
                  <a:cxn ang="T11">
                    <a:pos x="T2" y="T3"/>
                  </a:cxn>
                  <a:cxn ang="T12">
                    <a:pos x="T4" y="T5"/>
                  </a:cxn>
                  <a:cxn ang="T13">
                    <a:pos x="T6" y="T7"/>
                  </a:cxn>
                  <a:cxn ang="T14">
                    <a:pos x="T8" y="T9"/>
                  </a:cxn>
                </a:cxnLst>
                <a:rect l="T15" t="T16" r="T17" b="T18"/>
                <a:pathLst>
                  <a:path w="862" h="1587">
                    <a:moveTo>
                      <a:pt x="546" y="1587"/>
                    </a:moveTo>
                    <a:lnTo>
                      <a:pt x="0" y="1134"/>
                    </a:lnTo>
                    <a:lnTo>
                      <a:pt x="272" y="0"/>
                    </a:lnTo>
                    <a:lnTo>
                      <a:pt x="862" y="268"/>
                    </a:lnTo>
                    <a:lnTo>
                      <a:pt x="546" y="1587"/>
                    </a:lnTo>
                    <a:close/>
                  </a:path>
                </a:pathLst>
              </a:custGeom>
              <a:solidFill>
                <a:srgbClr val="C7C7C7"/>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7" name="Freeform 2102"/>
              <p:cNvSpPr>
                <a:spLocks/>
              </p:cNvSpPr>
              <p:nvPr/>
            </p:nvSpPr>
            <p:spPr bwMode="auto">
              <a:xfrm>
                <a:off x="1233" y="2968"/>
                <a:ext cx="203" cy="494"/>
              </a:xfrm>
              <a:custGeom>
                <a:avLst/>
                <a:gdLst>
                  <a:gd name="T0" fmla="*/ 3 w 408"/>
                  <a:gd name="T1" fmla="*/ 0 h 1480"/>
                  <a:gd name="T2" fmla="*/ 2 w 408"/>
                  <a:gd name="T3" fmla="*/ 0 h 1480"/>
                  <a:gd name="T4" fmla="*/ 2 w 408"/>
                  <a:gd name="T5" fmla="*/ 0 h 1480"/>
                  <a:gd name="T6" fmla="*/ 2 w 408"/>
                  <a:gd name="T7" fmla="*/ 0 h 1480"/>
                  <a:gd name="T8" fmla="*/ 2 w 408"/>
                  <a:gd name="T9" fmla="*/ 0 h 1480"/>
                  <a:gd name="T10" fmla="*/ 2 w 408"/>
                  <a:gd name="T11" fmla="*/ 0 h 1480"/>
                  <a:gd name="T12" fmla="*/ 0 w 408"/>
                  <a:gd name="T13" fmla="*/ 1 h 1480"/>
                  <a:gd name="T14" fmla="*/ 0 w 408"/>
                  <a:gd name="T15" fmla="*/ 1 h 1480"/>
                  <a:gd name="T16" fmla="*/ 2 w 408"/>
                  <a:gd name="T17" fmla="*/ 0 h 1480"/>
                  <a:gd name="T18" fmla="*/ 2 w 408"/>
                  <a:gd name="T19" fmla="*/ 0 h 1480"/>
                  <a:gd name="T20" fmla="*/ 2 w 408"/>
                  <a:gd name="T21" fmla="*/ 0 h 1480"/>
                  <a:gd name="T22" fmla="*/ 2 w 408"/>
                  <a:gd name="T23" fmla="*/ 0 h 1480"/>
                  <a:gd name="T24" fmla="*/ 2 w 408"/>
                  <a:gd name="T25" fmla="*/ 0 h 1480"/>
                  <a:gd name="T26" fmla="*/ 3 w 408"/>
                  <a:gd name="T27" fmla="*/ 0 h 1480"/>
                  <a:gd name="T28" fmla="*/ 3 w 408"/>
                  <a:gd name="T29" fmla="*/ 0 h 1480"/>
                  <a:gd name="T30" fmla="*/ 3 w 408"/>
                  <a:gd name="T31" fmla="*/ 0 h 1480"/>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408"/>
                  <a:gd name="T49" fmla="*/ 0 h 1480"/>
                  <a:gd name="T50" fmla="*/ 408 w 408"/>
                  <a:gd name="T51" fmla="*/ 1480 h 1480"/>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408" h="1480">
                    <a:moveTo>
                      <a:pt x="393" y="0"/>
                    </a:moveTo>
                    <a:lnTo>
                      <a:pt x="370" y="11"/>
                    </a:lnTo>
                    <a:lnTo>
                      <a:pt x="356" y="19"/>
                    </a:lnTo>
                    <a:lnTo>
                      <a:pt x="338" y="37"/>
                    </a:lnTo>
                    <a:lnTo>
                      <a:pt x="325" y="59"/>
                    </a:lnTo>
                    <a:lnTo>
                      <a:pt x="320" y="77"/>
                    </a:lnTo>
                    <a:lnTo>
                      <a:pt x="0" y="1459"/>
                    </a:lnTo>
                    <a:lnTo>
                      <a:pt x="12" y="1480"/>
                    </a:lnTo>
                    <a:lnTo>
                      <a:pt x="337" y="77"/>
                    </a:lnTo>
                    <a:lnTo>
                      <a:pt x="346" y="57"/>
                    </a:lnTo>
                    <a:lnTo>
                      <a:pt x="355" y="43"/>
                    </a:lnTo>
                    <a:lnTo>
                      <a:pt x="368" y="30"/>
                    </a:lnTo>
                    <a:lnTo>
                      <a:pt x="384" y="19"/>
                    </a:lnTo>
                    <a:lnTo>
                      <a:pt x="400" y="12"/>
                    </a:lnTo>
                    <a:lnTo>
                      <a:pt x="408" y="5"/>
                    </a:lnTo>
                    <a:lnTo>
                      <a:pt x="393" y="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8" name="Freeform 2103"/>
              <p:cNvSpPr>
                <a:spLocks/>
              </p:cNvSpPr>
              <p:nvPr/>
            </p:nvSpPr>
            <p:spPr bwMode="auto">
              <a:xfrm>
                <a:off x="1204" y="3479"/>
                <a:ext cx="532" cy="321"/>
              </a:xfrm>
              <a:custGeom>
                <a:avLst/>
                <a:gdLst>
                  <a:gd name="T0" fmla="*/ 8 w 1065"/>
                  <a:gd name="T1" fmla="*/ 0 h 963"/>
                  <a:gd name="T2" fmla="*/ 8 w 1065"/>
                  <a:gd name="T3" fmla="*/ 0 h 963"/>
                  <a:gd name="T4" fmla="*/ 7 w 1065"/>
                  <a:gd name="T5" fmla="*/ 0 h 963"/>
                  <a:gd name="T6" fmla="*/ 1 w 1065"/>
                  <a:gd name="T7" fmla="*/ 0 h 963"/>
                  <a:gd name="T8" fmla="*/ 0 w 1065"/>
                  <a:gd name="T9" fmla="*/ 0 h 963"/>
                  <a:gd name="T10" fmla="*/ 0 w 1065"/>
                  <a:gd name="T11" fmla="*/ 0 h 963"/>
                  <a:gd name="T12" fmla="*/ 0 w 1065"/>
                  <a:gd name="T13" fmla="*/ 0 h 963"/>
                  <a:gd name="T14" fmla="*/ 0 w 1065"/>
                  <a:gd name="T15" fmla="*/ 0 h 963"/>
                  <a:gd name="T16" fmla="*/ 6 w 1065"/>
                  <a:gd name="T17" fmla="*/ 0 h 963"/>
                  <a:gd name="T18" fmla="*/ 8 w 1065"/>
                  <a:gd name="T19" fmla="*/ 0 h 963"/>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065"/>
                  <a:gd name="T31" fmla="*/ 0 h 963"/>
                  <a:gd name="T32" fmla="*/ 1065 w 1065"/>
                  <a:gd name="T33" fmla="*/ 963 h 963"/>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065" h="963">
                    <a:moveTo>
                      <a:pt x="1065" y="963"/>
                    </a:moveTo>
                    <a:lnTo>
                      <a:pt x="1047" y="833"/>
                    </a:lnTo>
                    <a:lnTo>
                      <a:pt x="1015" y="776"/>
                    </a:lnTo>
                    <a:lnTo>
                      <a:pt x="137" y="3"/>
                    </a:lnTo>
                    <a:lnTo>
                      <a:pt x="96" y="0"/>
                    </a:lnTo>
                    <a:lnTo>
                      <a:pt x="59" y="3"/>
                    </a:lnTo>
                    <a:lnTo>
                      <a:pt x="32" y="42"/>
                    </a:lnTo>
                    <a:lnTo>
                      <a:pt x="0" y="145"/>
                    </a:lnTo>
                    <a:lnTo>
                      <a:pt x="865" y="954"/>
                    </a:lnTo>
                    <a:lnTo>
                      <a:pt x="1065" y="963"/>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09" name="Freeform 2104"/>
              <p:cNvSpPr>
                <a:spLocks/>
              </p:cNvSpPr>
              <p:nvPr/>
            </p:nvSpPr>
            <p:spPr bwMode="auto">
              <a:xfrm>
                <a:off x="642" y="3519"/>
                <a:ext cx="985" cy="288"/>
              </a:xfrm>
              <a:custGeom>
                <a:avLst/>
                <a:gdLst>
                  <a:gd name="T0" fmla="*/ 0 w 1969"/>
                  <a:gd name="T1" fmla="*/ 0 h 862"/>
                  <a:gd name="T2" fmla="*/ 9 w 1969"/>
                  <a:gd name="T3" fmla="*/ 0 h 862"/>
                  <a:gd name="T4" fmla="*/ 16 w 1969"/>
                  <a:gd name="T5" fmla="*/ 0 h 862"/>
                  <a:gd name="T6" fmla="*/ 4 w 1969"/>
                  <a:gd name="T7" fmla="*/ 0 h 862"/>
                  <a:gd name="T8" fmla="*/ 0 w 1969"/>
                  <a:gd name="T9" fmla="*/ 0 h 862"/>
                  <a:gd name="T10" fmla="*/ 0 60000 65536"/>
                  <a:gd name="T11" fmla="*/ 0 60000 65536"/>
                  <a:gd name="T12" fmla="*/ 0 60000 65536"/>
                  <a:gd name="T13" fmla="*/ 0 60000 65536"/>
                  <a:gd name="T14" fmla="*/ 0 60000 65536"/>
                  <a:gd name="T15" fmla="*/ 0 w 1969"/>
                  <a:gd name="T16" fmla="*/ 0 h 862"/>
                  <a:gd name="T17" fmla="*/ 1969 w 1969"/>
                  <a:gd name="T18" fmla="*/ 862 h 862"/>
                </a:gdLst>
                <a:ahLst/>
                <a:cxnLst>
                  <a:cxn ang="T10">
                    <a:pos x="T0" y="T1"/>
                  </a:cxn>
                  <a:cxn ang="T11">
                    <a:pos x="T2" y="T3"/>
                  </a:cxn>
                  <a:cxn ang="T12">
                    <a:pos x="T4" y="T5"/>
                  </a:cxn>
                  <a:cxn ang="T13">
                    <a:pos x="T6" y="T7"/>
                  </a:cxn>
                  <a:cxn ang="T14">
                    <a:pos x="T8" y="T9"/>
                  </a:cxn>
                </a:cxnLst>
                <a:rect l="T15" t="T16" r="T17" b="T18"/>
                <a:pathLst>
                  <a:path w="1969" h="862">
                    <a:moveTo>
                      <a:pt x="0" y="0"/>
                    </a:moveTo>
                    <a:lnTo>
                      <a:pt x="1121" y="24"/>
                    </a:lnTo>
                    <a:lnTo>
                      <a:pt x="1969" y="814"/>
                    </a:lnTo>
                    <a:lnTo>
                      <a:pt x="478" y="862"/>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0" name="Freeform 2105"/>
              <p:cNvSpPr>
                <a:spLocks/>
              </p:cNvSpPr>
              <p:nvPr/>
            </p:nvSpPr>
            <p:spPr bwMode="auto">
              <a:xfrm>
                <a:off x="852" y="3789"/>
                <a:ext cx="889" cy="99"/>
              </a:xfrm>
              <a:custGeom>
                <a:avLst/>
                <a:gdLst>
                  <a:gd name="T0" fmla="*/ 1 w 1777"/>
                  <a:gd name="T1" fmla="*/ 0 h 297"/>
                  <a:gd name="T2" fmla="*/ 0 w 1777"/>
                  <a:gd name="T3" fmla="*/ 0 h 297"/>
                  <a:gd name="T4" fmla="*/ 14 w 1777"/>
                  <a:gd name="T5" fmla="*/ 0 h 297"/>
                  <a:gd name="T6" fmla="*/ 14 w 1777"/>
                  <a:gd name="T7" fmla="*/ 0 h 297"/>
                  <a:gd name="T8" fmla="*/ 14 w 1777"/>
                  <a:gd name="T9" fmla="*/ 0 h 297"/>
                  <a:gd name="T10" fmla="*/ 14 w 1777"/>
                  <a:gd name="T11" fmla="*/ 0 h 297"/>
                  <a:gd name="T12" fmla="*/ 1 w 1777"/>
                  <a:gd name="T13" fmla="*/ 0 h 297"/>
                  <a:gd name="T14" fmla="*/ 0 60000 65536"/>
                  <a:gd name="T15" fmla="*/ 0 60000 65536"/>
                  <a:gd name="T16" fmla="*/ 0 60000 65536"/>
                  <a:gd name="T17" fmla="*/ 0 60000 65536"/>
                  <a:gd name="T18" fmla="*/ 0 60000 65536"/>
                  <a:gd name="T19" fmla="*/ 0 60000 65536"/>
                  <a:gd name="T20" fmla="*/ 0 60000 65536"/>
                  <a:gd name="T21" fmla="*/ 0 w 1777"/>
                  <a:gd name="T22" fmla="*/ 0 h 297"/>
                  <a:gd name="T23" fmla="*/ 1777 w 1777"/>
                  <a:gd name="T24" fmla="*/ 297 h 29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777" h="297">
                    <a:moveTo>
                      <a:pt x="54" y="52"/>
                    </a:moveTo>
                    <a:lnTo>
                      <a:pt x="0" y="297"/>
                    </a:lnTo>
                    <a:lnTo>
                      <a:pt x="1759" y="257"/>
                    </a:lnTo>
                    <a:lnTo>
                      <a:pt x="1777" y="173"/>
                    </a:lnTo>
                    <a:lnTo>
                      <a:pt x="1773" y="74"/>
                    </a:lnTo>
                    <a:lnTo>
                      <a:pt x="1768" y="0"/>
                    </a:lnTo>
                    <a:lnTo>
                      <a:pt x="54" y="52"/>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1" name="Freeform 2106"/>
              <p:cNvSpPr>
                <a:spLocks/>
              </p:cNvSpPr>
              <p:nvPr/>
            </p:nvSpPr>
            <p:spPr bwMode="auto">
              <a:xfrm>
                <a:off x="624" y="3519"/>
                <a:ext cx="256" cy="369"/>
              </a:xfrm>
              <a:custGeom>
                <a:avLst/>
                <a:gdLst>
                  <a:gd name="T0" fmla="*/ 0 w 513"/>
                  <a:gd name="T1" fmla="*/ 0 h 1106"/>
                  <a:gd name="T2" fmla="*/ 0 w 513"/>
                  <a:gd name="T3" fmla="*/ 0 h 1106"/>
                  <a:gd name="T4" fmla="*/ 3 w 513"/>
                  <a:gd name="T5" fmla="*/ 1 h 1106"/>
                  <a:gd name="T6" fmla="*/ 4 w 513"/>
                  <a:gd name="T7" fmla="*/ 0 h 1106"/>
                  <a:gd name="T8" fmla="*/ 0 w 513"/>
                  <a:gd name="T9" fmla="*/ 0 h 1106"/>
                  <a:gd name="T10" fmla="*/ 0 60000 65536"/>
                  <a:gd name="T11" fmla="*/ 0 60000 65536"/>
                  <a:gd name="T12" fmla="*/ 0 60000 65536"/>
                  <a:gd name="T13" fmla="*/ 0 60000 65536"/>
                  <a:gd name="T14" fmla="*/ 0 60000 65536"/>
                  <a:gd name="T15" fmla="*/ 0 w 513"/>
                  <a:gd name="T16" fmla="*/ 0 h 1106"/>
                  <a:gd name="T17" fmla="*/ 513 w 513"/>
                  <a:gd name="T18" fmla="*/ 1106 h 1106"/>
                </a:gdLst>
                <a:ahLst/>
                <a:cxnLst>
                  <a:cxn ang="T10">
                    <a:pos x="T0" y="T1"/>
                  </a:cxn>
                  <a:cxn ang="T11">
                    <a:pos x="T2" y="T3"/>
                  </a:cxn>
                  <a:cxn ang="T12">
                    <a:pos x="T4" y="T5"/>
                  </a:cxn>
                  <a:cxn ang="T13">
                    <a:pos x="T6" y="T7"/>
                  </a:cxn>
                  <a:cxn ang="T14">
                    <a:pos x="T8" y="T9"/>
                  </a:cxn>
                </a:cxnLst>
                <a:rect l="T15" t="T16" r="T17" b="T18"/>
                <a:pathLst>
                  <a:path w="513" h="1106">
                    <a:moveTo>
                      <a:pt x="37" y="0"/>
                    </a:moveTo>
                    <a:lnTo>
                      <a:pt x="0" y="200"/>
                    </a:lnTo>
                    <a:lnTo>
                      <a:pt x="457" y="1106"/>
                    </a:lnTo>
                    <a:lnTo>
                      <a:pt x="513" y="862"/>
                    </a:lnTo>
                    <a:lnTo>
                      <a:pt x="37"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2" name="Freeform 2107"/>
              <p:cNvSpPr>
                <a:spLocks/>
              </p:cNvSpPr>
              <p:nvPr/>
            </p:nvSpPr>
            <p:spPr bwMode="auto">
              <a:xfrm>
                <a:off x="1206" y="3791"/>
                <a:ext cx="132" cy="8"/>
              </a:xfrm>
              <a:custGeom>
                <a:avLst/>
                <a:gdLst>
                  <a:gd name="T0" fmla="*/ 1 w 262"/>
                  <a:gd name="T1" fmla="*/ 0 h 25"/>
                  <a:gd name="T2" fmla="*/ 0 w 262"/>
                  <a:gd name="T3" fmla="*/ 0 h 25"/>
                  <a:gd name="T4" fmla="*/ 2 w 262"/>
                  <a:gd name="T5" fmla="*/ 0 h 25"/>
                  <a:gd name="T6" fmla="*/ 3 w 262"/>
                  <a:gd name="T7" fmla="*/ 0 h 25"/>
                  <a:gd name="T8" fmla="*/ 1 w 262"/>
                  <a:gd name="T9" fmla="*/ 0 h 25"/>
                  <a:gd name="T10" fmla="*/ 0 60000 65536"/>
                  <a:gd name="T11" fmla="*/ 0 60000 65536"/>
                  <a:gd name="T12" fmla="*/ 0 60000 65536"/>
                  <a:gd name="T13" fmla="*/ 0 60000 65536"/>
                  <a:gd name="T14" fmla="*/ 0 60000 65536"/>
                  <a:gd name="T15" fmla="*/ 0 w 262"/>
                  <a:gd name="T16" fmla="*/ 0 h 25"/>
                  <a:gd name="T17" fmla="*/ 262 w 262"/>
                  <a:gd name="T18" fmla="*/ 25 h 25"/>
                </a:gdLst>
                <a:ahLst/>
                <a:cxnLst>
                  <a:cxn ang="T10">
                    <a:pos x="T0" y="T1"/>
                  </a:cxn>
                  <a:cxn ang="T11">
                    <a:pos x="T2" y="T3"/>
                  </a:cxn>
                  <a:cxn ang="T12">
                    <a:pos x="T4" y="T5"/>
                  </a:cxn>
                  <a:cxn ang="T13">
                    <a:pos x="T6" y="T7"/>
                  </a:cxn>
                  <a:cxn ang="T14">
                    <a:pos x="T8" y="T9"/>
                  </a:cxn>
                </a:cxnLst>
                <a:rect l="T15" t="T16" r="T17" b="T18"/>
                <a:pathLst>
                  <a:path w="262" h="25">
                    <a:moveTo>
                      <a:pt x="2" y="25"/>
                    </a:moveTo>
                    <a:lnTo>
                      <a:pt x="0" y="0"/>
                    </a:lnTo>
                    <a:lnTo>
                      <a:pt x="249" y="0"/>
                    </a:lnTo>
                    <a:lnTo>
                      <a:pt x="262" y="19"/>
                    </a:lnTo>
                    <a:lnTo>
                      <a:pt x="2" y="25"/>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3" name="Freeform 2108"/>
              <p:cNvSpPr>
                <a:spLocks/>
              </p:cNvSpPr>
              <p:nvPr/>
            </p:nvSpPr>
            <p:spPr bwMode="auto">
              <a:xfrm>
                <a:off x="927" y="3521"/>
                <a:ext cx="281" cy="279"/>
              </a:xfrm>
              <a:custGeom>
                <a:avLst/>
                <a:gdLst>
                  <a:gd name="T0" fmla="*/ 5 w 561"/>
                  <a:gd name="T1" fmla="*/ 0 h 836"/>
                  <a:gd name="T2" fmla="*/ 0 w 561"/>
                  <a:gd name="T3" fmla="*/ 0 h 836"/>
                  <a:gd name="T4" fmla="*/ 5 w 561"/>
                  <a:gd name="T5" fmla="*/ 0 h 836"/>
                  <a:gd name="T6" fmla="*/ 5 w 561"/>
                  <a:gd name="T7" fmla="*/ 0 h 836"/>
                  <a:gd name="T8" fmla="*/ 0 60000 65536"/>
                  <a:gd name="T9" fmla="*/ 0 60000 65536"/>
                  <a:gd name="T10" fmla="*/ 0 60000 65536"/>
                  <a:gd name="T11" fmla="*/ 0 60000 65536"/>
                  <a:gd name="T12" fmla="*/ 0 w 561"/>
                  <a:gd name="T13" fmla="*/ 0 h 836"/>
                  <a:gd name="T14" fmla="*/ 561 w 561"/>
                  <a:gd name="T15" fmla="*/ 836 h 836"/>
                </a:gdLst>
                <a:ahLst/>
                <a:cxnLst>
                  <a:cxn ang="T8">
                    <a:pos x="T0" y="T1"/>
                  </a:cxn>
                  <a:cxn ang="T9">
                    <a:pos x="T2" y="T3"/>
                  </a:cxn>
                  <a:cxn ang="T10">
                    <a:pos x="T4" y="T5"/>
                  </a:cxn>
                  <a:cxn ang="T11">
                    <a:pos x="T6" y="T7"/>
                  </a:cxn>
                </a:cxnLst>
                <a:rect l="T12" t="T13" r="T14" b="T15"/>
                <a:pathLst>
                  <a:path w="561" h="836">
                    <a:moveTo>
                      <a:pt x="557" y="801"/>
                    </a:moveTo>
                    <a:lnTo>
                      <a:pt x="0" y="0"/>
                    </a:lnTo>
                    <a:lnTo>
                      <a:pt x="561" y="836"/>
                    </a:lnTo>
                    <a:lnTo>
                      <a:pt x="557" y="801"/>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14" name="Group 2109"/>
              <p:cNvGrpSpPr>
                <a:grpSpLocks/>
              </p:cNvGrpSpPr>
              <p:nvPr/>
            </p:nvGrpSpPr>
            <p:grpSpPr bwMode="auto">
              <a:xfrm>
                <a:off x="700" y="3526"/>
                <a:ext cx="515" cy="270"/>
                <a:chOff x="700" y="3526"/>
                <a:chExt cx="515" cy="270"/>
              </a:xfrm>
            </p:grpSpPr>
            <p:grpSp>
              <p:nvGrpSpPr>
                <p:cNvPr id="2840" name="Group 2110"/>
                <p:cNvGrpSpPr>
                  <a:grpSpLocks/>
                </p:cNvGrpSpPr>
                <p:nvPr/>
              </p:nvGrpSpPr>
              <p:grpSpPr bwMode="auto">
                <a:xfrm>
                  <a:off x="737" y="3534"/>
                  <a:ext cx="49" cy="23"/>
                  <a:chOff x="737" y="3534"/>
                  <a:chExt cx="49" cy="23"/>
                </a:xfrm>
              </p:grpSpPr>
              <p:sp>
                <p:nvSpPr>
                  <p:cNvPr id="3251" name="Freeform 2111"/>
                  <p:cNvSpPr>
                    <a:spLocks/>
                  </p:cNvSpPr>
                  <p:nvPr/>
                </p:nvSpPr>
                <p:spPr bwMode="auto">
                  <a:xfrm>
                    <a:off x="737" y="3534"/>
                    <a:ext cx="11" cy="23"/>
                  </a:xfrm>
                  <a:custGeom>
                    <a:avLst/>
                    <a:gdLst>
                      <a:gd name="T0" fmla="*/ 1 w 22"/>
                      <a:gd name="T1" fmla="*/ 0 h 67"/>
                      <a:gd name="T2" fmla="*/ 0 w 22"/>
                      <a:gd name="T3" fmla="*/ 0 h 67"/>
                      <a:gd name="T4" fmla="*/ 1 w 22"/>
                      <a:gd name="T5" fmla="*/ 0 h 67"/>
                      <a:gd name="T6" fmla="*/ 1 w 22"/>
                      <a:gd name="T7" fmla="*/ 0 h 67"/>
                      <a:gd name="T8" fmla="*/ 1 w 22"/>
                      <a:gd name="T9" fmla="*/ 0 h 67"/>
                      <a:gd name="T10" fmla="*/ 0 60000 65536"/>
                      <a:gd name="T11" fmla="*/ 0 60000 65536"/>
                      <a:gd name="T12" fmla="*/ 0 60000 65536"/>
                      <a:gd name="T13" fmla="*/ 0 60000 65536"/>
                      <a:gd name="T14" fmla="*/ 0 60000 65536"/>
                      <a:gd name="T15" fmla="*/ 0 w 22"/>
                      <a:gd name="T16" fmla="*/ 0 h 67"/>
                      <a:gd name="T17" fmla="*/ 22 w 22"/>
                      <a:gd name="T18" fmla="*/ 67 h 67"/>
                    </a:gdLst>
                    <a:ahLst/>
                    <a:cxnLst>
                      <a:cxn ang="T10">
                        <a:pos x="T0" y="T1"/>
                      </a:cxn>
                      <a:cxn ang="T11">
                        <a:pos x="T2" y="T3"/>
                      </a:cxn>
                      <a:cxn ang="T12">
                        <a:pos x="T4" y="T5"/>
                      </a:cxn>
                      <a:cxn ang="T13">
                        <a:pos x="T6" y="T7"/>
                      </a:cxn>
                      <a:cxn ang="T14">
                        <a:pos x="T8" y="T9"/>
                      </a:cxn>
                    </a:cxnLst>
                    <a:rect l="T15" t="T16" r="T17" b="T18"/>
                    <a:pathLst>
                      <a:path w="22" h="67">
                        <a:moveTo>
                          <a:pt x="13" y="67"/>
                        </a:moveTo>
                        <a:lnTo>
                          <a:pt x="0" y="26"/>
                        </a:lnTo>
                        <a:lnTo>
                          <a:pt x="9" y="0"/>
                        </a:lnTo>
                        <a:lnTo>
                          <a:pt x="22" y="30"/>
                        </a:lnTo>
                        <a:lnTo>
                          <a:pt x="13"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2" name="Freeform 2112"/>
                  <p:cNvSpPr>
                    <a:spLocks/>
                  </p:cNvSpPr>
                  <p:nvPr/>
                </p:nvSpPr>
                <p:spPr bwMode="auto">
                  <a:xfrm>
                    <a:off x="742" y="3535"/>
                    <a:ext cx="36" cy="9"/>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2" y="2"/>
                        </a:lnTo>
                        <a:lnTo>
                          <a:pt x="55" y="11"/>
                        </a:lnTo>
                        <a:lnTo>
                          <a:pt x="73" y="29"/>
                        </a:lnTo>
                        <a:lnTo>
                          <a:pt x="17" y="29"/>
                        </a:lnTo>
                        <a:lnTo>
                          <a:pt x="8"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3" name="Freeform 2113"/>
                  <p:cNvSpPr>
                    <a:spLocks/>
                  </p:cNvSpPr>
                  <p:nvPr/>
                </p:nvSpPr>
                <p:spPr bwMode="auto">
                  <a:xfrm>
                    <a:off x="744" y="3545"/>
                    <a:ext cx="42"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7"/>
                        </a:lnTo>
                        <a:lnTo>
                          <a:pt x="10" y="0"/>
                        </a:lnTo>
                        <a:lnTo>
                          <a:pt x="67" y="0"/>
                        </a:lnTo>
                        <a:lnTo>
                          <a:pt x="82"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1" name="Group 2114"/>
                <p:cNvGrpSpPr>
                  <a:grpSpLocks/>
                </p:cNvGrpSpPr>
                <p:nvPr/>
              </p:nvGrpSpPr>
              <p:grpSpPr bwMode="auto">
                <a:xfrm>
                  <a:off x="748" y="3547"/>
                  <a:ext cx="50" cy="23"/>
                  <a:chOff x="748" y="3547"/>
                  <a:chExt cx="50" cy="23"/>
                </a:xfrm>
              </p:grpSpPr>
              <p:sp>
                <p:nvSpPr>
                  <p:cNvPr id="3248" name="Freeform 2115"/>
                  <p:cNvSpPr>
                    <a:spLocks/>
                  </p:cNvSpPr>
                  <p:nvPr/>
                </p:nvSpPr>
                <p:spPr bwMode="auto">
                  <a:xfrm>
                    <a:off x="748"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9" name="Freeform 2116"/>
                  <p:cNvSpPr>
                    <a:spLocks/>
                  </p:cNvSpPr>
                  <p:nvPr/>
                </p:nvSpPr>
                <p:spPr bwMode="auto">
                  <a:xfrm>
                    <a:off x="753" y="3548"/>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50" name="Freeform 2117"/>
                  <p:cNvSpPr>
                    <a:spLocks/>
                  </p:cNvSpPr>
                  <p:nvPr/>
                </p:nvSpPr>
                <p:spPr bwMode="auto">
                  <a:xfrm>
                    <a:off x="757" y="3558"/>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42" name="Freeform 2118"/>
                <p:cNvSpPr>
                  <a:spLocks/>
                </p:cNvSpPr>
                <p:nvPr/>
              </p:nvSpPr>
              <p:spPr bwMode="auto">
                <a:xfrm>
                  <a:off x="952" y="3538"/>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3" name="Freeform 2119"/>
                <p:cNvSpPr>
                  <a:spLocks/>
                </p:cNvSpPr>
                <p:nvPr/>
              </p:nvSpPr>
              <p:spPr bwMode="auto">
                <a:xfrm>
                  <a:off x="861" y="3535"/>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4" name="Freeform 2120"/>
                <p:cNvSpPr>
                  <a:spLocks/>
                </p:cNvSpPr>
                <p:nvPr/>
              </p:nvSpPr>
              <p:spPr bwMode="auto">
                <a:xfrm>
                  <a:off x="867" y="3535"/>
                  <a:ext cx="34" cy="10"/>
                </a:xfrm>
                <a:custGeom>
                  <a:avLst/>
                  <a:gdLst>
                    <a:gd name="T0" fmla="*/ 0 w 70"/>
                    <a:gd name="T1" fmla="*/ 0 h 30"/>
                    <a:gd name="T2" fmla="*/ 0 w 70"/>
                    <a:gd name="T3" fmla="*/ 0 h 30"/>
                    <a:gd name="T4" fmla="*/ 0 w 70"/>
                    <a:gd name="T5" fmla="*/ 0 h 30"/>
                    <a:gd name="T6" fmla="*/ 0 w 70"/>
                    <a:gd name="T7" fmla="*/ 0 h 30"/>
                    <a:gd name="T8" fmla="*/ 0 w 70"/>
                    <a:gd name="T9" fmla="*/ 0 h 30"/>
                    <a:gd name="T10" fmla="*/ 0 w 70"/>
                    <a:gd name="T11" fmla="*/ 0 h 30"/>
                    <a:gd name="T12" fmla="*/ 0 w 70"/>
                    <a:gd name="T13" fmla="*/ 0 h 30"/>
                    <a:gd name="T14" fmla="*/ 0 w 70"/>
                    <a:gd name="T15" fmla="*/ 0 h 30"/>
                    <a:gd name="T16" fmla="*/ 0 w 70"/>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0"/>
                    <a:gd name="T28" fmla="*/ 0 h 30"/>
                    <a:gd name="T29" fmla="*/ 70 w 70"/>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0" h="30">
                      <a:moveTo>
                        <a:pt x="0" y="0"/>
                      </a:moveTo>
                      <a:lnTo>
                        <a:pt x="49" y="0"/>
                      </a:lnTo>
                      <a:lnTo>
                        <a:pt x="50" y="3"/>
                      </a:lnTo>
                      <a:lnTo>
                        <a:pt x="54" y="13"/>
                      </a:lnTo>
                      <a:lnTo>
                        <a:pt x="70" y="30"/>
                      </a:lnTo>
                      <a:lnTo>
                        <a:pt x="16" y="30"/>
                      </a:lnTo>
                      <a:lnTo>
                        <a:pt x="7" y="21"/>
                      </a:lnTo>
                      <a:lnTo>
                        <a:pt x="0" y="7"/>
                      </a:lnTo>
                      <a:lnTo>
                        <a:pt x="0"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45" name="Freeform 2121"/>
                <p:cNvSpPr>
                  <a:spLocks/>
                </p:cNvSpPr>
                <p:nvPr/>
              </p:nvSpPr>
              <p:spPr bwMode="auto">
                <a:xfrm>
                  <a:off x="868" y="354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46" name="Group 2122"/>
                <p:cNvGrpSpPr>
                  <a:grpSpLocks/>
                </p:cNvGrpSpPr>
                <p:nvPr/>
              </p:nvGrpSpPr>
              <p:grpSpPr bwMode="auto">
                <a:xfrm>
                  <a:off x="872" y="3547"/>
                  <a:ext cx="50" cy="23"/>
                  <a:chOff x="872" y="3547"/>
                  <a:chExt cx="50" cy="23"/>
                </a:xfrm>
              </p:grpSpPr>
              <p:sp>
                <p:nvSpPr>
                  <p:cNvPr id="3245" name="Freeform 2123"/>
                  <p:cNvSpPr>
                    <a:spLocks/>
                  </p:cNvSpPr>
                  <p:nvPr/>
                </p:nvSpPr>
                <p:spPr bwMode="auto">
                  <a:xfrm>
                    <a:off x="872" y="3547"/>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6" name="Freeform 2124"/>
                  <p:cNvSpPr>
                    <a:spLocks/>
                  </p:cNvSpPr>
                  <p:nvPr/>
                </p:nvSpPr>
                <p:spPr bwMode="auto">
                  <a:xfrm>
                    <a:off x="878" y="3547"/>
                    <a:ext cx="36" cy="10"/>
                  </a:xfrm>
                  <a:custGeom>
                    <a:avLst/>
                    <a:gdLst>
                      <a:gd name="T0" fmla="*/ 0 w 73"/>
                      <a:gd name="T1" fmla="*/ 0 h 30"/>
                      <a:gd name="T2" fmla="*/ 0 w 73"/>
                      <a:gd name="T3" fmla="*/ 0 h 30"/>
                      <a:gd name="T4" fmla="*/ 0 w 73"/>
                      <a:gd name="T5" fmla="*/ 0 h 30"/>
                      <a:gd name="T6" fmla="*/ 0 w 73"/>
                      <a:gd name="T7" fmla="*/ 0 h 30"/>
                      <a:gd name="T8" fmla="*/ 0 w 73"/>
                      <a:gd name="T9" fmla="*/ 0 h 30"/>
                      <a:gd name="T10" fmla="*/ 0 w 73"/>
                      <a:gd name="T11" fmla="*/ 0 h 30"/>
                      <a:gd name="T12" fmla="*/ 0 w 73"/>
                      <a:gd name="T13" fmla="*/ 0 h 30"/>
                      <a:gd name="T14" fmla="*/ 0 w 73"/>
                      <a:gd name="T15" fmla="*/ 0 h 30"/>
                      <a:gd name="T16" fmla="*/ 0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2" y="0"/>
                        </a:moveTo>
                        <a:lnTo>
                          <a:pt x="49" y="0"/>
                        </a:lnTo>
                        <a:lnTo>
                          <a:pt x="50" y="3"/>
                        </a:lnTo>
                        <a:lnTo>
                          <a:pt x="57" y="12"/>
                        </a:lnTo>
                        <a:lnTo>
                          <a:pt x="73"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7" name="Freeform 2125"/>
                  <p:cNvSpPr>
                    <a:spLocks/>
                  </p:cNvSpPr>
                  <p:nvPr/>
                </p:nvSpPr>
                <p:spPr bwMode="auto">
                  <a:xfrm>
                    <a:off x="880" y="3558"/>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7" name="Group 2126"/>
                <p:cNvGrpSpPr>
                  <a:grpSpLocks/>
                </p:cNvGrpSpPr>
                <p:nvPr/>
              </p:nvGrpSpPr>
              <p:grpSpPr bwMode="auto">
                <a:xfrm>
                  <a:off x="885" y="3559"/>
                  <a:ext cx="50" cy="23"/>
                  <a:chOff x="885" y="3559"/>
                  <a:chExt cx="50" cy="23"/>
                </a:xfrm>
              </p:grpSpPr>
              <p:sp>
                <p:nvSpPr>
                  <p:cNvPr id="3242" name="Freeform 2127"/>
                  <p:cNvSpPr>
                    <a:spLocks/>
                  </p:cNvSpPr>
                  <p:nvPr/>
                </p:nvSpPr>
                <p:spPr bwMode="auto">
                  <a:xfrm>
                    <a:off x="885" y="3559"/>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3" name="Freeform 2128"/>
                  <p:cNvSpPr>
                    <a:spLocks/>
                  </p:cNvSpPr>
                  <p:nvPr/>
                </p:nvSpPr>
                <p:spPr bwMode="auto">
                  <a:xfrm>
                    <a:off x="890" y="3560"/>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3" y="0"/>
                        </a:moveTo>
                        <a:lnTo>
                          <a:pt x="49" y="0"/>
                        </a:lnTo>
                        <a:lnTo>
                          <a:pt x="52" y="3"/>
                        </a:lnTo>
                        <a:lnTo>
                          <a:pt x="57" y="12"/>
                        </a:lnTo>
                        <a:lnTo>
                          <a:pt x="74" y="30"/>
                        </a:lnTo>
                        <a:lnTo>
                          <a:pt x="19" y="30"/>
                        </a:lnTo>
                        <a:lnTo>
                          <a:pt x="10"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4" name="Freeform 2129"/>
                  <p:cNvSpPr>
                    <a:spLocks/>
                  </p:cNvSpPr>
                  <p:nvPr/>
                </p:nvSpPr>
                <p:spPr bwMode="auto">
                  <a:xfrm>
                    <a:off x="893" y="357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8" name="Group 2130"/>
                <p:cNvGrpSpPr>
                  <a:grpSpLocks/>
                </p:cNvGrpSpPr>
                <p:nvPr/>
              </p:nvGrpSpPr>
              <p:grpSpPr bwMode="auto">
                <a:xfrm>
                  <a:off x="898" y="3571"/>
                  <a:ext cx="49" cy="23"/>
                  <a:chOff x="898" y="3571"/>
                  <a:chExt cx="49" cy="23"/>
                </a:xfrm>
              </p:grpSpPr>
              <p:sp>
                <p:nvSpPr>
                  <p:cNvPr id="3239" name="Freeform 2131"/>
                  <p:cNvSpPr>
                    <a:spLocks/>
                  </p:cNvSpPr>
                  <p:nvPr/>
                </p:nvSpPr>
                <p:spPr bwMode="auto">
                  <a:xfrm>
                    <a:off x="898" y="3571"/>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0" name="Freeform 2132"/>
                  <p:cNvSpPr>
                    <a:spLocks/>
                  </p:cNvSpPr>
                  <p:nvPr/>
                </p:nvSpPr>
                <p:spPr bwMode="auto">
                  <a:xfrm>
                    <a:off x="903" y="3572"/>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2"/>
                        </a:lnTo>
                        <a:lnTo>
                          <a:pt x="57" y="11"/>
                        </a:lnTo>
                        <a:lnTo>
                          <a:pt x="75" y="29"/>
                        </a:lnTo>
                        <a:lnTo>
                          <a:pt x="19" y="29"/>
                        </a:lnTo>
                        <a:lnTo>
                          <a:pt x="11"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41" name="Freeform 2133"/>
                  <p:cNvSpPr>
                    <a:spLocks/>
                  </p:cNvSpPr>
                  <p:nvPr/>
                </p:nvSpPr>
                <p:spPr bwMode="auto">
                  <a:xfrm>
                    <a:off x="907" y="3582"/>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49" name="Group 2134"/>
                <p:cNvGrpSpPr>
                  <a:grpSpLocks/>
                </p:cNvGrpSpPr>
                <p:nvPr/>
              </p:nvGrpSpPr>
              <p:grpSpPr bwMode="auto">
                <a:xfrm>
                  <a:off x="911" y="3585"/>
                  <a:ext cx="49" cy="23"/>
                  <a:chOff x="911" y="3585"/>
                  <a:chExt cx="49" cy="23"/>
                </a:xfrm>
              </p:grpSpPr>
              <p:sp>
                <p:nvSpPr>
                  <p:cNvPr id="3236" name="Freeform 2135"/>
                  <p:cNvSpPr>
                    <a:spLocks/>
                  </p:cNvSpPr>
                  <p:nvPr/>
                </p:nvSpPr>
                <p:spPr bwMode="auto">
                  <a:xfrm>
                    <a:off x="911" y="3585"/>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0"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7" name="Freeform 2136"/>
                  <p:cNvSpPr>
                    <a:spLocks/>
                  </p:cNvSpPr>
                  <p:nvPr/>
                </p:nvSpPr>
                <p:spPr bwMode="auto">
                  <a:xfrm>
                    <a:off x="915" y="3585"/>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2" y="0"/>
                        </a:lnTo>
                        <a:lnTo>
                          <a:pt x="53" y="3"/>
                        </a:lnTo>
                        <a:lnTo>
                          <a:pt x="57" y="12"/>
                        </a:lnTo>
                        <a:lnTo>
                          <a:pt x="75" y="30"/>
                        </a:lnTo>
                        <a:lnTo>
                          <a:pt x="19" y="30"/>
                        </a:lnTo>
                        <a:lnTo>
                          <a:pt x="11" y="21"/>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8" name="Freeform 2137"/>
                  <p:cNvSpPr>
                    <a:spLocks/>
                  </p:cNvSpPr>
                  <p:nvPr/>
                </p:nvSpPr>
                <p:spPr bwMode="auto">
                  <a:xfrm>
                    <a:off x="919" y="359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0" name="Group 2138"/>
                <p:cNvGrpSpPr>
                  <a:grpSpLocks/>
                </p:cNvGrpSpPr>
                <p:nvPr/>
              </p:nvGrpSpPr>
              <p:grpSpPr bwMode="auto">
                <a:xfrm>
                  <a:off x="923" y="3600"/>
                  <a:ext cx="99" cy="73"/>
                  <a:chOff x="923" y="3600"/>
                  <a:chExt cx="99" cy="73"/>
                </a:xfrm>
              </p:grpSpPr>
              <p:grpSp>
                <p:nvGrpSpPr>
                  <p:cNvPr id="3216" name="Group 2139"/>
                  <p:cNvGrpSpPr>
                    <a:grpSpLocks/>
                  </p:cNvGrpSpPr>
                  <p:nvPr/>
                </p:nvGrpSpPr>
                <p:grpSpPr bwMode="auto">
                  <a:xfrm>
                    <a:off x="923" y="3600"/>
                    <a:ext cx="49" cy="23"/>
                    <a:chOff x="923" y="3600"/>
                    <a:chExt cx="49" cy="23"/>
                  </a:xfrm>
                </p:grpSpPr>
                <p:sp>
                  <p:nvSpPr>
                    <p:cNvPr id="3233" name="Freeform 2140"/>
                    <p:cNvSpPr>
                      <a:spLocks/>
                    </p:cNvSpPr>
                    <p:nvPr/>
                  </p:nvSpPr>
                  <p:spPr bwMode="auto">
                    <a:xfrm>
                      <a:off x="923" y="3600"/>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0"/>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4" name="Freeform 2141"/>
                    <p:cNvSpPr>
                      <a:spLocks/>
                    </p:cNvSpPr>
                    <p:nvPr/>
                  </p:nvSpPr>
                  <p:spPr bwMode="auto">
                    <a:xfrm>
                      <a:off x="928" y="3600"/>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2" y="0"/>
                          </a:moveTo>
                          <a:lnTo>
                            <a:pt x="50" y="0"/>
                          </a:lnTo>
                          <a:lnTo>
                            <a:pt x="52" y="3"/>
                          </a:lnTo>
                          <a:lnTo>
                            <a:pt x="57" y="12"/>
                          </a:lnTo>
                          <a:lnTo>
                            <a:pt x="75" y="29"/>
                          </a:lnTo>
                          <a:lnTo>
                            <a:pt x="19" y="29"/>
                          </a:lnTo>
                          <a:lnTo>
                            <a:pt x="9"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5" name="Freeform 2142"/>
                    <p:cNvSpPr>
                      <a:spLocks/>
                    </p:cNvSpPr>
                    <p:nvPr/>
                  </p:nvSpPr>
                  <p:spPr bwMode="auto">
                    <a:xfrm>
                      <a:off x="930" y="3610"/>
                      <a:ext cx="42" cy="13"/>
                    </a:xfrm>
                    <a:custGeom>
                      <a:avLst/>
                      <a:gdLst>
                        <a:gd name="T0" fmla="*/ 0 w 82"/>
                        <a:gd name="T1" fmla="*/ 0 h 37"/>
                        <a:gd name="T2" fmla="*/ 1 w 82"/>
                        <a:gd name="T3" fmla="*/ 0 h 37"/>
                        <a:gd name="T4" fmla="*/ 1 w 82"/>
                        <a:gd name="T5" fmla="*/ 0 h 37"/>
                        <a:gd name="T6" fmla="*/ 1 w 82"/>
                        <a:gd name="T7" fmla="*/ 0 h 37"/>
                        <a:gd name="T8" fmla="*/ 1 w 82"/>
                        <a:gd name="T9" fmla="*/ 0 h 37"/>
                        <a:gd name="T10" fmla="*/ 1 w 82"/>
                        <a:gd name="T11" fmla="*/ 0 h 37"/>
                        <a:gd name="T12" fmla="*/ 0 w 82"/>
                        <a:gd name="T13" fmla="*/ 0 h 37"/>
                        <a:gd name="T14" fmla="*/ 0 60000 65536"/>
                        <a:gd name="T15" fmla="*/ 0 60000 65536"/>
                        <a:gd name="T16" fmla="*/ 0 60000 65536"/>
                        <a:gd name="T17" fmla="*/ 0 60000 65536"/>
                        <a:gd name="T18" fmla="*/ 0 60000 65536"/>
                        <a:gd name="T19" fmla="*/ 0 60000 65536"/>
                        <a:gd name="T20" fmla="*/ 0 60000 65536"/>
                        <a:gd name="T21" fmla="*/ 0 w 82"/>
                        <a:gd name="T22" fmla="*/ 0 h 37"/>
                        <a:gd name="T23" fmla="*/ 82 w 82"/>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7">
                          <a:moveTo>
                            <a:pt x="0" y="37"/>
                          </a:moveTo>
                          <a:lnTo>
                            <a:pt x="2" y="22"/>
                          </a:lnTo>
                          <a:lnTo>
                            <a:pt x="7" y="7"/>
                          </a:lnTo>
                          <a:lnTo>
                            <a:pt x="13" y="0"/>
                          </a:lnTo>
                          <a:lnTo>
                            <a:pt x="69" y="0"/>
                          </a:lnTo>
                          <a:lnTo>
                            <a:pt x="82"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7" name="Group 2143"/>
                  <p:cNvGrpSpPr>
                    <a:grpSpLocks/>
                  </p:cNvGrpSpPr>
                  <p:nvPr/>
                </p:nvGrpSpPr>
                <p:grpSpPr bwMode="auto">
                  <a:xfrm>
                    <a:off x="935" y="3612"/>
                    <a:ext cx="48" cy="23"/>
                    <a:chOff x="935" y="3612"/>
                    <a:chExt cx="48" cy="23"/>
                  </a:xfrm>
                </p:grpSpPr>
                <p:sp>
                  <p:nvSpPr>
                    <p:cNvPr id="3230" name="Freeform 2144"/>
                    <p:cNvSpPr>
                      <a:spLocks/>
                    </p:cNvSpPr>
                    <p:nvPr/>
                  </p:nvSpPr>
                  <p:spPr bwMode="auto">
                    <a:xfrm>
                      <a:off x="935"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1" name="Freeform 2145"/>
                    <p:cNvSpPr>
                      <a:spLocks/>
                    </p:cNvSpPr>
                    <p:nvPr/>
                  </p:nvSpPr>
                  <p:spPr bwMode="auto">
                    <a:xfrm>
                      <a:off x="939" y="3612"/>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3" y="3"/>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32" name="Freeform 2146"/>
                    <p:cNvSpPr>
                      <a:spLocks/>
                    </p:cNvSpPr>
                    <p:nvPr/>
                  </p:nvSpPr>
                  <p:spPr bwMode="auto">
                    <a:xfrm>
                      <a:off x="943"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8" name="Group 2147"/>
                  <p:cNvGrpSpPr>
                    <a:grpSpLocks/>
                  </p:cNvGrpSpPr>
                  <p:nvPr/>
                </p:nvGrpSpPr>
                <p:grpSpPr bwMode="auto">
                  <a:xfrm>
                    <a:off x="947" y="3625"/>
                    <a:ext cx="50" cy="22"/>
                    <a:chOff x="947" y="3625"/>
                    <a:chExt cx="50" cy="22"/>
                  </a:xfrm>
                </p:grpSpPr>
                <p:sp>
                  <p:nvSpPr>
                    <p:cNvPr id="3227" name="Freeform 2148"/>
                    <p:cNvSpPr>
                      <a:spLocks/>
                    </p:cNvSpPr>
                    <p:nvPr/>
                  </p:nvSpPr>
                  <p:spPr bwMode="auto">
                    <a:xfrm>
                      <a:off x="947" y="3625"/>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8" name="Freeform 2149"/>
                    <p:cNvSpPr>
                      <a:spLocks/>
                    </p:cNvSpPr>
                    <p:nvPr/>
                  </p:nvSpPr>
                  <p:spPr bwMode="auto">
                    <a:xfrm>
                      <a:off x="953" y="3625"/>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50" y="0"/>
                          </a:lnTo>
                          <a:lnTo>
                            <a:pt x="51" y="2"/>
                          </a:lnTo>
                          <a:lnTo>
                            <a:pt x="57" y="11"/>
                          </a:lnTo>
                          <a:lnTo>
                            <a:pt x="73" y="29"/>
                          </a:lnTo>
                          <a:lnTo>
                            <a:pt x="19"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9" name="Freeform 2150"/>
                    <p:cNvSpPr>
                      <a:spLocks/>
                    </p:cNvSpPr>
                    <p:nvPr/>
                  </p:nvSpPr>
                  <p:spPr bwMode="auto">
                    <a:xfrm>
                      <a:off x="955" y="3635"/>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0"/>
                          </a:lnTo>
                          <a:lnTo>
                            <a:pt x="7" y="8"/>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19" name="Group 2151"/>
                  <p:cNvGrpSpPr>
                    <a:grpSpLocks/>
                  </p:cNvGrpSpPr>
                  <p:nvPr/>
                </p:nvGrpSpPr>
                <p:grpSpPr bwMode="auto">
                  <a:xfrm>
                    <a:off x="960" y="3637"/>
                    <a:ext cx="50" cy="23"/>
                    <a:chOff x="960" y="3637"/>
                    <a:chExt cx="50" cy="23"/>
                  </a:xfrm>
                </p:grpSpPr>
                <p:sp>
                  <p:nvSpPr>
                    <p:cNvPr id="3224" name="Freeform 2152"/>
                    <p:cNvSpPr>
                      <a:spLocks/>
                    </p:cNvSpPr>
                    <p:nvPr/>
                  </p:nvSpPr>
                  <p:spPr bwMode="auto">
                    <a:xfrm>
                      <a:off x="960" y="363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7"/>
                          </a:lnTo>
                          <a:lnTo>
                            <a:pt x="12"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5" name="Freeform 2153"/>
                    <p:cNvSpPr>
                      <a:spLocks/>
                    </p:cNvSpPr>
                    <p:nvPr/>
                  </p:nvSpPr>
                  <p:spPr bwMode="auto">
                    <a:xfrm>
                      <a:off x="965" y="3638"/>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3" y="0"/>
                          </a:moveTo>
                          <a:lnTo>
                            <a:pt x="49" y="0"/>
                          </a:lnTo>
                          <a:lnTo>
                            <a:pt x="53" y="2"/>
                          </a:lnTo>
                          <a:lnTo>
                            <a:pt x="57" y="11"/>
                          </a:lnTo>
                          <a:lnTo>
                            <a:pt x="74" y="29"/>
                          </a:lnTo>
                          <a:lnTo>
                            <a:pt x="19"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6" name="Freeform 2154"/>
                    <p:cNvSpPr>
                      <a:spLocks/>
                    </p:cNvSpPr>
                    <p:nvPr/>
                  </p:nvSpPr>
                  <p:spPr bwMode="auto">
                    <a:xfrm>
                      <a:off x="968" y="3648"/>
                      <a:ext cx="42" cy="12"/>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1" y="19"/>
                          </a:lnTo>
                          <a:lnTo>
                            <a:pt x="6" y="7"/>
                          </a:lnTo>
                          <a:lnTo>
                            <a:pt x="10"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20" name="Group 2155"/>
                  <p:cNvGrpSpPr>
                    <a:grpSpLocks/>
                  </p:cNvGrpSpPr>
                  <p:nvPr/>
                </p:nvGrpSpPr>
                <p:grpSpPr bwMode="auto">
                  <a:xfrm>
                    <a:off x="973" y="3650"/>
                    <a:ext cx="49" cy="23"/>
                    <a:chOff x="973" y="3650"/>
                    <a:chExt cx="49" cy="23"/>
                  </a:xfrm>
                </p:grpSpPr>
                <p:sp>
                  <p:nvSpPr>
                    <p:cNvPr id="3221" name="Freeform 2156"/>
                    <p:cNvSpPr>
                      <a:spLocks/>
                    </p:cNvSpPr>
                    <p:nvPr/>
                  </p:nvSpPr>
                  <p:spPr bwMode="auto">
                    <a:xfrm>
                      <a:off x="973" y="3650"/>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2" name="Freeform 2157"/>
                    <p:cNvSpPr>
                      <a:spLocks/>
                    </p:cNvSpPr>
                    <p:nvPr/>
                  </p:nvSpPr>
                  <p:spPr bwMode="auto">
                    <a:xfrm>
                      <a:off x="978"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49" y="0"/>
                          </a:lnTo>
                          <a:lnTo>
                            <a:pt x="50" y="2"/>
                          </a:lnTo>
                          <a:lnTo>
                            <a:pt x="57" y="11"/>
                          </a:lnTo>
                          <a:lnTo>
                            <a:pt x="74" y="29"/>
                          </a:lnTo>
                          <a:lnTo>
                            <a:pt x="19" y="29"/>
                          </a:lnTo>
                          <a:lnTo>
                            <a:pt x="10"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23" name="Freeform 2158"/>
                    <p:cNvSpPr>
                      <a:spLocks/>
                    </p:cNvSpPr>
                    <p:nvPr/>
                  </p:nvSpPr>
                  <p:spPr bwMode="auto">
                    <a:xfrm>
                      <a:off x="982" y="3661"/>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5"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1" name="Group 2159"/>
                <p:cNvGrpSpPr>
                  <a:grpSpLocks/>
                </p:cNvGrpSpPr>
                <p:nvPr/>
              </p:nvGrpSpPr>
              <p:grpSpPr bwMode="auto">
                <a:xfrm>
                  <a:off x="985" y="3665"/>
                  <a:ext cx="100" cy="73"/>
                  <a:chOff x="985" y="3665"/>
                  <a:chExt cx="100" cy="73"/>
                </a:xfrm>
              </p:grpSpPr>
              <p:grpSp>
                <p:nvGrpSpPr>
                  <p:cNvPr id="3196" name="Group 2160"/>
                  <p:cNvGrpSpPr>
                    <a:grpSpLocks/>
                  </p:cNvGrpSpPr>
                  <p:nvPr/>
                </p:nvGrpSpPr>
                <p:grpSpPr bwMode="auto">
                  <a:xfrm>
                    <a:off x="985" y="3665"/>
                    <a:ext cx="50" cy="23"/>
                    <a:chOff x="985" y="3665"/>
                    <a:chExt cx="50" cy="23"/>
                  </a:xfrm>
                </p:grpSpPr>
                <p:sp>
                  <p:nvSpPr>
                    <p:cNvPr id="3213" name="Freeform 2161"/>
                    <p:cNvSpPr>
                      <a:spLocks/>
                    </p:cNvSpPr>
                    <p:nvPr/>
                  </p:nvSpPr>
                  <p:spPr bwMode="auto">
                    <a:xfrm>
                      <a:off x="985" y="366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4" name="Freeform 2162"/>
                    <p:cNvSpPr>
                      <a:spLocks/>
                    </p:cNvSpPr>
                    <p:nvPr/>
                  </p:nvSpPr>
                  <p:spPr bwMode="auto">
                    <a:xfrm>
                      <a:off x="989" y="3665"/>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5" name="Freeform 2163"/>
                    <p:cNvSpPr>
                      <a:spLocks/>
                    </p:cNvSpPr>
                    <p:nvPr/>
                  </p:nvSpPr>
                  <p:spPr bwMode="auto">
                    <a:xfrm>
                      <a:off x="993"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6" y="8"/>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7" name="Group 2164"/>
                  <p:cNvGrpSpPr>
                    <a:grpSpLocks/>
                  </p:cNvGrpSpPr>
                  <p:nvPr/>
                </p:nvGrpSpPr>
                <p:grpSpPr bwMode="auto">
                  <a:xfrm>
                    <a:off x="997" y="3677"/>
                    <a:ext cx="49" cy="23"/>
                    <a:chOff x="997" y="3677"/>
                    <a:chExt cx="49" cy="23"/>
                  </a:xfrm>
                </p:grpSpPr>
                <p:sp>
                  <p:nvSpPr>
                    <p:cNvPr id="3210" name="Freeform 2165"/>
                    <p:cNvSpPr>
                      <a:spLocks/>
                    </p:cNvSpPr>
                    <p:nvPr/>
                  </p:nvSpPr>
                  <p:spPr bwMode="auto">
                    <a:xfrm>
                      <a:off x="997" y="367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3" y="69"/>
                          </a:moveTo>
                          <a:lnTo>
                            <a:pt x="0" y="27"/>
                          </a:lnTo>
                          <a:lnTo>
                            <a:pt x="9" y="0"/>
                          </a:lnTo>
                          <a:lnTo>
                            <a:pt x="25" y="31"/>
                          </a:lnTo>
                          <a:lnTo>
                            <a:pt x="13"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1" name="Freeform 2166"/>
                    <p:cNvSpPr>
                      <a:spLocks/>
                    </p:cNvSpPr>
                    <p:nvPr/>
                  </p:nvSpPr>
                  <p:spPr bwMode="auto">
                    <a:xfrm>
                      <a:off x="1002" y="367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10"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12" name="Freeform 2167"/>
                    <p:cNvSpPr>
                      <a:spLocks/>
                    </p:cNvSpPr>
                    <p:nvPr/>
                  </p:nvSpPr>
                  <p:spPr bwMode="auto">
                    <a:xfrm>
                      <a:off x="1005" y="3688"/>
                      <a:ext cx="41" cy="12"/>
                    </a:xfrm>
                    <a:custGeom>
                      <a:avLst/>
                      <a:gdLst>
                        <a:gd name="T0" fmla="*/ 0 w 83"/>
                        <a:gd name="T1" fmla="*/ 0 h 37"/>
                        <a:gd name="T2" fmla="*/ 0 w 83"/>
                        <a:gd name="T3" fmla="*/ 0 h 37"/>
                        <a:gd name="T4" fmla="*/ 0 w 83"/>
                        <a:gd name="T5" fmla="*/ 0 h 37"/>
                        <a:gd name="T6" fmla="*/ 0 w 83"/>
                        <a:gd name="T7" fmla="*/ 0 h 37"/>
                        <a:gd name="T8" fmla="*/ 0 w 83"/>
                        <a:gd name="T9" fmla="*/ 0 h 37"/>
                        <a:gd name="T10" fmla="*/ 0 w 83"/>
                        <a:gd name="T11" fmla="*/ 0 h 37"/>
                        <a:gd name="T12" fmla="*/ 0 w 83"/>
                        <a:gd name="T13" fmla="*/ 0 h 37"/>
                        <a:gd name="T14" fmla="*/ 0 60000 65536"/>
                        <a:gd name="T15" fmla="*/ 0 60000 65536"/>
                        <a:gd name="T16" fmla="*/ 0 60000 65536"/>
                        <a:gd name="T17" fmla="*/ 0 60000 65536"/>
                        <a:gd name="T18" fmla="*/ 0 60000 65536"/>
                        <a:gd name="T19" fmla="*/ 0 60000 65536"/>
                        <a:gd name="T20" fmla="*/ 0 60000 65536"/>
                        <a:gd name="T21" fmla="*/ 0 w 83"/>
                        <a:gd name="T22" fmla="*/ 0 h 37"/>
                        <a:gd name="T23" fmla="*/ 83 w 83"/>
                        <a:gd name="T24" fmla="*/ 37 h 37"/>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7">
                          <a:moveTo>
                            <a:pt x="0" y="37"/>
                          </a:moveTo>
                          <a:lnTo>
                            <a:pt x="4" y="19"/>
                          </a:lnTo>
                          <a:lnTo>
                            <a:pt x="8" y="8"/>
                          </a:lnTo>
                          <a:lnTo>
                            <a:pt x="13" y="0"/>
                          </a:lnTo>
                          <a:lnTo>
                            <a:pt x="68" y="0"/>
                          </a:lnTo>
                          <a:lnTo>
                            <a:pt x="83" y="37"/>
                          </a:lnTo>
                          <a:lnTo>
                            <a:pt x="0" y="37"/>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8" name="Group 2168"/>
                  <p:cNvGrpSpPr>
                    <a:grpSpLocks/>
                  </p:cNvGrpSpPr>
                  <p:nvPr/>
                </p:nvGrpSpPr>
                <p:grpSpPr bwMode="auto">
                  <a:xfrm>
                    <a:off x="1010" y="3690"/>
                    <a:ext cx="48" cy="23"/>
                    <a:chOff x="1010" y="3690"/>
                    <a:chExt cx="48" cy="23"/>
                  </a:xfrm>
                </p:grpSpPr>
                <p:sp>
                  <p:nvSpPr>
                    <p:cNvPr id="3207" name="Freeform 2169"/>
                    <p:cNvSpPr>
                      <a:spLocks/>
                    </p:cNvSpPr>
                    <p:nvPr/>
                  </p:nvSpPr>
                  <p:spPr bwMode="auto">
                    <a:xfrm>
                      <a:off x="1010" y="3690"/>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9"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8" name="Freeform 2170"/>
                    <p:cNvSpPr>
                      <a:spLocks/>
                    </p:cNvSpPr>
                    <p:nvPr/>
                  </p:nvSpPr>
                  <p:spPr bwMode="auto">
                    <a:xfrm>
                      <a:off x="1014" y="369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3"/>
                          </a:lnTo>
                          <a:lnTo>
                            <a:pt x="56" y="12"/>
                          </a:lnTo>
                          <a:lnTo>
                            <a:pt x="75" y="31"/>
                          </a:lnTo>
                          <a:lnTo>
                            <a:pt x="18" y="31"/>
                          </a:lnTo>
                          <a:lnTo>
                            <a:pt x="9" y="22"/>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9" name="Freeform 2171"/>
                    <p:cNvSpPr>
                      <a:spLocks/>
                    </p:cNvSpPr>
                    <p:nvPr/>
                  </p:nvSpPr>
                  <p:spPr bwMode="auto">
                    <a:xfrm>
                      <a:off x="1018" y="3701"/>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8" y="7"/>
                          </a:lnTo>
                          <a:lnTo>
                            <a:pt x="12" y="0"/>
                          </a:lnTo>
                          <a:lnTo>
                            <a:pt x="69"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99" name="Group 2172"/>
                  <p:cNvGrpSpPr>
                    <a:grpSpLocks/>
                  </p:cNvGrpSpPr>
                  <p:nvPr/>
                </p:nvGrpSpPr>
                <p:grpSpPr bwMode="auto">
                  <a:xfrm>
                    <a:off x="1023" y="3703"/>
                    <a:ext cx="49" cy="22"/>
                    <a:chOff x="1023" y="3703"/>
                    <a:chExt cx="49" cy="22"/>
                  </a:xfrm>
                </p:grpSpPr>
                <p:sp>
                  <p:nvSpPr>
                    <p:cNvPr id="3204" name="Freeform 2173"/>
                    <p:cNvSpPr>
                      <a:spLocks/>
                    </p:cNvSpPr>
                    <p:nvPr/>
                  </p:nvSpPr>
                  <p:spPr bwMode="auto">
                    <a:xfrm>
                      <a:off x="1023" y="3703"/>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3" y="68"/>
                          </a:moveTo>
                          <a:lnTo>
                            <a:pt x="0" y="27"/>
                          </a:lnTo>
                          <a:lnTo>
                            <a:pt x="9" y="0"/>
                          </a:lnTo>
                          <a:lnTo>
                            <a:pt x="25"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5" name="Freeform 2174"/>
                    <p:cNvSpPr>
                      <a:spLocks/>
                    </p:cNvSpPr>
                    <p:nvPr/>
                  </p:nvSpPr>
                  <p:spPr bwMode="auto">
                    <a:xfrm>
                      <a:off x="1028" y="3703"/>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6" name="Freeform 2175"/>
                    <p:cNvSpPr>
                      <a:spLocks/>
                    </p:cNvSpPr>
                    <p:nvPr/>
                  </p:nvSpPr>
                  <p:spPr bwMode="auto">
                    <a:xfrm>
                      <a:off x="1030" y="371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3" y="0"/>
                          </a:lnTo>
                          <a:lnTo>
                            <a:pt x="70"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200" name="Group 2176"/>
                  <p:cNvGrpSpPr>
                    <a:grpSpLocks/>
                  </p:cNvGrpSpPr>
                  <p:nvPr/>
                </p:nvGrpSpPr>
                <p:grpSpPr bwMode="auto">
                  <a:xfrm>
                    <a:off x="1036" y="3716"/>
                    <a:ext cx="49" cy="22"/>
                    <a:chOff x="1036" y="3716"/>
                    <a:chExt cx="49" cy="22"/>
                  </a:xfrm>
                </p:grpSpPr>
                <p:sp>
                  <p:nvSpPr>
                    <p:cNvPr id="3201" name="Freeform 2177"/>
                    <p:cNvSpPr>
                      <a:spLocks/>
                    </p:cNvSpPr>
                    <p:nvPr/>
                  </p:nvSpPr>
                  <p:spPr bwMode="auto">
                    <a:xfrm>
                      <a:off x="1036" y="3716"/>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2" name="Freeform 2178"/>
                    <p:cNvSpPr>
                      <a:spLocks/>
                    </p:cNvSpPr>
                    <p:nvPr/>
                  </p:nvSpPr>
                  <p:spPr bwMode="auto">
                    <a:xfrm>
                      <a:off x="1040" y="371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3" y="0"/>
                          </a:moveTo>
                          <a:lnTo>
                            <a:pt x="51" y="0"/>
                          </a:lnTo>
                          <a:lnTo>
                            <a:pt x="53" y="2"/>
                          </a:lnTo>
                          <a:lnTo>
                            <a:pt x="57" y="11"/>
                          </a:lnTo>
                          <a:lnTo>
                            <a:pt x="75" y="29"/>
                          </a:lnTo>
                          <a:lnTo>
                            <a:pt x="18" y="29"/>
                          </a:lnTo>
                          <a:lnTo>
                            <a:pt x="9" y="20"/>
                          </a:lnTo>
                          <a:lnTo>
                            <a:pt x="0" y="5"/>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203" name="Freeform 2179"/>
                    <p:cNvSpPr>
                      <a:spLocks/>
                    </p:cNvSpPr>
                    <p:nvPr/>
                  </p:nvSpPr>
                  <p:spPr bwMode="auto">
                    <a:xfrm>
                      <a:off x="1043" y="3726"/>
                      <a:ext cx="42"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0"/>
                          </a:lnTo>
                          <a:lnTo>
                            <a:pt x="6" y="8"/>
                          </a:lnTo>
                          <a:lnTo>
                            <a:pt x="10"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52" name="Group 2180"/>
                <p:cNvGrpSpPr>
                  <a:grpSpLocks/>
                </p:cNvGrpSpPr>
                <p:nvPr/>
              </p:nvGrpSpPr>
              <p:grpSpPr bwMode="auto">
                <a:xfrm>
                  <a:off x="1046" y="3727"/>
                  <a:ext cx="49" cy="23"/>
                  <a:chOff x="1046" y="3727"/>
                  <a:chExt cx="49" cy="23"/>
                </a:xfrm>
              </p:grpSpPr>
              <p:sp>
                <p:nvSpPr>
                  <p:cNvPr id="3193" name="Freeform 2181"/>
                  <p:cNvSpPr>
                    <a:spLocks/>
                  </p:cNvSpPr>
                  <p:nvPr/>
                </p:nvSpPr>
                <p:spPr bwMode="auto">
                  <a:xfrm>
                    <a:off x="1046" y="372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2"/>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4" name="Freeform 2182"/>
                  <p:cNvSpPr>
                    <a:spLocks/>
                  </p:cNvSpPr>
                  <p:nvPr/>
                </p:nvSpPr>
                <p:spPr bwMode="auto">
                  <a:xfrm>
                    <a:off x="1051" y="3727"/>
                    <a:ext cx="36" cy="11"/>
                  </a:xfrm>
                  <a:custGeom>
                    <a:avLst/>
                    <a:gdLst>
                      <a:gd name="T0" fmla="*/ 0 w 73"/>
                      <a:gd name="T1" fmla="*/ 0 h 31"/>
                      <a:gd name="T2" fmla="*/ 0 w 73"/>
                      <a:gd name="T3" fmla="*/ 0 h 31"/>
                      <a:gd name="T4" fmla="*/ 0 w 73"/>
                      <a:gd name="T5" fmla="*/ 0 h 31"/>
                      <a:gd name="T6" fmla="*/ 0 w 73"/>
                      <a:gd name="T7" fmla="*/ 0 h 31"/>
                      <a:gd name="T8" fmla="*/ 0 w 73"/>
                      <a:gd name="T9" fmla="*/ 0 h 31"/>
                      <a:gd name="T10" fmla="*/ 0 w 73"/>
                      <a:gd name="T11" fmla="*/ 0 h 31"/>
                      <a:gd name="T12" fmla="*/ 0 w 73"/>
                      <a:gd name="T13" fmla="*/ 0 h 31"/>
                      <a:gd name="T14" fmla="*/ 0 w 73"/>
                      <a:gd name="T15" fmla="*/ 0 h 31"/>
                      <a:gd name="T16" fmla="*/ 0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9" y="0"/>
                        </a:lnTo>
                        <a:lnTo>
                          <a:pt x="50" y="4"/>
                        </a:lnTo>
                        <a:lnTo>
                          <a:pt x="57" y="13"/>
                        </a:lnTo>
                        <a:lnTo>
                          <a:pt x="73" y="31"/>
                        </a:lnTo>
                        <a:lnTo>
                          <a:pt x="17"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5" name="Freeform 2183"/>
                  <p:cNvSpPr>
                    <a:spLocks/>
                  </p:cNvSpPr>
                  <p:nvPr/>
                </p:nvSpPr>
                <p:spPr bwMode="auto">
                  <a:xfrm>
                    <a:off x="1054" y="3738"/>
                    <a:ext cx="41" cy="12"/>
                  </a:xfrm>
                  <a:custGeom>
                    <a:avLst/>
                    <a:gdLst>
                      <a:gd name="T0" fmla="*/ 0 w 82"/>
                      <a:gd name="T1" fmla="*/ 0 h 35"/>
                      <a:gd name="T2" fmla="*/ 1 w 82"/>
                      <a:gd name="T3" fmla="*/ 0 h 35"/>
                      <a:gd name="T4" fmla="*/ 1 w 82"/>
                      <a:gd name="T5" fmla="*/ 0 h 35"/>
                      <a:gd name="T6" fmla="*/ 1 w 82"/>
                      <a:gd name="T7" fmla="*/ 0 h 35"/>
                      <a:gd name="T8" fmla="*/ 1 w 82"/>
                      <a:gd name="T9" fmla="*/ 0 h 35"/>
                      <a:gd name="T10" fmla="*/ 1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1" y="19"/>
                        </a:lnTo>
                        <a:lnTo>
                          <a:pt x="6" y="6"/>
                        </a:lnTo>
                        <a:lnTo>
                          <a:pt x="10"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3" name="Group 2184"/>
                <p:cNvGrpSpPr>
                  <a:grpSpLocks/>
                </p:cNvGrpSpPr>
                <p:nvPr/>
              </p:nvGrpSpPr>
              <p:grpSpPr bwMode="auto">
                <a:xfrm>
                  <a:off x="1058" y="3739"/>
                  <a:ext cx="50" cy="23"/>
                  <a:chOff x="1058" y="3739"/>
                  <a:chExt cx="50" cy="23"/>
                </a:xfrm>
              </p:grpSpPr>
              <p:sp>
                <p:nvSpPr>
                  <p:cNvPr id="3190" name="Freeform 2185"/>
                  <p:cNvSpPr>
                    <a:spLocks/>
                  </p:cNvSpPr>
                  <p:nvPr/>
                </p:nvSpPr>
                <p:spPr bwMode="auto">
                  <a:xfrm>
                    <a:off x="1058" y="3739"/>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0"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1" name="Freeform 2186"/>
                  <p:cNvSpPr>
                    <a:spLocks/>
                  </p:cNvSpPr>
                  <p:nvPr/>
                </p:nvSpPr>
                <p:spPr bwMode="auto">
                  <a:xfrm>
                    <a:off x="1063" y="3740"/>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3" y="0"/>
                        </a:moveTo>
                        <a:lnTo>
                          <a:pt x="50" y="0"/>
                        </a:lnTo>
                        <a:lnTo>
                          <a:pt x="51" y="3"/>
                        </a:lnTo>
                        <a:lnTo>
                          <a:pt x="58" y="12"/>
                        </a:lnTo>
                        <a:lnTo>
                          <a:pt x="75" y="30"/>
                        </a:lnTo>
                        <a:lnTo>
                          <a:pt x="18" y="30"/>
                        </a:lnTo>
                        <a:lnTo>
                          <a:pt x="11" y="21"/>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92" name="Freeform 2187"/>
                  <p:cNvSpPr>
                    <a:spLocks/>
                  </p:cNvSpPr>
                  <p:nvPr/>
                </p:nvSpPr>
                <p:spPr bwMode="auto">
                  <a:xfrm>
                    <a:off x="1067" y="3750"/>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4" name="Group 2188"/>
                <p:cNvGrpSpPr>
                  <a:grpSpLocks/>
                </p:cNvGrpSpPr>
                <p:nvPr/>
              </p:nvGrpSpPr>
              <p:grpSpPr bwMode="auto">
                <a:xfrm>
                  <a:off x="1072" y="3753"/>
                  <a:ext cx="48" cy="22"/>
                  <a:chOff x="1072" y="3753"/>
                  <a:chExt cx="48" cy="22"/>
                </a:xfrm>
              </p:grpSpPr>
              <p:sp>
                <p:nvSpPr>
                  <p:cNvPr id="3187" name="Freeform 2189"/>
                  <p:cNvSpPr>
                    <a:spLocks/>
                  </p:cNvSpPr>
                  <p:nvPr/>
                </p:nvSpPr>
                <p:spPr bwMode="auto">
                  <a:xfrm>
                    <a:off x="1072" y="3753"/>
                    <a:ext cx="11" cy="22"/>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9"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8" name="Freeform 2190"/>
                  <p:cNvSpPr>
                    <a:spLocks/>
                  </p:cNvSpPr>
                  <p:nvPr/>
                </p:nvSpPr>
                <p:spPr bwMode="auto">
                  <a:xfrm>
                    <a:off x="1076" y="3753"/>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0" y="0"/>
                        </a:lnTo>
                        <a:lnTo>
                          <a:pt x="52" y="4"/>
                        </a:lnTo>
                        <a:lnTo>
                          <a:pt x="57" y="13"/>
                        </a:lnTo>
                        <a:lnTo>
                          <a:pt x="74" y="31"/>
                        </a:lnTo>
                        <a:lnTo>
                          <a:pt x="19" y="31"/>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9" name="Freeform 2191"/>
                  <p:cNvSpPr>
                    <a:spLocks/>
                  </p:cNvSpPr>
                  <p:nvPr/>
                </p:nvSpPr>
                <p:spPr bwMode="auto">
                  <a:xfrm>
                    <a:off x="1079" y="376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3" y="20"/>
                        </a:lnTo>
                        <a:lnTo>
                          <a:pt x="6"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55" name="Freeform 2192"/>
                <p:cNvSpPr>
                  <a:spLocks/>
                </p:cNvSpPr>
                <p:nvPr/>
              </p:nvSpPr>
              <p:spPr bwMode="auto">
                <a:xfrm>
                  <a:off x="820" y="3535"/>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1"/>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6" name="Freeform 2193"/>
                <p:cNvSpPr>
                  <a:spLocks/>
                </p:cNvSpPr>
                <p:nvPr/>
              </p:nvSpPr>
              <p:spPr bwMode="auto">
                <a:xfrm>
                  <a:off x="825" y="3535"/>
                  <a:ext cx="36" cy="9"/>
                </a:xfrm>
                <a:custGeom>
                  <a:avLst/>
                  <a:gdLst>
                    <a:gd name="T0" fmla="*/ 0 w 71"/>
                    <a:gd name="T1" fmla="*/ 0 h 27"/>
                    <a:gd name="T2" fmla="*/ 1 w 71"/>
                    <a:gd name="T3" fmla="*/ 0 h 27"/>
                    <a:gd name="T4" fmla="*/ 1 w 71"/>
                    <a:gd name="T5" fmla="*/ 0 h 27"/>
                    <a:gd name="T6" fmla="*/ 1 w 71"/>
                    <a:gd name="T7" fmla="*/ 0 h 27"/>
                    <a:gd name="T8" fmla="*/ 1 w 71"/>
                    <a:gd name="T9" fmla="*/ 0 h 27"/>
                    <a:gd name="T10" fmla="*/ 1 w 71"/>
                    <a:gd name="T11" fmla="*/ 0 h 27"/>
                    <a:gd name="T12" fmla="*/ 1 w 71"/>
                    <a:gd name="T13" fmla="*/ 0 h 27"/>
                    <a:gd name="T14" fmla="*/ 0 w 71"/>
                    <a:gd name="T15" fmla="*/ 0 h 27"/>
                    <a:gd name="T16" fmla="*/ 0 w 71"/>
                    <a:gd name="T17" fmla="*/ 0 h 27"/>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1"/>
                    <a:gd name="T28" fmla="*/ 0 h 27"/>
                    <a:gd name="T29" fmla="*/ 71 w 71"/>
                    <a:gd name="T30" fmla="*/ 27 h 27"/>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1" h="27">
                      <a:moveTo>
                        <a:pt x="0" y="0"/>
                      </a:moveTo>
                      <a:lnTo>
                        <a:pt x="49" y="0"/>
                      </a:lnTo>
                      <a:lnTo>
                        <a:pt x="51" y="2"/>
                      </a:lnTo>
                      <a:lnTo>
                        <a:pt x="55" y="12"/>
                      </a:lnTo>
                      <a:lnTo>
                        <a:pt x="71" y="27"/>
                      </a:lnTo>
                      <a:lnTo>
                        <a:pt x="17" y="27"/>
                      </a:lnTo>
                      <a:lnTo>
                        <a:pt x="8" y="20"/>
                      </a:lnTo>
                      <a:lnTo>
                        <a:pt x="0" y="6"/>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57" name="Freeform 2194"/>
                <p:cNvSpPr>
                  <a:spLocks/>
                </p:cNvSpPr>
                <p:nvPr/>
              </p:nvSpPr>
              <p:spPr bwMode="auto">
                <a:xfrm>
                  <a:off x="828" y="354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8"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58" name="Group 2195"/>
                <p:cNvGrpSpPr>
                  <a:grpSpLocks/>
                </p:cNvGrpSpPr>
                <p:nvPr/>
              </p:nvGrpSpPr>
              <p:grpSpPr bwMode="auto">
                <a:xfrm>
                  <a:off x="832" y="3547"/>
                  <a:ext cx="49" cy="23"/>
                  <a:chOff x="832" y="3547"/>
                  <a:chExt cx="49" cy="23"/>
                </a:xfrm>
              </p:grpSpPr>
              <p:sp>
                <p:nvSpPr>
                  <p:cNvPr id="3184" name="Freeform 2196"/>
                  <p:cNvSpPr>
                    <a:spLocks/>
                  </p:cNvSpPr>
                  <p:nvPr/>
                </p:nvSpPr>
                <p:spPr bwMode="auto">
                  <a:xfrm>
                    <a:off x="832" y="3547"/>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5" name="Freeform 2197"/>
                  <p:cNvSpPr>
                    <a:spLocks/>
                  </p:cNvSpPr>
                  <p:nvPr/>
                </p:nvSpPr>
                <p:spPr bwMode="auto">
                  <a:xfrm>
                    <a:off x="837" y="3548"/>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6" name="Freeform 2198"/>
                  <p:cNvSpPr>
                    <a:spLocks/>
                  </p:cNvSpPr>
                  <p:nvPr/>
                </p:nvSpPr>
                <p:spPr bwMode="auto">
                  <a:xfrm>
                    <a:off x="840" y="355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59" name="Group 2199"/>
                <p:cNvGrpSpPr>
                  <a:grpSpLocks/>
                </p:cNvGrpSpPr>
                <p:nvPr/>
              </p:nvGrpSpPr>
              <p:grpSpPr bwMode="auto">
                <a:xfrm>
                  <a:off x="844" y="3560"/>
                  <a:ext cx="49" cy="22"/>
                  <a:chOff x="844" y="3560"/>
                  <a:chExt cx="49" cy="22"/>
                </a:xfrm>
              </p:grpSpPr>
              <p:sp>
                <p:nvSpPr>
                  <p:cNvPr id="3181" name="Freeform 2200"/>
                  <p:cNvSpPr>
                    <a:spLocks/>
                  </p:cNvSpPr>
                  <p:nvPr/>
                </p:nvSpPr>
                <p:spPr bwMode="auto">
                  <a:xfrm>
                    <a:off x="844" y="3560"/>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2" name="Freeform 2201"/>
                  <p:cNvSpPr>
                    <a:spLocks/>
                  </p:cNvSpPr>
                  <p:nvPr/>
                </p:nvSpPr>
                <p:spPr bwMode="auto">
                  <a:xfrm>
                    <a:off x="849" y="3560"/>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3" name="Freeform 2202"/>
                  <p:cNvSpPr>
                    <a:spLocks/>
                  </p:cNvSpPr>
                  <p:nvPr/>
                </p:nvSpPr>
                <p:spPr bwMode="auto">
                  <a:xfrm>
                    <a:off x="853" y="3571"/>
                    <a:ext cx="40" cy="11"/>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6"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0" name="Group 2203"/>
                <p:cNvGrpSpPr>
                  <a:grpSpLocks/>
                </p:cNvGrpSpPr>
                <p:nvPr/>
              </p:nvGrpSpPr>
              <p:grpSpPr bwMode="auto">
                <a:xfrm>
                  <a:off x="857" y="3572"/>
                  <a:ext cx="50" cy="23"/>
                  <a:chOff x="857" y="3572"/>
                  <a:chExt cx="50" cy="23"/>
                </a:xfrm>
              </p:grpSpPr>
              <p:sp>
                <p:nvSpPr>
                  <p:cNvPr id="3178" name="Freeform 2204"/>
                  <p:cNvSpPr>
                    <a:spLocks/>
                  </p:cNvSpPr>
                  <p:nvPr/>
                </p:nvSpPr>
                <p:spPr bwMode="auto">
                  <a:xfrm>
                    <a:off x="857" y="3572"/>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5"/>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9" name="Freeform 2205"/>
                  <p:cNvSpPr>
                    <a:spLocks/>
                  </p:cNvSpPr>
                  <p:nvPr/>
                </p:nvSpPr>
                <p:spPr bwMode="auto">
                  <a:xfrm>
                    <a:off x="862" y="3573"/>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80" name="Freeform 2206"/>
                  <p:cNvSpPr>
                    <a:spLocks/>
                  </p:cNvSpPr>
                  <p:nvPr/>
                </p:nvSpPr>
                <p:spPr bwMode="auto">
                  <a:xfrm>
                    <a:off x="865" y="3583"/>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19"/>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1" name="Group 2207"/>
                <p:cNvGrpSpPr>
                  <a:grpSpLocks/>
                </p:cNvGrpSpPr>
                <p:nvPr/>
              </p:nvGrpSpPr>
              <p:grpSpPr bwMode="auto">
                <a:xfrm>
                  <a:off x="870" y="3585"/>
                  <a:ext cx="48" cy="23"/>
                  <a:chOff x="870" y="3585"/>
                  <a:chExt cx="48" cy="23"/>
                </a:xfrm>
              </p:grpSpPr>
              <p:sp>
                <p:nvSpPr>
                  <p:cNvPr id="3175" name="Freeform 2208"/>
                  <p:cNvSpPr>
                    <a:spLocks/>
                  </p:cNvSpPr>
                  <p:nvPr/>
                </p:nvSpPr>
                <p:spPr bwMode="auto">
                  <a:xfrm>
                    <a:off x="870" y="358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6"/>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6" name="Freeform 2209"/>
                  <p:cNvSpPr>
                    <a:spLocks/>
                  </p:cNvSpPr>
                  <p:nvPr/>
                </p:nvSpPr>
                <p:spPr bwMode="auto">
                  <a:xfrm>
                    <a:off x="874" y="3586"/>
                    <a:ext cx="38" cy="10"/>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7" name="Freeform 2210"/>
                  <p:cNvSpPr>
                    <a:spLocks/>
                  </p:cNvSpPr>
                  <p:nvPr/>
                </p:nvSpPr>
                <p:spPr bwMode="auto">
                  <a:xfrm>
                    <a:off x="878"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6"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2" name="Group 2211"/>
                <p:cNvGrpSpPr>
                  <a:grpSpLocks/>
                </p:cNvGrpSpPr>
                <p:nvPr/>
              </p:nvGrpSpPr>
              <p:grpSpPr bwMode="auto">
                <a:xfrm>
                  <a:off x="882" y="3600"/>
                  <a:ext cx="100" cy="73"/>
                  <a:chOff x="882" y="3600"/>
                  <a:chExt cx="100" cy="73"/>
                </a:xfrm>
              </p:grpSpPr>
              <p:grpSp>
                <p:nvGrpSpPr>
                  <p:cNvPr id="3155" name="Group 2212"/>
                  <p:cNvGrpSpPr>
                    <a:grpSpLocks/>
                  </p:cNvGrpSpPr>
                  <p:nvPr/>
                </p:nvGrpSpPr>
                <p:grpSpPr bwMode="auto">
                  <a:xfrm>
                    <a:off x="882" y="3600"/>
                    <a:ext cx="49" cy="23"/>
                    <a:chOff x="882" y="3600"/>
                    <a:chExt cx="49" cy="23"/>
                  </a:xfrm>
                </p:grpSpPr>
                <p:sp>
                  <p:nvSpPr>
                    <p:cNvPr id="3172" name="Freeform 2213"/>
                    <p:cNvSpPr>
                      <a:spLocks/>
                    </p:cNvSpPr>
                    <p:nvPr/>
                  </p:nvSpPr>
                  <p:spPr bwMode="auto">
                    <a:xfrm>
                      <a:off x="882" y="3600"/>
                      <a:ext cx="12" cy="23"/>
                    </a:xfrm>
                    <a:custGeom>
                      <a:avLst/>
                      <a:gdLst>
                        <a:gd name="T0" fmla="*/ 1 w 23"/>
                        <a:gd name="T1" fmla="*/ 0 h 70"/>
                        <a:gd name="T2" fmla="*/ 0 w 23"/>
                        <a:gd name="T3" fmla="*/ 0 h 70"/>
                        <a:gd name="T4" fmla="*/ 1 w 23"/>
                        <a:gd name="T5" fmla="*/ 0 h 70"/>
                        <a:gd name="T6" fmla="*/ 1 w 23"/>
                        <a:gd name="T7" fmla="*/ 0 h 70"/>
                        <a:gd name="T8" fmla="*/ 1 w 23"/>
                        <a:gd name="T9" fmla="*/ 0 h 70"/>
                        <a:gd name="T10" fmla="*/ 0 60000 65536"/>
                        <a:gd name="T11" fmla="*/ 0 60000 65536"/>
                        <a:gd name="T12" fmla="*/ 0 60000 65536"/>
                        <a:gd name="T13" fmla="*/ 0 60000 65536"/>
                        <a:gd name="T14" fmla="*/ 0 60000 65536"/>
                        <a:gd name="T15" fmla="*/ 0 w 23"/>
                        <a:gd name="T16" fmla="*/ 0 h 70"/>
                        <a:gd name="T17" fmla="*/ 23 w 23"/>
                        <a:gd name="T18" fmla="*/ 70 h 70"/>
                      </a:gdLst>
                      <a:ahLst/>
                      <a:cxnLst>
                        <a:cxn ang="T10">
                          <a:pos x="T0" y="T1"/>
                        </a:cxn>
                        <a:cxn ang="T11">
                          <a:pos x="T2" y="T3"/>
                        </a:cxn>
                        <a:cxn ang="T12">
                          <a:pos x="T4" y="T5"/>
                        </a:cxn>
                        <a:cxn ang="T13">
                          <a:pos x="T6" y="T7"/>
                        </a:cxn>
                        <a:cxn ang="T14">
                          <a:pos x="T8" y="T9"/>
                        </a:cxn>
                      </a:cxnLst>
                      <a:rect l="T15" t="T16" r="T17" b="T18"/>
                      <a:pathLst>
                        <a:path w="23" h="70">
                          <a:moveTo>
                            <a:pt x="13" y="70"/>
                          </a:moveTo>
                          <a:lnTo>
                            <a:pt x="0" y="27"/>
                          </a:lnTo>
                          <a:lnTo>
                            <a:pt x="9" y="0"/>
                          </a:lnTo>
                          <a:lnTo>
                            <a:pt x="23"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3" name="Freeform 2214"/>
                    <p:cNvSpPr>
                      <a:spLocks/>
                    </p:cNvSpPr>
                    <p:nvPr/>
                  </p:nvSpPr>
                  <p:spPr bwMode="auto">
                    <a:xfrm>
                      <a:off x="887" y="3600"/>
                      <a:ext cx="37" cy="11"/>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50" y="0"/>
                          </a:lnTo>
                          <a:lnTo>
                            <a:pt x="51"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4" name="Freeform 2215"/>
                    <p:cNvSpPr>
                      <a:spLocks/>
                    </p:cNvSpPr>
                    <p:nvPr/>
                  </p:nvSpPr>
                  <p:spPr bwMode="auto">
                    <a:xfrm>
                      <a:off x="890" y="3611"/>
                      <a:ext cx="41" cy="12"/>
                    </a:xfrm>
                    <a:custGeom>
                      <a:avLst/>
                      <a:gdLst>
                        <a:gd name="T0" fmla="*/ 0 w 83"/>
                        <a:gd name="T1" fmla="*/ 0 h 38"/>
                        <a:gd name="T2" fmla="*/ 0 w 83"/>
                        <a:gd name="T3" fmla="*/ 0 h 38"/>
                        <a:gd name="T4" fmla="*/ 0 w 83"/>
                        <a:gd name="T5" fmla="*/ 0 h 38"/>
                        <a:gd name="T6" fmla="*/ 0 w 83"/>
                        <a:gd name="T7" fmla="*/ 0 h 38"/>
                        <a:gd name="T8" fmla="*/ 0 w 83"/>
                        <a:gd name="T9" fmla="*/ 0 h 38"/>
                        <a:gd name="T10" fmla="*/ 0 w 83"/>
                        <a:gd name="T11" fmla="*/ 0 h 38"/>
                        <a:gd name="T12" fmla="*/ 0 w 83"/>
                        <a:gd name="T13" fmla="*/ 0 h 38"/>
                        <a:gd name="T14" fmla="*/ 0 60000 65536"/>
                        <a:gd name="T15" fmla="*/ 0 60000 65536"/>
                        <a:gd name="T16" fmla="*/ 0 60000 65536"/>
                        <a:gd name="T17" fmla="*/ 0 60000 65536"/>
                        <a:gd name="T18" fmla="*/ 0 60000 65536"/>
                        <a:gd name="T19" fmla="*/ 0 60000 65536"/>
                        <a:gd name="T20" fmla="*/ 0 60000 65536"/>
                        <a:gd name="T21" fmla="*/ 0 w 83"/>
                        <a:gd name="T22" fmla="*/ 0 h 38"/>
                        <a:gd name="T23" fmla="*/ 83 w 83"/>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8">
                          <a:moveTo>
                            <a:pt x="0" y="38"/>
                          </a:moveTo>
                          <a:lnTo>
                            <a:pt x="1" y="22"/>
                          </a:lnTo>
                          <a:lnTo>
                            <a:pt x="8" y="8"/>
                          </a:lnTo>
                          <a:lnTo>
                            <a:pt x="12" y="0"/>
                          </a:lnTo>
                          <a:lnTo>
                            <a:pt x="68" y="0"/>
                          </a:lnTo>
                          <a:lnTo>
                            <a:pt x="83"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6" name="Group 2216"/>
                  <p:cNvGrpSpPr>
                    <a:grpSpLocks/>
                  </p:cNvGrpSpPr>
                  <p:nvPr/>
                </p:nvGrpSpPr>
                <p:grpSpPr bwMode="auto">
                  <a:xfrm>
                    <a:off x="894" y="3612"/>
                    <a:ext cx="49" cy="23"/>
                    <a:chOff x="894" y="3612"/>
                    <a:chExt cx="49" cy="23"/>
                  </a:xfrm>
                </p:grpSpPr>
                <p:sp>
                  <p:nvSpPr>
                    <p:cNvPr id="3169" name="Freeform 2217"/>
                    <p:cNvSpPr>
                      <a:spLocks/>
                    </p:cNvSpPr>
                    <p:nvPr/>
                  </p:nvSpPr>
                  <p:spPr bwMode="auto">
                    <a:xfrm>
                      <a:off x="894" y="3612"/>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9"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0" name="Freeform 2218"/>
                    <p:cNvSpPr>
                      <a:spLocks/>
                    </p:cNvSpPr>
                    <p:nvPr/>
                  </p:nvSpPr>
                  <p:spPr bwMode="auto">
                    <a:xfrm>
                      <a:off x="899" y="3613"/>
                      <a:ext cx="37" cy="10"/>
                    </a:xfrm>
                    <a:custGeom>
                      <a:avLst/>
                      <a:gdLst>
                        <a:gd name="T0" fmla="*/ 0 w 75"/>
                        <a:gd name="T1" fmla="*/ 0 h 32"/>
                        <a:gd name="T2" fmla="*/ 0 w 75"/>
                        <a:gd name="T3" fmla="*/ 0 h 32"/>
                        <a:gd name="T4" fmla="*/ 0 w 75"/>
                        <a:gd name="T5" fmla="*/ 0 h 32"/>
                        <a:gd name="T6" fmla="*/ 0 w 75"/>
                        <a:gd name="T7" fmla="*/ 0 h 32"/>
                        <a:gd name="T8" fmla="*/ 0 w 75"/>
                        <a:gd name="T9" fmla="*/ 0 h 32"/>
                        <a:gd name="T10" fmla="*/ 0 w 75"/>
                        <a:gd name="T11" fmla="*/ 0 h 32"/>
                        <a:gd name="T12" fmla="*/ 0 w 75"/>
                        <a:gd name="T13" fmla="*/ 0 h 32"/>
                        <a:gd name="T14" fmla="*/ 0 w 75"/>
                        <a:gd name="T15" fmla="*/ 0 h 32"/>
                        <a:gd name="T16" fmla="*/ 0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2" y="0"/>
                          </a:moveTo>
                          <a:lnTo>
                            <a:pt x="50" y="0"/>
                          </a:lnTo>
                          <a:lnTo>
                            <a:pt x="52" y="3"/>
                          </a:lnTo>
                          <a:lnTo>
                            <a:pt x="57" y="15"/>
                          </a:lnTo>
                          <a:lnTo>
                            <a:pt x="75" y="32"/>
                          </a:lnTo>
                          <a:lnTo>
                            <a:pt x="19" y="32"/>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71" name="Freeform 2219"/>
                    <p:cNvSpPr>
                      <a:spLocks/>
                    </p:cNvSpPr>
                    <p:nvPr/>
                  </p:nvSpPr>
                  <p:spPr bwMode="auto">
                    <a:xfrm>
                      <a:off x="902" y="362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1"/>
                          </a:lnTo>
                          <a:lnTo>
                            <a:pt x="5" y="8"/>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7" name="Group 2220"/>
                  <p:cNvGrpSpPr>
                    <a:grpSpLocks/>
                  </p:cNvGrpSpPr>
                  <p:nvPr/>
                </p:nvGrpSpPr>
                <p:grpSpPr bwMode="auto">
                  <a:xfrm>
                    <a:off x="907" y="3625"/>
                    <a:ext cx="49" cy="23"/>
                    <a:chOff x="907" y="3625"/>
                    <a:chExt cx="49" cy="23"/>
                  </a:xfrm>
                </p:grpSpPr>
                <p:sp>
                  <p:nvSpPr>
                    <p:cNvPr id="3166" name="Freeform 2221"/>
                    <p:cNvSpPr>
                      <a:spLocks/>
                    </p:cNvSpPr>
                    <p:nvPr/>
                  </p:nvSpPr>
                  <p:spPr bwMode="auto">
                    <a:xfrm>
                      <a:off x="907" y="3625"/>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1"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7" name="Freeform 2222"/>
                    <p:cNvSpPr>
                      <a:spLocks/>
                    </p:cNvSpPr>
                    <p:nvPr/>
                  </p:nvSpPr>
                  <p:spPr bwMode="auto">
                    <a:xfrm>
                      <a:off x="912" y="3626"/>
                      <a:ext cx="36" cy="9"/>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8" name="Freeform 2223"/>
                    <p:cNvSpPr>
                      <a:spLocks/>
                    </p:cNvSpPr>
                    <p:nvPr/>
                  </p:nvSpPr>
                  <p:spPr bwMode="auto">
                    <a:xfrm>
                      <a:off x="914" y="363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0"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8" name="Group 2224"/>
                  <p:cNvGrpSpPr>
                    <a:grpSpLocks/>
                  </p:cNvGrpSpPr>
                  <p:nvPr/>
                </p:nvGrpSpPr>
                <p:grpSpPr bwMode="auto">
                  <a:xfrm>
                    <a:off x="919" y="3638"/>
                    <a:ext cx="49" cy="22"/>
                    <a:chOff x="919" y="3638"/>
                    <a:chExt cx="49" cy="22"/>
                  </a:xfrm>
                </p:grpSpPr>
                <p:sp>
                  <p:nvSpPr>
                    <p:cNvPr id="3163" name="Freeform 2225"/>
                    <p:cNvSpPr>
                      <a:spLocks/>
                    </p:cNvSpPr>
                    <p:nvPr/>
                  </p:nvSpPr>
                  <p:spPr bwMode="auto">
                    <a:xfrm>
                      <a:off x="919" y="3638"/>
                      <a:ext cx="13" cy="22"/>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4" name="Freeform 2226"/>
                    <p:cNvSpPr>
                      <a:spLocks/>
                    </p:cNvSpPr>
                    <p:nvPr/>
                  </p:nvSpPr>
                  <p:spPr bwMode="auto">
                    <a:xfrm>
                      <a:off x="924" y="3638"/>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48" y="0"/>
                          </a:lnTo>
                          <a:lnTo>
                            <a:pt x="52" y="3"/>
                          </a:lnTo>
                          <a:lnTo>
                            <a:pt x="56" y="12"/>
                          </a:lnTo>
                          <a:lnTo>
                            <a:pt x="73"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5" name="Freeform 2227"/>
                    <p:cNvSpPr>
                      <a:spLocks/>
                    </p:cNvSpPr>
                    <p:nvPr/>
                  </p:nvSpPr>
                  <p:spPr bwMode="auto">
                    <a:xfrm>
                      <a:off x="928" y="364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59" name="Group 2228"/>
                  <p:cNvGrpSpPr>
                    <a:grpSpLocks/>
                  </p:cNvGrpSpPr>
                  <p:nvPr/>
                </p:nvGrpSpPr>
                <p:grpSpPr bwMode="auto">
                  <a:xfrm>
                    <a:off x="932" y="3651"/>
                    <a:ext cx="50" cy="22"/>
                    <a:chOff x="932" y="3651"/>
                    <a:chExt cx="50" cy="22"/>
                  </a:xfrm>
                </p:grpSpPr>
                <p:sp>
                  <p:nvSpPr>
                    <p:cNvPr id="3160" name="Freeform 2229"/>
                    <p:cNvSpPr>
                      <a:spLocks/>
                    </p:cNvSpPr>
                    <p:nvPr/>
                  </p:nvSpPr>
                  <p:spPr bwMode="auto">
                    <a:xfrm>
                      <a:off x="932" y="36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11" y="0"/>
                          </a:lnTo>
                          <a:lnTo>
                            <a:pt x="24"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1" name="Freeform 2230"/>
                    <p:cNvSpPr>
                      <a:spLocks/>
                    </p:cNvSpPr>
                    <p:nvPr/>
                  </p:nvSpPr>
                  <p:spPr bwMode="auto">
                    <a:xfrm>
                      <a:off x="937" y="3651"/>
                      <a:ext cx="37"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62" name="Freeform 2231"/>
                    <p:cNvSpPr>
                      <a:spLocks/>
                    </p:cNvSpPr>
                    <p:nvPr/>
                  </p:nvSpPr>
                  <p:spPr bwMode="auto">
                    <a:xfrm>
                      <a:off x="940" y="3662"/>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3" name="Group 2232"/>
                <p:cNvGrpSpPr>
                  <a:grpSpLocks/>
                </p:cNvGrpSpPr>
                <p:nvPr/>
              </p:nvGrpSpPr>
              <p:grpSpPr bwMode="auto">
                <a:xfrm>
                  <a:off x="944" y="3665"/>
                  <a:ext cx="99" cy="74"/>
                  <a:chOff x="944" y="3665"/>
                  <a:chExt cx="99" cy="74"/>
                </a:xfrm>
              </p:grpSpPr>
              <p:grpSp>
                <p:nvGrpSpPr>
                  <p:cNvPr id="3135" name="Group 2233"/>
                  <p:cNvGrpSpPr>
                    <a:grpSpLocks/>
                  </p:cNvGrpSpPr>
                  <p:nvPr/>
                </p:nvGrpSpPr>
                <p:grpSpPr bwMode="auto">
                  <a:xfrm>
                    <a:off x="944" y="3665"/>
                    <a:ext cx="49" cy="23"/>
                    <a:chOff x="944" y="3665"/>
                    <a:chExt cx="49" cy="23"/>
                  </a:xfrm>
                </p:grpSpPr>
                <p:sp>
                  <p:nvSpPr>
                    <p:cNvPr id="3152" name="Freeform 2234"/>
                    <p:cNvSpPr>
                      <a:spLocks/>
                    </p:cNvSpPr>
                    <p:nvPr/>
                  </p:nvSpPr>
                  <p:spPr bwMode="auto">
                    <a:xfrm>
                      <a:off x="944" y="3665"/>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9"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3" name="Freeform 2235"/>
                    <p:cNvSpPr>
                      <a:spLocks/>
                    </p:cNvSpPr>
                    <p:nvPr/>
                  </p:nvSpPr>
                  <p:spPr bwMode="auto">
                    <a:xfrm>
                      <a:off x="949" y="3666"/>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4"/>
                          </a:lnTo>
                          <a:lnTo>
                            <a:pt x="57" y="13"/>
                          </a:lnTo>
                          <a:lnTo>
                            <a:pt x="75" y="31"/>
                          </a:lnTo>
                          <a:lnTo>
                            <a:pt x="19" y="31"/>
                          </a:lnTo>
                          <a:lnTo>
                            <a:pt x="11"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4" name="Freeform 2236"/>
                    <p:cNvSpPr>
                      <a:spLocks/>
                    </p:cNvSpPr>
                    <p:nvPr/>
                  </p:nvSpPr>
                  <p:spPr bwMode="auto">
                    <a:xfrm>
                      <a:off x="953" y="367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5"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6" name="Group 2237"/>
                  <p:cNvGrpSpPr>
                    <a:grpSpLocks/>
                  </p:cNvGrpSpPr>
                  <p:nvPr/>
                </p:nvGrpSpPr>
                <p:grpSpPr bwMode="auto">
                  <a:xfrm>
                    <a:off x="957" y="3678"/>
                    <a:ext cx="48" cy="23"/>
                    <a:chOff x="957" y="3678"/>
                    <a:chExt cx="48" cy="23"/>
                  </a:xfrm>
                </p:grpSpPr>
                <p:sp>
                  <p:nvSpPr>
                    <p:cNvPr id="3149" name="Freeform 2238"/>
                    <p:cNvSpPr>
                      <a:spLocks/>
                    </p:cNvSpPr>
                    <p:nvPr/>
                  </p:nvSpPr>
                  <p:spPr bwMode="auto">
                    <a:xfrm>
                      <a:off x="957" y="3678"/>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3" y="70"/>
                          </a:moveTo>
                          <a:lnTo>
                            <a:pt x="0" y="27"/>
                          </a:lnTo>
                          <a:lnTo>
                            <a:pt x="9" y="0"/>
                          </a:lnTo>
                          <a:lnTo>
                            <a:pt x="24"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0" name="Freeform 2239"/>
                    <p:cNvSpPr>
                      <a:spLocks/>
                    </p:cNvSpPr>
                    <p:nvPr/>
                  </p:nvSpPr>
                  <p:spPr bwMode="auto">
                    <a:xfrm>
                      <a:off x="961" y="3678"/>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3"/>
                          </a:lnTo>
                          <a:lnTo>
                            <a:pt x="56" y="12"/>
                          </a:lnTo>
                          <a:lnTo>
                            <a:pt x="74"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51" name="Freeform 2240"/>
                    <p:cNvSpPr>
                      <a:spLocks/>
                    </p:cNvSpPr>
                    <p:nvPr/>
                  </p:nvSpPr>
                  <p:spPr bwMode="auto">
                    <a:xfrm>
                      <a:off x="964" y="3688"/>
                      <a:ext cx="41"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1"/>
                          </a:lnTo>
                          <a:lnTo>
                            <a:pt x="7" y="8"/>
                          </a:lnTo>
                          <a:lnTo>
                            <a:pt x="11" y="0"/>
                          </a:lnTo>
                          <a:lnTo>
                            <a:pt x="68"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7" name="Group 2241"/>
                  <p:cNvGrpSpPr>
                    <a:grpSpLocks/>
                  </p:cNvGrpSpPr>
                  <p:nvPr/>
                </p:nvGrpSpPr>
                <p:grpSpPr bwMode="auto">
                  <a:xfrm>
                    <a:off x="969" y="3690"/>
                    <a:ext cx="49" cy="23"/>
                    <a:chOff x="969" y="3690"/>
                    <a:chExt cx="49" cy="23"/>
                  </a:xfrm>
                </p:grpSpPr>
                <p:sp>
                  <p:nvSpPr>
                    <p:cNvPr id="3146" name="Freeform 2242"/>
                    <p:cNvSpPr>
                      <a:spLocks/>
                    </p:cNvSpPr>
                    <p:nvPr/>
                  </p:nvSpPr>
                  <p:spPr bwMode="auto">
                    <a:xfrm>
                      <a:off x="969" y="369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9"/>
                          </a:lnTo>
                          <a:lnTo>
                            <a:pt x="9" y="0"/>
                          </a:lnTo>
                          <a:lnTo>
                            <a:pt x="25" y="33"/>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7" name="Freeform 2243"/>
                    <p:cNvSpPr>
                      <a:spLocks/>
                    </p:cNvSpPr>
                    <p:nvPr/>
                  </p:nvSpPr>
                  <p:spPr bwMode="auto">
                    <a:xfrm>
                      <a:off x="974" y="3691"/>
                      <a:ext cx="37" cy="10"/>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9"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8" name="Freeform 2244"/>
                    <p:cNvSpPr>
                      <a:spLocks/>
                    </p:cNvSpPr>
                    <p:nvPr/>
                  </p:nvSpPr>
                  <p:spPr bwMode="auto">
                    <a:xfrm>
                      <a:off x="977" y="370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6" y="7"/>
                          </a:lnTo>
                          <a:lnTo>
                            <a:pt x="12" y="0"/>
                          </a:lnTo>
                          <a:lnTo>
                            <a:pt x="68"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8" name="Group 2245"/>
                  <p:cNvGrpSpPr>
                    <a:grpSpLocks/>
                  </p:cNvGrpSpPr>
                  <p:nvPr/>
                </p:nvGrpSpPr>
                <p:grpSpPr bwMode="auto">
                  <a:xfrm>
                    <a:off x="982" y="3703"/>
                    <a:ext cx="49" cy="23"/>
                    <a:chOff x="982" y="3703"/>
                    <a:chExt cx="49" cy="23"/>
                  </a:xfrm>
                </p:grpSpPr>
                <p:sp>
                  <p:nvSpPr>
                    <p:cNvPr id="3143" name="Freeform 2246"/>
                    <p:cNvSpPr>
                      <a:spLocks/>
                    </p:cNvSpPr>
                    <p:nvPr/>
                  </p:nvSpPr>
                  <p:spPr bwMode="auto">
                    <a:xfrm>
                      <a:off x="982"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4" y="68"/>
                          </a:moveTo>
                          <a:lnTo>
                            <a:pt x="0" y="27"/>
                          </a:lnTo>
                          <a:lnTo>
                            <a:pt x="10" y="0"/>
                          </a:lnTo>
                          <a:lnTo>
                            <a:pt x="25"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4" name="Freeform 2247"/>
                    <p:cNvSpPr>
                      <a:spLocks/>
                    </p:cNvSpPr>
                    <p:nvPr/>
                  </p:nvSpPr>
                  <p:spPr bwMode="auto">
                    <a:xfrm>
                      <a:off x="987" y="3703"/>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1" y="3"/>
                          </a:lnTo>
                          <a:lnTo>
                            <a:pt x="56" y="12"/>
                          </a:lnTo>
                          <a:lnTo>
                            <a:pt x="73"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5" name="Freeform 2248"/>
                    <p:cNvSpPr>
                      <a:spLocks/>
                    </p:cNvSpPr>
                    <p:nvPr/>
                  </p:nvSpPr>
                  <p:spPr bwMode="auto">
                    <a:xfrm>
                      <a:off x="989" y="3714"/>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139" name="Group 2249"/>
                  <p:cNvGrpSpPr>
                    <a:grpSpLocks/>
                  </p:cNvGrpSpPr>
                  <p:nvPr/>
                </p:nvGrpSpPr>
                <p:grpSpPr bwMode="auto">
                  <a:xfrm>
                    <a:off x="995" y="3716"/>
                    <a:ext cx="48" cy="23"/>
                    <a:chOff x="995" y="3716"/>
                    <a:chExt cx="48" cy="23"/>
                  </a:xfrm>
                </p:grpSpPr>
                <p:sp>
                  <p:nvSpPr>
                    <p:cNvPr id="3140" name="Freeform 2250"/>
                    <p:cNvSpPr>
                      <a:spLocks/>
                    </p:cNvSpPr>
                    <p:nvPr/>
                  </p:nvSpPr>
                  <p:spPr bwMode="auto">
                    <a:xfrm>
                      <a:off x="995" y="3716"/>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7"/>
                          </a:lnTo>
                          <a:lnTo>
                            <a:pt x="10" y="0"/>
                          </a:lnTo>
                          <a:lnTo>
                            <a:pt x="24"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1" name="Freeform 2251"/>
                    <p:cNvSpPr>
                      <a:spLocks/>
                    </p:cNvSpPr>
                    <p:nvPr/>
                  </p:nvSpPr>
                  <p:spPr bwMode="auto">
                    <a:xfrm>
                      <a:off x="999" y="3717"/>
                      <a:ext cx="38"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2" y="3"/>
                          </a:lnTo>
                          <a:lnTo>
                            <a:pt x="56" y="11"/>
                          </a:lnTo>
                          <a:lnTo>
                            <a:pt x="74"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42" name="Freeform 2252"/>
                    <p:cNvSpPr>
                      <a:spLocks/>
                    </p:cNvSpPr>
                    <p:nvPr/>
                  </p:nvSpPr>
                  <p:spPr bwMode="auto">
                    <a:xfrm>
                      <a:off x="1003" y="3727"/>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5" y="7"/>
                          </a:lnTo>
                          <a:lnTo>
                            <a:pt x="11"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64" name="Group 2253"/>
                <p:cNvGrpSpPr>
                  <a:grpSpLocks/>
                </p:cNvGrpSpPr>
                <p:nvPr/>
              </p:nvGrpSpPr>
              <p:grpSpPr bwMode="auto">
                <a:xfrm>
                  <a:off x="1005" y="3727"/>
                  <a:ext cx="49" cy="23"/>
                  <a:chOff x="1005" y="3727"/>
                  <a:chExt cx="49" cy="23"/>
                </a:xfrm>
              </p:grpSpPr>
              <p:sp>
                <p:nvSpPr>
                  <p:cNvPr id="3132" name="Freeform 2254"/>
                  <p:cNvSpPr>
                    <a:spLocks/>
                  </p:cNvSpPr>
                  <p:nvPr/>
                </p:nvSpPr>
                <p:spPr bwMode="auto">
                  <a:xfrm>
                    <a:off x="1005" y="3727"/>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2"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3" name="Freeform 2255"/>
                  <p:cNvSpPr>
                    <a:spLocks/>
                  </p:cNvSpPr>
                  <p:nvPr/>
                </p:nvSpPr>
                <p:spPr bwMode="auto">
                  <a:xfrm>
                    <a:off x="1010"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2" y="0"/>
                        </a:moveTo>
                        <a:lnTo>
                          <a:pt x="48" y="0"/>
                        </a:lnTo>
                        <a:lnTo>
                          <a:pt x="51" y="4"/>
                        </a:lnTo>
                        <a:lnTo>
                          <a:pt x="56" y="13"/>
                        </a:lnTo>
                        <a:lnTo>
                          <a:pt x="73" y="31"/>
                        </a:lnTo>
                        <a:lnTo>
                          <a:pt x="18" y="31"/>
                        </a:lnTo>
                        <a:lnTo>
                          <a:pt x="9"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4" name="Freeform 2256"/>
                  <p:cNvSpPr>
                    <a:spLocks/>
                  </p:cNvSpPr>
                  <p:nvPr/>
                </p:nvSpPr>
                <p:spPr bwMode="auto">
                  <a:xfrm>
                    <a:off x="1013"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5" name="Group 2257"/>
                <p:cNvGrpSpPr>
                  <a:grpSpLocks/>
                </p:cNvGrpSpPr>
                <p:nvPr/>
              </p:nvGrpSpPr>
              <p:grpSpPr bwMode="auto">
                <a:xfrm>
                  <a:off x="1018" y="3740"/>
                  <a:ext cx="49" cy="22"/>
                  <a:chOff x="1018" y="3740"/>
                  <a:chExt cx="49" cy="22"/>
                </a:xfrm>
              </p:grpSpPr>
              <p:sp>
                <p:nvSpPr>
                  <p:cNvPr id="3129" name="Freeform 2258"/>
                  <p:cNvSpPr>
                    <a:spLocks/>
                  </p:cNvSpPr>
                  <p:nvPr/>
                </p:nvSpPr>
                <p:spPr bwMode="auto">
                  <a:xfrm>
                    <a:off x="1018" y="374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0" name="Freeform 2259"/>
                  <p:cNvSpPr>
                    <a:spLocks/>
                  </p:cNvSpPr>
                  <p:nvPr/>
                </p:nvSpPr>
                <p:spPr bwMode="auto">
                  <a:xfrm>
                    <a:off x="1022" y="3740"/>
                    <a:ext cx="38"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49" y="0"/>
                        </a:lnTo>
                        <a:lnTo>
                          <a:pt x="51" y="4"/>
                        </a:lnTo>
                        <a:lnTo>
                          <a:pt x="57"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31" name="Freeform 2260"/>
                  <p:cNvSpPr>
                    <a:spLocks/>
                  </p:cNvSpPr>
                  <p:nvPr/>
                </p:nvSpPr>
                <p:spPr bwMode="auto">
                  <a:xfrm>
                    <a:off x="1026" y="3750"/>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1"/>
                        </a:lnTo>
                        <a:lnTo>
                          <a:pt x="6"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66" name="Group 2261"/>
                <p:cNvGrpSpPr>
                  <a:grpSpLocks/>
                </p:cNvGrpSpPr>
                <p:nvPr/>
              </p:nvGrpSpPr>
              <p:grpSpPr bwMode="auto">
                <a:xfrm>
                  <a:off x="1030" y="3753"/>
                  <a:ext cx="49" cy="23"/>
                  <a:chOff x="1030" y="3753"/>
                  <a:chExt cx="49" cy="23"/>
                </a:xfrm>
              </p:grpSpPr>
              <p:sp>
                <p:nvSpPr>
                  <p:cNvPr id="3126" name="Freeform 2262"/>
                  <p:cNvSpPr>
                    <a:spLocks/>
                  </p:cNvSpPr>
                  <p:nvPr/>
                </p:nvSpPr>
                <p:spPr bwMode="auto">
                  <a:xfrm>
                    <a:off x="1030" y="375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2"/>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7" name="Freeform 2263"/>
                  <p:cNvSpPr>
                    <a:spLocks/>
                  </p:cNvSpPr>
                  <p:nvPr/>
                </p:nvSpPr>
                <p:spPr bwMode="auto">
                  <a:xfrm>
                    <a:off x="1035" y="3753"/>
                    <a:ext cx="37" cy="11"/>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2" y="0"/>
                        </a:moveTo>
                        <a:lnTo>
                          <a:pt x="51" y="0"/>
                        </a:lnTo>
                        <a:lnTo>
                          <a:pt x="52" y="4"/>
                        </a:lnTo>
                        <a:lnTo>
                          <a:pt x="56" y="13"/>
                        </a:lnTo>
                        <a:lnTo>
                          <a:pt x="74" y="31"/>
                        </a:lnTo>
                        <a:lnTo>
                          <a:pt x="18" y="31"/>
                        </a:lnTo>
                        <a:lnTo>
                          <a:pt x="10" y="22"/>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8" name="Freeform 2264"/>
                  <p:cNvSpPr>
                    <a:spLocks/>
                  </p:cNvSpPr>
                  <p:nvPr/>
                </p:nvSpPr>
                <p:spPr bwMode="auto">
                  <a:xfrm>
                    <a:off x="1039" y="3764"/>
                    <a:ext cx="40" cy="12"/>
                  </a:xfrm>
                  <a:custGeom>
                    <a:avLst/>
                    <a:gdLst>
                      <a:gd name="T0" fmla="*/ 0 w 82"/>
                      <a:gd name="T1" fmla="*/ 0 h 35"/>
                      <a:gd name="T2" fmla="*/ 0 w 82"/>
                      <a:gd name="T3" fmla="*/ 0 h 35"/>
                      <a:gd name="T4" fmla="*/ 0 w 82"/>
                      <a:gd name="T5" fmla="*/ 0 h 35"/>
                      <a:gd name="T6" fmla="*/ 0 w 82"/>
                      <a:gd name="T7" fmla="*/ 0 h 35"/>
                      <a:gd name="T8" fmla="*/ 0 w 82"/>
                      <a:gd name="T9" fmla="*/ 0 h 35"/>
                      <a:gd name="T10" fmla="*/ 0 w 82"/>
                      <a:gd name="T11" fmla="*/ 0 h 35"/>
                      <a:gd name="T12" fmla="*/ 0 w 82"/>
                      <a:gd name="T13" fmla="*/ 0 h 35"/>
                      <a:gd name="T14" fmla="*/ 0 60000 65536"/>
                      <a:gd name="T15" fmla="*/ 0 60000 65536"/>
                      <a:gd name="T16" fmla="*/ 0 60000 65536"/>
                      <a:gd name="T17" fmla="*/ 0 60000 65536"/>
                      <a:gd name="T18" fmla="*/ 0 60000 65536"/>
                      <a:gd name="T19" fmla="*/ 0 60000 65536"/>
                      <a:gd name="T20" fmla="*/ 0 60000 65536"/>
                      <a:gd name="T21" fmla="*/ 0 w 82"/>
                      <a:gd name="T22" fmla="*/ 0 h 35"/>
                      <a:gd name="T23" fmla="*/ 82 w 82"/>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5">
                        <a:moveTo>
                          <a:pt x="0" y="35"/>
                        </a:moveTo>
                        <a:lnTo>
                          <a:pt x="2" y="19"/>
                        </a:lnTo>
                        <a:lnTo>
                          <a:pt x="7" y="7"/>
                        </a:lnTo>
                        <a:lnTo>
                          <a:pt x="11" y="0"/>
                        </a:lnTo>
                        <a:lnTo>
                          <a:pt x="67" y="0"/>
                        </a:lnTo>
                        <a:lnTo>
                          <a:pt x="82"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67" name="Freeform 2265"/>
                <p:cNvSpPr>
                  <a:spLocks/>
                </p:cNvSpPr>
                <p:nvPr/>
              </p:nvSpPr>
              <p:spPr bwMode="auto">
                <a:xfrm>
                  <a:off x="778" y="353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3" y="68"/>
                      </a:moveTo>
                      <a:lnTo>
                        <a:pt x="0" y="27"/>
                      </a:lnTo>
                      <a:lnTo>
                        <a:pt x="9" y="0"/>
                      </a:lnTo>
                      <a:lnTo>
                        <a:pt x="24"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8" name="Freeform 2266"/>
                <p:cNvSpPr>
                  <a:spLocks/>
                </p:cNvSpPr>
                <p:nvPr/>
              </p:nvSpPr>
              <p:spPr bwMode="auto">
                <a:xfrm>
                  <a:off x="783" y="3535"/>
                  <a:ext cx="36" cy="11"/>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50" y="0"/>
                      </a:lnTo>
                      <a:lnTo>
                        <a:pt x="51" y="4"/>
                      </a:lnTo>
                      <a:lnTo>
                        <a:pt x="57" y="13"/>
                      </a:lnTo>
                      <a:lnTo>
                        <a:pt x="72" y="31"/>
                      </a:lnTo>
                      <a:lnTo>
                        <a:pt x="18" y="31"/>
                      </a:lnTo>
                      <a:lnTo>
                        <a:pt x="9" y="22"/>
                      </a:lnTo>
                      <a:lnTo>
                        <a:pt x="0" y="7"/>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69" name="Freeform 2267"/>
                <p:cNvSpPr>
                  <a:spLocks/>
                </p:cNvSpPr>
                <p:nvPr/>
              </p:nvSpPr>
              <p:spPr bwMode="auto">
                <a:xfrm>
                  <a:off x="786" y="3546"/>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3" y="21"/>
                      </a:lnTo>
                      <a:lnTo>
                        <a:pt x="7" y="8"/>
                      </a:lnTo>
                      <a:lnTo>
                        <a:pt x="12"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870" name="Group 2268"/>
                <p:cNvGrpSpPr>
                  <a:grpSpLocks/>
                </p:cNvGrpSpPr>
                <p:nvPr/>
              </p:nvGrpSpPr>
              <p:grpSpPr bwMode="auto">
                <a:xfrm>
                  <a:off x="790" y="3547"/>
                  <a:ext cx="49" cy="23"/>
                  <a:chOff x="790" y="3547"/>
                  <a:chExt cx="49" cy="23"/>
                </a:xfrm>
              </p:grpSpPr>
              <p:sp>
                <p:nvSpPr>
                  <p:cNvPr id="3123" name="Freeform 2269"/>
                  <p:cNvSpPr>
                    <a:spLocks/>
                  </p:cNvSpPr>
                  <p:nvPr/>
                </p:nvSpPr>
                <p:spPr bwMode="auto">
                  <a:xfrm>
                    <a:off x="790" y="3547"/>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4" name="Freeform 2270"/>
                  <p:cNvSpPr>
                    <a:spLocks/>
                  </p:cNvSpPr>
                  <p:nvPr/>
                </p:nvSpPr>
                <p:spPr bwMode="auto">
                  <a:xfrm>
                    <a:off x="795" y="3548"/>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48" y="0"/>
                        </a:lnTo>
                        <a:lnTo>
                          <a:pt x="50"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5" name="Freeform 2271"/>
                  <p:cNvSpPr>
                    <a:spLocks/>
                  </p:cNvSpPr>
                  <p:nvPr/>
                </p:nvSpPr>
                <p:spPr bwMode="auto">
                  <a:xfrm>
                    <a:off x="798" y="355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7" y="8"/>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1" name="Group 2272"/>
                <p:cNvGrpSpPr>
                  <a:grpSpLocks/>
                </p:cNvGrpSpPr>
                <p:nvPr/>
              </p:nvGrpSpPr>
              <p:grpSpPr bwMode="auto">
                <a:xfrm>
                  <a:off x="803" y="3560"/>
                  <a:ext cx="49" cy="22"/>
                  <a:chOff x="803" y="3560"/>
                  <a:chExt cx="49" cy="22"/>
                </a:xfrm>
              </p:grpSpPr>
              <p:sp>
                <p:nvSpPr>
                  <p:cNvPr id="3120" name="Freeform 2273"/>
                  <p:cNvSpPr>
                    <a:spLocks/>
                  </p:cNvSpPr>
                  <p:nvPr/>
                </p:nvSpPr>
                <p:spPr bwMode="auto">
                  <a:xfrm>
                    <a:off x="803" y="3560"/>
                    <a:ext cx="12" cy="22"/>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10"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1" name="Freeform 2274"/>
                  <p:cNvSpPr>
                    <a:spLocks/>
                  </p:cNvSpPr>
                  <p:nvPr/>
                </p:nvSpPr>
                <p:spPr bwMode="auto">
                  <a:xfrm>
                    <a:off x="808" y="356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49" y="0"/>
                        </a:lnTo>
                        <a:lnTo>
                          <a:pt x="50" y="2"/>
                        </a:lnTo>
                        <a:lnTo>
                          <a:pt x="57" y="11"/>
                        </a:lnTo>
                        <a:lnTo>
                          <a:pt x="72"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22" name="Freeform 2275"/>
                  <p:cNvSpPr>
                    <a:spLocks/>
                  </p:cNvSpPr>
                  <p:nvPr/>
                </p:nvSpPr>
                <p:spPr bwMode="auto">
                  <a:xfrm>
                    <a:off x="811" y="3571"/>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3" y="19"/>
                        </a:lnTo>
                        <a:lnTo>
                          <a:pt x="7" y="7"/>
                        </a:lnTo>
                        <a:lnTo>
                          <a:pt x="12"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2" name="Group 2276"/>
                <p:cNvGrpSpPr>
                  <a:grpSpLocks/>
                </p:cNvGrpSpPr>
                <p:nvPr/>
              </p:nvGrpSpPr>
              <p:grpSpPr bwMode="auto">
                <a:xfrm>
                  <a:off x="815" y="3572"/>
                  <a:ext cx="50" cy="23"/>
                  <a:chOff x="815" y="3572"/>
                  <a:chExt cx="50" cy="23"/>
                </a:xfrm>
              </p:grpSpPr>
              <p:sp>
                <p:nvSpPr>
                  <p:cNvPr id="3117" name="Freeform 2277"/>
                  <p:cNvSpPr>
                    <a:spLocks/>
                  </p:cNvSpPr>
                  <p:nvPr/>
                </p:nvSpPr>
                <p:spPr bwMode="auto">
                  <a:xfrm>
                    <a:off x="815" y="3572"/>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0"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8" name="Freeform 2278"/>
                  <p:cNvSpPr>
                    <a:spLocks/>
                  </p:cNvSpPr>
                  <p:nvPr/>
                </p:nvSpPr>
                <p:spPr bwMode="auto">
                  <a:xfrm>
                    <a:off x="820" y="3573"/>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2"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9" name="Freeform 2279"/>
                  <p:cNvSpPr>
                    <a:spLocks/>
                  </p:cNvSpPr>
                  <p:nvPr/>
                </p:nvSpPr>
                <p:spPr bwMode="auto">
                  <a:xfrm>
                    <a:off x="824" y="3583"/>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6" y="7"/>
                        </a:lnTo>
                        <a:lnTo>
                          <a:pt x="10"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3" name="Group 2280"/>
                <p:cNvGrpSpPr>
                  <a:grpSpLocks/>
                </p:cNvGrpSpPr>
                <p:nvPr/>
              </p:nvGrpSpPr>
              <p:grpSpPr bwMode="auto">
                <a:xfrm>
                  <a:off x="828" y="3585"/>
                  <a:ext cx="49" cy="23"/>
                  <a:chOff x="828" y="3585"/>
                  <a:chExt cx="49" cy="23"/>
                </a:xfrm>
              </p:grpSpPr>
              <p:sp>
                <p:nvSpPr>
                  <p:cNvPr id="3114" name="Freeform 2281"/>
                  <p:cNvSpPr>
                    <a:spLocks/>
                  </p:cNvSpPr>
                  <p:nvPr/>
                </p:nvSpPr>
                <p:spPr bwMode="auto">
                  <a:xfrm>
                    <a:off x="828" y="358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6"/>
                        </a:lnTo>
                        <a:lnTo>
                          <a:pt x="9"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5" name="Freeform 2282"/>
                  <p:cNvSpPr>
                    <a:spLocks/>
                  </p:cNvSpPr>
                  <p:nvPr/>
                </p:nvSpPr>
                <p:spPr bwMode="auto">
                  <a:xfrm>
                    <a:off x="833" y="3586"/>
                    <a:ext cx="37" cy="10"/>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7" y="11"/>
                        </a:lnTo>
                        <a:lnTo>
                          <a:pt x="75" y="29"/>
                        </a:lnTo>
                        <a:lnTo>
                          <a:pt x="18"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6" name="Freeform 2283"/>
                  <p:cNvSpPr>
                    <a:spLocks/>
                  </p:cNvSpPr>
                  <p:nvPr/>
                </p:nvSpPr>
                <p:spPr bwMode="auto">
                  <a:xfrm>
                    <a:off x="837" y="3596"/>
                    <a:ext cx="40" cy="12"/>
                  </a:xfrm>
                  <a:custGeom>
                    <a:avLst/>
                    <a:gdLst>
                      <a:gd name="T0" fmla="*/ 0 w 80"/>
                      <a:gd name="T1" fmla="*/ 0 h 36"/>
                      <a:gd name="T2" fmla="*/ 1 w 80"/>
                      <a:gd name="T3" fmla="*/ 0 h 36"/>
                      <a:gd name="T4" fmla="*/ 1 w 80"/>
                      <a:gd name="T5" fmla="*/ 0 h 36"/>
                      <a:gd name="T6" fmla="*/ 1 w 80"/>
                      <a:gd name="T7" fmla="*/ 0 h 36"/>
                      <a:gd name="T8" fmla="*/ 1 w 80"/>
                      <a:gd name="T9" fmla="*/ 0 h 36"/>
                      <a:gd name="T10" fmla="*/ 1 w 80"/>
                      <a:gd name="T11" fmla="*/ 0 h 36"/>
                      <a:gd name="T12" fmla="*/ 0 w 80"/>
                      <a:gd name="T13" fmla="*/ 0 h 36"/>
                      <a:gd name="T14" fmla="*/ 0 60000 65536"/>
                      <a:gd name="T15" fmla="*/ 0 60000 65536"/>
                      <a:gd name="T16" fmla="*/ 0 60000 65536"/>
                      <a:gd name="T17" fmla="*/ 0 60000 65536"/>
                      <a:gd name="T18" fmla="*/ 0 60000 65536"/>
                      <a:gd name="T19" fmla="*/ 0 60000 65536"/>
                      <a:gd name="T20" fmla="*/ 0 60000 65536"/>
                      <a:gd name="T21" fmla="*/ 0 w 80"/>
                      <a:gd name="T22" fmla="*/ 0 h 36"/>
                      <a:gd name="T23" fmla="*/ 80 w 8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0" h="36">
                        <a:moveTo>
                          <a:pt x="0" y="36"/>
                        </a:moveTo>
                        <a:lnTo>
                          <a:pt x="1" y="20"/>
                        </a:lnTo>
                        <a:lnTo>
                          <a:pt x="5" y="8"/>
                        </a:lnTo>
                        <a:lnTo>
                          <a:pt x="10" y="0"/>
                        </a:lnTo>
                        <a:lnTo>
                          <a:pt x="67" y="0"/>
                        </a:lnTo>
                        <a:lnTo>
                          <a:pt x="80"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4" name="Group 2284"/>
                <p:cNvGrpSpPr>
                  <a:grpSpLocks/>
                </p:cNvGrpSpPr>
                <p:nvPr/>
              </p:nvGrpSpPr>
              <p:grpSpPr bwMode="auto">
                <a:xfrm>
                  <a:off x="840" y="3600"/>
                  <a:ext cx="100" cy="73"/>
                  <a:chOff x="840" y="3600"/>
                  <a:chExt cx="100" cy="73"/>
                </a:xfrm>
              </p:grpSpPr>
              <p:grpSp>
                <p:nvGrpSpPr>
                  <p:cNvPr id="3094" name="Group 2285"/>
                  <p:cNvGrpSpPr>
                    <a:grpSpLocks/>
                  </p:cNvGrpSpPr>
                  <p:nvPr/>
                </p:nvGrpSpPr>
                <p:grpSpPr bwMode="auto">
                  <a:xfrm>
                    <a:off x="840" y="3600"/>
                    <a:ext cx="49" cy="23"/>
                    <a:chOff x="840" y="3600"/>
                    <a:chExt cx="49" cy="23"/>
                  </a:xfrm>
                </p:grpSpPr>
                <p:sp>
                  <p:nvSpPr>
                    <p:cNvPr id="3111" name="Freeform 2286"/>
                    <p:cNvSpPr>
                      <a:spLocks/>
                    </p:cNvSpPr>
                    <p:nvPr/>
                  </p:nvSpPr>
                  <p:spPr bwMode="auto">
                    <a:xfrm>
                      <a:off x="840" y="3600"/>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5" y="70"/>
                          </a:moveTo>
                          <a:lnTo>
                            <a:pt x="0" y="27"/>
                          </a:lnTo>
                          <a:lnTo>
                            <a:pt x="10" y="0"/>
                          </a:lnTo>
                          <a:lnTo>
                            <a:pt x="25" y="31"/>
                          </a:lnTo>
                          <a:lnTo>
                            <a:pt x="15"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2" name="Freeform 2287"/>
                    <p:cNvSpPr>
                      <a:spLocks/>
                    </p:cNvSpPr>
                    <p:nvPr/>
                  </p:nvSpPr>
                  <p:spPr bwMode="auto">
                    <a:xfrm>
                      <a:off x="845" y="3600"/>
                      <a:ext cx="37" cy="11"/>
                    </a:xfrm>
                    <a:custGeom>
                      <a:avLst/>
                      <a:gdLst>
                        <a:gd name="T0" fmla="*/ 0 w 75"/>
                        <a:gd name="T1" fmla="*/ 0 h 31"/>
                        <a:gd name="T2" fmla="*/ 0 w 75"/>
                        <a:gd name="T3" fmla="*/ 0 h 31"/>
                        <a:gd name="T4" fmla="*/ 0 w 75"/>
                        <a:gd name="T5" fmla="*/ 0 h 31"/>
                        <a:gd name="T6" fmla="*/ 0 w 75"/>
                        <a:gd name="T7" fmla="*/ 0 h 31"/>
                        <a:gd name="T8" fmla="*/ 0 w 75"/>
                        <a:gd name="T9" fmla="*/ 0 h 31"/>
                        <a:gd name="T10" fmla="*/ 0 w 75"/>
                        <a:gd name="T11" fmla="*/ 0 h 31"/>
                        <a:gd name="T12" fmla="*/ 0 w 75"/>
                        <a:gd name="T13" fmla="*/ 0 h 31"/>
                        <a:gd name="T14" fmla="*/ 0 w 75"/>
                        <a:gd name="T15" fmla="*/ 0 h 31"/>
                        <a:gd name="T16" fmla="*/ 0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2"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3" name="Freeform 2288"/>
                    <p:cNvSpPr>
                      <a:spLocks/>
                    </p:cNvSpPr>
                    <p:nvPr/>
                  </p:nvSpPr>
                  <p:spPr bwMode="auto">
                    <a:xfrm>
                      <a:off x="848" y="3611"/>
                      <a:ext cx="41" cy="12"/>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8"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5" name="Group 2289"/>
                  <p:cNvGrpSpPr>
                    <a:grpSpLocks/>
                  </p:cNvGrpSpPr>
                  <p:nvPr/>
                </p:nvGrpSpPr>
                <p:grpSpPr bwMode="auto">
                  <a:xfrm>
                    <a:off x="853" y="3612"/>
                    <a:ext cx="48" cy="23"/>
                    <a:chOff x="853" y="3612"/>
                    <a:chExt cx="48" cy="23"/>
                  </a:xfrm>
                </p:grpSpPr>
                <p:sp>
                  <p:nvSpPr>
                    <p:cNvPr id="3108" name="Freeform 2290"/>
                    <p:cNvSpPr>
                      <a:spLocks/>
                    </p:cNvSpPr>
                    <p:nvPr/>
                  </p:nvSpPr>
                  <p:spPr bwMode="auto">
                    <a:xfrm>
                      <a:off x="853"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4" y="69"/>
                          </a:moveTo>
                          <a:lnTo>
                            <a:pt x="0" y="28"/>
                          </a:lnTo>
                          <a:lnTo>
                            <a:pt x="10" y="0"/>
                          </a:lnTo>
                          <a:lnTo>
                            <a:pt x="25" y="32"/>
                          </a:lnTo>
                          <a:lnTo>
                            <a:pt x="14"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9" name="Freeform 2291"/>
                    <p:cNvSpPr>
                      <a:spLocks/>
                    </p:cNvSpPr>
                    <p:nvPr/>
                  </p:nvSpPr>
                  <p:spPr bwMode="auto">
                    <a:xfrm>
                      <a:off x="857" y="3613"/>
                      <a:ext cx="37" cy="10"/>
                    </a:xfrm>
                    <a:custGeom>
                      <a:avLst/>
                      <a:gdLst>
                        <a:gd name="T0" fmla="*/ 1 w 73"/>
                        <a:gd name="T1" fmla="*/ 0 h 32"/>
                        <a:gd name="T2" fmla="*/ 1 w 73"/>
                        <a:gd name="T3" fmla="*/ 0 h 32"/>
                        <a:gd name="T4" fmla="*/ 1 w 73"/>
                        <a:gd name="T5" fmla="*/ 0 h 32"/>
                        <a:gd name="T6" fmla="*/ 1 w 73"/>
                        <a:gd name="T7" fmla="*/ 0 h 32"/>
                        <a:gd name="T8" fmla="*/ 1 w 73"/>
                        <a:gd name="T9" fmla="*/ 0 h 32"/>
                        <a:gd name="T10" fmla="*/ 1 w 73"/>
                        <a:gd name="T11" fmla="*/ 0 h 32"/>
                        <a:gd name="T12" fmla="*/ 1 w 73"/>
                        <a:gd name="T13" fmla="*/ 0 h 32"/>
                        <a:gd name="T14" fmla="*/ 0 w 73"/>
                        <a:gd name="T15" fmla="*/ 0 h 32"/>
                        <a:gd name="T16" fmla="*/ 1 w 73"/>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2"/>
                        <a:gd name="T29" fmla="*/ 73 w 73"/>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2">
                          <a:moveTo>
                            <a:pt x="1" y="0"/>
                          </a:moveTo>
                          <a:lnTo>
                            <a:pt x="50" y="0"/>
                          </a:lnTo>
                          <a:lnTo>
                            <a:pt x="51" y="3"/>
                          </a:lnTo>
                          <a:lnTo>
                            <a:pt x="56" y="15"/>
                          </a:lnTo>
                          <a:lnTo>
                            <a:pt x="73" y="32"/>
                          </a:lnTo>
                          <a:lnTo>
                            <a:pt x="18" y="32"/>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10" name="Freeform 2292"/>
                    <p:cNvSpPr>
                      <a:spLocks/>
                    </p:cNvSpPr>
                    <p:nvPr/>
                  </p:nvSpPr>
                  <p:spPr bwMode="auto">
                    <a:xfrm>
                      <a:off x="860" y="362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6" y="8"/>
                          </a:lnTo>
                          <a:lnTo>
                            <a:pt x="13"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6" name="Group 2293"/>
                  <p:cNvGrpSpPr>
                    <a:grpSpLocks/>
                  </p:cNvGrpSpPr>
                  <p:nvPr/>
                </p:nvGrpSpPr>
                <p:grpSpPr bwMode="auto">
                  <a:xfrm>
                    <a:off x="865" y="3625"/>
                    <a:ext cx="49" cy="23"/>
                    <a:chOff x="865" y="3625"/>
                    <a:chExt cx="49" cy="23"/>
                  </a:xfrm>
                </p:grpSpPr>
                <p:sp>
                  <p:nvSpPr>
                    <p:cNvPr id="3105" name="Freeform 2294"/>
                    <p:cNvSpPr>
                      <a:spLocks/>
                    </p:cNvSpPr>
                    <p:nvPr/>
                  </p:nvSpPr>
                  <p:spPr bwMode="auto">
                    <a:xfrm>
                      <a:off x="865" y="3625"/>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6" name="Freeform 2295"/>
                    <p:cNvSpPr>
                      <a:spLocks/>
                    </p:cNvSpPr>
                    <p:nvPr/>
                  </p:nvSpPr>
                  <p:spPr bwMode="auto">
                    <a:xfrm>
                      <a:off x="870"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2"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7" name="Freeform 2296"/>
                    <p:cNvSpPr>
                      <a:spLocks/>
                    </p:cNvSpPr>
                    <p:nvPr/>
                  </p:nvSpPr>
                  <p:spPr bwMode="auto">
                    <a:xfrm>
                      <a:off x="873" y="363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7" name="Group 2297"/>
                  <p:cNvGrpSpPr>
                    <a:grpSpLocks/>
                  </p:cNvGrpSpPr>
                  <p:nvPr/>
                </p:nvGrpSpPr>
                <p:grpSpPr bwMode="auto">
                  <a:xfrm>
                    <a:off x="878" y="3638"/>
                    <a:ext cx="49" cy="22"/>
                    <a:chOff x="878" y="3638"/>
                    <a:chExt cx="49" cy="22"/>
                  </a:xfrm>
                </p:grpSpPr>
                <p:sp>
                  <p:nvSpPr>
                    <p:cNvPr id="3102" name="Freeform 2298"/>
                    <p:cNvSpPr>
                      <a:spLocks/>
                    </p:cNvSpPr>
                    <p:nvPr/>
                  </p:nvSpPr>
                  <p:spPr bwMode="auto">
                    <a:xfrm>
                      <a:off x="878"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3" name="Freeform 2299"/>
                    <p:cNvSpPr>
                      <a:spLocks/>
                    </p:cNvSpPr>
                    <p:nvPr/>
                  </p:nvSpPr>
                  <p:spPr bwMode="auto">
                    <a:xfrm>
                      <a:off x="883"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6" y="12"/>
                          </a:lnTo>
                          <a:lnTo>
                            <a:pt x="72"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4" name="Freeform 2300"/>
                    <p:cNvSpPr>
                      <a:spLocks/>
                    </p:cNvSpPr>
                    <p:nvPr/>
                  </p:nvSpPr>
                  <p:spPr bwMode="auto">
                    <a:xfrm>
                      <a:off x="886" y="3648"/>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8"/>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98" name="Group 2301"/>
                  <p:cNvGrpSpPr>
                    <a:grpSpLocks/>
                  </p:cNvGrpSpPr>
                  <p:nvPr/>
                </p:nvGrpSpPr>
                <p:grpSpPr bwMode="auto">
                  <a:xfrm>
                    <a:off x="890" y="3651"/>
                    <a:ext cx="50" cy="22"/>
                    <a:chOff x="890" y="3651"/>
                    <a:chExt cx="50" cy="22"/>
                  </a:xfrm>
                </p:grpSpPr>
                <p:sp>
                  <p:nvSpPr>
                    <p:cNvPr id="3099" name="Freeform 2302"/>
                    <p:cNvSpPr>
                      <a:spLocks/>
                    </p:cNvSpPr>
                    <p:nvPr/>
                  </p:nvSpPr>
                  <p:spPr bwMode="auto">
                    <a:xfrm>
                      <a:off x="890" y="3651"/>
                      <a:ext cx="13" cy="22"/>
                    </a:xfrm>
                    <a:custGeom>
                      <a:avLst/>
                      <a:gdLst>
                        <a:gd name="T0" fmla="*/ 1 w 25"/>
                        <a:gd name="T1" fmla="*/ 0 h 67"/>
                        <a:gd name="T2" fmla="*/ 0 w 25"/>
                        <a:gd name="T3" fmla="*/ 0 h 67"/>
                        <a:gd name="T4" fmla="*/ 1 w 25"/>
                        <a:gd name="T5" fmla="*/ 0 h 67"/>
                        <a:gd name="T6" fmla="*/ 1 w 25"/>
                        <a:gd name="T7" fmla="*/ 0 h 67"/>
                        <a:gd name="T8" fmla="*/ 1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6" y="67"/>
                          </a:moveTo>
                          <a:lnTo>
                            <a:pt x="0" y="26"/>
                          </a:lnTo>
                          <a:lnTo>
                            <a:pt x="12" y="0"/>
                          </a:lnTo>
                          <a:lnTo>
                            <a:pt x="25" y="30"/>
                          </a:lnTo>
                          <a:lnTo>
                            <a:pt x="16"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0" name="Freeform 2303"/>
                    <p:cNvSpPr>
                      <a:spLocks/>
                    </p:cNvSpPr>
                    <p:nvPr/>
                  </p:nvSpPr>
                  <p:spPr bwMode="auto">
                    <a:xfrm>
                      <a:off x="895" y="3651"/>
                      <a:ext cx="37" cy="10"/>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8" y="0"/>
                          </a:lnTo>
                          <a:lnTo>
                            <a:pt x="51" y="2"/>
                          </a:lnTo>
                          <a:lnTo>
                            <a:pt x="56" y="11"/>
                          </a:lnTo>
                          <a:lnTo>
                            <a:pt x="73" y="29"/>
                          </a:lnTo>
                          <a:lnTo>
                            <a:pt x="18" y="29"/>
                          </a:lnTo>
                          <a:lnTo>
                            <a:pt x="9"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101" name="Freeform 2304"/>
                    <p:cNvSpPr>
                      <a:spLocks/>
                    </p:cNvSpPr>
                    <p:nvPr/>
                  </p:nvSpPr>
                  <p:spPr bwMode="auto">
                    <a:xfrm>
                      <a:off x="899" y="3662"/>
                      <a:ext cx="41" cy="11"/>
                    </a:xfrm>
                    <a:custGeom>
                      <a:avLst/>
                      <a:gdLst>
                        <a:gd name="T0" fmla="*/ 0 w 83"/>
                        <a:gd name="T1" fmla="*/ 0 h 35"/>
                        <a:gd name="T2" fmla="*/ 0 w 83"/>
                        <a:gd name="T3" fmla="*/ 0 h 35"/>
                        <a:gd name="T4" fmla="*/ 0 w 83"/>
                        <a:gd name="T5" fmla="*/ 0 h 35"/>
                        <a:gd name="T6" fmla="*/ 0 w 83"/>
                        <a:gd name="T7" fmla="*/ 0 h 35"/>
                        <a:gd name="T8" fmla="*/ 0 w 83"/>
                        <a:gd name="T9" fmla="*/ 0 h 35"/>
                        <a:gd name="T10" fmla="*/ 0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7"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5" name="Group 2305"/>
                <p:cNvGrpSpPr>
                  <a:grpSpLocks/>
                </p:cNvGrpSpPr>
                <p:nvPr/>
              </p:nvGrpSpPr>
              <p:grpSpPr bwMode="auto">
                <a:xfrm>
                  <a:off x="903" y="3665"/>
                  <a:ext cx="99" cy="74"/>
                  <a:chOff x="903" y="3665"/>
                  <a:chExt cx="99" cy="74"/>
                </a:xfrm>
              </p:grpSpPr>
              <p:grpSp>
                <p:nvGrpSpPr>
                  <p:cNvPr id="3074" name="Group 2306"/>
                  <p:cNvGrpSpPr>
                    <a:grpSpLocks/>
                  </p:cNvGrpSpPr>
                  <p:nvPr/>
                </p:nvGrpSpPr>
                <p:grpSpPr bwMode="auto">
                  <a:xfrm>
                    <a:off x="903" y="3665"/>
                    <a:ext cx="49" cy="23"/>
                    <a:chOff x="903" y="3665"/>
                    <a:chExt cx="49" cy="23"/>
                  </a:xfrm>
                </p:grpSpPr>
                <p:sp>
                  <p:nvSpPr>
                    <p:cNvPr id="3091" name="Freeform 2307"/>
                    <p:cNvSpPr>
                      <a:spLocks/>
                    </p:cNvSpPr>
                    <p:nvPr/>
                  </p:nvSpPr>
                  <p:spPr bwMode="auto">
                    <a:xfrm>
                      <a:off x="903"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0"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2" name="Freeform 2308"/>
                    <p:cNvSpPr>
                      <a:spLocks/>
                    </p:cNvSpPr>
                    <p:nvPr/>
                  </p:nvSpPr>
                  <p:spPr bwMode="auto">
                    <a:xfrm>
                      <a:off x="907" y="3666"/>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9" y="0"/>
                          </a:lnTo>
                          <a:lnTo>
                            <a:pt x="51" y="4"/>
                          </a:lnTo>
                          <a:lnTo>
                            <a:pt x="56" y="13"/>
                          </a:lnTo>
                          <a:lnTo>
                            <a:pt x="73" y="31"/>
                          </a:lnTo>
                          <a:lnTo>
                            <a:pt x="18" y="31"/>
                          </a:lnTo>
                          <a:lnTo>
                            <a:pt x="10"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3" name="Freeform 2309"/>
                    <p:cNvSpPr>
                      <a:spLocks/>
                    </p:cNvSpPr>
                    <p:nvPr/>
                  </p:nvSpPr>
                  <p:spPr bwMode="auto">
                    <a:xfrm>
                      <a:off x="911" y="3676"/>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6"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5" name="Group 2310"/>
                  <p:cNvGrpSpPr>
                    <a:grpSpLocks/>
                  </p:cNvGrpSpPr>
                  <p:nvPr/>
                </p:nvGrpSpPr>
                <p:grpSpPr bwMode="auto">
                  <a:xfrm>
                    <a:off x="914" y="3678"/>
                    <a:ext cx="49" cy="23"/>
                    <a:chOff x="914" y="3678"/>
                    <a:chExt cx="49" cy="23"/>
                  </a:xfrm>
                </p:grpSpPr>
                <p:sp>
                  <p:nvSpPr>
                    <p:cNvPr id="3088" name="Freeform 2311"/>
                    <p:cNvSpPr>
                      <a:spLocks/>
                    </p:cNvSpPr>
                    <p:nvPr/>
                  </p:nvSpPr>
                  <p:spPr bwMode="auto">
                    <a:xfrm>
                      <a:off x="914"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9" name="Freeform 2312"/>
                    <p:cNvSpPr>
                      <a:spLocks/>
                    </p:cNvSpPr>
                    <p:nvPr/>
                  </p:nvSpPr>
                  <p:spPr bwMode="auto">
                    <a:xfrm>
                      <a:off x="919" y="3678"/>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7" y="12"/>
                          </a:lnTo>
                          <a:lnTo>
                            <a:pt x="75" y="30"/>
                          </a:lnTo>
                          <a:lnTo>
                            <a:pt x="19" y="30"/>
                          </a:lnTo>
                          <a:lnTo>
                            <a:pt x="11"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90" name="Freeform 2313"/>
                    <p:cNvSpPr>
                      <a:spLocks/>
                    </p:cNvSpPr>
                    <p:nvPr/>
                  </p:nvSpPr>
                  <p:spPr bwMode="auto">
                    <a:xfrm>
                      <a:off x="922" y="3688"/>
                      <a:ext cx="41" cy="13"/>
                    </a:xfrm>
                    <a:custGeom>
                      <a:avLst/>
                      <a:gdLst>
                        <a:gd name="T0" fmla="*/ 0 w 81"/>
                        <a:gd name="T1" fmla="*/ 0 h 38"/>
                        <a:gd name="T2" fmla="*/ 1 w 81"/>
                        <a:gd name="T3" fmla="*/ 0 h 38"/>
                        <a:gd name="T4" fmla="*/ 1 w 81"/>
                        <a:gd name="T5" fmla="*/ 0 h 38"/>
                        <a:gd name="T6" fmla="*/ 1 w 81"/>
                        <a:gd name="T7" fmla="*/ 0 h 38"/>
                        <a:gd name="T8" fmla="*/ 1 w 81"/>
                        <a:gd name="T9" fmla="*/ 0 h 38"/>
                        <a:gd name="T10" fmla="*/ 1 w 81"/>
                        <a:gd name="T11" fmla="*/ 0 h 38"/>
                        <a:gd name="T12" fmla="*/ 0 w 81"/>
                        <a:gd name="T13" fmla="*/ 0 h 38"/>
                        <a:gd name="T14" fmla="*/ 0 60000 65536"/>
                        <a:gd name="T15" fmla="*/ 0 60000 65536"/>
                        <a:gd name="T16" fmla="*/ 0 60000 65536"/>
                        <a:gd name="T17" fmla="*/ 0 60000 65536"/>
                        <a:gd name="T18" fmla="*/ 0 60000 65536"/>
                        <a:gd name="T19" fmla="*/ 0 60000 65536"/>
                        <a:gd name="T20" fmla="*/ 0 60000 65536"/>
                        <a:gd name="T21" fmla="*/ 0 w 81"/>
                        <a:gd name="T22" fmla="*/ 0 h 38"/>
                        <a:gd name="T23" fmla="*/ 81 w 81"/>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8">
                          <a:moveTo>
                            <a:pt x="0" y="38"/>
                          </a:moveTo>
                          <a:lnTo>
                            <a:pt x="2" y="21"/>
                          </a:lnTo>
                          <a:lnTo>
                            <a:pt x="8" y="8"/>
                          </a:lnTo>
                          <a:lnTo>
                            <a:pt x="12" y="0"/>
                          </a:lnTo>
                          <a:lnTo>
                            <a:pt x="68" y="0"/>
                          </a:lnTo>
                          <a:lnTo>
                            <a:pt x="81"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6" name="Group 2314"/>
                  <p:cNvGrpSpPr>
                    <a:grpSpLocks/>
                  </p:cNvGrpSpPr>
                  <p:nvPr/>
                </p:nvGrpSpPr>
                <p:grpSpPr bwMode="auto">
                  <a:xfrm>
                    <a:off x="928" y="3690"/>
                    <a:ext cx="48" cy="23"/>
                    <a:chOff x="928" y="3690"/>
                    <a:chExt cx="48" cy="23"/>
                  </a:xfrm>
                </p:grpSpPr>
                <p:sp>
                  <p:nvSpPr>
                    <p:cNvPr id="3085" name="Freeform 2315"/>
                    <p:cNvSpPr>
                      <a:spLocks/>
                    </p:cNvSpPr>
                    <p:nvPr/>
                  </p:nvSpPr>
                  <p:spPr bwMode="auto">
                    <a:xfrm>
                      <a:off x="928" y="369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9"/>
                          </a:lnTo>
                          <a:lnTo>
                            <a:pt x="9" y="0"/>
                          </a:lnTo>
                          <a:lnTo>
                            <a:pt x="25" y="33"/>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6" name="Freeform 2316"/>
                    <p:cNvSpPr>
                      <a:spLocks/>
                    </p:cNvSpPr>
                    <p:nvPr/>
                  </p:nvSpPr>
                  <p:spPr bwMode="auto">
                    <a:xfrm>
                      <a:off x="932"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2" y="0"/>
                          </a:moveTo>
                          <a:lnTo>
                            <a:pt x="50" y="0"/>
                          </a:lnTo>
                          <a:lnTo>
                            <a:pt x="52" y="2"/>
                          </a:lnTo>
                          <a:lnTo>
                            <a:pt x="57" y="11"/>
                          </a:lnTo>
                          <a:lnTo>
                            <a:pt x="75" y="31"/>
                          </a:lnTo>
                          <a:lnTo>
                            <a:pt x="19" y="31"/>
                          </a:lnTo>
                          <a:lnTo>
                            <a:pt x="10" y="22"/>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7" name="Freeform 2317"/>
                    <p:cNvSpPr>
                      <a:spLocks/>
                    </p:cNvSpPr>
                    <p:nvPr/>
                  </p:nvSpPr>
                  <p:spPr bwMode="auto">
                    <a:xfrm>
                      <a:off x="935" y="3701"/>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8" y="7"/>
                          </a:lnTo>
                          <a:lnTo>
                            <a:pt x="13"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7" name="Group 2318"/>
                  <p:cNvGrpSpPr>
                    <a:grpSpLocks/>
                  </p:cNvGrpSpPr>
                  <p:nvPr/>
                </p:nvGrpSpPr>
                <p:grpSpPr bwMode="auto">
                  <a:xfrm>
                    <a:off x="940" y="3703"/>
                    <a:ext cx="49" cy="23"/>
                    <a:chOff x="940" y="3703"/>
                    <a:chExt cx="49" cy="23"/>
                  </a:xfrm>
                </p:grpSpPr>
                <p:sp>
                  <p:nvSpPr>
                    <p:cNvPr id="3082" name="Freeform 2319"/>
                    <p:cNvSpPr>
                      <a:spLocks/>
                    </p:cNvSpPr>
                    <p:nvPr/>
                  </p:nvSpPr>
                  <p:spPr bwMode="auto">
                    <a:xfrm>
                      <a:off x="940" y="3703"/>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9"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3" name="Freeform 2320"/>
                    <p:cNvSpPr>
                      <a:spLocks/>
                    </p:cNvSpPr>
                    <p:nvPr/>
                  </p:nvSpPr>
                  <p:spPr bwMode="auto">
                    <a:xfrm>
                      <a:off x="945" y="3703"/>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2" y="0"/>
                          </a:lnTo>
                          <a:lnTo>
                            <a:pt x="53" y="3"/>
                          </a:lnTo>
                          <a:lnTo>
                            <a:pt x="57" y="12"/>
                          </a:lnTo>
                          <a:lnTo>
                            <a:pt x="75" y="30"/>
                          </a:lnTo>
                          <a:lnTo>
                            <a:pt x="19" y="30"/>
                          </a:lnTo>
                          <a:lnTo>
                            <a:pt x="10" y="21"/>
                          </a:lnTo>
                          <a:lnTo>
                            <a:pt x="0" y="7"/>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4" name="Freeform 2321"/>
                    <p:cNvSpPr>
                      <a:spLocks/>
                    </p:cNvSpPr>
                    <p:nvPr/>
                  </p:nvSpPr>
                  <p:spPr bwMode="auto">
                    <a:xfrm>
                      <a:off x="948" y="3714"/>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19"/>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78" name="Group 2322"/>
                  <p:cNvGrpSpPr>
                    <a:grpSpLocks/>
                  </p:cNvGrpSpPr>
                  <p:nvPr/>
                </p:nvGrpSpPr>
                <p:grpSpPr bwMode="auto">
                  <a:xfrm>
                    <a:off x="953" y="3716"/>
                    <a:ext cx="49" cy="23"/>
                    <a:chOff x="953" y="3716"/>
                    <a:chExt cx="49" cy="23"/>
                  </a:xfrm>
                </p:grpSpPr>
                <p:sp>
                  <p:nvSpPr>
                    <p:cNvPr id="3079" name="Freeform 2323"/>
                    <p:cNvSpPr>
                      <a:spLocks/>
                    </p:cNvSpPr>
                    <p:nvPr/>
                  </p:nvSpPr>
                  <p:spPr bwMode="auto">
                    <a:xfrm>
                      <a:off x="953" y="3716"/>
                      <a:ext cx="12" cy="23"/>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9" y="0"/>
                          </a:lnTo>
                          <a:lnTo>
                            <a:pt x="23" y="30"/>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0" name="Freeform 2324"/>
                    <p:cNvSpPr>
                      <a:spLocks/>
                    </p:cNvSpPr>
                    <p:nvPr/>
                  </p:nvSpPr>
                  <p:spPr bwMode="auto">
                    <a:xfrm>
                      <a:off x="958" y="3717"/>
                      <a:ext cx="37" cy="9"/>
                    </a:xfrm>
                    <a:custGeom>
                      <a:avLst/>
                      <a:gdLst>
                        <a:gd name="T0" fmla="*/ 0 w 75"/>
                        <a:gd name="T1" fmla="*/ 0 h 29"/>
                        <a:gd name="T2" fmla="*/ 0 w 75"/>
                        <a:gd name="T3" fmla="*/ 0 h 29"/>
                        <a:gd name="T4" fmla="*/ 0 w 75"/>
                        <a:gd name="T5" fmla="*/ 0 h 29"/>
                        <a:gd name="T6" fmla="*/ 0 w 75"/>
                        <a:gd name="T7" fmla="*/ 0 h 29"/>
                        <a:gd name="T8" fmla="*/ 0 w 75"/>
                        <a:gd name="T9" fmla="*/ 0 h 29"/>
                        <a:gd name="T10" fmla="*/ 0 w 75"/>
                        <a:gd name="T11" fmla="*/ 0 h 29"/>
                        <a:gd name="T12" fmla="*/ 0 w 75"/>
                        <a:gd name="T13" fmla="*/ 0 h 29"/>
                        <a:gd name="T14" fmla="*/ 0 w 75"/>
                        <a:gd name="T15" fmla="*/ 0 h 29"/>
                        <a:gd name="T16" fmla="*/ 0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3"/>
                          </a:lnTo>
                          <a:lnTo>
                            <a:pt x="56" y="11"/>
                          </a:lnTo>
                          <a:lnTo>
                            <a:pt x="75"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81" name="Freeform 2325"/>
                    <p:cNvSpPr>
                      <a:spLocks/>
                    </p:cNvSpPr>
                    <p:nvPr/>
                  </p:nvSpPr>
                  <p:spPr bwMode="auto">
                    <a:xfrm>
                      <a:off x="961" y="372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76" name="Group 2326"/>
                <p:cNvGrpSpPr>
                  <a:grpSpLocks/>
                </p:cNvGrpSpPr>
                <p:nvPr/>
              </p:nvGrpSpPr>
              <p:grpSpPr bwMode="auto">
                <a:xfrm>
                  <a:off x="963" y="3727"/>
                  <a:ext cx="49" cy="23"/>
                  <a:chOff x="963" y="3727"/>
                  <a:chExt cx="49" cy="23"/>
                </a:xfrm>
              </p:grpSpPr>
              <p:sp>
                <p:nvSpPr>
                  <p:cNvPr id="3071" name="Freeform 2327"/>
                  <p:cNvSpPr>
                    <a:spLocks/>
                  </p:cNvSpPr>
                  <p:nvPr/>
                </p:nvSpPr>
                <p:spPr bwMode="auto">
                  <a:xfrm>
                    <a:off x="963" y="3727"/>
                    <a:ext cx="13" cy="23"/>
                  </a:xfrm>
                  <a:custGeom>
                    <a:avLst/>
                    <a:gdLst>
                      <a:gd name="T0" fmla="*/ 1 w 25"/>
                      <a:gd name="T1" fmla="*/ 0 h 69"/>
                      <a:gd name="T2" fmla="*/ 0 w 25"/>
                      <a:gd name="T3" fmla="*/ 0 h 69"/>
                      <a:gd name="T4" fmla="*/ 1 w 25"/>
                      <a:gd name="T5" fmla="*/ 0 h 69"/>
                      <a:gd name="T6" fmla="*/ 1 w 25"/>
                      <a:gd name="T7" fmla="*/ 0 h 69"/>
                      <a:gd name="T8" fmla="*/ 1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2" name="Freeform 2328"/>
                  <p:cNvSpPr>
                    <a:spLocks/>
                  </p:cNvSpPr>
                  <p:nvPr/>
                </p:nvSpPr>
                <p:spPr bwMode="auto">
                  <a:xfrm>
                    <a:off x="968" y="3728"/>
                    <a:ext cx="37" cy="10"/>
                  </a:xfrm>
                  <a:custGeom>
                    <a:avLst/>
                    <a:gdLst>
                      <a:gd name="T0" fmla="*/ 1 w 73"/>
                      <a:gd name="T1" fmla="*/ 0 h 31"/>
                      <a:gd name="T2" fmla="*/ 1 w 73"/>
                      <a:gd name="T3" fmla="*/ 0 h 31"/>
                      <a:gd name="T4" fmla="*/ 1 w 73"/>
                      <a:gd name="T5" fmla="*/ 0 h 31"/>
                      <a:gd name="T6" fmla="*/ 1 w 73"/>
                      <a:gd name="T7" fmla="*/ 0 h 31"/>
                      <a:gd name="T8" fmla="*/ 1 w 73"/>
                      <a:gd name="T9" fmla="*/ 0 h 31"/>
                      <a:gd name="T10" fmla="*/ 1 w 73"/>
                      <a:gd name="T11" fmla="*/ 0 h 31"/>
                      <a:gd name="T12" fmla="*/ 1 w 73"/>
                      <a:gd name="T13" fmla="*/ 0 h 31"/>
                      <a:gd name="T14" fmla="*/ 0 w 73"/>
                      <a:gd name="T15" fmla="*/ 0 h 31"/>
                      <a:gd name="T16" fmla="*/ 1 w 73"/>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1"/>
                      <a:gd name="T29" fmla="*/ 73 w 73"/>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1">
                        <a:moveTo>
                          <a:pt x="1" y="0"/>
                        </a:moveTo>
                        <a:lnTo>
                          <a:pt x="48" y="0"/>
                        </a:lnTo>
                        <a:lnTo>
                          <a:pt x="50" y="4"/>
                        </a:lnTo>
                        <a:lnTo>
                          <a:pt x="56" y="13"/>
                        </a:lnTo>
                        <a:lnTo>
                          <a:pt x="73"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3" name="Freeform 2329"/>
                  <p:cNvSpPr>
                    <a:spLocks/>
                  </p:cNvSpPr>
                  <p:nvPr/>
                </p:nvSpPr>
                <p:spPr bwMode="auto">
                  <a:xfrm>
                    <a:off x="972" y="3738"/>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20"/>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7" name="Group 2330"/>
                <p:cNvGrpSpPr>
                  <a:grpSpLocks/>
                </p:cNvGrpSpPr>
                <p:nvPr/>
              </p:nvGrpSpPr>
              <p:grpSpPr bwMode="auto">
                <a:xfrm>
                  <a:off x="976" y="3740"/>
                  <a:ext cx="50" cy="22"/>
                  <a:chOff x="976" y="3740"/>
                  <a:chExt cx="50" cy="22"/>
                </a:xfrm>
              </p:grpSpPr>
              <p:sp>
                <p:nvSpPr>
                  <p:cNvPr id="3068" name="Freeform 2331"/>
                  <p:cNvSpPr>
                    <a:spLocks/>
                  </p:cNvSpPr>
                  <p:nvPr/>
                </p:nvSpPr>
                <p:spPr bwMode="auto">
                  <a:xfrm>
                    <a:off x="976" y="3740"/>
                    <a:ext cx="12" cy="22"/>
                  </a:xfrm>
                  <a:custGeom>
                    <a:avLst/>
                    <a:gdLst>
                      <a:gd name="T0" fmla="*/ 1 w 23"/>
                      <a:gd name="T1" fmla="*/ 0 h 68"/>
                      <a:gd name="T2" fmla="*/ 0 w 23"/>
                      <a:gd name="T3" fmla="*/ 0 h 68"/>
                      <a:gd name="T4" fmla="*/ 1 w 23"/>
                      <a:gd name="T5" fmla="*/ 0 h 68"/>
                      <a:gd name="T6" fmla="*/ 1 w 23"/>
                      <a:gd name="T7" fmla="*/ 0 h 68"/>
                      <a:gd name="T8" fmla="*/ 1 w 23"/>
                      <a:gd name="T9" fmla="*/ 0 h 68"/>
                      <a:gd name="T10" fmla="*/ 0 60000 65536"/>
                      <a:gd name="T11" fmla="*/ 0 60000 65536"/>
                      <a:gd name="T12" fmla="*/ 0 60000 65536"/>
                      <a:gd name="T13" fmla="*/ 0 60000 65536"/>
                      <a:gd name="T14" fmla="*/ 0 60000 65536"/>
                      <a:gd name="T15" fmla="*/ 0 w 23"/>
                      <a:gd name="T16" fmla="*/ 0 h 68"/>
                      <a:gd name="T17" fmla="*/ 23 w 23"/>
                      <a:gd name="T18" fmla="*/ 68 h 68"/>
                    </a:gdLst>
                    <a:ahLst/>
                    <a:cxnLst>
                      <a:cxn ang="T10">
                        <a:pos x="T0" y="T1"/>
                      </a:cxn>
                      <a:cxn ang="T11">
                        <a:pos x="T2" y="T3"/>
                      </a:cxn>
                      <a:cxn ang="T12">
                        <a:pos x="T4" y="T5"/>
                      </a:cxn>
                      <a:cxn ang="T13">
                        <a:pos x="T6" y="T7"/>
                      </a:cxn>
                      <a:cxn ang="T14">
                        <a:pos x="T8" y="T9"/>
                      </a:cxn>
                    </a:cxnLst>
                    <a:rect l="T15" t="T16" r="T17" b="T18"/>
                    <a:pathLst>
                      <a:path w="23" h="68">
                        <a:moveTo>
                          <a:pt x="14" y="68"/>
                        </a:moveTo>
                        <a:lnTo>
                          <a:pt x="0" y="27"/>
                        </a:lnTo>
                        <a:lnTo>
                          <a:pt x="10" y="0"/>
                        </a:lnTo>
                        <a:lnTo>
                          <a:pt x="23"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9" name="Freeform 2332"/>
                  <p:cNvSpPr>
                    <a:spLocks/>
                  </p:cNvSpPr>
                  <p:nvPr/>
                </p:nvSpPr>
                <p:spPr bwMode="auto">
                  <a:xfrm>
                    <a:off x="980" y="3740"/>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4" y="0"/>
                        </a:moveTo>
                        <a:lnTo>
                          <a:pt x="52" y="0"/>
                        </a:lnTo>
                        <a:lnTo>
                          <a:pt x="53" y="4"/>
                        </a:lnTo>
                        <a:lnTo>
                          <a:pt x="60" y="13"/>
                        </a:lnTo>
                        <a:lnTo>
                          <a:pt x="75" y="31"/>
                        </a:lnTo>
                        <a:lnTo>
                          <a:pt x="19" y="31"/>
                        </a:lnTo>
                        <a:lnTo>
                          <a:pt x="12" y="22"/>
                        </a:lnTo>
                        <a:lnTo>
                          <a:pt x="0" y="7"/>
                        </a:lnTo>
                        <a:lnTo>
                          <a:pt x="4"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70" name="Freeform 2333"/>
                  <p:cNvSpPr>
                    <a:spLocks/>
                  </p:cNvSpPr>
                  <p:nvPr/>
                </p:nvSpPr>
                <p:spPr bwMode="auto">
                  <a:xfrm>
                    <a:off x="984" y="3750"/>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1"/>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8" name="Group 2334"/>
                <p:cNvGrpSpPr>
                  <a:grpSpLocks/>
                </p:cNvGrpSpPr>
                <p:nvPr/>
              </p:nvGrpSpPr>
              <p:grpSpPr bwMode="auto">
                <a:xfrm>
                  <a:off x="761" y="3560"/>
                  <a:ext cx="50" cy="22"/>
                  <a:chOff x="761" y="3560"/>
                  <a:chExt cx="50" cy="22"/>
                </a:xfrm>
              </p:grpSpPr>
              <p:sp>
                <p:nvSpPr>
                  <p:cNvPr id="3065" name="Freeform 2335"/>
                  <p:cNvSpPr>
                    <a:spLocks/>
                  </p:cNvSpPr>
                  <p:nvPr/>
                </p:nvSpPr>
                <p:spPr bwMode="auto">
                  <a:xfrm>
                    <a:off x="761" y="3560"/>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6" name="Freeform 2336"/>
                  <p:cNvSpPr>
                    <a:spLocks/>
                  </p:cNvSpPr>
                  <p:nvPr/>
                </p:nvSpPr>
                <p:spPr bwMode="auto">
                  <a:xfrm>
                    <a:off x="767" y="3560"/>
                    <a:ext cx="36" cy="10"/>
                  </a:xfrm>
                  <a:custGeom>
                    <a:avLst/>
                    <a:gdLst>
                      <a:gd name="T0" fmla="*/ 0 w 73"/>
                      <a:gd name="T1" fmla="*/ 0 h 29"/>
                      <a:gd name="T2" fmla="*/ 0 w 73"/>
                      <a:gd name="T3" fmla="*/ 0 h 29"/>
                      <a:gd name="T4" fmla="*/ 0 w 73"/>
                      <a:gd name="T5" fmla="*/ 0 h 29"/>
                      <a:gd name="T6" fmla="*/ 0 w 73"/>
                      <a:gd name="T7" fmla="*/ 0 h 29"/>
                      <a:gd name="T8" fmla="*/ 0 w 73"/>
                      <a:gd name="T9" fmla="*/ 0 h 29"/>
                      <a:gd name="T10" fmla="*/ 0 w 73"/>
                      <a:gd name="T11" fmla="*/ 0 h 29"/>
                      <a:gd name="T12" fmla="*/ 0 w 73"/>
                      <a:gd name="T13" fmla="*/ 0 h 29"/>
                      <a:gd name="T14" fmla="*/ 0 w 73"/>
                      <a:gd name="T15" fmla="*/ 0 h 29"/>
                      <a:gd name="T16" fmla="*/ 0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2" y="0"/>
                        </a:moveTo>
                        <a:lnTo>
                          <a:pt x="49" y="0"/>
                        </a:lnTo>
                        <a:lnTo>
                          <a:pt x="50" y="2"/>
                        </a:lnTo>
                        <a:lnTo>
                          <a:pt x="55" y="11"/>
                        </a:lnTo>
                        <a:lnTo>
                          <a:pt x="73" y="29"/>
                        </a:lnTo>
                        <a:lnTo>
                          <a:pt x="17" y="29"/>
                        </a:lnTo>
                        <a:lnTo>
                          <a:pt x="8" y="20"/>
                        </a:lnTo>
                        <a:lnTo>
                          <a:pt x="0" y="5"/>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7" name="Freeform 2337"/>
                  <p:cNvSpPr>
                    <a:spLocks/>
                  </p:cNvSpPr>
                  <p:nvPr/>
                </p:nvSpPr>
                <p:spPr bwMode="auto">
                  <a:xfrm>
                    <a:off x="769" y="3571"/>
                    <a:ext cx="42" cy="11"/>
                  </a:xfrm>
                  <a:custGeom>
                    <a:avLst/>
                    <a:gdLst>
                      <a:gd name="T0" fmla="*/ 0 w 83"/>
                      <a:gd name="T1" fmla="*/ 0 h 35"/>
                      <a:gd name="T2" fmla="*/ 1 w 83"/>
                      <a:gd name="T3" fmla="*/ 0 h 35"/>
                      <a:gd name="T4" fmla="*/ 1 w 83"/>
                      <a:gd name="T5" fmla="*/ 0 h 35"/>
                      <a:gd name="T6" fmla="*/ 1 w 83"/>
                      <a:gd name="T7" fmla="*/ 0 h 35"/>
                      <a:gd name="T8" fmla="*/ 1 w 83"/>
                      <a:gd name="T9" fmla="*/ 0 h 35"/>
                      <a:gd name="T10" fmla="*/ 1 w 83"/>
                      <a:gd name="T11" fmla="*/ 0 h 35"/>
                      <a:gd name="T12" fmla="*/ 0 w 83"/>
                      <a:gd name="T13" fmla="*/ 0 h 35"/>
                      <a:gd name="T14" fmla="*/ 0 60000 65536"/>
                      <a:gd name="T15" fmla="*/ 0 60000 65536"/>
                      <a:gd name="T16" fmla="*/ 0 60000 65536"/>
                      <a:gd name="T17" fmla="*/ 0 60000 65536"/>
                      <a:gd name="T18" fmla="*/ 0 60000 65536"/>
                      <a:gd name="T19" fmla="*/ 0 60000 65536"/>
                      <a:gd name="T20" fmla="*/ 0 60000 65536"/>
                      <a:gd name="T21" fmla="*/ 0 w 83"/>
                      <a:gd name="T22" fmla="*/ 0 h 35"/>
                      <a:gd name="T23" fmla="*/ 83 w 83"/>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5">
                        <a:moveTo>
                          <a:pt x="0" y="35"/>
                        </a:moveTo>
                        <a:lnTo>
                          <a:pt x="2" y="19"/>
                        </a:lnTo>
                        <a:lnTo>
                          <a:pt x="7" y="7"/>
                        </a:lnTo>
                        <a:lnTo>
                          <a:pt x="11" y="0"/>
                        </a:lnTo>
                        <a:lnTo>
                          <a:pt x="68" y="0"/>
                        </a:lnTo>
                        <a:lnTo>
                          <a:pt x="83"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79" name="Group 2338"/>
                <p:cNvGrpSpPr>
                  <a:grpSpLocks/>
                </p:cNvGrpSpPr>
                <p:nvPr/>
              </p:nvGrpSpPr>
              <p:grpSpPr bwMode="auto">
                <a:xfrm>
                  <a:off x="774" y="3572"/>
                  <a:ext cx="49" cy="23"/>
                  <a:chOff x="774" y="3572"/>
                  <a:chExt cx="49" cy="23"/>
                </a:xfrm>
              </p:grpSpPr>
              <p:sp>
                <p:nvSpPr>
                  <p:cNvPr id="3062" name="Freeform 2339"/>
                  <p:cNvSpPr>
                    <a:spLocks/>
                  </p:cNvSpPr>
                  <p:nvPr/>
                </p:nvSpPr>
                <p:spPr bwMode="auto">
                  <a:xfrm>
                    <a:off x="774" y="3572"/>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5"/>
                        </a:lnTo>
                        <a:lnTo>
                          <a:pt x="9" y="0"/>
                        </a:lnTo>
                        <a:lnTo>
                          <a:pt x="25" y="30"/>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3" name="Freeform 2340"/>
                  <p:cNvSpPr>
                    <a:spLocks/>
                  </p:cNvSpPr>
                  <p:nvPr/>
                </p:nvSpPr>
                <p:spPr bwMode="auto">
                  <a:xfrm>
                    <a:off x="778" y="3573"/>
                    <a:ext cx="38" cy="9"/>
                  </a:xfrm>
                  <a:custGeom>
                    <a:avLst/>
                    <a:gdLst>
                      <a:gd name="T0" fmla="*/ 1 w 75"/>
                      <a:gd name="T1" fmla="*/ 0 h 29"/>
                      <a:gd name="T2" fmla="*/ 1 w 75"/>
                      <a:gd name="T3" fmla="*/ 0 h 29"/>
                      <a:gd name="T4" fmla="*/ 1 w 75"/>
                      <a:gd name="T5" fmla="*/ 0 h 29"/>
                      <a:gd name="T6" fmla="*/ 1 w 75"/>
                      <a:gd name="T7" fmla="*/ 0 h 29"/>
                      <a:gd name="T8" fmla="*/ 1 w 75"/>
                      <a:gd name="T9" fmla="*/ 0 h 29"/>
                      <a:gd name="T10" fmla="*/ 1 w 75"/>
                      <a:gd name="T11" fmla="*/ 0 h 29"/>
                      <a:gd name="T12" fmla="*/ 1 w 75"/>
                      <a:gd name="T13" fmla="*/ 0 h 29"/>
                      <a:gd name="T14" fmla="*/ 0 w 75"/>
                      <a:gd name="T15" fmla="*/ 0 h 29"/>
                      <a:gd name="T16" fmla="*/ 1 w 75"/>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29"/>
                      <a:gd name="T29" fmla="*/ 75 w 75"/>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29">
                        <a:moveTo>
                          <a:pt x="1" y="0"/>
                        </a:moveTo>
                        <a:lnTo>
                          <a:pt x="50" y="0"/>
                        </a:lnTo>
                        <a:lnTo>
                          <a:pt x="51" y="2"/>
                        </a:lnTo>
                        <a:lnTo>
                          <a:pt x="56" y="11"/>
                        </a:lnTo>
                        <a:lnTo>
                          <a:pt x="75" y="29"/>
                        </a:lnTo>
                        <a:lnTo>
                          <a:pt x="18" y="29"/>
                        </a:lnTo>
                        <a:lnTo>
                          <a:pt x="10"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4" name="Freeform 2341"/>
                  <p:cNvSpPr>
                    <a:spLocks/>
                  </p:cNvSpPr>
                  <p:nvPr/>
                </p:nvSpPr>
                <p:spPr bwMode="auto">
                  <a:xfrm>
                    <a:off x="782" y="3583"/>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0" name="Group 2342"/>
                <p:cNvGrpSpPr>
                  <a:grpSpLocks/>
                </p:cNvGrpSpPr>
                <p:nvPr/>
              </p:nvGrpSpPr>
              <p:grpSpPr bwMode="auto">
                <a:xfrm>
                  <a:off x="787" y="3585"/>
                  <a:ext cx="49" cy="23"/>
                  <a:chOff x="787" y="3585"/>
                  <a:chExt cx="49" cy="23"/>
                </a:xfrm>
              </p:grpSpPr>
              <p:sp>
                <p:nvSpPr>
                  <p:cNvPr id="3059" name="Freeform 2343"/>
                  <p:cNvSpPr>
                    <a:spLocks/>
                  </p:cNvSpPr>
                  <p:nvPr/>
                </p:nvSpPr>
                <p:spPr bwMode="auto">
                  <a:xfrm>
                    <a:off x="787" y="3585"/>
                    <a:ext cx="12" cy="23"/>
                  </a:xfrm>
                  <a:custGeom>
                    <a:avLst/>
                    <a:gdLst>
                      <a:gd name="T0" fmla="*/ 1 w 24"/>
                      <a:gd name="T1" fmla="*/ 0 h 68"/>
                      <a:gd name="T2" fmla="*/ 0 w 24"/>
                      <a:gd name="T3" fmla="*/ 0 h 68"/>
                      <a:gd name="T4" fmla="*/ 1 w 24"/>
                      <a:gd name="T5" fmla="*/ 0 h 68"/>
                      <a:gd name="T6" fmla="*/ 1 w 24"/>
                      <a:gd name="T7" fmla="*/ 0 h 68"/>
                      <a:gd name="T8" fmla="*/ 1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6"/>
                        </a:lnTo>
                        <a:lnTo>
                          <a:pt x="9" y="0"/>
                        </a:lnTo>
                        <a:lnTo>
                          <a:pt x="24" y="31"/>
                        </a:lnTo>
                        <a:lnTo>
                          <a:pt x="14"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0" name="Freeform 2344"/>
                  <p:cNvSpPr>
                    <a:spLocks/>
                  </p:cNvSpPr>
                  <p:nvPr/>
                </p:nvSpPr>
                <p:spPr bwMode="auto">
                  <a:xfrm>
                    <a:off x="792" y="3586"/>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2"/>
                        </a:lnTo>
                        <a:lnTo>
                          <a:pt x="55" y="11"/>
                        </a:lnTo>
                        <a:lnTo>
                          <a:pt x="74" y="29"/>
                        </a:lnTo>
                        <a:lnTo>
                          <a:pt x="19" y="29"/>
                        </a:lnTo>
                        <a:lnTo>
                          <a:pt x="11"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61" name="Freeform 2345"/>
                  <p:cNvSpPr>
                    <a:spLocks/>
                  </p:cNvSpPr>
                  <p:nvPr/>
                </p:nvSpPr>
                <p:spPr bwMode="auto">
                  <a:xfrm>
                    <a:off x="795" y="3596"/>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20"/>
                        </a:lnTo>
                        <a:lnTo>
                          <a:pt x="6" y="8"/>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1" name="Group 2346"/>
                <p:cNvGrpSpPr>
                  <a:grpSpLocks/>
                </p:cNvGrpSpPr>
                <p:nvPr/>
              </p:nvGrpSpPr>
              <p:grpSpPr bwMode="auto">
                <a:xfrm>
                  <a:off x="799" y="3600"/>
                  <a:ext cx="99" cy="73"/>
                  <a:chOff x="799" y="3600"/>
                  <a:chExt cx="99" cy="73"/>
                </a:xfrm>
              </p:grpSpPr>
              <p:grpSp>
                <p:nvGrpSpPr>
                  <p:cNvPr id="3039" name="Group 2347"/>
                  <p:cNvGrpSpPr>
                    <a:grpSpLocks/>
                  </p:cNvGrpSpPr>
                  <p:nvPr/>
                </p:nvGrpSpPr>
                <p:grpSpPr bwMode="auto">
                  <a:xfrm>
                    <a:off x="799" y="3600"/>
                    <a:ext cx="48" cy="23"/>
                    <a:chOff x="799" y="3600"/>
                    <a:chExt cx="48" cy="23"/>
                  </a:xfrm>
                </p:grpSpPr>
                <p:sp>
                  <p:nvSpPr>
                    <p:cNvPr id="3056" name="Freeform 2348"/>
                    <p:cNvSpPr>
                      <a:spLocks/>
                    </p:cNvSpPr>
                    <p:nvPr/>
                  </p:nvSpPr>
                  <p:spPr bwMode="auto">
                    <a:xfrm>
                      <a:off x="799" y="3600"/>
                      <a:ext cx="12" cy="23"/>
                    </a:xfrm>
                    <a:custGeom>
                      <a:avLst/>
                      <a:gdLst>
                        <a:gd name="T0" fmla="*/ 0 w 25"/>
                        <a:gd name="T1" fmla="*/ 0 h 70"/>
                        <a:gd name="T2" fmla="*/ 0 w 25"/>
                        <a:gd name="T3" fmla="*/ 0 h 70"/>
                        <a:gd name="T4" fmla="*/ 0 w 25"/>
                        <a:gd name="T5" fmla="*/ 0 h 70"/>
                        <a:gd name="T6" fmla="*/ 0 w 25"/>
                        <a:gd name="T7" fmla="*/ 0 h 70"/>
                        <a:gd name="T8" fmla="*/ 0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4" y="70"/>
                          </a:moveTo>
                          <a:lnTo>
                            <a:pt x="0" y="27"/>
                          </a:lnTo>
                          <a:lnTo>
                            <a:pt x="9" y="0"/>
                          </a:lnTo>
                          <a:lnTo>
                            <a:pt x="25" y="31"/>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7" name="Freeform 2349"/>
                    <p:cNvSpPr>
                      <a:spLocks/>
                    </p:cNvSpPr>
                    <p:nvPr/>
                  </p:nvSpPr>
                  <p:spPr bwMode="auto">
                    <a:xfrm>
                      <a:off x="803" y="3600"/>
                      <a:ext cx="38" cy="11"/>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1" y="0"/>
                          </a:moveTo>
                          <a:lnTo>
                            <a:pt x="50" y="0"/>
                          </a:lnTo>
                          <a:lnTo>
                            <a:pt x="51" y="4"/>
                          </a:lnTo>
                          <a:lnTo>
                            <a:pt x="56" y="13"/>
                          </a:lnTo>
                          <a:lnTo>
                            <a:pt x="75"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8" name="Freeform 2350"/>
                    <p:cNvSpPr>
                      <a:spLocks/>
                    </p:cNvSpPr>
                    <p:nvPr/>
                  </p:nvSpPr>
                  <p:spPr bwMode="auto">
                    <a:xfrm>
                      <a:off x="807" y="3611"/>
                      <a:ext cx="40" cy="12"/>
                    </a:xfrm>
                    <a:custGeom>
                      <a:avLst/>
                      <a:gdLst>
                        <a:gd name="T0" fmla="*/ 0 w 82"/>
                        <a:gd name="T1" fmla="*/ 0 h 38"/>
                        <a:gd name="T2" fmla="*/ 0 w 82"/>
                        <a:gd name="T3" fmla="*/ 0 h 38"/>
                        <a:gd name="T4" fmla="*/ 0 w 82"/>
                        <a:gd name="T5" fmla="*/ 0 h 38"/>
                        <a:gd name="T6" fmla="*/ 0 w 82"/>
                        <a:gd name="T7" fmla="*/ 0 h 38"/>
                        <a:gd name="T8" fmla="*/ 0 w 82"/>
                        <a:gd name="T9" fmla="*/ 0 h 38"/>
                        <a:gd name="T10" fmla="*/ 0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2" y="22"/>
                          </a:lnTo>
                          <a:lnTo>
                            <a:pt x="7" y="8"/>
                          </a:lnTo>
                          <a:lnTo>
                            <a:pt x="12"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0" name="Group 2351"/>
                  <p:cNvGrpSpPr>
                    <a:grpSpLocks/>
                  </p:cNvGrpSpPr>
                  <p:nvPr/>
                </p:nvGrpSpPr>
                <p:grpSpPr bwMode="auto">
                  <a:xfrm>
                    <a:off x="811" y="3612"/>
                    <a:ext cx="48" cy="23"/>
                    <a:chOff x="811" y="3612"/>
                    <a:chExt cx="48" cy="23"/>
                  </a:xfrm>
                </p:grpSpPr>
                <p:sp>
                  <p:nvSpPr>
                    <p:cNvPr id="3053" name="Freeform 2352"/>
                    <p:cNvSpPr>
                      <a:spLocks/>
                    </p:cNvSpPr>
                    <p:nvPr/>
                  </p:nvSpPr>
                  <p:spPr bwMode="auto">
                    <a:xfrm>
                      <a:off x="811" y="3612"/>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5" y="69"/>
                          </a:moveTo>
                          <a:lnTo>
                            <a:pt x="0" y="28"/>
                          </a:lnTo>
                          <a:lnTo>
                            <a:pt x="11" y="0"/>
                          </a:lnTo>
                          <a:lnTo>
                            <a:pt x="25"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4" name="Freeform 2353"/>
                    <p:cNvSpPr>
                      <a:spLocks/>
                    </p:cNvSpPr>
                    <p:nvPr/>
                  </p:nvSpPr>
                  <p:spPr bwMode="auto">
                    <a:xfrm>
                      <a:off x="815" y="3613"/>
                      <a:ext cx="38" cy="10"/>
                    </a:xfrm>
                    <a:custGeom>
                      <a:avLst/>
                      <a:gdLst>
                        <a:gd name="T0" fmla="*/ 1 w 75"/>
                        <a:gd name="T1" fmla="*/ 0 h 32"/>
                        <a:gd name="T2" fmla="*/ 1 w 75"/>
                        <a:gd name="T3" fmla="*/ 0 h 32"/>
                        <a:gd name="T4" fmla="*/ 1 w 75"/>
                        <a:gd name="T5" fmla="*/ 0 h 32"/>
                        <a:gd name="T6" fmla="*/ 1 w 75"/>
                        <a:gd name="T7" fmla="*/ 0 h 32"/>
                        <a:gd name="T8" fmla="*/ 1 w 75"/>
                        <a:gd name="T9" fmla="*/ 0 h 32"/>
                        <a:gd name="T10" fmla="*/ 1 w 75"/>
                        <a:gd name="T11" fmla="*/ 0 h 32"/>
                        <a:gd name="T12" fmla="*/ 1 w 75"/>
                        <a:gd name="T13" fmla="*/ 0 h 32"/>
                        <a:gd name="T14" fmla="*/ 0 w 75"/>
                        <a:gd name="T15" fmla="*/ 0 h 32"/>
                        <a:gd name="T16" fmla="*/ 1 w 75"/>
                        <a:gd name="T17" fmla="*/ 0 h 32"/>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2"/>
                        <a:gd name="T29" fmla="*/ 75 w 75"/>
                        <a:gd name="T30" fmla="*/ 32 h 32"/>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2">
                          <a:moveTo>
                            <a:pt x="3" y="0"/>
                          </a:moveTo>
                          <a:lnTo>
                            <a:pt x="52" y="0"/>
                          </a:lnTo>
                          <a:lnTo>
                            <a:pt x="53" y="3"/>
                          </a:lnTo>
                          <a:lnTo>
                            <a:pt x="57" y="15"/>
                          </a:lnTo>
                          <a:lnTo>
                            <a:pt x="75" y="32"/>
                          </a:lnTo>
                          <a:lnTo>
                            <a:pt x="19" y="32"/>
                          </a:lnTo>
                          <a:lnTo>
                            <a:pt x="10"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5" name="Freeform 2354"/>
                    <p:cNvSpPr>
                      <a:spLocks/>
                    </p:cNvSpPr>
                    <p:nvPr/>
                  </p:nvSpPr>
                  <p:spPr bwMode="auto">
                    <a:xfrm>
                      <a:off x="819" y="3623"/>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1" y="21"/>
                          </a:lnTo>
                          <a:lnTo>
                            <a:pt x="7" y="8"/>
                          </a:lnTo>
                          <a:lnTo>
                            <a:pt x="12" y="0"/>
                          </a:lnTo>
                          <a:lnTo>
                            <a:pt x="68"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1" name="Group 2355"/>
                  <p:cNvGrpSpPr>
                    <a:grpSpLocks/>
                  </p:cNvGrpSpPr>
                  <p:nvPr/>
                </p:nvGrpSpPr>
                <p:grpSpPr bwMode="auto">
                  <a:xfrm>
                    <a:off x="823" y="3625"/>
                    <a:ext cx="49" cy="23"/>
                    <a:chOff x="823" y="3625"/>
                    <a:chExt cx="49" cy="23"/>
                  </a:xfrm>
                </p:grpSpPr>
                <p:sp>
                  <p:nvSpPr>
                    <p:cNvPr id="3050" name="Freeform 2356"/>
                    <p:cNvSpPr>
                      <a:spLocks/>
                    </p:cNvSpPr>
                    <p:nvPr/>
                  </p:nvSpPr>
                  <p:spPr bwMode="auto">
                    <a:xfrm>
                      <a:off x="823" y="3625"/>
                      <a:ext cx="13" cy="23"/>
                    </a:xfrm>
                    <a:custGeom>
                      <a:avLst/>
                      <a:gdLst>
                        <a:gd name="T0" fmla="*/ 1 w 25"/>
                        <a:gd name="T1" fmla="*/ 0 h 68"/>
                        <a:gd name="T2" fmla="*/ 0 w 25"/>
                        <a:gd name="T3" fmla="*/ 0 h 68"/>
                        <a:gd name="T4" fmla="*/ 1 w 25"/>
                        <a:gd name="T5" fmla="*/ 0 h 68"/>
                        <a:gd name="T6" fmla="*/ 1 w 25"/>
                        <a:gd name="T7" fmla="*/ 0 h 68"/>
                        <a:gd name="T8" fmla="*/ 1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1" y="0"/>
                          </a:lnTo>
                          <a:lnTo>
                            <a:pt x="25" y="30"/>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1" name="Freeform 2357"/>
                    <p:cNvSpPr>
                      <a:spLocks/>
                    </p:cNvSpPr>
                    <p:nvPr/>
                  </p:nvSpPr>
                  <p:spPr bwMode="auto">
                    <a:xfrm>
                      <a:off x="828" y="3626"/>
                      <a:ext cx="37" cy="9"/>
                    </a:xfrm>
                    <a:custGeom>
                      <a:avLst/>
                      <a:gdLst>
                        <a:gd name="T0" fmla="*/ 1 w 73"/>
                        <a:gd name="T1" fmla="*/ 0 h 29"/>
                        <a:gd name="T2" fmla="*/ 1 w 73"/>
                        <a:gd name="T3" fmla="*/ 0 h 29"/>
                        <a:gd name="T4" fmla="*/ 1 w 73"/>
                        <a:gd name="T5" fmla="*/ 0 h 29"/>
                        <a:gd name="T6" fmla="*/ 1 w 73"/>
                        <a:gd name="T7" fmla="*/ 0 h 29"/>
                        <a:gd name="T8" fmla="*/ 1 w 73"/>
                        <a:gd name="T9" fmla="*/ 0 h 29"/>
                        <a:gd name="T10" fmla="*/ 1 w 73"/>
                        <a:gd name="T11" fmla="*/ 0 h 29"/>
                        <a:gd name="T12" fmla="*/ 1 w 73"/>
                        <a:gd name="T13" fmla="*/ 0 h 29"/>
                        <a:gd name="T14" fmla="*/ 0 w 73"/>
                        <a:gd name="T15" fmla="*/ 0 h 29"/>
                        <a:gd name="T16" fmla="*/ 1 w 73"/>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29"/>
                        <a:gd name="T29" fmla="*/ 73 w 73"/>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29">
                          <a:moveTo>
                            <a:pt x="1" y="0"/>
                          </a:moveTo>
                          <a:lnTo>
                            <a:pt x="50" y="0"/>
                          </a:lnTo>
                          <a:lnTo>
                            <a:pt x="51" y="2"/>
                          </a:lnTo>
                          <a:lnTo>
                            <a:pt x="56" y="11"/>
                          </a:lnTo>
                          <a:lnTo>
                            <a:pt x="73" y="29"/>
                          </a:lnTo>
                          <a:lnTo>
                            <a:pt x="18" y="29"/>
                          </a:lnTo>
                          <a:lnTo>
                            <a:pt x="9"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52" name="Freeform 2358"/>
                    <p:cNvSpPr>
                      <a:spLocks/>
                    </p:cNvSpPr>
                    <p:nvPr/>
                  </p:nvSpPr>
                  <p:spPr bwMode="auto">
                    <a:xfrm>
                      <a:off x="832" y="3636"/>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7"/>
                          </a:lnTo>
                          <a:lnTo>
                            <a:pt x="11" y="0"/>
                          </a:lnTo>
                          <a:lnTo>
                            <a:pt x="67"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2" name="Group 2359"/>
                  <p:cNvGrpSpPr>
                    <a:grpSpLocks/>
                  </p:cNvGrpSpPr>
                  <p:nvPr/>
                </p:nvGrpSpPr>
                <p:grpSpPr bwMode="auto">
                  <a:xfrm>
                    <a:off x="836" y="3638"/>
                    <a:ext cx="50" cy="22"/>
                    <a:chOff x="836" y="3638"/>
                    <a:chExt cx="50" cy="22"/>
                  </a:xfrm>
                </p:grpSpPr>
                <p:sp>
                  <p:nvSpPr>
                    <p:cNvPr id="3047" name="Freeform 2360"/>
                    <p:cNvSpPr>
                      <a:spLocks/>
                    </p:cNvSpPr>
                    <p:nvPr/>
                  </p:nvSpPr>
                  <p:spPr bwMode="auto">
                    <a:xfrm>
                      <a:off x="836" y="3638"/>
                      <a:ext cx="12" cy="22"/>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7"/>
                          </a:lnTo>
                          <a:lnTo>
                            <a:pt x="12"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8" name="Freeform 2361"/>
                    <p:cNvSpPr>
                      <a:spLocks/>
                    </p:cNvSpPr>
                    <p:nvPr/>
                  </p:nvSpPr>
                  <p:spPr bwMode="auto">
                    <a:xfrm>
                      <a:off x="842" y="3638"/>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9" y="0"/>
                          </a:lnTo>
                          <a:lnTo>
                            <a:pt x="51" y="3"/>
                          </a:lnTo>
                          <a:lnTo>
                            <a:pt x="55" y="12"/>
                          </a:lnTo>
                          <a:lnTo>
                            <a:pt x="72" y="30"/>
                          </a:lnTo>
                          <a:lnTo>
                            <a:pt x="17" y="30"/>
                          </a:lnTo>
                          <a:lnTo>
                            <a:pt x="8"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9" name="Freeform 2362"/>
                    <p:cNvSpPr>
                      <a:spLocks/>
                    </p:cNvSpPr>
                    <p:nvPr/>
                  </p:nvSpPr>
                  <p:spPr bwMode="auto">
                    <a:xfrm>
                      <a:off x="844" y="3648"/>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43" name="Group 2363"/>
                  <p:cNvGrpSpPr>
                    <a:grpSpLocks/>
                  </p:cNvGrpSpPr>
                  <p:nvPr/>
                </p:nvGrpSpPr>
                <p:grpSpPr bwMode="auto">
                  <a:xfrm>
                    <a:off x="849" y="3651"/>
                    <a:ext cx="49" cy="22"/>
                    <a:chOff x="849" y="3651"/>
                    <a:chExt cx="49" cy="22"/>
                  </a:xfrm>
                </p:grpSpPr>
                <p:sp>
                  <p:nvSpPr>
                    <p:cNvPr id="3044" name="Freeform 2364"/>
                    <p:cNvSpPr>
                      <a:spLocks/>
                    </p:cNvSpPr>
                    <p:nvPr/>
                  </p:nvSpPr>
                  <p:spPr bwMode="auto">
                    <a:xfrm>
                      <a:off x="849" y="3651"/>
                      <a:ext cx="12" cy="22"/>
                    </a:xfrm>
                    <a:custGeom>
                      <a:avLst/>
                      <a:gdLst>
                        <a:gd name="T0" fmla="*/ 0 w 25"/>
                        <a:gd name="T1" fmla="*/ 0 h 67"/>
                        <a:gd name="T2" fmla="*/ 0 w 25"/>
                        <a:gd name="T3" fmla="*/ 0 h 67"/>
                        <a:gd name="T4" fmla="*/ 0 w 25"/>
                        <a:gd name="T5" fmla="*/ 0 h 67"/>
                        <a:gd name="T6" fmla="*/ 0 w 25"/>
                        <a:gd name="T7" fmla="*/ 0 h 67"/>
                        <a:gd name="T8" fmla="*/ 0 w 25"/>
                        <a:gd name="T9" fmla="*/ 0 h 67"/>
                        <a:gd name="T10" fmla="*/ 0 60000 65536"/>
                        <a:gd name="T11" fmla="*/ 0 60000 65536"/>
                        <a:gd name="T12" fmla="*/ 0 60000 65536"/>
                        <a:gd name="T13" fmla="*/ 0 60000 65536"/>
                        <a:gd name="T14" fmla="*/ 0 60000 65536"/>
                        <a:gd name="T15" fmla="*/ 0 w 25"/>
                        <a:gd name="T16" fmla="*/ 0 h 67"/>
                        <a:gd name="T17" fmla="*/ 25 w 25"/>
                        <a:gd name="T18" fmla="*/ 67 h 67"/>
                      </a:gdLst>
                      <a:ahLst/>
                      <a:cxnLst>
                        <a:cxn ang="T10">
                          <a:pos x="T0" y="T1"/>
                        </a:cxn>
                        <a:cxn ang="T11">
                          <a:pos x="T2" y="T3"/>
                        </a:cxn>
                        <a:cxn ang="T12">
                          <a:pos x="T4" y="T5"/>
                        </a:cxn>
                        <a:cxn ang="T13">
                          <a:pos x="T6" y="T7"/>
                        </a:cxn>
                        <a:cxn ang="T14">
                          <a:pos x="T8" y="T9"/>
                        </a:cxn>
                      </a:cxnLst>
                      <a:rect l="T15" t="T16" r="T17" b="T18"/>
                      <a:pathLst>
                        <a:path w="25" h="67">
                          <a:moveTo>
                            <a:pt x="15" y="67"/>
                          </a:moveTo>
                          <a:lnTo>
                            <a:pt x="0" y="26"/>
                          </a:lnTo>
                          <a:lnTo>
                            <a:pt x="10" y="0"/>
                          </a:lnTo>
                          <a:lnTo>
                            <a:pt x="25" y="30"/>
                          </a:lnTo>
                          <a:lnTo>
                            <a:pt x="15" y="67"/>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5" name="Freeform 2365"/>
                    <p:cNvSpPr>
                      <a:spLocks/>
                    </p:cNvSpPr>
                    <p:nvPr/>
                  </p:nvSpPr>
                  <p:spPr bwMode="auto">
                    <a:xfrm>
                      <a:off x="854" y="3651"/>
                      <a:ext cx="37" cy="10"/>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49" y="0"/>
                          </a:lnTo>
                          <a:lnTo>
                            <a:pt x="50" y="2"/>
                          </a:lnTo>
                          <a:lnTo>
                            <a:pt x="57" y="11"/>
                          </a:lnTo>
                          <a:lnTo>
                            <a:pt x="74" y="29"/>
                          </a:lnTo>
                          <a:lnTo>
                            <a:pt x="18" y="29"/>
                          </a:lnTo>
                          <a:lnTo>
                            <a:pt x="9" y="20"/>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46" name="Freeform 2366"/>
                    <p:cNvSpPr>
                      <a:spLocks/>
                    </p:cNvSpPr>
                    <p:nvPr/>
                  </p:nvSpPr>
                  <p:spPr bwMode="auto">
                    <a:xfrm>
                      <a:off x="857" y="36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2" name="Group 2367"/>
                <p:cNvGrpSpPr>
                  <a:grpSpLocks/>
                </p:cNvGrpSpPr>
                <p:nvPr/>
              </p:nvGrpSpPr>
              <p:grpSpPr bwMode="auto">
                <a:xfrm>
                  <a:off x="861" y="3665"/>
                  <a:ext cx="99" cy="74"/>
                  <a:chOff x="861" y="3665"/>
                  <a:chExt cx="99" cy="74"/>
                </a:xfrm>
              </p:grpSpPr>
              <p:grpSp>
                <p:nvGrpSpPr>
                  <p:cNvPr id="3019" name="Group 2368"/>
                  <p:cNvGrpSpPr>
                    <a:grpSpLocks/>
                  </p:cNvGrpSpPr>
                  <p:nvPr/>
                </p:nvGrpSpPr>
                <p:grpSpPr bwMode="auto">
                  <a:xfrm>
                    <a:off x="861" y="3665"/>
                    <a:ext cx="50" cy="23"/>
                    <a:chOff x="861" y="3665"/>
                    <a:chExt cx="50" cy="23"/>
                  </a:xfrm>
                </p:grpSpPr>
                <p:sp>
                  <p:nvSpPr>
                    <p:cNvPr id="3036" name="Freeform 2369"/>
                    <p:cNvSpPr>
                      <a:spLocks/>
                    </p:cNvSpPr>
                    <p:nvPr/>
                  </p:nvSpPr>
                  <p:spPr bwMode="auto">
                    <a:xfrm>
                      <a:off x="861" y="3665"/>
                      <a:ext cx="12" cy="23"/>
                    </a:xfrm>
                    <a:custGeom>
                      <a:avLst/>
                      <a:gdLst>
                        <a:gd name="T0" fmla="*/ 0 w 25"/>
                        <a:gd name="T1" fmla="*/ 0 h 69"/>
                        <a:gd name="T2" fmla="*/ 0 w 25"/>
                        <a:gd name="T3" fmla="*/ 0 h 69"/>
                        <a:gd name="T4" fmla="*/ 0 w 25"/>
                        <a:gd name="T5" fmla="*/ 0 h 69"/>
                        <a:gd name="T6" fmla="*/ 0 w 25"/>
                        <a:gd name="T7" fmla="*/ 0 h 69"/>
                        <a:gd name="T8" fmla="*/ 0 w 25"/>
                        <a:gd name="T9" fmla="*/ 0 h 69"/>
                        <a:gd name="T10" fmla="*/ 0 60000 65536"/>
                        <a:gd name="T11" fmla="*/ 0 60000 65536"/>
                        <a:gd name="T12" fmla="*/ 0 60000 65536"/>
                        <a:gd name="T13" fmla="*/ 0 60000 65536"/>
                        <a:gd name="T14" fmla="*/ 0 60000 65536"/>
                        <a:gd name="T15" fmla="*/ 0 w 25"/>
                        <a:gd name="T16" fmla="*/ 0 h 69"/>
                        <a:gd name="T17" fmla="*/ 25 w 25"/>
                        <a:gd name="T18" fmla="*/ 69 h 69"/>
                      </a:gdLst>
                      <a:ahLst/>
                      <a:cxnLst>
                        <a:cxn ang="T10">
                          <a:pos x="T0" y="T1"/>
                        </a:cxn>
                        <a:cxn ang="T11">
                          <a:pos x="T2" y="T3"/>
                        </a:cxn>
                        <a:cxn ang="T12">
                          <a:pos x="T4" y="T5"/>
                        </a:cxn>
                        <a:cxn ang="T13">
                          <a:pos x="T6" y="T7"/>
                        </a:cxn>
                        <a:cxn ang="T14">
                          <a:pos x="T8" y="T9"/>
                        </a:cxn>
                      </a:cxnLst>
                      <a:rect l="T15" t="T16" r="T17" b="T18"/>
                      <a:pathLst>
                        <a:path w="25" h="69">
                          <a:moveTo>
                            <a:pt x="16" y="69"/>
                          </a:moveTo>
                          <a:lnTo>
                            <a:pt x="0" y="27"/>
                          </a:lnTo>
                          <a:lnTo>
                            <a:pt x="11" y="0"/>
                          </a:lnTo>
                          <a:lnTo>
                            <a:pt x="25" y="32"/>
                          </a:lnTo>
                          <a:lnTo>
                            <a:pt x="16"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7" name="Freeform 2370"/>
                    <p:cNvSpPr>
                      <a:spLocks/>
                    </p:cNvSpPr>
                    <p:nvPr/>
                  </p:nvSpPr>
                  <p:spPr bwMode="auto">
                    <a:xfrm>
                      <a:off x="865" y="3666"/>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4"/>
                          </a:lnTo>
                          <a:lnTo>
                            <a:pt x="57" y="13"/>
                          </a:lnTo>
                          <a:lnTo>
                            <a:pt x="75" y="31"/>
                          </a:lnTo>
                          <a:lnTo>
                            <a:pt x="19" y="31"/>
                          </a:lnTo>
                          <a:lnTo>
                            <a:pt x="11" y="22"/>
                          </a:lnTo>
                          <a:lnTo>
                            <a:pt x="0" y="7"/>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8" name="Freeform 2371"/>
                    <p:cNvSpPr>
                      <a:spLocks/>
                    </p:cNvSpPr>
                    <p:nvPr/>
                  </p:nvSpPr>
                  <p:spPr bwMode="auto">
                    <a:xfrm>
                      <a:off x="869" y="3676"/>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0" name="Group 2372"/>
                  <p:cNvGrpSpPr>
                    <a:grpSpLocks/>
                  </p:cNvGrpSpPr>
                  <p:nvPr/>
                </p:nvGrpSpPr>
                <p:grpSpPr bwMode="auto">
                  <a:xfrm>
                    <a:off x="873" y="3678"/>
                    <a:ext cx="49" cy="23"/>
                    <a:chOff x="873" y="3678"/>
                    <a:chExt cx="49" cy="23"/>
                  </a:xfrm>
                </p:grpSpPr>
                <p:sp>
                  <p:nvSpPr>
                    <p:cNvPr id="3033" name="Freeform 2373"/>
                    <p:cNvSpPr>
                      <a:spLocks/>
                    </p:cNvSpPr>
                    <p:nvPr/>
                  </p:nvSpPr>
                  <p:spPr bwMode="auto">
                    <a:xfrm>
                      <a:off x="873" y="3678"/>
                      <a:ext cx="13" cy="23"/>
                    </a:xfrm>
                    <a:custGeom>
                      <a:avLst/>
                      <a:gdLst>
                        <a:gd name="T0" fmla="*/ 1 w 25"/>
                        <a:gd name="T1" fmla="*/ 0 h 70"/>
                        <a:gd name="T2" fmla="*/ 0 w 25"/>
                        <a:gd name="T3" fmla="*/ 0 h 70"/>
                        <a:gd name="T4" fmla="*/ 1 w 25"/>
                        <a:gd name="T5" fmla="*/ 0 h 70"/>
                        <a:gd name="T6" fmla="*/ 1 w 25"/>
                        <a:gd name="T7" fmla="*/ 0 h 70"/>
                        <a:gd name="T8" fmla="*/ 1 w 25"/>
                        <a:gd name="T9" fmla="*/ 0 h 70"/>
                        <a:gd name="T10" fmla="*/ 0 60000 65536"/>
                        <a:gd name="T11" fmla="*/ 0 60000 65536"/>
                        <a:gd name="T12" fmla="*/ 0 60000 65536"/>
                        <a:gd name="T13" fmla="*/ 0 60000 65536"/>
                        <a:gd name="T14" fmla="*/ 0 60000 65536"/>
                        <a:gd name="T15" fmla="*/ 0 w 25"/>
                        <a:gd name="T16" fmla="*/ 0 h 70"/>
                        <a:gd name="T17" fmla="*/ 25 w 25"/>
                        <a:gd name="T18" fmla="*/ 70 h 70"/>
                      </a:gdLst>
                      <a:ahLst/>
                      <a:cxnLst>
                        <a:cxn ang="T10">
                          <a:pos x="T0" y="T1"/>
                        </a:cxn>
                        <a:cxn ang="T11">
                          <a:pos x="T2" y="T3"/>
                        </a:cxn>
                        <a:cxn ang="T12">
                          <a:pos x="T4" y="T5"/>
                        </a:cxn>
                        <a:cxn ang="T13">
                          <a:pos x="T6" y="T7"/>
                        </a:cxn>
                        <a:cxn ang="T14">
                          <a:pos x="T8" y="T9"/>
                        </a:cxn>
                      </a:cxnLst>
                      <a:rect l="T15" t="T16" r="T17" b="T18"/>
                      <a:pathLst>
                        <a:path w="25" h="70">
                          <a:moveTo>
                            <a:pt x="13" y="70"/>
                          </a:moveTo>
                          <a:lnTo>
                            <a:pt x="0" y="27"/>
                          </a:lnTo>
                          <a:lnTo>
                            <a:pt x="9" y="0"/>
                          </a:lnTo>
                          <a:lnTo>
                            <a:pt x="25" y="31"/>
                          </a:lnTo>
                          <a:lnTo>
                            <a:pt x="13"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4" name="Freeform 2374"/>
                    <p:cNvSpPr>
                      <a:spLocks/>
                    </p:cNvSpPr>
                    <p:nvPr/>
                  </p:nvSpPr>
                  <p:spPr bwMode="auto">
                    <a:xfrm>
                      <a:off x="878" y="3678"/>
                      <a:ext cx="37" cy="10"/>
                    </a:xfrm>
                    <a:custGeom>
                      <a:avLst/>
                      <a:gdLst>
                        <a:gd name="T0" fmla="*/ 0 w 75"/>
                        <a:gd name="T1" fmla="*/ 0 h 30"/>
                        <a:gd name="T2" fmla="*/ 0 w 75"/>
                        <a:gd name="T3" fmla="*/ 0 h 30"/>
                        <a:gd name="T4" fmla="*/ 0 w 75"/>
                        <a:gd name="T5" fmla="*/ 0 h 30"/>
                        <a:gd name="T6" fmla="*/ 0 w 75"/>
                        <a:gd name="T7" fmla="*/ 0 h 30"/>
                        <a:gd name="T8" fmla="*/ 0 w 75"/>
                        <a:gd name="T9" fmla="*/ 0 h 30"/>
                        <a:gd name="T10" fmla="*/ 0 w 75"/>
                        <a:gd name="T11" fmla="*/ 0 h 30"/>
                        <a:gd name="T12" fmla="*/ 0 w 75"/>
                        <a:gd name="T13" fmla="*/ 0 h 30"/>
                        <a:gd name="T14" fmla="*/ 0 w 75"/>
                        <a:gd name="T15" fmla="*/ 0 h 30"/>
                        <a:gd name="T16" fmla="*/ 0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2" y="0"/>
                          </a:moveTo>
                          <a:lnTo>
                            <a:pt x="50" y="0"/>
                          </a:lnTo>
                          <a:lnTo>
                            <a:pt x="52" y="3"/>
                          </a:lnTo>
                          <a:lnTo>
                            <a:pt x="57" y="12"/>
                          </a:lnTo>
                          <a:lnTo>
                            <a:pt x="75" y="30"/>
                          </a:lnTo>
                          <a:lnTo>
                            <a:pt x="19" y="30"/>
                          </a:lnTo>
                          <a:lnTo>
                            <a:pt x="11" y="20"/>
                          </a:lnTo>
                          <a:lnTo>
                            <a:pt x="0" y="6"/>
                          </a:lnTo>
                          <a:lnTo>
                            <a:pt x="2"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5" name="Freeform 2375"/>
                    <p:cNvSpPr>
                      <a:spLocks/>
                    </p:cNvSpPr>
                    <p:nvPr/>
                  </p:nvSpPr>
                  <p:spPr bwMode="auto">
                    <a:xfrm>
                      <a:off x="880" y="3688"/>
                      <a:ext cx="42" cy="13"/>
                    </a:xfrm>
                    <a:custGeom>
                      <a:avLst/>
                      <a:gdLst>
                        <a:gd name="T0" fmla="*/ 0 w 82"/>
                        <a:gd name="T1" fmla="*/ 0 h 38"/>
                        <a:gd name="T2" fmla="*/ 1 w 82"/>
                        <a:gd name="T3" fmla="*/ 0 h 38"/>
                        <a:gd name="T4" fmla="*/ 1 w 82"/>
                        <a:gd name="T5" fmla="*/ 0 h 38"/>
                        <a:gd name="T6" fmla="*/ 1 w 82"/>
                        <a:gd name="T7" fmla="*/ 0 h 38"/>
                        <a:gd name="T8" fmla="*/ 1 w 82"/>
                        <a:gd name="T9" fmla="*/ 0 h 38"/>
                        <a:gd name="T10" fmla="*/ 1 w 82"/>
                        <a:gd name="T11" fmla="*/ 0 h 38"/>
                        <a:gd name="T12" fmla="*/ 0 w 82"/>
                        <a:gd name="T13" fmla="*/ 0 h 38"/>
                        <a:gd name="T14" fmla="*/ 0 60000 65536"/>
                        <a:gd name="T15" fmla="*/ 0 60000 65536"/>
                        <a:gd name="T16" fmla="*/ 0 60000 65536"/>
                        <a:gd name="T17" fmla="*/ 0 60000 65536"/>
                        <a:gd name="T18" fmla="*/ 0 60000 65536"/>
                        <a:gd name="T19" fmla="*/ 0 60000 65536"/>
                        <a:gd name="T20" fmla="*/ 0 60000 65536"/>
                        <a:gd name="T21" fmla="*/ 0 w 82"/>
                        <a:gd name="T22" fmla="*/ 0 h 38"/>
                        <a:gd name="T23" fmla="*/ 82 w 82"/>
                        <a:gd name="T24" fmla="*/ 38 h 3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8">
                          <a:moveTo>
                            <a:pt x="0" y="38"/>
                          </a:moveTo>
                          <a:lnTo>
                            <a:pt x="4" y="21"/>
                          </a:lnTo>
                          <a:lnTo>
                            <a:pt x="8" y="8"/>
                          </a:lnTo>
                          <a:lnTo>
                            <a:pt x="13" y="0"/>
                          </a:lnTo>
                          <a:lnTo>
                            <a:pt x="69" y="0"/>
                          </a:lnTo>
                          <a:lnTo>
                            <a:pt x="82" y="38"/>
                          </a:lnTo>
                          <a:lnTo>
                            <a:pt x="0" y="38"/>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1" name="Group 2376"/>
                  <p:cNvGrpSpPr>
                    <a:grpSpLocks/>
                  </p:cNvGrpSpPr>
                  <p:nvPr/>
                </p:nvGrpSpPr>
                <p:grpSpPr bwMode="auto">
                  <a:xfrm>
                    <a:off x="886" y="3690"/>
                    <a:ext cx="49" cy="23"/>
                    <a:chOff x="886" y="3690"/>
                    <a:chExt cx="49" cy="23"/>
                  </a:xfrm>
                </p:grpSpPr>
                <p:sp>
                  <p:nvSpPr>
                    <p:cNvPr id="3030" name="Freeform 2377"/>
                    <p:cNvSpPr>
                      <a:spLocks/>
                    </p:cNvSpPr>
                    <p:nvPr/>
                  </p:nvSpPr>
                  <p:spPr bwMode="auto">
                    <a:xfrm>
                      <a:off x="886" y="3690"/>
                      <a:ext cx="12" cy="23"/>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4" y="70"/>
                          </a:moveTo>
                          <a:lnTo>
                            <a:pt x="0" y="29"/>
                          </a:lnTo>
                          <a:lnTo>
                            <a:pt x="10" y="0"/>
                          </a:lnTo>
                          <a:lnTo>
                            <a:pt x="24" y="33"/>
                          </a:lnTo>
                          <a:lnTo>
                            <a:pt x="14" y="70"/>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1" name="Freeform 2378"/>
                    <p:cNvSpPr>
                      <a:spLocks/>
                    </p:cNvSpPr>
                    <p:nvPr/>
                  </p:nvSpPr>
                  <p:spPr bwMode="auto">
                    <a:xfrm>
                      <a:off x="890" y="3691"/>
                      <a:ext cx="38" cy="10"/>
                    </a:xfrm>
                    <a:custGeom>
                      <a:avLst/>
                      <a:gdLst>
                        <a:gd name="T0" fmla="*/ 1 w 75"/>
                        <a:gd name="T1" fmla="*/ 0 h 31"/>
                        <a:gd name="T2" fmla="*/ 1 w 75"/>
                        <a:gd name="T3" fmla="*/ 0 h 31"/>
                        <a:gd name="T4" fmla="*/ 1 w 75"/>
                        <a:gd name="T5" fmla="*/ 0 h 31"/>
                        <a:gd name="T6" fmla="*/ 1 w 75"/>
                        <a:gd name="T7" fmla="*/ 0 h 31"/>
                        <a:gd name="T8" fmla="*/ 1 w 75"/>
                        <a:gd name="T9" fmla="*/ 0 h 31"/>
                        <a:gd name="T10" fmla="*/ 1 w 75"/>
                        <a:gd name="T11" fmla="*/ 0 h 31"/>
                        <a:gd name="T12" fmla="*/ 1 w 75"/>
                        <a:gd name="T13" fmla="*/ 0 h 31"/>
                        <a:gd name="T14" fmla="*/ 0 w 75"/>
                        <a:gd name="T15" fmla="*/ 0 h 31"/>
                        <a:gd name="T16" fmla="*/ 1 w 75"/>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1"/>
                        <a:gd name="T29" fmla="*/ 75 w 75"/>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1">
                          <a:moveTo>
                            <a:pt x="3" y="0"/>
                          </a:moveTo>
                          <a:lnTo>
                            <a:pt x="52" y="0"/>
                          </a:lnTo>
                          <a:lnTo>
                            <a:pt x="53" y="2"/>
                          </a:lnTo>
                          <a:lnTo>
                            <a:pt x="57" y="11"/>
                          </a:lnTo>
                          <a:lnTo>
                            <a:pt x="75" y="31"/>
                          </a:lnTo>
                          <a:lnTo>
                            <a:pt x="19" y="31"/>
                          </a:lnTo>
                          <a:lnTo>
                            <a:pt x="10" y="22"/>
                          </a:lnTo>
                          <a:lnTo>
                            <a:pt x="0" y="6"/>
                          </a:lnTo>
                          <a:lnTo>
                            <a:pt x="3"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32" name="Freeform 2379"/>
                    <p:cNvSpPr>
                      <a:spLocks/>
                    </p:cNvSpPr>
                    <p:nvPr/>
                  </p:nvSpPr>
                  <p:spPr bwMode="auto">
                    <a:xfrm>
                      <a:off x="893" y="3701"/>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8" y="7"/>
                          </a:lnTo>
                          <a:lnTo>
                            <a:pt x="12" y="0"/>
                          </a:lnTo>
                          <a:lnTo>
                            <a:pt x="68"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2" name="Group 2380"/>
                  <p:cNvGrpSpPr>
                    <a:grpSpLocks/>
                  </p:cNvGrpSpPr>
                  <p:nvPr/>
                </p:nvGrpSpPr>
                <p:grpSpPr bwMode="auto">
                  <a:xfrm>
                    <a:off x="899" y="3703"/>
                    <a:ext cx="48" cy="23"/>
                    <a:chOff x="899" y="3703"/>
                    <a:chExt cx="48" cy="23"/>
                  </a:xfrm>
                </p:grpSpPr>
                <p:sp>
                  <p:nvSpPr>
                    <p:cNvPr id="3027" name="Freeform 2381"/>
                    <p:cNvSpPr>
                      <a:spLocks/>
                    </p:cNvSpPr>
                    <p:nvPr/>
                  </p:nvSpPr>
                  <p:spPr bwMode="auto">
                    <a:xfrm>
                      <a:off x="899" y="3703"/>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5" y="68"/>
                          </a:moveTo>
                          <a:lnTo>
                            <a:pt x="0" y="27"/>
                          </a:lnTo>
                          <a:lnTo>
                            <a:pt x="10" y="0"/>
                          </a:lnTo>
                          <a:lnTo>
                            <a:pt x="25"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8" name="Freeform 2382"/>
                    <p:cNvSpPr>
                      <a:spLocks/>
                    </p:cNvSpPr>
                    <p:nvPr/>
                  </p:nvSpPr>
                  <p:spPr bwMode="auto">
                    <a:xfrm>
                      <a:off x="903" y="3703"/>
                      <a:ext cx="38" cy="10"/>
                    </a:xfrm>
                    <a:custGeom>
                      <a:avLst/>
                      <a:gdLst>
                        <a:gd name="T0" fmla="*/ 1 w 75"/>
                        <a:gd name="T1" fmla="*/ 0 h 30"/>
                        <a:gd name="T2" fmla="*/ 1 w 75"/>
                        <a:gd name="T3" fmla="*/ 0 h 30"/>
                        <a:gd name="T4" fmla="*/ 1 w 75"/>
                        <a:gd name="T5" fmla="*/ 0 h 30"/>
                        <a:gd name="T6" fmla="*/ 1 w 75"/>
                        <a:gd name="T7" fmla="*/ 0 h 30"/>
                        <a:gd name="T8" fmla="*/ 1 w 75"/>
                        <a:gd name="T9" fmla="*/ 0 h 30"/>
                        <a:gd name="T10" fmla="*/ 1 w 75"/>
                        <a:gd name="T11" fmla="*/ 0 h 30"/>
                        <a:gd name="T12" fmla="*/ 1 w 75"/>
                        <a:gd name="T13" fmla="*/ 0 h 30"/>
                        <a:gd name="T14" fmla="*/ 0 w 75"/>
                        <a:gd name="T15" fmla="*/ 0 h 30"/>
                        <a:gd name="T16" fmla="*/ 1 w 75"/>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5"/>
                        <a:gd name="T28" fmla="*/ 0 h 30"/>
                        <a:gd name="T29" fmla="*/ 75 w 75"/>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5" h="30">
                          <a:moveTo>
                            <a:pt x="1" y="0"/>
                          </a:moveTo>
                          <a:lnTo>
                            <a:pt x="50" y="0"/>
                          </a:lnTo>
                          <a:lnTo>
                            <a:pt x="51" y="3"/>
                          </a:lnTo>
                          <a:lnTo>
                            <a:pt x="56" y="12"/>
                          </a:lnTo>
                          <a:lnTo>
                            <a:pt x="75" y="30"/>
                          </a:lnTo>
                          <a:lnTo>
                            <a:pt x="18" y="30"/>
                          </a:lnTo>
                          <a:lnTo>
                            <a:pt x="9" y="21"/>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9" name="Freeform 2383"/>
                    <p:cNvSpPr>
                      <a:spLocks/>
                    </p:cNvSpPr>
                    <p:nvPr/>
                  </p:nvSpPr>
                  <p:spPr bwMode="auto">
                    <a:xfrm>
                      <a:off x="907" y="3714"/>
                      <a:ext cx="40" cy="12"/>
                    </a:xfrm>
                    <a:custGeom>
                      <a:avLst/>
                      <a:gdLst>
                        <a:gd name="T0" fmla="*/ 0 w 82"/>
                        <a:gd name="T1" fmla="*/ 0 h 36"/>
                        <a:gd name="T2" fmla="*/ 0 w 82"/>
                        <a:gd name="T3" fmla="*/ 0 h 36"/>
                        <a:gd name="T4" fmla="*/ 0 w 82"/>
                        <a:gd name="T5" fmla="*/ 0 h 36"/>
                        <a:gd name="T6" fmla="*/ 0 w 82"/>
                        <a:gd name="T7" fmla="*/ 0 h 36"/>
                        <a:gd name="T8" fmla="*/ 0 w 82"/>
                        <a:gd name="T9" fmla="*/ 0 h 36"/>
                        <a:gd name="T10" fmla="*/ 0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5" y="8"/>
                          </a:lnTo>
                          <a:lnTo>
                            <a:pt x="12" y="0"/>
                          </a:lnTo>
                          <a:lnTo>
                            <a:pt x="69" y="0"/>
                          </a:lnTo>
                          <a:lnTo>
                            <a:pt x="82"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3023" name="Group 2384"/>
                  <p:cNvGrpSpPr>
                    <a:grpSpLocks/>
                  </p:cNvGrpSpPr>
                  <p:nvPr/>
                </p:nvGrpSpPr>
                <p:grpSpPr bwMode="auto">
                  <a:xfrm>
                    <a:off x="912" y="3716"/>
                    <a:ext cx="48" cy="23"/>
                    <a:chOff x="912" y="3716"/>
                    <a:chExt cx="48" cy="23"/>
                  </a:xfrm>
                </p:grpSpPr>
                <p:sp>
                  <p:nvSpPr>
                    <p:cNvPr id="3024" name="Freeform 2385"/>
                    <p:cNvSpPr>
                      <a:spLocks/>
                    </p:cNvSpPr>
                    <p:nvPr/>
                  </p:nvSpPr>
                  <p:spPr bwMode="auto">
                    <a:xfrm>
                      <a:off x="912" y="3716"/>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0"/>
                          </a:lnTo>
                          <a:lnTo>
                            <a:pt x="13"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5" name="Freeform 2386"/>
                    <p:cNvSpPr>
                      <a:spLocks/>
                    </p:cNvSpPr>
                    <p:nvPr/>
                  </p:nvSpPr>
                  <p:spPr bwMode="auto">
                    <a:xfrm>
                      <a:off x="916" y="3717"/>
                      <a:ext cx="37" cy="9"/>
                    </a:xfrm>
                    <a:custGeom>
                      <a:avLst/>
                      <a:gdLst>
                        <a:gd name="T0" fmla="*/ 1 w 74"/>
                        <a:gd name="T1" fmla="*/ 0 h 29"/>
                        <a:gd name="T2" fmla="*/ 1 w 74"/>
                        <a:gd name="T3" fmla="*/ 0 h 29"/>
                        <a:gd name="T4" fmla="*/ 1 w 74"/>
                        <a:gd name="T5" fmla="*/ 0 h 29"/>
                        <a:gd name="T6" fmla="*/ 1 w 74"/>
                        <a:gd name="T7" fmla="*/ 0 h 29"/>
                        <a:gd name="T8" fmla="*/ 1 w 74"/>
                        <a:gd name="T9" fmla="*/ 0 h 29"/>
                        <a:gd name="T10" fmla="*/ 1 w 74"/>
                        <a:gd name="T11" fmla="*/ 0 h 29"/>
                        <a:gd name="T12" fmla="*/ 1 w 74"/>
                        <a:gd name="T13" fmla="*/ 0 h 29"/>
                        <a:gd name="T14" fmla="*/ 0 w 74"/>
                        <a:gd name="T15" fmla="*/ 0 h 29"/>
                        <a:gd name="T16" fmla="*/ 1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1" y="0"/>
                          </a:moveTo>
                          <a:lnTo>
                            <a:pt x="50" y="0"/>
                          </a:lnTo>
                          <a:lnTo>
                            <a:pt x="51" y="3"/>
                          </a:lnTo>
                          <a:lnTo>
                            <a:pt x="55" y="11"/>
                          </a:lnTo>
                          <a:lnTo>
                            <a:pt x="74" y="29"/>
                          </a:lnTo>
                          <a:lnTo>
                            <a:pt x="18" y="29"/>
                          </a:lnTo>
                          <a:lnTo>
                            <a:pt x="8" y="20"/>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26" name="Freeform 2387"/>
                    <p:cNvSpPr>
                      <a:spLocks/>
                    </p:cNvSpPr>
                    <p:nvPr/>
                  </p:nvSpPr>
                  <p:spPr bwMode="auto">
                    <a:xfrm>
                      <a:off x="919" y="3727"/>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7"/>
                          </a:lnTo>
                          <a:lnTo>
                            <a:pt x="11" y="0"/>
                          </a:lnTo>
                          <a:lnTo>
                            <a:pt x="69"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3" name="Group 2388"/>
                <p:cNvGrpSpPr>
                  <a:grpSpLocks/>
                </p:cNvGrpSpPr>
                <p:nvPr/>
              </p:nvGrpSpPr>
              <p:grpSpPr bwMode="auto">
                <a:xfrm>
                  <a:off x="922" y="3727"/>
                  <a:ext cx="49" cy="23"/>
                  <a:chOff x="922" y="3727"/>
                  <a:chExt cx="49" cy="23"/>
                </a:xfrm>
              </p:grpSpPr>
              <p:sp>
                <p:nvSpPr>
                  <p:cNvPr id="3016" name="Freeform 2389"/>
                  <p:cNvSpPr>
                    <a:spLocks/>
                  </p:cNvSpPr>
                  <p:nvPr/>
                </p:nvSpPr>
                <p:spPr bwMode="auto">
                  <a:xfrm>
                    <a:off x="922" y="3727"/>
                    <a:ext cx="12" cy="23"/>
                  </a:xfrm>
                  <a:custGeom>
                    <a:avLst/>
                    <a:gdLst>
                      <a:gd name="T0" fmla="*/ 1 w 24"/>
                      <a:gd name="T1" fmla="*/ 0 h 69"/>
                      <a:gd name="T2" fmla="*/ 0 w 24"/>
                      <a:gd name="T3" fmla="*/ 0 h 69"/>
                      <a:gd name="T4" fmla="*/ 1 w 24"/>
                      <a:gd name="T5" fmla="*/ 0 h 69"/>
                      <a:gd name="T6" fmla="*/ 1 w 24"/>
                      <a:gd name="T7" fmla="*/ 0 h 69"/>
                      <a:gd name="T8" fmla="*/ 1 w 24"/>
                      <a:gd name="T9" fmla="*/ 0 h 69"/>
                      <a:gd name="T10" fmla="*/ 0 60000 65536"/>
                      <a:gd name="T11" fmla="*/ 0 60000 65536"/>
                      <a:gd name="T12" fmla="*/ 0 60000 65536"/>
                      <a:gd name="T13" fmla="*/ 0 60000 65536"/>
                      <a:gd name="T14" fmla="*/ 0 60000 65536"/>
                      <a:gd name="T15" fmla="*/ 0 w 24"/>
                      <a:gd name="T16" fmla="*/ 0 h 69"/>
                      <a:gd name="T17" fmla="*/ 24 w 24"/>
                      <a:gd name="T18" fmla="*/ 69 h 69"/>
                    </a:gdLst>
                    <a:ahLst/>
                    <a:cxnLst>
                      <a:cxn ang="T10">
                        <a:pos x="T0" y="T1"/>
                      </a:cxn>
                      <a:cxn ang="T11">
                        <a:pos x="T2" y="T3"/>
                      </a:cxn>
                      <a:cxn ang="T12">
                        <a:pos x="T4" y="T5"/>
                      </a:cxn>
                      <a:cxn ang="T13">
                        <a:pos x="T6" y="T7"/>
                      </a:cxn>
                      <a:cxn ang="T14">
                        <a:pos x="T8" y="T9"/>
                      </a:cxn>
                    </a:cxnLst>
                    <a:rect l="T15" t="T16" r="T17" b="T18"/>
                    <a:pathLst>
                      <a:path w="24" h="69">
                        <a:moveTo>
                          <a:pt x="15" y="69"/>
                        </a:moveTo>
                        <a:lnTo>
                          <a:pt x="0" y="27"/>
                        </a:lnTo>
                        <a:lnTo>
                          <a:pt x="11" y="0"/>
                        </a:lnTo>
                        <a:lnTo>
                          <a:pt x="24" y="32"/>
                        </a:lnTo>
                        <a:lnTo>
                          <a:pt x="15" y="69"/>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7" name="Freeform 2390"/>
                  <p:cNvSpPr>
                    <a:spLocks/>
                  </p:cNvSpPr>
                  <p:nvPr/>
                </p:nvSpPr>
                <p:spPr bwMode="auto">
                  <a:xfrm>
                    <a:off x="927" y="3728"/>
                    <a:ext cx="36" cy="10"/>
                  </a:xfrm>
                  <a:custGeom>
                    <a:avLst/>
                    <a:gdLst>
                      <a:gd name="T0" fmla="*/ 1 w 72"/>
                      <a:gd name="T1" fmla="*/ 0 h 31"/>
                      <a:gd name="T2" fmla="*/ 1 w 72"/>
                      <a:gd name="T3" fmla="*/ 0 h 31"/>
                      <a:gd name="T4" fmla="*/ 1 w 72"/>
                      <a:gd name="T5" fmla="*/ 0 h 31"/>
                      <a:gd name="T6" fmla="*/ 1 w 72"/>
                      <a:gd name="T7" fmla="*/ 0 h 31"/>
                      <a:gd name="T8" fmla="*/ 1 w 72"/>
                      <a:gd name="T9" fmla="*/ 0 h 31"/>
                      <a:gd name="T10" fmla="*/ 1 w 72"/>
                      <a:gd name="T11" fmla="*/ 0 h 31"/>
                      <a:gd name="T12" fmla="*/ 1 w 72"/>
                      <a:gd name="T13" fmla="*/ 0 h 31"/>
                      <a:gd name="T14" fmla="*/ 0 w 72"/>
                      <a:gd name="T15" fmla="*/ 0 h 31"/>
                      <a:gd name="T16" fmla="*/ 1 w 72"/>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1"/>
                      <a:gd name="T29" fmla="*/ 72 w 72"/>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1">
                        <a:moveTo>
                          <a:pt x="1" y="0"/>
                        </a:moveTo>
                        <a:lnTo>
                          <a:pt x="49" y="0"/>
                        </a:lnTo>
                        <a:lnTo>
                          <a:pt x="50" y="4"/>
                        </a:lnTo>
                        <a:lnTo>
                          <a:pt x="56" y="13"/>
                        </a:lnTo>
                        <a:lnTo>
                          <a:pt x="72" y="31"/>
                        </a:lnTo>
                        <a:lnTo>
                          <a:pt x="18" y="31"/>
                        </a:lnTo>
                        <a:lnTo>
                          <a:pt x="9" y="22"/>
                        </a:lnTo>
                        <a:lnTo>
                          <a:pt x="0" y="7"/>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8" name="Freeform 2391"/>
                  <p:cNvSpPr>
                    <a:spLocks/>
                  </p:cNvSpPr>
                  <p:nvPr/>
                </p:nvSpPr>
                <p:spPr bwMode="auto">
                  <a:xfrm>
                    <a:off x="930" y="3738"/>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20"/>
                        </a:lnTo>
                        <a:lnTo>
                          <a:pt x="7" y="7"/>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4" name="Group 2392"/>
                <p:cNvGrpSpPr>
                  <a:grpSpLocks/>
                </p:cNvGrpSpPr>
                <p:nvPr/>
              </p:nvGrpSpPr>
              <p:grpSpPr bwMode="auto">
                <a:xfrm>
                  <a:off x="895" y="3526"/>
                  <a:ext cx="44" cy="23"/>
                  <a:chOff x="895" y="3526"/>
                  <a:chExt cx="44" cy="23"/>
                </a:xfrm>
              </p:grpSpPr>
              <p:sp>
                <p:nvSpPr>
                  <p:cNvPr id="3013" name="Freeform 2393"/>
                  <p:cNvSpPr>
                    <a:spLocks/>
                  </p:cNvSpPr>
                  <p:nvPr/>
                </p:nvSpPr>
                <p:spPr bwMode="auto">
                  <a:xfrm>
                    <a:off x="895" y="3526"/>
                    <a:ext cx="19" cy="23"/>
                  </a:xfrm>
                  <a:custGeom>
                    <a:avLst/>
                    <a:gdLst>
                      <a:gd name="T0" fmla="*/ 1 w 38"/>
                      <a:gd name="T1" fmla="*/ 0 h 69"/>
                      <a:gd name="T2" fmla="*/ 0 w 38"/>
                      <a:gd name="T3" fmla="*/ 0 h 69"/>
                      <a:gd name="T4" fmla="*/ 1 w 38"/>
                      <a:gd name="T5" fmla="*/ 0 h 69"/>
                      <a:gd name="T6" fmla="*/ 1 w 38"/>
                      <a:gd name="T7" fmla="*/ 0 h 69"/>
                      <a:gd name="T8" fmla="*/ 1 w 38"/>
                      <a:gd name="T9" fmla="*/ 0 h 69"/>
                      <a:gd name="T10" fmla="*/ 0 60000 65536"/>
                      <a:gd name="T11" fmla="*/ 0 60000 65536"/>
                      <a:gd name="T12" fmla="*/ 0 60000 65536"/>
                      <a:gd name="T13" fmla="*/ 0 60000 65536"/>
                      <a:gd name="T14" fmla="*/ 0 60000 65536"/>
                      <a:gd name="T15" fmla="*/ 0 w 38"/>
                      <a:gd name="T16" fmla="*/ 0 h 69"/>
                      <a:gd name="T17" fmla="*/ 38 w 38"/>
                      <a:gd name="T18" fmla="*/ 69 h 69"/>
                    </a:gdLst>
                    <a:ahLst/>
                    <a:cxnLst>
                      <a:cxn ang="T10">
                        <a:pos x="T0" y="T1"/>
                      </a:cxn>
                      <a:cxn ang="T11">
                        <a:pos x="T2" y="T3"/>
                      </a:cxn>
                      <a:cxn ang="T12">
                        <a:pos x="T4" y="T5"/>
                      </a:cxn>
                      <a:cxn ang="T13">
                        <a:pos x="T6" y="T7"/>
                      </a:cxn>
                      <a:cxn ang="T14">
                        <a:pos x="T8" y="T9"/>
                      </a:cxn>
                    </a:cxnLst>
                    <a:rect l="T15" t="T16" r="T17" b="T18"/>
                    <a:pathLst>
                      <a:path w="38" h="69">
                        <a:moveTo>
                          <a:pt x="22" y="69"/>
                        </a:moveTo>
                        <a:lnTo>
                          <a:pt x="0" y="34"/>
                        </a:lnTo>
                        <a:lnTo>
                          <a:pt x="11" y="0"/>
                        </a:lnTo>
                        <a:lnTo>
                          <a:pt x="38"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4" name="Freeform 2394"/>
                  <p:cNvSpPr>
                    <a:spLocks/>
                  </p:cNvSpPr>
                  <p:nvPr/>
                </p:nvSpPr>
                <p:spPr bwMode="auto">
                  <a:xfrm>
                    <a:off x="901" y="3526"/>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0" y="0"/>
                        </a:lnTo>
                        <a:lnTo>
                          <a:pt x="64" y="35"/>
                        </a:lnTo>
                        <a:lnTo>
                          <a:pt x="23"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5" name="Freeform 2395"/>
                  <p:cNvSpPr>
                    <a:spLocks/>
                  </p:cNvSpPr>
                  <p:nvPr/>
                </p:nvSpPr>
                <p:spPr bwMode="auto">
                  <a:xfrm>
                    <a:off x="907" y="3538"/>
                    <a:ext cx="32" cy="11"/>
                  </a:xfrm>
                  <a:custGeom>
                    <a:avLst/>
                    <a:gdLst>
                      <a:gd name="T0" fmla="*/ 0 w 65"/>
                      <a:gd name="T1" fmla="*/ 0 h 31"/>
                      <a:gd name="T2" fmla="*/ 0 w 65"/>
                      <a:gd name="T3" fmla="*/ 0 h 31"/>
                      <a:gd name="T4" fmla="*/ 0 w 65"/>
                      <a:gd name="T5" fmla="*/ 0 h 31"/>
                      <a:gd name="T6" fmla="*/ 0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3" y="0"/>
                        </a:lnTo>
                        <a:lnTo>
                          <a:pt x="54"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5" name="Group 2396"/>
                <p:cNvGrpSpPr>
                  <a:grpSpLocks/>
                </p:cNvGrpSpPr>
                <p:nvPr/>
              </p:nvGrpSpPr>
              <p:grpSpPr bwMode="auto">
                <a:xfrm>
                  <a:off x="907" y="3540"/>
                  <a:ext cx="45" cy="22"/>
                  <a:chOff x="907" y="3540"/>
                  <a:chExt cx="45" cy="22"/>
                </a:xfrm>
              </p:grpSpPr>
              <p:sp>
                <p:nvSpPr>
                  <p:cNvPr id="3010" name="Freeform 2397"/>
                  <p:cNvSpPr>
                    <a:spLocks/>
                  </p:cNvSpPr>
                  <p:nvPr/>
                </p:nvSpPr>
                <p:spPr bwMode="auto">
                  <a:xfrm>
                    <a:off x="907" y="3540"/>
                    <a:ext cx="20" cy="22"/>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4"/>
                        </a:lnTo>
                        <a:lnTo>
                          <a:pt x="11" y="0"/>
                        </a:lnTo>
                        <a:lnTo>
                          <a:pt x="39" y="34"/>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1" name="Freeform 2398"/>
                  <p:cNvSpPr>
                    <a:spLocks/>
                  </p:cNvSpPr>
                  <p:nvPr/>
                </p:nvSpPr>
                <p:spPr bwMode="auto">
                  <a:xfrm>
                    <a:off x="914" y="3540"/>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12" name="Freeform 2399"/>
                  <p:cNvSpPr>
                    <a:spLocks/>
                  </p:cNvSpPr>
                  <p:nvPr/>
                </p:nvSpPr>
                <p:spPr bwMode="auto">
                  <a:xfrm>
                    <a:off x="919" y="3552"/>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6" name="Group 2400"/>
                <p:cNvGrpSpPr>
                  <a:grpSpLocks/>
                </p:cNvGrpSpPr>
                <p:nvPr/>
              </p:nvGrpSpPr>
              <p:grpSpPr bwMode="auto">
                <a:xfrm>
                  <a:off x="920" y="3553"/>
                  <a:ext cx="45" cy="23"/>
                  <a:chOff x="920" y="3553"/>
                  <a:chExt cx="45" cy="23"/>
                </a:xfrm>
              </p:grpSpPr>
              <p:sp>
                <p:nvSpPr>
                  <p:cNvPr id="3007" name="Freeform 2401"/>
                  <p:cNvSpPr>
                    <a:spLocks/>
                  </p:cNvSpPr>
                  <p:nvPr/>
                </p:nvSpPr>
                <p:spPr bwMode="auto">
                  <a:xfrm>
                    <a:off x="920" y="3553"/>
                    <a:ext cx="20" cy="23"/>
                  </a:xfrm>
                  <a:custGeom>
                    <a:avLst/>
                    <a:gdLst>
                      <a:gd name="T0" fmla="*/ 0 w 41"/>
                      <a:gd name="T1" fmla="*/ 0 h 68"/>
                      <a:gd name="T2" fmla="*/ 0 w 41"/>
                      <a:gd name="T3" fmla="*/ 0 h 68"/>
                      <a:gd name="T4" fmla="*/ 0 w 41"/>
                      <a:gd name="T5" fmla="*/ 0 h 68"/>
                      <a:gd name="T6" fmla="*/ 0 w 41"/>
                      <a:gd name="T7" fmla="*/ 0 h 68"/>
                      <a:gd name="T8" fmla="*/ 0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4"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8" name="Freeform 2402"/>
                  <p:cNvSpPr>
                    <a:spLocks/>
                  </p:cNvSpPr>
                  <p:nvPr/>
                </p:nvSpPr>
                <p:spPr bwMode="auto">
                  <a:xfrm>
                    <a:off x="927" y="3554"/>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39"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9" name="Freeform 2403"/>
                  <p:cNvSpPr>
                    <a:spLocks/>
                  </p:cNvSpPr>
                  <p:nvPr/>
                </p:nvSpPr>
                <p:spPr bwMode="auto">
                  <a:xfrm>
                    <a:off x="932" y="3566"/>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3"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7" name="Group 2404"/>
                <p:cNvGrpSpPr>
                  <a:grpSpLocks/>
                </p:cNvGrpSpPr>
                <p:nvPr/>
              </p:nvGrpSpPr>
              <p:grpSpPr bwMode="auto">
                <a:xfrm>
                  <a:off x="934" y="3566"/>
                  <a:ext cx="44" cy="23"/>
                  <a:chOff x="934" y="3566"/>
                  <a:chExt cx="44" cy="23"/>
                </a:xfrm>
              </p:grpSpPr>
              <p:sp>
                <p:nvSpPr>
                  <p:cNvPr id="3004" name="Freeform 2405"/>
                  <p:cNvSpPr>
                    <a:spLocks/>
                  </p:cNvSpPr>
                  <p:nvPr/>
                </p:nvSpPr>
                <p:spPr bwMode="auto">
                  <a:xfrm>
                    <a:off x="934" y="356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2" y="68"/>
                        </a:moveTo>
                        <a:lnTo>
                          <a:pt x="0" y="33"/>
                        </a:lnTo>
                        <a:lnTo>
                          <a:pt x="12" y="0"/>
                        </a:lnTo>
                        <a:lnTo>
                          <a:pt x="40"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5" name="Freeform 2406"/>
                  <p:cNvSpPr>
                    <a:spLocks/>
                  </p:cNvSpPr>
                  <p:nvPr/>
                </p:nvSpPr>
                <p:spPr bwMode="auto">
                  <a:xfrm>
                    <a:off x="940" y="3567"/>
                    <a:ext cx="32" cy="11"/>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1"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6" name="Freeform 2407"/>
                  <p:cNvSpPr>
                    <a:spLocks/>
                  </p:cNvSpPr>
                  <p:nvPr/>
                </p:nvSpPr>
                <p:spPr bwMode="auto">
                  <a:xfrm>
                    <a:off x="945" y="3579"/>
                    <a:ext cx="33" cy="9"/>
                  </a:xfrm>
                  <a:custGeom>
                    <a:avLst/>
                    <a:gdLst>
                      <a:gd name="T0" fmla="*/ 0 w 65"/>
                      <a:gd name="T1" fmla="*/ 0 h 28"/>
                      <a:gd name="T2" fmla="*/ 1 w 65"/>
                      <a:gd name="T3" fmla="*/ 0 h 28"/>
                      <a:gd name="T4" fmla="*/ 1 w 65"/>
                      <a:gd name="T5" fmla="*/ 0 h 28"/>
                      <a:gd name="T6" fmla="*/ 1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3" y="0"/>
                        </a:lnTo>
                        <a:lnTo>
                          <a:pt x="54"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88" name="Group 2408"/>
                <p:cNvGrpSpPr>
                  <a:grpSpLocks/>
                </p:cNvGrpSpPr>
                <p:nvPr/>
              </p:nvGrpSpPr>
              <p:grpSpPr bwMode="auto">
                <a:xfrm>
                  <a:off x="949" y="3579"/>
                  <a:ext cx="83" cy="63"/>
                  <a:chOff x="949" y="3579"/>
                  <a:chExt cx="83" cy="63"/>
                </a:xfrm>
              </p:grpSpPr>
              <p:grpSp>
                <p:nvGrpSpPr>
                  <p:cNvPr id="2988" name="Group 2409"/>
                  <p:cNvGrpSpPr>
                    <a:grpSpLocks/>
                  </p:cNvGrpSpPr>
                  <p:nvPr/>
                </p:nvGrpSpPr>
                <p:grpSpPr bwMode="auto">
                  <a:xfrm>
                    <a:off x="949" y="3579"/>
                    <a:ext cx="44" cy="23"/>
                    <a:chOff x="949" y="3579"/>
                    <a:chExt cx="44" cy="23"/>
                  </a:xfrm>
                </p:grpSpPr>
                <p:sp>
                  <p:nvSpPr>
                    <p:cNvPr id="3001" name="Freeform 2410"/>
                    <p:cNvSpPr>
                      <a:spLocks/>
                    </p:cNvSpPr>
                    <p:nvPr/>
                  </p:nvSpPr>
                  <p:spPr bwMode="auto">
                    <a:xfrm>
                      <a:off x="949" y="3579"/>
                      <a:ext cx="19" cy="23"/>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2"/>
                          </a:lnTo>
                          <a:lnTo>
                            <a:pt x="11" y="0"/>
                          </a:lnTo>
                          <a:lnTo>
                            <a:pt x="38" y="32"/>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2" name="Freeform 2411"/>
                    <p:cNvSpPr>
                      <a:spLocks/>
                    </p:cNvSpPr>
                    <p:nvPr/>
                  </p:nvSpPr>
                  <p:spPr bwMode="auto">
                    <a:xfrm>
                      <a:off x="955" y="3579"/>
                      <a:ext cx="32" cy="11"/>
                    </a:xfrm>
                    <a:custGeom>
                      <a:avLst/>
                      <a:gdLst>
                        <a:gd name="T0" fmla="*/ 0 w 66"/>
                        <a:gd name="T1" fmla="*/ 0 h 32"/>
                        <a:gd name="T2" fmla="*/ 0 w 66"/>
                        <a:gd name="T3" fmla="*/ 0 h 32"/>
                        <a:gd name="T4" fmla="*/ 0 w 66"/>
                        <a:gd name="T5" fmla="*/ 0 h 32"/>
                        <a:gd name="T6" fmla="*/ 0 w 66"/>
                        <a:gd name="T7" fmla="*/ 0 h 32"/>
                        <a:gd name="T8" fmla="*/ 0 w 66"/>
                        <a:gd name="T9" fmla="*/ 0 h 32"/>
                        <a:gd name="T10" fmla="*/ 0 60000 65536"/>
                        <a:gd name="T11" fmla="*/ 0 60000 65536"/>
                        <a:gd name="T12" fmla="*/ 0 60000 65536"/>
                        <a:gd name="T13" fmla="*/ 0 60000 65536"/>
                        <a:gd name="T14" fmla="*/ 0 60000 65536"/>
                        <a:gd name="T15" fmla="*/ 0 w 66"/>
                        <a:gd name="T16" fmla="*/ 0 h 32"/>
                        <a:gd name="T17" fmla="*/ 66 w 66"/>
                        <a:gd name="T18" fmla="*/ 32 h 32"/>
                      </a:gdLst>
                      <a:ahLst/>
                      <a:cxnLst>
                        <a:cxn ang="T10">
                          <a:pos x="T0" y="T1"/>
                        </a:cxn>
                        <a:cxn ang="T11">
                          <a:pos x="T2" y="T3"/>
                        </a:cxn>
                        <a:cxn ang="T12">
                          <a:pos x="T4" y="T5"/>
                        </a:cxn>
                        <a:cxn ang="T13">
                          <a:pos x="T6" y="T7"/>
                        </a:cxn>
                        <a:cxn ang="T14">
                          <a:pos x="T8" y="T9"/>
                        </a:cxn>
                      </a:cxnLst>
                      <a:rect l="T15" t="T16" r="T17" b="T18"/>
                      <a:pathLst>
                        <a:path w="66" h="32">
                          <a:moveTo>
                            <a:pt x="0" y="0"/>
                          </a:moveTo>
                          <a:lnTo>
                            <a:pt x="42" y="0"/>
                          </a:lnTo>
                          <a:lnTo>
                            <a:pt x="66" y="32"/>
                          </a:lnTo>
                          <a:lnTo>
                            <a:pt x="25"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3" name="Freeform 2412"/>
                    <p:cNvSpPr>
                      <a:spLocks/>
                    </p:cNvSpPr>
                    <p:nvPr/>
                  </p:nvSpPr>
                  <p:spPr bwMode="auto">
                    <a:xfrm>
                      <a:off x="960" y="3591"/>
                      <a:ext cx="33" cy="10"/>
                    </a:xfrm>
                    <a:custGeom>
                      <a:avLst/>
                      <a:gdLst>
                        <a:gd name="T0" fmla="*/ 0 w 65"/>
                        <a:gd name="T1" fmla="*/ 0 h 31"/>
                        <a:gd name="T2" fmla="*/ 1 w 65"/>
                        <a:gd name="T3" fmla="*/ 0 h 31"/>
                        <a:gd name="T4" fmla="*/ 1 w 65"/>
                        <a:gd name="T5" fmla="*/ 0 h 31"/>
                        <a:gd name="T6" fmla="*/ 1 w 65"/>
                        <a:gd name="T7" fmla="*/ 0 h 31"/>
                        <a:gd name="T8" fmla="*/ 0 w 65"/>
                        <a:gd name="T9" fmla="*/ 0 h 31"/>
                        <a:gd name="T10" fmla="*/ 0 60000 65536"/>
                        <a:gd name="T11" fmla="*/ 0 60000 65536"/>
                        <a:gd name="T12" fmla="*/ 0 60000 65536"/>
                        <a:gd name="T13" fmla="*/ 0 60000 65536"/>
                        <a:gd name="T14" fmla="*/ 0 60000 65536"/>
                        <a:gd name="T15" fmla="*/ 0 w 65"/>
                        <a:gd name="T16" fmla="*/ 0 h 31"/>
                        <a:gd name="T17" fmla="*/ 65 w 65"/>
                        <a:gd name="T18" fmla="*/ 31 h 31"/>
                      </a:gdLst>
                      <a:ahLst/>
                      <a:cxnLst>
                        <a:cxn ang="T10">
                          <a:pos x="T0" y="T1"/>
                        </a:cxn>
                        <a:cxn ang="T11">
                          <a:pos x="T2" y="T3"/>
                        </a:cxn>
                        <a:cxn ang="T12">
                          <a:pos x="T4" y="T5"/>
                        </a:cxn>
                        <a:cxn ang="T13">
                          <a:pos x="T6" y="T7"/>
                        </a:cxn>
                        <a:cxn ang="T14">
                          <a:pos x="T8" y="T9"/>
                        </a:cxn>
                      </a:cxnLst>
                      <a:rect l="T15" t="T16" r="T17" b="T18"/>
                      <a:pathLst>
                        <a:path w="65" h="31">
                          <a:moveTo>
                            <a:pt x="0" y="31"/>
                          </a:moveTo>
                          <a:lnTo>
                            <a:pt x="14" y="0"/>
                          </a:lnTo>
                          <a:lnTo>
                            <a:pt x="55" y="0"/>
                          </a:lnTo>
                          <a:lnTo>
                            <a:pt x="65"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89" name="Group 2413"/>
                  <p:cNvGrpSpPr>
                    <a:grpSpLocks/>
                  </p:cNvGrpSpPr>
                  <p:nvPr/>
                </p:nvGrpSpPr>
                <p:grpSpPr bwMode="auto">
                  <a:xfrm>
                    <a:off x="961" y="3592"/>
                    <a:ext cx="45" cy="23"/>
                    <a:chOff x="961" y="3592"/>
                    <a:chExt cx="45" cy="23"/>
                  </a:xfrm>
                </p:grpSpPr>
                <p:sp>
                  <p:nvSpPr>
                    <p:cNvPr id="2998" name="Freeform 2414"/>
                    <p:cNvSpPr>
                      <a:spLocks/>
                    </p:cNvSpPr>
                    <p:nvPr/>
                  </p:nvSpPr>
                  <p:spPr bwMode="auto">
                    <a:xfrm>
                      <a:off x="961" y="3592"/>
                      <a:ext cx="20" cy="23"/>
                    </a:xfrm>
                    <a:custGeom>
                      <a:avLst/>
                      <a:gdLst>
                        <a:gd name="T0" fmla="*/ 1 w 40"/>
                        <a:gd name="T1" fmla="*/ 0 h 69"/>
                        <a:gd name="T2" fmla="*/ 0 w 40"/>
                        <a:gd name="T3" fmla="*/ 0 h 69"/>
                        <a:gd name="T4" fmla="*/ 1 w 40"/>
                        <a:gd name="T5" fmla="*/ 0 h 69"/>
                        <a:gd name="T6" fmla="*/ 1 w 40"/>
                        <a:gd name="T7" fmla="*/ 0 h 69"/>
                        <a:gd name="T8" fmla="*/ 1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3"/>
                          </a:lnTo>
                          <a:lnTo>
                            <a:pt x="12" y="0"/>
                          </a:lnTo>
                          <a:lnTo>
                            <a:pt x="40"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9" name="Freeform 2415"/>
                    <p:cNvSpPr>
                      <a:spLocks/>
                    </p:cNvSpPr>
                    <p:nvPr/>
                  </p:nvSpPr>
                  <p:spPr bwMode="auto">
                    <a:xfrm>
                      <a:off x="968" y="3593"/>
                      <a:ext cx="33" cy="11"/>
                    </a:xfrm>
                    <a:custGeom>
                      <a:avLst/>
                      <a:gdLst>
                        <a:gd name="T0" fmla="*/ 0 w 66"/>
                        <a:gd name="T1" fmla="*/ 0 h 35"/>
                        <a:gd name="T2" fmla="*/ 1 w 66"/>
                        <a:gd name="T3" fmla="*/ 0 h 35"/>
                        <a:gd name="T4" fmla="*/ 1 w 66"/>
                        <a:gd name="T5" fmla="*/ 0 h 35"/>
                        <a:gd name="T6" fmla="*/ 1 w 66"/>
                        <a:gd name="T7" fmla="*/ 0 h 35"/>
                        <a:gd name="T8" fmla="*/ 0 w 66"/>
                        <a:gd name="T9" fmla="*/ 0 h 35"/>
                        <a:gd name="T10" fmla="*/ 0 60000 65536"/>
                        <a:gd name="T11" fmla="*/ 0 60000 65536"/>
                        <a:gd name="T12" fmla="*/ 0 60000 65536"/>
                        <a:gd name="T13" fmla="*/ 0 60000 65536"/>
                        <a:gd name="T14" fmla="*/ 0 60000 65536"/>
                        <a:gd name="T15" fmla="*/ 0 w 66"/>
                        <a:gd name="T16" fmla="*/ 0 h 35"/>
                        <a:gd name="T17" fmla="*/ 66 w 66"/>
                        <a:gd name="T18" fmla="*/ 35 h 35"/>
                      </a:gdLst>
                      <a:ahLst/>
                      <a:cxnLst>
                        <a:cxn ang="T10">
                          <a:pos x="T0" y="T1"/>
                        </a:cxn>
                        <a:cxn ang="T11">
                          <a:pos x="T2" y="T3"/>
                        </a:cxn>
                        <a:cxn ang="T12">
                          <a:pos x="T4" y="T5"/>
                        </a:cxn>
                        <a:cxn ang="T13">
                          <a:pos x="T6" y="T7"/>
                        </a:cxn>
                        <a:cxn ang="T14">
                          <a:pos x="T8" y="T9"/>
                        </a:cxn>
                      </a:cxnLst>
                      <a:rect l="T15" t="T16" r="T17" b="T18"/>
                      <a:pathLst>
                        <a:path w="66" h="35">
                          <a:moveTo>
                            <a:pt x="0" y="0"/>
                          </a:moveTo>
                          <a:lnTo>
                            <a:pt x="41" y="0"/>
                          </a:lnTo>
                          <a:lnTo>
                            <a:pt x="66"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3000" name="Freeform 2416"/>
                    <p:cNvSpPr>
                      <a:spLocks/>
                    </p:cNvSpPr>
                    <p:nvPr/>
                  </p:nvSpPr>
                  <p:spPr bwMode="auto">
                    <a:xfrm>
                      <a:off x="973" y="3605"/>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3" y="0"/>
                          </a:lnTo>
                          <a:lnTo>
                            <a:pt x="55"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0" name="Group 2417"/>
                  <p:cNvGrpSpPr>
                    <a:grpSpLocks/>
                  </p:cNvGrpSpPr>
                  <p:nvPr/>
                </p:nvGrpSpPr>
                <p:grpSpPr bwMode="auto">
                  <a:xfrm>
                    <a:off x="974" y="3606"/>
                    <a:ext cx="44" cy="23"/>
                    <a:chOff x="974" y="3606"/>
                    <a:chExt cx="44" cy="23"/>
                  </a:xfrm>
                </p:grpSpPr>
                <p:sp>
                  <p:nvSpPr>
                    <p:cNvPr id="2995" name="Freeform 2418"/>
                    <p:cNvSpPr>
                      <a:spLocks/>
                    </p:cNvSpPr>
                    <p:nvPr/>
                  </p:nvSpPr>
                  <p:spPr bwMode="auto">
                    <a:xfrm>
                      <a:off x="974" y="3606"/>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5"/>
                          </a:lnTo>
                          <a:lnTo>
                            <a:pt x="12" y="0"/>
                          </a:lnTo>
                          <a:lnTo>
                            <a:pt x="40" y="35"/>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6" name="Freeform 2419"/>
                    <p:cNvSpPr>
                      <a:spLocks/>
                    </p:cNvSpPr>
                    <p:nvPr/>
                  </p:nvSpPr>
                  <p:spPr bwMode="auto">
                    <a:xfrm>
                      <a:off x="980" y="3606"/>
                      <a:ext cx="32" cy="12"/>
                    </a:xfrm>
                    <a:custGeom>
                      <a:avLst/>
                      <a:gdLst>
                        <a:gd name="T0" fmla="*/ 0 w 65"/>
                        <a:gd name="T1" fmla="*/ 0 h 35"/>
                        <a:gd name="T2" fmla="*/ 0 w 65"/>
                        <a:gd name="T3" fmla="*/ 0 h 35"/>
                        <a:gd name="T4" fmla="*/ 0 w 65"/>
                        <a:gd name="T5" fmla="*/ 0 h 35"/>
                        <a:gd name="T6" fmla="*/ 0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2"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7" name="Freeform 2420"/>
                    <p:cNvSpPr>
                      <a:spLocks/>
                    </p:cNvSpPr>
                    <p:nvPr/>
                  </p:nvSpPr>
                  <p:spPr bwMode="auto">
                    <a:xfrm>
                      <a:off x="986" y="3619"/>
                      <a:ext cx="32" cy="9"/>
                    </a:xfrm>
                    <a:custGeom>
                      <a:avLst/>
                      <a:gdLst>
                        <a:gd name="T0" fmla="*/ 0 w 65"/>
                        <a:gd name="T1" fmla="*/ 0 h 29"/>
                        <a:gd name="T2" fmla="*/ 0 w 65"/>
                        <a:gd name="T3" fmla="*/ 0 h 29"/>
                        <a:gd name="T4" fmla="*/ 0 w 65"/>
                        <a:gd name="T5" fmla="*/ 0 h 29"/>
                        <a:gd name="T6" fmla="*/ 0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2"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91" name="Group 2421"/>
                  <p:cNvGrpSpPr>
                    <a:grpSpLocks/>
                  </p:cNvGrpSpPr>
                  <p:nvPr/>
                </p:nvGrpSpPr>
                <p:grpSpPr bwMode="auto">
                  <a:xfrm>
                    <a:off x="987" y="3619"/>
                    <a:ext cx="45" cy="23"/>
                    <a:chOff x="987" y="3619"/>
                    <a:chExt cx="45" cy="23"/>
                  </a:xfrm>
                </p:grpSpPr>
                <p:sp>
                  <p:nvSpPr>
                    <p:cNvPr id="2992" name="Freeform 2422"/>
                    <p:cNvSpPr>
                      <a:spLocks/>
                    </p:cNvSpPr>
                    <p:nvPr/>
                  </p:nvSpPr>
                  <p:spPr bwMode="auto">
                    <a:xfrm>
                      <a:off x="987" y="3619"/>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3"/>
                          </a:lnTo>
                          <a:lnTo>
                            <a:pt x="12" y="0"/>
                          </a:lnTo>
                          <a:lnTo>
                            <a:pt x="39" y="33"/>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3" name="Freeform 2423"/>
                    <p:cNvSpPr>
                      <a:spLocks/>
                    </p:cNvSpPr>
                    <p:nvPr/>
                  </p:nvSpPr>
                  <p:spPr bwMode="auto">
                    <a:xfrm>
                      <a:off x="994" y="3620"/>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5"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94" name="Freeform 2424"/>
                    <p:cNvSpPr>
                      <a:spLocks/>
                    </p:cNvSpPr>
                    <p:nvPr/>
                  </p:nvSpPr>
                  <p:spPr bwMode="auto">
                    <a:xfrm>
                      <a:off x="999" y="3632"/>
                      <a:ext cx="33" cy="9"/>
                    </a:xfrm>
                    <a:custGeom>
                      <a:avLst/>
                      <a:gdLst>
                        <a:gd name="T0" fmla="*/ 0 w 65"/>
                        <a:gd name="T1" fmla="*/ 0 h 29"/>
                        <a:gd name="T2" fmla="*/ 1 w 65"/>
                        <a:gd name="T3" fmla="*/ 0 h 29"/>
                        <a:gd name="T4" fmla="*/ 1 w 65"/>
                        <a:gd name="T5" fmla="*/ 0 h 29"/>
                        <a:gd name="T6" fmla="*/ 1 w 65"/>
                        <a:gd name="T7" fmla="*/ 0 h 29"/>
                        <a:gd name="T8" fmla="*/ 0 w 65"/>
                        <a:gd name="T9" fmla="*/ 0 h 29"/>
                        <a:gd name="T10" fmla="*/ 0 60000 65536"/>
                        <a:gd name="T11" fmla="*/ 0 60000 65536"/>
                        <a:gd name="T12" fmla="*/ 0 60000 65536"/>
                        <a:gd name="T13" fmla="*/ 0 60000 65536"/>
                        <a:gd name="T14" fmla="*/ 0 60000 65536"/>
                        <a:gd name="T15" fmla="*/ 0 w 65"/>
                        <a:gd name="T16" fmla="*/ 0 h 29"/>
                        <a:gd name="T17" fmla="*/ 65 w 65"/>
                        <a:gd name="T18" fmla="*/ 29 h 29"/>
                      </a:gdLst>
                      <a:ahLst/>
                      <a:cxnLst>
                        <a:cxn ang="T10">
                          <a:pos x="T0" y="T1"/>
                        </a:cxn>
                        <a:cxn ang="T11">
                          <a:pos x="T2" y="T3"/>
                        </a:cxn>
                        <a:cxn ang="T12">
                          <a:pos x="T4" y="T5"/>
                        </a:cxn>
                        <a:cxn ang="T13">
                          <a:pos x="T6" y="T7"/>
                        </a:cxn>
                        <a:cxn ang="T14">
                          <a:pos x="T8" y="T9"/>
                        </a:cxn>
                      </a:cxnLst>
                      <a:rect l="T15" t="T16" r="T17" b="T18"/>
                      <a:pathLst>
                        <a:path w="65" h="29">
                          <a:moveTo>
                            <a:pt x="0" y="29"/>
                          </a:moveTo>
                          <a:lnTo>
                            <a:pt x="14" y="0"/>
                          </a:lnTo>
                          <a:lnTo>
                            <a:pt x="53" y="0"/>
                          </a:lnTo>
                          <a:lnTo>
                            <a:pt x="65"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89" name="Group 2425"/>
                <p:cNvGrpSpPr>
                  <a:grpSpLocks/>
                </p:cNvGrpSpPr>
                <p:nvPr/>
              </p:nvGrpSpPr>
              <p:grpSpPr bwMode="auto">
                <a:xfrm>
                  <a:off x="1002" y="3632"/>
                  <a:ext cx="83" cy="63"/>
                  <a:chOff x="1002" y="3632"/>
                  <a:chExt cx="83" cy="63"/>
                </a:xfrm>
              </p:grpSpPr>
              <p:grpSp>
                <p:nvGrpSpPr>
                  <p:cNvPr id="2972" name="Group 2426"/>
                  <p:cNvGrpSpPr>
                    <a:grpSpLocks/>
                  </p:cNvGrpSpPr>
                  <p:nvPr/>
                </p:nvGrpSpPr>
                <p:grpSpPr bwMode="auto">
                  <a:xfrm>
                    <a:off x="1002" y="3632"/>
                    <a:ext cx="44" cy="22"/>
                    <a:chOff x="1002" y="3632"/>
                    <a:chExt cx="44" cy="22"/>
                  </a:xfrm>
                </p:grpSpPr>
                <p:sp>
                  <p:nvSpPr>
                    <p:cNvPr id="2985" name="Freeform 2427"/>
                    <p:cNvSpPr>
                      <a:spLocks/>
                    </p:cNvSpPr>
                    <p:nvPr/>
                  </p:nvSpPr>
                  <p:spPr bwMode="auto">
                    <a:xfrm>
                      <a:off x="1002" y="3632"/>
                      <a:ext cx="19" cy="22"/>
                    </a:xfrm>
                    <a:custGeom>
                      <a:avLst/>
                      <a:gdLst>
                        <a:gd name="T0" fmla="*/ 1 w 38"/>
                        <a:gd name="T1" fmla="*/ 0 h 68"/>
                        <a:gd name="T2" fmla="*/ 0 w 38"/>
                        <a:gd name="T3" fmla="*/ 0 h 68"/>
                        <a:gd name="T4" fmla="*/ 1 w 38"/>
                        <a:gd name="T5" fmla="*/ 0 h 68"/>
                        <a:gd name="T6" fmla="*/ 1 w 38"/>
                        <a:gd name="T7" fmla="*/ 0 h 68"/>
                        <a:gd name="T8" fmla="*/ 1 w 38"/>
                        <a:gd name="T9" fmla="*/ 0 h 68"/>
                        <a:gd name="T10" fmla="*/ 0 60000 65536"/>
                        <a:gd name="T11" fmla="*/ 0 60000 65536"/>
                        <a:gd name="T12" fmla="*/ 0 60000 65536"/>
                        <a:gd name="T13" fmla="*/ 0 60000 65536"/>
                        <a:gd name="T14" fmla="*/ 0 60000 65536"/>
                        <a:gd name="T15" fmla="*/ 0 w 38"/>
                        <a:gd name="T16" fmla="*/ 0 h 68"/>
                        <a:gd name="T17" fmla="*/ 38 w 38"/>
                        <a:gd name="T18" fmla="*/ 68 h 68"/>
                      </a:gdLst>
                      <a:ahLst/>
                      <a:cxnLst>
                        <a:cxn ang="T10">
                          <a:pos x="T0" y="T1"/>
                        </a:cxn>
                        <a:cxn ang="T11">
                          <a:pos x="T2" y="T3"/>
                        </a:cxn>
                        <a:cxn ang="T12">
                          <a:pos x="T4" y="T5"/>
                        </a:cxn>
                        <a:cxn ang="T13">
                          <a:pos x="T6" y="T7"/>
                        </a:cxn>
                        <a:cxn ang="T14">
                          <a:pos x="T8" y="T9"/>
                        </a:cxn>
                      </a:cxnLst>
                      <a:rect l="T15" t="T16" r="T17" b="T18"/>
                      <a:pathLst>
                        <a:path w="38" h="68">
                          <a:moveTo>
                            <a:pt x="21" y="68"/>
                          </a:moveTo>
                          <a:lnTo>
                            <a:pt x="0" y="33"/>
                          </a:lnTo>
                          <a:lnTo>
                            <a:pt x="10" y="0"/>
                          </a:lnTo>
                          <a:lnTo>
                            <a:pt x="38" y="33"/>
                          </a:lnTo>
                          <a:lnTo>
                            <a:pt x="21"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6" name="Freeform 2428"/>
                    <p:cNvSpPr>
                      <a:spLocks/>
                    </p:cNvSpPr>
                    <p:nvPr/>
                  </p:nvSpPr>
                  <p:spPr bwMode="auto">
                    <a:xfrm>
                      <a:off x="1008" y="3632"/>
                      <a:ext cx="33" cy="12"/>
                    </a:xfrm>
                    <a:custGeom>
                      <a:avLst/>
                      <a:gdLst>
                        <a:gd name="T0" fmla="*/ 0 w 65"/>
                        <a:gd name="T1" fmla="*/ 0 h 35"/>
                        <a:gd name="T2" fmla="*/ 1 w 65"/>
                        <a:gd name="T3" fmla="*/ 0 h 35"/>
                        <a:gd name="T4" fmla="*/ 1 w 65"/>
                        <a:gd name="T5" fmla="*/ 0 h 35"/>
                        <a:gd name="T6" fmla="*/ 1 w 65"/>
                        <a:gd name="T7" fmla="*/ 0 h 35"/>
                        <a:gd name="T8" fmla="*/ 0 w 65"/>
                        <a:gd name="T9" fmla="*/ 0 h 35"/>
                        <a:gd name="T10" fmla="*/ 0 60000 65536"/>
                        <a:gd name="T11" fmla="*/ 0 60000 65536"/>
                        <a:gd name="T12" fmla="*/ 0 60000 65536"/>
                        <a:gd name="T13" fmla="*/ 0 60000 65536"/>
                        <a:gd name="T14" fmla="*/ 0 60000 65536"/>
                        <a:gd name="T15" fmla="*/ 0 w 65"/>
                        <a:gd name="T16" fmla="*/ 0 h 35"/>
                        <a:gd name="T17" fmla="*/ 65 w 65"/>
                        <a:gd name="T18" fmla="*/ 35 h 35"/>
                      </a:gdLst>
                      <a:ahLst/>
                      <a:cxnLst>
                        <a:cxn ang="T10">
                          <a:pos x="T0" y="T1"/>
                        </a:cxn>
                        <a:cxn ang="T11">
                          <a:pos x="T2" y="T3"/>
                        </a:cxn>
                        <a:cxn ang="T12">
                          <a:pos x="T4" y="T5"/>
                        </a:cxn>
                        <a:cxn ang="T13">
                          <a:pos x="T6" y="T7"/>
                        </a:cxn>
                        <a:cxn ang="T14">
                          <a:pos x="T8" y="T9"/>
                        </a:cxn>
                      </a:cxnLst>
                      <a:rect l="T15" t="T16" r="T17" b="T18"/>
                      <a:pathLst>
                        <a:path w="65" h="35">
                          <a:moveTo>
                            <a:pt x="0" y="0"/>
                          </a:moveTo>
                          <a:lnTo>
                            <a:pt x="40" y="0"/>
                          </a:lnTo>
                          <a:lnTo>
                            <a:pt x="65"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7" name="Freeform 2429"/>
                    <p:cNvSpPr>
                      <a:spLocks/>
                    </p:cNvSpPr>
                    <p:nvPr/>
                  </p:nvSpPr>
                  <p:spPr bwMode="auto">
                    <a:xfrm>
                      <a:off x="1013" y="3644"/>
                      <a:ext cx="33" cy="10"/>
                    </a:xfrm>
                    <a:custGeom>
                      <a:avLst/>
                      <a:gdLst>
                        <a:gd name="T0" fmla="*/ 0 w 66"/>
                        <a:gd name="T1" fmla="*/ 0 h 28"/>
                        <a:gd name="T2" fmla="*/ 1 w 66"/>
                        <a:gd name="T3" fmla="*/ 0 h 28"/>
                        <a:gd name="T4" fmla="*/ 1 w 66"/>
                        <a:gd name="T5" fmla="*/ 0 h 28"/>
                        <a:gd name="T6" fmla="*/ 1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3" y="0"/>
                          </a:lnTo>
                          <a:lnTo>
                            <a:pt x="55"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3" name="Group 2430"/>
                  <p:cNvGrpSpPr>
                    <a:grpSpLocks/>
                  </p:cNvGrpSpPr>
                  <p:nvPr/>
                </p:nvGrpSpPr>
                <p:grpSpPr bwMode="auto">
                  <a:xfrm>
                    <a:off x="1014" y="3645"/>
                    <a:ext cx="44" cy="23"/>
                    <a:chOff x="1014" y="3645"/>
                    <a:chExt cx="44" cy="23"/>
                  </a:xfrm>
                </p:grpSpPr>
                <p:sp>
                  <p:nvSpPr>
                    <p:cNvPr id="2982" name="Freeform 2431"/>
                    <p:cNvSpPr>
                      <a:spLocks/>
                    </p:cNvSpPr>
                    <p:nvPr/>
                  </p:nvSpPr>
                  <p:spPr bwMode="auto">
                    <a:xfrm>
                      <a:off x="1014" y="3645"/>
                      <a:ext cx="19" cy="23"/>
                    </a:xfrm>
                    <a:custGeom>
                      <a:avLst/>
                      <a:gdLst>
                        <a:gd name="T0" fmla="*/ 0 w 40"/>
                        <a:gd name="T1" fmla="*/ 0 h 68"/>
                        <a:gd name="T2" fmla="*/ 0 w 40"/>
                        <a:gd name="T3" fmla="*/ 0 h 68"/>
                        <a:gd name="T4" fmla="*/ 0 w 40"/>
                        <a:gd name="T5" fmla="*/ 0 h 68"/>
                        <a:gd name="T6" fmla="*/ 0 w 40"/>
                        <a:gd name="T7" fmla="*/ 0 h 68"/>
                        <a:gd name="T8" fmla="*/ 0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4"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3" name="Freeform 2432"/>
                    <p:cNvSpPr>
                      <a:spLocks/>
                    </p:cNvSpPr>
                    <p:nvPr/>
                  </p:nvSpPr>
                  <p:spPr bwMode="auto">
                    <a:xfrm>
                      <a:off x="1021" y="3646"/>
                      <a:ext cx="32" cy="11"/>
                    </a:xfrm>
                    <a:custGeom>
                      <a:avLst/>
                      <a:gdLst>
                        <a:gd name="T0" fmla="*/ 0 w 63"/>
                        <a:gd name="T1" fmla="*/ 0 h 33"/>
                        <a:gd name="T2" fmla="*/ 1 w 63"/>
                        <a:gd name="T3" fmla="*/ 0 h 33"/>
                        <a:gd name="T4" fmla="*/ 1 w 63"/>
                        <a:gd name="T5" fmla="*/ 0 h 33"/>
                        <a:gd name="T6" fmla="*/ 1 w 63"/>
                        <a:gd name="T7" fmla="*/ 0 h 33"/>
                        <a:gd name="T8" fmla="*/ 0 w 63"/>
                        <a:gd name="T9" fmla="*/ 0 h 33"/>
                        <a:gd name="T10" fmla="*/ 0 60000 65536"/>
                        <a:gd name="T11" fmla="*/ 0 60000 65536"/>
                        <a:gd name="T12" fmla="*/ 0 60000 65536"/>
                        <a:gd name="T13" fmla="*/ 0 60000 65536"/>
                        <a:gd name="T14" fmla="*/ 0 60000 65536"/>
                        <a:gd name="T15" fmla="*/ 0 w 63"/>
                        <a:gd name="T16" fmla="*/ 0 h 33"/>
                        <a:gd name="T17" fmla="*/ 63 w 63"/>
                        <a:gd name="T18" fmla="*/ 33 h 33"/>
                      </a:gdLst>
                      <a:ahLst/>
                      <a:cxnLst>
                        <a:cxn ang="T10">
                          <a:pos x="T0" y="T1"/>
                        </a:cxn>
                        <a:cxn ang="T11">
                          <a:pos x="T2" y="T3"/>
                        </a:cxn>
                        <a:cxn ang="T12">
                          <a:pos x="T4" y="T5"/>
                        </a:cxn>
                        <a:cxn ang="T13">
                          <a:pos x="T6" y="T7"/>
                        </a:cxn>
                        <a:cxn ang="T14">
                          <a:pos x="T8" y="T9"/>
                        </a:cxn>
                      </a:cxnLst>
                      <a:rect l="T15" t="T16" r="T17" b="T18"/>
                      <a:pathLst>
                        <a:path w="63" h="33">
                          <a:moveTo>
                            <a:pt x="0" y="0"/>
                          </a:moveTo>
                          <a:lnTo>
                            <a:pt x="41" y="0"/>
                          </a:lnTo>
                          <a:lnTo>
                            <a:pt x="63" y="33"/>
                          </a:lnTo>
                          <a:lnTo>
                            <a:pt x="24"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4" name="Freeform 2433"/>
                    <p:cNvSpPr>
                      <a:spLocks/>
                    </p:cNvSpPr>
                    <p:nvPr/>
                  </p:nvSpPr>
                  <p:spPr bwMode="auto">
                    <a:xfrm>
                      <a:off x="1026" y="3658"/>
                      <a:ext cx="32" cy="10"/>
                    </a:xfrm>
                    <a:custGeom>
                      <a:avLst/>
                      <a:gdLst>
                        <a:gd name="T0" fmla="*/ 0 w 65"/>
                        <a:gd name="T1" fmla="*/ 0 h 30"/>
                        <a:gd name="T2" fmla="*/ 0 w 65"/>
                        <a:gd name="T3" fmla="*/ 0 h 30"/>
                        <a:gd name="T4" fmla="*/ 0 w 65"/>
                        <a:gd name="T5" fmla="*/ 0 h 30"/>
                        <a:gd name="T6" fmla="*/ 0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2"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4" name="Group 2434"/>
                  <p:cNvGrpSpPr>
                    <a:grpSpLocks/>
                  </p:cNvGrpSpPr>
                  <p:nvPr/>
                </p:nvGrpSpPr>
                <p:grpSpPr bwMode="auto">
                  <a:xfrm>
                    <a:off x="1027" y="3659"/>
                    <a:ext cx="45" cy="23"/>
                    <a:chOff x="1027" y="3659"/>
                    <a:chExt cx="45" cy="23"/>
                  </a:xfrm>
                </p:grpSpPr>
                <p:sp>
                  <p:nvSpPr>
                    <p:cNvPr id="2979" name="Freeform 2435"/>
                    <p:cNvSpPr>
                      <a:spLocks/>
                    </p:cNvSpPr>
                    <p:nvPr/>
                  </p:nvSpPr>
                  <p:spPr bwMode="auto">
                    <a:xfrm>
                      <a:off x="1027" y="3659"/>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2" y="70"/>
                          </a:moveTo>
                          <a:lnTo>
                            <a:pt x="0" y="34"/>
                          </a:lnTo>
                          <a:lnTo>
                            <a:pt x="12" y="0"/>
                          </a:lnTo>
                          <a:lnTo>
                            <a:pt x="39" y="34"/>
                          </a:lnTo>
                          <a:lnTo>
                            <a:pt x="22"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0" name="Freeform 2436"/>
                    <p:cNvSpPr>
                      <a:spLocks/>
                    </p:cNvSpPr>
                    <p:nvPr/>
                  </p:nvSpPr>
                  <p:spPr bwMode="auto">
                    <a:xfrm>
                      <a:off x="1033" y="3659"/>
                      <a:ext cx="33"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81" name="Freeform 2437"/>
                    <p:cNvSpPr>
                      <a:spLocks/>
                    </p:cNvSpPr>
                    <p:nvPr/>
                  </p:nvSpPr>
                  <p:spPr bwMode="auto">
                    <a:xfrm>
                      <a:off x="1039" y="3671"/>
                      <a:ext cx="33" cy="10"/>
                    </a:xfrm>
                    <a:custGeom>
                      <a:avLst/>
                      <a:gdLst>
                        <a:gd name="T0" fmla="*/ 0 w 66"/>
                        <a:gd name="T1" fmla="*/ 0 h 30"/>
                        <a:gd name="T2" fmla="*/ 1 w 66"/>
                        <a:gd name="T3" fmla="*/ 0 h 30"/>
                        <a:gd name="T4" fmla="*/ 1 w 66"/>
                        <a:gd name="T5" fmla="*/ 0 h 30"/>
                        <a:gd name="T6" fmla="*/ 1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2"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75" name="Group 2438"/>
                  <p:cNvGrpSpPr>
                    <a:grpSpLocks/>
                  </p:cNvGrpSpPr>
                  <p:nvPr/>
                </p:nvGrpSpPr>
                <p:grpSpPr bwMode="auto">
                  <a:xfrm>
                    <a:off x="1040" y="3672"/>
                    <a:ext cx="45" cy="23"/>
                    <a:chOff x="1040" y="3672"/>
                    <a:chExt cx="45" cy="23"/>
                  </a:xfrm>
                </p:grpSpPr>
                <p:sp>
                  <p:nvSpPr>
                    <p:cNvPr id="2976" name="Freeform 2439"/>
                    <p:cNvSpPr>
                      <a:spLocks/>
                    </p:cNvSpPr>
                    <p:nvPr/>
                  </p:nvSpPr>
                  <p:spPr bwMode="auto">
                    <a:xfrm>
                      <a:off x="1040" y="3672"/>
                      <a:ext cx="20" cy="23"/>
                    </a:xfrm>
                    <a:custGeom>
                      <a:avLst/>
                      <a:gdLst>
                        <a:gd name="T0" fmla="*/ 0 w 41"/>
                        <a:gd name="T1" fmla="*/ 0 h 70"/>
                        <a:gd name="T2" fmla="*/ 0 w 41"/>
                        <a:gd name="T3" fmla="*/ 0 h 70"/>
                        <a:gd name="T4" fmla="*/ 0 w 41"/>
                        <a:gd name="T5" fmla="*/ 0 h 70"/>
                        <a:gd name="T6" fmla="*/ 0 w 41"/>
                        <a:gd name="T7" fmla="*/ 0 h 70"/>
                        <a:gd name="T8" fmla="*/ 0 w 41"/>
                        <a:gd name="T9" fmla="*/ 0 h 70"/>
                        <a:gd name="T10" fmla="*/ 0 60000 65536"/>
                        <a:gd name="T11" fmla="*/ 0 60000 65536"/>
                        <a:gd name="T12" fmla="*/ 0 60000 65536"/>
                        <a:gd name="T13" fmla="*/ 0 60000 65536"/>
                        <a:gd name="T14" fmla="*/ 0 60000 65536"/>
                        <a:gd name="T15" fmla="*/ 0 w 41"/>
                        <a:gd name="T16" fmla="*/ 0 h 70"/>
                        <a:gd name="T17" fmla="*/ 41 w 41"/>
                        <a:gd name="T18" fmla="*/ 70 h 70"/>
                      </a:gdLst>
                      <a:ahLst/>
                      <a:cxnLst>
                        <a:cxn ang="T10">
                          <a:pos x="T0" y="T1"/>
                        </a:cxn>
                        <a:cxn ang="T11">
                          <a:pos x="T2" y="T3"/>
                        </a:cxn>
                        <a:cxn ang="T12">
                          <a:pos x="T4" y="T5"/>
                        </a:cxn>
                        <a:cxn ang="T13">
                          <a:pos x="T6" y="T7"/>
                        </a:cxn>
                        <a:cxn ang="T14">
                          <a:pos x="T8" y="T9"/>
                        </a:cxn>
                      </a:cxnLst>
                      <a:rect l="T15" t="T16" r="T17" b="T18"/>
                      <a:pathLst>
                        <a:path w="41" h="70">
                          <a:moveTo>
                            <a:pt x="24" y="70"/>
                          </a:moveTo>
                          <a:lnTo>
                            <a:pt x="0" y="35"/>
                          </a:lnTo>
                          <a:lnTo>
                            <a:pt x="13" y="0"/>
                          </a:lnTo>
                          <a:lnTo>
                            <a:pt x="41" y="35"/>
                          </a:lnTo>
                          <a:lnTo>
                            <a:pt x="24"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7" name="Freeform 2440"/>
                    <p:cNvSpPr>
                      <a:spLocks/>
                    </p:cNvSpPr>
                    <p:nvPr/>
                  </p:nvSpPr>
                  <p:spPr bwMode="auto">
                    <a:xfrm>
                      <a:off x="1047" y="3672"/>
                      <a:ext cx="32" cy="12"/>
                    </a:xfrm>
                    <a:custGeom>
                      <a:avLst/>
                      <a:gdLst>
                        <a:gd name="T0" fmla="*/ 0 w 65"/>
                        <a:gd name="T1" fmla="*/ 0 h 34"/>
                        <a:gd name="T2" fmla="*/ 0 w 65"/>
                        <a:gd name="T3" fmla="*/ 0 h 34"/>
                        <a:gd name="T4" fmla="*/ 0 w 65"/>
                        <a:gd name="T5" fmla="*/ 0 h 34"/>
                        <a:gd name="T6" fmla="*/ 0 w 65"/>
                        <a:gd name="T7" fmla="*/ 0 h 34"/>
                        <a:gd name="T8" fmla="*/ 0 w 65"/>
                        <a:gd name="T9" fmla="*/ 0 h 34"/>
                        <a:gd name="T10" fmla="*/ 0 60000 65536"/>
                        <a:gd name="T11" fmla="*/ 0 60000 65536"/>
                        <a:gd name="T12" fmla="*/ 0 60000 65536"/>
                        <a:gd name="T13" fmla="*/ 0 60000 65536"/>
                        <a:gd name="T14" fmla="*/ 0 60000 65536"/>
                        <a:gd name="T15" fmla="*/ 0 w 65"/>
                        <a:gd name="T16" fmla="*/ 0 h 34"/>
                        <a:gd name="T17" fmla="*/ 65 w 65"/>
                        <a:gd name="T18" fmla="*/ 34 h 34"/>
                      </a:gdLst>
                      <a:ahLst/>
                      <a:cxnLst>
                        <a:cxn ang="T10">
                          <a:pos x="T0" y="T1"/>
                        </a:cxn>
                        <a:cxn ang="T11">
                          <a:pos x="T2" y="T3"/>
                        </a:cxn>
                        <a:cxn ang="T12">
                          <a:pos x="T4" y="T5"/>
                        </a:cxn>
                        <a:cxn ang="T13">
                          <a:pos x="T6" y="T7"/>
                        </a:cxn>
                        <a:cxn ang="T14">
                          <a:pos x="T8" y="T9"/>
                        </a:cxn>
                      </a:cxnLst>
                      <a:rect l="T15" t="T16" r="T17" b="T18"/>
                      <a:pathLst>
                        <a:path w="65" h="34">
                          <a:moveTo>
                            <a:pt x="0" y="0"/>
                          </a:moveTo>
                          <a:lnTo>
                            <a:pt x="41" y="0"/>
                          </a:lnTo>
                          <a:lnTo>
                            <a:pt x="65" y="34"/>
                          </a:lnTo>
                          <a:lnTo>
                            <a:pt x="24"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8" name="Freeform 2441"/>
                    <p:cNvSpPr>
                      <a:spLocks/>
                    </p:cNvSpPr>
                    <p:nvPr/>
                  </p:nvSpPr>
                  <p:spPr bwMode="auto">
                    <a:xfrm>
                      <a:off x="1053" y="3685"/>
                      <a:ext cx="32" cy="9"/>
                    </a:xfrm>
                    <a:custGeom>
                      <a:avLst/>
                      <a:gdLst>
                        <a:gd name="T0" fmla="*/ 0 w 66"/>
                        <a:gd name="T1" fmla="*/ 0 h 28"/>
                        <a:gd name="T2" fmla="*/ 0 w 66"/>
                        <a:gd name="T3" fmla="*/ 0 h 28"/>
                        <a:gd name="T4" fmla="*/ 0 w 66"/>
                        <a:gd name="T5" fmla="*/ 0 h 28"/>
                        <a:gd name="T6" fmla="*/ 0 w 66"/>
                        <a:gd name="T7" fmla="*/ 0 h 28"/>
                        <a:gd name="T8" fmla="*/ 0 w 66"/>
                        <a:gd name="T9" fmla="*/ 0 h 28"/>
                        <a:gd name="T10" fmla="*/ 0 60000 65536"/>
                        <a:gd name="T11" fmla="*/ 0 60000 65536"/>
                        <a:gd name="T12" fmla="*/ 0 60000 65536"/>
                        <a:gd name="T13" fmla="*/ 0 60000 65536"/>
                        <a:gd name="T14" fmla="*/ 0 60000 65536"/>
                        <a:gd name="T15" fmla="*/ 0 w 66"/>
                        <a:gd name="T16" fmla="*/ 0 h 28"/>
                        <a:gd name="T17" fmla="*/ 66 w 66"/>
                        <a:gd name="T18" fmla="*/ 28 h 28"/>
                      </a:gdLst>
                      <a:ahLst/>
                      <a:cxnLst>
                        <a:cxn ang="T10">
                          <a:pos x="T0" y="T1"/>
                        </a:cxn>
                        <a:cxn ang="T11">
                          <a:pos x="T2" y="T3"/>
                        </a:cxn>
                        <a:cxn ang="T12">
                          <a:pos x="T4" y="T5"/>
                        </a:cxn>
                        <a:cxn ang="T13">
                          <a:pos x="T6" y="T7"/>
                        </a:cxn>
                        <a:cxn ang="T14">
                          <a:pos x="T8" y="T9"/>
                        </a:cxn>
                      </a:cxnLst>
                      <a:rect l="T15" t="T16" r="T17" b="T18"/>
                      <a:pathLst>
                        <a:path w="66" h="28">
                          <a:moveTo>
                            <a:pt x="0" y="28"/>
                          </a:moveTo>
                          <a:lnTo>
                            <a:pt x="12" y="0"/>
                          </a:lnTo>
                          <a:lnTo>
                            <a:pt x="54" y="0"/>
                          </a:lnTo>
                          <a:lnTo>
                            <a:pt x="66"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grpSp>
              <p:nvGrpSpPr>
                <p:cNvPr id="2890" name="Group 2442"/>
                <p:cNvGrpSpPr>
                  <a:grpSpLocks/>
                </p:cNvGrpSpPr>
                <p:nvPr/>
              </p:nvGrpSpPr>
              <p:grpSpPr bwMode="auto">
                <a:xfrm>
                  <a:off x="1054" y="3685"/>
                  <a:ext cx="45" cy="23"/>
                  <a:chOff x="1054" y="3685"/>
                  <a:chExt cx="45" cy="23"/>
                </a:xfrm>
              </p:grpSpPr>
              <p:sp>
                <p:nvSpPr>
                  <p:cNvPr id="2969" name="Freeform 2443"/>
                  <p:cNvSpPr>
                    <a:spLocks/>
                  </p:cNvSpPr>
                  <p:nvPr/>
                </p:nvSpPr>
                <p:spPr bwMode="auto">
                  <a:xfrm>
                    <a:off x="1054" y="3685"/>
                    <a:ext cx="20" cy="23"/>
                  </a:xfrm>
                  <a:custGeom>
                    <a:avLst/>
                    <a:gdLst>
                      <a:gd name="T0" fmla="*/ 1 w 39"/>
                      <a:gd name="T1" fmla="*/ 0 h 70"/>
                      <a:gd name="T2" fmla="*/ 0 w 39"/>
                      <a:gd name="T3" fmla="*/ 0 h 70"/>
                      <a:gd name="T4" fmla="*/ 1 w 39"/>
                      <a:gd name="T5" fmla="*/ 0 h 70"/>
                      <a:gd name="T6" fmla="*/ 1 w 39"/>
                      <a:gd name="T7" fmla="*/ 0 h 70"/>
                      <a:gd name="T8" fmla="*/ 1 w 39"/>
                      <a:gd name="T9" fmla="*/ 0 h 70"/>
                      <a:gd name="T10" fmla="*/ 0 60000 65536"/>
                      <a:gd name="T11" fmla="*/ 0 60000 65536"/>
                      <a:gd name="T12" fmla="*/ 0 60000 65536"/>
                      <a:gd name="T13" fmla="*/ 0 60000 65536"/>
                      <a:gd name="T14" fmla="*/ 0 60000 65536"/>
                      <a:gd name="T15" fmla="*/ 0 w 39"/>
                      <a:gd name="T16" fmla="*/ 0 h 70"/>
                      <a:gd name="T17" fmla="*/ 39 w 39"/>
                      <a:gd name="T18" fmla="*/ 70 h 70"/>
                    </a:gdLst>
                    <a:ahLst/>
                    <a:cxnLst>
                      <a:cxn ang="T10">
                        <a:pos x="T0" y="T1"/>
                      </a:cxn>
                      <a:cxn ang="T11">
                        <a:pos x="T2" y="T3"/>
                      </a:cxn>
                      <a:cxn ang="T12">
                        <a:pos x="T4" y="T5"/>
                      </a:cxn>
                      <a:cxn ang="T13">
                        <a:pos x="T6" y="T7"/>
                      </a:cxn>
                      <a:cxn ang="T14">
                        <a:pos x="T8" y="T9"/>
                      </a:cxn>
                    </a:cxnLst>
                    <a:rect l="T15" t="T16" r="T17" b="T18"/>
                    <a:pathLst>
                      <a:path w="39" h="70">
                        <a:moveTo>
                          <a:pt x="23" y="70"/>
                        </a:moveTo>
                        <a:lnTo>
                          <a:pt x="0" y="34"/>
                        </a:lnTo>
                        <a:lnTo>
                          <a:pt x="13" y="0"/>
                        </a:lnTo>
                        <a:lnTo>
                          <a:pt x="39" y="34"/>
                        </a:lnTo>
                        <a:lnTo>
                          <a:pt x="23" y="70"/>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0" name="Freeform 2444"/>
                  <p:cNvSpPr>
                    <a:spLocks/>
                  </p:cNvSpPr>
                  <p:nvPr/>
                </p:nvSpPr>
                <p:spPr bwMode="auto">
                  <a:xfrm>
                    <a:off x="1061" y="3685"/>
                    <a:ext cx="32" cy="12"/>
                  </a:xfrm>
                  <a:custGeom>
                    <a:avLst/>
                    <a:gdLst>
                      <a:gd name="T0" fmla="*/ 0 w 63"/>
                      <a:gd name="T1" fmla="*/ 0 h 35"/>
                      <a:gd name="T2" fmla="*/ 1 w 63"/>
                      <a:gd name="T3" fmla="*/ 0 h 35"/>
                      <a:gd name="T4" fmla="*/ 1 w 63"/>
                      <a:gd name="T5" fmla="*/ 0 h 35"/>
                      <a:gd name="T6" fmla="*/ 1 w 63"/>
                      <a:gd name="T7" fmla="*/ 0 h 35"/>
                      <a:gd name="T8" fmla="*/ 0 w 63"/>
                      <a:gd name="T9" fmla="*/ 0 h 35"/>
                      <a:gd name="T10" fmla="*/ 0 60000 65536"/>
                      <a:gd name="T11" fmla="*/ 0 60000 65536"/>
                      <a:gd name="T12" fmla="*/ 0 60000 65536"/>
                      <a:gd name="T13" fmla="*/ 0 60000 65536"/>
                      <a:gd name="T14" fmla="*/ 0 60000 65536"/>
                      <a:gd name="T15" fmla="*/ 0 w 63"/>
                      <a:gd name="T16" fmla="*/ 0 h 35"/>
                      <a:gd name="T17" fmla="*/ 63 w 63"/>
                      <a:gd name="T18" fmla="*/ 35 h 35"/>
                    </a:gdLst>
                    <a:ahLst/>
                    <a:cxnLst>
                      <a:cxn ang="T10">
                        <a:pos x="T0" y="T1"/>
                      </a:cxn>
                      <a:cxn ang="T11">
                        <a:pos x="T2" y="T3"/>
                      </a:cxn>
                      <a:cxn ang="T12">
                        <a:pos x="T4" y="T5"/>
                      </a:cxn>
                      <a:cxn ang="T13">
                        <a:pos x="T6" y="T7"/>
                      </a:cxn>
                      <a:cxn ang="T14">
                        <a:pos x="T8" y="T9"/>
                      </a:cxn>
                    </a:cxnLst>
                    <a:rect l="T15" t="T16" r="T17" b="T18"/>
                    <a:pathLst>
                      <a:path w="63" h="35">
                        <a:moveTo>
                          <a:pt x="0" y="0"/>
                        </a:moveTo>
                        <a:lnTo>
                          <a:pt x="41" y="0"/>
                        </a:lnTo>
                        <a:lnTo>
                          <a:pt x="63"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71" name="Freeform 2445"/>
                  <p:cNvSpPr>
                    <a:spLocks/>
                  </p:cNvSpPr>
                  <p:nvPr/>
                </p:nvSpPr>
                <p:spPr bwMode="auto">
                  <a:xfrm>
                    <a:off x="1066" y="3697"/>
                    <a:ext cx="33" cy="10"/>
                  </a:xfrm>
                  <a:custGeom>
                    <a:avLst/>
                    <a:gdLst>
                      <a:gd name="T0" fmla="*/ 0 w 64"/>
                      <a:gd name="T1" fmla="*/ 0 h 30"/>
                      <a:gd name="T2" fmla="*/ 1 w 64"/>
                      <a:gd name="T3" fmla="*/ 0 h 30"/>
                      <a:gd name="T4" fmla="*/ 1 w 64"/>
                      <a:gd name="T5" fmla="*/ 0 h 30"/>
                      <a:gd name="T6" fmla="*/ 1 w 64"/>
                      <a:gd name="T7" fmla="*/ 0 h 30"/>
                      <a:gd name="T8" fmla="*/ 0 w 64"/>
                      <a:gd name="T9" fmla="*/ 0 h 30"/>
                      <a:gd name="T10" fmla="*/ 0 60000 65536"/>
                      <a:gd name="T11" fmla="*/ 0 60000 65536"/>
                      <a:gd name="T12" fmla="*/ 0 60000 65536"/>
                      <a:gd name="T13" fmla="*/ 0 60000 65536"/>
                      <a:gd name="T14" fmla="*/ 0 60000 65536"/>
                      <a:gd name="T15" fmla="*/ 0 w 64"/>
                      <a:gd name="T16" fmla="*/ 0 h 30"/>
                      <a:gd name="T17" fmla="*/ 64 w 64"/>
                      <a:gd name="T18" fmla="*/ 30 h 30"/>
                    </a:gdLst>
                    <a:ahLst/>
                    <a:cxnLst>
                      <a:cxn ang="T10">
                        <a:pos x="T0" y="T1"/>
                      </a:cxn>
                      <a:cxn ang="T11">
                        <a:pos x="T2" y="T3"/>
                      </a:cxn>
                      <a:cxn ang="T12">
                        <a:pos x="T4" y="T5"/>
                      </a:cxn>
                      <a:cxn ang="T13">
                        <a:pos x="T6" y="T7"/>
                      </a:cxn>
                      <a:cxn ang="T14">
                        <a:pos x="T8" y="T9"/>
                      </a:cxn>
                    </a:cxnLst>
                    <a:rect l="T15" t="T16" r="T17" b="T18"/>
                    <a:pathLst>
                      <a:path w="64" h="30">
                        <a:moveTo>
                          <a:pt x="0" y="30"/>
                        </a:moveTo>
                        <a:lnTo>
                          <a:pt x="13" y="0"/>
                        </a:lnTo>
                        <a:lnTo>
                          <a:pt x="52" y="0"/>
                        </a:lnTo>
                        <a:lnTo>
                          <a:pt x="64"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1" name="Group 2446"/>
                <p:cNvGrpSpPr>
                  <a:grpSpLocks/>
                </p:cNvGrpSpPr>
                <p:nvPr/>
              </p:nvGrpSpPr>
              <p:grpSpPr bwMode="auto">
                <a:xfrm>
                  <a:off x="1067" y="3698"/>
                  <a:ext cx="45" cy="23"/>
                  <a:chOff x="1067" y="3698"/>
                  <a:chExt cx="45" cy="23"/>
                </a:xfrm>
              </p:grpSpPr>
              <p:sp>
                <p:nvSpPr>
                  <p:cNvPr id="2966" name="Freeform 2447"/>
                  <p:cNvSpPr>
                    <a:spLocks/>
                  </p:cNvSpPr>
                  <p:nvPr/>
                </p:nvSpPr>
                <p:spPr bwMode="auto">
                  <a:xfrm>
                    <a:off x="1067" y="3698"/>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2" y="69"/>
                        </a:moveTo>
                        <a:lnTo>
                          <a:pt x="0" y="34"/>
                        </a:lnTo>
                        <a:lnTo>
                          <a:pt x="12" y="0"/>
                        </a:lnTo>
                        <a:lnTo>
                          <a:pt x="39" y="34"/>
                        </a:lnTo>
                        <a:lnTo>
                          <a:pt x="22"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7" name="Freeform 2448"/>
                  <p:cNvSpPr>
                    <a:spLocks/>
                  </p:cNvSpPr>
                  <p:nvPr/>
                </p:nvSpPr>
                <p:spPr bwMode="auto">
                  <a:xfrm>
                    <a:off x="1074" y="3699"/>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39"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8" name="Freeform 2449"/>
                  <p:cNvSpPr>
                    <a:spLocks/>
                  </p:cNvSpPr>
                  <p:nvPr/>
                </p:nvSpPr>
                <p:spPr bwMode="auto">
                  <a:xfrm>
                    <a:off x="1079" y="3711"/>
                    <a:ext cx="33" cy="10"/>
                  </a:xfrm>
                  <a:custGeom>
                    <a:avLst/>
                    <a:gdLst>
                      <a:gd name="T0" fmla="*/ 0 w 65"/>
                      <a:gd name="T1" fmla="*/ 0 h 30"/>
                      <a:gd name="T2" fmla="*/ 1 w 65"/>
                      <a:gd name="T3" fmla="*/ 0 h 30"/>
                      <a:gd name="T4" fmla="*/ 1 w 65"/>
                      <a:gd name="T5" fmla="*/ 0 h 30"/>
                      <a:gd name="T6" fmla="*/ 1 w 65"/>
                      <a:gd name="T7" fmla="*/ 0 h 30"/>
                      <a:gd name="T8" fmla="*/ 0 w 65"/>
                      <a:gd name="T9" fmla="*/ 0 h 30"/>
                      <a:gd name="T10" fmla="*/ 0 60000 65536"/>
                      <a:gd name="T11" fmla="*/ 0 60000 65536"/>
                      <a:gd name="T12" fmla="*/ 0 60000 65536"/>
                      <a:gd name="T13" fmla="*/ 0 60000 65536"/>
                      <a:gd name="T14" fmla="*/ 0 60000 65536"/>
                      <a:gd name="T15" fmla="*/ 0 w 65"/>
                      <a:gd name="T16" fmla="*/ 0 h 30"/>
                      <a:gd name="T17" fmla="*/ 65 w 65"/>
                      <a:gd name="T18" fmla="*/ 30 h 30"/>
                    </a:gdLst>
                    <a:ahLst/>
                    <a:cxnLst>
                      <a:cxn ang="T10">
                        <a:pos x="T0" y="T1"/>
                      </a:cxn>
                      <a:cxn ang="T11">
                        <a:pos x="T2" y="T3"/>
                      </a:cxn>
                      <a:cxn ang="T12">
                        <a:pos x="T4" y="T5"/>
                      </a:cxn>
                      <a:cxn ang="T13">
                        <a:pos x="T6" y="T7"/>
                      </a:cxn>
                      <a:cxn ang="T14">
                        <a:pos x="T8" y="T9"/>
                      </a:cxn>
                    </a:cxnLst>
                    <a:rect l="T15" t="T16" r="T17" b="T18"/>
                    <a:pathLst>
                      <a:path w="65" h="30">
                        <a:moveTo>
                          <a:pt x="0" y="30"/>
                        </a:moveTo>
                        <a:lnTo>
                          <a:pt x="11" y="0"/>
                        </a:lnTo>
                        <a:lnTo>
                          <a:pt x="53" y="0"/>
                        </a:lnTo>
                        <a:lnTo>
                          <a:pt x="65"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2" name="Group 2450"/>
                <p:cNvGrpSpPr>
                  <a:grpSpLocks/>
                </p:cNvGrpSpPr>
                <p:nvPr/>
              </p:nvGrpSpPr>
              <p:grpSpPr bwMode="auto">
                <a:xfrm>
                  <a:off x="1079" y="3712"/>
                  <a:ext cx="44" cy="23"/>
                  <a:chOff x="1079" y="3712"/>
                  <a:chExt cx="44" cy="23"/>
                </a:xfrm>
              </p:grpSpPr>
              <p:sp>
                <p:nvSpPr>
                  <p:cNvPr id="2963" name="Freeform 2451"/>
                  <p:cNvSpPr>
                    <a:spLocks/>
                  </p:cNvSpPr>
                  <p:nvPr/>
                </p:nvSpPr>
                <p:spPr bwMode="auto">
                  <a:xfrm>
                    <a:off x="1079" y="3712"/>
                    <a:ext cx="21" cy="23"/>
                  </a:xfrm>
                  <a:custGeom>
                    <a:avLst/>
                    <a:gdLst>
                      <a:gd name="T0" fmla="*/ 1 w 41"/>
                      <a:gd name="T1" fmla="*/ 0 h 68"/>
                      <a:gd name="T2" fmla="*/ 0 w 41"/>
                      <a:gd name="T3" fmla="*/ 0 h 68"/>
                      <a:gd name="T4" fmla="*/ 1 w 41"/>
                      <a:gd name="T5" fmla="*/ 0 h 68"/>
                      <a:gd name="T6" fmla="*/ 1 w 41"/>
                      <a:gd name="T7" fmla="*/ 0 h 68"/>
                      <a:gd name="T8" fmla="*/ 1 w 41"/>
                      <a:gd name="T9" fmla="*/ 0 h 68"/>
                      <a:gd name="T10" fmla="*/ 0 60000 65536"/>
                      <a:gd name="T11" fmla="*/ 0 60000 65536"/>
                      <a:gd name="T12" fmla="*/ 0 60000 65536"/>
                      <a:gd name="T13" fmla="*/ 0 60000 65536"/>
                      <a:gd name="T14" fmla="*/ 0 60000 65536"/>
                      <a:gd name="T15" fmla="*/ 0 w 41"/>
                      <a:gd name="T16" fmla="*/ 0 h 68"/>
                      <a:gd name="T17" fmla="*/ 41 w 41"/>
                      <a:gd name="T18" fmla="*/ 68 h 68"/>
                    </a:gdLst>
                    <a:ahLst/>
                    <a:cxnLst>
                      <a:cxn ang="T10">
                        <a:pos x="T0" y="T1"/>
                      </a:cxn>
                      <a:cxn ang="T11">
                        <a:pos x="T2" y="T3"/>
                      </a:cxn>
                      <a:cxn ang="T12">
                        <a:pos x="T4" y="T5"/>
                      </a:cxn>
                      <a:cxn ang="T13">
                        <a:pos x="T6" y="T7"/>
                      </a:cxn>
                      <a:cxn ang="T14">
                        <a:pos x="T8" y="T9"/>
                      </a:cxn>
                    </a:cxnLst>
                    <a:rect l="T15" t="T16" r="T17" b="T18"/>
                    <a:pathLst>
                      <a:path w="41" h="68">
                        <a:moveTo>
                          <a:pt x="24" y="68"/>
                        </a:moveTo>
                        <a:lnTo>
                          <a:pt x="0" y="32"/>
                        </a:lnTo>
                        <a:lnTo>
                          <a:pt x="13" y="0"/>
                        </a:lnTo>
                        <a:lnTo>
                          <a:pt x="41" y="32"/>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4" name="Freeform 2452"/>
                  <p:cNvSpPr>
                    <a:spLocks/>
                  </p:cNvSpPr>
                  <p:nvPr/>
                </p:nvSpPr>
                <p:spPr bwMode="auto">
                  <a:xfrm>
                    <a:off x="1087" y="3713"/>
                    <a:ext cx="31" cy="10"/>
                  </a:xfrm>
                  <a:custGeom>
                    <a:avLst/>
                    <a:gdLst>
                      <a:gd name="T0" fmla="*/ 0 w 63"/>
                      <a:gd name="T1" fmla="*/ 0 h 32"/>
                      <a:gd name="T2" fmla="*/ 0 w 63"/>
                      <a:gd name="T3" fmla="*/ 0 h 32"/>
                      <a:gd name="T4" fmla="*/ 0 w 63"/>
                      <a:gd name="T5" fmla="*/ 0 h 32"/>
                      <a:gd name="T6" fmla="*/ 0 w 63"/>
                      <a:gd name="T7" fmla="*/ 0 h 32"/>
                      <a:gd name="T8" fmla="*/ 0 w 63"/>
                      <a:gd name="T9" fmla="*/ 0 h 32"/>
                      <a:gd name="T10" fmla="*/ 0 60000 65536"/>
                      <a:gd name="T11" fmla="*/ 0 60000 65536"/>
                      <a:gd name="T12" fmla="*/ 0 60000 65536"/>
                      <a:gd name="T13" fmla="*/ 0 60000 65536"/>
                      <a:gd name="T14" fmla="*/ 0 60000 65536"/>
                      <a:gd name="T15" fmla="*/ 0 w 63"/>
                      <a:gd name="T16" fmla="*/ 0 h 32"/>
                      <a:gd name="T17" fmla="*/ 63 w 63"/>
                      <a:gd name="T18" fmla="*/ 32 h 32"/>
                    </a:gdLst>
                    <a:ahLst/>
                    <a:cxnLst>
                      <a:cxn ang="T10">
                        <a:pos x="T0" y="T1"/>
                      </a:cxn>
                      <a:cxn ang="T11">
                        <a:pos x="T2" y="T3"/>
                      </a:cxn>
                      <a:cxn ang="T12">
                        <a:pos x="T4" y="T5"/>
                      </a:cxn>
                      <a:cxn ang="T13">
                        <a:pos x="T6" y="T7"/>
                      </a:cxn>
                      <a:cxn ang="T14">
                        <a:pos x="T8" y="T9"/>
                      </a:cxn>
                    </a:cxnLst>
                    <a:rect l="T15" t="T16" r="T17" b="T18"/>
                    <a:pathLst>
                      <a:path w="63" h="32">
                        <a:moveTo>
                          <a:pt x="0" y="0"/>
                        </a:moveTo>
                        <a:lnTo>
                          <a:pt x="40" y="0"/>
                        </a:lnTo>
                        <a:lnTo>
                          <a:pt x="63" y="32"/>
                        </a:lnTo>
                        <a:lnTo>
                          <a:pt x="23" y="32"/>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5" name="Freeform 2453"/>
                  <p:cNvSpPr>
                    <a:spLocks/>
                  </p:cNvSpPr>
                  <p:nvPr/>
                </p:nvSpPr>
                <p:spPr bwMode="auto">
                  <a:xfrm>
                    <a:off x="1092" y="3724"/>
                    <a:ext cx="31" cy="11"/>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2"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3" name="Group 2454"/>
                <p:cNvGrpSpPr>
                  <a:grpSpLocks/>
                </p:cNvGrpSpPr>
                <p:nvPr/>
              </p:nvGrpSpPr>
              <p:grpSpPr bwMode="auto">
                <a:xfrm>
                  <a:off x="1093" y="3725"/>
                  <a:ext cx="45" cy="23"/>
                  <a:chOff x="1093" y="3725"/>
                  <a:chExt cx="45" cy="23"/>
                </a:xfrm>
              </p:grpSpPr>
              <p:sp>
                <p:nvSpPr>
                  <p:cNvPr id="2960" name="Freeform 2455"/>
                  <p:cNvSpPr>
                    <a:spLocks/>
                  </p:cNvSpPr>
                  <p:nvPr/>
                </p:nvSpPr>
                <p:spPr bwMode="auto">
                  <a:xfrm>
                    <a:off x="1093" y="3725"/>
                    <a:ext cx="20" cy="23"/>
                  </a:xfrm>
                  <a:custGeom>
                    <a:avLst/>
                    <a:gdLst>
                      <a:gd name="T0" fmla="*/ 1 w 40"/>
                      <a:gd name="T1" fmla="*/ 0 h 68"/>
                      <a:gd name="T2" fmla="*/ 0 w 40"/>
                      <a:gd name="T3" fmla="*/ 0 h 68"/>
                      <a:gd name="T4" fmla="*/ 1 w 40"/>
                      <a:gd name="T5" fmla="*/ 0 h 68"/>
                      <a:gd name="T6" fmla="*/ 1 w 40"/>
                      <a:gd name="T7" fmla="*/ 0 h 68"/>
                      <a:gd name="T8" fmla="*/ 1 w 40"/>
                      <a:gd name="T9" fmla="*/ 0 h 68"/>
                      <a:gd name="T10" fmla="*/ 0 60000 65536"/>
                      <a:gd name="T11" fmla="*/ 0 60000 65536"/>
                      <a:gd name="T12" fmla="*/ 0 60000 65536"/>
                      <a:gd name="T13" fmla="*/ 0 60000 65536"/>
                      <a:gd name="T14" fmla="*/ 0 60000 65536"/>
                      <a:gd name="T15" fmla="*/ 0 w 40"/>
                      <a:gd name="T16" fmla="*/ 0 h 68"/>
                      <a:gd name="T17" fmla="*/ 40 w 40"/>
                      <a:gd name="T18" fmla="*/ 68 h 68"/>
                    </a:gdLst>
                    <a:ahLst/>
                    <a:cxnLst>
                      <a:cxn ang="T10">
                        <a:pos x="T0" y="T1"/>
                      </a:cxn>
                      <a:cxn ang="T11">
                        <a:pos x="T2" y="T3"/>
                      </a:cxn>
                      <a:cxn ang="T12">
                        <a:pos x="T4" y="T5"/>
                      </a:cxn>
                      <a:cxn ang="T13">
                        <a:pos x="T6" y="T7"/>
                      </a:cxn>
                      <a:cxn ang="T14">
                        <a:pos x="T8" y="T9"/>
                      </a:cxn>
                    </a:cxnLst>
                    <a:rect l="T15" t="T16" r="T17" b="T18"/>
                    <a:pathLst>
                      <a:path w="40" h="68">
                        <a:moveTo>
                          <a:pt x="24" y="68"/>
                        </a:moveTo>
                        <a:lnTo>
                          <a:pt x="0" y="33"/>
                        </a:lnTo>
                        <a:lnTo>
                          <a:pt x="12" y="0"/>
                        </a:lnTo>
                        <a:lnTo>
                          <a:pt x="40" y="33"/>
                        </a:lnTo>
                        <a:lnTo>
                          <a:pt x="24"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1" name="Freeform 2456"/>
                  <p:cNvSpPr>
                    <a:spLocks/>
                  </p:cNvSpPr>
                  <p:nvPr/>
                </p:nvSpPr>
                <p:spPr bwMode="auto">
                  <a:xfrm>
                    <a:off x="1100" y="3726"/>
                    <a:ext cx="32" cy="11"/>
                  </a:xfrm>
                  <a:custGeom>
                    <a:avLst/>
                    <a:gdLst>
                      <a:gd name="T0" fmla="*/ 0 w 64"/>
                      <a:gd name="T1" fmla="*/ 0 h 34"/>
                      <a:gd name="T2" fmla="*/ 1 w 64"/>
                      <a:gd name="T3" fmla="*/ 0 h 34"/>
                      <a:gd name="T4" fmla="*/ 1 w 64"/>
                      <a:gd name="T5" fmla="*/ 0 h 34"/>
                      <a:gd name="T6" fmla="*/ 1 w 64"/>
                      <a:gd name="T7" fmla="*/ 0 h 34"/>
                      <a:gd name="T8" fmla="*/ 0 w 64"/>
                      <a:gd name="T9" fmla="*/ 0 h 34"/>
                      <a:gd name="T10" fmla="*/ 0 60000 65536"/>
                      <a:gd name="T11" fmla="*/ 0 60000 65536"/>
                      <a:gd name="T12" fmla="*/ 0 60000 65536"/>
                      <a:gd name="T13" fmla="*/ 0 60000 65536"/>
                      <a:gd name="T14" fmla="*/ 0 60000 65536"/>
                      <a:gd name="T15" fmla="*/ 0 w 64"/>
                      <a:gd name="T16" fmla="*/ 0 h 34"/>
                      <a:gd name="T17" fmla="*/ 64 w 64"/>
                      <a:gd name="T18" fmla="*/ 34 h 34"/>
                    </a:gdLst>
                    <a:ahLst/>
                    <a:cxnLst>
                      <a:cxn ang="T10">
                        <a:pos x="T0" y="T1"/>
                      </a:cxn>
                      <a:cxn ang="T11">
                        <a:pos x="T2" y="T3"/>
                      </a:cxn>
                      <a:cxn ang="T12">
                        <a:pos x="T4" y="T5"/>
                      </a:cxn>
                      <a:cxn ang="T13">
                        <a:pos x="T6" y="T7"/>
                      </a:cxn>
                      <a:cxn ang="T14">
                        <a:pos x="T8" y="T9"/>
                      </a:cxn>
                    </a:cxnLst>
                    <a:rect l="T15" t="T16" r="T17" b="T18"/>
                    <a:pathLst>
                      <a:path w="64" h="34">
                        <a:moveTo>
                          <a:pt x="0" y="0"/>
                        </a:moveTo>
                        <a:lnTo>
                          <a:pt x="40" y="0"/>
                        </a:lnTo>
                        <a:lnTo>
                          <a:pt x="64" y="34"/>
                        </a:lnTo>
                        <a:lnTo>
                          <a:pt x="25" y="34"/>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62" name="Freeform 2457"/>
                  <p:cNvSpPr>
                    <a:spLocks/>
                  </p:cNvSpPr>
                  <p:nvPr/>
                </p:nvSpPr>
                <p:spPr bwMode="auto">
                  <a:xfrm>
                    <a:off x="1106" y="3738"/>
                    <a:ext cx="32" cy="9"/>
                  </a:xfrm>
                  <a:custGeom>
                    <a:avLst/>
                    <a:gdLst>
                      <a:gd name="T0" fmla="*/ 0 w 65"/>
                      <a:gd name="T1" fmla="*/ 0 h 28"/>
                      <a:gd name="T2" fmla="*/ 0 w 65"/>
                      <a:gd name="T3" fmla="*/ 0 h 28"/>
                      <a:gd name="T4" fmla="*/ 0 w 65"/>
                      <a:gd name="T5" fmla="*/ 0 h 28"/>
                      <a:gd name="T6" fmla="*/ 0 w 65"/>
                      <a:gd name="T7" fmla="*/ 0 h 28"/>
                      <a:gd name="T8" fmla="*/ 0 w 65"/>
                      <a:gd name="T9" fmla="*/ 0 h 28"/>
                      <a:gd name="T10" fmla="*/ 0 60000 65536"/>
                      <a:gd name="T11" fmla="*/ 0 60000 65536"/>
                      <a:gd name="T12" fmla="*/ 0 60000 65536"/>
                      <a:gd name="T13" fmla="*/ 0 60000 65536"/>
                      <a:gd name="T14" fmla="*/ 0 60000 65536"/>
                      <a:gd name="T15" fmla="*/ 0 w 65"/>
                      <a:gd name="T16" fmla="*/ 0 h 28"/>
                      <a:gd name="T17" fmla="*/ 65 w 65"/>
                      <a:gd name="T18" fmla="*/ 28 h 28"/>
                    </a:gdLst>
                    <a:ahLst/>
                    <a:cxnLst>
                      <a:cxn ang="T10">
                        <a:pos x="T0" y="T1"/>
                      </a:cxn>
                      <a:cxn ang="T11">
                        <a:pos x="T2" y="T3"/>
                      </a:cxn>
                      <a:cxn ang="T12">
                        <a:pos x="T4" y="T5"/>
                      </a:cxn>
                      <a:cxn ang="T13">
                        <a:pos x="T6" y="T7"/>
                      </a:cxn>
                      <a:cxn ang="T14">
                        <a:pos x="T8" y="T9"/>
                      </a:cxn>
                    </a:cxnLst>
                    <a:rect l="T15" t="T16" r="T17" b="T18"/>
                    <a:pathLst>
                      <a:path w="65" h="28">
                        <a:moveTo>
                          <a:pt x="0" y="28"/>
                        </a:moveTo>
                        <a:lnTo>
                          <a:pt x="12" y="0"/>
                        </a:lnTo>
                        <a:lnTo>
                          <a:pt x="53" y="0"/>
                        </a:lnTo>
                        <a:lnTo>
                          <a:pt x="65" y="28"/>
                        </a:lnTo>
                        <a:lnTo>
                          <a:pt x="0" y="28"/>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4" name="Group 2458"/>
                <p:cNvGrpSpPr>
                  <a:grpSpLocks/>
                </p:cNvGrpSpPr>
                <p:nvPr/>
              </p:nvGrpSpPr>
              <p:grpSpPr bwMode="auto">
                <a:xfrm>
                  <a:off x="1108" y="3739"/>
                  <a:ext cx="44" cy="23"/>
                  <a:chOff x="1108" y="3739"/>
                  <a:chExt cx="44" cy="23"/>
                </a:xfrm>
              </p:grpSpPr>
              <p:sp>
                <p:nvSpPr>
                  <p:cNvPr id="2957" name="Freeform 2459"/>
                  <p:cNvSpPr>
                    <a:spLocks/>
                  </p:cNvSpPr>
                  <p:nvPr/>
                </p:nvSpPr>
                <p:spPr bwMode="auto">
                  <a:xfrm>
                    <a:off x="1108" y="3739"/>
                    <a:ext cx="19" cy="23"/>
                  </a:xfrm>
                  <a:custGeom>
                    <a:avLst/>
                    <a:gdLst>
                      <a:gd name="T0" fmla="*/ 0 w 40"/>
                      <a:gd name="T1" fmla="*/ 0 h 69"/>
                      <a:gd name="T2" fmla="*/ 0 w 40"/>
                      <a:gd name="T3" fmla="*/ 0 h 69"/>
                      <a:gd name="T4" fmla="*/ 0 w 40"/>
                      <a:gd name="T5" fmla="*/ 0 h 69"/>
                      <a:gd name="T6" fmla="*/ 0 w 40"/>
                      <a:gd name="T7" fmla="*/ 0 h 69"/>
                      <a:gd name="T8" fmla="*/ 0 w 40"/>
                      <a:gd name="T9" fmla="*/ 0 h 69"/>
                      <a:gd name="T10" fmla="*/ 0 60000 65536"/>
                      <a:gd name="T11" fmla="*/ 0 60000 65536"/>
                      <a:gd name="T12" fmla="*/ 0 60000 65536"/>
                      <a:gd name="T13" fmla="*/ 0 60000 65536"/>
                      <a:gd name="T14" fmla="*/ 0 60000 65536"/>
                      <a:gd name="T15" fmla="*/ 0 w 40"/>
                      <a:gd name="T16" fmla="*/ 0 h 69"/>
                      <a:gd name="T17" fmla="*/ 40 w 40"/>
                      <a:gd name="T18" fmla="*/ 69 h 69"/>
                    </a:gdLst>
                    <a:ahLst/>
                    <a:cxnLst>
                      <a:cxn ang="T10">
                        <a:pos x="T0" y="T1"/>
                      </a:cxn>
                      <a:cxn ang="T11">
                        <a:pos x="T2" y="T3"/>
                      </a:cxn>
                      <a:cxn ang="T12">
                        <a:pos x="T4" y="T5"/>
                      </a:cxn>
                      <a:cxn ang="T13">
                        <a:pos x="T6" y="T7"/>
                      </a:cxn>
                      <a:cxn ang="T14">
                        <a:pos x="T8" y="T9"/>
                      </a:cxn>
                    </a:cxnLst>
                    <a:rect l="T15" t="T16" r="T17" b="T18"/>
                    <a:pathLst>
                      <a:path w="40" h="69">
                        <a:moveTo>
                          <a:pt x="23" y="69"/>
                        </a:moveTo>
                        <a:lnTo>
                          <a:pt x="0" y="34"/>
                        </a:lnTo>
                        <a:lnTo>
                          <a:pt x="12" y="0"/>
                        </a:lnTo>
                        <a:lnTo>
                          <a:pt x="40" y="34"/>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8" name="Freeform 2460"/>
                  <p:cNvSpPr>
                    <a:spLocks/>
                  </p:cNvSpPr>
                  <p:nvPr/>
                </p:nvSpPr>
                <p:spPr bwMode="auto">
                  <a:xfrm>
                    <a:off x="1114" y="3740"/>
                    <a:ext cx="32" cy="11"/>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42" y="0"/>
                        </a:lnTo>
                        <a:lnTo>
                          <a:pt x="64" y="35"/>
                        </a:lnTo>
                        <a:lnTo>
                          <a:pt x="25"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9" name="Freeform 2461"/>
                  <p:cNvSpPr>
                    <a:spLocks/>
                  </p:cNvSpPr>
                  <p:nvPr/>
                </p:nvSpPr>
                <p:spPr bwMode="auto">
                  <a:xfrm>
                    <a:off x="1120" y="3752"/>
                    <a:ext cx="32" cy="10"/>
                  </a:xfrm>
                  <a:custGeom>
                    <a:avLst/>
                    <a:gdLst>
                      <a:gd name="T0" fmla="*/ 0 w 66"/>
                      <a:gd name="T1" fmla="*/ 0 h 30"/>
                      <a:gd name="T2" fmla="*/ 0 w 66"/>
                      <a:gd name="T3" fmla="*/ 0 h 30"/>
                      <a:gd name="T4" fmla="*/ 0 w 66"/>
                      <a:gd name="T5" fmla="*/ 0 h 30"/>
                      <a:gd name="T6" fmla="*/ 0 w 66"/>
                      <a:gd name="T7" fmla="*/ 0 h 30"/>
                      <a:gd name="T8" fmla="*/ 0 w 66"/>
                      <a:gd name="T9" fmla="*/ 0 h 30"/>
                      <a:gd name="T10" fmla="*/ 0 60000 65536"/>
                      <a:gd name="T11" fmla="*/ 0 60000 65536"/>
                      <a:gd name="T12" fmla="*/ 0 60000 65536"/>
                      <a:gd name="T13" fmla="*/ 0 60000 65536"/>
                      <a:gd name="T14" fmla="*/ 0 60000 65536"/>
                      <a:gd name="T15" fmla="*/ 0 w 66"/>
                      <a:gd name="T16" fmla="*/ 0 h 30"/>
                      <a:gd name="T17" fmla="*/ 66 w 66"/>
                      <a:gd name="T18" fmla="*/ 30 h 30"/>
                    </a:gdLst>
                    <a:ahLst/>
                    <a:cxnLst>
                      <a:cxn ang="T10">
                        <a:pos x="T0" y="T1"/>
                      </a:cxn>
                      <a:cxn ang="T11">
                        <a:pos x="T2" y="T3"/>
                      </a:cxn>
                      <a:cxn ang="T12">
                        <a:pos x="T4" y="T5"/>
                      </a:cxn>
                      <a:cxn ang="T13">
                        <a:pos x="T6" y="T7"/>
                      </a:cxn>
                      <a:cxn ang="T14">
                        <a:pos x="T8" y="T9"/>
                      </a:cxn>
                    </a:cxnLst>
                    <a:rect l="T15" t="T16" r="T17" b="T18"/>
                    <a:pathLst>
                      <a:path w="66" h="30">
                        <a:moveTo>
                          <a:pt x="0" y="30"/>
                        </a:moveTo>
                        <a:lnTo>
                          <a:pt x="15" y="0"/>
                        </a:lnTo>
                        <a:lnTo>
                          <a:pt x="54" y="0"/>
                        </a:lnTo>
                        <a:lnTo>
                          <a:pt x="66" y="30"/>
                        </a:lnTo>
                        <a:lnTo>
                          <a:pt x="0" y="3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5" name="Group 2462"/>
                <p:cNvGrpSpPr>
                  <a:grpSpLocks/>
                </p:cNvGrpSpPr>
                <p:nvPr/>
              </p:nvGrpSpPr>
              <p:grpSpPr bwMode="auto">
                <a:xfrm>
                  <a:off x="1121" y="3753"/>
                  <a:ext cx="45" cy="23"/>
                  <a:chOff x="1121" y="3753"/>
                  <a:chExt cx="45" cy="23"/>
                </a:xfrm>
              </p:grpSpPr>
              <p:sp>
                <p:nvSpPr>
                  <p:cNvPr id="2954" name="Freeform 2463"/>
                  <p:cNvSpPr>
                    <a:spLocks/>
                  </p:cNvSpPr>
                  <p:nvPr/>
                </p:nvSpPr>
                <p:spPr bwMode="auto">
                  <a:xfrm>
                    <a:off x="1121" y="3753"/>
                    <a:ext cx="20" cy="23"/>
                  </a:xfrm>
                  <a:custGeom>
                    <a:avLst/>
                    <a:gdLst>
                      <a:gd name="T0" fmla="*/ 1 w 39"/>
                      <a:gd name="T1" fmla="*/ 0 h 68"/>
                      <a:gd name="T2" fmla="*/ 0 w 39"/>
                      <a:gd name="T3" fmla="*/ 0 h 68"/>
                      <a:gd name="T4" fmla="*/ 1 w 39"/>
                      <a:gd name="T5" fmla="*/ 0 h 68"/>
                      <a:gd name="T6" fmla="*/ 1 w 39"/>
                      <a:gd name="T7" fmla="*/ 0 h 68"/>
                      <a:gd name="T8" fmla="*/ 1 w 39"/>
                      <a:gd name="T9" fmla="*/ 0 h 68"/>
                      <a:gd name="T10" fmla="*/ 0 60000 65536"/>
                      <a:gd name="T11" fmla="*/ 0 60000 65536"/>
                      <a:gd name="T12" fmla="*/ 0 60000 65536"/>
                      <a:gd name="T13" fmla="*/ 0 60000 65536"/>
                      <a:gd name="T14" fmla="*/ 0 60000 65536"/>
                      <a:gd name="T15" fmla="*/ 0 w 39"/>
                      <a:gd name="T16" fmla="*/ 0 h 68"/>
                      <a:gd name="T17" fmla="*/ 39 w 39"/>
                      <a:gd name="T18" fmla="*/ 68 h 68"/>
                    </a:gdLst>
                    <a:ahLst/>
                    <a:cxnLst>
                      <a:cxn ang="T10">
                        <a:pos x="T0" y="T1"/>
                      </a:cxn>
                      <a:cxn ang="T11">
                        <a:pos x="T2" y="T3"/>
                      </a:cxn>
                      <a:cxn ang="T12">
                        <a:pos x="T4" y="T5"/>
                      </a:cxn>
                      <a:cxn ang="T13">
                        <a:pos x="T6" y="T7"/>
                      </a:cxn>
                      <a:cxn ang="T14">
                        <a:pos x="T8" y="T9"/>
                      </a:cxn>
                    </a:cxnLst>
                    <a:rect l="T15" t="T16" r="T17" b="T18"/>
                    <a:pathLst>
                      <a:path w="39" h="68">
                        <a:moveTo>
                          <a:pt x="22" y="68"/>
                        </a:moveTo>
                        <a:lnTo>
                          <a:pt x="0" y="35"/>
                        </a:lnTo>
                        <a:lnTo>
                          <a:pt x="12" y="0"/>
                        </a:lnTo>
                        <a:lnTo>
                          <a:pt x="39" y="35"/>
                        </a:lnTo>
                        <a:lnTo>
                          <a:pt x="22" y="68"/>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5" name="Freeform 2464"/>
                  <p:cNvSpPr>
                    <a:spLocks/>
                  </p:cNvSpPr>
                  <p:nvPr/>
                </p:nvSpPr>
                <p:spPr bwMode="auto">
                  <a:xfrm>
                    <a:off x="1127" y="3753"/>
                    <a:ext cx="33" cy="12"/>
                  </a:xfrm>
                  <a:custGeom>
                    <a:avLst/>
                    <a:gdLst>
                      <a:gd name="T0" fmla="*/ 0 w 64"/>
                      <a:gd name="T1" fmla="*/ 0 h 35"/>
                      <a:gd name="T2" fmla="*/ 1 w 64"/>
                      <a:gd name="T3" fmla="*/ 0 h 35"/>
                      <a:gd name="T4" fmla="*/ 1 w 64"/>
                      <a:gd name="T5" fmla="*/ 0 h 35"/>
                      <a:gd name="T6" fmla="*/ 1 w 64"/>
                      <a:gd name="T7" fmla="*/ 0 h 35"/>
                      <a:gd name="T8" fmla="*/ 0 w 64"/>
                      <a:gd name="T9" fmla="*/ 0 h 35"/>
                      <a:gd name="T10" fmla="*/ 0 60000 65536"/>
                      <a:gd name="T11" fmla="*/ 0 60000 65536"/>
                      <a:gd name="T12" fmla="*/ 0 60000 65536"/>
                      <a:gd name="T13" fmla="*/ 0 60000 65536"/>
                      <a:gd name="T14" fmla="*/ 0 60000 65536"/>
                      <a:gd name="T15" fmla="*/ 0 w 64"/>
                      <a:gd name="T16" fmla="*/ 0 h 35"/>
                      <a:gd name="T17" fmla="*/ 64 w 64"/>
                      <a:gd name="T18" fmla="*/ 35 h 35"/>
                    </a:gdLst>
                    <a:ahLst/>
                    <a:cxnLst>
                      <a:cxn ang="T10">
                        <a:pos x="T0" y="T1"/>
                      </a:cxn>
                      <a:cxn ang="T11">
                        <a:pos x="T2" y="T3"/>
                      </a:cxn>
                      <a:cxn ang="T12">
                        <a:pos x="T4" y="T5"/>
                      </a:cxn>
                      <a:cxn ang="T13">
                        <a:pos x="T6" y="T7"/>
                      </a:cxn>
                      <a:cxn ang="T14">
                        <a:pos x="T8" y="T9"/>
                      </a:cxn>
                    </a:cxnLst>
                    <a:rect l="T15" t="T16" r="T17" b="T18"/>
                    <a:pathLst>
                      <a:path w="64" h="35">
                        <a:moveTo>
                          <a:pt x="0" y="0"/>
                        </a:moveTo>
                        <a:lnTo>
                          <a:pt x="39" y="0"/>
                        </a:lnTo>
                        <a:lnTo>
                          <a:pt x="64" y="35"/>
                        </a:lnTo>
                        <a:lnTo>
                          <a:pt x="24" y="35"/>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6" name="Freeform 2465"/>
                  <p:cNvSpPr>
                    <a:spLocks/>
                  </p:cNvSpPr>
                  <p:nvPr/>
                </p:nvSpPr>
                <p:spPr bwMode="auto">
                  <a:xfrm>
                    <a:off x="1133" y="3766"/>
                    <a:ext cx="33" cy="9"/>
                  </a:xfrm>
                  <a:custGeom>
                    <a:avLst/>
                    <a:gdLst>
                      <a:gd name="T0" fmla="*/ 0 w 66"/>
                      <a:gd name="T1" fmla="*/ 0 h 29"/>
                      <a:gd name="T2" fmla="*/ 1 w 66"/>
                      <a:gd name="T3" fmla="*/ 0 h 29"/>
                      <a:gd name="T4" fmla="*/ 1 w 66"/>
                      <a:gd name="T5" fmla="*/ 0 h 29"/>
                      <a:gd name="T6" fmla="*/ 1 w 66"/>
                      <a:gd name="T7" fmla="*/ 0 h 29"/>
                      <a:gd name="T8" fmla="*/ 0 w 66"/>
                      <a:gd name="T9" fmla="*/ 0 h 29"/>
                      <a:gd name="T10" fmla="*/ 0 60000 65536"/>
                      <a:gd name="T11" fmla="*/ 0 60000 65536"/>
                      <a:gd name="T12" fmla="*/ 0 60000 65536"/>
                      <a:gd name="T13" fmla="*/ 0 60000 65536"/>
                      <a:gd name="T14" fmla="*/ 0 60000 65536"/>
                      <a:gd name="T15" fmla="*/ 0 w 66"/>
                      <a:gd name="T16" fmla="*/ 0 h 29"/>
                      <a:gd name="T17" fmla="*/ 66 w 66"/>
                      <a:gd name="T18" fmla="*/ 29 h 29"/>
                    </a:gdLst>
                    <a:ahLst/>
                    <a:cxnLst>
                      <a:cxn ang="T10">
                        <a:pos x="T0" y="T1"/>
                      </a:cxn>
                      <a:cxn ang="T11">
                        <a:pos x="T2" y="T3"/>
                      </a:cxn>
                      <a:cxn ang="T12">
                        <a:pos x="T4" y="T5"/>
                      </a:cxn>
                      <a:cxn ang="T13">
                        <a:pos x="T6" y="T7"/>
                      </a:cxn>
                      <a:cxn ang="T14">
                        <a:pos x="T8" y="T9"/>
                      </a:cxn>
                    </a:cxnLst>
                    <a:rect l="T15" t="T16" r="T17" b="T18"/>
                    <a:pathLst>
                      <a:path w="66" h="29">
                        <a:moveTo>
                          <a:pt x="0" y="29"/>
                        </a:moveTo>
                        <a:lnTo>
                          <a:pt x="12" y="0"/>
                        </a:lnTo>
                        <a:lnTo>
                          <a:pt x="54" y="0"/>
                        </a:lnTo>
                        <a:lnTo>
                          <a:pt x="66" y="29"/>
                        </a:lnTo>
                        <a:lnTo>
                          <a:pt x="0" y="29"/>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96" name="Group 2466"/>
                <p:cNvGrpSpPr>
                  <a:grpSpLocks/>
                </p:cNvGrpSpPr>
                <p:nvPr/>
              </p:nvGrpSpPr>
              <p:grpSpPr bwMode="auto">
                <a:xfrm>
                  <a:off x="1133" y="3767"/>
                  <a:ext cx="44" cy="23"/>
                  <a:chOff x="1133" y="3767"/>
                  <a:chExt cx="44" cy="23"/>
                </a:xfrm>
              </p:grpSpPr>
              <p:sp>
                <p:nvSpPr>
                  <p:cNvPr id="2951" name="Freeform 2467"/>
                  <p:cNvSpPr>
                    <a:spLocks/>
                  </p:cNvSpPr>
                  <p:nvPr/>
                </p:nvSpPr>
                <p:spPr bwMode="auto">
                  <a:xfrm>
                    <a:off x="1133" y="3767"/>
                    <a:ext cx="20" cy="23"/>
                  </a:xfrm>
                  <a:custGeom>
                    <a:avLst/>
                    <a:gdLst>
                      <a:gd name="T0" fmla="*/ 1 w 39"/>
                      <a:gd name="T1" fmla="*/ 0 h 69"/>
                      <a:gd name="T2" fmla="*/ 0 w 39"/>
                      <a:gd name="T3" fmla="*/ 0 h 69"/>
                      <a:gd name="T4" fmla="*/ 1 w 39"/>
                      <a:gd name="T5" fmla="*/ 0 h 69"/>
                      <a:gd name="T6" fmla="*/ 1 w 39"/>
                      <a:gd name="T7" fmla="*/ 0 h 69"/>
                      <a:gd name="T8" fmla="*/ 1 w 39"/>
                      <a:gd name="T9" fmla="*/ 0 h 69"/>
                      <a:gd name="T10" fmla="*/ 0 60000 65536"/>
                      <a:gd name="T11" fmla="*/ 0 60000 65536"/>
                      <a:gd name="T12" fmla="*/ 0 60000 65536"/>
                      <a:gd name="T13" fmla="*/ 0 60000 65536"/>
                      <a:gd name="T14" fmla="*/ 0 60000 65536"/>
                      <a:gd name="T15" fmla="*/ 0 w 39"/>
                      <a:gd name="T16" fmla="*/ 0 h 69"/>
                      <a:gd name="T17" fmla="*/ 39 w 39"/>
                      <a:gd name="T18" fmla="*/ 69 h 69"/>
                    </a:gdLst>
                    <a:ahLst/>
                    <a:cxnLst>
                      <a:cxn ang="T10">
                        <a:pos x="T0" y="T1"/>
                      </a:cxn>
                      <a:cxn ang="T11">
                        <a:pos x="T2" y="T3"/>
                      </a:cxn>
                      <a:cxn ang="T12">
                        <a:pos x="T4" y="T5"/>
                      </a:cxn>
                      <a:cxn ang="T13">
                        <a:pos x="T6" y="T7"/>
                      </a:cxn>
                      <a:cxn ang="T14">
                        <a:pos x="T8" y="T9"/>
                      </a:cxn>
                    </a:cxnLst>
                    <a:rect l="T15" t="T16" r="T17" b="T18"/>
                    <a:pathLst>
                      <a:path w="39" h="69">
                        <a:moveTo>
                          <a:pt x="23" y="69"/>
                        </a:moveTo>
                        <a:lnTo>
                          <a:pt x="0" y="33"/>
                        </a:lnTo>
                        <a:lnTo>
                          <a:pt x="12" y="0"/>
                        </a:lnTo>
                        <a:lnTo>
                          <a:pt x="39" y="33"/>
                        </a:lnTo>
                        <a:lnTo>
                          <a:pt x="23" y="69"/>
                        </a:lnTo>
                        <a:close/>
                      </a:path>
                    </a:pathLst>
                  </a:custGeom>
                  <a:solidFill>
                    <a:srgbClr val="20202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2" name="Freeform 2468"/>
                  <p:cNvSpPr>
                    <a:spLocks/>
                  </p:cNvSpPr>
                  <p:nvPr/>
                </p:nvSpPr>
                <p:spPr bwMode="auto">
                  <a:xfrm>
                    <a:off x="1140" y="3767"/>
                    <a:ext cx="32" cy="11"/>
                  </a:xfrm>
                  <a:custGeom>
                    <a:avLst/>
                    <a:gdLst>
                      <a:gd name="T0" fmla="*/ 0 w 64"/>
                      <a:gd name="T1" fmla="*/ 0 h 33"/>
                      <a:gd name="T2" fmla="*/ 1 w 64"/>
                      <a:gd name="T3" fmla="*/ 0 h 33"/>
                      <a:gd name="T4" fmla="*/ 1 w 64"/>
                      <a:gd name="T5" fmla="*/ 0 h 33"/>
                      <a:gd name="T6" fmla="*/ 1 w 64"/>
                      <a:gd name="T7" fmla="*/ 0 h 33"/>
                      <a:gd name="T8" fmla="*/ 0 w 64"/>
                      <a:gd name="T9" fmla="*/ 0 h 33"/>
                      <a:gd name="T10" fmla="*/ 0 60000 65536"/>
                      <a:gd name="T11" fmla="*/ 0 60000 65536"/>
                      <a:gd name="T12" fmla="*/ 0 60000 65536"/>
                      <a:gd name="T13" fmla="*/ 0 60000 65536"/>
                      <a:gd name="T14" fmla="*/ 0 60000 65536"/>
                      <a:gd name="T15" fmla="*/ 0 w 64"/>
                      <a:gd name="T16" fmla="*/ 0 h 33"/>
                      <a:gd name="T17" fmla="*/ 64 w 64"/>
                      <a:gd name="T18" fmla="*/ 33 h 33"/>
                    </a:gdLst>
                    <a:ahLst/>
                    <a:cxnLst>
                      <a:cxn ang="T10">
                        <a:pos x="T0" y="T1"/>
                      </a:cxn>
                      <a:cxn ang="T11">
                        <a:pos x="T2" y="T3"/>
                      </a:cxn>
                      <a:cxn ang="T12">
                        <a:pos x="T4" y="T5"/>
                      </a:cxn>
                      <a:cxn ang="T13">
                        <a:pos x="T6" y="T7"/>
                      </a:cxn>
                      <a:cxn ang="T14">
                        <a:pos x="T8" y="T9"/>
                      </a:cxn>
                    </a:cxnLst>
                    <a:rect l="T15" t="T16" r="T17" b="T18"/>
                    <a:pathLst>
                      <a:path w="64" h="33">
                        <a:moveTo>
                          <a:pt x="0" y="0"/>
                        </a:moveTo>
                        <a:lnTo>
                          <a:pt x="41" y="0"/>
                        </a:lnTo>
                        <a:lnTo>
                          <a:pt x="64" y="33"/>
                        </a:lnTo>
                        <a:lnTo>
                          <a:pt x="23" y="33"/>
                        </a:lnTo>
                        <a:lnTo>
                          <a:pt x="0" y="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3" name="Freeform 2469"/>
                  <p:cNvSpPr>
                    <a:spLocks/>
                  </p:cNvSpPr>
                  <p:nvPr/>
                </p:nvSpPr>
                <p:spPr bwMode="auto">
                  <a:xfrm>
                    <a:off x="1146" y="3779"/>
                    <a:ext cx="31" cy="10"/>
                  </a:xfrm>
                  <a:custGeom>
                    <a:avLst/>
                    <a:gdLst>
                      <a:gd name="T0" fmla="*/ 0 w 63"/>
                      <a:gd name="T1" fmla="*/ 0 h 31"/>
                      <a:gd name="T2" fmla="*/ 0 w 63"/>
                      <a:gd name="T3" fmla="*/ 0 h 31"/>
                      <a:gd name="T4" fmla="*/ 0 w 63"/>
                      <a:gd name="T5" fmla="*/ 0 h 31"/>
                      <a:gd name="T6" fmla="*/ 0 w 63"/>
                      <a:gd name="T7" fmla="*/ 0 h 31"/>
                      <a:gd name="T8" fmla="*/ 0 w 63"/>
                      <a:gd name="T9" fmla="*/ 0 h 31"/>
                      <a:gd name="T10" fmla="*/ 0 60000 65536"/>
                      <a:gd name="T11" fmla="*/ 0 60000 65536"/>
                      <a:gd name="T12" fmla="*/ 0 60000 65536"/>
                      <a:gd name="T13" fmla="*/ 0 60000 65536"/>
                      <a:gd name="T14" fmla="*/ 0 60000 65536"/>
                      <a:gd name="T15" fmla="*/ 0 w 63"/>
                      <a:gd name="T16" fmla="*/ 0 h 31"/>
                      <a:gd name="T17" fmla="*/ 63 w 63"/>
                      <a:gd name="T18" fmla="*/ 31 h 31"/>
                    </a:gdLst>
                    <a:ahLst/>
                    <a:cxnLst>
                      <a:cxn ang="T10">
                        <a:pos x="T0" y="T1"/>
                      </a:cxn>
                      <a:cxn ang="T11">
                        <a:pos x="T2" y="T3"/>
                      </a:cxn>
                      <a:cxn ang="T12">
                        <a:pos x="T4" y="T5"/>
                      </a:cxn>
                      <a:cxn ang="T13">
                        <a:pos x="T6" y="T7"/>
                      </a:cxn>
                      <a:cxn ang="T14">
                        <a:pos x="T8" y="T9"/>
                      </a:cxn>
                    </a:cxnLst>
                    <a:rect l="T15" t="T16" r="T17" b="T18"/>
                    <a:pathLst>
                      <a:path w="63" h="31">
                        <a:moveTo>
                          <a:pt x="0" y="31"/>
                        </a:moveTo>
                        <a:lnTo>
                          <a:pt x="11" y="0"/>
                        </a:lnTo>
                        <a:lnTo>
                          <a:pt x="52" y="0"/>
                        </a:lnTo>
                        <a:lnTo>
                          <a:pt x="63" y="31"/>
                        </a:lnTo>
                        <a:lnTo>
                          <a:pt x="0" y="31"/>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897" name="Freeform 2470"/>
                <p:cNvSpPr>
                  <a:spLocks/>
                </p:cNvSpPr>
                <p:nvPr/>
              </p:nvSpPr>
              <p:spPr bwMode="auto">
                <a:xfrm>
                  <a:off x="972" y="3556"/>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7"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8" name="Freeform 2471"/>
                <p:cNvSpPr>
                  <a:spLocks/>
                </p:cNvSpPr>
                <p:nvPr/>
              </p:nvSpPr>
              <p:spPr bwMode="auto">
                <a:xfrm>
                  <a:off x="993" y="3576"/>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99" name="Freeform 2472"/>
                <p:cNvSpPr>
                  <a:spLocks/>
                </p:cNvSpPr>
                <p:nvPr/>
              </p:nvSpPr>
              <p:spPr bwMode="auto">
                <a:xfrm>
                  <a:off x="1012" y="3594"/>
                  <a:ext cx="39" cy="12"/>
                </a:xfrm>
                <a:custGeom>
                  <a:avLst/>
                  <a:gdLst>
                    <a:gd name="T0" fmla="*/ 0 w 78"/>
                    <a:gd name="T1" fmla="*/ 0 h 36"/>
                    <a:gd name="T2" fmla="*/ 1 w 78"/>
                    <a:gd name="T3" fmla="*/ 0 h 36"/>
                    <a:gd name="T4" fmla="*/ 1 w 78"/>
                    <a:gd name="T5" fmla="*/ 0 h 36"/>
                    <a:gd name="T6" fmla="*/ 1 w 78"/>
                    <a:gd name="T7" fmla="*/ 0 h 36"/>
                    <a:gd name="T8" fmla="*/ 0 w 78"/>
                    <a:gd name="T9" fmla="*/ 0 h 36"/>
                    <a:gd name="T10" fmla="*/ 0 60000 65536"/>
                    <a:gd name="T11" fmla="*/ 0 60000 65536"/>
                    <a:gd name="T12" fmla="*/ 0 60000 65536"/>
                    <a:gd name="T13" fmla="*/ 0 60000 65536"/>
                    <a:gd name="T14" fmla="*/ 0 60000 65536"/>
                    <a:gd name="T15" fmla="*/ 0 w 78"/>
                    <a:gd name="T16" fmla="*/ 0 h 36"/>
                    <a:gd name="T17" fmla="*/ 78 w 78"/>
                    <a:gd name="T18" fmla="*/ 36 h 36"/>
                  </a:gdLst>
                  <a:ahLst/>
                  <a:cxnLst>
                    <a:cxn ang="T10">
                      <a:pos x="T0" y="T1"/>
                    </a:cxn>
                    <a:cxn ang="T11">
                      <a:pos x="T2" y="T3"/>
                    </a:cxn>
                    <a:cxn ang="T12">
                      <a:pos x="T4" y="T5"/>
                    </a:cxn>
                    <a:cxn ang="T13">
                      <a:pos x="T6" y="T7"/>
                    </a:cxn>
                    <a:cxn ang="T14">
                      <a:pos x="T8" y="T9"/>
                    </a:cxn>
                  </a:cxnLst>
                  <a:rect l="T15" t="T16" r="T17" b="T18"/>
                  <a:pathLst>
                    <a:path w="78" h="36">
                      <a:moveTo>
                        <a:pt x="0" y="0"/>
                      </a:moveTo>
                      <a:lnTo>
                        <a:pt x="27" y="36"/>
                      </a:lnTo>
                      <a:lnTo>
                        <a:pt x="78" y="36"/>
                      </a:lnTo>
                      <a:lnTo>
                        <a:pt x="49"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0" name="Freeform 2473"/>
                <p:cNvSpPr>
                  <a:spLocks/>
                </p:cNvSpPr>
                <p:nvPr/>
              </p:nvSpPr>
              <p:spPr bwMode="auto">
                <a:xfrm>
                  <a:off x="1032" y="3613"/>
                  <a:ext cx="40" cy="12"/>
                </a:xfrm>
                <a:custGeom>
                  <a:avLst/>
                  <a:gdLst>
                    <a:gd name="T0" fmla="*/ 0 w 79"/>
                    <a:gd name="T1" fmla="*/ 0 h 36"/>
                    <a:gd name="T2" fmla="*/ 1 w 79"/>
                    <a:gd name="T3" fmla="*/ 0 h 36"/>
                    <a:gd name="T4" fmla="*/ 1 w 79"/>
                    <a:gd name="T5" fmla="*/ 0 h 36"/>
                    <a:gd name="T6" fmla="*/ 1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1" name="Freeform 2474"/>
                <p:cNvSpPr>
                  <a:spLocks/>
                </p:cNvSpPr>
                <p:nvPr/>
              </p:nvSpPr>
              <p:spPr bwMode="auto">
                <a:xfrm>
                  <a:off x="1053" y="3632"/>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2" name="Freeform 2475"/>
                <p:cNvSpPr>
                  <a:spLocks/>
                </p:cNvSpPr>
                <p:nvPr/>
              </p:nvSpPr>
              <p:spPr bwMode="auto">
                <a:xfrm>
                  <a:off x="1074" y="3651"/>
                  <a:ext cx="40" cy="12"/>
                </a:xfrm>
                <a:custGeom>
                  <a:avLst/>
                  <a:gdLst>
                    <a:gd name="T0" fmla="*/ 0 w 79"/>
                    <a:gd name="T1" fmla="*/ 0 h 35"/>
                    <a:gd name="T2" fmla="*/ 1 w 79"/>
                    <a:gd name="T3" fmla="*/ 0 h 35"/>
                    <a:gd name="T4" fmla="*/ 1 w 79"/>
                    <a:gd name="T5" fmla="*/ 0 h 35"/>
                    <a:gd name="T6" fmla="*/ 1 w 79"/>
                    <a:gd name="T7" fmla="*/ 0 h 35"/>
                    <a:gd name="T8" fmla="*/ 0 w 79"/>
                    <a:gd name="T9" fmla="*/ 0 h 35"/>
                    <a:gd name="T10" fmla="*/ 0 60000 65536"/>
                    <a:gd name="T11" fmla="*/ 0 60000 65536"/>
                    <a:gd name="T12" fmla="*/ 0 60000 65536"/>
                    <a:gd name="T13" fmla="*/ 0 60000 65536"/>
                    <a:gd name="T14" fmla="*/ 0 60000 65536"/>
                    <a:gd name="T15" fmla="*/ 0 w 79"/>
                    <a:gd name="T16" fmla="*/ 0 h 35"/>
                    <a:gd name="T17" fmla="*/ 79 w 79"/>
                    <a:gd name="T18" fmla="*/ 35 h 35"/>
                  </a:gdLst>
                  <a:ahLst/>
                  <a:cxnLst>
                    <a:cxn ang="T10">
                      <a:pos x="T0" y="T1"/>
                    </a:cxn>
                    <a:cxn ang="T11">
                      <a:pos x="T2" y="T3"/>
                    </a:cxn>
                    <a:cxn ang="T12">
                      <a:pos x="T4" y="T5"/>
                    </a:cxn>
                    <a:cxn ang="T13">
                      <a:pos x="T6" y="T7"/>
                    </a:cxn>
                    <a:cxn ang="T14">
                      <a:pos x="T8" y="T9"/>
                    </a:cxn>
                  </a:cxnLst>
                  <a:rect l="T15" t="T16" r="T17" b="T18"/>
                  <a:pathLst>
                    <a:path w="79" h="35">
                      <a:moveTo>
                        <a:pt x="0" y="0"/>
                      </a:moveTo>
                      <a:lnTo>
                        <a:pt x="28" y="35"/>
                      </a:lnTo>
                      <a:lnTo>
                        <a:pt x="79" y="35"/>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3" name="Freeform 2476"/>
                <p:cNvSpPr>
                  <a:spLocks/>
                </p:cNvSpPr>
                <p:nvPr/>
              </p:nvSpPr>
              <p:spPr bwMode="auto">
                <a:xfrm>
                  <a:off x="1095" y="3669"/>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8"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4" name="Freeform 2477"/>
                <p:cNvSpPr>
                  <a:spLocks/>
                </p:cNvSpPr>
                <p:nvPr/>
              </p:nvSpPr>
              <p:spPr bwMode="auto">
                <a:xfrm>
                  <a:off x="1115" y="3688"/>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5" name="Freeform 2478"/>
                <p:cNvSpPr>
                  <a:spLocks/>
                </p:cNvSpPr>
                <p:nvPr/>
              </p:nvSpPr>
              <p:spPr bwMode="auto">
                <a:xfrm>
                  <a:off x="1134" y="3707"/>
                  <a:ext cx="39" cy="12"/>
                </a:xfrm>
                <a:custGeom>
                  <a:avLst/>
                  <a:gdLst>
                    <a:gd name="T0" fmla="*/ 0 w 79"/>
                    <a:gd name="T1" fmla="*/ 0 h 36"/>
                    <a:gd name="T2" fmla="*/ 0 w 79"/>
                    <a:gd name="T3" fmla="*/ 0 h 36"/>
                    <a:gd name="T4" fmla="*/ 0 w 79"/>
                    <a:gd name="T5" fmla="*/ 0 h 36"/>
                    <a:gd name="T6" fmla="*/ 0 w 79"/>
                    <a:gd name="T7" fmla="*/ 0 h 36"/>
                    <a:gd name="T8" fmla="*/ 0 w 79"/>
                    <a:gd name="T9" fmla="*/ 0 h 36"/>
                    <a:gd name="T10" fmla="*/ 0 60000 65536"/>
                    <a:gd name="T11" fmla="*/ 0 60000 65536"/>
                    <a:gd name="T12" fmla="*/ 0 60000 65536"/>
                    <a:gd name="T13" fmla="*/ 0 60000 65536"/>
                    <a:gd name="T14" fmla="*/ 0 60000 65536"/>
                    <a:gd name="T15" fmla="*/ 0 w 79"/>
                    <a:gd name="T16" fmla="*/ 0 h 36"/>
                    <a:gd name="T17" fmla="*/ 79 w 79"/>
                    <a:gd name="T18" fmla="*/ 36 h 36"/>
                  </a:gdLst>
                  <a:ahLst/>
                  <a:cxnLst>
                    <a:cxn ang="T10">
                      <a:pos x="T0" y="T1"/>
                    </a:cxn>
                    <a:cxn ang="T11">
                      <a:pos x="T2" y="T3"/>
                    </a:cxn>
                    <a:cxn ang="T12">
                      <a:pos x="T4" y="T5"/>
                    </a:cxn>
                    <a:cxn ang="T13">
                      <a:pos x="T6" y="T7"/>
                    </a:cxn>
                    <a:cxn ang="T14">
                      <a:pos x="T8" y="T9"/>
                    </a:cxn>
                  </a:cxnLst>
                  <a:rect l="T15" t="T16" r="T17" b="T18"/>
                  <a:pathLst>
                    <a:path w="79" h="36">
                      <a:moveTo>
                        <a:pt x="0" y="0"/>
                      </a:moveTo>
                      <a:lnTo>
                        <a:pt x="28" y="36"/>
                      </a:lnTo>
                      <a:lnTo>
                        <a:pt x="79" y="36"/>
                      </a:lnTo>
                      <a:lnTo>
                        <a:pt x="50"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6" name="Freeform 2479"/>
                <p:cNvSpPr>
                  <a:spLocks/>
                </p:cNvSpPr>
                <p:nvPr/>
              </p:nvSpPr>
              <p:spPr bwMode="auto">
                <a:xfrm>
                  <a:off x="1154" y="3726"/>
                  <a:ext cx="40" cy="12"/>
                </a:xfrm>
                <a:custGeom>
                  <a:avLst/>
                  <a:gdLst>
                    <a:gd name="T0" fmla="*/ 0 w 80"/>
                    <a:gd name="T1" fmla="*/ 0 h 36"/>
                    <a:gd name="T2" fmla="*/ 1 w 80"/>
                    <a:gd name="T3" fmla="*/ 0 h 36"/>
                    <a:gd name="T4" fmla="*/ 1 w 80"/>
                    <a:gd name="T5" fmla="*/ 0 h 36"/>
                    <a:gd name="T6" fmla="*/ 1 w 80"/>
                    <a:gd name="T7" fmla="*/ 0 h 36"/>
                    <a:gd name="T8" fmla="*/ 0 w 80"/>
                    <a:gd name="T9" fmla="*/ 0 h 36"/>
                    <a:gd name="T10" fmla="*/ 0 60000 65536"/>
                    <a:gd name="T11" fmla="*/ 0 60000 65536"/>
                    <a:gd name="T12" fmla="*/ 0 60000 65536"/>
                    <a:gd name="T13" fmla="*/ 0 60000 65536"/>
                    <a:gd name="T14" fmla="*/ 0 60000 65536"/>
                    <a:gd name="T15" fmla="*/ 0 w 80"/>
                    <a:gd name="T16" fmla="*/ 0 h 36"/>
                    <a:gd name="T17" fmla="*/ 80 w 80"/>
                    <a:gd name="T18" fmla="*/ 36 h 36"/>
                  </a:gdLst>
                  <a:ahLst/>
                  <a:cxnLst>
                    <a:cxn ang="T10">
                      <a:pos x="T0" y="T1"/>
                    </a:cxn>
                    <a:cxn ang="T11">
                      <a:pos x="T2" y="T3"/>
                    </a:cxn>
                    <a:cxn ang="T12">
                      <a:pos x="T4" y="T5"/>
                    </a:cxn>
                    <a:cxn ang="T13">
                      <a:pos x="T6" y="T7"/>
                    </a:cxn>
                    <a:cxn ang="T14">
                      <a:pos x="T8" y="T9"/>
                    </a:cxn>
                  </a:cxnLst>
                  <a:rect l="T15" t="T16" r="T17" b="T18"/>
                  <a:pathLst>
                    <a:path w="80" h="36">
                      <a:moveTo>
                        <a:pt x="0" y="0"/>
                      </a:moveTo>
                      <a:lnTo>
                        <a:pt x="27" y="36"/>
                      </a:lnTo>
                      <a:lnTo>
                        <a:pt x="80" y="36"/>
                      </a:lnTo>
                      <a:lnTo>
                        <a:pt x="51"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07" name="Freeform 2480"/>
                <p:cNvSpPr>
                  <a:spLocks/>
                </p:cNvSpPr>
                <p:nvPr/>
              </p:nvSpPr>
              <p:spPr bwMode="auto">
                <a:xfrm>
                  <a:off x="1175" y="3745"/>
                  <a:ext cx="40" cy="12"/>
                </a:xfrm>
                <a:custGeom>
                  <a:avLst/>
                  <a:gdLst>
                    <a:gd name="T0" fmla="*/ 0 w 81"/>
                    <a:gd name="T1" fmla="*/ 0 h 36"/>
                    <a:gd name="T2" fmla="*/ 0 w 81"/>
                    <a:gd name="T3" fmla="*/ 0 h 36"/>
                    <a:gd name="T4" fmla="*/ 0 w 81"/>
                    <a:gd name="T5" fmla="*/ 0 h 36"/>
                    <a:gd name="T6" fmla="*/ 0 w 81"/>
                    <a:gd name="T7" fmla="*/ 0 h 36"/>
                    <a:gd name="T8" fmla="*/ 0 w 81"/>
                    <a:gd name="T9" fmla="*/ 0 h 36"/>
                    <a:gd name="T10" fmla="*/ 0 60000 65536"/>
                    <a:gd name="T11" fmla="*/ 0 60000 65536"/>
                    <a:gd name="T12" fmla="*/ 0 60000 65536"/>
                    <a:gd name="T13" fmla="*/ 0 60000 65536"/>
                    <a:gd name="T14" fmla="*/ 0 60000 65536"/>
                    <a:gd name="T15" fmla="*/ 0 w 81"/>
                    <a:gd name="T16" fmla="*/ 0 h 36"/>
                    <a:gd name="T17" fmla="*/ 81 w 81"/>
                    <a:gd name="T18" fmla="*/ 36 h 36"/>
                  </a:gdLst>
                  <a:ahLst/>
                  <a:cxnLst>
                    <a:cxn ang="T10">
                      <a:pos x="T0" y="T1"/>
                    </a:cxn>
                    <a:cxn ang="T11">
                      <a:pos x="T2" y="T3"/>
                    </a:cxn>
                    <a:cxn ang="T12">
                      <a:pos x="T4" y="T5"/>
                    </a:cxn>
                    <a:cxn ang="T13">
                      <a:pos x="T6" y="T7"/>
                    </a:cxn>
                    <a:cxn ang="T14">
                      <a:pos x="T8" y="T9"/>
                    </a:cxn>
                  </a:cxnLst>
                  <a:rect l="T15" t="T16" r="T17" b="T18"/>
                  <a:pathLst>
                    <a:path w="81" h="36">
                      <a:moveTo>
                        <a:pt x="0" y="0"/>
                      </a:moveTo>
                      <a:lnTo>
                        <a:pt x="28" y="36"/>
                      </a:lnTo>
                      <a:lnTo>
                        <a:pt x="81" y="36"/>
                      </a:lnTo>
                      <a:lnTo>
                        <a:pt x="52" y="0"/>
                      </a:lnTo>
                      <a:lnTo>
                        <a:pt x="0" y="0"/>
                      </a:lnTo>
                      <a:close/>
                    </a:path>
                  </a:pathLst>
                </a:custGeom>
                <a:solidFill>
                  <a:srgbClr val="FFFFFF"/>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nvGrpSpPr>
                <p:cNvPr id="2908" name="Group 2481"/>
                <p:cNvGrpSpPr>
                  <a:grpSpLocks/>
                </p:cNvGrpSpPr>
                <p:nvPr/>
              </p:nvGrpSpPr>
              <p:grpSpPr bwMode="auto">
                <a:xfrm>
                  <a:off x="700" y="3535"/>
                  <a:ext cx="49" cy="24"/>
                  <a:chOff x="700" y="3535"/>
                  <a:chExt cx="49" cy="24"/>
                </a:xfrm>
              </p:grpSpPr>
              <p:sp>
                <p:nvSpPr>
                  <p:cNvPr id="2948" name="Freeform 2482"/>
                  <p:cNvSpPr>
                    <a:spLocks/>
                  </p:cNvSpPr>
                  <p:nvPr/>
                </p:nvSpPr>
                <p:spPr bwMode="auto">
                  <a:xfrm>
                    <a:off x="700" y="3535"/>
                    <a:ext cx="12" cy="24"/>
                  </a:xfrm>
                  <a:custGeom>
                    <a:avLst/>
                    <a:gdLst>
                      <a:gd name="T0" fmla="*/ 1 w 24"/>
                      <a:gd name="T1" fmla="*/ 0 h 70"/>
                      <a:gd name="T2" fmla="*/ 0 w 24"/>
                      <a:gd name="T3" fmla="*/ 0 h 70"/>
                      <a:gd name="T4" fmla="*/ 1 w 24"/>
                      <a:gd name="T5" fmla="*/ 0 h 70"/>
                      <a:gd name="T6" fmla="*/ 1 w 24"/>
                      <a:gd name="T7" fmla="*/ 0 h 70"/>
                      <a:gd name="T8" fmla="*/ 1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10"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9" name="Freeform 2483"/>
                  <p:cNvSpPr>
                    <a:spLocks/>
                  </p:cNvSpPr>
                  <p:nvPr/>
                </p:nvSpPr>
                <p:spPr bwMode="auto">
                  <a:xfrm>
                    <a:off x="705" y="3536"/>
                    <a:ext cx="37" cy="10"/>
                  </a:xfrm>
                  <a:custGeom>
                    <a:avLst/>
                    <a:gdLst>
                      <a:gd name="T0" fmla="*/ 1 w 73"/>
                      <a:gd name="T1" fmla="*/ 0 h 30"/>
                      <a:gd name="T2" fmla="*/ 1 w 73"/>
                      <a:gd name="T3" fmla="*/ 0 h 30"/>
                      <a:gd name="T4" fmla="*/ 1 w 73"/>
                      <a:gd name="T5" fmla="*/ 0 h 30"/>
                      <a:gd name="T6" fmla="*/ 1 w 73"/>
                      <a:gd name="T7" fmla="*/ 0 h 30"/>
                      <a:gd name="T8" fmla="*/ 1 w 73"/>
                      <a:gd name="T9" fmla="*/ 0 h 30"/>
                      <a:gd name="T10" fmla="*/ 1 w 73"/>
                      <a:gd name="T11" fmla="*/ 0 h 30"/>
                      <a:gd name="T12" fmla="*/ 1 w 73"/>
                      <a:gd name="T13" fmla="*/ 0 h 30"/>
                      <a:gd name="T14" fmla="*/ 0 w 73"/>
                      <a:gd name="T15" fmla="*/ 0 h 30"/>
                      <a:gd name="T16" fmla="*/ 1 w 73"/>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3"/>
                      <a:gd name="T28" fmla="*/ 0 h 30"/>
                      <a:gd name="T29" fmla="*/ 73 w 73"/>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3" h="30">
                        <a:moveTo>
                          <a:pt x="1" y="0"/>
                        </a:moveTo>
                        <a:lnTo>
                          <a:pt x="50" y="0"/>
                        </a:lnTo>
                        <a:lnTo>
                          <a:pt x="52" y="4"/>
                        </a:lnTo>
                        <a:lnTo>
                          <a:pt x="56" y="12"/>
                        </a:lnTo>
                        <a:lnTo>
                          <a:pt x="73"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50" name="Freeform 2484"/>
                  <p:cNvSpPr>
                    <a:spLocks/>
                  </p:cNvSpPr>
                  <p:nvPr/>
                </p:nvSpPr>
                <p:spPr bwMode="auto">
                  <a:xfrm>
                    <a:off x="708" y="3547"/>
                    <a:ext cx="41" cy="12"/>
                  </a:xfrm>
                  <a:custGeom>
                    <a:avLst/>
                    <a:gdLst>
                      <a:gd name="T0" fmla="*/ 0 w 82"/>
                      <a:gd name="T1" fmla="*/ 0 h 36"/>
                      <a:gd name="T2" fmla="*/ 1 w 82"/>
                      <a:gd name="T3" fmla="*/ 0 h 36"/>
                      <a:gd name="T4" fmla="*/ 1 w 82"/>
                      <a:gd name="T5" fmla="*/ 0 h 36"/>
                      <a:gd name="T6" fmla="*/ 1 w 82"/>
                      <a:gd name="T7" fmla="*/ 0 h 36"/>
                      <a:gd name="T8" fmla="*/ 1 w 82"/>
                      <a:gd name="T9" fmla="*/ 0 h 36"/>
                      <a:gd name="T10" fmla="*/ 1 w 82"/>
                      <a:gd name="T11" fmla="*/ 0 h 36"/>
                      <a:gd name="T12" fmla="*/ 0 w 82"/>
                      <a:gd name="T13" fmla="*/ 0 h 36"/>
                      <a:gd name="T14" fmla="*/ 0 60000 65536"/>
                      <a:gd name="T15" fmla="*/ 0 60000 65536"/>
                      <a:gd name="T16" fmla="*/ 0 60000 65536"/>
                      <a:gd name="T17" fmla="*/ 0 60000 65536"/>
                      <a:gd name="T18" fmla="*/ 0 60000 65536"/>
                      <a:gd name="T19" fmla="*/ 0 60000 65536"/>
                      <a:gd name="T20" fmla="*/ 0 60000 65536"/>
                      <a:gd name="T21" fmla="*/ 0 w 82"/>
                      <a:gd name="T22" fmla="*/ 0 h 36"/>
                      <a:gd name="T23" fmla="*/ 82 w 82"/>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2" h="36">
                        <a:moveTo>
                          <a:pt x="0" y="36"/>
                        </a:moveTo>
                        <a:lnTo>
                          <a:pt x="2" y="19"/>
                        </a:lnTo>
                        <a:lnTo>
                          <a:pt x="6" y="6"/>
                        </a:lnTo>
                        <a:lnTo>
                          <a:pt x="11" y="0"/>
                        </a:lnTo>
                        <a:lnTo>
                          <a:pt x="67" y="0"/>
                        </a:lnTo>
                        <a:lnTo>
                          <a:pt x="82"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09" name="Group 2485"/>
                <p:cNvGrpSpPr>
                  <a:grpSpLocks/>
                </p:cNvGrpSpPr>
                <p:nvPr/>
              </p:nvGrpSpPr>
              <p:grpSpPr bwMode="auto">
                <a:xfrm>
                  <a:off x="714" y="3551"/>
                  <a:ext cx="49" cy="22"/>
                  <a:chOff x="714" y="3551"/>
                  <a:chExt cx="49" cy="22"/>
                </a:xfrm>
              </p:grpSpPr>
              <p:sp>
                <p:nvSpPr>
                  <p:cNvPr id="2945" name="Freeform 2486"/>
                  <p:cNvSpPr>
                    <a:spLocks/>
                  </p:cNvSpPr>
                  <p:nvPr/>
                </p:nvSpPr>
                <p:spPr bwMode="auto">
                  <a:xfrm>
                    <a:off x="714" y="3551"/>
                    <a:ext cx="12" cy="22"/>
                  </a:xfrm>
                  <a:custGeom>
                    <a:avLst/>
                    <a:gdLst>
                      <a:gd name="T0" fmla="*/ 1 w 24"/>
                      <a:gd name="T1" fmla="*/ 0 h 67"/>
                      <a:gd name="T2" fmla="*/ 0 w 24"/>
                      <a:gd name="T3" fmla="*/ 0 h 67"/>
                      <a:gd name="T4" fmla="*/ 1 w 24"/>
                      <a:gd name="T5" fmla="*/ 0 h 67"/>
                      <a:gd name="T6" fmla="*/ 1 w 24"/>
                      <a:gd name="T7" fmla="*/ 0 h 67"/>
                      <a:gd name="T8" fmla="*/ 1 w 24"/>
                      <a:gd name="T9" fmla="*/ 0 h 67"/>
                      <a:gd name="T10" fmla="*/ 0 60000 65536"/>
                      <a:gd name="T11" fmla="*/ 0 60000 65536"/>
                      <a:gd name="T12" fmla="*/ 0 60000 65536"/>
                      <a:gd name="T13" fmla="*/ 0 60000 65536"/>
                      <a:gd name="T14" fmla="*/ 0 60000 65536"/>
                      <a:gd name="T15" fmla="*/ 0 w 24"/>
                      <a:gd name="T16" fmla="*/ 0 h 67"/>
                      <a:gd name="T17" fmla="*/ 24 w 24"/>
                      <a:gd name="T18" fmla="*/ 67 h 67"/>
                    </a:gdLst>
                    <a:ahLst/>
                    <a:cxnLst>
                      <a:cxn ang="T10">
                        <a:pos x="T0" y="T1"/>
                      </a:cxn>
                      <a:cxn ang="T11">
                        <a:pos x="T2" y="T3"/>
                      </a:cxn>
                      <a:cxn ang="T12">
                        <a:pos x="T4" y="T5"/>
                      </a:cxn>
                      <a:cxn ang="T13">
                        <a:pos x="T6" y="T7"/>
                      </a:cxn>
                      <a:cxn ang="T14">
                        <a:pos x="T8" y="T9"/>
                      </a:cxn>
                    </a:cxnLst>
                    <a:rect l="T15" t="T16" r="T17" b="T18"/>
                    <a:pathLst>
                      <a:path w="24" h="67">
                        <a:moveTo>
                          <a:pt x="15" y="67"/>
                        </a:moveTo>
                        <a:lnTo>
                          <a:pt x="0" y="26"/>
                        </a:lnTo>
                        <a:lnTo>
                          <a:pt x="9" y="0"/>
                        </a:lnTo>
                        <a:lnTo>
                          <a:pt x="24" y="30"/>
                        </a:lnTo>
                        <a:lnTo>
                          <a:pt x="15" y="67"/>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6" name="Freeform 2487"/>
                  <p:cNvSpPr>
                    <a:spLocks/>
                  </p:cNvSpPr>
                  <p:nvPr/>
                </p:nvSpPr>
                <p:spPr bwMode="auto">
                  <a:xfrm>
                    <a:off x="719" y="3551"/>
                    <a:ext cx="36" cy="10"/>
                  </a:xfrm>
                  <a:custGeom>
                    <a:avLst/>
                    <a:gdLst>
                      <a:gd name="T0" fmla="*/ 0 w 74"/>
                      <a:gd name="T1" fmla="*/ 0 h 29"/>
                      <a:gd name="T2" fmla="*/ 0 w 74"/>
                      <a:gd name="T3" fmla="*/ 0 h 29"/>
                      <a:gd name="T4" fmla="*/ 0 w 74"/>
                      <a:gd name="T5" fmla="*/ 0 h 29"/>
                      <a:gd name="T6" fmla="*/ 0 w 74"/>
                      <a:gd name="T7" fmla="*/ 0 h 29"/>
                      <a:gd name="T8" fmla="*/ 0 w 74"/>
                      <a:gd name="T9" fmla="*/ 0 h 29"/>
                      <a:gd name="T10" fmla="*/ 0 w 74"/>
                      <a:gd name="T11" fmla="*/ 0 h 29"/>
                      <a:gd name="T12" fmla="*/ 0 w 74"/>
                      <a:gd name="T13" fmla="*/ 0 h 29"/>
                      <a:gd name="T14" fmla="*/ 0 w 74"/>
                      <a:gd name="T15" fmla="*/ 0 h 29"/>
                      <a:gd name="T16" fmla="*/ 0 w 74"/>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29"/>
                      <a:gd name="T29" fmla="*/ 74 w 74"/>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29">
                        <a:moveTo>
                          <a:pt x="2" y="0"/>
                        </a:moveTo>
                        <a:lnTo>
                          <a:pt x="50" y="0"/>
                        </a:lnTo>
                        <a:lnTo>
                          <a:pt x="52" y="2"/>
                        </a:lnTo>
                        <a:lnTo>
                          <a:pt x="57" y="13"/>
                        </a:lnTo>
                        <a:lnTo>
                          <a:pt x="74" y="29"/>
                        </a:lnTo>
                        <a:lnTo>
                          <a:pt x="19" y="29"/>
                        </a:lnTo>
                        <a:lnTo>
                          <a:pt x="9" y="20"/>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7" name="Freeform 2488"/>
                  <p:cNvSpPr>
                    <a:spLocks/>
                  </p:cNvSpPr>
                  <p:nvPr/>
                </p:nvSpPr>
                <p:spPr bwMode="auto">
                  <a:xfrm>
                    <a:off x="722" y="3562"/>
                    <a:ext cx="41" cy="11"/>
                  </a:xfrm>
                  <a:custGeom>
                    <a:avLst/>
                    <a:gdLst>
                      <a:gd name="T0" fmla="*/ 0 w 81"/>
                      <a:gd name="T1" fmla="*/ 0 h 35"/>
                      <a:gd name="T2" fmla="*/ 1 w 81"/>
                      <a:gd name="T3" fmla="*/ 0 h 35"/>
                      <a:gd name="T4" fmla="*/ 1 w 81"/>
                      <a:gd name="T5" fmla="*/ 0 h 35"/>
                      <a:gd name="T6" fmla="*/ 1 w 81"/>
                      <a:gd name="T7" fmla="*/ 0 h 35"/>
                      <a:gd name="T8" fmla="*/ 1 w 81"/>
                      <a:gd name="T9" fmla="*/ 0 h 35"/>
                      <a:gd name="T10" fmla="*/ 1 w 81"/>
                      <a:gd name="T11" fmla="*/ 0 h 35"/>
                      <a:gd name="T12" fmla="*/ 0 w 81"/>
                      <a:gd name="T13" fmla="*/ 0 h 35"/>
                      <a:gd name="T14" fmla="*/ 0 60000 65536"/>
                      <a:gd name="T15" fmla="*/ 0 60000 65536"/>
                      <a:gd name="T16" fmla="*/ 0 60000 65536"/>
                      <a:gd name="T17" fmla="*/ 0 60000 65536"/>
                      <a:gd name="T18" fmla="*/ 0 60000 65536"/>
                      <a:gd name="T19" fmla="*/ 0 60000 65536"/>
                      <a:gd name="T20" fmla="*/ 0 60000 65536"/>
                      <a:gd name="T21" fmla="*/ 0 w 81"/>
                      <a:gd name="T22" fmla="*/ 0 h 35"/>
                      <a:gd name="T23" fmla="*/ 81 w 81"/>
                      <a:gd name="T24" fmla="*/ 35 h 3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5">
                        <a:moveTo>
                          <a:pt x="0" y="35"/>
                        </a:moveTo>
                        <a:lnTo>
                          <a:pt x="1" y="19"/>
                        </a:lnTo>
                        <a:lnTo>
                          <a:pt x="5" y="7"/>
                        </a:lnTo>
                        <a:lnTo>
                          <a:pt x="10" y="0"/>
                        </a:lnTo>
                        <a:lnTo>
                          <a:pt x="67" y="0"/>
                        </a:lnTo>
                        <a:lnTo>
                          <a:pt x="81" y="35"/>
                        </a:lnTo>
                        <a:lnTo>
                          <a:pt x="0" y="35"/>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0" name="Group 2489"/>
                <p:cNvGrpSpPr>
                  <a:grpSpLocks/>
                </p:cNvGrpSpPr>
                <p:nvPr/>
              </p:nvGrpSpPr>
              <p:grpSpPr bwMode="auto">
                <a:xfrm>
                  <a:off x="728" y="3564"/>
                  <a:ext cx="48" cy="23"/>
                  <a:chOff x="728" y="3564"/>
                  <a:chExt cx="48" cy="23"/>
                </a:xfrm>
              </p:grpSpPr>
              <p:sp>
                <p:nvSpPr>
                  <p:cNvPr id="2942" name="Freeform 2490"/>
                  <p:cNvSpPr>
                    <a:spLocks/>
                  </p:cNvSpPr>
                  <p:nvPr/>
                </p:nvSpPr>
                <p:spPr bwMode="auto">
                  <a:xfrm>
                    <a:off x="728" y="3564"/>
                    <a:ext cx="11" cy="23"/>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3" name="Freeform 2491"/>
                  <p:cNvSpPr>
                    <a:spLocks/>
                  </p:cNvSpPr>
                  <p:nvPr/>
                </p:nvSpPr>
                <p:spPr bwMode="auto">
                  <a:xfrm>
                    <a:off x="732" y="3565"/>
                    <a:ext cx="37"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50" y="0"/>
                        </a:lnTo>
                        <a:lnTo>
                          <a:pt x="51" y="3"/>
                        </a:lnTo>
                        <a:lnTo>
                          <a:pt x="56" y="12"/>
                        </a:lnTo>
                        <a:lnTo>
                          <a:pt x="72" y="30"/>
                        </a:lnTo>
                        <a:lnTo>
                          <a:pt x="18" y="30"/>
                        </a:lnTo>
                        <a:lnTo>
                          <a:pt x="9" y="21"/>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4" name="Freeform 2492"/>
                  <p:cNvSpPr>
                    <a:spLocks/>
                  </p:cNvSpPr>
                  <p:nvPr/>
                </p:nvSpPr>
                <p:spPr bwMode="auto">
                  <a:xfrm>
                    <a:off x="735" y="3575"/>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1"/>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1" name="Group 2493"/>
                <p:cNvGrpSpPr>
                  <a:grpSpLocks/>
                </p:cNvGrpSpPr>
                <p:nvPr/>
              </p:nvGrpSpPr>
              <p:grpSpPr bwMode="auto">
                <a:xfrm>
                  <a:off x="742" y="3582"/>
                  <a:ext cx="49" cy="23"/>
                  <a:chOff x="742" y="3582"/>
                  <a:chExt cx="49" cy="23"/>
                </a:xfrm>
              </p:grpSpPr>
              <p:sp>
                <p:nvSpPr>
                  <p:cNvPr id="2939" name="Freeform 2494"/>
                  <p:cNvSpPr>
                    <a:spLocks/>
                  </p:cNvSpPr>
                  <p:nvPr/>
                </p:nvSpPr>
                <p:spPr bwMode="auto">
                  <a:xfrm>
                    <a:off x="742" y="3582"/>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5" y="68"/>
                        </a:moveTo>
                        <a:lnTo>
                          <a:pt x="0" y="26"/>
                        </a:lnTo>
                        <a:lnTo>
                          <a:pt x="11" y="0"/>
                        </a:lnTo>
                        <a:lnTo>
                          <a:pt x="24" y="31"/>
                        </a:lnTo>
                        <a:lnTo>
                          <a:pt x="15"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0" name="Freeform 2495"/>
                  <p:cNvSpPr>
                    <a:spLocks/>
                  </p:cNvSpPr>
                  <p:nvPr/>
                </p:nvSpPr>
                <p:spPr bwMode="auto">
                  <a:xfrm>
                    <a:off x="747" y="3582"/>
                    <a:ext cx="36" cy="10"/>
                  </a:xfrm>
                  <a:custGeom>
                    <a:avLst/>
                    <a:gdLst>
                      <a:gd name="T0" fmla="*/ 1 w 72"/>
                      <a:gd name="T1" fmla="*/ 0 h 30"/>
                      <a:gd name="T2" fmla="*/ 1 w 72"/>
                      <a:gd name="T3" fmla="*/ 0 h 30"/>
                      <a:gd name="T4" fmla="*/ 1 w 72"/>
                      <a:gd name="T5" fmla="*/ 0 h 30"/>
                      <a:gd name="T6" fmla="*/ 1 w 72"/>
                      <a:gd name="T7" fmla="*/ 0 h 30"/>
                      <a:gd name="T8" fmla="*/ 1 w 72"/>
                      <a:gd name="T9" fmla="*/ 0 h 30"/>
                      <a:gd name="T10" fmla="*/ 1 w 72"/>
                      <a:gd name="T11" fmla="*/ 0 h 30"/>
                      <a:gd name="T12" fmla="*/ 1 w 72"/>
                      <a:gd name="T13" fmla="*/ 0 h 30"/>
                      <a:gd name="T14" fmla="*/ 0 w 72"/>
                      <a:gd name="T15" fmla="*/ 0 h 30"/>
                      <a:gd name="T16" fmla="*/ 1 w 72"/>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30"/>
                      <a:gd name="T29" fmla="*/ 72 w 72"/>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30">
                        <a:moveTo>
                          <a:pt x="1" y="0"/>
                        </a:moveTo>
                        <a:lnTo>
                          <a:pt x="48" y="0"/>
                        </a:lnTo>
                        <a:lnTo>
                          <a:pt x="50" y="3"/>
                        </a:lnTo>
                        <a:lnTo>
                          <a:pt x="56" y="12"/>
                        </a:lnTo>
                        <a:lnTo>
                          <a:pt x="72" y="30"/>
                        </a:lnTo>
                        <a:lnTo>
                          <a:pt x="17" y="30"/>
                        </a:lnTo>
                        <a:lnTo>
                          <a:pt x="8" y="21"/>
                        </a:lnTo>
                        <a:lnTo>
                          <a:pt x="0" y="6"/>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41" name="Freeform 2496"/>
                  <p:cNvSpPr>
                    <a:spLocks/>
                  </p:cNvSpPr>
                  <p:nvPr/>
                </p:nvSpPr>
                <p:spPr bwMode="auto">
                  <a:xfrm>
                    <a:off x="750" y="3593"/>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19"/>
                        </a:lnTo>
                        <a:lnTo>
                          <a:pt x="7" y="8"/>
                        </a:lnTo>
                        <a:lnTo>
                          <a:pt x="11" y="0"/>
                        </a:lnTo>
                        <a:lnTo>
                          <a:pt x="67" y="0"/>
                        </a:lnTo>
                        <a:lnTo>
                          <a:pt x="83"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2" name="Group 2497"/>
                <p:cNvGrpSpPr>
                  <a:grpSpLocks/>
                </p:cNvGrpSpPr>
                <p:nvPr/>
              </p:nvGrpSpPr>
              <p:grpSpPr bwMode="auto">
                <a:xfrm>
                  <a:off x="752" y="3597"/>
                  <a:ext cx="133" cy="106"/>
                  <a:chOff x="752" y="3597"/>
                  <a:chExt cx="133" cy="106"/>
                </a:xfrm>
              </p:grpSpPr>
              <p:sp>
                <p:nvSpPr>
                  <p:cNvPr id="2936" name="Freeform 2498"/>
                  <p:cNvSpPr>
                    <a:spLocks/>
                  </p:cNvSpPr>
                  <p:nvPr/>
                </p:nvSpPr>
                <p:spPr bwMode="auto">
                  <a:xfrm>
                    <a:off x="752" y="3598"/>
                    <a:ext cx="91" cy="105"/>
                  </a:xfrm>
                  <a:custGeom>
                    <a:avLst/>
                    <a:gdLst>
                      <a:gd name="T0" fmla="*/ 1 w 182"/>
                      <a:gd name="T1" fmla="*/ 0 h 314"/>
                      <a:gd name="T2" fmla="*/ 0 w 182"/>
                      <a:gd name="T3" fmla="*/ 0 h 314"/>
                      <a:gd name="T4" fmla="*/ 1 w 182"/>
                      <a:gd name="T5" fmla="*/ 0 h 314"/>
                      <a:gd name="T6" fmla="*/ 1 w 182"/>
                      <a:gd name="T7" fmla="*/ 0 h 314"/>
                      <a:gd name="T8" fmla="*/ 1 w 182"/>
                      <a:gd name="T9" fmla="*/ 0 h 314"/>
                      <a:gd name="T10" fmla="*/ 0 60000 65536"/>
                      <a:gd name="T11" fmla="*/ 0 60000 65536"/>
                      <a:gd name="T12" fmla="*/ 0 60000 65536"/>
                      <a:gd name="T13" fmla="*/ 0 60000 65536"/>
                      <a:gd name="T14" fmla="*/ 0 60000 65536"/>
                      <a:gd name="T15" fmla="*/ 0 w 182"/>
                      <a:gd name="T16" fmla="*/ 0 h 314"/>
                      <a:gd name="T17" fmla="*/ 182 w 182"/>
                      <a:gd name="T18" fmla="*/ 314 h 314"/>
                    </a:gdLst>
                    <a:ahLst/>
                    <a:cxnLst>
                      <a:cxn ang="T10">
                        <a:pos x="T0" y="T1"/>
                      </a:cxn>
                      <a:cxn ang="T11">
                        <a:pos x="T2" y="T3"/>
                      </a:cxn>
                      <a:cxn ang="T12">
                        <a:pos x="T4" y="T5"/>
                      </a:cxn>
                      <a:cxn ang="T13">
                        <a:pos x="T6" y="T7"/>
                      </a:cxn>
                      <a:cxn ang="T14">
                        <a:pos x="T8" y="T9"/>
                      </a:cxn>
                    </a:cxnLst>
                    <a:rect l="T15" t="T16" r="T17" b="T18"/>
                    <a:pathLst>
                      <a:path w="182" h="314">
                        <a:moveTo>
                          <a:pt x="171" y="314"/>
                        </a:moveTo>
                        <a:lnTo>
                          <a:pt x="0" y="27"/>
                        </a:lnTo>
                        <a:lnTo>
                          <a:pt x="13" y="0"/>
                        </a:lnTo>
                        <a:lnTo>
                          <a:pt x="182" y="278"/>
                        </a:lnTo>
                        <a:lnTo>
                          <a:pt x="171" y="314"/>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7" name="Freeform 2499"/>
                  <p:cNvSpPr>
                    <a:spLocks/>
                  </p:cNvSpPr>
                  <p:nvPr/>
                </p:nvSpPr>
                <p:spPr bwMode="auto">
                  <a:xfrm>
                    <a:off x="759" y="3597"/>
                    <a:ext cx="118" cy="94"/>
                  </a:xfrm>
                  <a:custGeom>
                    <a:avLst/>
                    <a:gdLst>
                      <a:gd name="T0" fmla="*/ 1 w 235"/>
                      <a:gd name="T1" fmla="*/ 0 h 281"/>
                      <a:gd name="T2" fmla="*/ 1 w 235"/>
                      <a:gd name="T3" fmla="*/ 0 h 281"/>
                      <a:gd name="T4" fmla="*/ 1 w 235"/>
                      <a:gd name="T5" fmla="*/ 0 h 281"/>
                      <a:gd name="T6" fmla="*/ 1 w 235"/>
                      <a:gd name="T7" fmla="*/ 0 h 281"/>
                      <a:gd name="T8" fmla="*/ 2 w 235"/>
                      <a:gd name="T9" fmla="*/ 0 h 281"/>
                      <a:gd name="T10" fmla="*/ 2 w 235"/>
                      <a:gd name="T11" fmla="*/ 0 h 281"/>
                      <a:gd name="T12" fmla="*/ 1 w 235"/>
                      <a:gd name="T13" fmla="*/ 0 h 281"/>
                      <a:gd name="T14" fmla="*/ 0 w 235"/>
                      <a:gd name="T15" fmla="*/ 0 h 281"/>
                      <a:gd name="T16" fmla="*/ 1 w 235"/>
                      <a:gd name="T17" fmla="*/ 0 h 28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5"/>
                      <a:gd name="T28" fmla="*/ 0 h 281"/>
                      <a:gd name="T29" fmla="*/ 235 w 235"/>
                      <a:gd name="T30" fmla="*/ 281 h 28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5" h="281">
                        <a:moveTo>
                          <a:pt x="1" y="0"/>
                        </a:moveTo>
                        <a:lnTo>
                          <a:pt x="56" y="0"/>
                        </a:lnTo>
                        <a:lnTo>
                          <a:pt x="58" y="0"/>
                        </a:lnTo>
                        <a:lnTo>
                          <a:pt x="65" y="10"/>
                        </a:lnTo>
                        <a:lnTo>
                          <a:pt x="235" y="281"/>
                        </a:lnTo>
                        <a:lnTo>
                          <a:pt x="165" y="277"/>
                        </a:lnTo>
                        <a:lnTo>
                          <a:pt x="9" y="19"/>
                        </a:lnTo>
                        <a:lnTo>
                          <a:pt x="0" y="4"/>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8" name="Freeform 2500"/>
                  <p:cNvSpPr>
                    <a:spLocks/>
                  </p:cNvSpPr>
                  <p:nvPr/>
                </p:nvSpPr>
                <p:spPr bwMode="auto">
                  <a:xfrm>
                    <a:off x="838" y="3691"/>
                    <a:ext cx="47" cy="12"/>
                  </a:xfrm>
                  <a:custGeom>
                    <a:avLst/>
                    <a:gdLst>
                      <a:gd name="T0" fmla="*/ 0 w 95"/>
                      <a:gd name="T1" fmla="*/ 0 h 36"/>
                      <a:gd name="T2" fmla="*/ 0 w 95"/>
                      <a:gd name="T3" fmla="*/ 0 h 36"/>
                      <a:gd name="T4" fmla="*/ 0 w 95"/>
                      <a:gd name="T5" fmla="*/ 0 h 36"/>
                      <a:gd name="T6" fmla="*/ 0 w 95"/>
                      <a:gd name="T7" fmla="*/ 0 h 36"/>
                      <a:gd name="T8" fmla="*/ 0 w 95"/>
                      <a:gd name="T9" fmla="*/ 0 h 36"/>
                      <a:gd name="T10" fmla="*/ 0 w 95"/>
                      <a:gd name="T11" fmla="*/ 0 h 36"/>
                      <a:gd name="T12" fmla="*/ 0 w 95"/>
                      <a:gd name="T13" fmla="*/ 0 h 36"/>
                      <a:gd name="T14" fmla="*/ 0 60000 65536"/>
                      <a:gd name="T15" fmla="*/ 0 60000 65536"/>
                      <a:gd name="T16" fmla="*/ 0 60000 65536"/>
                      <a:gd name="T17" fmla="*/ 0 60000 65536"/>
                      <a:gd name="T18" fmla="*/ 0 60000 65536"/>
                      <a:gd name="T19" fmla="*/ 0 60000 65536"/>
                      <a:gd name="T20" fmla="*/ 0 60000 65536"/>
                      <a:gd name="T21" fmla="*/ 0 w 95"/>
                      <a:gd name="T22" fmla="*/ 0 h 36"/>
                      <a:gd name="T23" fmla="*/ 95 w 95"/>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95" h="36">
                        <a:moveTo>
                          <a:pt x="0" y="36"/>
                        </a:moveTo>
                        <a:lnTo>
                          <a:pt x="2" y="19"/>
                        </a:lnTo>
                        <a:lnTo>
                          <a:pt x="8" y="7"/>
                        </a:lnTo>
                        <a:lnTo>
                          <a:pt x="12" y="0"/>
                        </a:lnTo>
                        <a:lnTo>
                          <a:pt x="76" y="0"/>
                        </a:lnTo>
                        <a:lnTo>
                          <a:pt x="95"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3" name="Group 2501"/>
                <p:cNvGrpSpPr>
                  <a:grpSpLocks/>
                </p:cNvGrpSpPr>
                <p:nvPr/>
              </p:nvGrpSpPr>
              <p:grpSpPr bwMode="auto">
                <a:xfrm>
                  <a:off x="844" y="3694"/>
                  <a:ext cx="48" cy="23"/>
                  <a:chOff x="844" y="3694"/>
                  <a:chExt cx="48" cy="23"/>
                </a:xfrm>
              </p:grpSpPr>
              <p:sp>
                <p:nvSpPr>
                  <p:cNvPr id="2933" name="Freeform 2502"/>
                  <p:cNvSpPr>
                    <a:spLocks/>
                  </p:cNvSpPr>
                  <p:nvPr/>
                </p:nvSpPr>
                <p:spPr bwMode="auto">
                  <a:xfrm>
                    <a:off x="844" y="3694"/>
                    <a:ext cx="11" cy="23"/>
                  </a:xfrm>
                  <a:custGeom>
                    <a:avLst/>
                    <a:gdLst>
                      <a:gd name="T0" fmla="*/ 0 w 24"/>
                      <a:gd name="T1" fmla="*/ 0 h 68"/>
                      <a:gd name="T2" fmla="*/ 0 w 24"/>
                      <a:gd name="T3" fmla="*/ 0 h 68"/>
                      <a:gd name="T4" fmla="*/ 0 w 24"/>
                      <a:gd name="T5" fmla="*/ 0 h 68"/>
                      <a:gd name="T6" fmla="*/ 0 w 24"/>
                      <a:gd name="T7" fmla="*/ 0 h 68"/>
                      <a:gd name="T8" fmla="*/ 0 w 24"/>
                      <a:gd name="T9" fmla="*/ 0 h 68"/>
                      <a:gd name="T10" fmla="*/ 0 60000 65536"/>
                      <a:gd name="T11" fmla="*/ 0 60000 65536"/>
                      <a:gd name="T12" fmla="*/ 0 60000 65536"/>
                      <a:gd name="T13" fmla="*/ 0 60000 65536"/>
                      <a:gd name="T14" fmla="*/ 0 60000 65536"/>
                      <a:gd name="T15" fmla="*/ 0 w 24"/>
                      <a:gd name="T16" fmla="*/ 0 h 68"/>
                      <a:gd name="T17" fmla="*/ 24 w 24"/>
                      <a:gd name="T18" fmla="*/ 68 h 68"/>
                    </a:gdLst>
                    <a:ahLst/>
                    <a:cxnLst>
                      <a:cxn ang="T10">
                        <a:pos x="T0" y="T1"/>
                      </a:cxn>
                      <a:cxn ang="T11">
                        <a:pos x="T2" y="T3"/>
                      </a:cxn>
                      <a:cxn ang="T12">
                        <a:pos x="T4" y="T5"/>
                      </a:cxn>
                      <a:cxn ang="T13">
                        <a:pos x="T6" y="T7"/>
                      </a:cxn>
                      <a:cxn ang="T14">
                        <a:pos x="T8" y="T9"/>
                      </a:cxn>
                    </a:cxnLst>
                    <a:rect l="T15" t="T16" r="T17" b="T18"/>
                    <a:pathLst>
                      <a:path w="24" h="68">
                        <a:moveTo>
                          <a:pt x="14" y="68"/>
                        </a:moveTo>
                        <a:lnTo>
                          <a:pt x="0" y="27"/>
                        </a:lnTo>
                        <a:lnTo>
                          <a:pt x="9" y="0"/>
                        </a:lnTo>
                        <a:lnTo>
                          <a:pt x="24" y="32"/>
                        </a:lnTo>
                        <a:lnTo>
                          <a:pt x="14"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4" name="Freeform 2503"/>
                  <p:cNvSpPr>
                    <a:spLocks/>
                  </p:cNvSpPr>
                  <p:nvPr/>
                </p:nvSpPr>
                <p:spPr bwMode="auto">
                  <a:xfrm>
                    <a:off x="848" y="369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1" y="3"/>
                        </a:lnTo>
                        <a:lnTo>
                          <a:pt x="57" y="12"/>
                        </a:lnTo>
                        <a:lnTo>
                          <a:pt x="74" y="30"/>
                        </a:lnTo>
                        <a:lnTo>
                          <a:pt x="19" y="30"/>
                        </a:lnTo>
                        <a:lnTo>
                          <a:pt x="9" y="21"/>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5" name="Freeform 2504"/>
                  <p:cNvSpPr>
                    <a:spLocks/>
                  </p:cNvSpPr>
                  <p:nvPr/>
                </p:nvSpPr>
                <p:spPr bwMode="auto">
                  <a:xfrm>
                    <a:off x="851" y="3706"/>
                    <a:ext cx="41" cy="11"/>
                  </a:xfrm>
                  <a:custGeom>
                    <a:avLst/>
                    <a:gdLst>
                      <a:gd name="T0" fmla="*/ 0 w 81"/>
                      <a:gd name="T1" fmla="*/ 0 h 34"/>
                      <a:gd name="T2" fmla="*/ 1 w 81"/>
                      <a:gd name="T3" fmla="*/ 0 h 34"/>
                      <a:gd name="T4" fmla="*/ 1 w 81"/>
                      <a:gd name="T5" fmla="*/ 0 h 34"/>
                      <a:gd name="T6" fmla="*/ 1 w 81"/>
                      <a:gd name="T7" fmla="*/ 0 h 34"/>
                      <a:gd name="T8" fmla="*/ 1 w 81"/>
                      <a:gd name="T9" fmla="*/ 0 h 34"/>
                      <a:gd name="T10" fmla="*/ 1 w 81"/>
                      <a:gd name="T11" fmla="*/ 0 h 34"/>
                      <a:gd name="T12" fmla="*/ 0 w 81"/>
                      <a:gd name="T13" fmla="*/ 0 h 34"/>
                      <a:gd name="T14" fmla="*/ 0 60000 65536"/>
                      <a:gd name="T15" fmla="*/ 0 60000 65536"/>
                      <a:gd name="T16" fmla="*/ 0 60000 65536"/>
                      <a:gd name="T17" fmla="*/ 0 60000 65536"/>
                      <a:gd name="T18" fmla="*/ 0 60000 65536"/>
                      <a:gd name="T19" fmla="*/ 0 60000 65536"/>
                      <a:gd name="T20" fmla="*/ 0 60000 65536"/>
                      <a:gd name="T21" fmla="*/ 0 w 81"/>
                      <a:gd name="T22" fmla="*/ 0 h 34"/>
                      <a:gd name="T23" fmla="*/ 81 w 81"/>
                      <a:gd name="T24" fmla="*/ 34 h 34"/>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4">
                        <a:moveTo>
                          <a:pt x="0" y="34"/>
                        </a:moveTo>
                        <a:lnTo>
                          <a:pt x="1" y="19"/>
                        </a:lnTo>
                        <a:lnTo>
                          <a:pt x="5" y="6"/>
                        </a:lnTo>
                        <a:lnTo>
                          <a:pt x="10" y="0"/>
                        </a:lnTo>
                        <a:lnTo>
                          <a:pt x="67" y="0"/>
                        </a:lnTo>
                        <a:lnTo>
                          <a:pt x="81" y="34"/>
                        </a:lnTo>
                        <a:lnTo>
                          <a:pt x="0" y="34"/>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4" name="Group 2505"/>
                <p:cNvGrpSpPr>
                  <a:grpSpLocks/>
                </p:cNvGrpSpPr>
                <p:nvPr/>
              </p:nvGrpSpPr>
              <p:grpSpPr bwMode="auto">
                <a:xfrm>
                  <a:off x="857" y="3710"/>
                  <a:ext cx="49" cy="22"/>
                  <a:chOff x="857" y="3710"/>
                  <a:chExt cx="49" cy="22"/>
                </a:xfrm>
              </p:grpSpPr>
              <p:sp>
                <p:nvSpPr>
                  <p:cNvPr id="2930" name="Freeform 2506"/>
                  <p:cNvSpPr>
                    <a:spLocks/>
                  </p:cNvSpPr>
                  <p:nvPr/>
                </p:nvSpPr>
                <p:spPr bwMode="auto">
                  <a:xfrm>
                    <a:off x="857" y="3710"/>
                    <a:ext cx="11" cy="22"/>
                  </a:xfrm>
                  <a:custGeom>
                    <a:avLst/>
                    <a:gdLst>
                      <a:gd name="T0" fmla="*/ 1 w 22"/>
                      <a:gd name="T1" fmla="*/ 0 h 68"/>
                      <a:gd name="T2" fmla="*/ 0 w 22"/>
                      <a:gd name="T3" fmla="*/ 0 h 68"/>
                      <a:gd name="T4" fmla="*/ 1 w 22"/>
                      <a:gd name="T5" fmla="*/ 0 h 68"/>
                      <a:gd name="T6" fmla="*/ 1 w 22"/>
                      <a:gd name="T7" fmla="*/ 0 h 68"/>
                      <a:gd name="T8" fmla="*/ 1 w 22"/>
                      <a:gd name="T9" fmla="*/ 0 h 68"/>
                      <a:gd name="T10" fmla="*/ 0 60000 65536"/>
                      <a:gd name="T11" fmla="*/ 0 60000 65536"/>
                      <a:gd name="T12" fmla="*/ 0 60000 65536"/>
                      <a:gd name="T13" fmla="*/ 0 60000 65536"/>
                      <a:gd name="T14" fmla="*/ 0 60000 65536"/>
                      <a:gd name="T15" fmla="*/ 0 w 22"/>
                      <a:gd name="T16" fmla="*/ 0 h 68"/>
                      <a:gd name="T17" fmla="*/ 22 w 22"/>
                      <a:gd name="T18" fmla="*/ 68 h 68"/>
                    </a:gdLst>
                    <a:ahLst/>
                    <a:cxnLst>
                      <a:cxn ang="T10">
                        <a:pos x="T0" y="T1"/>
                      </a:cxn>
                      <a:cxn ang="T11">
                        <a:pos x="T2" y="T3"/>
                      </a:cxn>
                      <a:cxn ang="T12">
                        <a:pos x="T4" y="T5"/>
                      </a:cxn>
                      <a:cxn ang="T13">
                        <a:pos x="T6" y="T7"/>
                      </a:cxn>
                      <a:cxn ang="T14">
                        <a:pos x="T8" y="T9"/>
                      </a:cxn>
                    </a:cxnLst>
                    <a:rect l="T15" t="T16" r="T17" b="T18"/>
                    <a:pathLst>
                      <a:path w="22" h="68">
                        <a:moveTo>
                          <a:pt x="13" y="68"/>
                        </a:moveTo>
                        <a:lnTo>
                          <a:pt x="0" y="27"/>
                        </a:lnTo>
                        <a:lnTo>
                          <a:pt x="9" y="0"/>
                        </a:lnTo>
                        <a:lnTo>
                          <a:pt x="22" y="31"/>
                        </a:lnTo>
                        <a:lnTo>
                          <a:pt x="13" y="6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1" name="Freeform 2507"/>
                  <p:cNvSpPr>
                    <a:spLocks/>
                  </p:cNvSpPr>
                  <p:nvPr/>
                </p:nvSpPr>
                <p:spPr bwMode="auto">
                  <a:xfrm>
                    <a:off x="862" y="3710"/>
                    <a:ext cx="36" cy="10"/>
                  </a:xfrm>
                  <a:custGeom>
                    <a:avLst/>
                    <a:gdLst>
                      <a:gd name="T0" fmla="*/ 1 w 72"/>
                      <a:gd name="T1" fmla="*/ 0 h 29"/>
                      <a:gd name="T2" fmla="*/ 1 w 72"/>
                      <a:gd name="T3" fmla="*/ 0 h 29"/>
                      <a:gd name="T4" fmla="*/ 1 w 72"/>
                      <a:gd name="T5" fmla="*/ 0 h 29"/>
                      <a:gd name="T6" fmla="*/ 1 w 72"/>
                      <a:gd name="T7" fmla="*/ 0 h 29"/>
                      <a:gd name="T8" fmla="*/ 1 w 72"/>
                      <a:gd name="T9" fmla="*/ 0 h 29"/>
                      <a:gd name="T10" fmla="*/ 1 w 72"/>
                      <a:gd name="T11" fmla="*/ 0 h 29"/>
                      <a:gd name="T12" fmla="*/ 1 w 72"/>
                      <a:gd name="T13" fmla="*/ 0 h 29"/>
                      <a:gd name="T14" fmla="*/ 0 w 72"/>
                      <a:gd name="T15" fmla="*/ 0 h 29"/>
                      <a:gd name="T16" fmla="*/ 1 w 72"/>
                      <a:gd name="T17" fmla="*/ 0 h 29"/>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2"/>
                      <a:gd name="T28" fmla="*/ 0 h 29"/>
                      <a:gd name="T29" fmla="*/ 72 w 72"/>
                      <a:gd name="T30" fmla="*/ 29 h 29"/>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2" h="29">
                        <a:moveTo>
                          <a:pt x="1" y="0"/>
                        </a:moveTo>
                        <a:lnTo>
                          <a:pt x="50" y="0"/>
                        </a:lnTo>
                        <a:lnTo>
                          <a:pt x="51" y="2"/>
                        </a:lnTo>
                        <a:lnTo>
                          <a:pt x="56" y="11"/>
                        </a:lnTo>
                        <a:lnTo>
                          <a:pt x="72" y="29"/>
                        </a:lnTo>
                        <a:lnTo>
                          <a:pt x="17" y="29"/>
                        </a:lnTo>
                        <a:lnTo>
                          <a:pt x="9" y="20"/>
                        </a:lnTo>
                        <a:lnTo>
                          <a:pt x="0" y="6"/>
                        </a:lnTo>
                        <a:lnTo>
                          <a:pt x="1"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32" name="Freeform 2508"/>
                  <p:cNvSpPr>
                    <a:spLocks/>
                  </p:cNvSpPr>
                  <p:nvPr/>
                </p:nvSpPr>
                <p:spPr bwMode="auto">
                  <a:xfrm>
                    <a:off x="865" y="3720"/>
                    <a:ext cx="41" cy="12"/>
                  </a:xfrm>
                  <a:custGeom>
                    <a:avLst/>
                    <a:gdLst>
                      <a:gd name="T0" fmla="*/ 0 w 83"/>
                      <a:gd name="T1" fmla="*/ 0 h 36"/>
                      <a:gd name="T2" fmla="*/ 0 w 83"/>
                      <a:gd name="T3" fmla="*/ 0 h 36"/>
                      <a:gd name="T4" fmla="*/ 0 w 83"/>
                      <a:gd name="T5" fmla="*/ 0 h 36"/>
                      <a:gd name="T6" fmla="*/ 0 w 83"/>
                      <a:gd name="T7" fmla="*/ 0 h 36"/>
                      <a:gd name="T8" fmla="*/ 0 w 83"/>
                      <a:gd name="T9" fmla="*/ 0 h 36"/>
                      <a:gd name="T10" fmla="*/ 0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1" y="20"/>
                        </a:lnTo>
                        <a:lnTo>
                          <a:pt x="7" y="8"/>
                        </a:lnTo>
                        <a:lnTo>
                          <a:pt x="11" y="0"/>
                        </a:lnTo>
                        <a:lnTo>
                          <a:pt x="67"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5" name="Group 2509"/>
                <p:cNvGrpSpPr>
                  <a:grpSpLocks/>
                </p:cNvGrpSpPr>
                <p:nvPr/>
              </p:nvGrpSpPr>
              <p:grpSpPr bwMode="auto">
                <a:xfrm>
                  <a:off x="1086" y="3766"/>
                  <a:ext cx="49" cy="23"/>
                  <a:chOff x="1086" y="3766"/>
                  <a:chExt cx="49" cy="23"/>
                </a:xfrm>
              </p:grpSpPr>
              <p:sp>
                <p:nvSpPr>
                  <p:cNvPr id="2927" name="Freeform 2510"/>
                  <p:cNvSpPr>
                    <a:spLocks/>
                  </p:cNvSpPr>
                  <p:nvPr/>
                </p:nvSpPr>
                <p:spPr bwMode="auto">
                  <a:xfrm>
                    <a:off x="1086" y="3766"/>
                    <a:ext cx="11" cy="23"/>
                  </a:xfrm>
                  <a:custGeom>
                    <a:avLst/>
                    <a:gdLst>
                      <a:gd name="T0" fmla="*/ 1 w 22"/>
                      <a:gd name="T1" fmla="*/ 0 h 69"/>
                      <a:gd name="T2" fmla="*/ 0 w 22"/>
                      <a:gd name="T3" fmla="*/ 0 h 69"/>
                      <a:gd name="T4" fmla="*/ 1 w 22"/>
                      <a:gd name="T5" fmla="*/ 0 h 69"/>
                      <a:gd name="T6" fmla="*/ 1 w 22"/>
                      <a:gd name="T7" fmla="*/ 0 h 69"/>
                      <a:gd name="T8" fmla="*/ 1 w 22"/>
                      <a:gd name="T9" fmla="*/ 0 h 69"/>
                      <a:gd name="T10" fmla="*/ 0 60000 65536"/>
                      <a:gd name="T11" fmla="*/ 0 60000 65536"/>
                      <a:gd name="T12" fmla="*/ 0 60000 65536"/>
                      <a:gd name="T13" fmla="*/ 0 60000 65536"/>
                      <a:gd name="T14" fmla="*/ 0 60000 65536"/>
                      <a:gd name="T15" fmla="*/ 0 w 22"/>
                      <a:gd name="T16" fmla="*/ 0 h 69"/>
                      <a:gd name="T17" fmla="*/ 22 w 22"/>
                      <a:gd name="T18" fmla="*/ 69 h 69"/>
                    </a:gdLst>
                    <a:ahLst/>
                    <a:cxnLst>
                      <a:cxn ang="T10">
                        <a:pos x="T0" y="T1"/>
                      </a:cxn>
                      <a:cxn ang="T11">
                        <a:pos x="T2" y="T3"/>
                      </a:cxn>
                      <a:cxn ang="T12">
                        <a:pos x="T4" y="T5"/>
                      </a:cxn>
                      <a:cxn ang="T13">
                        <a:pos x="T6" y="T7"/>
                      </a:cxn>
                      <a:cxn ang="T14">
                        <a:pos x="T8" y="T9"/>
                      </a:cxn>
                    </a:cxnLst>
                    <a:rect l="T15" t="T16" r="T17" b="T18"/>
                    <a:pathLst>
                      <a:path w="22" h="69">
                        <a:moveTo>
                          <a:pt x="13" y="69"/>
                        </a:moveTo>
                        <a:lnTo>
                          <a:pt x="0" y="27"/>
                        </a:lnTo>
                        <a:lnTo>
                          <a:pt x="9" y="0"/>
                        </a:lnTo>
                        <a:lnTo>
                          <a:pt x="22" y="32"/>
                        </a:lnTo>
                        <a:lnTo>
                          <a:pt x="13" y="69"/>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8" name="Freeform 2511"/>
                  <p:cNvSpPr>
                    <a:spLocks/>
                  </p:cNvSpPr>
                  <p:nvPr/>
                </p:nvSpPr>
                <p:spPr bwMode="auto">
                  <a:xfrm>
                    <a:off x="1090" y="3767"/>
                    <a:ext cx="37" cy="10"/>
                  </a:xfrm>
                  <a:custGeom>
                    <a:avLst/>
                    <a:gdLst>
                      <a:gd name="T0" fmla="*/ 1 w 74"/>
                      <a:gd name="T1" fmla="*/ 0 h 31"/>
                      <a:gd name="T2" fmla="*/ 1 w 74"/>
                      <a:gd name="T3" fmla="*/ 0 h 31"/>
                      <a:gd name="T4" fmla="*/ 1 w 74"/>
                      <a:gd name="T5" fmla="*/ 0 h 31"/>
                      <a:gd name="T6" fmla="*/ 1 w 74"/>
                      <a:gd name="T7" fmla="*/ 0 h 31"/>
                      <a:gd name="T8" fmla="*/ 1 w 74"/>
                      <a:gd name="T9" fmla="*/ 0 h 31"/>
                      <a:gd name="T10" fmla="*/ 1 w 74"/>
                      <a:gd name="T11" fmla="*/ 0 h 31"/>
                      <a:gd name="T12" fmla="*/ 1 w 74"/>
                      <a:gd name="T13" fmla="*/ 0 h 31"/>
                      <a:gd name="T14" fmla="*/ 0 w 74"/>
                      <a:gd name="T15" fmla="*/ 0 h 31"/>
                      <a:gd name="T16" fmla="*/ 1 w 74"/>
                      <a:gd name="T17" fmla="*/ 0 h 31"/>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1"/>
                      <a:gd name="T29" fmla="*/ 74 w 74"/>
                      <a:gd name="T30" fmla="*/ 31 h 31"/>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1">
                        <a:moveTo>
                          <a:pt x="3" y="0"/>
                        </a:moveTo>
                        <a:lnTo>
                          <a:pt x="51" y="0"/>
                        </a:lnTo>
                        <a:lnTo>
                          <a:pt x="53" y="4"/>
                        </a:lnTo>
                        <a:lnTo>
                          <a:pt x="56" y="13"/>
                        </a:lnTo>
                        <a:lnTo>
                          <a:pt x="74" y="31"/>
                        </a:lnTo>
                        <a:lnTo>
                          <a:pt x="18" y="31"/>
                        </a:lnTo>
                        <a:lnTo>
                          <a:pt x="9" y="22"/>
                        </a:lnTo>
                        <a:lnTo>
                          <a:pt x="0" y="6"/>
                        </a:lnTo>
                        <a:lnTo>
                          <a:pt x="3"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9" name="Freeform 2512"/>
                  <p:cNvSpPr>
                    <a:spLocks/>
                  </p:cNvSpPr>
                  <p:nvPr/>
                </p:nvSpPr>
                <p:spPr bwMode="auto">
                  <a:xfrm>
                    <a:off x="1093" y="3777"/>
                    <a:ext cx="42" cy="12"/>
                  </a:xfrm>
                  <a:custGeom>
                    <a:avLst/>
                    <a:gdLst>
                      <a:gd name="T0" fmla="*/ 0 w 83"/>
                      <a:gd name="T1" fmla="*/ 0 h 36"/>
                      <a:gd name="T2" fmla="*/ 1 w 83"/>
                      <a:gd name="T3" fmla="*/ 0 h 36"/>
                      <a:gd name="T4" fmla="*/ 1 w 83"/>
                      <a:gd name="T5" fmla="*/ 0 h 36"/>
                      <a:gd name="T6" fmla="*/ 1 w 83"/>
                      <a:gd name="T7" fmla="*/ 0 h 36"/>
                      <a:gd name="T8" fmla="*/ 1 w 83"/>
                      <a:gd name="T9" fmla="*/ 0 h 36"/>
                      <a:gd name="T10" fmla="*/ 1 w 83"/>
                      <a:gd name="T11" fmla="*/ 0 h 36"/>
                      <a:gd name="T12" fmla="*/ 0 w 83"/>
                      <a:gd name="T13" fmla="*/ 0 h 36"/>
                      <a:gd name="T14" fmla="*/ 0 60000 65536"/>
                      <a:gd name="T15" fmla="*/ 0 60000 65536"/>
                      <a:gd name="T16" fmla="*/ 0 60000 65536"/>
                      <a:gd name="T17" fmla="*/ 0 60000 65536"/>
                      <a:gd name="T18" fmla="*/ 0 60000 65536"/>
                      <a:gd name="T19" fmla="*/ 0 60000 65536"/>
                      <a:gd name="T20" fmla="*/ 0 60000 65536"/>
                      <a:gd name="T21" fmla="*/ 0 w 83"/>
                      <a:gd name="T22" fmla="*/ 0 h 36"/>
                      <a:gd name="T23" fmla="*/ 83 w 83"/>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3" h="36">
                        <a:moveTo>
                          <a:pt x="0" y="36"/>
                        </a:moveTo>
                        <a:lnTo>
                          <a:pt x="2" y="19"/>
                        </a:lnTo>
                        <a:lnTo>
                          <a:pt x="7" y="6"/>
                        </a:lnTo>
                        <a:lnTo>
                          <a:pt x="11" y="0"/>
                        </a:lnTo>
                        <a:lnTo>
                          <a:pt x="68" y="0"/>
                        </a:lnTo>
                        <a:lnTo>
                          <a:pt x="83"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6" name="Group 2513"/>
                <p:cNvGrpSpPr>
                  <a:grpSpLocks/>
                </p:cNvGrpSpPr>
                <p:nvPr/>
              </p:nvGrpSpPr>
              <p:grpSpPr bwMode="auto">
                <a:xfrm>
                  <a:off x="934" y="3740"/>
                  <a:ext cx="48" cy="23"/>
                  <a:chOff x="934" y="3740"/>
                  <a:chExt cx="48" cy="23"/>
                </a:xfrm>
              </p:grpSpPr>
              <p:sp>
                <p:nvSpPr>
                  <p:cNvPr id="2924" name="Freeform 2514"/>
                  <p:cNvSpPr>
                    <a:spLocks/>
                  </p:cNvSpPr>
                  <p:nvPr/>
                </p:nvSpPr>
                <p:spPr bwMode="auto">
                  <a:xfrm>
                    <a:off x="934" y="3740"/>
                    <a:ext cx="11" cy="23"/>
                  </a:xfrm>
                  <a:custGeom>
                    <a:avLst/>
                    <a:gdLst>
                      <a:gd name="T0" fmla="*/ 0 w 24"/>
                      <a:gd name="T1" fmla="*/ 0 h 70"/>
                      <a:gd name="T2" fmla="*/ 0 w 24"/>
                      <a:gd name="T3" fmla="*/ 0 h 70"/>
                      <a:gd name="T4" fmla="*/ 0 w 24"/>
                      <a:gd name="T5" fmla="*/ 0 h 70"/>
                      <a:gd name="T6" fmla="*/ 0 w 24"/>
                      <a:gd name="T7" fmla="*/ 0 h 70"/>
                      <a:gd name="T8" fmla="*/ 0 w 24"/>
                      <a:gd name="T9" fmla="*/ 0 h 70"/>
                      <a:gd name="T10" fmla="*/ 0 60000 65536"/>
                      <a:gd name="T11" fmla="*/ 0 60000 65536"/>
                      <a:gd name="T12" fmla="*/ 0 60000 65536"/>
                      <a:gd name="T13" fmla="*/ 0 60000 65536"/>
                      <a:gd name="T14" fmla="*/ 0 60000 65536"/>
                      <a:gd name="T15" fmla="*/ 0 w 24"/>
                      <a:gd name="T16" fmla="*/ 0 h 70"/>
                      <a:gd name="T17" fmla="*/ 24 w 24"/>
                      <a:gd name="T18" fmla="*/ 70 h 70"/>
                    </a:gdLst>
                    <a:ahLst/>
                    <a:cxnLst>
                      <a:cxn ang="T10">
                        <a:pos x="T0" y="T1"/>
                      </a:cxn>
                      <a:cxn ang="T11">
                        <a:pos x="T2" y="T3"/>
                      </a:cxn>
                      <a:cxn ang="T12">
                        <a:pos x="T4" y="T5"/>
                      </a:cxn>
                      <a:cxn ang="T13">
                        <a:pos x="T6" y="T7"/>
                      </a:cxn>
                      <a:cxn ang="T14">
                        <a:pos x="T8" y="T9"/>
                      </a:cxn>
                    </a:cxnLst>
                    <a:rect l="T15" t="T16" r="T17" b="T18"/>
                    <a:pathLst>
                      <a:path w="24" h="70">
                        <a:moveTo>
                          <a:pt x="15" y="70"/>
                        </a:moveTo>
                        <a:lnTo>
                          <a:pt x="0" y="27"/>
                        </a:lnTo>
                        <a:lnTo>
                          <a:pt x="9" y="0"/>
                        </a:lnTo>
                        <a:lnTo>
                          <a:pt x="24" y="32"/>
                        </a:lnTo>
                        <a:lnTo>
                          <a:pt x="15" y="70"/>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5" name="Freeform 2515"/>
                  <p:cNvSpPr>
                    <a:spLocks/>
                  </p:cNvSpPr>
                  <p:nvPr/>
                </p:nvSpPr>
                <p:spPr bwMode="auto">
                  <a:xfrm>
                    <a:off x="938" y="3741"/>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2" y="0"/>
                        </a:moveTo>
                        <a:lnTo>
                          <a:pt x="50" y="0"/>
                        </a:lnTo>
                        <a:lnTo>
                          <a:pt x="52" y="4"/>
                        </a:lnTo>
                        <a:lnTo>
                          <a:pt x="57" y="13"/>
                        </a:lnTo>
                        <a:lnTo>
                          <a:pt x="74" y="30"/>
                        </a:lnTo>
                        <a:lnTo>
                          <a:pt x="19" y="30"/>
                        </a:lnTo>
                        <a:lnTo>
                          <a:pt x="9" y="22"/>
                        </a:lnTo>
                        <a:lnTo>
                          <a:pt x="0" y="6"/>
                        </a:lnTo>
                        <a:lnTo>
                          <a:pt x="2"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6" name="Freeform 2516"/>
                  <p:cNvSpPr>
                    <a:spLocks/>
                  </p:cNvSpPr>
                  <p:nvPr/>
                </p:nvSpPr>
                <p:spPr bwMode="auto">
                  <a:xfrm>
                    <a:off x="941" y="3751"/>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6"/>
                        </a:lnTo>
                        <a:lnTo>
                          <a:pt x="10" y="0"/>
                        </a:lnTo>
                        <a:lnTo>
                          <a:pt x="67" y="0"/>
                        </a:lnTo>
                        <a:lnTo>
                          <a:pt x="81"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917" name="Group 2517"/>
                <p:cNvGrpSpPr>
                  <a:grpSpLocks/>
                </p:cNvGrpSpPr>
                <p:nvPr/>
              </p:nvGrpSpPr>
              <p:grpSpPr bwMode="auto">
                <a:xfrm>
                  <a:off x="943" y="3754"/>
                  <a:ext cx="49" cy="23"/>
                  <a:chOff x="943" y="3754"/>
                  <a:chExt cx="49" cy="23"/>
                </a:xfrm>
              </p:grpSpPr>
              <p:sp>
                <p:nvSpPr>
                  <p:cNvPr id="2921" name="Freeform 2518"/>
                  <p:cNvSpPr>
                    <a:spLocks/>
                  </p:cNvSpPr>
                  <p:nvPr/>
                </p:nvSpPr>
                <p:spPr bwMode="auto">
                  <a:xfrm>
                    <a:off x="943" y="3754"/>
                    <a:ext cx="12" cy="23"/>
                  </a:xfrm>
                  <a:custGeom>
                    <a:avLst/>
                    <a:gdLst>
                      <a:gd name="T0" fmla="*/ 0 w 25"/>
                      <a:gd name="T1" fmla="*/ 0 h 68"/>
                      <a:gd name="T2" fmla="*/ 0 w 25"/>
                      <a:gd name="T3" fmla="*/ 0 h 68"/>
                      <a:gd name="T4" fmla="*/ 0 w 25"/>
                      <a:gd name="T5" fmla="*/ 0 h 68"/>
                      <a:gd name="T6" fmla="*/ 0 w 25"/>
                      <a:gd name="T7" fmla="*/ 0 h 68"/>
                      <a:gd name="T8" fmla="*/ 0 w 25"/>
                      <a:gd name="T9" fmla="*/ 0 h 68"/>
                      <a:gd name="T10" fmla="*/ 0 60000 65536"/>
                      <a:gd name="T11" fmla="*/ 0 60000 65536"/>
                      <a:gd name="T12" fmla="*/ 0 60000 65536"/>
                      <a:gd name="T13" fmla="*/ 0 60000 65536"/>
                      <a:gd name="T14" fmla="*/ 0 60000 65536"/>
                      <a:gd name="T15" fmla="*/ 0 w 25"/>
                      <a:gd name="T16" fmla="*/ 0 h 68"/>
                      <a:gd name="T17" fmla="*/ 25 w 25"/>
                      <a:gd name="T18" fmla="*/ 68 h 68"/>
                    </a:gdLst>
                    <a:ahLst/>
                    <a:cxnLst>
                      <a:cxn ang="T10">
                        <a:pos x="T0" y="T1"/>
                      </a:cxn>
                      <a:cxn ang="T11">
                        <a:pos x="T2" y="T3"/>
                      </a:cxn>
                      <a:cxn ang="T12">
                        <a:pos x="T4" y="T5"/>
                      </a:cxn>
                      <a:cxn ang="T13">
                        <a:pos x="T6" y="T7"/>
                      </a:cxn>
                      <a:cxn ang="T14">
                        <a:pos x="T8" y="T9"/>
                      </a:cxn>
                    </a:cxnLst>
                    <a:rect l="T15" t="T16" r="T17" b="T18"/>
                    <a:pathLst>
                      <a:path w="25" h="68">
                        <a:moveTo>
                          <a:pt x="16" y="68"/>
                        </a:moveTo>
                        <a:lnTo>
                          <a:pt x="0" y="25"/>
                        </a:lnTo>
                        <a:lnTo>
                          <a:pt x="11" y="0"/>
                        </a:lnTo>
                        <a:lnTo>
                          <a:pt x="25" y="31"/>
                        </a:lnTo>
                        <a:lnTo>
                          <a:pt x="16" y="68"/>
                        </a:lnTo>
                        <a:close/>
                      </a:path>
                    </a:pathLst>
                  </a:custGeom>
                  <a:solidFill>
                    <a:srgbClr val="A0A0A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2" name="Freeform 2519"/>
                  <p:cNvSpPr>
                    <a:spLocks/>
                  </p:cNvSpPr>
                  <p:nvPr/>
                </p:nvSpPr>
                <p:spPr bwMode="auto">
                  <a:xfrm>
                    <a:off x="948" y="3755"/>
                    <a:ext cx="37" cy="10"/>
                  </a:xfrm>
                  <a:custGeom>
                    <a:avLst/>
                    <a:gdLst>
                      <a:gd name="T0" fmla="*/ 1 w 74"/>
                      <a:gd name="T1" fmla="*/ 0 h 30"/>
                      <a:gd name="T2" fmla="*/ 1 w 74"/>
                      <a:gd name="T3" fmla="*/ 0 h 30"/>
                      <a:gd name="T4" fmla="*/ 1 w 74"/>
                      <a:gd name="T5" fmla="*/ 0 h 30"/>
                      <a:gd name="T6" fmla="*/ 1 w 74"/>
                      <a:gd name="T7" fmla="*/ 0 h 30"/>
                      <a:gd name="T8" fmla="*/ 1 w 74"/>
                      <a:gd name="T9" fmla="*/ 0 h 30"/>
                      <a:gd name="T10" fmla="*/ 1 w 74"/>
                      <a:gd name="T11" fmla="*/ 0 h 30"/>
                      <a:gd name="T12" fmla="*/ 1 w 74"/>
                      <a:gd name="T13" fmla="*/ 0 h 30"/>
                      <a:gd name="T14" fmla="*/ 0 w 74"/>
                      <a:gd name="T15" fmla="*/ 0 h 30"/>
                      <a:gd name="T16" fmla="*/ 1 w 74"/>
                      <a:gd name="T17" fmla="*/ 0 h 30"/>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74"/>
                      <a:gd name="T28" fmla="*/ 0 h 30"/>
                      <a:gd name="T29" fmla="*/ 74 w 74"/>
                      <a:gd name="T30" fmla="*/ 30 h 30"/>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74" h="30">
                        <a:moveTo>
                          <a:pt x="1" y="0"/>
                        </a:moveTo>
                        <a:lnTo>
                          <a:pt x="49" y="0"/>
                        </a:lnTo>
                        <a:lnTo>
                          <a:pt x="50" y="3"/>
                        </a:lnTo>
                        <a:lnTo>
                          <a:pt x="57" y="12"/>
                        </a:lnTo>
                        <a:lnTo>
                          <a:pt x="74" y="30"/>
                        </a:lnTo>
                        <a:lnTo>
                          <a:pt x="18" y="30"/>
                        </a:lnTo>
                        <a:lnTo>
                          <a:pt x="9" y="21"/>
                        </a:lnTo>
                        <a:lnTo>
                          <a:pt x="0" y="5"/>
                        </a:lnTo>
                        <a:lnTo>
                          <a:pt x="1" y="0"/>
                        </a:lnTo>
                        <a:close/>
                      </a:path>
                    </a:pathLst>
                  </a:custGeom>
                  <a:solidFill>
                    <a:srgbClr val="E0E0E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3" name="Freeform 2520"/>
                  <p:cNvSpPr>
                    <a:spLocks/>
                  </p:cNvSpPr>
                  <p:nvPr/>
                </p:nvSpPr>
                <p:spPr bwMode="auto">
                  <a:xfrm>
                    <a:off x="951" y="3765"/>
                    <a:ext cx="41" cy="12"/>
                  </a:xfrm>
                  <a:custGeom>
                    <a:avLst/>
                    <a:gdLst>
                      <a:gd name="T0" fmla="*/ 0 w 81"/>
                      <a:gd name="T1" fmla="*/ 0 h 36"/>
                      <a:gd name="T2" fmla="*/ 1 w 81"/>
                      <a:gd name="T3" fmla="*/ 0 h 36"/>
                      <a:gd name="T4" fmla="*/ 1 w 81"/>
                      <a:gd name="T5" fmla="*/ 0 h 36"/>
                      <a:gd name="T6" fmla="*/ 1 w 81"/>
                      <a:gd name="T7" fmla="*/ 0 h 36"/>
                      <a:gd name="T8" fmla="*/ 1 w 81"/>
                      <a:gd name="T9" fmla="*/ 0 h 36"/>
                      <a:gd name="T10" fmla="*/ 1 w 81"/>
                      <a:gd name="T11" fmla="*/ 0 h 36"/>
                      <a:gd name="T12" fmla="*/ 0 w 81"/>
                      <a:gd name="T13" fmla="*/ 0 h 36"/>
                      <a:gd name="T14" fmla="*/ 0 60000 65536"/>
                      <a:gd name="T15" fmla="*/ 0 60000 65536"/>
                      <a:gd name="T16" fmla="*/ 0 60000 65536"/>
                      <a:gd name="T17" fmla="*/ 0 60000 65536"/>
                      <a:gd name="T18" fmla="*/ 0 60000 65536"/>
                      <a:gd name="T19" fmla="*/ 0 60000 65536"/>
                      <a:gd name="T20" fmla="*/ 0 60000 65536"/>
                      <a:gd name="T21" fmla="*/ 0 w 81"/>
                      <a:gd name="T22" fmla="*/ 0 h 36"/>
                      <a:gd name="T23" fmla="*/ 81 w 81"/>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81" h="36">
                        <a:moveTo>
                          <a:pt x="0" y="36"/>
                        </a:moveTo>
                        <a:lnTo>
                          <a:pt x="1" y="19"/>
                        </a:lnTo>
                        <a:lnTo>
                          <a:pt x="5" y="7"/>
                        </a:lnTo>
                        <a:lnTo>
                          <a:pt x="10" y="0"/>
                        </a:lnTo>
                        <a:lnTo>
                          <a:pt x="67" y="0"/>
                        </a:lnTo>
                        <a:lnTo>
                          <a:pt x="81" y="36"/>
                        </a:lnTo>
                        <a:lnTo>
                          <a:pt x="0" y="36"/>
                        </a:lnTo>
                        <a:close/>
                      </a:path>
                    </a:pathLst>
                  </a:custGeom>
                  <a:solidFill>
                    <a:srgbClr val="C0C0C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sp>
              <p:nvSpPr>
                <p:cNvPr id="2918" name="Freeform 2521"/>
                <p:cNvSpPr>
                  <a:spLocks/>
                </p:cNvSpPr>
                <p:nvPr/>
              </p:nvSpPr>
              <p:spPr bwMode="auto">
                <a:xfrm>
                  <a:off x="987" y="3753"/>
                  <a:ext cx="25" cy="43"/>
                </a:xfrm>
                <a:custGeom>
                  <a:avLst/>
                  <a:gdLst>
                    <a:gd name="T0" fmla="*/ 0 w 51"/>
                    <a:gd name="T1" fmla="*/ 0 h 128"/>
                    <a:gd name="T2" fmla="*/ 0 w 51"/>
                    <a:gd name="T3" fmla="*/ 0 h 128"/>
                    <a:gd name="T4" fmla="*/ 0 w 51"/>
                    <a:gd name="T5" fmla="*/ 0 h 128"/>
                    <a:gd name="T6" fmla="*/ 0 w 51"/>
                    <a:gd name="T7" fmla="*/ 0 h 128"/>
                    <a:gd name="T8" fmla="*/ 0 w 51"/>
                    <a:gd name="T9" fmla="*/ 0 h 128"/>
                    <a:gd name="T10" fmla="*/ 0 w 51"/>
                    <a:gd name="T11" fmla="*/ 0 h 128"/>
                    <a:gd name="T12" fmla="*/ 0 w 51"/>
                    <a:gd name="T13" fmla="*/ 0 h 128"/>
                    <a:gd name="T14" fmla="*/ 0 60000 65536"/>
                    <a:gd name="T15" fmla="*/ 0 60000 65536"/>
                    <a:gd name="T16" fmla="*/ 0 60000 65536"/>
                    <a:gd name="T17" fmla="*/ 0 60000 65536"/>
                    <a:gd name="T18" fmla="*/ 0 60000 65536"/>
                    <a:gd name="T19" fmla="*/ 0 60000 65536"/>
                    <a:gd name="T20" fmla="*/ 0 60000 65536"/>
                    <a:gd name="T21" fmla="*/ 0 w 51"/>
                    <a:gd name="T22" fmla="*/ 0 h 128"/>
                    <a:gd name="T23" fmla="*/ 51 w 51"/>
                    <a:gd name="T24" fmla="*/ 128 h 128"/>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51" h="128">
                      <a:moveTo>
                        <a:pt x="40" y="128"/>
                      </a:moveTo>
                      <a:lnTo>
                        <a:pt x="0" y="29"/>
                      </a:lnTo>
                      <a:lnTo>
                        <a:pt x="0" y="20"/>
                      </a:lnTo>
                      <a:lnTo>
                        <a:pt x="2" y="11"/>
                      </a:lnTo>
                      <a:lnTo>
                        <a:pt x="10" y="0"/>
                      </a:lnTo>
                      <a:lnTo>
                        <a:pt x="51" y="91"/>
                      </a:lnTo>
                      <a:lnTo>
                        <a:pt x="40" y="128"/>
                      </a:lnTo>
                      <a:close/>
                    </a:path>
                  </a:pathLst>
                </a:custGeom>
                <a:solidFill>
                  <a:srgbClr val="60606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19" name="Freeform 2522"/>
                <p:cNvSpPr>
                  <a:spLocks/>
                </p:cNvSpPr>
                <p:nvPr/>
              </p:nvSpPr>
              <p:spPr bwMode="auto">
                <a:xfrm>
                  <a:off x="992" y="3753"/>
                  <a:ext cx="91" cy="29"/>
                </a:xfrm>
                <a:custGeom>
                  <a:avLst/>
                  <a:gdLst>
                    <a:gd name="T0" fmla="*/ 0 w 183"/>
                    <a:gd name="T1" fmla="*/ 0 h 85"/>
                    <a:gd name="T2" fmla="*/ 0 w 183"/>
                    <a:gd name="T3" fmla="*/ 0 h 85"/>
                    <a:gd name="T4" fmla="*/ 0 w 183"/>
                    <a:gd name="T5" fmla="*/ 0 h 85"/>
                    <a:gd name="T6" fmla="*/ 0 w 183"/>
                    <a:gd name="T7" fmla="*/ 0 h 85"/>
                    <a:gd name="T8" fmla="*/ 0 w 183"/>
                    <a:gd name="T9" fmla="*/ 0 h 85"/>
                    <a:gd name="T10" fmla="*/ 1 w 183"/>
                    <a:gd name="T11" fmla="*/ 0 h 85"/>
                    <a:gd name="T12" fmla="*/ 1 w 183"/>
                    <a:gd name="T13" fmla="*/ 0 h 85"/>
                    <a:gd name="T14" fmla="*/ 1 w 183"/>
                    <a:gd name="T15" fmla="*/ 0 h 85"/>
                    <a:gd name="T16" fmla="*/ 1 w 183"/>
                    <a:gd name="T17" fmla="*/ 0 h 85"/>
                    <a:gd name="T18" fmla="*/ 0 w 183"/>
                    <a:gd name="T19" fmla="*/ 0 h 85"/>
                    <a:gd name="T20" fmla="*/ 0 w 183"/>
                    <a:gd name="T21" fmla="*/ 0 h 85"/>
                    <a:gd name="T22" fmla="*/ 0 w 183"/>
                    <a:gd name="T23" fmla="*/ 0 h 85"/>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83"/>
                    <a:gd name="T37" fmla="*/ 0 h 85"/>
                    <a:gd name="T38" fmla="*/ 183 w 183"/>
                    <a:gd name="T39" fmla="*/ 85 h 85"/>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83" h="85">
                      <a:moveTo>
                        <a:pt x="0" y="0"/>
                      </a:moveTo>
                      <a:lnTo>
                        <a:pt x="64" y="0"/>
                      </a:lnTo>
                      <a:lnTo>
                        <a:pt x="67" y="13"/>
                      </a:lnTo>
                      <a:lnTo>
                        <a:pt x="75" y="28"/>
                      </a:lnTo>
                      <a:lnTo>
                        <a:pt x="84" y="42"/>
                      </a:lnTo>
                      <a:lnTo>
                        <a:pt x="158" y="42"/>
                      </a:lnTo>
                      <a:lnTo>
                        <a:pt x="163" y="55"/>
                      </a:lnTo>
                      <a:lnTo>
                        <a:pt x="172" y="67"/>
                      </a:lnTo>
                      <a:lnTo>
                        <a:pt x="183" y="85"/>
                      </a:lnTo>
                      <a:lnTo>
                        <a:pt x="64" y="85"/>
                      </a:lnTo>
                      <a:lnTo>
                        <a:pt x="41" y="85"/>
                      </a:lnTo>
                      <a:lnTo>
                        <a:pt x="0" y="0"/>
                      </a:lnTo>
                      <a:close/>
                    </a:path>
                  </a:pathLst>
                </a:custGeom>
                <a:solidFill>
                  <a:srgbClr val="80808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920" name="Freeform 2523"/>
                <p:cNvSpPr>
                  <a:spLocks/>
                </p:cNvSpPr>
                <p:nvPr/>
              </p:nvSpPr>
              <p:spPr bwMode="auto">
                <a:xfrm>
                  <a:off x="1008" y="3782"/>
                  <a:ext cx="81" cy="12"/>
                </a:xfrm>
                <a:custGeom>
                  <a:avLst/>
                  <a:gdLst>
                    <a:gd name="T0" fmla="*/ 0 w 160"/>
                    <a:gd name="T1" fmla="*/ 0 h 36"/>
                    <a:gd name="T2" fmla="*/ 1 w 160"/>
                    <a:gd name="T3" fmla="*/ 0 h 36"/>
                    <a:gd name="T4" fmla="*/ 1 w 160"/>
                    <a:gd name="T5" fmla="*/ 0 h 36"/>
                    <a:gd name="T6" fmla="*/ 1 w 160"/>
                    <a:gd name="T7" fmla="*/ 0 h 36"/>
                    <a:gd name="T8" fmla="*/ 2 w 160"/>
                    <a:gd name="T9" fmla="*/ 0 h 36"/>
                    <a:gd name="T10" fmla="*/ 2 w 160"/>
                    <a:gd name="T11" fmla="*/ 0 h 36"/>
                    <a:gd name="T12" fmla="*/ 0 w 160"/>
                    <a:gd name="T13" fmla="*/ 0 h 36"/>
                    <a:gd name="T14" fmla="*/ 0 60000 65536"/>
                    <a:gd name="T15" fmla="*/ 0 60000 65536"/>
                    <a:gd name="T16" fmla="*/ 0 60000 65536"/>
                    <a:gd name="T17" fmla="*/ 0 60000 65536"/>
                    <a:gd name="T18" fmla="*/ 0 60000 65536"/>
                    <a:gd name="T19" fmla="*/ 0 60000 65536"/>
                    <a:gd name="T20" fmla="*/ 0 60000 65536"/>
                    <a:gd name="T21" fmla="*/ 0 w 160"/>
                    <a:gd name="T22" fmla="*/ 0 h 36"/>
                    <a:gd name="T23" fmla="*/ 160 w 160"/>
                    <a:gd name="T24" fmla="*/ 36 h 3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60" h="36">
                      <a:moveTo>
                        <a:pt x="0" y="36"/>
                      </a:moveTo>
                      <a:lnTo>
                        <a:pt x="1" y="20"/>
                      </a:lnTo>
                      <a:lnTo>
                        <a:pt x="7" y="8"/>
                      </a:lnTo>
                      <a:lnTo>
                        <a:pt x="10" y="0"/>
                      </a:lnTo>
                      <a:lnTo>
                        <a:pt x="150" y="0"/>
                      </a:lnTo>
                      <a:lnTo>
                        <a:pt x="160" y="36"/>
                      </a:lnTo>
                      <a:lnTo>
                        <a:pt x="0" y="36"/>
                      </a:lnTo>
                      <a:close/>
                    </a:path>
                  </a:pathLst>
                </a:custGeom>
                <a:solidFill>
                  <a:srgbClr val="40404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5" name="Group 2524"/>
              <p:cNvGrpSpPr>
                <a:grpSpLocks/>
              </p:cNvGrpSpPr>
              <p:nvPr/>
            </p:nvGrpSpPr>
            <p:grpSpPr bwMode="auto">
              <a:xfrm>
                <a:off x="920" y="3821"/>
                <a:ext cx="413" cy="50"/>
                <a:chOff x="920" y="3821"/>
                <a:chExt cx="413" cy="50"/>
              </a:xfrm>
            </p:grpSpPr>
            <p:sp>
              <p:nvSpPr>
                <p:cNvPr id="2836" name="Freeform 2525"/>
                <p:cNvSpPr>
                  <a:spLocks/>
                </p:cNvSpPr>
                <p:nvPr/>
              </p:nvSpPr>
              <p:spPr bwMode="auto">
                <a:xfrm>
                  <a:off x="920" y="3821"/>
                  <a:ext cx="413" cy="50"/>
                </a:xfrm>
                <a:custGeom>
                  <a:avLst/>
                  <a:gdLst>
                    <a:gd name="T0" fmla="*/ 1 w 825"/>
                    <a:gd name="T1" fmla="*/ 0 h 151"/>
                    <a:gd name="T2" fmla="*/ 1 w 825"/>
                    <a:gd name="T3" fmla="*/ 0 h 151"/>
                    <a:gd name="T4" fmla="*/ 1 w 825"/>
                    <a:gd name="T5" fmla="*/ 0 h 151"/>
                    <a:gd name="T6" fmla="*/ 0 w 825"/>
                    <a:gd name="T7" fmla="*/ 0 h 151"/>
                    <a:gd name="T8" fmla="*/ 1 w 825"/>
                    <a:gd name="T9" fmla="*/ 0 h 151"/>
                    <a:gd name="T10" fmla="*/ 1 w 825"/>
                    <a:gd name="T11" fmla="*/ 0 h 151"/>
                    <a:gd name="T12" fmla="*/ 1 w 825"/>
                    <a:gd name="T13" fmla="*/ 0 h 151"/>
                    <a:gd name="T14" fmla="*/ 7 w 825"/>
                    <a:gd name="T15" fmla="*/ 0 h 151"/>
                    <a:gd name="T16" fmla="*/ 7 w 825"/>
                    <a:gd name="T17" fmla="*/ 0 h 151"/>
                    <a:gd name="T18" fmla="*/ 7 w 825"/>
                    <a:gd name="T19" fmla="*/ 0 h 151"/>
                    <a:gd name="T20" fmla="*/ 7 w 825"/>
                    <a:gd name="T21" fmla="*/ 0 h 151"/>
                    <a:gd name="T22" fmla="*/ 7 w 825"/>
                    <a:gd name="T23" fmla="*/ 0 h 151"/>
                    <a:gd name="T24" fmla="*/ 7 w 825"/>
                    <a:gd name="T25" fmla="*/ 0 h 151"/>
                    <a:gd name="T26" fmla="*/ 7 w 825"/>
                    <a:gd name="T27" fmla="*/ 0 h 151"/>
                    <a:gd name="T28" fmla="*/ 1 w 825"/>
                    <a:gd name="T29" fmla="*/ 0 h 151"/>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w 825"/>
                    <a:gd name="T46" fmla="*/ 0 h 151"/>
                    <a:gd name="T47" fmla="*/ 825 w 825"/>
                    <a:gd name="T48" fmla="*/ 151 h 151"/>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T45" t="T46" r="T47" b="T48"/>
                  <a:pathLst>
                    <a:path w="825" h="151">
                      <a:moveTo>
                        <a:pt x="35" y="13"/>
                      </a:moveTo>
                      <a:lnTo>
                        <a:pt x="17" y="27"/>
                      </a:lnTo>
                      <a:lnTo>
                        <a:pt x="9" y="48"/>
                      </a:lnTo>
                      <a:lnTo>
                        <a:pt x="0" y="97"/>
                      </a:lnTo>
                      <a:lnTo>
                        <a:pt x="4" y="124"/>
                      </a:lnTo>
                      <a:lnTo>
                        <a:pt x="13" y="138"/>
                      </a:lnTo>
                      <a:lnTo>
                        <a:pt x="26" y="151"/>
                      </a:lnTo>
                      <a:lnTo>
                        <a:pt x="783" y="142"/>
                      </a:lnTo>
                      <a:lnTo>
                        <a:pt x="807" y="128"/>
                      </a:lnTo>
                      <a:lnTo>
                        <a:pt x="816" y="107"/>
                      </a:lnTo>
                      <a:lnTo>
                        <a:pt x="825" y="61"/>
                      </a:lnTo>
                      <a:lnTo>
                        <a:pt x="821" y="27"/>
                      </a:lnTo>
                      <a:lnTo>
                        <a:pt x="806" y="9"/>
                      </a:lnTo>
                      <a:lnTo>
                        <a:pt x="785" y="0"/>
                      </a:lnTo>
                      <a:lnTo>
                        <a:pt x="35" y="13"/>
                      </a:lnTo>
                      <a:close/>
                    </a:path>
                  </a:pathLst>
                </a:custGeom>
                <a:solidFill>
                  <a:srgbClr val="202020"/>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7" name="Freeform 2526"/>
                <p:cNvSpPr>
                  <a:spLocks/>
                </p:cNvSpPr>
                <p:nvPr/>
              </p:nvSpPr>
              <p:spPr bwMode="auto">
                <a:xfrm>
                  <a:off x="972" y="3833"/>
                  <a:ext cx="330" cy="27"/>
                </a:xfrm>
                <a:custGeom>
                  <a:avLst/>
                  <a:gdLst>
                    <a:gd name="T0" fmla="*/ 1 w 658"/>
                    <a:gd name="T1" fmla="*/ 0 h 79"/>
                    <a:gd name="T2" fmla="*/ 0 w 658"/>
                    <a:gd name="T3" fmla="*/ 0 h 79"/>
                    <a:gd name="T4" fmla="*/ 2 w 658"/>
                    <a:gd name="T5" fmla="*/ 0 h 79"/>
                    <a:gd name="T6" fmla="*/ 2 w 658"/>
                    <a:gd name="T7" fmla="*/ 0 h 79"/>
                    <a:gd name="T8" fmla="*/ 4 w 658"/>
                    <a:gd name="T9" fmla="*/ 0 h 79"/>
                    <a:gd name="T10" fmla="*/ 4 w 658"/>
                    <a:gd name="T11" fmla="*/ 0 h 79"/>
                    <a:gd name="T12" fmla="*/ 6 w 658"/>
                    <a:gd name="T13" fmla="*/ 0 h 79"/>
                    <a:gd name="T14" fmla="*/ 6 w 658"/>
                    <a:gd name="T15" fmla="*/ 0 h 79"/>
                    <a:gd name="T16" fmla="*/ 4 w 658"/>
                    <a:gd name="T17" fmla="*/ 0 h 79"/>
                    <a:gd name="T18" fmla="*/ 4 w 658"/>
                    <a:gd name="T19" fmla="*/ 0 h 79"/>
                    <a:gd name="T20" fmla="*/ 2 w 658"/>
                    <a:gd name="T21" fmla="*/ 0 h 79"/>
                    <a:gd name="T22" fmla="*/ 2 w 658"/>
                    <a:gd name="T23" fmla="*/ 0 h 79"/>
                    <a:gd name="T24" fmla="*/ 1 w 658"/>
                    <a:gd name="T25" fmla="*/ 0 h 79"/>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w 658"/>
                    <a:gd name="T40" fmla="*/ 0 h 79"/>
                    <a:gd name="T41" fmla="*/ 658 w 658"/>
                    <a:gd name="T42" fmla="*/ 79 h 79"/>
                  </a:gdLst>
                  <a:ahLst/>
                  <a:cxnLst>
                    <a:cxn ang="T26">
                      <a:pos x="T0" y="T1"/>
                    </a:cxn>
                    <a:cxn ang="T27">
                      <a:pos x="T2" y="T3"/>
                    </a:cxn>
                    <a:cxn ang="T28">
                      <a:pos x="T4" y="T5"/>
                    </a:cxn>
                    <a:cxn ang="T29">
                      <a:pos x="T6" y="T7"/>
                    </a:cxn>
                    <a:cxn ang="T30">
                      <a:pos x="T8" y="T9"/>
                    </a:cxn>
                    <a:cxn ang="T31">
                      <a:pos x="T10" y="T11"/>
                    </a:cxn>
                    <a:cxn ang="T32">
                      <a:pos x="T12" y="T13"/>
                    </a:cxn>
                    <a:cxn ang="T33">
                      <a:pos x="T14" y="T15"/>
                    </a:cxn>
                    <a:cxn ang="T34">
                      <a:pos x="T16" y="T17"/>
                    </a:cxn>
                    <a:cxn ang="T35">
                      <a:pos x="T18" y="T19"/>
                    </a:cxn>
                    <a:cxn ang="T36">
                      <a:pos x="T20" y="T21"/>
                    </a:cxn>
                    <a:cxn ang="T37">
                      <a:pos x="T22" y="T23"/>
                    </a:cxn>
                    <a:cxn ang="T38">
                      <a:pos x="T24" y="T25"/>
                    </a:cxn>
                  </a:cxnLst>
                  <a:rect l="T39" t="T40" r="T41" b="T42"/>
                  <a:pathLst>
                    <a:path w="658" h="79">
                      <a:moveTo>
                        <a:pt x="4" y="23"/>
                      </a:moveTo>
                      <a:lnTo>
                        <a:pt x="0" y="50"/>
                      </a:lnTo>
                      <a:lnTo>
                        <a:pt x="153" y="50"/>
                      </a:lnTo>
                      <a:lnTo>
                        <a:pt x="153" y="79"/>
                      </a:lnTo>
                      <a:lnTo>
                        <a:pt x="500" y="73"/>
                      </a:lnTo>
                      <a:lnTo>
                        <a:pt x="500" y="50"/>
                      </a:lnTo>
                      <a:lnTo>
                        <a:pt x="656" y="50"/>
                      </a:lnTo>
                      <a:lnTo>
                        <a:pt x="658" y="23"/>
                      </a:lnTo>
                      <a:lnTo>
                        <a:pt x="504" y="23"/>
                      </a:lnTo>
                      <a:lnTo>
                        <a:pt x="504" y="0"/>
                      </a:lnTo>
                      <a:lnTo>
                        <a:pt x="153" y="8"/>
                      </a:lnTo>
                      <a:lnTo>
                        <a:pt x="153" y="23"/>
                      </a:lnTo>
                      <a:lnTo>
                        <a:pt x="4" y="23"/>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8" name="Rectangle 2527"/>
                <p:cNvSpPr>
                  <a:spLocks noChangeArrowheads="1"/>
                </p:cNvSpPr>
                <p:nvPr/>
              </p:nvSpPr>
              <p:spPr bwMode="auto">
                <a:xfrm>
                  <a:off x="982" y="3856"/>
                  <a:ext cx="26" cy="7"/>
                </a:xfrm>
                <a:prstGeom prst="rect">
                  <a:avLst/>
                </a:prstGeom>
                <a:solidFill>
                  <a:srgbClr val="00A000"/>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9" name="Rectangle 2528"/>
                <p:cNvSpPr>
                  <a:spLocks noChangeArrowheads="1"/>
                </p:cNvSpPr>
                <p:nvPr/>
              </p:nvSpPr>
              <p:spPr bwMode="auto">
                <a:xfrm>
                  <a:off x="1237" y="3855"/>
                  <a:ext cx="53" cy="6"/>
                </a:xfrm>
                <a:prstGeom prst="rect">
                  <a:avLst/>
                </a:prstGeom>
                <a:solidFill>
                  <a:srgbClr val="202020"/>
                </a:solidFill>
                <a:ln w="7938">
                  <a:solidFill>
                    <a:srgbClr val="000000"/>
                  </a:solidFill>
                  <a:miter lim="800000"/>
                  <a:headEnd/>
                  <a:tailEnd/>
                </a:ln>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nvGrpSpPr>
              <p:cNvPr id="2816" name="Group 2529"/>
              <p:cNvGrpSpPr>
                <a:grpSpLocks/>
              </p:cNvGrpSpPr>
              <p:nvPr/>
            </p:nvGrpSpPr>
            <p:grpSpPr bwMode="auto">
              <a:xfrm>
                <a:off x="1227" y="3477"/>
                <a:ext cx="508" cy="321"/>
                <a:chOff x="1227" y="3477"/>
                <a:chExt cx="508" cy="321"/>
              </a:xfrm>
            </p:grpSpPr>
            <p:sp>
              <p:nvSpPr>
                <p:cNvPr id="2817" name="Freeform 2530"/>
                <p:cNvSpPr>
                  <a:spLocks/>
                </p:cNvSpPr>
                <p:nvPr/>
              </p:nvSpPr>
              <p:spPr bwMode="auto">
                <a:xfrm>
                  <a:off x="1640" y="3731"/>
                  <a:ext cx="95" cy="66"/>
                </a:xfrm>
                <a:custGeom>
                  <a:avLst/>
                  <a:gdLst>
                    <a:gd name="T0" fmla="*/ 0 w 191"/>
                    <a:gd name="T1" fmla="*/ 0 h 200"/>
                    <a:gd name="T2" fmla="*/ 0 w 191"/>
                    <a:gd name="T3" fmla="*/ 0 h 200"/>
                    <a:gd name="T4" fmla="*/ 0 w 191"/>
                    <a:gd name="T5" fmla="*/ 0 h 200"/>
                    <a:gd name="T6" fmla="*/ 0 w 191"/>
                    <a:gd name="T7" fmla="*/ 0 h 200"/>
                    <a:gd name="T8" fmla="*/ 0 w 191"/>
                    <a:gd name="T9" fmla="*/ 0 h 200"/>
                    <a:gd name="T10" fmla="*/ 0 w 191"/>
                    <a:gd name="T11" fmla="*/ 0 h 200"/>
                    <a:gd name="T12" fmla="*/ 0 w 191"/>
                    <a:gd name="T13" fmla="*/ 0 h 200"/>
                    <a:gd name="T14" fmla="*/ 0 w 191"/>
                    <a:gd name="T15" fmla="*/ 0 h 200"/>
                    <a:gd name="T16" fmla="*/ 1 w 191"/>
                    <a:gd name="T17" fmla="*/ 0 h 200"/>
                    <a:gd name="T18" fmla="*/ 1 w 191"/>
                    <a:gd name="T19" fmla="*/ 0 h 200"/>
                    <a:gd name="T20" fmla="*/ 1 w 191"/>
                    <a:gd name="T21" fmla="*/ 0 h 200"/>
                    <a:gd name="T22" fmla="*/ 0 w 191"/>
                    <a:gd name="T23" fmla="*/ 0 h 200"/>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 name="T36" fmla="*/ 0 w 191"/>
                    <a:gd name="T37" fmla="*/ 0 h 200"/>
                    <a:gd name="T38" fmla="*/ 191 w 191"/>
                    <a:gd name="T39" fmla="*/ 200 h 200"/>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T36" t="T37" r="T38" b="T39"/>
                  <a:pathLst>
                    <a:path w="191" h="200">
                      <a:moveTo>
                        <a:pt x="126" y="9"/>
                      </a:moveTo>
                      <a:lnTo>
                        <a:pt x="93" y="0"/>
                      </a:lnTo>
                      <a:lnTo>
                        <a:pt x="59" y="5"/>
                      </a:lnTo>
                      <a:lnTo>
                        <a:pt x="32" y="17"/>
                      </a:lnTo>
                      <a:lnTo>
                        <a:pt x="9" y="45"/>
                      </a:lnTo>
                      <a:lnTo>
                        <a:pt x="0" y="94"/>
                      </a:lnTo>
                      <a:lnTo>
                        <a:pt x="0" y="137"/>
                      </a:lnTo>
                      <a:lnTo>
                        <a:pt x="0" y="200"/>
                      </a:lnTo>
                      <a:lnTo>
                        <a:pt x="191" y="200"/>
                      </a:lnTo>
                      <a:lnTo>
                        <a:pt x="181" y="81"/>
                      </a:lnTo>
                      <a:lnTo>
                        <a:pt x="157" y="30"/>
                      </a:lnTo>
                      <a:lnTo>
                        <a:pt x="126" y="9"/>
                      </a:lnTo>
                      <a:close/>
                    </a:path>
                  </a:pathLst>
                </a:custGeom>
                <a:solidFill>
                  <a:schemeClr val="bg2"/>
                </a:solidFill>
                <a:ln w="7938">
                  <a:solidFill>
                    <a:srgbClr val="40404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8" name="Freeform 2531"/>
                <p:cNvSpPr>
                  <a:spLocks/>
                </p:cNvSpPr>
                <p:nvPr/>
              </p:nvSpPr>
              <p:spPr bwMode="auto">
                <a:xfrm>
                  <a:off x="1227" y="3477"/>
                  <a:ext cx="429" cy="264"/>
                </a:xfrm>
                <a:custGeom>
                  <a:avLst/>
                  <a:gdLst>
                    <a:gd name="T0" fmla="*/ 0 w 860"/>
                    <a:gd name="T1" fmla="*/ 0 h 791"/>
                    <a:gd name="T2" fmla="*/ 6 w 860"/>
                    <a:gd name="T3" fmla="*/ 0 h 791"/>
                    <a:gd name="T4" fmla="*/ 6 w 860"/>
                    <a:gd name="T5" fmla="*/ 0 h 791"/>
                    <a:gd name="T6" fmla="*/ 6 w 860"/>
                    <a:gd name="T7" fmla="*/ 0 h 791"/>
                    <a:gd name="T8" fmla="*/ 0 w 860"/>
                    <a:gd name="T9" fmla="*/ 0 h 791"/>
                    <a:gd name="T10" fmla="*/ 0 60000 65536"/>
                    <a:gd name="T11" fmla="*/ 0 60000 65536"/>
                    <a:gd name="T12" fmla="*/ 0 60000 65536"/>
                    <a:gd name="T13" fmla="*/ 0 60000 65536"/>
                    <a:gd name="T14" fmla="*/ 0 60000 65536"/>
                    <a:gd name="T15" fmla="*/ 0 w 860"/>
                    <a:gd name="T16" fmla="*/ 0 h 791"/>
                    <a:gd name="T17" fmla="*/ 860 w 860"/>
                    <a:gd name="T18" fmla="*/ 791 h 791"/>
                  </a:gdLst>
                  <a:ahLst/>
                  <a:cxnLst>
                    <a:cxn ang="T10">
                      <a:pos x="T0" y="T1"/>
                    </a:cxn>
                    <a:cxn ang="T11">
                      <a:pos x="T2" y="T3"/>
                    </a:cxn>
                    <a:cxn ang="T12">
                      <a:pos x="T4" y="T5"/>
                    </a:cxn>
                    <a:cxn ang="T13">
                      <a:pos x="T6" y="T7"/>
                    </a:cxn>
                    <a:cxn ang="T14">
                      <a:pos x="T8" y="T9"/>
                    </a:cxn>
                  </a:cxnLst>
                  <a:rect l="T15" t="T16" r="T17" b="T18"/>
                  <a:pathLst>
                    <a:path w="860" h="791">
                      <a:moveTo>
                        <a:pt x="0" y="0"/>
                      </a:moveTo>
                      <a:lnTo>
                        <a:pt x="860" y="764"/>
                      </a:lnTo>
                      <a:lnTo>
                        <a:pt x="849" y="777"/>
                      </a:lnTo>
                      <a:lnTo>
                        <a:pt x="838" y="791"/>
                      </a:lnTo>
                      <a:lnTo>
                        <a:pt x="0" y="0"/>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19" name="Freeform 2532"/>
                <p:cNvSpPr>
                  <a:spLocks/>
                </p:cNvSpPr>
                <p:nvPr/>
              </p:nvSpPr>
              <p:spPr bwMode="auto">
                <a:xfrm>
                  <a:off x="1521" y="3650"/>
                  <a:ext cx="141" cy="122"/>
                </a:xfrm>
                <a:custGeom>
                  <a:avLst/>
                  <a:gdLst>
                    <a:gd name="T0" fmla="*/ 1 w 281"/>
                    <a:gd name="T1" fmla="*/ 0 h 366"/>
                    <a:gd name="T2" fmla="*/ 1 w 281"/>
                    <a:gd name="T3" fmla="*/ 0 h 366"/>
                    <a:gd name="T4" fmla="*/ 1 w 281"/>
                    <a:gd name="T5" fmla="*/ 0 h 366"/>
                    <a:gd name="T6" fmla="*/ 1 w 281"/>
                    <a:gd name="T7" fmla="*/ 0 h 366"/>
                    <a:gd name="T8" fmla="*/ 1 w 281"/>
                    <a:gd name="T9" fmla="*/ 0 h 366"/>
                    <a:gd name="T10" fmla="*/ 2 w 281"/>
                    <a:gd name="T11" fmla="*/ 0 h 366"/>
                    <a:gd name="T12" fmla="*/ 3 w 281"/>
                    <a:gd name="T13" fmla="*/ 0 h 366"/>
                    <a:gd name="T14" fmla="*/ 3 w 281"/>
                    <a:gd name="T15" fmla="*/ 0 h 366"/>
                    <a:gd name="T16" fmla="*/ 2 w 281"/>
                    <a:gd name="T17" fmla="*/ 0 h 366"/>
                    <a:gd name="T18" fmla="*/ 2 w 281"/>
                    <a:gd name="T19" fmla="*/ 0 h 366"/>
                    <a:gd name="T20" fmla="*/ 2 w 281"/>
                    <a:gd name="T21" fmla="*/ 0 h 366"/>
                    <a:gd name="T22" fmla="*/ 2 w 281"/>
                    <a:gd name="T23" fmla="*/ 0 h 366"/>
                    <a:gd name="T24" fmla="*/ 2 w 281"/>
                    <a:gd name="T25" fmla="*/ 0 h 366"/>
                    <a:gd name="T26" fmla="*/ 2 w 281"/>
                    <a:gd name="T27" fmla="*/ 0 h 366"/>
                    <a:gd name="T28" fmla="*/ 2 w 281"/>
                    <a:gd name="T29" fmla="*/ 0 h 366"/>
                    <a:gd name="T30" fmla="*/ 0 w 281"/>
                    <a:gd name="T31" fmla="*/ 0 h 366"/>
                    <a:gd name="T32" fmla="*/ 0 w 281"/>
                    <a:gd name="T33" fmla="*/ 0 h 366"/>
                    <a:gd name="T34" fmla="*/ 1 w 281"/>
                    <a:gd name="T35" fmla="*/ 0 h 36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81"/>
                    <a:gd name="T55" fmla="*/ 0 h 366"/>
                    <a:gd name="T56" fmla="*/ 281 w 281"/>
                    <a:gd name="T57" fmla="*/ 366 h 366"/>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81" h="366">
                      <a:moveTo>
                        <a:pt x="4" y="95"/>
                      </a:moveTo>
                      <a:lnTo>
                        <a:pt x="24" y="62"/>
                      </a:lnTo>
                      <a:lnTo>
                        <a:pt x="54" y="43"/>
                      </a:lnTo>
                      <a:lnTo>
                        <a:pt x="78" y="42"/>
                      </a:lnTo>
                      <a:lnTo>
                        <a:pt x="128" y="43"/>
                      </a:lnTo>
                      <a:lnTo>
                        <a:pt x="132" y="0"/>
                      </a:lnTo>
                      <a:lnTo>
                        <a:pt x="281" y="130"/>
                      </a:lnTo>
                      <a:lnTo>
                        <a:pt x="272" y="179"/>
                      </a:lnTo>
                      <a:lnTo>
                        <a:pt x="228" y="170"/>
                      </a:lnTo>
                      <a:lnTo>
                        <a:pt x="191" y="184"/>
                      </a:lnTo>
                      <a:lnTo>
                        <a:pt x="158" y="210"/>
                      </a:lnTo>
                      <a:lnTo>
                        <a:pt x="150" y="232"/>
                      </a:lnTo>
                      <a:lnTo>
                        <a:pt x="149" y="295"/>
                      </a:lnTo>
                      <a:lnTo>
                        <a:pt x="149" y="338"/>
                      </a:lnTo>
                      <a:lnTo>
                        <a:pt x="150" y="366"/>
                      </a:lnTo>
                      <a:lnTo>
                        <a:pt x="0" y="229"/>
                      </a:lnTo>
                      <a:lnTo>
                        <a:pt x="0" y="139"/>
                      </a:lnTo>
                      <a:lnTo>
                        <a:pt x="4" y="95"/>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0" name="Line 2533"/>
                <p:cNvSpPr>
                  <a:spLocks noChangeShapeType="1"/>
                </p:cNvSpPr>
                <p:nvPr/>
              </p:nvSpPr>
              <p:spPr bwMode="auto">
                <a:xfrm>
                  <a:off x="1586" y="3665"/>
                  <a:ext cx="76" cy="44"/>
                </a:xfrm>
                <a:prstGeom prst="line">
                  <a:avLst/>
                </a:prstGeom>
                <a:noFill/>
                <a:ln w="7938">
                  <a:solidFill>
                    <a:srgbClr val="000000"/>
                  </a:solidFill>
                  <a:round/>
                  <a:headEnd/>
                  <a:tailEnd/>
                </a:ln>
                <a:extLst>
                  <a:ext uri="{909E8E84-426E-40DD-AFC4-6F175D3DCCD1}">
                    <a14:hiddenFill xmlns:a14="http://schemas.microsoft.com/office/drawing/2010/main">
                      <a:noFill/>
                    </a14:hiddenFill>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1" name="Freeform 2534"/>
                <p:cNvSpPr>
                  <a:spLocks/>
                </p:cNvSpPr>
                <p:nvPr/>
              </p:nvSpPr>
              <p:spPr bwMode="auto">
                <a:xfrm>
                  <a:off x="1242" y="3486"/>
                  <a:ext cx="111" cy="96"/>
                </a:xfrm>
                <a:custGeom>
                  <a:avLst/>
                  <a:gdLst>
                    <a:gd name="T0" fmla="*/ 1 w 222"/>
                    <a:gd name="T1" fmla="*/ 0 h 289"/>
                    <a:gd name="T2" fmla="*/ 1 w 222"/>
                    <a:gd name="T3" fmla="*/ 0 h 289"/>
                    <a:gd name="T4" fmla="*/ 1 w 222"/>
                    <a:gd name="T5" fmla="*/ 0 h 289"/>
                    <a:gd name="T6" fmla="*/ 1 w 222"/>
                    <a:gd name="T7" fmla="*/ 0 h 289"/>
                    <a:gd name="T8" fmla="*/ 2 w 222"/>
                    <a:gd name="T9" fmla="*/ 0 h 289"/>
                    <a:gd name="T10" fmla="*/ 2 w 222"/>
                    <a:gd name="T11" fmla="*/ 0 h 289"/>
                    <a:gd name="T12" fmla="*/ 2 w 222"/>
                    <a:gd name="T13" fmla="*/ 0 h 289"/>
                    <a:gd name="T14" fmla="*/ 2 w 222"/>
                    <a:gd name="T15" fmla="*/ 0 h 289"/>
                    <a:gd name="T16" fmla="*/ 2 w 222"/>
                    <a:gd name="T17" fmla="*/ 0 h 289"/>
                    <a:gd name="T18" fmla="*/ 2 w 222"/>
                    <a:gd name="T19" fmla="*/ 0 h 289"/>
                    <a:gd name="T20" fmla="*/ 2 w 222"/>
                    <a:gd name="T21" fmla="*/ 0 h 289"/>
                    <a:gd name="T22" fmla="*/ 1 w 222"/>
                    <a:gd name="T23" fmla="*/ 0 h 289"/>
                    <a:gd name="T24" fmla="*/ 1 w 222"/>
                    <a:gd name="T25" fmla="*/ 0 h 289"/>
                    <a:gd name="T26" fmla="*/ 1 w 222"/>
                    <a:gd name="T27" fmla="*/ 0 h 289"/>
                    <a:gd name="T28" fmla="*/ 1 w 222"/>
                    <a:gd name="T29" fmla="*/ 0 h 289"/>
                    <a:gd name="T30" fmla="*/ 0 w 222"/>
                    <a:gd name="T31" fmla="*/ 0 h 289"/>
                    <a:gd name="T32" fmla="*/ 1 w 222"/>
                    <a:gd name="T33" fmla="*/ 0 h 289"/>
                    <a:gd name="T34" fmla="*/ 1 w 222"/>
                    <a:gd name="T35" fmla="*/ 0 h 289"/>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60000 65536"/>
                    <a:gd name="T49" fmla="*/ 0 60000 65536"/>
                    <a:gd name="T50" fmla="*/ 0 60000 65536"/>
                    <a:gd name="T51" fmla="*/ 0 60000 65536"/>
                    <a:gd name="T52" fmla="*/ 0 60000 65536"/>
                    <a:gd name="T53" fmla="*/ 0 60000 65536"/>
                    <a:gd name="T54" fmla="*/ 0 w 222"/>
                    <a:gd name="T55" fmla="*/ 0 h 289"/>
                    <a:gd name="T56" fmla="*/ 222 w 222"/>
                    <a:gd name="T57" fmla="*/ 289 h 289"/>
                  </a:gdLst>
                  <a:ahLst/>
                  <a:cxnLst>
                    <a:cxn ang="T36">
                      <a:pos x="T0" y="T1"/>
                    </a:cxn>
                    <a:cxn ang="T37">
                      <a:pos x="T2" y="T3"/>
                    </a:cxn>
                    <a:cxn ang="T38">
                      <a:pos x="T4" y="T5"/>
                    </a:cxn>
                    <a:cxn ang="T39">
                      <a:pos x="T6" y="T7"/>
                    </a:cxn>
                    <a:cxn ang="T40">
                      <a:pos x="T8" y="T9"/>
                    </a:cxn>
                    <a:cxn ang="T41">
                      <a:pos x="T10" y="T11"/>
                    </a:cxn>
                    <a:cxn ang="T42">
                      <a:pos x="T12" y="T13"/>
                    </a:cxn>
                    <a:cxn ang="T43">
                      <a:pos x="T14" y="T15"/>
                    </a:cxn>
                    <a:cxn ang="T44">
                      <a:pos x="T16" y="T17"/>
                    </a:cxn>
                    <a:cxn ang="T45">
                      <a:pos x="T18" y="T19"/>
                    </a:cxn>
                    <a:cxn ang="T46">
                      <a:pos x="T20" y="T21"/>
                    </a:cxn>
                    <a:cxn ang="T47">
                      <a:pos x="T22" y="T23"/>
                    </a:cxn>
                    <a:cxn ang="T48">
                      <a:pos x="T24" y="T25"/>
                    </a:cxn>
                    <a:cxn ang="T49">
                      <a:pos x="T26" y="T27"/>
                    </a:cxn>
                    <a:cxn ang="T50">
                      <a:pos x="T28" y="T29"/>
                    </a:cxn>
                    <a:cxn ang="T51">
                      <a:pos x="T30" y="T31"/>
                    </a:cxn>
                    <a:cxn ang="T52">
                      <a:pos x="T32" y="T33"/>
                    </a:cxn>
                    <a:cxn ang="T53">
                      <a:pos x="T34" y="T35"/>
                    </a:cxn>
                  </a:cxnLst>
                  <a:rect l="T54" t="T55" r="T56" b="T57"/>
                  <a:pathLst>
                    <a:path w="222" h="289">
                      <a:moveTo>
                        <a:pt x="10" y="98"/>
                      </a:moveTo>
                      <a:lnTo>
                        <a:pt x="27" y="64"/>
                      </a:lnTo>
                      <a:lnTo>
                        <a:pt x="53" y="45"/>
                      </a:lnTo>
                      <a:lnTo>
                        <a:pt x="81" y="41"/>
                      </a:lnTo>
                      <a:lnTo>
                        <a:pt x="131" y="42"/>
                      </a:lnTo>
                      <a:lnTo>
                        <a:pt x="135" y="0"/>
                      </a:lnTo>
                      <a:lnTo>
                        <a:pt x="222" y="80"/>
                      </a:lnTo>
                      <a:lnTo>
                        <a:pt x="218" y="120"/>
                      </a:lnTo>
                      <a:lnTo>
                        <a:pt x="190" y="118"/>
                      </a:lnTo>
                      <a:lnTo>
                        <a:pt x="168" y="116"/>
                      </a:lnTo>
                      <a:lnTo>
                        <a:pt x="135" y="125"/>
                      </a:lnTo>
                      <a:lnTo>
                        <a:pt x="118" y="137"/>
                      </a:lnTo>
                      <a:lnTo>
                        <a:pt x="102" y="161"/>
                      </a:lnTo>
                      <a:lnTo>
                        <a:pt x="98" y="192"/>
                      </a:lnTo>
                      <a:lnTo>
                        <a:pt x="93" y="289"/>
                      </a:lnTo>
                      <a:lnTo>
                        <a:pt x="0" y="197"/>
                      </a:lnTo>
                      <a:lnTo>
                        <a:pt x="4" y="138"/>
                      </a:lnTo>
                      <a:lnTo>
                        <a:pt x="10" y="98"/>
                      </a:lnTo>
                      <a:close/>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2" name="Freeform 2535"/>
                <p:cNvSpPr>
                  <a:spLocks/>
                </p:cNvSpPr>
                <p:nvPr/>
              </p:nvSpPr>
              <p:spPr bwMode="auto">
                <a:xfrm>
                  <a:off x="1456" y="3626"/>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5"/>
                      </a:moveTo>
                      <a:lnTo>
                        <a:pt x="59" y="0"/>
                      </a:lnTo>
                      <a:lnTo>
                        <a:pt x="30" y="14"/>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3" name="Freeform 2536"/>
                <p:cNvSpPr>
                  <a:spLocks/>
                </p:cNvSpPr>
                <p:nvPr/>
              </p:nvSpPr>
              <p:spPr bwMode="auto">
                <a:xfrm>
                  <a:off x="1440" y="3615"/>
                  <a:ext cx="63" cy="61"/>
                </a:xfrm>
                <a:custGeom>
                  <a:avLst/>
                  <a:gdLst>
                    <a:gd name="T0" fmla="*/ 1 w 126"/>
                    <a:gd name="T1" fmla="*/ 0 h 185"/>
                    <a:gd name="T2" fmla="*/ 1 w 126"/>
                    <a:gd name="T3" fmla="*/ 0 h 185"/>
                    <a:gd name="T4" fmla="*/ 1 w 126"/>
                    <a:gd name="T5" fmla="*/ 0 h 185"/>
                    <a:gd name="T6" fmla="*/ 1 w 126"/>
                    <a:gd name="T7" fmla="*/ 0 h 185"/>
                    <a:gd name="T8" fmla="*/ 0 w 126"/>
                    <a:gd name="T9" fmla="*/ 0 h 185"/>
                    <a:gd name="T10" fmla="*/ 0 w 126"/>
                    <a:gd name="T11" fmla="*/ 0 h 185"/>
                    <a:gd name="T12" fmla="*/ 0 w 126"/>
                    <a:gd name="T13" fmla="*/ 0 h 185"/>
                    <a:gd name="T14" fmla="*/ 0 60000 65536"/>
                    <a:gd name="T15" fmla="*/ 0 60000 65536"/>
                    <a:gd name="T16" fmla="*/ 0 60000 65536"/>
                    <a:gd name="T17" fmla="*/ 0 60000 65536"/>
                    <a:gd name="T18" fmla="*/ 0 60000 65536"/>
                    <a:gd name="T19" fmla="*/ 0 60000 65536"/>
                    <a:gd name="T20" fmla="*/ 0 60000 65536"/>
                    <a:gd name="T21" fmla="*/ 0 w 126"/>
                    <a:gd name="T22" fmla="*/ 0 h 185"/>
                    <a:gd name="T23" fmla="*/ 126 w 126"/>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5">
                      <a:moveTo>
                        <a:pt x="126" y="3"/>
                      </a:moveTo>
                      <a:lnTo>
                        <a:pt x="59" y="0"/>
                      </a:lnTo>
                      <a:lnTo>
                        <a:pt x="24" y="15"/>
                      </a:lnTo>
                      <a:lnTo>
                        <a:pt x="9" y="39"/>
                      </a:lnTo>
                      <a:lnTo>
                        <a:pt x="0" y="88"/>
                      </a:lnTo>
                      <a:lnTo>
                        <a:pt x="0" y="185"/>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4" name="Freeform 2537"/>
                <p:cNvSpPr>
                  <a:spLocks/>
                </p:cNvSpPr>
                <p:nvPr/>
              </p:nvSpPr>
              <p:spPr bwMode="auto">
                <a:xfrm>
                  <a:off x="1422" y="3604"/>
                  <a:ext cx="64" cy="62"/>
                </a:xfrm>
                <a:custGeom>
                  <a:avLst/>
                  <a:gdLst>
                    <a:gd name="T0" fmla="*/ 1 w 127"/>
                    <a:gd name="T1" fmla="*/ 0 h 185"/>
                    <a:gd name="T2" fmla="*/ 1 w 127"/>
                    <a:gd name="T3" fmla="*/ 0 h 185"/>
                    <a:gd name="T4" fmla="*/ 1 w 127"/>
                    <a:gd name="T5" fmla="*/ 0 h 185"/>
                    <a:gd name="T6" fmla="*/ 1 w 127"/>
                    <a:gd name="T7" fmla="*/ 0 h 185"/>
                    <a:gd name="T8" fmla="*/ 0 w 127"/>
                    <a:gd name="T9" fmla="*/ 0 h 185"/>
                    <a:gd name="T10" fmla="*/ 0 w 127"/>
                    <a:gd name="T11" fmla="*/ 0 h 185"/>
                    <a:gd name="T12" fmla="*/ 0 w 127"/>
                    <a:gd name="T13" fmla="*/ 0 h 185"/>
                    <a:gd name="T14" fmla="*/ 0 60000 65536"/>
                    <a:gd name="T15" fmla="*/ 0 60000 65536"/>
                    <a:gd name="T16" fmla="*/ 0 60000 65536"/>
                    <a:gd name="T17" fmla="*/ 0 60000 65536"/>
                    <a:gd name="T18" fmla="*/ 0 60000 65536"/>
                    <a:gd name="T19" fmla="*/ 0 60000 65536"/>
                    <a:gd name="T20" fmla="*/ 0 60000 65536"/>
                    <a:gd name="T21" fmla="*/ 0 w 127"/>
                    <a:gd name="T22" fmla="*/ 0 h 185"/>
                    <a:gd name="T23" fmla="*/ 127 w 127"/>
                    <a:gd name="T24" fmla="*/ 185 h 185"/>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5">
                      <a:moveTo>
                        <a:pt x="127" y="5"/>
                      </a:moveTo>
                      <a:lnTo>
                        <a:pt x="59" y="0"/>
                      </a:lnTo>
                      <a:lnTo>
                        <a:pt x="30" y="14"/>
                      </a:lnTo>
                      <a:lnTo>
                        <a:pt x="9" y="39"/>
                      </a:lnTo>
                      <a:lnTo>
                        <a:pt x="0" y="88"/>
                      </a:lnTo>
                      <a:lnTo>
                        <a:pt x="0" y="185"/>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5" name="Freeform 2538"/>
                <p:cNvSpPr>
                  <a:spLocks/>
                </p:cNvSpPr>
                <p:nvPr/>
              </p:nvSpPr>
              <p:spPr bwMode="auto">
                <a:xfrm>
                  <a:off x="1401" y="3594"/>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2" y="10"/>
                      </a:lnTo>
                      <a:lnTo>
                        <a:pt x="9" y="39"/>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6" name="Freeform 2539"/>
                <p:cNvSpPr>
                  <a:spLocks/>
                </p:cNvSpPr>
                <p:nvPr/>
              </p:nvSpPr>
              <p:spPr bwMode="auto">
                <a:xfrm>
                  <a:off x="1383" y="3583"/>
                  <a:ext cx="64" cy="62"/>
                </a:xfrm>
                <a:custGeom>
                  <a:avLst/>
                  <a:gdLst>
                    <a:gd name="T0" fmla="*/ 1 w 128"/>
                    <a:gd name="T1" fmla="*/ 0 h 186"/>
                    <a:gd name="T2" fmla="*/ 1 w 128"/>
                    <a:gd name="T3" fmla="*/ 0 h 186"/>
                    <a:gd name="T4" fmla="*/ 1 w 128"/>
                    <a:gd name="T5" fmla="*/ 0 h 186"/>
                    <a:gd name="T6" fmla="*/ 1 w 128"/>
                    <a:gd name="T7" fmla="*/ 0 h 186"/>
                    <a:gd name="T8" fmla="*/ 0 w 128"/>
                    <a:gd name="T9" fmla="*/ 0 h 186"/>
                    <a:gd name="T10" fmla="*/ 0 w 128"/>
                    <a:gd name="T11" fmla="*/ 0 h 186"/>
                    <a:gd name="T12" fmla="*/ 0 w 128"/>
                    <a:gd name="T13" fmla="*/ 0 h 186"/>
                    <a:gd name="T14" fmla="*/ 0 60000 65536"/>
                    <a:gd name="T15" fmla="*/ 0 60000 65536"/>
                    <a:gd name="T16" fmla="*/ 0 60000 65536"/>
                    <a:gd name="T17" fmla="*/ 0 60000 65536"/>
                    <a:gd name="T18" fmla="*/ 0 60000 65536"/>
                    <a:gd name="T19" fmla="*/ 0 60000 65536"/>
                    <a:gd name="T20" fmla="*/ 0 60000 65536"/>
                    <a:gd name="T21" fmla="*/ 0 w 128"/>
                    <a:gd name="T22" fmla="*/ 0 h 186"/>
                    <a:gd name="T23" fmla="*/ 128 w 128"/>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8" h="186">
                      <a:moveTo>
                        <a:pt x="128" y="4"/>
                      </a:moveTo>
                      <a:lnTo>
                        <a:pt x="59" y="0"/>
                      </a:lnTo>
                      <a:lnTo>
                        <a:pt x="32" y="13"/>
                      </a:lnTo>
                      <a:lnTo>
                        <a:pt x="9" y="40"/>
                      </a:lnTo>
                      <a:lnTo>
                        <a:pt x="0" y="88"/>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7" name="Freeform 2540"/>
                <p:cNvSpPr>
                  <a:spLocks/>
                </p:cNvSpPr>
                <p:nvPr/>
              </p:nvSpPr>
              <p:spPr bwMode="auto">
                <a:xfrm>
                  <a:off x="1365" y="3570"/>
                  <a:ext cx="63" cy="62"/>
                </a:xfrm>
                <a:custGeom>
                  <a:avLst/>
                  <a:gdLst>
                    <a:gd name="T0" fmla="*/ 1 w 126"/>
                    <a:gd name="T1" fmla="*/ 0 h 186"/>
                    <a:gd name="T2" fmla="*/ 1 w 126"/>
                    <a:gd name="T3" fmla="*/ 0 h 186"/>
                    <a:gd name="T4" fmla="*/ 1 w 126"/>
                    <a:gd name="T5" fmla="*/ 0 h 186"/>
                    <a:gd name="T6" fmla="*/ 1 w 126"/>
                    <a:gd name="T7" fmla="*/ 0 h 186"/>
                    <a:gd name="T8" fmla="*/ 0 w 126"/>
                    <a:gd name="T9" fmla="*/ 0 h 186"/>
                    <a:gd name="T10" fmla="*/ 0 w 126"/>
                    <a:gd name="T11" fmla="*/ 0 h 186"/>
                    <a:gd name="T12" fmla="*/ 0 w 126"/>
                    <a:gd name="T13" fmla="*/ 0 h 186"/>
                    <a:gd name="T14" fmla="*/ 0 60000 65536"/>
                    <a:gd name="T15" fmla="*/ 0 60000 65536"/>
                    <a:gd name="T16" fmla="*/ 0 60000 65536"/>
                    <a:gd name="T17" fmla="*/ 0 60000 65536"/>
                    <a:gd name="T18" fmla="*/ 0 60000 65536"/>
                    <a:gd name="T19" fmla="*/ 0 60000 65536"/>
                    <a:gd name="T20" fmla="*/ 0 60000 65536"/>
                    <a:gd name="T21" fmla="*/ 0 w 126"/>
                    <a:gd name="T22" fmla="*/ 0 h 186"/>
                    <a:gd name="T23" fmla="*/ 126 w 126"/>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6" h="186">
                      <a:moveTo>
                        <a:pt x="126" y="4"/>
                      </a:moveTo>
                      <a:lnTo>
                        <a:pt x="58" y="0"/>
                      </a:lnTo>
                      <a:lnTo>
                        <a:pt x="31" y="14"/>
                      </a:lnTo>
                      <a:lnTo>
                        <a:pt x="8"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8" name="Freeform 2541"/>
                <p:cNvSpPr>
                  <a:spLocks/>
                </p:cNvSpPr>
                <p:nvPr/>
              </p:nvSpPr>
              <p:spPr bwMode="auto">
                <a:xfrm>
                  <a:off x="1349" y="3558"/>
                  <a:ext cx="64" cy="62"/>
                </a:xfrm>
                <a:custGeom>
                  <a:avLst/>
                  <a:gdLst>
                    <a:gd name="T0" fmla="*/ 1 w 127"/>
                    <a:gd name="T1" fmla="*/ 0 h 186"/>
                    <a:gd name="T2" fmla="*/ 1 w 127"/>
                    <a:gd name="T3" fmla="*/ 0 h 186"/>
                    <a:gd name="T4" fmla="*/ 1 w 127"/>
                    <a:gd name="T5" fmla="*/ 0 h 186"/>
                    <a:gd name="T6" fmla="*/ 1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5"/>
                      </a:moveTo>
                      <a:lnTo>
                        <a:pt x="59" y="0"/>
                      </a:lnTo>
                      <a:lnTo>
                        <a:pt x="33" y="16"/>
                      </a:lnTo>
                      <a:lnTo>
                        <a:pt x="9" y="40"/>
                      </a:lnTo>
                      <a:lnTo>
                        <a:pt x="0" y="89"/>
                      </a:lnTo>
                      <a:lnTo>
                        <a:pt x="0" y="186"/>
                      </a:lnTo>
                      <a:lnTo>
                        <a:pt x="0" y="182"/>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29" name="Freeform 2542"/>
                <p:cNvSpPr>
                  <a:spLocks/>
                </p:cNvSpPr>
                <p:nvPr/>
              </p:nvSpPr>
              <p:spPr bwMode="auto">
                <a:xfrm>
                  <a:off x="1331" y="3550"/>
                  <a:ext cx="63" cy="62"/>
                </a:xfrm>
                <a:custGeom>
                  <a:avLst/>
                  <a:gdLst>
                    <a:gd name="T0" fmla="*/ 0 w 127"/>
                    <a:gd name="T1" fmla="*/ 0 h 186"/>
                    <a:gd name="T2" fmla="*/ 0 w 127"/>
                    <a:gd name="T3" fmla="*/ 0 h 186"/>
                    <a:gd name="T4" fmla="*/ 0 w 127"/>
                    <a:gd name="T5" fmla="*/ 0 h 186"/>
                    <a:gd name="T6" fmla="*/ 0 w 127"/>
                    <a:gd name="T7" fmla="*/ 0 h 186"/>
                    <a:gd name="T8" fmla="*/ 0 w 127"/>
                    <a:gd name="T9" fmla="*/ 0 h 186"/>
                    <a:gd name="T10" fmla="*/ 0 w 127"/>
                    <a:gd name="T11" fmla="*/ 0 h 186"/>
                    <a:gd name="T12" fmla="*/ 0 w 127"/>
                    <a:gd name="T13" fmla="*/ 0 h 186"/>
                    <a:gd name="T14" fmla="*/ 0 60000 65536"/>
                    <a:gd name="T15" fmla="*/ 0 60000 65536"/>
                    <a:gd name="T16" fmla="*/ 0 60000 65536"/>
                    <a:gd name="T17" fmla="*/ 0 60000 65536"/>
                    <a:gd name="T18" fmla="*/ 0 60000 65536"/>
                    <a:gd name="T19" fmla="*/ 0 60000 65536"/>
                    <a:gd name="T20" fmla="*/ 0 60000 65536"/>
                    <a:gd name="T21" fmla="*/ 0 w 127"/>
                    <a:gd name="T22" fmla="*/ 0 h 186"/>
                    <a:gd name="T23" fmla="*/ 127 w 127"/>
                    <a:gd name="T24" fmla="*/ 186 h 186"/>
                  </a:gdLst>
                  <a:ahLst/>
                  <a:cxnLst>
                    <a:cxn ang="T14">
                      <a:pos x="T0" y="T1"/>
                    </a:cxn>
                    <a:cxn ang="T15">
                      <a:pos x="T2" y="T3"/>
                    </a:cxn>
                    <a:cxn ang="T16">
                      <a:pos x="T4" y="T5"/>
                    </a:cxn>
                    <a:cxn ang="T17">
                      <a:pos x="T6" y="T7"/>
                    </a:cxn>
                    <a:cxn ang="T18">
                      <a:pos x="T8" y="T9"/>
                    </a:cxn>
                    <a:cxn ang="T19">
                      <a:pos x="T10" y="T11"/>
                    </a:cxn>
                    <a:cxn ang="T20">
                      <a:pos x="T12" y="T13"/>
                    </a:cxn>
                  </a:cxnLst>
                  <a:rect l="T21" t="T22" r="T23" b="T24"/>
                  <a:pathLst>
                    <a:path w="127" h="186">
                      <a:moveTo>
                        <a:pt x="127" y="4"/>
                      </a:moveTo>
                      <a:lnTo>
                        <a:pt x="59" y="0"/>
                      </a:lnTo>
                      <a:lnTo>
                        <a:pt x="32" y="13"/>
                      </a:lnTo>
                      <a:lnTo>
                        <a:pt x="10" y="39"/>
                      </a:lnTo>
                      <a:lnTo>
                        <a:pt x="0" y="88"/>
                      </a:lnTo>
                      <a:lnTo>
                        <a:pt x="0" y="186"/>
                      </a:lnTo>
                      <a:lnTo>
                        <a:pt x="0" y="180"/>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0" name="Freeform 2543"/>
                <p:cNvSpPr>
                  <a:spLocks/>
                </p:cNvSpPr>
                <p:nvPr/>
              </p:nvSpPr>
              <p:spPr bwMode="auto">
                <a:xfrm>
                  <a:off x="1308" y="3501"/>
                  <a:ext cx="47" cy="25"/>
                </a:xfrm>
                <a:custGeom>
                  <a:avLst/>
                  <a:gdLst>
                    <a:gd name="T0" fmla="*/ 0 w 96"/>
                    <a:gd name="T1" fmla="*/ 0 h 74"/>
                    <a:gd name="T2" fmla="*/ 0 w 96"/>
                    <a:gd name="T3" fmla="*/ 0 h 74"/>
                    <a:gd name="T4" fmla="*/ 0 w 96"/>
                    <a:gd name="T5" fmla="*/ 0 h 74"/>
                    <a:gd name="T6" fmla="*/ 0 w 96"/>
                    <a:gd name="T7" fmla="*/ 0 h 74"/>
                    <a:gd name="T8" fmla="*/ 0 60000 65536"/>
                    <a:gd name="T9" fmla="*/ 0 60000 65536"/>
                    <a:gd name="T10" fmla="*/ 0 60000 65536"/>
                    <a:gd name="T11" fmla="*/ 0 60000 65536"/>
                    <a:gd name="T12" fmla="*/ 0 w 96"/>
                    <a:gd name="T13" fmla="*/ 0 h 74"/>
                    <a:gd name="T14" fmla="*/ 96 w 96"/>
                    <a:gd name="T15" fmla="*/ 74 h 74"/>
                  </a:gdLst>
                  <a:ahLst/>
                  <a:cxnLst>
                    <a:cxn ang="T8">
                      <a:pos x="T0" y="T1"/>
                    </a:cxn>
                    <a:cxn ang="T9">
                      <a:pos x="T2" y="T3"/>
                    </a:cxn>
                    <a:cxn ang="T10">
                      <a:pos x="T4" y="T5"/>
                    </a:cxn>
                    <a:cxn ang="T11">
                      <a:pos x="T6" y="T7"/>
                    </a:cxn>
                  </a:cxnLst>
                  <a:rect l="T12" t="T13" r="T14" b="T15"/>
                  <a:pathLst>
                    <a:path w="96" h="74">
                      <a:moveTo>
                        <a:pt x="0" y="0"/>
                      </a:moveTo>
                      <a:lnTo>
                        <a:pt x="89" y="74"/>
                      </a:lnTo>
                      <a:lnTo>
                        <a:pt x="96" y="74"/>
                      </a:lnTo>
                      <a:lnTo>
                        <a:pt x="93" y="74"/>
                      </a:lnTo>
                    </a:path>
                  </a:pathLst>
                </a:custGeom>
                <a:solidFill>
                  <a:schemeClr val="bg2"/>
                </a:solidFill>
                <a:ln w="7938">
                  <a:solidFill>
                    <a:srgbClr val="000000"/>
                  </a:solidFill>
                  <a:prstDash val="solid"/>
                  <a:round/>
                  <a:headEnd/>
                  <a:tailEnd/>
                </a:ln>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1" name="Oval 2544"/>
                <p:cNvSpPr>
                  <a:spLocks noChangeArrowheads="1"/>
                </p:cNvSpPr>
                <p:nvPr/>
              </p:nvSpPr>
              <p:spPr bwMode="auto">
                <a:xfrm>
                  <a:off x="1339" y="3772"/>
                  <a:ext cx="78" cy="26"/>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2" name="Oval 2545"/>
                <p:cNvSpPr>
                  <a:spLocks noChangeArrowheads="1"/>
                </p:cNvSpPr>
                <p:nvPr/>
              </p:nvSpPr>
              <p:spPr bwMode="auto">
                <a:xfrm>
                  <a:off x="1432" y="3771"/>
                  <a:ext cx="78"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3" name="Freeform 2546"/>
                <p:cNvSpPr>
                  <a:spLocks/>
                </p:cNvSpPr>
                <p:nvPr/>
              </p:nvSpPr>
              <p:spPr bwMode="auto">
                <a:xfrm>
                  <a:off x="1511" y="3785"/>
                  <a:ext cx="94" cy="8"/>
                </a:xfrm>
                <a:custGeom>
                  <a:avLst/>
                  <a:gdLst>
                    <a:gd name="T0" fmla="*/ 0 w 188"/>
                    <a:gd name="T1" fmla="*/ 0 h 25"/>
                    <a:gd name="T2" fmla="*/ 1 w 188"/>
                    <a:gd name="T3" fmla="*/ 0 h 25"/>
                    <a:gd name="T4" fmla="*/ 1 w 188"/>
                    <a:gd name="T5" fmla="*/ 0 h 25"/>
                    <a:gd name="T6" fmla="*/ 1 w 188"/>
                    <a:gd name="T7" fmla="*/ 0 h 25"/>
                    <a:gd name="T8" fmla="*/ 0 w 188"/>
                    <a:gd name="T9" fmla="*/ 0 h 25"/>
                    <a:gd name="T10" fmla="*/ 0 60000 65536"/>
                    <a:gd name="T11" fmla="*/ 0 60000 65536"/>
                    <a:gd name="T12" fmla="*/ 0 60000 65536"/>
                    <a:gd name="T13" fmla="*/ 0 60000 65536"/>
                    <a:gd name="T14" fmla="*/ 0 60000 65536"/>
                    <a:gd name="T15" fmla="*/ 0 w 188"/>
                    <a:gd name="T16" fmla="*/ 0 h 25"/>
                    <a:gd name="T17" fmla="*/ 188 w 188"/>
                    <a:gd name="T18" fmla="*/ 25 h 25"/>
                  </a:gdLst>
                  <a:ahLst/>
                  <a:cxnLst>
                    <a:cxn ang="T10">
                      <a:pos x="T0" y="T1"/>
                    </a:cxn>
                    <a:cxn ang="T11">
                      <a:pos x="T2" y="T3"/>
                    </a:cxn>
                    <a:cxn ang="T12">
                      <a:pos x="T4" y="T5"/>
                    </a:cxn>
                    <a:cxn ang="T13">
                      <a:pos x="T6" y="T7"/>
                    </a:cxn>
                    <a:cxn ang="T14">
                      <a:pos x="T8" y="T9"/>
                    </a:cxn>
                  </a:cxnLst>
                  <a:rect l="T15" t="T16" r="T17" b="T18"/>
                  <a:pathLst>
                    <a:path w="188" h="25">
                      <a:moveTo>
                        <a:pt x="0" y="25"/>
                      </a:moveTo>
                      <a:lnTo>
                        <a:pt x="6" y="0"/>
                      </a:lnTo>
                      <a:lnTo>
                        <a:pt x="175" y="0"/>
                      </a:lnTo>
                      <a:lnTo>
                        <a:pt x="188" y="19"/>
                      </a:lnTo>
                      <a:lnTo>
                        <a:pt x="0" y="25"/>
                      </a:lnTo>
                      <a:close/>
                    </a:path>
                  </a:pathLst>
                </a:cu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100" dirty="0">
                    <a:latin typeface="微软雅黑 Light" panose="020B0502040204020203" pitchFamily="34" charset="-122"/>
                    <a:ea typeface="微软雅黑 Light" panose="020B0502040204020203" pitchFamily="34" charset="-122"/>
                  </a:endParaRPr>
                </a:p>
              </p:txBody>
            </p:sp>
            <p:sp>
              <p:nvSpPr>
                <p:cNvPr id="2834" name="Oval 2547"/>
                <p:cNvSpPr>
                  <a:spLocks noChangeArrowheads="1"/>
                </p:cNvSpPr>
                <p:nvPr/>
              </p:nvSpPr>
              <p:spPr bwMode="auto">
                <a:xfrm>
                  <a:off x="1338" y="3767"/>
                  <a:ext cx="78" cy="27"/>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sp>
              <p:nvSpPr>
                <p:cNvPr id="2835" name="Oval 2548"/>
                <p:cNvSpPr>
                  <a:spLocks noChangeArrowheads="1"/>
                </p:cNvSpPr>
                <p:nvPr/>
              </p:nvSpPr>
              <p:spPr bwMode="auto">
                <a:xfrm>
                  <a:off x="1431" y="3766"/>
                  <a:ext cx="77" cy="25"/>
                </a:xfrm>
                <a:prstGeom prst="ellipse">
                  <a:avLst/>
                </a:prstGeom>
                <a:solidFill>
                  <a:schemeClr val="bg2"/>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endParaRPr lang="zh-CN" altLang="en-US" sz="1100" dirty="0">
                    <a:latin typeface="微软雅黑 Light" panose="020B0502040204020203" pitchFamily="34" charset="-122"/>
                    <a:ea typeface="微软雅黑 Light" panose="020B0502040204020203" pitchFamily="34" charset="-122"/>
                  </a:endParaRPr>
                </a:p>
              </p:txBody>
            </p:sp>
          </p:grpSp>
        </p:grpSp>
        <p:graphicFrame>
          <p:nvGraphicFramePr>
            <p:cNvPr id="3254" name="Object 58"/>
            <p:cNvGraphicFramePr>
              <a:graphicFrameLocks noChangeAspect="1"/>
            </p:cNvGraphicFramePr>
            <p:nvPr>
              <p:extLst>
                <p:ext uri="{D42A27DB-BD31-4B8C-83A1-F6EECF244321}">
                  <p14:modId xmlns:p14="http://schemas.microsoft.com/office/powerpoint/2010/main" val="918967931"/>
                </p:ext>
              </p:extLst>
            </p:nvPr>
          </p:nvGraphicFramePr>
          <p:xfrm>
            <a:off x="1979613" y="3213100"/>
            <a:ext cx="1390650" cy="1008063"/>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99"/>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979613" y="3213100"/>
                          <a:ext cx="1390650" cy="1008063"/>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5" name="Object 58"/>
            <p:cNvGraphicFramePr>
              <a:graphicFrameLocks noChangeAspect="1"/>
            </p:cNvGraphicFramePr>
            <p:nvPr>
              <p:extLst>
                <p:ext uri="{D42A27DB-BD31-4B8C-83A1-F6EECF244321}">
                  <p14:modId xmlns:p14="http://schemas.microsoft.com/office/powerpoint/2010/main" val="924752059"/>
                </p:ext>
              </p:extLst>
            </p:nvPr>
          </p:nvGraphicFramePr>
          <p:xfrm>
            <a:off x="6227763" y="3500438"/>
            <a:ext cx="1292225" cy="936625"/>
          </p:xfrm>
          <a:graphic>
            <a:graphicData uri="http://schemas.openxmlformats.org/presentationml/2006/ole">
              <mc:AlternateContent xmlns:mc="http://schemas.openxmlformats.org/markup-compatibility/2006">
                <mc:Choice xmlns:v="urn:schemas-microsoft-com:vml" Requires="v">
                  <p:oleObj name="VISIO" r:id="rId7" imgW="1687068" imgH="964692" progId="">
                    <p:embed/>
                  </p:oleObj>
                </mc:Choice>
                <mc:Fallback>
                  <p:oleObj name="VISIO" r:id="rId7" imgW="1687068" imgH="964692" progId="">
                    <p:embed/>
                    <p:pic>
                      <p:nvPicPr>
                        <p:cNvPr id="0" name="Picture 100"/>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27763" y="3500438"/>
                          <a:ext cx="1292225" cy="936625"/>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graphicFrame>
          <p:nvGraphicFramePr>
            <p:cNvPr id="3256" name="Object 58"/>
            <p:cNvGraphicFramePr>
              <a:graphicFrameLocks noChangeAspect="1"/>
            </p:cNvGraphicFramePr>
            <p:nvPr>
              <p:extLst>
                <p:ext uri="{D42A27DB-BD31-4B8C-83A1-F6EECF244321}">
                  <p14:modId xmlns:p14="http://schemas.microsoft.com/office/powerpoint/2010/main" val="2328851165"/>
                </p:ext>
              </p:extLst>
            </p:nvPr>
          </p:nvGraphicFramePr>
          <p:xfrm>
            <a:off x="3132138" y="2636838"/>
            <a:ext cx="658812" cy="477837"/>
          </p:xfrm>
          <a:graphic>
            <a:graphicData uri="http://schemas.openxmlformats.org/presentationml/2006/ole">
              <mc:AlternateContent xmlns:mc="http://schemas.openxmlformats.org/markup-compatibility/2006">
                <mc:Choice xmlns:v="urn:schemas-microsoft-com:vml" Requires="v">
                  <p:oleObj name="VISIO" r:id="rId8" imgW="1687068" imgH="964692" progId="">
                    <p:embed/>
                  </p:oleObj>
                </mc:Choice>
                <mc:Fallback>
                  <p:oleObj name="VISIO" r:id="rId8" imgW="1687068" imgH="964692" progId="">
                    <p:embed/>
                    <p:pic>
                      <p:nvPicPr>
                        <p:cNvPr id="0" name="Picture 101"/>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132138" y="2636838"/>
                          <a:ext cx="658812" cy="477837"/>
                        </a:xfrm>
                        <a:prstGeom prst="rect">
                          <a:avLst/>
                        </a:prstGeom>
                        <a:noFill/>
                        <a:ln>
                          <a:noFill/>
                        </a:ln>
                        <a:effectLst>
                          <a:outerShdw dist="25400" dir="5400000" algn="ctr" rotWithShape="0">
                            <a:schemeClr val="bg2"/>
                          </a:outerShdw>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oleObj>
                </mc:Fallback>
              </mc:AlternateContent>
            </a:graphicData>
          </a:graphic>
        </p:graphicFrame>
        <p:cxnSp>
          <p:nvCxnSpPr>
            <p:cNvPr id="3257" name="直接连接符 8018"/>
            <p:cNvCxnSpPr>
              <a:cxnSpLocks noChangeShapeType="1"/>
              <a:stCxn id="517" idx="6"/>
            </p:cNvCxnSpPr>
            <p:nvPr/>
          </p:nvCxnSpPr>
          <p:spPr bwMode="auto">
            <a:xfrm flipV="1">
              <a:off x="2195513" y="2852738"/>
              <a:ext cx="1008062" cy="107950"/>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cxnSp>
          <p:nvCxnSpPr>
            <p:cNvPr id="3258" name="直接连接符 8020"/>
            <p:cNvCxnSpPr>
              <a:cxnSpLocks noChangeShapeType="1"/>
            </p:cNvCxnSpPr>
            <p:nvPr/>
          </p:nvCxnSpPr>
          <p:spPr bwMode="auto">
            <a:xfrm>
              <a:off x="3708400" y="2924175"/>
              <a:ext cx="647700" cy="288925"/>
            </a:xfrm>
            <a:prstGeom prst="line">
              <a:avLst/>
            </a:prstGeom>
            <a:noFill/>
            <a:ln w="9525" algn="ctr">
              <a:solidFill>
                <a:schemeClr val="tx1"/>
              </a:solidFill>
              <a:round/>
              <a:headEnd/>
              <a:tailEnd/>
            </a:ln>
            <a:extLst>
              <a:ext uri="{909E8E84-426E-40DD-AFC4-6F175D3DCCD1}">
                <a14:hiddenFill xmlns:a14="http://schemas.microsoft.com/office/drawing/2010/main">
                  <a:noFill/>
                </a14:hiddenFill>
              </a:ext>
            </a:extLst>
          </p:spPr>
        </p:cxnSp>
        <p:sp>
          <p:nvSpPr>
            <p:cNvPr id="3259" name="Text Box 1189"/>
            <p:cNvSpPr txBox="1">
              <a:spLocks noChangeArrowheads="1"/>
            </p:cNvSpPr>
            <p:nvPr/>
          </p:nvSpPr>
          <p:spPr bwMode="auto">
            <a:xfrm>
              <a:off x="7729538" y="295276"/>
              <a:ext cx="1009277" cy="4548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覆盖网络</a:t>
              </a:r>
            </a:p>
          </p:txBody>
        </p:sp>
        <p:sp>
          <p:nvSpPr>
            <p:cNvPr id="3260" name="Text Box 1189"/>
            <p:cNvSpPr txBox="1">
              <a:spLocks noChangeArrowheads="1"/>
            </p:cNvSpPr>
            <p:nvPr/>
          </p:nvSpPr>
          <p:spPr bwMode="auto">
            <a:xfrm>
              <a:off x="7775574" y="2597150"/>
              <a:ext cx="963240" cy="75812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dirty="0">
                  <a:latin typeface="微软雅黑 Light" panose="020B0502040204020203" pitchFamily="34" charset="-122"/>
                  <a:ea typeface="微软雅黑 Light" panose="020B0502040204020203" pitchFamily="34" charset="-122"/>
                </a:rPr>
                <a:t>实际网络</a:t>
              </a:r>
            </a:p>
          </p:txBody>
        </p:sp>
        <p:sp>
          <p:nvSpPr>
            <p:cNvPr id="3261" name="Text Box 3475"/>
            <p:cNvSpPr txBox="1">
              <a:spLocks noChangeArrowheads="1"/>
            </p:cNvSpPr>
            <p:nvPr/>
          </p:nvSpPr>
          <p:spPr bwMode="auto">
            <a:xfrm>
              <a:off x="533400" y="4211638"/>
              <a:ext cx="348263"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A</a:t>
              </a:r>
              <a:endParaRPr lang="en-US" altLang="zh-CN" sz="1100" i="1" dirty="0">
                <a:latin typeface="微软雅黑 Light" panose="020B0502040204020203" pitchFamily="34" charset="-122"/>
                <a:ea typeface="微软雅黑 Light" panose="020B0502040204020203" pitchFamily="34" charset="-122"/>
              </a:endParaRPr>
            </a:p>
          </p:txBody>
        </p:sp>
        <p:sp>
          <p:nvSpPr>
            <p:cNvPr id="3262" name="Text Box 3475"/>
            <p:cNvSpPr txBox="1">
              <a:spLocks noChangeArrowheads="1"/>
            </p:cNvSpPr>
            <p:nvPr/>
          </p:nvSpPr>
          <p:spPr bwMode="auto">
            <a:xfrm>
              <a:off x="6804025" y="2781300"/>
              <a:ext cx="346276"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C</a:t>
              </a:r>
              <a:endParaRPr lang="en-US" altLang="zh-CN" sz="1100" i="1" dirty="0">
                <a:latin typeface="微软雅黑 Light" panose="020B0502040204020203" pitchFamily="34" charset="-122"/>
                <a:ea typeface="微软雅黑 Light" panose="020B0502040204020203" pitchFamily="34" charset="-122"/>
              </a:endParaRPr>
            </a:p>
          </p:txBody>
        </p:sp>
        <p:sp>
          <p:nvSpPr>
            <p:cNvPr id="3263" name="Text Box 3475"/>
            <p:cNvSpPr txBox="1">
              <a:spLocks noChangeArrowheads="1"/>
            </p:cNvSpPr>
            <p:nvPr/>
          </p:nvSpPr>
          <p:spPr bwMode="auto">
            <a:xfrm>
              <a:off x="5413374" y="4189413"/>
              <a:ext cx="332361"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B</a:t>
              </a:r>
              <a:endParaRPr lang="en-US" altLang="zh-CN" sz="1100" i="1" dirty="0">
                <a:latin typeface="微软雅黑 Light" panose="020B0502040204020203" pitchFamily="34" charset="-122"/>
                <a:ea typeface="微软雅黑 Light" panose="020B0502040204020203" pitchFamily="34" charset="-122"/>
              </a:endParaRPr>
            </a:p>
          </p:txBody>
        </p:sp>
        <p:sp>
          <p:nvSpPr>
            <p:cNvPr id="3264" name="Text Box 3475"/>
            <p:cNvSpPr txBox="1">
              <a:spLocks noChangeArrowheads="1"/>
            </p:cNvSpPr>
            <p:nvPr/>
          </p:nvSpPr>
          <p:spPr bwMode="auto">
            <a:xfrm>
              <a:off x="2843214" y="4292599"/>
              <a:ext cx="356214" cy="429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en-US" altLang="zh-CN" sz="1100" dirty="0">
                  <a:latin typeface="微软雅黑 Light" panose="020B0502040204020203" pitchFamily="34" charset="-122"/>
                  <a:ea typeface="微软雅黑 Light" panose="020B0502040204020203" pitchFamily="34" charset="-122"/>
                </a:rPr>
                <a:t>D</a:t>
              </a:r>
            </a:p>
          </p:txBody>
        </p:sp>
      </p:grpSp>
      <p:sp>
        <p:nvSpPr>
          <p:cNvPr id="4" name="标题 3">
            <a:extLst>
              <a:ext uri="{FF2B5EF4-FFF2-40B4-BE49-F238E27FC236}">
                <a16:creationId xmlns:a16="http://schemas.microsoft.com/office/drawing/2014/main" id="{556A4BC4-9DD9-1AF2-C9F8-95C8D0AC332E}"/>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0D0EE75A-CE12-2913-6D59-51077FF99ED8}"/>
              </a:ext>
            </a:extLst>
          </p:cNvPr>
          <p:cNvSpPr>
            <a:spLocks noGrp="1"/>
          </p:cNvSpPr>
          <p:nvPr>
            <p:ph sz="quarter" idx="11"/>
          </p:nvPr>
        </p:nvSpPr>
        <p:spPr>
          <a:xfrm>
            <a:off x="486000" y="687518"/>
            <a:ext cx="8172000" cy="4079035"/>
          </a:xfrm>
        </p:spPr>
        <p:txBody>
          <a:bodyPr/>
          <a:lstStyle/>
          <a:p>
            <a:r>
              <a:rPr lang="zh-CN" altLang="en-US" dirty="0"/>
              <a:t>相邻关系是逻辑的，对等方的数目是动态变化的</a:t>
            </a:r>
          </a:p>
          <a:p>
            <a:endParaRPr lang="zh-CN" altLang="en-US" dirty="0"/>
          </a:p>
        </p:txBody>
      </p:sp>
    </p:spTree>
    <p:extLst>
      <p:ext uri="{BB962C8B-B14F-4D97-AF65-F5344CB8AC3E}">
        <p14:creationId xmlns:p14="http://schemas.microsoft.com/office/powerpoint/2010/main" val="2755004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A2B8629C-CFA4-2850-518E-2047B724CAC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5" name="内容占位符 4">
            <a:extLst>
              <a:ext uri="{FF2B5EF4-FFF2-40B4-BE49-F238E27FC236}">
                <a16:creationId xmlns:a16="http://schemas.microsoft.com/office/drawing/2014/main" id="{3637A2F4-702E-24BA-01AD-F9CF4E900F3A}"/>
              </a:ext>
            </a:extLst>
          </p:cNvPr>
          <p:cNvSpPr>
            <a:spLocks noGrp="1"/>
          </p:cNvSpPr>
          <p:nvPr>
            <p:ph sz="quarter" idx="11"/>
          </p:nvPr>
        </p:nvSpPr>
        <p:spPr>
          <a:xfrm>
            <a:off x="486000" y="687518"/>
            <a:ext cx="8172000" cy="4079035"/>
          </a:xfrm>
        </p:spPr>
        <p:txBody>
          <a:bodyPr/>
          <a:lstStyle/>
          <a:p>
            <a:r>
              <a:rPr lang="zh-CN" altLang="en-US"/>
              <a:t>每个对等方拥有的文件快不尽相同</a:t>
            </a:r>
            <a:endParaRPr lang="en-US" altLang="zh-CN"/>
          </a:p>
          <a:p>
            <a:r>
              <a:rPr lang="zh-CN" altLang="en-US"/>
              <a:t>对等方通过</a:t>
            </a:r>
            <a:r>
              <a:rPr lang="en-US" altLang="zh-CN"/>
              <a:t>TCP</a:t>
            </a:r>
            <a:r>
              <a:rPr lang="zh-CN" altLang="en-US"/>
              <a:t>周期性的向对等方索取文件块列表，并据此向对等方请求自己缺失的文件块，最后组装称完整的文件</a:t>
            </a:r>
            <a:endParaRPr lang="en-US" altLang="zh-CN"/>
          </a:p>
          <a:p>
            <a:r>
              <a:rPr lang="zh-CN" altLang="en-US"/>
              <a:t>核心</a:t>
            </a:r>
            <a:endParaRPr lang="en-US" altLang="zh-CN"/>
          </a:p>
          <a:p>
            <a:pPr lvl="1"/>
            <a:r>
              <a:rPr lang="zh-CN" altLang="en-US"/>
              <a:t>请求？</a:t>
            </a:r>
            <a:endParaRPr lang="en-US" altLang="zh-CN"/>
          </a:p>
          <a:p>
            <a:pPr lvl="1"/>
            <a:r>
              <a:rPr lang="zh-CN" altLang="en-US"/>
              <a:t>响应？</a:t>
            </a:r>
            <a:endParaRPr lang="en-US" altLang="zh-CN"/>
          </a:p>
          <a:p>
            <a:pPr lvl="1"/>
            <a:endParaRPr lang="zh-CN" altLang="en-US"/>
          </a:p>
          <a:p>
            <a:endParaRPr lang="zh-CN" altLang="en-US" dirty="0"/>
          </a:p>
        </p:txBody>
      </p:sp>
      <p:sp>
        <p:nvSpPr>
          <p:cNvPr id="64" name="Rectangle 303"/>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5" name="Rectangle 304"/>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6" name="Rectangle 305"/>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305"/>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2" name="Rectangle 260"/>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3" name="Rectangle 261"/>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5" name="Rectangle 263"/>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Rectangle 266"/>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8" name="Rectangle 267"/>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9" name="Rectangle 268"/>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0" name="Rectangle 269"/>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1" name="Rectangle 270"/>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2" name="Rectangle 271"/>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3" name="Rectangle 272"/>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274"/>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76"/>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77"/>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78"/>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80"/>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81"/>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Text Box 284"/>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54" name="Text Box 287"/>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55" name="Text Box 290"/>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57" name="Line 294"/>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Line 295"/>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Line 296"/>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Line 298"/>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Line 300"/>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Line 301"/>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Line 302"/>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81"/>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8"/>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4" name="Rectangle 269"/>
          <p:cNvSpPr>
            <a:spLocks noChangeArrowheads="1"/>
          </p:cNvSpPr>
          <p:nvPr/>
        </p:nvSpPr>
        <p:spPr bwMode="auto">
          <a:xfrm>
            <a:off x="53801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5" name="Rectangle 281"/>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Rectangle 281"/>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7" name="Rectangle 270"/>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9" name="Rectangle 281"/>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 name="Text Box 293">
            <a:extLst>
              <a:ext uri="{FF2B5EF4-FFF2-40B4-BE49-F238E27FC236}">
                <a16:creationId xmlns:a16="http://schemas.microsoft.com/office/drawing/2014/main" id="{15603266-E788-DE6E-ACC4-5E91FA289F97}"/>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15266971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C898A66-2148-D6E1-F7FA-C9441D0F3384}"/>
              </a:ext>
            </a:extLst>
          </p:cNvPr>
          <p:cNvSpPr>
            <a:spLocks noGrp="1"/>
          </p:cNvSpPr>
          <p:nvPr>
            <p:ph type="title"/>
          </p:nvPr>
        </p:nvSpPr>
        <p:spPr>
          <a:xfrm>
            <a:off x="485999" y="174482"/>
            <a:ext cx="8171999" cy="338554"/>
          </a:xfrm>
        </p:spPr>
        <p:txBody>
          <a:bodyPr/>
          <a:lstStyle/>
          <a:p>
            <a:r>
              <a:rPr lang="en-US" altLang="zh-CN" dirty="0"/>
              <a:t>6.9.2 </a:t>
            </a:r>
            <a:r>
              <a:rPr lang="zh-CN" altLang="en-US" dirty="0"/>
              <a:t>全分布式结构 </a:t>
            </a:r>
            <a:r>
              <a:rPr lang="en-US" altLang="zh-CN" dirty="0"/>
              <a:t>– </a:t>
            </a:r>
            <a:r>
              <a:rPr lang="zh-CN" altLang="en-US" dirty="0"/>
              <a:t> </a:t>
            </a:r>
            <a:r>
              <a:rPr lang="en-US" altLang="zh-CN" dirty="0"/>
              <a:t>BT</a:t>
            </a:r>
            <a:endParaRPr lang="zh-CN" altLang="en-US" dirty="0"/>
          </a:p>
        </p:txBody>
      </p:sp>
      <p:sp>
        <p:nvSpPr>
          <p:cNvPr id="3" name="内容占位符 2">
            <a:extLst>
              <a:ext uri="{FF2B5EF4-FFF2-40B4-BE49-F238E27FC236}">
                <a16:creationId xmlns:a16="http://schemas.microsoft.com/office/drawing/2014/main" id="{61A63A1C-FDB3-79D9-D895-55493289035D}"/>
              </a:ext>
            </a:extLst>
          </p:cNvPr>
          <p:cNvSpPr>
            <a:spLocks noGrp="1"/>
          </p:cNvSpPr>
          <p:nvPr>
            <p:ph sz="quarter" idx="11"/>
          </p:nvPr>
        </p:nvSpPr>
        <p:spPr>
          <a:xfrm>
            <a:off x="486000" y="687518"/>
            <a:ext cx="8172000" cy="4079035"/>
          </a:xfrm>
        </p:spPr>
        <p:txBody>
          <a:bodyPr/>
          <a:lstStyle/>
          <a:p>
            <a:r>
              <a:rPr lang="zh-CN" altLang="en-US" dirty="0"/>
              <a:t>请求</a:t>
            </a:r>
            <a:endParaRPr lang="en-US" altLang="zh-CN" dirty="0"/>
          </a:p>
          <a:p>
            <a:pPr lvl="1"/>
            <a:r>
              <a:rPr lang="zh-CN" altLang="en-US" dirty="0"/>
              <a:t>最稀有优先</a:t>
            </a:r>
            <a:r>
              <a:rPr lang="en-US" altLang="zh-CN" dirty="0"/>
              <a:t> rarest first</a:t>
            </a:r>
            <a:r>
              <a:rPr lang="zh-CN" altLang="en-US" dirty="0"/>
              <a:t>：优先请求副本少的文件快</a:t>
            </a:r>
            <a:endParaRPr lang="en-US" altLang="zh-CN" dirty="0"/>
          </a:p>
          <a:p>
            <a:pPr lvl="1"/>
            <a:r>
              <a:rPr lang="en-US" altLang="zh-CN" dirty="0"/>
              <a:t>A</a:t>
            </a:r>
            <a:r>
              <a:rPr lang="zh-CN" altLang="en-US" dirty="0"/>
              <a:t>向</a:t>
            </a:r>
            <a:r>
              <a:rPr lang="en-US" altLang="zh-CN" dirty="0"/>
              <a:t>C</a:t>
            </a:r>
            <a:r>
              <a:rPr lang="zh-CN" altLang="en-US" dirty="0"/>
              <a:t>请求稀有文件块</a:t>
            </a:r>
            <a:r>
              <a:rPr lang="en-US" altLang="zh-CN" dirty="0"/>
              <a:t>2</a:t>
            </a:r>
          </a:p>
          <a:p>
            <a:r>
              <a:rPr lang="zh-CN" altLang="en-US" dirty="0"/>
              <a:t>响应</a:t>
            </a:r>
            <a:endParaRPr lang="en-US" altLang="zh-CN" dirty="0"/>
          </a:p>
          <a:p>
            <a:pPr lvl="1"/>
            <a:r>
              <a:rPr lang="zh-CN" altLang="en-US" dirty="0"/>
              <a:t>最高速率优先：凡当前以最高数据率向 </a:t>
            </a:r>
            <a:r>
              <a:rPr lang="en-US" altLang="zh-CN" dirty="0"/>
              <a:t>A </a:t>
            </a:r>
            <a:r>
              <a:rPr lang="zh-CN" altLang="en-US" dirty="0"/>
              <a:t>传送文件块的某相邻对等方，</a:t>
            </a:r>
            <a:r>
              <a:rPr lang="en-US" altLang="zh-CN" dirty="0"/>
              <a:t>A </a:t>
            </a:r>
            <a:r>
              <a:rPr lang="zh-CN" altLang="en-US" dirty="0"/>
              <a:t>就优先把所请求的文件块传送给它</a:t>
            </a:r>
          </a:p>
        </p:txBody>
      </p:sp>
      <p:sp>
        <p:nvSpPr>
          <p:cNvPr id="43" name="Rectangle 303">
            <a:extLst>
              <a:ext uri="{FF2B5EF4-FFF2-40B4-BE49-F238E27FC236}">
                <a16:creationId xmlns:a16="http://schemas.microsoft.com/office/drawing/2014/main" id="{AB04FE15-A2C9-F3F3-FA0B-B535054BF142}"/>
              </a:ext>
            </a:extLst>
          </p:cNvPr>
          <p:cNvSpPr>
            <a:spLocks noChangeArrowheads="1"/>
          </p:cNvSpPr>
          <p:nvPr/>
        </p:nvSpPr>
        <p:spPr bwMode="auto">
          <a:xfrm>
            <a:off x="2187660" y="3170631"/>
            <a:ext cx="1905000" cy="348480"/>
          </a:xfrm>
          <a:prstGeom prst="rect">
            <a:avLst/>
          </a:prstGeom>
          <a:solidFill>
            <a:schemeClr val="bg1"/>
          </a:solidFill>
          <a:ln w="19050">
            <a:solidFill>
              <a:schemeClr val="tx1"/>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Rectangle 304">
            <a:extLst>
              <a:ext uri="{FF2B5EF4-FFF2-40B4-BE49-F238E27FC236}">
                <a16:creationId xmlns:a16="http://schemas.microsoft.com/office/drawing/2014/main" id="{61CBD03C-17E3-D23E-2E43-4FA005778F52}"/>
              </a:ext>
            </a:extLst>
          </p:cNvPr>
          <p:cNvSpPr>
            <a:spLocks noChangeArrowheads="1"/>
          </p:cNvSpPr>
          <p:nvPr/>
        </p:nvSpPr>
        <p:spPr bwMode="auto">
          <a:xfrm>
            <a:off x="5003878" y="3170631"/>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5" name="Rectangle 305">
            <a:extLst>
              <a:ext uri="{FF2B5EF4-FFF2-40B4-BE49-F238E27FC236}">
                <a16:creationId xmlns:a16="http://schemas.microsoft.com/office/drawing/2014/main" id="{58D3639B-59FD-725A-7FA8-F4DC4AB8C214}"/>
              </a:ext>
            </a:extLst>
          </p:cNvPr>
          <p:cNvSpPr>
            <a:spLocks noChangeArrowheads="1"/>
          </p:cNvSpPr>
          <p:nvPr/>
        </p:nvSpPr>
        <p:spPr bwMode="auto">
          <a:xfrm>
            <a:off x="3597275" y="420124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6" name="Rectangle 305">
            <a:extLst>
              <a:ext uri="{FF2B5EF4-FFF2-40B4-BE49-F238E27FC236}">
                <a16:creationId xmlns:a16="http://schemas.microsoft.com/office/drawing/2014/main" id="{2F8E2247-695B-7FB0-C388-664EFF0A01F7}"/>
              </a:ext>
            </a:extLst>
          </p:cNvPr>
          <p:cNvSpPr>
            <a:spLocks noChangeArrowheads="1"/>
          </p:cNvSpPr>
          <p:nvPr/>
        </p:nvSpPr>
        <p:spPr bwMode="auto">
          <a:xfrm>
            <a:off x="3651250" y="2293613"/>
            <a:ext cx="1905000" cy="348480"/>
          </a:xfrm>
          <a:prstGeom prst="rect">
            <a:avLst/>
          </a:prstGeom>
          <a:solidFill>
            <a:schemeClr val="bg1"/>
          </a:solidFill>
          <a:ln w="19050">
            <a:solidFill>
              <a:srgbClr val="000000"/>
            </a:solidFill>
            <a:miter lim="800000"/>
            <a:headEnd/>
            <a:tailEnd/>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7" name="Rectangle 260">
            <a:extLst>
              <a:ext uri="{FF2B5EF4-FFF2-40B4-BE49-F238E27FC236}">
                <a16:creationId xmlns:a16="http://schemas.microsoft.com/office/drawing/2014/main" id="{8A279E91-745B-5CC1-CDD5-AF213E81E67D}"/>
              </a:ext>
            </a:extLst>
          </p:cNvPr>
          <p:cNvSpPr>
            <a:spLocks noChangeArrowheads="1"/>
          </p:cNvSpPr>
          <p:nvPr/>
        </p:nvSpPr>
        <p:spPr bwMode="auto">
          <a:xfrm>
            <a:off x="23400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8" name="Rectangle 261">
            <a:extLst>
              <a:ext uri="{FF2B5EF4-FFF2-40B4-BE49-F238E27FC236}">
                <a16:creationId xmlns:a16="http://schemas.microsoft.com/office/drawing/2014/main" id="{31FE5320-63AA-B086-A686-F79604741F4E}"/>
              </a:ext>
            </a:extLst>
          </p:cNvPr>
          <p:cNvSpPr>
            <a:spLocks noChangeArrowheads="1"/>
          </p:cNvSpPr>
          <p:nvPr/>
        </p:nvSpPr>
        <p:spPr bwMode="auto">
          <a:xfrm>
            <a:off x="2644860"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9" name="Rectangle 263">
            <a:extLst>
              <a:ext uri="{FF2B5EF4-FFF2-40B4-BE49-F238E27FC236}">
                <a16:creationId xmlns:a16="http://schemas.microsoft.com/office/drawing/2014/main" id="{CBCE224A-1B12-527B-7405-E8729ED9BE35}"/>
              </a:ext>
            </a:extLst>
          </p:cNvPr>
          <p:cNvSpPr>
            <a:spLocks noChangeArrowheads="1"/>
          </p:cNvSpPr>
          <p:nvPr/>
        </p:nvSpPr>
        <p:spPr bwMode="auto">
          <a:xfrm>
            <a:off x="2901535" y="3189101"/>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0" name="Rectangle 266">
            <a:extLst>
              <a:ext uri="{FF2B5EF4-FFF2-40B4-BE49-F238E27FC236}">
                <a16:creationId xmlns:a16="http://schemas.microsoft.com/office/drawing/2014/main" id="{1250FD5E-113A-8E91-D83E-6A92254CCE26}"/>
              </a:ext>
            </a:extLst>
          </p:cNvPr>
          <p:cNvSpPr>
            <a:spLocks noChangeArrowheads="1"/>
          </p:cNvSpPr>
          <p:nvPr/>
        </p:nvSpPr>
        <p:spPr bwMode="auto">
          <a:xfrm>
            <a:off x="340686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6</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1" name="Rectangle 267">
            <a:extLst>
              <a:ext uri="{FF2B5EF4-FFF2-40B4-BE49-F238E27FC236}">
                <a16:creationId xmlns:a16="http://schemas.microsoft.com/office/drawing/2014/main" id="{116C6D84-1E16-29EB-B624-FBDD89224BBD}"/>
              </a:ext>
            </a:extLst>
          </p:cNvPr>
          <p:cNvSpPr>
            <a:spLocks noChangeArrowheads="1"/>
          </p:cNvSpPr>
          <p:nvPr/>
        </p:nvSpPr>
        <p:spPr bwMode="auto">
          <a:xfrm>
            <a:off x="380373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2" name="Rectangle 268">
            <a:extLst>
              <a:ext uri="{FF2B5EF4-FFF2-40B4-BE49-F238E27FC236}">
                <a16:creationId xmlns:a16="http://schemas.microsoft.com/office/drawing/2014/main" id="{4B9A34E4-756A-5508-2556-17A202EE704F}"/>
              </a:ext>
            </a:extLst>
          </p:cNvPr>
          <p:cNvSpPr>
            <a:spLocks noChangeArrowheads="1"/>
          </p:cNvSpPr>
          <p:nvPr/>
        </p:nvSpPr>
        <p:spPr bwMode="auto">
          <a:xfrm>
            <a:off x="504832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3" name="Rectangle 269">
            <a:extLst>
              <a:ext uri="{FF2B5EF4-FFF2-40B4-BE49-F238E27FC236}">
                <a16:creationId xmlns:a16="http://schemas.microsoft.com/office/drawing/2014/main" id="{505C0315-090E-6F54-D5E2-808359A4AF5B}"/>
              </a:ext>
            </a:extLst>
          </p:cNvPr>
          <p:cNvSpPr>
            <a:spLocks noChangeArrowheads="1"/>
          </p:cNvSpPr>
          <p:nvPr/>
        </p:nvSpPr>
        <p:spPr bwMode="auto">
          <a:xfrm>
            <a:off x="5227715"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1</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4" name="Rectangle 270">
            <a:extLst>
              <a:ext uri="{FF2B5EF4-FFF2-40B4-BE49-F238E27FC236}">
                <a16:creationId xmlns:a16="http://schemas.microsoft.com/office/drawing/2014/main" id="{93E6C0FE-BA8F-36A0-1822-DD4124B5B444}"/>
              </a:ext>
            </a:extLst>
          </p:cNvPr>
          <p:cNvSpPr>
            <a:spLocks noChangeArrowheads="1"/>
          </p:cNvSpPr>
          <p:nvPr/>
        </p:nvSpPr>
        <p:spPr bwMode="auto">
          <a:xfrm>
            <a:off x="57658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4</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5" name="Rectangle 271">
            <a:extLst>
              <a:ext uri="{FF2B5EF4-FFF2-40B4-BE49-F238E27FC236}">
                <a16:creationId xmlns:a16="http://schemas.microsoft.com/office/drawing/2014/main" id="{1FBC60A8-7B5B-5E43-3121-920A6BD8E155}"/>
              </a:ext>
            </a:extLst>
          </p:cNvPr>
          <p:cNvSpPr>
            <a:spLocks noChangeArrowheads="1"/>
          </p:cNvSpPr>
          <p:nvPr/>
        </p:nvSpPr>
        <p:spPr bwMode="auto">
          <a:xfrm>
            <a:off x="62087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6" name="Rectangle 272">
            <a:extLst>
              <a:ext uri="{FF2B5EF4-FFF2-40B4-BE49-F238E27FC236}">
                <a16:creationId xmlns:a16="http://schemas.microsoft.com/office/drawing/2014/main" id="{CAEB2215-7A6F-CADC-9A7A-674CDCE2C059}"/>
              </a:ext>
            </a:extLst>
          </p:cNvPr>
          <p:cNvSpPr>
            <a:spLocks noChangeArrowheads="1"/>
          </p:cNvSpPr>
          <p:nvPr/>
        </p:nvSpPr>
        <p:spPr bwMode="auto">
          <a:xfrm>
            <a:off x="6475490"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7" name="Rectangle 274">
            <a:extLst>
              <a:ext uri="{FF2B5EF4-FFF2-40B4-BE49-F238E27FC236}">
                <a16:creationId xmlns:a16="http://schemas.microsoft.com/office/drawing/2014/main" id="{4A2B58EE-8B7A-86DE-D3F2-45A0979B4157}"/>
              </a:ext>
            </a:extLst>
          </p:cNvPr>
          <p:cNvSpPr>
            <a:spLocks noChangeArrowheads="1"/>
          </p:cNvSpPr>
          <p:nvPr/>
        </p:nvSpPr>
        <p:spPr bwMode="auto">
          <a:xfrm>
            <a:off x="67310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8" name="Rectangle 276">
            <a:extLst>
              <a:ext uri="{FF2B5EF4-FFF2-40B4-BE49-F238E27FC236}">
                <a16:creationId xmlns:a16="http://schemas.microsoft.com/office/drawing/2014/main" id="{6DC05042-B1CA-0D52-90A3-7C2634BFB49F}"/>
              </a:ext>
            </a:extLst>
          </p:cNvPr>
          <p:cNvSpPr>
            <a:spLocks noChangeArrowheads="1"/>
          </p:cNvSpPr>
          <p:nvPr/>
        </p:nvSpPr>
        <p:spPr bwMode="auto">
          <a:xfrm>
            <a:off x="4064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59" name="Rectangle 277">
            <a:extLst>
              <a:ext uri="{FF2B5EF4-FFF2-40B4-BE49-F238E27FC236}">
                <a16:creationId xmlns:a16="http://schemas.microsoft.com/office/drawing/2014/main" id="{26D36F6D-80A9-2853-4338-62E124250687}"/>
              </a:ext>
            </a:extLst>
          </p:cNvPr>
          <p:cNvSpPr>
            <a:spLocks noChangeArrowheads="1"/>
          </p:cNvSpPr>
          <p:nvPr/>
        </p:nvSpPr>
        <p:spPr bwMode="auto">
          <a:xfrm>
            <a:off x="435927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0" name="Rectangle 278">
            <a:extLst>
              <a:ext uri="{FF2B5EF4-FFF2-40B4-BE49-F238E27FC236}">
                <a16:creationId xmlns:a16="http://schemas.microsoft.com/office/drawing/2014/main" id="{F8E612DD-A168-1B91-0373-D0B43594A16B}"/>
              </a:ext>
            </a:extLst>
          </p:cNvPr>
          <p:cNvSpPr>
            <a:spLocks noChangeArrowheads="1"/>
          </p:cNvSpPr>
          <p:nvPr/>
        </p:nvSpPr>
        <p:spPr bwMode="auto">
          <a:xfrm>
            <a:off x="36417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1" name="Rectangle 280">
            <a:extLst>
              <a:ext uri="{FF2B5EF4-FFF2-40B4-BE49-F238E27FC236}">
                <a16:creationId xmlns:a16="http://schemas.microsoft.com/office/drawing/2014/main" id="{736C56C1-0BF7-794B-E24B-81913E11FDEF}"/>
              </a:ext>
            </a:extLst>
          </p:cNvPr>
          <p:cNvSpPr>
            <a:spLocks noChangeArrowheads="1"/>
          </p:cNvSpPr>
          <p:nvPr/>
        </p:nvSpPr>
        <p:spPr bwMode="auto">
          <a:xfrm>
            <a:off x="499900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2" name="Rectangle 281">
            <a:extLst>
              <a:ext uri="{FF2B5EF4-FFF2-40B4-BE49-F238E27FC236}">
                <a16:creationId xmlns:a16="http://schemas.microsoft.com/office/drawing/2014/main" id="{F7535D28-0902-11B6-0A0F-FDF86AF7B132}"/>
              </a:ext>
            </a:extLst>
          </p:cNvPr>
          <p:cNvSpPr>
            <a:spLocks noChangeArrowheads="1"/>
          </p:cNvSpPr>
          <p:nvPr/>
        </p:nvSpPr>
        <p:spPr bwMode="auto">
          <a:xfrm>
            <a:off x="5165225"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3" name="Text Box 284">
            <a:extLst>
              <a:ext uri="{FF2B5EF4-FFF2-40B4-BE49-F238E27FC236}">
                <a16:creationId xmlns:a16="http://schemas.microsoft.com/office/drawing/2014/main" id="{3C96A873-7772-E9E6-B501-6B0D0231AD0A}"/>
              </a:ext>
            </a:extLst>
          </p:cNvPr>
          <p:cNvSpPr txBox="1">
            <a:spLocks noChangeArrowheads="1"/>
          </p:cNvSpPr>
          <p:nvPr/>
        </p:nvSpPr>
        <p:spPr bwMode="auto">
          <a:xfrm>
            <a:off x="1197060" y="3200213"/>
            <a:ext cx="80823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A</a:t>
            </a:r>
          </a:p>
        </p:txBody>
      </p:sp>
      <p:sp>
        <p:nvSpPr>
          <p:cNvPr id="64" name="Text Box 287">
            <a:extLst>
              <a:ext uri="{FF2B5EF4-FFF2-40B4-BE49-F238E27FC236}">
                <a16:creationId xmlns:a16="http://schemas.microsoft.com/office/drawing/2014/main" id="{18F4C919-9372-B5A2-E19C-CD3D222EA4BE}"/>
              </a:ext>
            </a:extLst>
          </p:cNvPr>
          <p:cNvSpPr txBox="1">
            <a:spLocks noChangeArrowheads="1"/>
          </p:cNvSpPr>
          <p:nvPr/>
        </p:nvSpPr>
        <p:spPr bwMode="auto">
          <a:xfrm>
            <a:off x="6919990" y="3168463"/>
            <a:ext cx="79701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C</a:t>
            </a:r>
          </a:p>
        </p:txBody>
      </p:sp>
      <p:sp>
        <p:nvSpPr>
          <p:cNvPr id="65" name="Text Box 290">
            <a:extLst>
              <a:ext uri="{FF2B5EF4-FFF2-40B4-BE49-F238E27FC236}">
                <a16:creationId xmlns:a16="http://schemas.microsoft.com/office/drawing/2014/main" id="{7697C110-48D2-FC86-A6B0-9115DD69E15E}"/>
              </a:ext>
            </a:extLst>
          </p:cNvPr>
          <p:cNvSpPr txBox="1">
            <a:spLocks noChangeArrowheads="1"/>
          </p:cNvSpPr>
          <p:nvPr/>
        </p:nvSpPr>
        <p:spPr bwMode="auto">
          <a:xfrm>
            <a:off x="2584450" y="4293283"/>
            <a:ext cx="814647"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itchFamily="34" charset="0"/>
                <a:ea typeface="宋体" pitchFamily="2" charset="-122"/>
              </a:defRPr>
            </a:lvl1pPr>
            <a:lvl2pPr marL="742950" indent="-285750" eaLnBrk="0" hangingPunct="0">
              <a:defRPr>
                <a:solidFill>
                  <a:schemeClr val="tx1"/>
                </a:solidFill>
                <a:latin typeface="Arial" pitchFamily="34" charset="0"/>
                <a:ea typeface="宋体" pitchFamily="2" charset="-122"/>
              </a:defRPr>
            </a:lvl2pPr>
            <a:lvl3pPr marL="1143000" indent="-228600" eaLnBrk="0" hangingPunct="0">
              <a:defRPr>
                <a:solidFill>
                  <a:schemeClr val="tx1"/>
                </a:solidFill>
                <a:latin typeface="Arial" pitchFamily="34" charset="0"/>
                <a:ea typeface="宋体" pitchFamily="2" charset="-122"/>
              </a:defRPr>
            </a:lvl3pPr>
            <a:lvl4pPr marL="1600200" indent="-228600" eaLnBrk="0" hangingPunct="0">
              <a:defRPr>
                <a:solidFill>
                  <a:schemeClr val="tx1"/>
                </a:solidFill>
                <a:latin typeface="Arial" pitchFamily="34" charset="0"/>
                <a:ea typeface="宋体" pitchFamily="2" charset="-122"/>
              </a:defRPr>
            </a:lvl4pPr>
            <a:lvl5pPr marL="2057400" indent="-228600" eaLnBrk="0" hangingPunct="0">
              <a:defRPr>
                <a:solidFill>
                  <a:schemeClr val="tx1"/>
                </a:solidFill>
                <a:latin typeface="Arial" pitchFamily="34" charset="0"/>
                <a:ea typeface="宋体" pitchFamily="2" charset="-122"/>
              </a:defRPr>
            </a:lvl5pPr>
            <a:lvl6pPr marL="2514600" indent="-228600" eaLnBrk="0" fontAlgn="base" hangingPunct="0">
              <a:spcBef>
                <a:spcPct val="0"/>
              </a:spcBef>
              <a:spcAft>
                <a:spcPct val="0"/>
              </a:spcAft>
              <a:defRPr>
                <a:solidFill>
                  <a:schemeClr val="tx1"/>
                </a:solidFill>
                <a:latin typeface="Arial" pitchFamily="34" charset="0"/>
                <a:ea typeface="宋体" pitchFamily="2" charset="-122"/>
              </a:defRPr>
            </a:lvl6pPr>
            <a:lvl7pPr marL="2971800" indent="-228600" eaLnBrk="0" fontAlgn="base" hangingPunct="0">
              <a:spcBef>
                <a:spcPct val="0"/>
              </a:spcBef>
              <a:spcAft>
                <a:spcPct val="0"/>
              </a:spcAft>
              <a:defRPr>
                <a:solidFill>
                  <a:schemeClr val="tx1"/>
                </a:solidFill>
                <a:latin typeface="Arial" pitchFamily="34" charset="0"/>
                <a:ea typeface="宋体" pitchFamily="2" charset="-122"/>
              </a:defRPr>
            </a:lvl7pPr>
            <a:lvl8pPr marL="3429000" indent="-228600" eaLnBrk="0" fontAlgn="base" hangingPunct="0">
              <a:spcBef>
                <a:spcPct val="0"/>
              </a:spcBef>
              <a:spcAft>
                <a:spcPct val="0"/>
              </a:spcAft>
              <a:defRPr>
                <a:solidFill>
                  <a:schemeClr val="tx1"/>
                </a:solidFill>
                <a:latin typeface="Arial" pitchFamily="34" charset="0"/>
                <a:ea typeface="宋体" pitchFamily="2" charset="-122"/>
              </a:defRPr>
            </a:lvl8pPr>
            <a:lvl9pPr marL="3886200" indent="-228600" eaLnBrk="0" fontAlgn="base" hangingPunct="0">
              <a:spcBef>
                <a:spcPct val="0"/>
              </a:spcBef>
              <a:spcAft>
                <a:spcPct val="0"/>
              </a:spcAft>
              <a:defRPr>
                <a:solidFill>
                  <a:schemeClr val="tx1"/>
                </a:solidFill>
                <a:latin typeface="Arial" pitchFamily="34"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对等方 </a:t>
            </a:r>
            <a:r>
              <a:rPr lang="en-US" altLang="zh-CN" sz="1200" dirty="0">
                <a:latin typeface="Montserrat" panose="00000500000000000000" pitchFamily="2" charset="0"/>
                <a:ea typeface="微软雅黑 Light" panose="020B0502040204020203" pitchFamily="34" charset="-122"/>
              </a:rPr>
              <a:t>D</a:t>
            </a:r>
          </a:p>
        </p:txBody>
      </p:sp>
      <p:sp>
        <p:nvSpPr>
          <p:cNvPr id="67" name="Line 294">
            <a:extLst>
              <a:ext uri="{FF2B5EF4-FFF2-40B4-BE49-F238E27FC236}">
                <a16:creationId xmlns:a16="http://schemas.microsoft.com/office/drawing/2014/main" id="{FAD95091-C0A4-4016-1F95-81A2C2F95429}"/>
              </a:ext>
            </a:extLst>
          </p:cNvPr>
          <p:cNvSpPr>
            <a:spLocks noChangeShapeType="1"/>
          </p:cNvSpPr>
          <p:nvPr/>
        </p:nvSpPr>
        <p:spPr bwMode="auto">
          <a:xfrm>
            <a:off x="4565650" y="2642093"/>
            <a:ext cx="0" cy="157499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8" name="Line 295">
            <a:extLst>
              <a:ext uri="{FF2B5EF4-FFF2-40B4-BE49-F238E27FC236}">
                <a16:creationId xmlns:a16="http://schemas.microsoft.com/office/drawing/2014/main" id="{1231D6BE-237B-07DF-F6FD-FD78C179428B}"/>
              </a:ext>
            </a:extLst>
          </p:cNvPr>
          <p:cNvSpPr>
            <a:spLocks noChangeShapeType="1"/>
          </p:cNvSpPr>
          <p:nvPr/>
        </p:nvSpPr>
        <p:spPr bwMode="auto">
          <a:xfrm flipH="1">
            <a:off x="3263984" y="2659071"/>
            <a:ext cx="647615"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69" name="Line 296">
            <a:extLst>
              <a:ext uri="{FF2B5EF4-FFF2-40B4-BE49-F238E27FC236}">
                <a16:creationId xmlns:a16="http://schemas.microsoft.com/office/drawing/2014/main" id="{2869C29C-E1C1-B0DB-98B4-96296848C16E}"/>
              </a:ext>
            </a:extLst>
          </p:cNvPr>
          <p:cNvSpPr>
            <a:spLocks noChangeShapeType="1"/>
          </p:cNvSpPr>
          <p:nvPr/>
        </p:nvSpPr>
        <p:spPr bwMode="auto">
          <a:xfrm>
            <a:off x="5327650" y="2659071"/>
            <a:ext cx="685800" cy="50939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0" name="Line 298">
            <a:extLst>
              <a:ext uri="{FF2B5EF4-FFF2-40B4-BE49-F238E27FC236}">
                <a16:creationId xmlns:a16="http://schemas.microsoft.com/office/drawing/2014/main" id="{D57713DE-CE04-D4F1-DFE1-5C1A88FD69E6}"/>
              </a:ext>
            </a:extLst>
          </p:cNvPr>
          <p:cNvSpPr>
            <a:spLocks noChangeShapeType="1"/>
          </p:cNvSpPr>
          <p:nvPr/>
        </p:nvSpPr>
        <p:spPr bwMode="auto">
          <a:xfrm flipH="1">
            <a:off x="4087869" y="3357668"/>
            <a:ext cx="930353" cy="0"/>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1" name="Line 300">
            <a:extLst>
              <a:ext uri="{FF2B5EF4-FFF2-40B4-BE49-F238E27FC236}">
                <a16:creationId xmlns:a16="http://schemas.microsoft.com/office/drawing/2014/main" id="{A0747F82-1911-3F3F-41A8-816493027C55}"/>
              </a:ext>
            </a:extLst>
          </p:cNvPr>
          <p:cNvSpPr>
            <a:spLocks noChangeShapeType="1"/>
          </p:cNvSpPr>
          <p:nvPr/>
        </p:nvSpPr>
        <p:spPr bwMode="auto">
          <a:xfrm flipH="1" flipV="1">
            <a:off x="3263983" y="3519111"/>
            <a:ext cx="592741" cy="70060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2" name="Line 301">
            <a:extLst>
              <a:ext uri="{FF2B5EF4-FFF2-40B4-BE49-F238E27FC236}">
                <a16:creationId xmlns:a16="http://schemas.microsoft.com/office/drawing/2014/main" id="{B5311DB6-8F20-20DA-4A2A-CAE85048BA5E}"/>
              </a:ext>
            </a:extLst>
          </p:cNvPr>
          <p:cNvSpPr>
            <a:spLocks noChangeShapeType="1"/>
          </p:cNvSpPr>
          <p:nvPr/>
        </p:nvSpPr>
        <p:spPr bwMode="auto">
          <a:xfrm flipV="1">
            <a:off x="5099050" y="3519111"/>
            <a:ext cx="571500" cy="69797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3" name="Line 302">
            <a:extLst>
              <a:ext uri="{FF2B5EF4-FFF2-40B4-BE49-F238E27FC236}">
                <a16:creationId xmlns:a16="http://schemas.microsoft.com/office/drawing/2014/main" id="{B1C0CFAE-CA4E-0DC6-B757-964D511291CF}"/>
              </a:ext>
            </a:extLst>
          </p:cNvPr>
          <p:cNvSpPr>
            <a:spLocks noChangeShapeType="1"/>
          </p:cNvSpPr>
          <p:nvPr/>
        </p:nvSpPr>
        <p:spPr bwMode="auto">
          <a:xfrm flipH="1">
            <a:off x="5335665" y="3519111"/>
            <a:ext cx="582613" cy="682132"/>
          </a:xfrm>
          <a:prstGeom prst="line">
            <a:avLst/>
          </a:prstGeom>
          <a:noFill/>
          <a:ln w="9525">
            <a:solidFill>
              <a:srgbClr val="CC00CC"/>
            </a:solidFill>
            <a:round/>
            <a:headEnd/>
            <a:tailEnd type="triangle" w="med" len="lg"/>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6" name="Rectangle 278">
            <a:extLst>
              <a:ext uri="{FF2B5EF4-FFF2-40B4-BE49-F238E27FC236}">
                <a16:creationId xmlns:a16="http://schemas.microsoft.com/office/drawing/2014/main" id="{C7768B5F-C28A-8B87-0D5B-B82A1398C3F6}"/>
              </a:ext>
            </a:extLst>
          </p:cNvPr>
          <p:cNvSpPr>
            <a:spLocks noChangeArrowheads="1"/>
          </p:cNvSpPr>
          <p:nvPr/>
        </p:nvSpPr>
        <p:spPr bwMode="auto">
          <a:xfrm>
            <a:off x="36957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0</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7" name="Rectangle 281">
            <a:extLst>
              <a:ext uri="{FF2B5EF4-FFF2-40B4-BE49-F238E27FC236}">
                <a16:creationId xmlns:a16="http://schemas.microsoft.com/office/drawing/2014/main" id="{DEF6C1F1-E03E-6CEA-E384-1423442E480E}"/>
              </a:ext>
            </a:extLst>
          </p:cNvPr>
          <p:cNvSpPr>
            <a:spLocks noChangeArrowheads="1"/>
          </p:cNvSpPr>
          <p:nvPr/>
        </p:nvSpPr>
        <p:spPr bwMode="auto">
          <a:xfrm>
            <a:off x="52673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8</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8" name="Rectangle 278">
            <a:extLst>
              <a:ext uri="{FF2B5EF4-FFF2-40B4-BE49-F238E27FC236}">
                <a16:creationId xmlns:a16="http://schemas.microsoft.com/office/drawing/2014/main" id="{E6D4B0FF-F61F-42C6-0015-C0FA6944CE98}"/>
              </a:ext>
            </a:extLst>
          </p:cNvPr>
          <p:cNvSpPr>
            <a:spLocks noChangeArrowheads="1"/>
          </p:cNvSpPr>
          <p:nvPr/>
        </p:nvSpPr>
        <p:spPr bwMode="auto">
          <a:xfrm>
            <a:off x="4229100" y="2312083"/>
            <a:ext cx="10800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3</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79" name="Rectangle 269">
            <a:extLst>
              <a:ext uri="{FF2B5EF4-FFF2-40B4-BE49-F238E27FC236}">
                <a16:creationId xmlns:a16="http://schemas.microsoft.com/office/drawing/2014/main" id="{24E4BD34-0F17-1E87-85F2-5334B48FF136}"/>
              </a:ext>
            </a:extLst>
          </p:cNvPr>
          <p:cNvSpPr>
            <a:spLocks noChangeArrowheads="1"/>
          </p:cNvSpPr>
          <p:nvPr/>
        </p:nvSpPr>
        <p:spPr bwMode="auto">
          <a:xfrm>
            <a:off x="5380115" y="3189101"/>
            <a:ext cx="107950" cy="304800"/>
          </a:xfrm>
          <a:prstGeom prst="rect">
            <a:avLst/>
          </a:prstGeom>
          <a:solidFill>
            <a:srgbClr val="FF000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2</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0" name="Rectangle 281">
            <a:extLst>
              <a:ext uri="{FF2B5EF4-FFF2-40B4-BE49-F238E27FC236}">
                <a16:creationId xmlns:a16="http://schemas.microsoft.com/office/drawing/2014/main" id="{DA87C271-E76A-2F9A-EF60-25AA1F3788B4}"/>
              </a:ext>
            </a:extLst>
          </p:cNvPr>
          <p:cNvSpPr>
            <a:spLocks noChangeArrowheads="1"/>
          </p:cNvSpPr>
          <p:nvPr/>
        </p:nvSpPr>
        <p:spPr bwMode="auto">
          <a:xfrm>
            <a:off x="5099050"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7</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1" name="Rectangle 281">
            <a:extLst>
              <a:ext uri="{FF2B5EF4-FFF2-40B4-BE49-F238E27FC236}">
                <a16:creationId xmlns:a16="http://schemas.microsoft.com/office/drawing/2014/main" id="{78A09744-DD45-6F72-6E85-0CD3ED67EF7C}"/>
              </a:ext>
            </a:extLst>
          </p:cNvPr>
          <p:cNvSpPr>
            <a:spLocks noChangeArrowheads="1"/>
          </p:cNvSpPr>
          <p:nvPr/>
        </p:nvSpPr>
        <p:spPr bwMode="auto">
          <a:xfrm>
            <a:off x="5419725" y="231208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2" name="Rectangle 270">
            <a:extLst>
              <a:ext uri="{FF2B5EF4-FFF2-40B4-BE49-F238E27FC236}">
                <a16:creationId xmlns:a16="http://schemas.microsoft.com/office/drawing/2014/main" id="{7A7EB626-E42A-2A99-A002-1C2933B70A30}"/>
              </a:ext>
            </a:extLst>
          </p:cNvPr>
          <p:cNvSpPr>
            <a:spLocks noChangeArrowheads="1"/>
          </p:cNvSpPr>
          <p:nvPr/>
        </p:nvSpPr>
        <p:spPr bwMode="auto">
          <a:xfrm>
            <a:off x="5918278" y="3189101"/>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5</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3" name="Rectangle 281">
            <a:extLst>
              <a:ext uri="{FF2B5EF4-FFF2-40B4-BE49-F238E27FC236}">
                <a16:creationId xmlns:a16="http://schemas.microsoft.com/office/drawing/2014/main" id="{BBE63429-BD7B-212B-A96E-BD1E3D8BEC6E}"/>
              </a:ext>
            </a:extLst>
          </p:cNvPr>
          <p:cNvSpPr>
            <a:spLocks noChangeArrowheads="1"/>
          </p:cNvSpPr>
          <p:nvPr/>
        </p:nvSpPr>
        <p:spPr bwMode="auto">
          <a:xfrm>
            <a:off x="5327650" y="4219713"/>
            <a:ext cx="107950" cy="304800"/>
          </a:xfrm>
          <a:prstGeom prst="rect">
            <a:avLst/>
          </a:prstGeom>
          <a:solidFill>
            <a:srgbClr val="00B0F0"/>
          </a:solidFill>
          <a:ln>
            <a:noFill/>
          </a:ln>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lang="en-US" altLang="zh-CN" sz="1000" kern="0" dirty="0">
                <a:solidFill>
                  <a:sysClr val="windowText" lastClr="000000"/>
                </a:solidFill>
                <a:latin typeface="Montserrat" panose="00000500000000000000" pitchFamily="2" charset="0"/>
                <a:ea typeface="微软雅黑 Light" panose="020B0502040204020203" pitchFamily="34" charset="-122"/>
              </a:rPr>
              <a:t>9</a:t>
            </a:r>
            <a:endParaRPr kumimoji="0" lang="zh-CN" altLang="en-US" sz="100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86" name="Text Box 293">
            <a:extLst>
              <a:ext uri="{FF2B5EF4-FFF2-40B4-BE49-F238E27FC236}">
                <a16:creationId xmlns:a16="http://schemas.microsoft.com/office/drawing/2014/main" id="{8939B652-41B4-92AD-51BC-AAF9925E2A48}"/>
              </a:ext>
            </a:extLst>
          </p:cNvPr>
          <p:cNvSpPr txBox="1">
            <a:spLocks noChangeArrowheads="1"/>
          </p:cNvSpPr>
          <p:nvPr/>
        </p:nvSpPr>
        <p:spPr bwMode="auto">
          <a:xfrm>
            <a:off x="2850345" y="2372837"/>
            <a:ext cx="80182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defPPr>
              <a:defRPr lang="zh-CN"/>
            </a:defPPr>
            <a:lvl1pPr>
              <a:defRPr sz="1200">
                <a:latin typeface="Montserrat" panose="00000500000000000000" pitchFamily="2" charset="0"/>
                <a:ea typeface="微软雅黑 Light" panose="020B0502040204020203" pitchFamily="34" charset="-122"/>
              </a:defRPr>
            </a:lvl1pPr>
            <a:lvl2pPr marL="742950" indent="-285750" eaLnBrk="0" hangingPunct="0">
              <a:defRPr>
                <a:latin typeface="Arial" pitchFamily="34" charset="0"/>
                <a:ea typeface="宋体" pitchFamily="2" charset="-122"/>
              </a:defRPr>
            </a:lvl2pPr>
            <a:lvl3pPr marL="1143000" indent="-228600" eaLnBrk="0" hangingPunct="0">
              <a:defRPr>
                <a:latin typeface="Arial" pitchFamily="34" charset="0"/>
                <a:ea typeface="宋体" pitchFamily="2" charset="-122"/>
              </a:defRPr>
            </a:lvl3pPr>
            <a:lvl4pPr marL="1600200" indent="-228600" eaLnBrk="0" hangingPunct="0">
              <a:defRPr>
                <a:latin typeface="Arial" pitchFamily="34" charset="0"/>
                <a:ea typeface="宋体" pitchFamily="2" charset="-122"/>
              </a:defRPr>
            </a:lvl4pPr>
            <a:lvl5pPr marL="2057400" indent="-228600" eaLnBrk="0" hangingPunct="0">
              <a:defRPr>
                <a:latin typeface="Arial" pitchFamily="34" charset="0"/>
                <a:ea typeface="宋体" pitchFamily="2" charset="-122"/>
              </a:defRPr>
            </a:lvl5pPr>
            <a:lvl6pPr marL="2514600" indent="-228600" eaLnBrk="0" fontAlgn="base" hangingPunct="0">
              <a:spcBef>
                <a:spcPct val="0"/>
              </a:spcBef>
              <a:spcAft>
                <a:spcPct val="0"/>
              </a:spcAft>
              <a:defRPr>
                <a:latin typeface="Arial" pitchFamily="34" charset="0"/>
                <a:ea typeface="宋体" pitchFamily="2" charset="-122"/>
              </a:defRPr>
            </a:lvl6pPr>
            <a:lvl7pPr marL="2971800" indent="-228600" eaLnBrk="0" fontAlgn="base" hangingPunct="0">
              <a:spcBef>
                <a:spcPct val="0"/>
              </a:spcBef>
              <a:spcAft>
                <a:spcPct val="0"/>
              </a:spcAft>
              <a:defRPr>
                <a:latin typeface="Arial" pitchFamily="34" charset="0"/>
                <a:ea typeface="宋体" pitchFamily="2" charset="-122"/>
              </a:defRPr>
            </a:lvl7pPr>
            <a:lvl8pPr marL="3429000" indent="-228600" eaLnBrk="0" fontAlgn="base" hangingPunct="0">
              <a:spcBef>
                <a:spcPct val="0"/>
              </a:spcBef>
              <a:spcAft>
                <a:spcPct val="0"/>
              </a:spcAft>
              <a:defRPr>
                <a:latin typeface="Arial" pitchFamily="34" charset="0"/>
                <a:ea typeface="宋体" pitchFamily="2" charset="-122"/>
              </a:defRPr>
            </a:lvl8pPr>
            <a:lvl9pPr marL="3886200" indent="-228600" eaLnBrk="0" fontAlgn="base" hangingPunct="0">
              <a:spcBef>
                <a:spcPct val="0"/>
              </a:spcBef>
              <a:spcAft>
                <a:spcPct val="0"/>
              </a:spcAft>
              <a:defRPr>
                <a:latin typeface="Arial" pitchFamily="34" charset="0"/>
                <a:ea typeface="宋体" pitchFamily="2" charset="-122"/>
              </a:defRPr>
            </a:lvl9pPr>
          </a:lstStyle>
          <a:p>
            <a:r>
              <a:rPr lang="zh-CN" altLang="en-US" dirty="0"/>
              <a:t>对等方 </a:t>
            </a:r>
            <a:r>
              <a:rPr lang="en-US" altLang="zh-CN" dirty="0"/>
              <a:t>B</a:t>
            </a:r>
          </a:p>
        </p:txBody>
      </p:sp>
    </p:spTree>
    <p:extLst>
      <p:ext uri="{BB962C8B-B14F-4D97-AF65-F5344CB8AC3E}">
        <p14:creationId xmlns:p14="http://schemas.microsoft.com/office/powerpoint/2010/main" val="24808180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7F1B0C-8E8F-BEC4-96E1-3CE77023D31A}"/>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a:t>
            </a:r>
          </a:p>
        </p:txBody>
      </p:sp>
      <p:sp>
        <p:nvSpPr>
          <p:cNvPr id="5" name="内容占位符 4">
            <a:extLst>
              <a:ext uri="{FF2B5EF4-FFF2-40B4-BE49-F238E27FC236}">
                <a16:creationId xmlns:a16="http://schemas.microsoft.com/office/drawing/2014/main" id="{2E207823-3345-461D-A794-9078130A1D46}"/>
              </a:ext>
            </a:extLst>
          </p:cNvPr>
          <p:cNvSpPr>
            <a:spLocks noGrp="1"/>
          </p:cNvSpPr>
          <p:nvPr>
            <p:ph sz="quarter" idx="11"/>
          </p:nvPr>
        </p:nvSpPr>
        <p:spPr>
          <a:xfrm>
            <a:off x="486000" y="687518"/>
            <a:ext cx="8172000" cy="4079035"/>
          </a:xfrm>
        </p:spPr>
        <p:txBody>
          <a:bodyPr/>
          <a:lstStyle/>
          <a:p>
            <a:r>
              <a:rPr lang="zh-CN" altLang="en-US" dirty="0"/>
              <a:t>传输速率 </a:t>
            </a:r>
            <a:r>
              <a:rPr lang="en-US" altLang="zh-CN" dirty="0"/>
              <a:t>bit/s</a:t>
            </a:r>
          </a:p>
          <a:p>
            <a:pPr lvl="1"/>
            <a:r>
              <a:rPr lang="zh-CN" altLang="en-US" dirty="0"/>
              <a:t>下载 </a:t>
            </a:r>
            <a:r>
              <a:rPr lang="en-US" altLang="zh-CN" dirty="0"/>
              <a:t>download</a:t>
            </a:r>
            <a:r>
              <a:rPr lang="zh-CN" altLang="en-US" dirty="0"/>
              <a:t>：从互联网传送数据到主机</a:t>
            </a:r>
          </a:p>
          <a:p>
            <a:pPr lvl="1"/>
            <a:r>
              <a:rPr lang="zh-CN" altLang="en-US" dirty="0"/>
              <a:t>上传 </a:t>
            </a:r>
            <a:r>
              <a:rPr lang="en-US" altLang="zh-CN" dirty="0"/>
              <a:t>upload</a:t>
            </a:r>
            <a:r>
              <a:rPr lang="zh-CN" altLang="en-US" dirty="0"/>
              <a:t>：从主机向互联网传送，也称上载</a:t>
            </a:r>
          </a:p>
          <a:p>
            <a:r>
              <a:rPr lang="zh-CN" altLang="en-US" dirty="0"/>
              <a:t>有 </a:t>
            </a:r>
            <a:r>
              <a:rPr lang="en-US" altLang="zh-CN" i="1" dirty="0"/>
              <a:t>N</a:t>
            </a:r>
            <a:r>
              <a:rPr lang="en-US" altLang="zh-CN" dirty="0"/>
              <a:t> </a:t>
            </a:r>
            <a:r>
              <a:rPr lang="zh-CN" altLang="en-US" dirty="0"/>
              <a:t>台主机从服务器下载一个大文件 </a:t>
            </a:r>
            <a:r>
              <a:rPr lang="en-US" altLang="zh-CN" i="1" dirty="0"/>
              <a:t>F</a:t>
            </a:r>
            <a:r>
              <a:rPr lang="en-US" altLang="zh-CN" dirty="0"/>
              <a:t> bit</a:t>
            </a:r>
            <a:r>
              <a:rPr lang="zh-CN" altLang="en-US" dirty="0"/>
              <a:t>；上传速率和下载速率分别为 </a:t>
            </a:r>
            <a:r>
              <a:rPr lang="en-US" altLang="zh-CN" i="1" dirty="0" err="1"/>
              <a:t>u</a:t>
            </a:r>
            <a:r>
              <a:rPr lang="en-US" altLang="zh-CN" baseline="-25000" dirty="0" err="1"/>
              <a:t>i</a:t>
            </a:r>
            <a:r>
              <a:rPr lang="en-US" altLang="zh-CN" dirty="0"/>
              <a:t> </a:t>
            </a:r>
            <a:r>
              <a:rPr lang="zh-CN" altLang="en-US" dirty="0"/>
              <a:t>和 </a:t>
            </a:r>
            <a:r>
              <a:rPr lang="en-US" altLang="zh-CN" i="1" dirty="0"/>
              <a:t>d</a:t>
            </a:r>
            <a:r>
              <a:rPr lang="en-US" altLang="zh-CN" baseline="-25000" dirty="0"/>
              <a:t>i</a:t>
            </a:r>
            <a:r>
              <a:rPr lang="en-US" altLang="zh-CN" dirty="0"/>
              <a:t> </a:t>
            </a:r>
            <a:endParaRPr lang="zh-CN" altLang="en-US" dirty="0"/>
          </a:p>
          <a:p>
            <a:endParaRPr lang="zh-CN" altLang="en-US" dirty="0"/>
          </a:p>
        </p:txBody>
      </p:sp>
      <p:sp>
        <p:nvSpPr>
          <p:cNvPr id="4" name="云形 3">
            <a:extLst>
              <a:ext uri="{FF2B5EF4-FFF2-40B4-BE49-F238E27FC236}">
                <a16:creationId xmlns:a16="http://schemas.microsoft.com/office/drawing/2014/main" id="{27F77133-6D31-FCAE-E395-7E14EFDCC3B1}"/>
              </a:ext>
            </a:extLst>
          </p:cNvPr>
          <p:cNvSpPr/>
          <p:nvPr/>
        </p:nvSpPr>
        <p:spPr>
          <a:xfrm>
            <a:off x="3346391" y="2570930"/>
            <a:ext cx="2636266" cy="1348590"/>
          </a:xfrm>
          <a:prstGeom prst="cloud">
            <a:avLst/>
          </a:prstGeom>
          <a:solidFill>
            <a:schemeClr val="bg1"/>
          </a:solidFill>
          <a:ln w="63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zh-CN" altLang="en-US" sz="1400" dirty="0">
                <a:solidFill>
                  <a:sysClr val="windowText" lastClr="000000"/>
                </a:solidFill>
                <a:latin typeface="Montserrat" panose="00000500000000000000" pitchFamily="2" charset="0"/>
                <a:ea typeface="微软雅黑 Light" panose="020B0502040204020203" pitchFamily="34" charset="-122"/>
              </a:rPr>
              <a:t>互联网</a:t>
            </a:r>
          </a:p>
        </p:txBody>
      </p:sp>
      <p:pic>
        <p:nvPicPr>
          <p:cNvPr id="6" name="图片 5"/>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661076" y="2914746"/>
            <a:ext cx="485811" cy="680135"/>
          </a:xfrm>
          <a:prstGeom prst="rect">
            <a:avLst/>
          </a:prstGeom>
        </p:spPr>
      </p:pic>
      <p:pic>
        <p:nvPicPr>
          <p:cNvPr id="7" name="Picture 197" descr="jisuanji"/>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866064" y="2786235"/>
            <a:ext cx="359999" cy="360000"/>
          </a:xfrm>
          <a:prstGeom prst="rect">
            <a:avLst/>
          </a:prstGeom>
          <a:noFill/>
          <a:extLst>
            <a:ext uri="{909E8E84-426E-40DD-AFC4-6F175D3DCCD1}">
              <a14:hiddenFill xmlns:a14="http://schemas.microsoft.com/office/drawing/2010/main">
                <a:solidFill>
                  <a:srgbClr val="FFFFFF"/>
                </a:solidFill>
              </a14:hiddenFill>
            </a:ext>
          </a:extLst>
        </p:spPr>
      </p:pic>
      <p:sp>
        <p:nvSpPr>
          <p:cNvPr id="37" name="Line 479"/>
          <p:cNvSpPr>
            <a:spLocks noChangeShapeType="1"/>
          </p:cNvSpPr>
          <p:nvPr/>
        </p:nvSpPr>
        <p:spPr bwMode="auto">
          <a:xfrm>
            <a:off x="2305013" y="2988162"/>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8" name="Line 480"/>
          <p:cNvSpPr>
            <a:spLocks noChangeShapeType="1"/>
          </p:cNvSpPr>
          <p:nvPr/>
        </p:nvSpPr>
        <p:spPr bwMode="auto">
          <a:xfrm rot="10800000">
            <a:off x="2202220" y="307498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dirty="0">
              <a:solidFill>
                <a:srgbClr val="000099"/>
              </a:solidFill>
              <a:latin typeface="Montserrat" panose="00000500000000000000" pitchFamily="2" charset="0"/>
              <a:ea typeface="微软雅黑 Light" panose="020B0502040204020203" pitchFamily="34" charset="-122"/>
            </a:endParaRPr>
          </a:p>
        </p:txBody>
      </p:sp>
      <p:sp>
        <p:nvSpPr>
          <p:cNvPr id="39" name="Text Box 482"/>
          <p:cNvSpPr txBox="1">
            <a:spLocks noChangeArrowheads="1"/>
          </p:cNvSpPr>
          <p:nvPr/>
        </p:nvSpPr>
        <p:spPr bwMode="auto">
          <a:xfrm>
            <a:off x="6556775" y="3568990"/>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服务器</a:t>
            </a:r>
          </a:p>
        </p:txBody>
      </p:sp>
      <p:sp>
        <p:nvSpPr>
          <p:cNvPr id="40" name="Text Box 2748"/>
          <p:cNvSpPr txBox="1">
            <a:spLocks noChangeArrowheads="1"/>
          </p:cNvSpPr>
          <p:nvPr/>
        </p:nvSpPr>
        <p:spPr bwMode="auto">
          <a:xfrm>
            <a:off x="4456868" y="2055019"/>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dirty="0">
                <a:solidFill>
                  <a:srgbClr val="0000FF"/>
                </a:solidFill>
                <a:latin typeface="Montserrat" panose="00000500000000000000" pitchFamily="2" charset="0"/>
                <a:ea typeface="微软雅黑 Light" panose="020B0502040204020203" pitchFamily="34" charset="-122"/>
                <a:sym typeface="Symbol" pitchFamily="18" charset="2"/>
              </a:rPr>
              <a:t></a:t>
            </a:r>
          </a:p>
        </p:txBody>
      </p:sp>
      <p:sp>
        <p:nvSpPr>
          <p:cNvPr id="41" name="Line 2750"/>
          <p:cNvSpPr>
            <a:spLocks noChangeShapeType="1"/>
          </p:cNvSpPr>
          <p:nvPr/>
        </p:nvSpPr>
        <p:spPr bwMode="auto">
          <a:xfrm rot="816166">
            <a:off x="3521441" y="2357986"/>
            <a:ext cx="820078" cy="172699"/>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2" name="Line 2751"/>
          <p:cNvSpPr>
            <a:spLocks noChangeShapeType="1"/>
          </p:cNvSpPr>
          <p:nvPr/>
        </p:nvSpPr>
        <p:spPr bwMode="auto">
          <a:xfrm rot="11616166">
            <a:off x="3396058" y="2427639"/>
            <a:ext cx="87203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3" name="Line 2753"/>
          <p:cNvSpPr>
            <a:spLocks noChangeShapeType="1"/>
          </p:cNvSpPr>
          <p:nvPr/>
        </p:nvSpPr>
        <p:spPr bwMode="auto">
          <a:xfrm rot="18950026">
            <a:off x="2869804" y="3792498"/>
            <a:ext cx="82007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4" name="Line 2754"/>
          <p:cNvSpPr>
            <a:spLocks noChangeShapeType="1"/>
          </p:cNvSpPr>
          <p:nvPr/>
        </p:nvSpPr>
        <p:spPr bwMode="auto">
          <a:xfrm rot="8150026">
            <a:off x="2860767" y="3900314"/>
            <a:ext cx="87203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5" name="Line 2756"/>
          <p:cNvSpPr>
            <a:spLocks noChangeShapeType="1"/>
          </p:cNvSpPr>
          <p:nvPr/>
        </p:nvSpPr>
        <p:spPr bwMode="auto">
          <a:xfrm rot="13567995">
            <a:off x="4447699" y="4096731"/>
            <a:ext cx="692701" cy="204455"/>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6" name="Line 2757"/>
          <p:cNvSpPr>
            <a:spLocks noChangeShapeType="1"/>
          </p:cNvSpPr>
          <p:nvPr/>
        </p:nvSpPr>
        <p:spPr bwMode="auto">
          <a:xfrm rot="2767995">
            <a:off x="4553397" y="4083373"/>
            <a:ext cx="736591" cy="204454"/>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7" name="Line 2759"/>
          <p:cNvSpPr>
            <a:spLocks noChangeShapeType="1"/>
          </p:cNvSpPr>
          <p:nvPr/>
        </p:nvSpPr>
        <p:spPr bwMode="auto">
          <a:xfrm rot="18997895">
            <a:off x="5565779" y="2390709"/>
            <a:ext cx="820078" cy="172699"/>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8" name="Line 2760"/>
          <p:cNvSpPr>
            <a:spLocks noChangeShapeType="1"/>
          </p:cNvSpPr>
          <p:nvPr/>
        </p:nvSpPr>
        <p:spPr bwMode="auto">
          <a:xfrm rot="8197895">
            <a:off x="5651582" y="2500293"/>
            <a:ext cx="704860" cy="14025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49" name="Line 2762"/>
          <p:cNvSpPr>
            <a:spLocks noChangeShapeType="1"/>
          </p:cNvSpPr>
          <p:nvPr/>
        </p:nvSpPr>
        <p:spPr bwMode="auto">
          <a:xfrm rot="1048487">
            <a:off x="5636154" y="3781048"/>
            <a:ext cx="820078" cy="17269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0" name="Line 2763"/>
          <p:cNvSpPr>
            <a:spLocks noChangeShapeType="1"/>
          </p:cNvSpPr>
          <p:nvPr/>
        </p:nvSpPr>
        <p:spPr bwMode="auto">
          <a:xfrm rot="11848487">
            <a:off x="5506251" y="3844021"/>
            <a:ext cx="872038" cy="172698"/>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1" name="Line 2764"/>
          <p:cNvSpPr>
            <a:spLocks noChangeShapeType="1"/>
          </p:cNvSpPr>
          <p:nvPr/>
        </p:nvSpPr>
        <p:spPr bwMode="auto">
          <a:xfrm rot="10046881">
            <a:off x="5886921" y="3185114"/>
            <a:ext cx="769247" cy="129762"/>
          </a:xfrm>
          <a:prstGeom prst="line">
            <a:avLst/>
          </a:prstGeom>
          <a:noFill/>
          <a:ln w="57150">
            <a:solidFill>
              <a:srgbClr val="FF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dirty="0">
              <a:solidFill>
                <a:srgbClr val="0000FF"/>
              </a:solidFill>
              <a:latin typeface="Montserrat" panose="00000500000000000000" pitchFamily="2" charset="0"/>
              <a:ea typeface="微软雅黑 Light" panose="020B0502040204020203" pitchFamily="34" charset="-122"/>
            </a:endParaRPr>
          </a:p>
        </p:txBody>
      </p:sp>
      <p:sp>
        <p:nvSpPr>
          <p:cNvPr id="52" name="Text Box 2765"/>
          <p:cNvSpPr txBox="1">
            <a:spLocks noChangeArrowheads="1"/>
          </p:cNvSpPr>
          <p:nvPr/>
        </p:nvSpPr>
        <p:spPr bwMode="auto">
          <a:xfrm>
            <a:off x="6543639" y="2634417"/>
            <a:ext cx="59022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文件</a:t>
            </a:r>
            <a:r>
              <a:rPr kumimoji="1" lang="en-US" altLang="zh-CN" sz="1200" i="1" dirty="0">
                <a:solidFill>
                  <a:sysClr val="windowText" lastClr="000000"/>
                </a:solidFill>
                <a:latin typeface="Montserrat" panose="00000500000000000000" pitchFamily="2" charset="0"/>
                <a:ea typeface="微软雅黑 Light" panose="020B0502040204020203" pitchFamily="34" charset="-122"/>
              </a:rPr>
              <a:t>F</a:t>
            </a:r>
          </a:p>
        </p:txBody>
      </p:sp>
      <p:sp>
        <p:nvSpPr>
          <p:cNvPr id="53" name="Text Box 2766"/>
          <p:cNvSpPr txBox="1">
            <a:spLocks noChangeArrowheads="1"/>
          </p:cNvSpPr>
          <p:nvPr/>
        </p:nvSpPr>
        <p:spPr bwMode="auto">
          <a:xfrm>
            <a:off x="6162539" y="2914694"/>
            <a:ext cx="36420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b="1" i="1" dirty="0">
                <a:solidFill>
                  <a:srgbClr val="FF00FF"/>
                </a:solidFill>
                <a:latin typeface="Montserrat" panose="00000500000000000000" pitchFamily="2" charset="0"/>
                <a:ea typeface="微软雅黑 Light" panose="020B0502040204020203" pitchFamily="34" charset="-122"/>
              </a:rPr>
              <a:t>u</a:t>
            </a:r>
            <a:r>
              <a:rPr kumimoji="1" lang="en-US" altLang="zh-CN" sz="1400" b="1" i="1" baseline="-25000" dirty="0">
                <a:solidFill>
                  <a:srgbClr val="FF00FF"/>
                </a:solidFill>
                <a:latin typeface="Montserrat" panose="00000500000000000000" pitchFamily="2" charset="0"/>
                <a:ea typeface="微软雅黑 Light" panose="020B0502040204020203" pitchFamily="34" charset="-122"/>
              </a:rPr>
              <a:t>s</a:t>
            </a:r>
          </a:p>
        </p:txBody>
      </p:sp>
      <p:sp>
        <p:nvSpPr>
          <p:cNvPr id="54" name="Text Box 2767"/>
          <p:cNvSpPr txBox="1">
            <a:spLocks noChangeArrowheads="1"/>
          </p:cNvSpPr>
          <p:nvPr/>
        </p:nvSpPr>
        <p:spPr bwMode="auto">
          <a:xfrm>
            <a:off x="5957863" y="2464752"/>
            <a:ext cx="40267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u</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55" name="Text Box 2768"/>
          <p:cNvSpPr txBox="1">
            <a:spLocks noChangeArrowheads="1"/>
          </p:cNvSpPr>
          <p:nvPr/>
        </p:nvSpPr>
        <p:spPr bwMode="auto">
          <a:xfrm>
            <a:off x="5686984" y="3823030"/>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56" name="Text Box 2769"/>
          <p:cNvSpPr txBox="1">
            <a:spLocks noChangeArrowheads="1"/>
          </p:cNvSpPr>
          <p:nvPr/>
        </p:nvSpPr>
        <p:spPr bwMode="auto">
          <a:xfrm>
            <a:off x="4495652" y="4082554"/>
            <a:ext cx="38343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57" name="Text Box 2770"/>
          <p:cNvSpPr txBox="1">
            <a:spLocks noChangeArrowheads="1"/>
          </p:cNvSpPr>
          <p:nvPr/>
        </p:nvSpPr>
        <p:spPr bwMode="auto">
          <a:xfrm>
            <a:off x="3022298" y="3592684"/>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58" name="Text Box 2771"/>
          <p:cNvSpPr txBox="1">
            <a:spLocks noChangeArrowheads="1"/>
          </p:cNvSpPr>
          <p:nvPr/>
        </p:nvSpPr>
        <p:spPr bwMode="auto">
          <a:xfrm>
            <a:off x="2510596" y="2782147"/>
            <a:ext cx="3722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2</a:t>
            </a:r>
          </a:p>
        </p:txBody>
      </p:sp>
      <p:sp>
        <p:nvSpPr>
          <p:cNvPr id="59" name="Text Box 2772"/>
          <p:cNvSpPr txBox="1">
            <a:spLocks noChangeArrowheads="1"/>
          </p:cNvSpPr>
          <p:nvPr/>
        </p:nvSpPr>
        <p:spPr bwMode="auto">
          <a:xfrm>
            <a:off x="3716859" y="2150621"/>
            <a:ext cx="3481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u</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0" name="Text Box 2773"/>
          <p:cNvSpPr txBox="1">
            <a:spLocks noChangeArrowheads="1"/>
          </p:cNvSpPr>
          <p:nvPr/>
        </p:nvSpPr>
        <p:spPr bwMode="auto">
          <a:xfrm>
            <a:off x="5675890" y="2179130"/>
            <a:ext cx="4042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err="1">
                <a:latin typeface="Montserrat" panose="00000500000000000000" pitchFamily="2" charset="0"/>
                <a:ea typeface="微软雅黑 Light" panose="020B0502040204020203" pitchFamily="34" charset="-122"/>
              </a:rPr>
              <a:t>d</a:t>
            </a:r>
            <a:r>
              <a:rPr kumimoji="1" lang="en-US" altLang="zh-CN" sz="1400" i="1" baseline="-25000" dirty="0" err="1">
                <a:latin typeface="Montserrat" panose="00000500000000000000" pitchFamily="2" charset="0"/>
                <a:ea typeface="微软雅黑 Light" panose="020B0502040204020203" pitchFamily="34" charset="-122"/>
              </a:rPr>
              <a:t>N</a:t>
            </a:r>
            <a:endParaRPr kumimoji="1" lang="en-US" altLang="zh-CN" sz="1400" i="1" baseline="-25000" dirty="0">
              <a:latin typeface="Montserrat" panose="00000500000000000000" pitchFamily="2" charset="0"/>
              <a:ea typeface="微软雅黑 Light" panose="020B0502040204020203" pitchFamily="34" charset="-122"/>
            </a:endParaRPr>
          </a:p>
        </p:txBody>
      </p:sp>
      <p:sp>
        <p:nvSpPr>
          <p:cNvPr id="61" name="Text Box 2774"/>
          <p:cNvSpPr txBox="1">
            <a:spLocks noChangeArrowheads="1"/>
          </p:cNvSpPr>
          <p:nvPr/>
        </p:nvSpPr>
        <p:spPr bwMode="auto">
          <a:xfrm>
            <a:off x="3465555" y="2422073"/>
            <a:ext cx="3497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1</a:t>
            </a:r>
          </a:p>
        </p:txBody>
      </p:sp>
      <p:sp>
        <p:nvSpPr>
          <p:cNvPr id="62" name="Text Box 2775"/>
          <p:cNvSpPr txBox="1">
            <a:spLocks noChangeArrowheads="1"/>
          </p:cNvSpPr>
          <p:nvPr/>
        </p:nvSpPr>
        <p:spPr bwMode="auto">
          <a:xfrm>
            <a:off x="5909727" y="360644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5</a:t>
            </a:r>
          </a:p>
        </p:txBody>
      </p:sp>
      <p:sp>
        <p:nvSpPr>
          <p:cNvPr id="63" name="Text Box 2776"/>
          <p:cNvSpPr txBox="1">
            <a:spLocks noChangeArrowheads="1"/>
          </p:cNvSpPr>
          <p:nvPr/>
        </p:nvSpPr>
        <p:spPr bwMode="auto">
          <a:xfrm>
            <a:off x="4866907" y="3996682"/>
            <a:ext cx="38504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4</a:t>
            </a:r>
          </a:p>
        </p:txBody>
      </p:sp>
      <p:sp>
        <p:nvSpPr>
          <p:cNvPr id="64" name="Text Box 2777"/>
          <p:cNvSpPr txBox="1">
            <a:spLocks noChangeArrowheads="1"/>
          </p:cNvSpPr>
          <p:nvPr/>
        </p:nvSpPr>
        <p:spPr bwMode="auto">
          <a:xfrm>
            <a:off x="3238104" y="3875110"/>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3</a:t>
            </a:r>
          </a:p>
        </p:txBody>
      </p:sp>
      <p:sp>
        <p:nvSpPr>
          <p:cNvPr id="65" name="Text Box 2778"/>
          <p:cNvSpPr txBox="1">
            <a:spLocks noChangeArrowheads="1"/>
          </p:cNvSpPr>
          <p:nvPr/>
        </p:nvSpPr>
        <p:spPr bwMode="auto">
          <a:xfrm>
            <a:off x="2458636" y="3138281"/>
            <a:ext cx="373820"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a:defRPr sz="3600">
                <a:solidFill>
                  <a:schemeClr val="tx1"/>
                </a:solidFill>
                <a:latin typeface="Tahoma" pitchFamily="34" charset="0"/>
                <a:ea typeface="宋体" charset="-122"/>
              </a:defRPr>
            </a:lvl1pPr>
            <a:lvl2pPr marL="742950" indent="-285750">
              <a:defRPr sz="3600">
                <a:solidFill>
                  <a:schemeClr val="tx1"/>
                </a:solidFill>
                <a:latin typeface="Tahoma" pitchFamily="34" charset="0"/>
                <a:ea typeface="宋体" charset="-122"/>
              </a:defRPr>
            </a:lvl2pPr>
            <a:lvl3pPr marL="1143000" indent="-228600">
              <a:defRPr sz="3600">
                <a:solidFill>
                  <a:schemeClr val="tx1"/>
                </a:solidFill>
                <a:latin typeface="Tahoma" pitchFamily="34" charset="0"/>
                <a:ea typeface="宋体" charset="-122"/>
              </a:defRPr>
            </a:lvl3pPr>
            <a:lvl4pPr marL="1600200" indent="-228600">
              <a:defRPr sz="3600">
                <a:solidFill>
                  <a:schemeClr val="tx1"/>
                </a:solidFill>
                <a:latin typeface="Tahoma" pitchFamily="34" charset="0"/>
                <a:ea typeface="宋体" charset="-122"/>
              </a:defRPr>
            </a:lvl4pPr>
            <a:lvl5pPr marL="2057400" indent="-228600">
              <a:defRPr sz="3600">
                <a:solidFill>
                  <a:schemeClr val="tx1"/>
                </a:solidFill>
                <a:latin typeface="Tahoma" pitchFamily="34" charset="0"/>
                <a:ea typeface="宋体" charset="-122"/>
              </a:defRPr>
            </a:lvl5pPr>
            <a:lvl6pPr marL="2514600" indent="-228600" eaLnBrk="0" fontAlgn="base" hangingPunct="0">
              <a:spcBef>
                <a:spcPct val="0"/>
              </a:spcBef>
              <a:spcAft>
                <a:spcPct val="0"/>
              </a:spcAft>
              <a:defRPr sz="3600">
                <a:solidFill>
                  <a:schemeClr val="tx1"/>
                </a:solidFill>
                <a:latin typeface="Tahoma" pitchFamily="34" charset="0"/>
                <a:ea typeface="宋体" charset="-122"/>
              </a:defRPr>
            </a:lvl6pPr>
            <a:lvl7pPr marL="2971800" indent="-228600" eaLnBrk="0" fontAlgn="base" hangingPunct="0">
              <a:spcBef>
                <a:spcPct val="0"/>
              </a:spcBef>
              <a:spcAft>
                <a:spcPct val="0"/>
              </a:spcAft>
              <a:defRPr sz="3600">
                <a:solidFill>
                  <a:schemeClr val="tx1"/>
                </a:solidFill>
                <a:latin typeface="Tahoma" pitchFamily="34" charset="0"/>
                <a:ea typeface="宋体" charset="-122"/>
              </a:defRPr>
            </a:lvl7pPr>
            <a:lvl8pPr marL="3429000" indent="-228600" eaLnBrk="0" fontAlgn="base" hangingPunct="0">
              <a:spcBef>
                <a:spcPct val="0"/>
              </a:spcBef>
              <a:spcAft>
                <a:spcPct val="0"/>
              </a:spcAft>
              <a:defRPr sz="3600">
                <a:solidFill>
                  <a:schemeClr val="tx1"/>
                </a:solidFill>
                <a:latin typeface="Tahoma" pitchFamily="34" charset="0"/>
                <a:ea typeface="宋体" charset="-122"/>
              </a:defRPr>
            </a:lvl8pPr>
            <a:lvl9pPr marL="3886200" indent="-228600" eaLnBrk="0" fontAlgn="base" hangingPunct="0">
              <a:spcBef>
                <a:spcPct val="0"/>
              </a:spcBef>
              <a:spcAft>
                <a:spcPct val="0"/>
              </a:spcAft>
              <a:defRPr sz="3600">
                <a:solidFill>
                  <a:schemeClr val="tx1"/>
                </a:solidFill>
                <a:latin typeface="Tahoma" pitchFamily="34" charset="0"/>
                <a:ea typeface="宋体" charset="-122"/>
              </a:defRPr>
            </a:lvl9pPr>
          </a:lstStyle>
          <a:p>
            <a:r>
              <a:rPr kumimoji="1" lang="en-US" altLang="zh-CN" sz="1400" i="1" dirty="0">
                <a:latin typeface="Montserrat" panose="00000500000000000000" pitchFamily="2" charset="0"/>
                <a:ea typeface="微软雅黑 Light" panose="020B0502040204020203" pitchFamily="34" charset="-122"/>
              </a:rPr>
              <a:t>d</a:t>
            </a:r>
            <a:r>
              <a:rPr kumimoji="1" lang="en-US" altLang="zh-CN" sz="1400" baseline="-25000" dirty="0">
                <a:latin typeface="Montserrat" panose="00000500000000000000" pitchFamily="2" charset="0"/>
                <a:ea typeface="微软雅黑 Light" panose="020B0502040204020203" pitchFamily="34" charset="-122"/>
              </a:rPr>
              <a:t>2</a:t>
            </a:r>
          </a:p>
        </p:txBody>
      </p:sp>
      <p:pic>
        <p:nvPicPr>
          <p:cNvPr id="16" name="Picture 197" descr="jisuanji">
            <a:extLst>
              <a:ext uri="{FF2B5EF4-FFF2-40B4-BE49-F238E27FC236}">
                <a16:creationId xmlns:a16="http://schemas.microsoft.com/office/drawing/2014/main" id="{BD7DA092-00BC-19D1-67B7-93A3A215A8E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155812" y="20151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97" descr="jisuanji">
            <a:extLst>
              <a:ext uri="{FF2B5EF4-FFF2-40B4-BE49-F238E27FC236}">
                <a16:creationId xmlns:a16="http://schemas.microsoft.com/office/drawing/2014/main" id="{6B753E24-FDF7-49C4-4B00-6DD45FB88EC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19201" y="4114413"/>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197" descr="jisuanji">
            <a:extLst>
              <a:ext uri="{FF2B5EF4-FFF2-40B4-BE49-F238E27FC236}">
                <a16:creationId xmlns:a16="http://schemas.microsoft.com/office/drawing/2014/main" id="{15800CB5-B3CE-117C-9E33-34D494080E99}"/>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915820" y="4474234"/>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97" descr="jisuanji">
            <a:extLst>
              <a:ext uri="{FF2B5EF4-FFF2-40B4-BE49-F238E27FC236}">
                <a16:creationId xmlns:a16="http://schemas.microsoft.com/office/drawing/2014/main" id="{3769B697-E37B-A938-6835-D5359D1537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384096" y="2019565"/>
            <a:ext cx="359999" cy="360000"/>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97" descr="jisuanji">
            <a:extLst>
              <a:ext uri="{FF2B5EF4-FFF2-40B4-BE49-F238E27FC236}">
                <a16:creationId xmlns:a16="http://schemas.microsoft.com/office/drawing/2014/main" id="{E0312FB0-363C-6F3D-5FAA-AE61FEDDA81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2560119" y="4069590"/>
            <a:ext cx="359999" cy="360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1852479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D469056-631D-93EA-90A0-B53F848B492E}"/>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9" name="内容占位符 8">
            <a:extLst>
              <a:ext uri="{FF2B5EF4-FFF2-40B4-BE49-F238E27FC236}">
                <a16:creationId xmlns:a16="http://schemas.microsoft.com/office/drawing/2014/main" id="{457D4780-FC0A-4EA4-EF14-583C7CAE20E9}"/>
              </a:ext>
            </a:extLst>
          </p:cNvPr>
          <p:cNvSpPr>
            <a:spLocks noGrp="1"/>
          </p:cNvSpPr>
          <p:nvPr>
            <p:ph sz="quarter" idx="11"/>
          </p:nvPr>
        </p:nvSpPr>
        <p:spPr>
          <a:xfrm>
            <a:off x="486000" y="687518"/>
            <a:ext cx="8172000" cy="4079035"/>
          </a:xfrm>
        </p:spPr>
        <p:txBody>
          <a:bodyPr/>
          <a:lstStyle/>
          <a:p>
            <a:r>
              <a:rPr lang="zh-CN" altLang="en-US" dirty="0"/>
              <a:t>服务器是</a:t>
            </a:r>
            <a:r>
              <a:rPr lang="zh-CN" altLang="en-US" b="1" dirty="0">
                <a:solidFill>
                  <a:srgbClr val="FF0000"/>
                </a:solidFill>
              </a:rPr>
              <a:t>唯一数据源</a:t>
            </a:r>
            <a:r>
              <a:rPr lang="zh-CN" altLang="en-US" dirty="0"/>
              <a:t>，必须为每个客户端发送完整文件 </a:t>
            </a:r>
            <a:r>
              <a:rPr lang="en-US" altLang="zh-CN" i="1" dirty="0"/>
              <a:t>F</a:t>
            </a:r>
          </a:p>
          <a:p>
            <a:pPr lvl="1"/>
            <a:r>
              <a:rPr lang="zh-CN" altLang="en-US" dirty="0"/>
              <a:t>总发送量就是</a:t>
            </a:r>
            <a:r>
              <a:rPr lang="en-US" altLang="zh-CN" dirty="0"/>
              <a:t>N</a:t>
            </a:r>
            <a:r>
              <a:rPr lang="zh-CN" altLang="en-US" dirty="0"/>
              <a:t>倍的文件大小 </a:t>
            </a:r>
            <a:r>
              <a:rPr lang="en-US" altLang="zh-CN" i="1" dirty="0"/>
              <a:t>NF</a:t>
            </a:r>
          </a:p>
          <a:p>
            <a:pPr lvl="1"/>
            <a:r>
              <a:rPr lang="zh-CN" altLang="en-US" dirty="0"/>
              <a:t>从服务器端考虑，所有客户端分发完毕的最短时间 </a:t>
            </a:r>
            <a:r>
              <a:rPr lang="en-US" altLang="zh-CN" i="1" dirty="0" err="1"/>
              <a:t>T</a:t>
            </a:r>
            <a:r>
              <a:rPr lang="en-US" altLang="zh-CN" baseline="-25000" dirty="0" err="1"/>
              <a:t>cs</a:t>
            </a:r>
            <a:r>
              <a:rPr lang="en-US" altLang="zh-CN" dirty="0"/>
              <a:t>  </a:t>
            </a:r>
            <a:r>
              <a:rPr lang="zh-CN" altLang="en-US" dirty="0"/>
              <a:t>≥ </a:t>
            </a:r>
            <a:r>
              <a:rPr lang="en-US" altLang="zh-CN" i="1" dirty="0"/>
              <a:t>NF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各客户端</a:t>
            </a:r>
          </a:p>
          <a:p>
            <a:pPr lvl="1"/>
            <a:r>
              <a:rPr lang="zh-CN" altLang="en-US" dirty="0"/>
              <a:t>最慢的下载速率为 </a:t>
            </a:r>
            <a:r>
              <a:rPr lang="en-US" altLang="zh-CN" i="1" dirty="0" err="1"/>
              <a:t>d</a:t>
            </a:r>
            <a:r>
              <a:rPr lang="en-US" altLang="zh-CN" baseline="-25000" dirty="0" err="1"/>
              <a:t>min</a:t>
            </a:r>
            <a:r>
              <a:rPr lang="zh-CN" altLang="en-US" dirty="0"/>
              <a:t>，则 </a:t>
            </a:r>
            <a:r>
              <a:rPr lang="en-US" altLang="zh-CN" i="1" dirty="0" err="1"/>
              <a:t>T</a:t>
            </a:r>
            <a:r>
              <a:rPr lang="en-US" altLang="zh-CN" baseline="-25000" dirty="0" err="1"/>
              <a:t>cs</a:t>
            </a:r>
            <a:r>
              <a:rPr lang="en-US" altLang="zh-CN" dirty="0"/>
              <a:t>  </a:t>
            </a:r>
            <a:r>
              <a:rPr lang="zh-CN" altLang="en-US" dirty="0"/>
              <a:t>≥  </a:t>
            </a:r>
            <a:r>
              <a:rPr lang="en-US" altLang="zh-CN" i="1" dirty="0"/>
              <a:t>F</a:t>
            </a:r>
            <a:r>
              <a:rPr lang="en-US" altLang="zh-CN" dirty="0"/>
              <a:t>/</a:t>
            </a:r>
            <a:r>
              <a:rPr lang="en-US" altLang="zh-CN" i="1" dirty="0" err="1"/>
              <a:t>d</a:t>
            </a:r>
            <a:r>
              <a:rPr lang="en-US" altLang="zh-CN" baseline="-25000" dirty="0" err="1"/>
              <a:t>min</a:t>
            </a:r>
            <a:r>
              <a:rPr lang="en-US" altLang="zh-CN" dirty="0"/>
              <a:t>  </a:t>
            </a:r>
            <a:endParaRPr lang="zh-CN" altLang="en-US" dirty="0"/>
          </a:p>
          <a:p>
            <a:pPr lvl="1"/>
            <a:r>
              <a:rPr lang="zh-CN" altLang="en-US" dirty="0"/>
              <a:t>无论客户端下载速率 </a:t>
            </a:r>
            <a:r>
              <a:rPr lang="en-US" altLang="zh-CN" i="1" dirty="0" err="1"/>
              <a:t>d</a:t>
            </a:r>
            <a:r>
              <a:rPr lang="en-US" altLang="zh-CN" baseline="-25000" dirty="0" err="1"/>
              <a:t>n</a:t>
            </a:r>
            <a:r>
              <a:rPr lang="zh-CN" altLang="en-US" dirty="0"/>
              <a:t> 多大，服务器始终是</a:t>
            </a:r>
            <a:r>
              <a:rPr lang="zh-CN" altLang="en-US" b="1" dirty="0">
                <a:solidFill>
                  <a:srgbClr val="FF0000"/>
                </a:solidFill>
              </a:rPr>
              <a:t>瓶颈</a:t>
            </a:r>
            <a:r>
              <a:rPr lang="zh-CN" altLang="en-US" dirty="0"/>
              <a:t>，所有主机都下载完文件 </a:t>
            </a:r>
            <a:r>
              <a:rPr lang="en-US" altLang="zh-CN" i="1" dirty="0"/>
              <a:t>F</a:t>
            </a:r>
            <a:r>
              <a:rPr lang="en-US" altLang="zh-CN" dirty="0"/>
              <a:t> </a:t>
            </a:r>
            <a:r>
              <a:rPr lang="zh-CN" altLang="en-US" dirty="0"/>
              <a:t>的最少时间是：</a:t>
            </a:r>
          </a:p>
          <a:p>
            <a:endParaRPr lang="zh-CN" altLang="en-US" dirty="0"/>
          </a:p>
        </p:txBody>
      </p:sp>
      <p:pic>
        <p:nvPicPr>
          <p:cNvPr id="7" name="图片 6">
            <a:extLst>
              <a:ext uri="{FF2B5EF4-FFF2-40B4-BE49-F238E27FC236}">
                <a16:creationId xmlns:a16="http://schemas.microsoft.com/office/drawing/2014/main" id="{60356DCC-29E0-304C-D02E-B010FB807F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976958" y="2967263"/>
            <a:ext cx="1681267" cy="1800000"/>
          </a:xfrm>
          <a:prstGeom prst="rect">
            <a:avLst/>
          </a:prstGeom>
        </p:spPr>
      </p:pic>
      <p:sp>
        <p:nvSpPr>
          <p:cNvPr id="16" name="文本框 15">
            <a:extLst>
              <a:ext uri="{FF2B5EF4-FFF2-40B4-BE49-F238E27FC236}">
                <a16:creationId xmlns:a16="http://schemas.microsoft.com/office/drawing/2014/main" id="{210C6FFC-86DB-CE5E-0DF7-32FCD5DEEFE3}"/>
              </a:ext>
            </a:extLst>
          </p:cNvPr>
          <p:cNvSpPr txBox="1"/>
          <p:nvPr/>
        </p:nvSpPr>
        <p:spPr>
          <a:xfrm>
            <a:off x="3158793" y="2576943"/>
            <a:ext cx="2826415" cy="400110"/>
          </a:xfrm>
          <a:prstGeom prst="rect">
            <a:avLst/>
          </a:prstGeom>
          <a:solidFill>
            <a:schemeClr val="bg1">
              <a:lumMod val="95000"/>
            </a:schemeClr>
          </a:solidFill>
        </p:spPr>
        <p:txBody>
          <a:bodyPr wrap="none" rtlCol="0">
            <a:spAutoFit/>
          </a:bodyPr>
          <a:lstStyle/>
          <a:p>
            <a:pPr algn="ct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cs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p>
        </p:txBody>
      </p:sp>
    </p:spTree>
    <p:extLst>
      <p:ext uri="{BB962C8B-B14F-4D97-AF65-F5344CB8AC3E}">
        <p14:creationId xmlns:p14="http://schemas.microsoft.com/office/powerpoint/2010/main" val="4043951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7D85D3F-54CE-C6FF-A406-1992F3F6A409}"/>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C/S</a:t>
            </a:r>
            <a:endParaRPr lang="zh-CN" altLang="en-US" dirty="0"/>
          </a:p>
        </p:txBody>
      </p:sp>
      <p:sp>
        <p:nvSpPr>
          <p:cNvPr id="3" name="内容占位符 2">
            <a:extLst>
              <a:ext uri="{FF2B5EF4-FFF2-40B4-BE49-F238E27FC236}">
                <a16:creationId xmlns:a16="http://schemas.microsoft.com/office/drawing/2014/main" id="{6DDD8501-D1C9-E49D-A5A0-AF29FA0B3EF7}"/>
              </a:ext>
            </a:extLst>
          </p:cNvPr>
          <p:cNvSpPr>
            <a:spLocks noGrp="1"/>
          </p:cNvSpPr>
          <p:nvPr>
            <p:ph sz="quarter" idx="11"/>
          </p:nvPr>
        </p:nvSpPr>
        <p:spPr>
          <a:xfrm>
            <a:off x="486000" y="687518"/>
            <a:ext cx="8172000" cy="4079035"/>
          </a:xfrm>
        </p:spPr>
        <p:txBody>
          <a:bodyPr/>
          <a:lstStyle/>
          <a:p>
            <a:r>
              <a:rPr lang="en-US" altLang="zh-CN" i="1" dirty="0"/>
              <a:t>u</a:t>
            </a:r>
            <a:r>
              <a:rPr lang="en-US" altLang="zh-CN" baseline="-25000" dirty="0"/>
              <a:t>s</a:t>
            </a:r>
            <a:r>
              <a:rPr lang="en-US" altLang="zh-CN" dirty="0"/>
              <a:t> =30Mbps</a:t>
            </a:r>
          </a:p>
          <a:p>
            <a:r>
              <a:rPr lang="en-US" altLang="zh-CN" i="1" dirty="0"/>
              <a:t>N </a:t>
            </a:r>
            <a:r>
              <a:rPr lang="en-US" altLang="zh-CN" dirty="0"/>
              <a:t>= 10</a:t>
            </a:r>
            <a:r>
              <a:rPr lang="zh-CN" altLang="en-US" dirty="0"/>
              <a:t>，其中 </a:t>
            </a:r>
            <a:r>
              <a:rPr lang="en-US" altLang="zh-CN" dirty="0"/>
              <a:t>9 </a:t>
            </a:r>
            <a:r>
              <a:rPr lang="zh-CN" altLang="en-US" dirty="0"/>
              <a:t>个客户端 </a:t>
            </a:r>
            <a:r>
              <a:rPr lang="en-US" altLang="zh-CN" i="1" dirty="0"/>
              <a:t>d </a:t>
            </a:r>
            <a:r>
              <a:rPr lang="en-US" altLang="zh-CN" dirty="0"/>
              <a:t>= 100Mbps</a:t>
            </a:r>
            <a:r>
              <a:rPr lang="zh-CN" altLang="en-US" dirty="0"/>
              <a:t>，</a:t>
            </a:r>
            <a:r>
              <a:rPr lang="en-US" altLang="zh-CN" dirty="0"/>
              <a:t>1 </a:t>
            </a:r>
            <a:r>
              <a:rPr lang="zh-CN" altLang="en-US" dirty="0"/>
              <a:t>个客户端 </a:t>
            </a:r>
            <a:r>
              <a:rPr lang="en-US" altLang="zh-CN" i="1" dirty="0"/>
              <a:t>d </a:t>
            </a:r>
            <a:r>
              <a:rPr lang="en-US" altLang="zh-CN" dirty="0"/>
              <a:t>= 2Mbps</a:t>
            </a:r>
          </a:p>
          <a:p>
            <a:r>
              <a:rPr lang="zh-CN" altLang="en-US" dirty="0"/>
              <a:t>文件 </a:t>
            </a:r>
            <a:r>
              <a:rPr lang="en-US" altLang="zh-CN" i="1" dirty="0"/>
              <a:t>F </a:t>
            </a:r>
            <a:r>
              <a:rPr lang="en-US" altLang="zh-CN" dirty="0"/>
              <a:t>= 15Gb</a:t>
            </a:r>
          </a:p>
          <a:p>
            <a:r>
              <a:rPr lang="zh-CN" altLang="en-US" dirty="0"/>
              <a:t>则：</a:t>
            </a:r>
          </a:p>
          <a:p>
            <a:pPr lvl="1"/>
            <a:r>
              <a:rPr lang="zh-CN" altLang="en-US" dirty="0"/>
              <a:t>服务器总上传时间：</a:t>
            </a:r>
            <a:r>
              <a:rPr lang="en-US" altLang="zh-CN" dirty="0"/>
              <a:t>10×15Gb/30Mbps=5000s</a:t>
            </a:r>
          </a:p>
          <a:p>
            <a:pPr lvl="1"/>
            <a:r>
              <a:rPr lang="zh-CN" altLang="en-US" dirty="0"/>
              <a:t>最慢客户端下载时间：</a:t>
            </a:r>
            <a:r>
              <a:rPr lang="en-US" altLang="zh-CN" dirty="0"/>
              <a:t>15Gb/2Mbps=7500s</a:t>
            </a:r>
          </a:p>
          <a:p>
            <a:pPr lvl="1"/>
            <a:r>
              <a:rPr lang="zh-CN" altLang="en-US" dirty="0"/>
              <a:t>整体完成时间 </a:t>
            </a:r>
            <a:r>
              <a:rPr lang="en-US" altLang="zh-CN" dirty="0"/>
              <a:t>= max(5000s, 7500 s) = 7500s</a:t>
            </a:r>
            <a:r>
              <a:rPr lang="zh-CN" altLang="en-US" dirty="0"/>
              <a:t>，因为那个慢客户端拖后腿</a:t>
            </a:r>
          </a:p>
        </p:txBody>
      </p:sp>
    </p:spTree>
    <p:extLst>
      <p:ext uri="{BB962C8B-B14F-4D97-AF65-F5344CB8AC3E}">
        <p14:creationId xmlns:p14="http://schemas.microsoft.com/office/powerpoint/2010/main" val="1461243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B2BF84F3-F739-07DA-D341-DB7E8727DFB0}"/>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P2P</a:t>
            </a:r>
            <a:endParaRPr lang="zh-CN" altLang="en-US" dirty="0"/>
          </a:p>
        </p:txBody>
      </p:sp>
      <p:sp>
        <p:nvSpPr>
          <p:cNvPr id="8" name="内容占位符 7">
            <a:extLst>
              <a:ext uri="{FF2B5EF4-FFF2-40B4-BE49-F238E27FC236}">
                <a16:creationId xmlns:a16="http://schemas.microsoft.com/office/drawing/2014/main" id="{7B203C10-B39F-5475-67AB-31BEA611A652}"/>
              </a:ext>
            </a:extLst>
          </p:cNvPr>
          <p:cNvSpPr>
            <a:spLocks noGrp="1"/>
          </p:cNvSpPr>
          <p:nvPr>
            <p:ph sz="quarter" idx="11"/>
          </p:nvPr>
        </p:nvSpPr>
        <p:spPr>
          <a:xfrm>
            <a:off x="486000" y="687518"/>
            <a:ext cx="8172000" cy="4079035"/>
          </a:xfrm>
        </p:spPr>
        <p:txBody>
          <a:bodyPr/>
          <a:lstStyle/>
          <a:p>
            <a:r>
              <a:rPr lang="zh-CN" altLang="en-US" dirty="0"/>
              <a:t>服务器：文件分发的最少时间 </a:t>
            </a:r>
            <a:r>
              <a:rPr lang="en-US" altLang="zh-CN" i="1" dirty="0"/>
              <a:t>F</a:t>
            </a:r>
            <a:r>
              <a:rPr lang="en-US" altLang="zh-CN" dirty="0"/>
              <a:t>/</a:t>
            </a:r>
            <a:r>
              <a:rPr lang="en-US" altLang="zh-CN" i="1" dirty="0"/>
              <a:t>u</a:t>
            </a:r>
            <a:r>
              <a:rPr lang="en-US" altLang="zh-CN" baseline="-25000" dirty="0"/>
              <a:t>s</a:t>
            </a:r>
            <a:r>
              <a:rPr lang="en-US" altLang="zh-CN" dirty="0"/>
              <a:t> </a:t>
            </a:r>
            <a:endParaRPr lang="zh-CN" altLang="en-US" dirty="0"/>
          </a:p>
          <a:p>
            <a:r>
              <a:rPr lang="zh-CN" altLang="en-US" dirty="0"/>
              <a:t>最慢主机：下载文件的最少时间 </a:t>
            </a:r>
            <a:r>
              <a:rPr lang="en-US" altLang="zh-CN" i="1" dirty="0"/>
              <a:t>F</a:t>
            </a:r>
            <a:r>
              <a:rPr lang="en-US" altLang="zh-CN" dirty="0"/>
              <a:t>/</a:t>
            </a:r>
            <a:r>
              <a:rPr lang="en-US" altLang="zh-CN" i="1" dirty="0" err="1"/>
              <a:t>d</a:t>
            </a:r>
            <a:r>
              <a:rPr lang="en-US" altLang="zh-CN" baseline="-25000" dirty="0" err="1"/>
              <a:t>min</a:t>
            </a:r>
            <a:r>
              <a:rPr lang="en-US" altLang="zh-CN" dirty="0"/>
              <a:t> </a:t>
            </a:r>
          </a:p>
          <a:p>
            <a:r>
              <a:rPr lang="zh-CN" altLang="en-US" dirty="0"/>
              <a:t>要让 </a:t>
            </a:r>
            <a:r>
              <a:rPr lang="en-US" altLang="zh-CN" i="1" dirty="0"/>
              <a:t>N </a:t>
            </a:r>
            <a:r>
              <a:rPr lang="zh-CN" altLang="en-US" dirty="0"/>
              <a:t>个主机都收到完整的文件 </a:t>
            </a:r>
            <a:r>
              <a:rPr lang="en-US" altLang="zh-CN" i="1" dirty="0"/>
              <a:t>F</a:t>
            </a:r>
            <a:r>
              <a:rPr lang="zh-CN" altLang="en-US" dirty="0"/>
              <a:t>，整个系统至少需要产生 </a:t>
            </a:r>
            <a:r>
              <a:rPr lang="en-US" altLang="zh-CN" i="1" dirty="0"/>
              <a:t>NF</a:t>
            </a:r>
            <a:r>
              <a:rPr lang="en-US" altLang="zh-CN" dirty="0"/>
              <a:t>  </a:t>
            </a:r>
            <a:r>
              <a:rPr lang="zh-CN" altLang="en-US" dirty="0"/>
              <a:t>的数据量</a:t>
            </a:r>
            <a:endParaRPr lang="en-US" altLang="zh-CN" dirty="0"/>
          </a:p>
          <a:p>
            <a:pPr lvl="1"/>
            <a:r>
              <a:rPr lang="zh-CN" altLang="en-US" dirty="0"/>
              <a:t>所有主机都可参与上传 </a:t>
            </a:r>
            <a:r>
              <a:rPr lang="en-US" altLang="zh-CN" dirty="0"/>
              <a:t>-</a:t>
            </a:r>
            <a:r>
              <a:rPr lang="zh-CN" altLang="en-US" dirty="0"/>
              <a:t> </a:t>
            </a:r>
            <a:r>
              <a:rPr lang="zh-CN" altLang="en-US" b="1" dirty="0">
                <a:solidFill>
                  <a:srgbClr val="FF0000"/>
                </a:solidFill>
              </a:rPr>
              <a:t>多个数据源</a:t>
            </a:r>
            <a:r>
              <a:rPr lang="zh-CN" altLang="en-US" dirty="0"/>
              <a:t>，系统总上传能力为服务器和各主机上传能力之和</a:t>
            </a:r>
            <a:endParaRPr lang="en-US" altLang="zh-CN" dirty="0"/>
          </a:p>
          <a:p>
            <a:pPr lvl="1"/>
            <a:r>
              <a:rPr lang="en-US" altLang="zh-CN" i="1" dirty="0" err="1"/>
              <a:t>u</a:t>
            </a:r>
            <a:r>
              <a:rPr lang="en-US" altLang="zh-CN" baseline="-25000" dirty="0" err="1"/>
              <a:t>T</a:t>
            </a:r>
            <a:r>
              <a:rPr lang="en-US" altLang="zh-CN" dirty="0"/>
              <a:t> = </a:t>
            </a:r>
            <a:r>
              <a:rPr lang="en-US" altLang="zh-CN" i="1" dirty="0"/>
              <a:t>u</a:t>
            </a:r>
            <a:r>
              <a:rPr lang="en-US" altLang="zh-CN" baseline="-25000" dirty="0"/>
              <a:t>s</a:t>
            </a:r>
            <a:r>
              <a:rPr lang="en-US" altLang="zh-CN" dirty="0"/>
              <a:t> + </a:t>
            </a:r>
            <a:r>
              <a:rPr lang="en-US" altLang="zh-CN" i="1" dirty="0"/>
              <a:t>u</a:t>
            </a:r>
            <a:r>
              <a:rPr lang="en-US" altLang="zh-CN" baseline="-25000" dirty="0"/>
              <a:t>1</a:t>
            </a:r>
            <a:r>
              <a:rPr lang="en-US" altLang="zh-CN" dirty="0"/>
              <a:t> + </a:t>
            </a:r>
            <a:r>
              <a:rPr lang="en-US" altLang="zh-CN" i="1" dirty="0"/>
              <a:t>u</a:t>
            </a:r>
            <a:r>
              <a:rPr lang="en-US" altLang="zh-CN" baseline="-25000" dirty="0"/>
              <a:t>2</a:t>
            </a:r>
            <a:r>
              <a:rPr lang="en-US" altLang="zh-CN" dirty="0"/>
              <a:t> + … +</a:t>
            </a:r>
            <a:r>
              <a:rPr lang="en-US" altLang="zh-CN" i="1" dirty="0" err="1"/>
              <a:t>u</a:t>
            </a:r>
            <a:r>
              <a:rPr lang="en-US" altLang="zh-CN" baseline="-25000" dirty="0" err="1"/>
              <a:t>N</a:t>
            </a:r>
            <a:endParaRPr lang="zh-CN" altLang="en-US" baseline="-25000" dirty="0"/>
          </a:p>
          <a:p>
            <a:pPr lvl="1"/>
            <a:r>
              <a:rPr lang="zh-CN" altLang="en-US" dirty="0"/>
              <a:t>上传文件分发的最少时间不可能小于 </a:t>
            </a:r>
            <a:r>
              <a:rPr lang="en-US" altLang="zh-CN" i="1" dirty="0"/>
              <a:t>NF</a:t>
            </a:r>
            <a:r>
              <a:rPr lang="en-US" altLang="zh-CN" dirty="0"/>
              <a:t>/</a:t>
            </a:r>
            <a:r>
              <a:rPr lang="en-US" altLang="zh-CN" i="1" dirty="0" err="1"/>
              <a:t>u</a:t>
            </a:r>
            <a:r>
              <a:rPr lang="en-US" altLang="zh-CN" baseline="-25000" dirty="0" err="1"/>
              <a:t>T</a:t>
            </a:r>
            <a:r>
              <a:rPr lang="en-US" altLang="zh-CN" dirty="0"/>
              <a:t> </a:t>
            </a:r>
          </a:p>
          <a:p>
            <a:r>
              <a:rPr lang="zh-CN" altLang="en-US" dirty="0"/>
              <a:t>所有主机都下载完文件 </a:t>
            </a:r>
            <a:r>
              <a:rPr lang="en-US" altLang="zh-CN" i="1" dirty="0"/>
              <a:t>F</a:t>
            </a:r>
            <a:r>
              <a:rPr lang="en-US" altLang="zh-CN" dirty="0"/>
              <a:t>  </a:t>
            </a:r>
            <a:r>
              <a:rPr lang="zh-CN" altLang="en-US" dirty="0"/>
              <a:t>的最少时间的下限</a:t>
            </a:r>
          </a:p>
          <a:p>
            <a:endParaRPr lang="zh-CN" altLang="en-US" dirty="0"/>
          </a:p>
        </p:txBody>
      </p:sp>
      <p:sp>
        <p:nvSpPr>
          <p:cNvPr id="14" name="文本框 13">
            <a:extLst>
              <a:ext uri="{FF2B5EF4-FFF2-40B4-BE49-F238E27FC236}">
                <a16:creationId xmlns:a16="http://schemas.microsoft.com/office/drawing/2014/main" id="{45C7BC58-D0B2-EF01-E710-5B9919312D23}"/>
              </a:ext>
            </a:extLst>
          </p:cNvPr>
          <p:cNvSpPr txBox="1"/>
          <p:nvPr/>
        </p:nvSpPr>
        <p:spPr>
          <a:xfrm>
            <a:off x="2715498" y="2884180"/>
            <a:ext cx="3713004" cy="400110"/>
          </a:xfrm>
          <a:prstGeom prst="rect">
            <a:avLst/>
          </a:prstGeom>
          <a:solidFill>
            <a:schemeClr val="bg1">
              <a:lumMod val="95000"/>
            </a:schemeClr>
          </a:solidFill>
        </p:spPr>
        <p:txBody>
          <a:bodyPr wrap="none" rtlCol="0">
            <a:spAutoFit/>
          </a:bodyPr>
          <a:lstStyle/>
          <a:p>
            <a:pPr algn="ct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p2p</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max(</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a:latin typeface="Times New Roman" panose="02020603050405020304" pitchFamily="18" charset="0"/>
                <a:ea typeface="微软雅黑 Light" panose="020B0502040204020203" pitchFamily="34" charset="-122"/>
                <a:cs typeface="Times New Roman" panose="02020603050405020304" pitchFamily="18" charset="0"/>
              </a:rPr>
              <a:t>s</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d</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min</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rPr>
              <a:t> </a:t>
            </a:r>
            <a:r>
              <a:rPr lang="en-US" altLang="zh-CN" sz="2000" i="1" dirty="0">
                <a:latin typeface="Times New Roman" panose="02020603050405020304" pitchFamily="18" charset="0"/>
                <a:ea typeface="微软雅黑 Light" panose="020B0502040204020203" pitchFamily="34" charset="-122"/>
                <a:cs typeface="Times New Roman" panose="02020603050405020304" pitchFamily="18" charset="0"/>
              </a:rPr>
              <a:t>NF</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a:t>
            </a:r>
            <a:r>
              <a:rPr lang="en-US" altLang="zh-CN" sz="2000" i="1" dirty="0" err="1">
                <a:latin typeface="Times New Roman" panose="02020603050405020304" pitchFamily="18" charset="0"/>
                <a:ea typeface="微软雅黑 Light" panose="020B0502040204020203" pitchFamily="34" charset="-122"/>
                <a:cs typeface="Times New Roman" panose="02020603050405020304" pitchFamily="18" charset="0"/>
              </a:rPr>
              <a:t>u</a:t>
            </a:r>
            <a:r>
              <a:rPr lang="en-US" altLang="zh-CN" sz="2000" baseline="-25000" dirty="0" err="1">
                <a:latin typeface="Times New Roman" panose="02020603050405020304" pitchFamily="18" charset="0"/>
                <a:ea typeface="微软雅黑 Light" panose="020B0502040204020203" pitchFamily="34" charset="-122"/>
                <a:cs typeface="Times New Roman" panose="02020603050405020304" pitchFamily="18" charset="0"/>
              </a:rPr>
              <a:t>T</a:t>
            </a:r>
            <a:r>
              <a:rPr lang="en-US" altLang="zh-CN" sz="2000" dirty="0">
                <a:latin typeface="Times New Roman" panose="02020603050405020304" pitchFamily="18" charset="0"/>
                <a:ea typeface="微软雅黑 Light" panose="020B0502040204020203" pitchFamily="34" charset="-122"/>
                <a:cs typeface="Times New Roman" panose="02020603050405020304" pitchFamily="18" charset="0"/>
              </a:rPr>
              <a:t> )</a:t>
            </a:r>
            <a:endParaRPr lang="zh-CN" altLang="en-US" sz="2000" dirty="0">
              <a:latin typeface="Times New Roman" panose="02020603050405020304" pitchFamily="18" charset="0"/>
              <a:ea typeface="微软雅黑 Light" panose="020B0502040204020203" pitchFamily="34" charset="-122"/>
              <a:cs typeface="Times New Roman" panose="02020603050405020304" pitchFamily="18" charset="0"/>
            </a:endParaRPr>
          </a:p>
        </p:txBody>
      </p:sp>
      <p:cxnSp>
        <p:nvCxnSpPr>
          <p:cNvPr id="20" name="直接箭头连接符 19">
            <a:extLst>
              <a:ext uri="{FF2B5EF4-FFF2-40B4-BE49-F238E27FC236}">
                <a16:creationId xmlns:a16="http://schemas.microsoft.com/office/drawing/2014/main" id="{837A2E42-46D6-397E-F418-1028FC27251C}"/>
              </a:ext>
            </a:extLst>
          </p:cNvPr>
          <p:cNvCxnSpPr>
            <a:cxnSpLocks/>
          </p:cNvCxnSpPr>
          <p:nvPr/>
        </p:nvCxnSpPr>
        <p:spPr>
          <a:xfrm>
            <a:off x="4250131" y="3416197"/>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E92993D7-602D-8FD0-39C8-516878AF6C1A}"/>
              </a:ext>
            </a:extLst>
          </p:cNvPr>
          <p:cNvCxnSpPr>
            <a:cxnSpLocks/>
          </p:cNvCxnSpPr>
          <p:nvPr/>
        </p:nvCxnSpPr>
        <p:spPr>
          <a:xfrm>
            <a:off x="4921909" y="3416197"/>
            <a:ext cx="0" cy="46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C6DF82AC-AAFE-0721-27D3-FE5288E37FF9}"/>
              </a:ext>
            </a:extLst>
          </p:cNvPr>
          <p:cNvCxnSpPr>
            <a:cxnSpLocks/>
          </p:cNvCxnSpPr>
          <p:nvPr/>
        </p:nvCxnSpPr>
        <p:spPr>
          <a:xfrm>
            <a:off x="5761935" y="3416197"/>
            <a:ext cx="0" cy="828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8A2D3309-7288-D565-31FF-2E6C0E1549BD}"/>
              </a:ext>
            </a:extLst>
          </p:cNvPr>
          <p:cNvSpPr txBox="1"/>
          <p:nvPr/>
        </p:nvSpPr>
        <p:spPr>
          <a:xfrm>
            <a:off x="3929171" y="3621023"/>
            <a:ext cx="646331"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源瓶颈</a:t>
            </a:r>
          </a:p>
        </p:txBody>
      </p:sp>
      <p:sp>
        <p:nvSpPr>
          <p:cNvPr id="24" name="文本框 23">
            <a:extLst>
              <a:ext uri="{FF2B5EF4-FFF2-40B4-BE49-F238E27FC236}">
                <a16:creationId xmlns:a16="http://schemas.microsoft.com/office/drawing/2014/main" id="{97DAE0BC-30B9-843D-EBD3-D70C06DF2FC5}"/>
              </a:ext>
            </a:extLst>
          </p:cNvPr>
          <p:cNvSpPr txBox="1"/>
          <p:nvPr/>
        </p:nvSpPr>
        <p:spPr>
          <a:xfrm>
            <a:off x="4447734" y="3931429"/>
            <a:ext cx="954107"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接收者瓶颈</a:t>
            </a:r>
          </a:p>
        </p:txBody>
      </p:sp>
      <p:sp>
        <p:nvSpPr>
          <p:cNvPr id="25" name="文本框 24">
            <a:extLst>
              <a:ext uri="{FF2B5EF4-FFF2-40B4-BE49-F238E27FC236}">
                <a16:creationId xmlns:a16="http://schemas.microsoft.com/office/drawing/2014/main" id="{DAF7BD9A-FA8F-026F-5B04-FC6A85F0B6C8}"/>
              </a:ext>
            </a:extLst>
          </p:cNvPr>
          <p:cNvSpPr txBox="1"/>
          <p:nvPr/>
        </p:nvSpPr>
        <p:spPr>
          <a:xfrm>
            <a:off x="5059237" y="4241835"/>
            <a:ext cx="1415772" cy="276999"/>
          </a:xfrm>
          <a:prstGeom prst="rect">
            <a:avLst/>
          </a:prstGeom>
          <a:noFill/>
        </p:spPr>
        <p:txBody>
          <a:bodyPr wrap="none" rtlCol="0">
            <a:spAutoFit/>
          </a:bodyPr>
          <a:lstStyle/>
          <a:p>
            <a:pPr algn="l"/>
            <a:r>
              <a:rPr lang="zh-CN" altLang="en-US" sz="1200" dirty="0">
                <a:latin typeface="Montserrat" panose="00000500000000000000" pitchFamily="2" charset="0"/>
                <a:ea typeface="微软雅黑 Light" panose="020B0502040204020203" pitchFamily="34" charset="-122"/>
              </a:rPr>
              <a:t>系统上传能力瓶颈</a:t>
            </a:r>
          </a:p>
        </p:txBody>
      </p:sp>
    </p:spTree>
    <p:extLst>
      <p:ext uri="{BB962C8B-B14F-4D97-AF65-F5344CB8AC3E}">
        <p14:creationId xmlns:p14="http://schemas.microsoft.com/office/powerpoint/2010/main" val="3743396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878C11E7-83D5-88BB-46F1-4D9EB936CEB7}"/>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时间比较</a:t>
            </a:r>
          </a:p>
        </p:txBody>
      </p:sp>
      <p:sp>
        <p:nvSpPr>
          <p:cNvPr id="8" name="内容占位符 7">
            <a:extLst>
              <a:ext uri="{FF2B5EF4-FFF2-40B4-BE49-F238E27FC236}">
                <a16:creationId xmlns:a16="http://schemas.microsoft.com/office/drawing/2014/main" id="{0B01E838-F66B-9CA8-63B7-A26812A732B4}"/>
              </a:ext>
            </a:extLst>
          </p:cNvPr>
          <p:cNvSpPr>
            <a:spLocks noGrp="1"/>
          </p:cNvSpPr>
          <p:nvPr>
            <p:ph sz="quarter" idx="11"/>
          </p:nvPr>
        </p:nvSpPr>
        <p:spPr>
          <a:xfrm>
            <a:off x="486000" y="687518"/>
            <a:ext cx="8172000" cy="4079035"/>
          </a:xfrm>
        </p:spPr>
        <p:txBody>
          <a:bodyPr/>
          <a:lstStyle/>
          <a:p>
            <a:r>
              <a:rPr lang="zh-CN" altLang="en-US" dirty="0"/>
              <a:t>设所有的对等方的上传速率都是 </a:t>
            </a:r>
            <a:r>
              <a:rPr lang="en-US" altLang="zh-CN" i="1" dirty="0"/>
              <a:t>u</a:t>
            </a:r>
            <a:r>
              <a:rPr lang="zh-CN" altLang="en-US" dirty="0"/>
              <a:t>，并且 </a:t>
            </a:r>
            <a:r>
              <a:rPr lang="en-US" altLang="zh-CN" i="1" dirty="0"/>
              <a:t>F</a:t>
            </a:r>
            <a:r>
              <a:rPr lang="en-US" altLang="zh-CN" dirty="0"/>
              <a:t>/</a:t>
            </a:r>
            <a:r>
              <a:rPr lang="en-US" altLang="zh-CN" i="1" dirty="0"/>
              <a:t>u</a:t>
            </a:r>
            <a:r>
              <a:rPr lang="en-US" altLang="zh-CN" dirty="0"/>
              <a:t> = 1 </a:t>
            </a:r>
            <a:r>
              <a:rPr lang="zh-CN" altLang="en-US" dirty="0"/>
              <a:t>小时</a:t>
            </a:r>
            <a:endParaRPr lang="en-US" altLang="zh-CN" dirty="0"/>
          </a:p>
          <a:p>
            <a:r>
              <a:rPr lang="zh-CN" altLang="en-US" dirty="0"/>
              <a:t>设服务器的上传速率 </a:t>
            </a:r>
            <a:r>
              <a:rPr lang="en-US" altLang="zh-CN" i="1" dirty="0"/>
              <a:t>u</a:t>
            </a:r>
            <a:r>
              <a:rPr lang="en-US" altLang="zh-CN" baseline="-25000" dirty="0"/>
              <a:t>s</a:t>
            </a:r>
            <a:r>
              <a:rPr lang="en-US" altLang="zh-CN" dirty="0"/>
              <a:t> = 10</a:t>
            </a:r>
            <a:r>
              <a:rPr lang="en-US" altLang="zh-CN" i="1" dirty="0"/>
              <a:t>u</a:t>
            </a:r>
          </a:p>
          <a:p>
            <a:r>
              <a:rPr lang="zh-CN" altLang="en-US" dirty="0"/>
              <a:t>当 </a:t>
            </a:r>
            <a:r>
              <a:rPr lang="en-US" altLang="zh-CN" i="1" dirty="0"/>
              <a:t>N</a:t>
            </a:r>
            <a:r>
              <a:rPr lang="en-US" altLang="zh-CN" dirty="0"/>
              <a:t> = 30</a:t>
            </a:r>
          </a:p>
          <a:p>
            <a:pPr lvl="1"/>
            <a:r>
              <a:rPr lang="en-US" altLang="zh-CN" dirty="0"/>
              <a:t>C/S</a:t>
            </a:r>
            <a:r>
              <a:rPr lang="zh-CN" altLang="en-US" dirty="0"/>
              <a:t>：最少时间是 </a:t>
            </a:r>
            <a:r>
              <a:rPr lang="en-US" altLang="zh-CN" dirty="0"/>
              <a:t>3 </a:t>
            </a:r>
            <a:r>
              <a:rPr lang="zh-CN" altLang="en-US" dirty="0"/>
              <a:t>小时</a:t>
            </a:r>
          </a:p>
          <a:p>
            <a:pPr lvl="1"/>
            <a:r>
              <a:rPr lang="en-US" altLang="zh-CN" dirty="0"/>
              <a:t>P2P</a:t>
            </a:r>
            <a:r>
              <a:rPr lang="zh-CN" altLang="en-US" dirty="0"/>
              <a:t>：最少时间的下限是 </a:t>
            </a:r>
            <a:r>
              <a:rPr lang="en-US" altLang="zh-CN" dirty="0"/>
              <a:t>0.75 </a:t>
            </a:r>
            <a:r>
              <a:rPr lang="zh-CN" altLang="en-US" dirty="0"/>
              <a:t>小时 </a:t>
            </a:r>
            <a:r>
              <a:rPr lang="en-US" altLang="zh-CN" dirty="0"/>
              <a:t>&lt; 1 </a:t>
            </a:r>
            <a:r>
              <a:rPr lang="zh-CN" altLang="en-US" dirty="0"/>
              <a:t>小时（不管 </a:t>
            </a:r>
            <a:r>
              <a:rPr lang="en-US" altLang="zh-CN" i="1" dirty="0"/>
              <a:t>N</a:t>
            </a:r>
            <a:r>
              <a:rPr lang="en-US" altLang="zh-CN" dirty="0"/>
              <a:t> </a:t>
            </a:r>
            <a:r>
              <a:rPr lang="zh-CN" altLang="en-US" dirty="0"/>
              <a:t>多大）</a:t>
            </a:r>
            <a:endParaRPr lang="en-US" altLang="zh-CN" dirty="0"/>
          </a:p>
          <a:p>
            <a:endParaRPr lang="zh-CN" altLang="en-US" dirty="0"/>
          </a:p>
        </p:txBody>
      </p:sp>
    </p:spTree>
    <p:extLst>
      <p:ext uri="{BB962C8B-B14F-4D97-AF65-F5344CB8AC3E}">
        <p14:creationId xmlns:p14="http://schemas.microsoft.com/office/powerpoint/2010/main" val="3873719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823D81-E1AD-F8DC-2FE4-BEEC93F82FA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B31847B-6261-84CA-B158-2EEED0FB843D}"/>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00BE96BE-BDEA-15AF-A8C8-F8D761B9D4DB}"/>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=10</a:t>
            </a:r>
          </a:p>
        </p:txBody>
      </p:sp>
      <p:sp>
        <p:nvSpPr>
          <p:cNvPr id="4" name="文本框 3">
            <a:extLst>
              <a:ext uri="{FF2B5EF4-FFF2-40B4-BE49-F238E27FC236}">
                <a16:creationId xmlns:a16="http://schemas.microsoft.com/office/drawing/2014/main" id="{C937B5C7-1E17-C59D-7DCB-E8C35BED43F7}"/>
              </a:ext>
            </a:extLst>
          </p:cNvPr>
          <p:cNvSpPr txBox="1"/>
          <p:nvPr/>
        </p:nvSpPr>
        <p:spPr>
          <a:xfrm>
            <a:off x="486000" y="2626157"/>
            <a:ext cx="3071675"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10*15Gb/30Mbps = 5000s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0E921B5D-6617-2FE2-A174-61C93B247739}"/>
              </a:ext>
            </a:extLst>
          </p:cNvPr>
          <p:cNvSpPr txBox="1"/>
          <p:nvPr/>
        </p:nvSpPr>
        <p:spPr>
          <a:xfrm>
            <a:off x="486000" y="3363773"/>
            <a:ext cx="6341801"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10*15Gbps/(30Mbps + 10*300Mbps) = 10*15Gbps/3030Mbps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49.5s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536389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BA0F13-F79D-F93D-9F88-9A0C493F2769}"/>
              </a:ext>
            </a:extLst>
          </p:cNvPr>
          <p:cNvSpPr>
            <a:spLocks noGrp="1"/>
          </p:cNvSpPr>
          <p:nvPr>
            <p:ph type="title"/>
          </p:nvPr>
        </p:nvSpPr>
        <p:spPr/>
        <p:txBody>
          <a:bodyPr/>
          <a:lstStyle/>
          <a:p>
            <a:r>
              <a:rPr lang="en-US" altLang="zh-CN" dirty="0"/>
              <a:t>P333 6-51</a:t>
            </a:r>
            <a:endParaRPr lang="zh-CN" altLang="en-US" dirty="0"/>
          </a:p>
        </p:txBody>
      </p:sp>
      <p:sp>
        <p:nvSpPr>
          <p:cNvPr id="3" name="内容占位符 2">
            <a:extLst>
              <a:ext uri="{FF2B5EF4-FFF2-40B4-BE49-F238E27FC236}">
                <a16:creationId xmlns:a16="http://schemas.microsoft.com/office/drawing/2014/main" id="{592B30CA-5DA6-F4AD-B64D-7FEAE6AE1AA9}"/>
              </a:ext>
            </a:extLst>
          </p:cNvPr>
          <p:cNvSpPr>
            <a:spLocks noGrp="1"/>
          </p:cNvSpPr>
          <p:nvPr>
            <p:ph sz="quarter" idx="11"/>
          </p:nvPr>
        </p:nvSpPr>
        <p:spPr>
          <a:xfrm>
            <a:off x="486000" y="687518"/>
            <a:ext cx="8172000" cy="4079035"/>
          </a:xfrm>
        </p:spPr>
        <p:txBody>
          <a:bodyPr/>
          <a:lstStyle/>
          <a:p>
            <a:r>
              <a:rPr lang="en-US" altLang="zh-CN" i="1" dirty="0"/>
              <a:t>F</a:t>
            </a:r>
            <a:r>
              <a:rPr lang="en-US" altLang="zh-CN" dirty="0"/>
              <a:t> = 15 Gb</a:t>
            </a:r>
          </a:p>
          <a:p>
            <a:r>
              <a:rPr lang="zh-CN" altLang="en-US" dirty="0"/>
              <a:t>服务器 </a:t>
            </a:r>
            <a:r>
              <a:rPr lang="en-US" altLang="zh-CN" i="1" dirty="0"/>
              <a:t>u</a:t>
            </a:r>
            <a:r>
              <a:rPr lang="en-US" altLang="zh-CN" baseline="-25000" dirty="0"/>
              <a:t>s</a:t>
            </a:r>
            <a:r>
              <a:rPr lang="en-US" altLang="zh-CN" dirty="0"/>
              <a:t> = 30 Mbps</a:t>
            </a:r>
          </a:p>
          <a:p>
            <a:r>
              <a:rPr lang="zh-CN" altLang="en-US" dirty="0"/>
              <a:t>对等方 </a:t>
            </a:r>
            <a:r>
              <a:rPr lang="en-US" altLang="zh-CN" i="1" dirty="0"/>
              <a:t>d</a:t>
            </a:r>
            <a:r>
              <a:rPr lang="en-US" altLang="zh-CN" dirty="0"/>
              <a:t> = 2M bps, </a:t>
            </a:r>
            <a:r>
              <a:rPr lang="en-US" altLang="zh-CN" i="1" dirty="0"/>
              <a:t>u</a:t>
            </a:r>
            <a:r>
              <a:rPr lang="en-US" altLang="zh-CN" dirty="0"/>
              <a:t> = 300 Mbps</a:t>
            </a:r>
          </a:p>
          <a:p>
            <a:r>
              <a:rPr lang="en-US" altLang="zh-CN" i="1" dirty="0"/>
              <a:t>N</a:t>
            </a:r>
            <a:r>
              <a:rPr lang="en-US" altLang="zh-CN" dirty="0"/>
              <a:t> = 1000</a:t>
            </a:r>
            <a:endParaRPr lang="zh-CN" altLang="en-US" dirty="0"/>
          </a:p>
        </p:txBody>
      </p:sp>
      <p:sp>
        <p:nvSpPr>
          <p:cNvPr id="4" name="文本框 3">
            <a:extLst>
              <a:ext uri="{FF2B5EF4-FFF2-40B4-BE49-F238E27FC236}">
                <a16:creationId xmlns:a16="http://schemas.microsoft.com/office/drawing/2014/main" id="{339F22D4-B2F1-59C9-F9AA-3C8CDD17908B}"/>
              </a:ext>
            </a:extLst>
          </p:cNvPr>
          <p:cNvSpPr txBox="1"/>
          <p:nvPr/>
        </p:nvSpPr>
        <p:spPr>
          <a:xfrm>
            <a:off x="486000" y="2626157"/>
            <a:ext cx="3687228" cy="461665"/>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1000</a:t>
            </a:r>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1000*15Gb/30Mbps = 500000s</a:t>
            </a:r>
            <a:endParaRPr lang="zh-CN" altLang="en-US" sz="1200" dirty="0">
              <a:latin typeface="Montserrat" panose="00000500000000000000" pitchFamily="2" charset="0"/>
              <a:ea typeface="微软雅黑 Light" panose="020B0502040204020203" pitchFamily="34" charset="-122"/>
            </a:endParaRPr>
          </a:p>
        </p:txBody>
      </p:sp>
      <p:sp>
        <p:nvSpPr>
          <p:cNvPr id="5" name="文本框 4">
            <a:extLst>
              <a:ext uri="{FF2B5EF4-FFF2-40B4-BE49-F238E27FC236}">
                <a16:creationId xmlns:a16="http://schemas.microsoft.com/office/drawing/2014/main" id="{A1198B7A-C026-5246-2E49-4BC338988A4D}"/>
              </a:ext>
            </a:extLst>
          </p:cNvPr>
          <p:cNvSpPr txBox="1"/>
          <p:nvPr/>
        </p:nvSpPr>
        <p:spPr>
          <a:xfrm>
            <a:off x="486000" y="3363773"/>
            <a:ext cx="7162538" cy="1015663"/>
          </a:xfrm>
          <a:prstGeom prst="rect">
            <a:avLst/>
          </a:prstGeom>
          <a:solidFill>
            <a:schemeClr val="bg1">
              <a:lumMod val="95000"/>
            </a:schemeClr>
          </a:solidFill>
        </p:spPr>
        <p:txBody>
          <a:bodyPr wrap="none" rtlCol="0">
            <a:spAutoFit/>
          </a:bodyPr>
          <a:lstStyle/>
          <a:p>
            <a:r>
              <a:rPr lang="en-US" altLang="zh-CN" sz="1200" i="1" dirty="0">
                <a:latin typeface="Montserrat" panose="00000500000000000000" pitchFamily="2" charset="0"/>
                <a:ea typeface="微软雅黑 Light" panose="020B0502040204020203" pitchFamily="34" charset="-122"/>
              </a:rPr>
              <a:t>N</a:t>
            </a:r>
            <a:r>
              <a:rPr lang="en-US" altLang="zh-CN" sz="1200" dirty="0">
                <a:latin typeface="Montserrat" panose="00000500000000000000" pitchFamily="2" charset="0"/>
                <a:ea typeface="微软雅黑 Light" panose="020B0502040204020203" pitchFamily="34" charset="-122"/>
              </a:rPr>
              <a:t> = 1000</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15Gb/30Mbps = 500s </a:t>
            </a:r>
          </a:p>
          <a:p>
            <a:r>
              <a:rPr lang="en-US" altLang="zh-CN" sz="1200" i="1" dirty="0">
                <a:latin typeface="Montserrat" panose="00000500000000000000" pitchFamily="2" charset="0"/>
                <a:ea typeface="微软雅黑 Light" panose="020B0502040204020203" pitchFamily="34" charset="-122"/>
              </a:rPr>
              <a:t>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d</a:t>
            </a:r>
            <a:r>
              <a:rPr lang="en-US" altLang="zh-CN" sz="1200" dirty="0">
                <a:latin typeface="Montserrat" panose="00000500000000000000" pitchFamily="2" charset="0"/>
                <a:ea typeface="微软雅黑 Light" panose="020B0502040204020203" pitchFamily="34" charset="-122"/>
              </a:rPr>
              <a:t> = 15Gb/2Mbps = 7500s</a:t>
            </a:r>
          </a:p>
          <a:p>
            <a:r>
              <a:rPr lang="en-US" altLang="zh-CN" sz="1200" i="1" dirty="0">
                <a:latin typeface="Montserrat" panose="00000500000000000000" pitchFamily="2" charset="0"/>
                <a:ea typeface="微软雅黑 Light" panose="020B0502040204020203" pitchFamily="34" charset="-122"/>
              </a:rPr>
              <a:t>NF</a:t>
            </a:r>
            <a:r>
              <a:rPr lang="en-US" altLang="zh-CN" sz="1200" dirty="0">
                <a:latin typeface="Montserrat" panose="00000500000000000000" pitchFamily="2" charset="0"/>
                <a:ea typeface="微软雅黑 Light" panose="020B0502040204020203" pitchFamily="34" charset="-122"/>
              </a:rPr>
              <a:t>/(</a:t>
            </a:r>
            <a:r>
              <a:rPr lang="en-US" altLang="zh-CN" sz="1200" i="1" dirty="0">
                <a:latin typeface="Montserrat" panose="00000500000000000000" pitchFamily="2" charset="0"/>
                <a:ea typeface="微软雅黑 Light" panose="020B0502040204020203" pitchFamily="34" charset="-122"/>
              </a:rPr>
              <a:t>u</a:t>
            </a:r>
            <a:r>
              <a:rPr lang="en-US" altLang="zh-CN" sz="1200" baseline="-25000" dirty="0">
                <a:latin typeface="Montserrat" panose="00000500000000000000" pitchFamily="2" charset="0"/>
                <a:ea typeface="微软雅黑 Light" panose="020B0502040204020203" pitchFamily="34" charset="-122"/>
              </a:rPr>
              <a:t>s</a:t>
            </a:r>
            <a:r>
              <a:rPr lang="en-US" altLang="zh-CN" sz="1200" dirty="0">
                <a:latin typeface="Montserrat" panose="00000500000000000000" pitchFamily="2" charset="0"/>
                <a:ea typeface="微软雅黑 Light" panose="020B0502040204020203" pitchFamily="34" charset="-122"/>
              </a:rPr>
              <a:t> + </a:t>
            </a:r>
            <a:r>
              <a:rPr lang="en-US" altLang="zh-CN" sz="1200" i="1" dirty="0">
                <a:latin typeface="Montserrat" panose="00000500000000000000" pitchFamily="2" charset="0"/>
                <a:ea typeface="微软雅黑 Light" panose="020B0502040204020203" pitchFamily="34" charset="-122"/>
              </a:rPr>
              <a:t>Nu</a:t>
            </a:r>
            <a:r>
              <a:rPr lang="en-US" altLang="zh-CN" sz="1200" dirty="0">
                <a:latin typeface="Montserrat" panose="00000500000000000000" pitchFamily="2" charset="0"/>
                <a:ea typeface="微软雅黑 Light" panose="020B0502040204020203" pitchFamily="34" charset="-122"/>
              </a:rPr>
              <a:t>) = 1000*15Gbps/(30Mbps + 1000*300Mbps) = 1000*15Gbps/300030Mbps </a:t>
            </a:r>
            <a:r>
              <a:rPr lang="zh-CN" altLang="en-US" sz="1200" dirty="0">
                <a:latin typeface="Montserrat" panose="00000500000000000000" pitchFamily="2" charset="0"/>
                <a:ea typeface="微软雅黑 Light" panose="020B0502040204020203" pitchFamily="34" charset="-122"/>
              </a:rPr>
              <a:t>≈</a:t>
            </a:r>
            <a:r>
              <a:rPr lang="en-US" altLang="zh-CN" sz="1200" dirty="0">
                <a:latin typeface="Montserrat" panose="00000500000000000000" pitchFamily="2" charset="0"/>
                <a:ea typeface="微软雅黑 Light" panose="020B0502040204020203" pitchFamily="34" charset="-122"/>
              </a:rPr>
              <a:t> 50s </a:t>
            </a:r>
          </a:p>
          <a:p>
            <a:r>
              <a:rPr lang="en-US" altLang="zh-CN" sz="1200" i="1" dirty="0" err="1">
                <a:latin typeface="Montserrat" panose="00000500000000000000" pitchFamily="2" charset="0"/>
                <a:ea typeface="微软雅黑 Light" panose="020B0502040204020203" pitchFamily="34" charset="-122"/>
              </a:rPr>
              <a:t>T</a:t>
            </a:r>
            <a:r>
              <a:rPr lang="en-US" altLang="zh-CN" sz="1200" baseline="-25000" dirty="0" err="1">
                <a:latin typeface="Montserrat" panose="00000500000000000000" pitchFamily="2" charset="0"/>
                <a:ea typeface="微软雅黑 Light" panose="020B0502040204020203" pitchFamily="34" charset="-122"/>
              </a:rPr>
              <a:t>cs</a:t>
            </a:r>
            <a:r>
              <a:rPr lang="en-US" altLang="zh-CN" sz="1200" dirty="0">
                <a:latin typeface="Montserrat" panose="00000500000000000000" pitchFamily="2" charset="0"/>
                <a:ea typeface="微软雅黑 Light" panose="020B0502040204020203" pitchFamily="34" charset="-122"/>
              </a:rPr>
              <a:t> = 7500s</a:t>
            </a:r>
            <a:endParaRPr lang="zh-CN" altLang="en-US" sz="12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603259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7D7EB060-6C5F-3A43-C0AC-E4AC06A9FC2F}"/>
              </a:ext>
            </a:extLst>
          </p:cNvPr>
          <p:cNvSpPr>
            <a:spLocks noGrp="1"/>
          </p:cNvSpPr>
          <p:nvPr>
            <p:ph type="title"/>
          </p:nvPr>
        </p:nvSpPr>
        <p:spPr>
          <a:xfrm>
            <a:off x="485999" y="174482"/>
            <a:ext cx="8171999" cy="338554"/>
          </a:xfrm>
        </p:spPr>
        <p:txBody>
          <a:bodyPr/>
          <a:lstStyle/>
          <a:p>
            <a:r>
              <a:rPr lang="en-US" altLang="zh-CN" dirty="0"/>
              <a:t>6.9.3  </a:t>
            </a:r>
            <a:r>
              <a:rPr lang="zh-CN" altLang="en-US" dirty="0"/>
              <a:t>文件分发 </a:t>
            </a:r>
            <a:r>
              <a:rPr lang="en-US" altLang="zh-CN" dirty="0"/>
              <a:t>– </a:t>
            </a:r>
            <a:r>
              <a:rPr lang="zh-CN" altLang="en-US" dirty="0"/>
              <a:t>总结</a:t>
            </a:r>
          </a:p>
        </p:txBody>
      </p:sp>
      <p:sp>
        <p:nvSpPr>
          <p:cNvPr id="3" name="内容占位符 2">
            <a:extLst>
              <a:ext uri="{FF2B5EF4-FFF2-40B4-BE49-F238E27FC236}">
                <a16:creationId xmlns:a16="http://schemas.microsoft.com/office/drawing/2014/main" id="{3ECB1466-FAC5-B0CC-1BFF-5426E4137123}"/>
              </a:ext>
            </a:extLst>
          </p:cNvPr>
          <p:cNvSpPr>
            <a:spLocks noGrp="1"/>
          </p:cNvSpPr>
          <p:nvPr>
            <p:ph sz="quarter" idx="11"/>
          </p:nvPr>
        </p:nvSpPr>
        <p:spPr>
          <a:xfrm>
            <a:off x="486000" y="687518"/>
            <a:ext cx="8172000" cy="4079035"/>
          </a:xfrm>
        </p:spPr>
        <p:txBody>
          <a:bodyPr/>
          <a:lstStyle/>
          <a:p>
            <a:r>
              <a:rPr lang="zh-CN" altLang="en-US" dirty="0"/>
              <a:t>无论是 </a:t>
            </a:r>
            <a:r>
              <a:rPr lang="en-US" altLang="zh-CN" dirty="0"/>
              <a:t>C/S </a:t>
            </a:r>
            <a:r>
              <a:rPr lang="zh-CN" altLang="en-US" dirty="0"/>
              <a:t>还是 </a:t>
            </a:r>
            <a:r>
              <a:rPr lang="en-US" altLang="zh-CN" dirty="0"/>
              <a:t>P2P </a:t>
            </a:r>
            <a:r>
              <a:rPr lang="zh-CN" altLang="en-US" dirty="0"/>
              <a:t>模型，整个分发过程的完成时间 </a:t>
            </a:r>
            <a:r>
              <a:rPr lang="en-US" altLang="zh-CN" dirty="0"/>
              <a:t>= </a:t>
            </a:r>
            <a:r>
              <a:rPr lang="zh-CN" altLang="en-US" dirty="0"/>
              <a:t>最后一个 </a:t>
            </a:r>
            <a:r>
              <a:rPr lang="en-US" altLang="zh-CN" dirty="0"/>
              <a:t>peer </a:t>
            </a:r>
            <a:r>
              <a:rPr lang="zh-CN" altLang="en-US" dirty="0"/>
              <a:t>收到完整文件的时间</a:t>
            </a:r>
          </a:p>
        </p:txBody>
      </p:sp>
      <p:pic>
        <p:nvPicPr>
          <p:cNvPr id="9" name="图片 8">
            <a:extLst>
              <a:ext uri="{FF2B5EF4-FFF2-40B4-BE49-F238E27FC236}">
                <a16:creationId xmlns:a16="http://schemas.microsoft.com/office/drawing/2014/main" id="{E09C1A27-9952-D541-97E7-A71983077A5B}"/>
              </a:ext>
            </a:extLst>
          </p:cNvPr>
          <p:cNvPicPr>
            <a:picLocks noChangeAspect="1"/>
          </p:cNvPicPr>
          <p:nvPr/>
        </p:nvPicPr>
        <p:blipFill>
          <a:blip r:embed="rId2"/>
          <a:stretch>
            <a:fillRect/>
          </a:stretch>
        </p:blipFill>
        <p:spPr>
          <a:xfrm>
            <a:off x="2191047" y="1548503"/>
            <a:ext cx="4761905" cy="1285714"/>
          </a:xfrm>
          <a:prstGeom prst="rect">
            <a:avLst/>
          </a:prstGeom>
        </p:spPr>
      </p:pic>
      <p:pic>
        <p:nvPicPr>
          <p:cNvPr id="11" name="图片 10">
            <a:extLst>
              <a:ext uri="{FF2B5EF4-FFF2-40B4-BE49-F238E27FC236}">
                <a16:creationId xmlns:a16="http://schemas.microsoft.com/office/drawing/2014/main" id="{25841785-D5B7-ACB4-270F-61C06188B6E0}"/>
              </a:ext>
            </a:extLst>
          </p:cNvPr>
          <p:cNvPicPr>
            <a:picLocks noChangeAspect="1"/>
          </p:cNvPicPr>
          <p:nvPr/>
        </p:nvPicPr>
        <p:blipFill>
          <a:blip r:embed="rId3"/>
          <a:stretch>
            <a:fillRect/>
          </a:stretch>
        </p:blipFill>
        <p:spPr>
          <a:xfrm>
            <a:off x="2191047" y="2923760"/>
            <a:ext cx="4761905" cy="1285714"/>
          </a:xfrm>
          <a:prstGeom prst="rect">
            <a:avLst/>
          </a:prstGeom>
        </p:spPr>
      </p:pic>
    </p:spTree>
    <p:extLst>
      <p:ext uri="{BB962C8B-B14F-4D97-AF65-F5344CB8AC3E}">
        <p14:creationId xmlns:p14="http://schemas.microsoft.com/office/powerpoint/2010/main" val="2014028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F72E1166-815F-6CE3-8B75-E5E3152B22FE}"/>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90AB59D4-DD3B-7E4B-A858-C15897867FFF}"/>
              </a:ext>
            </a:extLst>
          </p:cNvPr>
          <p:cNvSpPr>
            <a:spLocks noGrp="1"/>
          </p:cNvSpPr>
          <p:nvPr>
            <p:ph sz="quarter" idx="11"/>
          </p:nvPr>
        </p:nvSpPr>
        <p:spPr>
          <a:xfrm>
            <a:off x="486000" y="687518"/>
            <a:ext cx="8172000" cy="4079035"/>
          </a:xfrm>
        </p:spPr>
        <p:txBody>
          <a:bodyPr/>
          <a:lstStyle/>
          <a:p>
            <a:r>
              <a:rPr lang="en-US" altLang="zh-CN" dirty="0"/>
              <a:t>Napster </a:t>
            </a:r>
            <a:r>
              <a:rPr lang="zh-CN" altLang="en-US" dirty="0"/>
              <a:t>在一个集中式目录服务器中构建查找数据库，简单，但性能上有瓶颈</a:t>
            </a:r>
          </a:p>
          <a:p>
            <a:r>
              <a:rPr lang="en-US" altLang="zh-CN" dirty="0"/>
              <a:t>Gnutella </a:t>
            </a:r>
            <a:r>
              <a:rPr lang="zh-CN" altLang="en-US" dirty="0"/>
              <a:t>是一种采用全分布方法定位内容的 </a:t>
            </a:r>
            <a:r>
              <a:rPr lang="en-US" altLang="zh-CN" dirty="0"/>
              <a:t>P2P </a:t>
            </a:r>
            <a:r>
              <a:rPr lang="zh-CN" altLang="en-US" dirty="0"/>
              <a:t>文件共享应用程序，它解决了集中式目录服务器所造成的瓶颈问题。但 </a:t>
            </a:r>
            <a:r>
              <a:rPr lang="en-US" altLang="zh-CN" dirty="0"/>
              <a:t>Gnutella </a:t>
            </a:r>
            <a:r>
              <a:rPr lang="zh-CN" altLang="en-US" dirty="0"/>
              <a:t>是在非结构化的覆盖网络中采用查询洪泛的方法进行查找，因此查找的效率较低</a:t>
            </a:r>
          </a:p>
          <a:p>
            <a:endParaRPr lang="zh-CN" altLang="en-US" dirty="0"/>
          </a:p>
        </p:txBody>
      </p:sp>
    </p:spTree>
    <p:extLst>
      <p:ext uri="{BB962C8B-B14F-4D97-AF65-F5344CB8AC3E}">
        <p14:creationId xmlns:p14="http://schemas.microsoft.com/office/powerpoint/2010/main" val="38732697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205BC21B-877E-FB3D-B231-D9B09B981E39}"/>
              </a:ext>
            </a:extLst>
          </p:cNvPr>
          <p:cNvSpPr>
            <a:spLocks noGrp="1"/>
          </p:cNvSpPr>
          <p:nvPr>
            <p:ph type="title"/>
          </p:nvPr>
        </p:nvSpPr>
        <p:spPr>
          <a:xfrm>
            <a:off x="485999" y="174482"/>
            <a:ext cx="8171999" cy="338554"/>
          </a:xfrm>
        </p:spPr>
        <p:txBody>
          <a:bodyPr/>
          <a:lstStyle/>
          <a:p>
            <a:r>
              <a:rPr lang="en-US" altLang="zh-CN" dirty="0"/>
              <a:t>6.9.4  </a:t>
            </a:r>
            <a:r>
              <a:rPr lang="zh-CN" altLang="en-US" dirty="0"/>
              <a:t>在 </a:t>
            </a:r>
            <a:r>
              <a:rPr lang="en-US" altLang="zh-CN" dirty="0"/>
              <a:t>P2P </a:t>
            </a:r>
            <a:r>
              <a:rPr lang="zh-CN" altLang="en-US" dirty="0"/>
              <a:t>对等方中搜索对象</a:t>
            </a:r>
          </a:p>
        </p:txBody>
      </p:sp>
      <p:sp>
        <p:nvSpPr>
          <p:cNvPr id="6" name="内容占位符 5">
            <a:extLst>
              <a:ext uri="{FF2B5EF4-FFF2-40B4-BE49-F238E27FC236}">
                <a16:creationId xmlns:a16="http://schemas.microsoft.com/office/drawing/2014/main" id="{39C8D10B-BFF2-0777-D87B-2935C2E68769}"/>
              </a:ext>
            </a:extLst>
          </p:cNvPr>
          <p:cNvSpPr>
            <a:spLocks noGrp="1"/>
          </p:cNvSpPr>
          <p:nvPr>
            <p:ph sz="quarter" idx="11"/>
          </p:nvPr>
        </p:nvSpPr>
        <p:spPr>
          <a:xfrm>
            <a:off x="486000" y="687518"/>
            <a:ext cx="8172000" cy="4079035"/>
          </a:xfrm>
        </p:spPr>
        <p:txBody>
          <a:bodyPr/>
          <a:lstStyle/>
          <a:p>
            <a:r>
              <a:rPr lang="zh-CN" altLang="en-US" dirty="0"/>
              <a:t>现在广泛使用的索引和查找技术叫做分布式散列表 </a:t>
            </a:r>
            <a:r>
              <a:rPr lang="en-US" altLang="zh-CN" dirty="0"/>
              <a:t>DHT (Distributed Hash Table)</a:t>
            </a:r>
          </a:p>
          <a:p>
            <a:r>
              <a:rPr lang="en-US" altLang="zh-CN" dirty="0"/>
              <a:t>DHT </a:t>
            </a:r>
            <a:r>
              <a:rPr lang="zh-CN" altLang="en-US" dirty="0"/>
              <a:t>也可译为分布式哈希表，由大量对等方共同维护</a:t>
            </a:r>
          </a:p>
          <a:p>
            <a:r>
              <a:rPr lang="zh-CN" altLang="en-US" dirty="0"/>
              <a:t>广泛使用的 </a:t>
            </a:r>
            <a:r>
              <a:rPr lang="en-US" altLang="zh-CN" dirty="0"/>
              <a:t>Chord </a:t>
            </a:r>
            <a:r>
              <a:rPr lang="zh-CN" altLang="en-US" dirty="0"/>
              <a:t>算法是美国麻省理工大学于 </a:t>
            </a:r>
            <a:r>
              <a:rPr lang="en-US" altLang="zh-CN" dirty="0"/>
              <a:t>2001 </a:t>
            </a:r>
            <a:r>
              <a:rPr lang="zh-CN" altLang="en-US" dirty="0"/>
              <a:t>年提出的</a:t>
            </a:r>
          </a:p>
          <a:p>
            <a:endParaRPr lang="zh-CN" altLang="en-US" dirty="0"/>
          </a:p>
        </p:txBody>
      </p:sp>
    </p:spTree>
    <p:extLst>
      <p:ext uri="{BB962C8B-B14F-4D97-AF65-F5344CB8AC3E}">
        <p14:creationId xmlns:p14="http://schemas.microsoft.com/office/powerpoint/2010/main" val="291191764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76762F-05F7-ECBD-CD61-6BE878ECCC31}"/>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3" name="内容占位符 2">
            <a:extLst>
              <a:ext uri="{FF2B5EF4-FFF2-40B4-BE49-F238E27FC236}">
                <a16:creationId xmlns:a16="http://schemas.microsoft.com/office/drawing/2014/main" id="{BD98E397-A2B5-F854-34AF-DAAF9AD378F6}"/>
              </a:ext>
            </a:extLst>
          </p:cNvPr>
          <p:cNvSpPr>
            <a:spLocks noGrp="1"/>
          </p:cNvSpPr>
          <p:nvPr>
            <p:ph sz="quarter" idx="11"/>
          </p:nvPr>
        </p:nvSpPr>
        <p:spPr>
          <a:xfrm>
            <a:off x="486000" y="687518"/>
            <a:ext cx="8172000" cy="4079035"/>
          </a:xfrm>
        </p:spPr>
        <p:txBody>
          <a:bodyPr/>
          <a:lstStyle/>
          <a:p>
            <a:r>
              <a:rPr lang="zh-CN" altLang="en-US" dirty="0"/>
              <a:t>分布式散列表 </a:t>
            </a:r>
            <a:r>
              <a:rPr lang="en-US" altLang="zh-CN" dirty="0"/>
              <a:t>DHT </a:t>
            </a:r>
            <a:r>
              <a:rPr lang="zh-CN" altLang="en-US" dirty="0"/>
              <a:t>利用散列函数，把资源名 </a:t>
            </a:r>
            <a:r>
              <a:rPr lang="en-US" altLang="zh-CN" dirty="0"/>
              <a:t>K </a:t>
            </a:r>
            <a:r>
              <a:rPr lang="zh-CN" altLang="en-US" dirty="0"/>
              <a:t>及其存放的结点 </a:t>
            </a:r>
            <a:r>
              <a:rPr lang="en-US" altLang="zh-CN" dirty="0"/>
              <a:t>IP </a:t>
            </a:r>
            <a:r>
              <a:rPr lang="zh-CN" altLang="en-US" dirty="0"/>
              <a:t>地址 </a:t>
            </a:r>
            <a:r>
              <a:rPr lang="en-US" altLang="zh-CN" dirty="0"/>
              <a:t>N </a:t>
            </a:r>
            <a:r>
              <a:rPr lang="zh-CN" altLang="en-US" dirty="0"/>
              <a:t>都分别映射为资源名标识符 </a:t>
            </a:r>
            <a:r>
              <a:rPr lang="en-US" altLang="zh-CN" dirty="0"/>
              <a:t>KID </a:t>
            </a:r>
            <a:r>
              <a:rPr lang="zh-CN" altLang="en-US" dirty="0"/>
              <a:t>和结点标识符 </a:t>
            </a:r>
            <a:r>
              <a:rPr lang="en-US" altLang="zh-CN" dirty="0"/>
              <a:t>NID</a:t>
            </a:r>
            <a:endParaRPr lang="zh-CN" altLang="en-US" dirty="0"/>
          </a:p>
          <a:p>
            <a:r>
              <a:rPr lang="en-US" altLang="zh-CN" dirty="0"/>
              <a:t>Chord </a:t>
            </a:r>
            <a:r>
              <a:rPr lang="zh-CN" altLang="en-US" dirty="0"/>
              <a:t>把结点按标识符数值从小到大沿顺时针排列成一个环形覆盖网络</a:t>
            </a:r>
            <a:endParaRPr lang="en-US" altLang="zh-CN" dirty="0"/>
          </a:p>
          <a:p>
            <a:r>
              <a:rPr lang="zh-CN" altLang="en-US" dirty="0"/>
              <a:t>每个资源由 </a:t>
            </a:r>
            <a:r>
              <a:rPr lang="en-US" altLang="zh-CN" dirty="0"/>
              <a:t>Chord </a:t>
            </a:r>
            <a:r>
              <a:rPr lang="zh-CN" altLang="en-US" dirty="0"/>
              <a:t>环上与其标识符值最接近的下一个结点提供服务</a:t>
            </a:r>
          </a:p>
          <a:p>
            <a:endParaRPr lang="zh-CN" altLang="en-US" dirty="0"/>
          </a:p>
        </p:txBody>
      </p:sp>
    </p:spTree>
    <p:extLst>
      <p:ext uri="{BB962C8B-B14F-4D97-AF65-F5344CB8AC3E}">
        <p14:creationId xmlns:p14="http://schemas.microsoft.com/office/powerpoint/2010/main" val="39653722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109307" y="1075764"/>
            <a:ext cx="6889473" cy="2859560"/>
            <a:chOff x="168275" y="411163"/>
            <a:chExt cx="8839200" cy="3637998"/>
          </a:xfrm>
        </p:grpSpPr>
        <p:sp>
          <p:nvSpPr>
            <p:cNvPr id="8" name="Text Box 47"/>
            <p:cNvSpPr txBox="1">
              <a:spLocks noChangeArrowheads="1"/>
            </p:cNvSpPr>
            <p:nvPr/>
          </p:nvSpPr>
          <p:spPr bwMode="auto">
            <a:xfrm>
              <a:off x="7902575" y="31623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N13</a:t>
              </a:r>
            </a:p>
          </p:txBody>
        </p:sp>
        <p:sp>
          <p:nvSpPr>
            <p:cNvPr id="9" name="Text Box 81"/>
            <p:cNvSpPr txBox="1">
              <a:spLocks noChangeArrowheads="1"/>
            </p:cNvSpPr>
            <p:nvPr/>
          </p:nvSpPr>
          <p:spPr bwMode="auto">
            <a:xfrm>
              <a:off x="3810001" y="533399"/>
              <a:ext cx="715963"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1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737454" y="3657600"/>
              <a:ext cx="3156851"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(a) KID </a:t>
              </a:r>
              <a:r>
                <a:rPr kumimoji="1" lang="zh-CN" altLang="en-US" sz="1400" b="1" dirty="0">
                  <a:latin typeface="微软雅黑 Light" panose="020B0502040204020203" pitchFamily="34" charset="-122"/>
                  <a:ea typeface="微软雅黑 Light" panose="020B0502040204020203" pitchFamily="34" charset="-122"/>
                </a:rPr>
                <a:t>和 </a:t>
              </a:r>
              <a:r>
                <a:rPr kumimoji="1" lang="en-US" altLang="zh-CN" sz="1400" b="1" dirty="0">
                  <a:latin typeface="微软雅黑 Light" panose="020B0502040204020203" pitchFamily="34" charset="-122"/>
                  <a:ea typeface="微软雅黑 Light" panose="020B0502040204020203" pitchFamily="34" charset="-122"/>
                </a:rPr>
                <a:t>NID </a:t>
              </a:r>
              <a:r>
                <a:rPr kumimoji="1" lang="zh-CN" altLang="en-US" sz="1400" b="1" dirty="0">
                  <a:latin typeface="微软雅黑 Light" panose="020B0502040204020203" pitchFamily="34" charset="-122"/>
                  <a:ea typeface="微软雅黑 Light" panose="020B0502040204020203" pitchFamily="34" charset="-122"/>
                </a:rPr>
                <a:t>映射在环上</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1" name="Text Box 47"/>
            <p:cNvSpPr txBox="1">
              <a:spLocks noChangeArrowheads="1"/>
            </p:cNvSpPr>
            <p:nvPr/>
          </p:nvSpPr>
          <p:spPr bwMode="auto">
            <a:xfrm>
              <a:off x="4708524" y="533399"/>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NID</a:t>
              </a:r>
            </a:p>
          </p:txBody>
        </p:sp>
        <p:sp>
          <p:nvSpPr>
            <p:cNvPr id="12" name="Oval 53"/>
            <p:cNvSpPr>
              <a:spLocks noChangeArrowheads="1"/>
            </p:cNvSpPr>
            <p:nvPr/>
          </p:nvSpPr>
          <p:spPr bwMode="auto">
            <a:xfrm>
              <a:off x="44577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 name="Text Box 71"/>
            <p:cNvSpPr txBox="1">
              <a:spLocks noChangeArrowheads="1"/>
            </p:cNvSpPr>
            <p:nvPr/>
          </p:nvSpPr>
          <p:spPr bwMode="auto">
            <a:xfrm>
              <a:off x="4435475" y="860424"/>
              <a:ext cx="190500" cy="205570"/>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1050" b="1" dirty="0">
                <a:latin typeface="微软雅黑 Light" panose="020B0502040204020203" pitchFamily="34" charset="-122"/>
                <a:ea typeface="微软雅黑 Light" panose="020B0502040204020203" pitchFamily="34" charset="-122"/>
              </a:endParaRPr>
            </a:p>
          </p:txBody>
        </p:sp>
        <p:sp>
          <p:nvSpPr>
            <p:cNvPr id="14" name="Text Box 47"/>
            <p:cNvSpPr txBox="1">
              <a:spLocks noChangeArrowheads="1"/>
            </p:cNvSpPr>
            <p:nvPr/>
          </p:nvSpPr>
          <p:spPr bwMode="auto">
            <a:xfrm>
              <a:off x="4724398" y="80681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KID</a:t>
              </a:r>
            </a:p>
          </p:txBody>
        </p:sp>
        <p:sp>
          <p:nvSpPr>
            <p:cNvPr id="15" name="矩形 14"/>
            <p:cNvSpPr/>
            <p:nvPr/>
          </p:nvSpPr>
          <p:spPr>
            <a:xfrm>
              <a:off x="3886200" y="517525"/>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200" b="1" dirty="0">
                <a:latin typeface="微软雅黑 Light" panose="020B0502040204020203" pitchFamily="34" charset="-122"/>
                <a:ea typeface="微软雅黑 Light" panose="020B0502040204020203" pitchFamily="34" charset="-122"/>
              </a:endParaRPr>
            </a:p>
          </p:txBody>
        </p:sp>
        <p:sp>
          <p:nvSpPr>
            <p:cNvPr id="16" name="Oval 20"/>
            <p:cNvSpPr>
              <a:spLocks noChangeArrowheads="1"/>
            </p:cNvSpPr>
            <p:nvPr/>
          </p:nvSpPr>
          <p:spPr bwMode="auto">
            <a:xfrm>
              <a:off x="68580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7" name="Text Box 31"/>
            <p:cNvSpPr txBox="1">
              <a:spLocks noChangeArrowheads="1"/>
            </p:cNvSpPr>
            <p:nvPr/>
          </p:nvSpPr>
          <p:spPr bwMode="auto">
            <a:xfrm>
              <a:off x="1962150" y="6540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8" name="Text Box 33"/>
            <p:cNvSpPr txBox="1">
              <a:spLocks noChangeArrowheads="1"/>
            </p:cNvSpPr>
            <p:nvPr/>
          </p:nvSpPr>
          <p:spPr bwMode="auto">
            <a:xfrm>
              <a:off x="2217738" y="6762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9" name="Text Box 34"/>
            <p:cNvSpPr txBox="1">
              <a:spLocks noChangeArrowheads="1"/>
            </p:cNvSpPr>
            <p:nvPr/>
          </p:nvSpPr>
          <p:spPr bwMode="auto">
            <a:xfrm>
              <a:off x="2452688" y="7286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20" name="Text Box 35"/>
            <p:cNvSpPr txBox="1">
              <a:spLocks noChangeArrowheads="1"/>
            </p:cNvSpPr>
            <p:nvPr/>
          </p:nvSpPr>
          <p:spPr bwMode="auto">
            <a:xfrm>
              <a:off x="2695574" y="852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21" name="Text Box 36"/>
            <p:cNvSpPr txBox="1">
              <a:spLocks noChangeArrowheads="1"/>
            </p:cNvSpPr>
            <p:nvPr/>
          </p:nvSpPr>
          <p:spPr bwMode="auto">
            <a:xfrm>
              <a:off x="2851150" y="1028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22" name="Text Box 37"/>
            <p:cNvSpPr txBox="1">
              <a:spLocks noChangeArrowheads="1"/>
            </p:cNvSpPr>
            <p:nvPr/>
          </p:nvSpPr>
          <p:spPr bwMode="auto">
            <a:xfrm>
              <a:off x="3001963" y="1176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23" name="Text Box 38"/>
            <p:cNvSpPr txBox="1">
              <a:spLocks noChangeArrowheads="1"/>
            </p:cNvSpPr>
            <p:nvPr/>
          </p:nvSpPr>
          <p:spPr bwMode="auto">
            <a:xfrm>
              <a:off x="3133725" y="13604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24" name="Text Box 39"/>
            <p:cNvSpPr txBox="1">
              <a:spLocks noChangeArrowheads="1"/>
            </p:cNvSpPr>
            <p:nvPr/>
          </p:nvSpPr>
          <p:spPr bwMode="auto">
            <a:xfrm>
              <a:off x="3200400" y="163512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25" name="Text Box 40"/>
            <p:cNvSpPr txBox="1">
              <a:spLocks noChangeArrowheads="1"/>
            </p:cNvSpPr>
            <p:nvPr/>
          </p:nvSpPr>
          <p:spPr bwMode="auto">
            <a:xfrm>
              <a:off x="3241675" y="18494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26" name="Text Box 41"/>
            <p:cNvSpPr txBox="1">
              <a:spLocks noChangeArrowheads="1"/>
            </p:cNvSpPr>
            <p:nvPr/>
          </p:nvSpPr>
          <p:spPr bwMode="auto">
            <a:xfrm>
              <a:off x="3236913" y="20970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27" name="Text Box 42"/>
            <p:cNvSpPr txBox="1">
              <a:spLocks noChangeArrowheads="1"/>
            </p:cNvSpPr>
            <p:nvPr/>
          </p:nvSpPr>
          <p:spPr bwMode="auto">
            <a:xfrm>
              <a:off x="3178175" y="23447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28" name="Text Box 43"/>
            <p:cNvSpPr txBox="1">
              <a:spLocks noChangeArrowheads="1"/>
            </p:cNvSpPr>
            <p:nvPr/>
          </p:nvSpPr>
          <p:spPr bwMode="auto">
            <a:xfrm>
              <a:off x="3055938" y="25701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29" name="Text Box 44"/>
            <p:cNvSpPr txBox="1">
              <a:spLocks noChangeArrowheads="1"/>
            </p:cNvSpPr>
            <p:nvPr/>
          </p:nvSpPr>
          <p:spPr bwMode="auto">
            <a:xfrm>
              <a:off x="2878138" y="27955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30" name="Text Box 45"/>
            <p:cNvSpPr txBox="1">
              <a:spLocks noChangeArrowheads="1"/>
            </p:cNvSpPr>
            <p:nvPr/>
          </p:nvSpPr>
          <p:spPr bwMode="auto">
            <a:xfrm>
              <a:off x="2709863" y="2932113"/>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31" name="Text Box 46"/>
            <p:cNvSpPr txBox="1">
              <a:spLocks noChangeArrowheads="1"/>
            </p:cNvSpPr>
            <p:nvPr/>
          </p:nvSpPr>
          <p:spPr bwMode="auto">
            <a:xfrm>
              <a:off x="2500314" y="30607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32" name="Text Box 47"/>
            <p:cNvSpPr txBox="1">
              <a:spLocks noChangeArrowheads="1"/>
            </p:cNvSpPr>
            <p:nvPr/>
          </p:nvSpPr>
          <p:spPr bwMode="auto">
            <a:xfrm>
              <a:off x="2233613" y="31337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33" name="Oval 48"/>
            <p:cNvSpPr>
              <a:spLocks noChangeArrowheads="1"/>
            </p:cNvSpPr>
            <p:nvPr/>
          </p:nvSpPr>
          <p:spPr bwMode="auto">
            <a:xfrm>
              <a:off x="300990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4" name="Oval 49"/>
            <p:cNvSpPr>
              <a:spLocks noChangeArrowheads="1"/>
            </p:cNvSpPr>
            <p:nvPr/>
          </p:nvSpPr>
          <p:spPr bwMode="auto">
            <a:xfrm>
              <a:off x="102870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5" name="Oval 50"/>
            <p:cNvSpPr>
              <a:spLocks noChangeArrowheads="1"/>
            </p:cNvSpPr>
            <p:nvPr/>
          </p:nvSpPr>
          <p:spPr bwMode="auto">
            <a:xfrm>
              <a:off x="71437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6" name="Oval 51"/>
            <p:cNvSpPr>
              <a:spLocks noChangeArrowheads="1"/>
            </p:cNvSpPr>
            <p:nvPr/>
          </p:nvSpPr>
          <p:spPr bwMode="auto">
            <a:xfrm>
              <a:off x="260985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7" name="Oval 52"/>
            <p:cNvSpPr>
              <a:spLocks noChangeArrowheads="1"/>
            </p:cNvSpPr>
            <p:nvPr/>
          </p:nvSpPr>
          <p:spPr bwMode="auto">
            <a:xfrm>
              <a:off x="333216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8" name="Oval 53"/>
            <p:cNvSpPr>
              <a:spLocks noChangeArrowheads="1"/>
            </p:cNvSpPr>
            <p:nvPr/>
          </p:nvSpPr>
          <p:spPr bwMode="auto">
            <a:xfrm>
              <a:off x="149542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39" name="Oval 54"/>
            <p:cNvSpPr>
              <a:spLocks noChangeArrowheads="1"/>
            </p:cNvSpPr>
            <p:nvPr/>
          </p:nvSpPr>
          <p:spPr bwMode="auto">
            <a:xfrm>
              <a:off x="335280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0" name="Oval 55"/>
            <p:cNvSpPr>
              <a:spLocks noChangeArrowheads="1"/>
            </p:cNvSpPr>
            <p:nvPr/>
          </p:nvSpPr>
          <p:spPr bwMode="auto">
            <a:xfrm>
              <a:off x="34671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1" name="Oval 56"/>
            <p:cNvSpPr>
              <a:spLocks noChangeArrowheads="1"/>
            </p:cNvSpPr>
            <p:nvPr/>
          </p:nvSpPr>
          <p:spPr bwMode="auto">
            <a:xfrm>
              <a:off x="305752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2" name="Oval 57"/>
            <p:cNvSpPr>
              <a:spLocks noChangeArrowheads="1"/>
            </p:cNvSpPr>
            <p:nvPr/>
          </p:nvSpPr>
          <p:spPr bwMode="auto">
            <a:xfrm>
              <a:off x="259080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3" name="Oval 58"/>
            <p:cNvSpPr>
              <a:spLocks noChangeArrowheads="1"/>
            </p:cNvSpPr>
            <p:nvPr/>
          </p:nvSpPr>
          <p:spPr bwMode="auto">
            <a:xfrm>
              <a:off x="206692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4" name="Oval 59"/>
            <p:cNvSpPr>
              <a:spLocks noChangeArrowheads="1"/>
            </p:cNvSpPr>
            <p:nvPr/>
          </p:nvSpPr>
          <p:spPr bwMode="auto">
            <a:xfrm>
              <a:off x="152400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5" name="Oval 60"/>
            <p:cNvSpPr>
              <a:spLocks noChangeArrowheads="1"/>
            </p:cNvSpPr>
            <p:nvPr/>
          </p:nvSpPr>
          <p:spPr bwMode="auto">
            <a:xfrm>
              <a:off x="76200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6" name="Oval 61"/>
            <p:cNvSpPr>
              <a:spLocks noChangeArrowheads="1"/>
            </p:cNvSpPr>
            <p:nvPr/>
          </p:nvSpPr>
          <p:spPr bwMode="auto">
            <a:xfrm>
              <a:off x="64770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7" name="Oval 62"/>
            <p:cNvSpPr>
              <a:spLocks noChangeArrowheads="1"/>
            </p:cNvSpPr>
            <p:nvPr/>
          </p:nvSpPr>
          <p:spPr bwMode="auto">
            <a:xfrm>
              <a:off x="106680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233521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84638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127635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177958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23532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180181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25253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66675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87947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231933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284638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344011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321945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67310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87153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3" name="Oval 51"/>
            <p:cNvSpPr>
              <a:spLocks noChangeArrowheads="1"/>
            </p:cNvSpPr>
            <p:nvPr/>
          </p:nvSpPr>
          <p:spPr bwMode="auto">
            <a:xfrm>
              <a:off x="206057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64" name="Text Box 47"/>
            <p:cNvSpPr txBox="1">
              <a:spLocks noChangeArrowheads="1"/>
            </p:cNvSpPr>
            <p:nvPr/>
          </p:nvSpPr>
          <p:spPr bwMode="auto">
            <a:xfrm>
              <a:off x="2005013" y="316864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65" name="Text Box 47"/>
            <p:cNvSpPr txBox="1">
              <a:spLocks noChangeArrowheads="1"/>
            </p:cNvSpPr>
            <p:nvPr/>
          </p:nvSpPr>
          <p:spPr bwMode="auto">
            <a:xfrm>
              <a:off x="1762125" y="31480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66" name="Text Box 47"/>
            <p:cNvSpPr txBox="1">
              <a:spLocks noChangeArrowheads="1"/>
            </p:cNvSpPr>
            <p:nvPr/>
          </p:nvSpPr>
          <p:spPr bwMode="auto">
            <a:xfrm>
              <a:off x="1517650" y="30876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67" name="Text Box 47"/>
            <p:cNvSpPr txBox="1">
              <a:spLocks noChangeArrowheads="1"/>
            </p:cNvSpPr>
            <p:nvPr/>
          </p:nvSpPr>
          <p:spPr bwMode="auto">
            <a:xfrm>
              <a:off x="1296988" y="298767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68" name="Text Box 47"/>
            <p:cNvSpPr txBox="1">
              <a:spLocks noChangeArrowheads="1"/>
            </p:cNvSpPr>
            <p:nvPr/>
          </p:nvSpPr>
          <p:spPr bwMode="auto">
            <a:xfrm>
              <a:off x="1181100" y="27511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69" name="Text Box 47"/>
            <p:cNvSpPr txBox="1">
              <a:spLocks noChangeArrowheads="1"/>
            </p:cNvSpPr>
            <p:nvPr/>
          </p:nvSpPr>
          <p:spPr bwMode="auto">
            <a:xfrm>
              <a:off x="990600" y="26368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70" name="Text Box 47"/>
            <p:cNvSpPr txBox="1">
              <a:spLocks noChangeArrowheads="1"/>
            </p:cNvSpPr>
            <p:nvPr/>
          </p:nvSpPr>
          <p:spPr bwMode="auto">
            <a:xfrm>
              <a:off x="876300" y="243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71" name="Text Box 47"/>
            <p:cNvSpPr txBox="1">
              <a:spLocks noChangeArrowheads="1"/>
            </p:cNvSpPr>
            <p:nvPr/>
          </p:nvSpPr>
          <p:spPr bwMode="auto">
            <a:xfrm>
              <a:off x="762000" y="2187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72" name="Text Box 47"/>
            <p:cNvSpPr txBox="1">
              <a:spLocks noChangeArrowheads="1"/>
            </p:cNvSpPr>
            <p:nvPr/>
          </p:nvSpPr>
          <p:spPr bwMode="auto">
            <a:xfrm>
              <a:off x="762000" y="19050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73" name="Text Box 47"/>
            <p:cNvSpPr txBox="1">
              <a:spLocks noChangeArrowheads="1"/>
            </p:cNvSpPr>
            <p:nvPr/>
          </p:nvSpPr>
          <p:spPr bwMode="auto">
            <a:xfrm>
              <a:off x="762000" y="1646239"/>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74" name="Text Box 47"/>
            <p:cNvSpPr txBox="1">
              <a:spLocks noChangeArrowheads="1"/>
            </p:cNvSpPr>
            <p:nvPr/>
          </p:nvSpPr>
          <p:spPr bwMode="auto">
            <a:xfrm>
              <a:off x="860425" y="1425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75" name="Text Box 47"/>
            <p:cNvSpPr txBox="1">
              <a:spLocks noChangeArrowheads="1"/>
            </p:cNvSpPr>
            <p:nvPr/>
          </p:nvSpPr>
          <p:spPr bwMode="auto">
            <a:xfrm>
              <a:off x="966787" y="12493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76" name="Text Box 47"/>
            <p:cNvSpPr txBox="1">
              <a:spLocks noChangeArrowheads="1"/>
            </p:cNvSpPr>
            <p:nvPr/>
          </p:nvSpPr>
          <p:spPr bwMode="auto">
            <a:xfrm>
              <a:off x="1058863" y="10445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77" name="Text Box 47"/>
            <p:cNvSpPr txBox="1">
              <a:spLocks noChangeArrowheads="1"/>
            </p:cNvSpPr>
            <p:nvPr/>
          </p:nvSpPr>
          <p:spPr bwMode="auto">
            <a:xfrm>
              <a:off x="1271588" y="8921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78" name="Text Box 47"/>
            <p:cNvSpPr txBox="1">
              <a:spLocks noChangeArrowheads="1"/>
            </p:cNvSpPr>
            <p:nvPr/>
          </p:nvSpPr>
          <p:spPr bwMode="auto">
            <a:xfrm>
              <a:off x="1485900" y="784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79" name="Text Box 47"/>
            <p:cNvSpPr txBox="1">
              <a:spLocks noChangeArrowheads="1"/>
            </p:cNvSpPr>
            <p:nvPr/>
          </p:nvSpPr>
          <p:spPr bwMode="auto">
            <a:xfrm>
              <a:off x="1760538" y="669926"/>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80" name="Text Box 71"/>
            <p:cNvSpPr txBox="1">
              <a:spLocks noChangeArrowheads="1"/>
            </p:cNvSpPr>
            <p:nvPr/>
          </p:nvSpPr>
          <p:spPr bwMode="auto">
            <a:xfrm>
              <a:off x="3733801" y="2286000"/>
              <a:ext cx="381001"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81" name="Oval 53"/>
            <p:cNvSpPr>
              <a:spLocks noChangeArrowheads="1"/>
            </p:cNvSpPr>
            <p:nvPr/>
          </p:nvSpPr>
          <p:spPr bwMode="auto">
            <a:xfrm>
              <a:off x="339090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82" name="Text Box 47"/>
            <p:cNvSpPr txBox="1">
              <a:spLocks noChangeArrowheads="1"/>
            </p:cNvSpPr>
            <p:nvPr/>
          </p:nvSpPr>
          <p:spPr bwMode="auto">
            <a:xfrm>
              <a:off x="3581399" y="16002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83" name="Text Box 47"/>
            <p:cNvSpPr txBox="1">
              <a:spLocks noChangeArrowheads="1"/>
            </p:cNvSpPr>
            <p:nvPr/>
          </p:nvSpPr>
          <p:spPr bwMode="auto">
            <a:xfrm>
              <a:off x="3521075" y="2498725"/>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84" name="Text Box 47"/>
            <p:cNvSpPr txBox="1">
              <a:spLocks noChangeArrowheads="1"/>
            </p:cNvSpPr>
            <p:nvPr/>
          </p:nvSpPr>
          <p:spPr bwMode="auto">
            <a:xfrm>
              <a:off x="3200400" y="8842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85" name="Text Box 47"/>
            <p:cNvSpPr txBox="1">
              <a:spLocks noChangeArrowheads="1"/>
            </p:cNvSpPr>
            <p:nvPr/>
          </p:nvSpPr>
          <p:spPr bwMode="auto">
            <a:xfrm>
              <a:off x="1265237" y="4191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86" name="Text Box 47"/>
            <p:cNvSpPr txBox="1">
              <a:spLocks noChangeArrowheads="1"/>
            </p:cNvSpPr>
            <p:nvPr/>
          </p:nvSpPr>
          <p:spPr bwMode="auto">
            <a:xfrm>
              <a:off x="647701" y="2987674"/>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87" name="Text Box 47"/>
            <p:cNvSpPr txBox="1">
              <a:spLocks noChangeArrowheads="1"/>
            </p:cNvSpPr>
            <p:nvPr/>
          </p:nvSpPr>
          <p:spPr bwMode="auto">
            <a:xfrm>
              <a:off x="304799" y="1295400"/>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N26</a:t>
              </a:r>
            </a:p>
          </p:txBody>
        </p:sp>
        <p:sp>
          <p:nvSpPr>
            <p:cNvPr id="88" name="Text Box 71"/>
            <p:cNvSpPr txBox="1">
              <a:spLocks noChangeArrowheads="1"/>
            </p:cNvSpPr>
            <p:nvPr/>
          </p:nvSpPr>
          <p:spPr bwMode="auto">
            <a:xfrm>
              <a:off x="2735264" y="4191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89" name="Text Box 71"/>
            <p:cNvSpPr txBox="1">
              <a:spLocks noChangeArrowheads="1"/>
            </p:cNvSpPr>
            <p:nvPr/>
          </p:nvSpPr>
          <p:spPr bwMode="auto">
            <a:xfrm>
              <a:off x="708024" y="701675"/>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90" name="Text Box 71"/>
            <p:cNvSpPr txBox="1">
              <a:spLocks noChangeArrowheads="1"/>
            </p:cNvSpPr>
            <p:nvPr/>
          </p:nvSpPr>
          <p:spPr bwMode="auto">
            <a:xfrm>
              <a:off x="3124200" y="457200"/>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91" name="Text Box 71"/>
            <p:cNvSpPr txBox="1">
              <a:spLocks noChangeArrowheads="1"/>
            </p:cNvSpPr>
            <p:nvPr/>
          </p:nvSpPr>
          <p:spPr bwMode="auto">
            <a:xfrm>
              <a:off x="715963" y="3336925"/>
              <a:ext cx="357187"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92" name="Text Box 71"/>
            <p:cNvSpPr txBox="1">
              <a:spLocks noChangeArrowheads="1"/>
            </p:cNvSpPr>
            <p:nvPr/>
          </p:nvSpPr>
          <p:spPr bwMode="auto">
            <a:xfrm>
              <a:off x="168275" y="1684338"/>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93" name="直接箭头连接符 92"/>
            <p:cNvCxnSpPr>
              <a:stCxn id="80" idx="1"/>
            </p:cNvCxnSpPr>
            <p:nvPr/>
          </p:nvCxnSpPr>
          <p:spPr bwMode="auto">
            <a:xfrm flipH="1">
              <a:off x="3459165" y="2393680"/>
              <a:ext cx="274636" cy="174896"/>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a:off x="293370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H="1">
              <a:off x="313213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V="1">
              <a:off x="525463" y="1577975"/>
              <a:ext cx="190500" cy="1079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998538" y="3132138"/>
              <a:ext cx="68262" cy="2127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8" name="直接箭头连接符 97"/>
            <p:cNvCxnSpPr/>
            <p:nvPr/>
          </p:nvCxnSpPr>
          <p:spPr bwMode="auto">
            <a:xfrm flipV="1">
              <a:off x="115093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9" name="Oval 20"/>
            <p:cNvSpPr>
              <a:spLocks noChangeArrowheads="1"/>
            </p:cNvSpPr>
            <p:nvPr/>
          </p:nvSpPr>
          <p:spPr bwMode="auto">
            <a:xfrm>
              <a:off x="5638800" y="646113"/>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00" name="Text Box 31"/>
            <p:cNvSpPr txBox="1">
              <a:spLocks noChangeArrowheads="1"/>
            </p:cNvSpPr>
            <p:nvPr/>
          </p:nvSpPr>
          <p:spPr bwMode="auto">
            <a:xfrm>
              <a:off x="6915150" y="6461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0</a:t>
              </a:r>
            </a:p>
          </p:txBody>
        </p:sp>
        <p:sp>
          <p:nvSpPr>
            <p:cNvPr id="101" name="Text Box 33"/>
            <p:cNvSpPr txBox="1">
              <a:spLocks noChangeArrowheads="1"/>
            </p:cNvSpPr>
            <p:nvPr/>
          </p:nvSpPr>
          <p:spPr bwMode="auto">
            <a:xfrm>
              <a:off x="7170738" y="6683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a:t>
              </a:r>
            </a:p>
          </p:txBody>
        </p:sp>
        <p:sp>
          <p:nvSpPr>
            <p:cNvPr id="102" name="Text Box 34"/>
            <p:cNvSpPr txBox="1">
              <a:spLocks noChangeArrowheads="1"/>
            </p:cNvSpPr>
            <p:nvPr/>
          </p:nvSpPr>
          <p:spPr bwMode="auto">
            <a:xfrm>
              <a:off x="7405688" y="7207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a:t>
              </a:r>
            </a:p>
          </p:txBody>
        </p:sp>
        <p:sp>
          <p:nvSpPr>
            <p:cNvPr id="103" name="Text Box 35"/>
            <p:cNvSpPr txBox="1">
              <a:spLocks noChangeArrowheads="1"/>
            </p:cNvSpPr>
            <p:nvPr/>
          </p:nvSpPr>
          <p:spPr bwMode="auto">
            <a:xfrm>
              <a:off x="7648575" y="844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a:t>
              </a:r>
            </a:p>
          </p:txBody>
        </p:sp>
        <p:sp>
          <p:nvSpPr>
            <p:cNvPr id="104" name="Text Box 36"/>
            <p:cNvSpPr txBox="1">
              <a:spLocks noChangeArrowheads="1"/>
            </p:cNvSpPr>
            <p:nvPr/>
          </p:nvSpPr>
          <p:spPr bwMode="auto">
            <a:xfrm>
              <a:off x="7804150" y="1020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4</a:t>
              </a:r>
            </a:p>
          </p:txBody>
        </p:sp>
        <p:sp>
          <p:nvSpPr>
            <p:cNvPr id="105" name="Text Box 37"/>
            <p:cNvSpPr txBox="1">
              <a:spLocks noChangeArrowheads="1"/>
            </p:cNvSpPr>
            <p:nvPr/>
          </p:nvSpPr>
          <p:spPr bwMode="auto">
            <a:xfrm>
              <a:off x="7954964" y="11684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5</a:t>
              </a:r>
            </a:p>
          </p:txBody>
        </p:sp>
        <p:sp>
          <p:nvSpPr>
            <p:cNvPr id="106" name="Text Box 38"/>
            <p:cNvSpPr txBox="1">
              <a:spLocks noChangeArrowheads="1"/>
            </p:cNvSpPr>
            <p:nvPr/>
          </p:nvSpPr>
          <p:spPr bwMode="auto">
            <a:xfrm>
              <a:off x="8086726" y="13525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6</a:t>
              </a:r>
            </a:p>
          </p:txBody>
        </p:sp>
        <p:sp>
          <p:nvSpPr>
            <p:cNvPr id="107" name="Text Box 39"/>
            <p:cNvSpPr txBox="1">
              <a:spLocks noChangeArrowheads="1"/>
            </p:cNvSpPr>
            <p:nvPr/>
          </p:nvSpPr>
          <p:spPr bwMode="auto">
            <a:xfrm>
              <a:off x="8153399" y="16271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7</a:t>
              </a:r>
            </a:p>
          </p:txBody>
        </p:sp>
        <p:sp>
          <p:nvSpPr>
            <p:cNvPr id="108" name="Text Box 40"/>
            <p:cNvSpPr txBox="1">
              <a:spLocks noChangeArrowheads="1"/>
            </p:cNvSpPr>
            <p:nvPr/>
          </p:nvSpPr>
          <p:spPr bwMode="auto">
            <a:xfrm>
              <a:off x="8194675" y="1841501"/>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8</a:t>
              </a:r>
            </a:p>
          </p:txBody>
        </p:sp>
        <p:sp>
          <p:nvSpPr>
            <p:cNvPr id="109" name="Text Box 41"/>
            <p:cNvSpPr txBox="1">
              <a:spLocks noChangeArrowheads="1"/>
            </p:cNvSpPr>
            <p:nvPr/>
          </p:nvSpPr>
          <p:spPr bwMode="auto">
            <a:xfrm>
              <a:off x="8189913" y="20891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9</a:t>
              </a:r>
            </a:p>
          </p:txBody>
        </p:sp>
        <p:sp>
          <p:nvSpPr>
            <p:cNvPr id="110" name="Text Box 42"/>
            <p:cNvSpPr txBox="1">
              <a:spLocks noChangeArrowheads="1"/>
            </p:cNvSpPr>
            <p:nvPr/>
          </p:nvSpPr>
          <p:spPr bwMode="auto">
            <a:xfrm>
              <a:off x="8131175" y="23368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10</a:t>
              </a:r>
            </a:p>
          </p:txBody>
        </p:sp>
        <p:sp>
          <p:nvSpPr>
            <p:cNvPr id="111" name="Text Box 43"/>
            <p:cNvSpPr txBox="1">
              <a:spLocks noChangeArrowheads="1"/>
            </p:cNvSpPr>
            <p:nvPr/>
          </p:nvSpPr>
          <p:spPr bwMode="auto">
            <a:xfrm>
              <a:off x="8008938" y="25622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11</a:t>
              </a:r>
            </a:p>
          </p:txBody>
        </p:sp>
        <p:sp>
          <p:nvSpPr>
            <p:cNvPr id="112" name="Text Box 44"/>
            <p:cNvSpPr txBox="1">
              <a:spLocks noChangeArrowheads="1"/>
            </p:cNvSpPr>
            <p:nvPr/>
          </p:nvSpPr>
          <p:spPr bwMode="auto">
            <a:xfrm>
              <a:off x="7831138" y="27876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12</a:t>
              </a:r>
            </a:p>
          </p:txBody>
        </p:sp>
        <p:sp>
          <p:nvSpPr>
            <p:cNvPr id="113" name="Text Box 45"/>
            <p:cNvSpPr txBox="1">
              <a:spLocks noChangeArrowheads="1"/>
            </p:cNvSpPr>
            <p:nvPr/>
          </p:nvSpPr>
          <p:spPr bwMode="auto">
            <a:xfrm>
              <a:off x="7662864" y="2924175"/>
              <a:ext cx="230187"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13</a:t>
              </a:r>
            </a:p>
          </p:txBody>
        </p:sp>
        <p:sp>
          <p:nvSpPr>
            <p:cNvPr id="114" name="Text Box 46"/>
            <p:cNvSpPr txBox="1">
              <a:spLocks noChangeArrowheads="1"/>
            </p:cNvSpPr>
            <p:nvPr/>
          </p:nvSpPr>
          <p:spPr bwMode="auto">
            <a:xfrm>
              <a:off x="7453313" y="305276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14</a:t>
              </a:r>
            </a:p>
          </p:txBody>
        </p:sp>
        <p:sp>
          <p:nvSpPr>
            <p:cNvPr id="115" name="Text Box 47"/>
            <p:cNvSpPr txBox="1">
              <a:spLocks noChangeArrowheads="1"/>
            </p:cNvSpPr>
            <p:nvPr/>
          </p:nvSpPr>
          <p:spPr bwMode="auto">
            <a:xfrm>
              <a:off x="7186614" y="31257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15</a:t>
              </a:r>
            </a:p>
          </p:txBody>
        </p:sp>
        <p:sp>
          <p:nvSpPr>
            <p:cNvPr id="116" name="Oval 48"/>
            <p:cNvSpPr>
              <a:spLocks noChangeArrowheads="1"/>
            </p:cNvSpPr>
            <p:nvPr/>
          </p:nvSpPr>
          <p:spPr bwMode="auto">
            <a:xfrm>
              <a:off x="7962900" y="98901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7" name="Oval 49"/>
            <p:cNvSpPr>
              <a:spLocks noChangeArrowheads="1"/>
            </p:cNvSpPr>
            <p:nvPr/>
          </p:nvSpPr>
          <p:spPr bwMode="auto">
            <a:xfrm>
              <a:off x="5981700" y="297973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8" name="Oval 51"/>
            <p:cNvSpPr>
              <a:spLocks noChangeArrowheads="1"/>
            </p:cNvSpPr>
            <p:nvPr/>
          </p:nvSpPr>
          <p:spPr bwMode="auto">
            <a:xfrm>
              <a:off x="7562850" y="722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19" name="Oval 52"/>
            <p:cNvSpPr>
              <a:spLocks noChangeArrowheads="1"/>
            </p:cNvSpPr>
            <p:nvPr/>
          </p:nvSpPr>
          <p:spPr bwMode="auto">
            <a:xfrm>
              <a:off x="8285163" y="25336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0" name="Oval 53"/>
            <p:cNvSpPr>
              <a:spLocks noChangeArrowheads="1"/>
            </p:cNvSpPr>
            <p:nvPr/>
          </p:nvSpPr>
          <p:spPr bwMode="auto">
            <a:xfrm>
              <a:off x="6448425" y="6746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1" name="Oval 54"/>
            <p:cNvSpPr>
              <a:spLocks noChangeArrowheads="1"/>
            </p:cNvSpPr>
            <p:nvPr/>
          </p:nvSpPr>
          <p:spPr bwMode="auto">
            <a:xfrm>
              <a:off x="8305800" y="1484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2" name="Oval 55"/>
            <p:cNvSpPr>
              <a:spLocks noChangeArrowheads="1"/>
            </p:cNvSpPr>
            <p:nvPr/>
          </p:nvSpPr>
          <p:spPr bwMode="auto">
            <a:xfrm>
              <a:off x="84201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3" name="Oval 56"/>
            <p:cNvSpPr>
              <a:spLocks noChangeArrowheads="1"/>
            </p:cNvSpPr>
            <p:nvPr/>
          </p:nvSpPr>
          <p:spPr bwMode="auto">
            <a:xfrm>
              <a:off x="8010525" y="30083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4" name="Oval 57"/>
            <p:cNvSpPr>
              <a:spLocks noChangeArrowheads="1"/>
            </p:cNvSpPr>
            <p:nvPr/>
          </p:nvSpPr>
          <p:spPr bwMode="auto">
            <a:xfrm>
              <a:off x="7543800" y="3313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5" name="Oval 58"/>
            <p:cNvSpPr>
              <a:spLocks noChangeArrowheads="1"/>
            </p:cNvSpPr>
            <p:nvPr/>
          </p:nvSpPr>
          <p:spPr bwMode="auto">
            <a:xfrm>
              <a:off x="7019925" y="3427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6" name="Oval 59"/>
            <p:cNvSpPr>
              <a:spLocks noChangeArrowheads="1"/>
            </p:cNvSpPr>
            <p:nvPr/>
          </p:nvSpPr>
          <p:spPr bwMode="auto">
            <a:xfrm>
              <a:off x="6477000" y="33226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7" name="Oval 60"/>
            <p:cNvSpPr>
              <a:spLocks noChangeArrowheads="1"/>
            </p:cNvSpPr>
            <p:nvPr/>
          </p:nvSpPr>
          <p:spPr bwMode="auto">
            <a:xfrm>
              <a:off x="5715000" y="2551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8" name="Oval 61"/>
            <p:cNvSpPr>
              <a:spLocks noChangeArrowheads="1"/>
            </p:cNvSpPr>
            <p:nvPr/>
          </p:nvSpPr>
          <p:spPr bwMode="auto">
            <a:xfrm>
              <a:off x="5600700" y="2008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29" name="Oval 62"/>
            <p:cNvSpPr>
              <a:spLocks noChangeArrowheads="1"/>
            </p:cNvSpPr>
            <p:nvPr/>
          </p:nvSpPr>
          <p:spPr bwMode="auto">
            <a:xfrm>
              <a:off x="6019800" y="1027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0" name="Oval 51"/>
            <p:cNvSpPr>
              <a:spLocks noChangeArrowheads="1"/>
            </p:cNvSpPr>
            <p:nvPr/>
          </p:nvSpPr>
          <p:spPr bwMode="auto">
            <a:xfrm>
              <a:off x="7288213"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1" name="Oval 51"/>
            <p:cNvSpPr>
              <a:spLocks noChangeArrowheads="1"/>
            </p:cNvSpPr>
            <p:nvPr/>
          </p:nvSpPr>
          <p:spPr bwMode="auto">
            <a:xfrm>
              <a:off x="7799388"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2" name="Oval 51"/>
            <p:cNvSpPr>
              <a:spLocks noChangeArrowheads="1"/>
            </p:cNvSpPr>
            <p:nvPr/>
          </p:nvSpPr>
          <p:spPr bwMode="auto">
            <a:xfrm>
              <a:off x="6229350" y="8524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3" name="Oval 51"/>
            <p:cNvSpPr>
              <a:spLocks noChangeArrowheads="1"/>
            </p:cNvSpPr>
            <p:nvPr/>
          </p:nvSpPr>
          <p:spPr bwMode="auto">
            <a:xfrm>
              <a:off x="6732588" y="6381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4" name="Oval 51"/>
            <p:cNvSpPr>
              <a:spLocks noChangeArrowheads="1"/>
            </p:cNvSpPr>
            <p:nvPr/>
          </p:nvSpPr>
          <p:spPr bwMode="auto">
            <a:xfrm>
              <a:off x="8188325" y="12557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5" name="Oval 51"/>
            <p:cNvSpPr>
              <a:spLocks noChangeArrowheads="1"/>
            </p:cNvSpPr>
            <p:nvPr/>
          </p:nvSpPr>
          <p:spPr bwMode="auto">
            <a:xfrm>
              <a:off x="6754813"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6" name="Oval 51"/>
            <p:cNvSpPr>
              <a:spLocks noChangeArrowheads="1"/>
            </p:cNvSpPr>
            <p:nvPr/>
          </p:nvSpPr>
          <p:spPr bwMode="auto">
            <a:xfrm>
              <a:off x="62055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7" name="Oval 51"/>
            <p:cNvSpPr>
              <a:spLocks noChangeArrowheads="1"/>
            </p:cNvSpPr>
            <p:nvPr/>
          </p:nvSpPr>
          <p:spPr bwMode="auto">
            <a:xfrm>
              <a:off x="5619750" y="17351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8" name="Oval 51"/>
            <p:cNvSpPr>
              <a:spLocks noChangeArrowheads="1"/>
            </p:cNvSpPr>
            <p:nvPr/>
          </p:nvSpPr>
          <p:spPr bwMode="auto">
            <a:xfrm>
              <a:off x="5832475" y="1239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39" name="Oval 51"/>
            <p:cNvSpPr>
              <a:spLocks noChangeArrowheads="1"/>
            </p:cNvSpPr>
            <p:nvPr/>
          </p:nvSpPr>
          <p:spPr bwMode="auto">
            <a:xfrm>
              <a:off x="7272338" y="34051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0" name="Oval 51"/>
            <p:cNvSpPr>
              <a:spLocks noChangeArrowheads="1"/>
            </p:cNvSpPr>
            <p:nvPr/>
          </p:nvSpPr>
          <p:spPr bwMode="auto">
            <a:xfrm>
              <a:off x="8393113" y="22764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1" name="Oval 51"/>
            <p:cNvSpPr>
              <a:spLocks noChangeArrowheads="1"/>
            </p:cNvSpPr>
            <p:nvPr/>
          </p:nvSpPr>
          <p:spPr bwMode="auto">
            <a:xfrm>
              <a:off x="8172450" y="28019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2" name="Oval 51"/>
            <p:cNvSpPr>
              <a:spLocks noChangeArrowheads="1"/>
            </p:cNvSpPr>
            <p:nvPr/>
          </p:nvSpPr>
          <p:spPr bwMode="auto">
            <a:xfrm>
              <a:off x="5626100" y="2292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3" name="Oval 51"/>
            <p:cNvSpPr>
              <a:spLocks noChangeArrowheads="1"/>
            </p:cNvSpPr>
            <p:nvPr/>
          </p:nvSpPr>
          <p:spPr bwMode="auto">
            <a:xfrm>
              <a:off x="5824538" y="27955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4" name="Oval 51"/>
            <p:cNvSpPr>
              <a:spLocks noChangeArrowheads="1"/>
            </p:cNvSpPr>
            <p:nvPr/>
          </p:nvSpPr>
          <p:spPr bwMode="auto">
            <a:xfrm>
              <a:off x="7013575" y="6159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45" name="Text Box 47"/>
            <p:cNvSpPr txBox="1">
              <a:spLocks noChangeArrowheads="1"/>
            </p:cNvSpPr>
            <p:nvPr/>
          </p:nvSpPr>
          <p:spPr bwMode="auto">
            <a:xfrm>
              <a:off x="6958012" y="3160713"/>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16</a:t>
              </a:r>
            </a:p>
          </p:txBody>
        </p:sp>
        <p:sp>
          <p:nvSpPr>
            <p:cNvPr id="146" name="Text Box 47"/>
            <p:cNvSpPr txBox="1">
              <a:spLocks noChangeArrowheads="1"/>
            </p:cNvSpPr>
            <p:nvPr/>
          </p:nvSpPr>
          <p:spPr bwMode="auto">
            <a:xfrm>
              <a:off x="6715125" y="314007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17</a:t>
              </a:r>
            </a:p>
          </p:txBody>
        </p:sp>
        <p:sp>
          <p:nvSpPr>
            <p:cNvPr id="147" name="Text Box 47"/>
            <p:cNvSpPr txBox="1">
              <a:spLocks noChangeArrowheads="1"/>
            </p:cNvSpPr>
            <p:nvPr/>
          </p:nvSpPr>
          <p:spPr bwMode="auto">
            <a:xfrm>
              <a:off x="6470650" y="307975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18</a:t>
              </a:r>
            </a:p>
          </p:txBody>
        </p:sp>
        <p:sp>
          <p:nvSpPr>
            <p:cNvPr id="148" name="Text Box 47"/>
            <p:cNvSpPr txBox="1">
              <a:spLocks noChangeArrowheads="1"/>
            </p:cNvSpPr>
            <p:nvPr/>
          </p:nvSpPr>
          <p:spPr bwMode="auto">
            <a:xfrm>
              <a:off x="6249988" y="29797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19</a:t>
              </a:r>
            </a:p>
          </p:txBody>
        </p:sp>
        <p:sp>
          <p:nvSpPr>
            <p:cNvPr id="149" name="Text Box 47"/>
            <p:cNvSpPr txBox="1">
              <a:spLocks noChangeArrowheads="1"/>
            </p:cNvSpPr>
            <p:nvPr/>
          </p:nvSpPr>
          <p:spPr bwMode="auto">
            <a:xfrm>
              <a:off x="6134099" y="27432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20</a:t>
              </a:r>
            </a:p>
          </p:txBody>
        </p:sp>
        <p:sp>
          <p:nvSpPr>
            <p:cNvPr id="150" name="Text Box 47"/>
            <p:cNvSpPr txBox="1">
              <a:spLocks noChangeArrowheads="1"/>
            </p:cNvSpPr>
            <p:nvPr/>
          </p:nvSpPr>
          <p:spPr bwMode="auto">
            <a:xfrm>
              <a:off x="5943600" y="26289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21</a:t>
              </a:r>
            </a:p>
          </p:txBody>
        </p:sp>
        <p:sp>
          <p:nvSpPr>
            <p:cNvPr id="151" name="Text Box 47"/>
            <p:cNvSpPr txBox="1">
              <a:spLocks noChangeArrowheads="1"/>
            </p:cNvSpPr>
            <p:nvPr/>
          </p:nvSpPr>
          <p:spPr bwMode="auto">
            <a:xfrm>
              <a:off x="5829301" y="2430464"/>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22</a:t>
              </a:r>
            </a:p>
          </p:txBody>
        </p:sp>
        <p:sp>
          <p:nvSpPr>
            <p:cNvPr id="152" name="Text Box 47"/>
            <p:cNvSpPr txBox="1">
              <a:spLocks noChangeArrowheads="1"/>
            </p:cNvSpPr>
            <p:nvPr/>
          </p:nvSpPr>
          <p:spPr bwMode="auto">
            <a:xfrm>
              <a:off x="5715001" y="2179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23</a:t>
              </a:r>
            </a:p>
          </p:txBody>
        </p:sp>
        <p:sp>
          <p:nvSpPr>
            <p:cNvPr id="153" name="Text Box 47"/>
            <p:cNvSpPr txBox="1">
              <a:spLocks noChangeArrowheads="1"/>
            </p:cNvSpPr>
            <p:nvPr/>
          </p:nvSpPr>
          <p:spPr bwMode="auto">
            <a:xfrm>
              <a:off x="5715001" y="1897062"/>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24</a:t>
              </a:r>
            </a:p>
          </p:txBody>
        </p:sp>
        <p:sp>
          <p:nvSpPr>
            <p:cNvPr id="154" name="Text Box 47"/>
            <p:cNvSpPr txBox="1">
              <a:spLocks noChangeArrowheads="1"/>
            </p:cNvSpPr>
            <p:nvPr/>
          </p:nvSpPr>
          <p:spPr bwMode="auto">
            <a:xfrm>
              <a:off x="5715001" y="1638300"/>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25</a:t>
              </a:r>
            </a:p>
          </p:txBody>
        </p:sp>
        <p:sp>
          <p:nvSpPr>
            <p:cNvPr id="155" name="Text Box 47"/>
            <p:cNvSpPr txBox="1">
              <a:spLocks noChangeArrowheads="1"/>
            </p:cNvSpPr>
            <p:nvPr/>
          </p:nvSpPr>
          <p:spPr bwMode="auto">
            <a:xfrm>
              <a:off x="5813425" y="1417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26</a:t>
              </a:r>
            </a:p>
          </p:txBody>
        </p:sp>
        <p:sp>
          <p:nvSpPr>
            <p:cNvPr id="156" name="Text Box 47"/>
            <p:cNvSpPr txBox="1">
              <a:spLocks noChangeArrowheads="1"/>
            </p:cNvSpPr>
            <p:nvPr/>
          </p:nvSpPr>
          <p:spPr bwMode="auto">
            <a:xfrm>
              <a:off x="5919788" y="1241425"/>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27</a:t>
              </a:r>
            </a:p>
          </p:txBody>
        </p:sp>
        <p:sp>
          <p:nvSpPr>
            <p:cNvPr id="157" name="Text Box 47"/>
            <p:cNvSpPr txBox="1">
              <a:spLocks noChangeArrowheads="1"/>
            </p:cNvSpPr>
            <p:nvPr/>
          </p:nvSpPr>
          <p:spPr bwMode="auto">
            <a:xfrm>
              <a:off x="6011863" y="10366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28</a:t>
              </a:r>
            </a:p>
          </p:txBody>
        </p:sp>
        <p:sp>
          <p:nvSpPr>
            <p:cNvPr id="158" name="Text Box 47"/>
            <p:cNvSpPr txBox="1">
              <a:spLocks noChangeArrowheads="1"/>
            </p:cNvSpPr>
            <p:nvPr/>
          </p:nvSpPr>
          <p:spPr bwMode="auto">
            <a:xfrm>
              <a:off x="6224588" y="88423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29</a:t>
              </a:r>
            </a:p>
          </p:txBody>
        </p:sp>
        <p:sp>
          <p:nvSpPr>
            <p:cNvPr id="159" name="Text Box 47"/>
            <p:cNvSpPr txBox="1">
              <a:spLocks noChangeArrowheads="1"/>
            </p:cNvSpPr>
            <p:nvPr/>
          </p:nvSpPr>
          <p:spPr bwMode="auto">
            <a:xfrm>
              <a:off x="6438900" y="7762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30</a:t>
              </a:r>
            </a:p>
          </p:txBody>
        </p:sp>
        <p:sp>
          <p:nvSpPr>
            <p:cNvPr id="160" name="Text Box 47"/>
            <p:cNvSpPr txBox="1">
              <a:spLocks noChangeArrowheads="1"/>
            </p:cNvSpPr>
            <p:nvPr/>
          </p:nvSpPr>
          <p:spPr bwMode="auto">
            <a:xfrm>
              <a:off x="6713539" y="661988"/>
              <a:ext cx="228600"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50" b="1" dirty="0">
                  <a:latin typeface="微软雅黑 Light" panose="020B0502040204020203" pitchFamily="34" charset="-122"/>
                  <a:ea typeface="微软雅黑 Light" panose="020B0502040204020203" pitchFamily="34" charset="-122"/>
                </a:rPr>
                <a:t>31</a:t>
              </a:r>
            </a:p>
          </p:txBody>
        </p:sp>
        <p:sp>
          <p:nvSpPr>
            <p:cNvPr id="161" name="Text Box 71"/>
            <p:cNvSpPr txBox="1">
              <a:spLocks noChangeArrowheads="1"/>
            </p:cNvSpPr>
            <p:nvPr/>
          </p:nvSpPr>
          <p:spPr bwMode="auto">
            <a:xfrm>
              <a:off x="8702675" y="2239963"/>
              <a:ext cx="304800"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K8</a:t>
              </a:r>
            </a:p>
          </p:txBody>
        </p:sp>
        <p:sp>
          <p:nvSpPr>
            <p:cNvPr id="162" name="Oval 53"/>
            <p:cNvSpPr>
              <a:spLocks noChangeArrowheads="1"/>
            </p:cNvSpPr>
            <p:nvPr/>
          </p:nvSpPr>
          <p:spPr bwMode="auto">
            <a:xfrm>
              <a:off x="8343900" y="1698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63" name="Text Box 47"/>
            <p:cNvSpPr txBox="1">
              <a:spLocks noChangeArrowheads="1"/>
            </p:cNvSpPr>
            <p:nvPr/>
          </p:nvSpPr>
          <p:spPr bwMode="auto">
            <a:xfrm>
              <a:off x="8534400" y="15922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N7</a:t>
              </a:r>
            </a:p>
          </p:txBody>
        </p:sp>
        <p:sp>
          <p:nvSpPr>
            <p:cNvPr id="164" name="Text Box 47"/>
            <p:cNvSpPr txBox="1">
              <a:spLocks noChangeArrowheads="1"/>
            </p:cNvSpPr>
            <p:nvPr/>
          </p:nvSpPr>
          <p:spPr bwMode="auto">
            <a:xfrm>
              <a:off x="8474075" y="25066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N10</a:t>
              </a:r>
            </a:p>
          </p:txBody>
        </p:sp>
        <p:sp>
          <p:nvSpPr>
            <p:cNvPr id="165" name="Text Box 47"/>
            <p:cNvSpPr txBox="1">
              <a:spLocks noChangeArrowheads="1"/>
            </p:cNvSpPr>
            <p:nvPr/>
          </p:nvSpPr>
          <p:spPr bwMode="auto">
            <a:xfrm>
              <a:off x="8153399" y="876301"/>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N4</a:t>
              </a:r>
            </a:p>
          </p:txBody>
        </p:sp>
        <p:sp>
          <p:nvSpPr>
            <p:cNvPr id="166" name="Text Box 47"/>
            <p:cNvSpPr txBox="1">
              <a:spLocks noChangeArrowheads="1"/>
            </p:cNvSpPr>
            <p:nvPr/>
          </p:nvSpPr>
          <p:spPr bwMode="auto">
            <a:xfrm>
              <a:off x="6218238" y="411163"/>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N30</a:t>
              </a:r>
            </a:p>
          </p:txBody>
        </p:sp>
        <p:sp>
          <p:nvSpPr>
            <p:cNvPr id="167" name="Text Box 47"/>
            <p:cNvSpPr txBox="1">
              <a:spLocks noChangeArrowheads="1"/>
            </p:cNvSpPr>
            <p:nvPr/>
          </p:nvSpPr>
          <p:spPr bwMode="auto">
            <a:xfrm>
              <a:off x="5600699" y="2979738"/>
              <a:ext cx="381001" cy="33282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100" b="1" dirty="0">
                  <a:latin typeface="微软雅黑 Light" panose="020B0502040204020203" pitchFamily="34" charset="-122"/>
                  <a:ea typeface="微软雅黑 Light" panose="020B0502040204020203" pitchFamily="34" charset="-122"/>
                </a:rPr>
                <a:t>N20</a:t>
              </a:r>
            </a:p>
          </p:txBody>
        </p:sp>
        <p:sp>
          <p:nvSpPr>
            <p:cNvPr id="168" name="Text Box 71"/>
            <p:cNvSpPr txBox="1">
              <a:spLocks noChangeArrowheads="1"/>
            </p:cNvSpPr>
            <p:nvPr/>
          </p:nvSpPr>
          <p:spPr bwMode="auto">
            <a:xfrm>
              <a:off x="7688263" y="411163"/>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K31</a:t>
              </a:r>
            </a:p>
          </p:txBody>
        </p:sp>
        <p:sp>
          <p:nvSpPr>
            <p:cNvPr id="169" name="Text Box 71"/>
            <p:cNvSpPr txBox="1">
              <a:spLocks noChangeArrowheads="1"/>
            </p:cNvSpPr>
            <p:nvPr/>
          </p:nvSpPr>
          <p:spPr bwMode="auto">
            <a:xfrm>
              <a:off x="5661023" y="693738"/>
              <a:ext cx="3968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K29</a:t>
              </a:r>
            </a:p>
          </p:txBody>
        </p:sp>
        <p:sp>
          <p:nvSpPr>
            <p:cNvPr id="170" name="Text Box 71"/>
            <p:cNvSpPr txBox="1">
              <a:spLocks noChangeArrowheads="1"/>
            </p:cNvSpPr>
            <p:nvPr/>
          </p:nvSpPr>
          <p:spPr bwMode="auto">
            <a:xfrm>
              <a:off x="8077200" y="449264"/>
              <a:ext cx="358775"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a:t>
              </a:r>
            </a:p>
          </p:txBody>
        </p:sp>
        <p:sp>
          <p:nvSpPr>
            <p:cNvPr id="171" name="Text Box 71"/>
            <p:cNvSpPr txBox="1">
              <a:spLocks noChangeArrowheads="1"/>
            </p:cNvSpPr>
            <p:nvPr/>
          </p:nvSpPr>
          <p:spPr bwMode="auto">
            <a:xfrm>
              <a:off x="8305800" y="3047999"/>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K12</a:t>
              </a:r>
            </a:p>
          </p:txBody>
        </p:sp>
        <p:sp>
          <p:nvSpPr>
            <p:cNvPr id="172" name="Text Box 71"/>
            <p:cNvSpPr txBox="1">
              <a:spLocks noChangeArrowheads="1"/>
            </p:cNvSpPr>
            <p:nvPr/>
          </p:nvSpPr>
          <p:spPr bwMode="auto">
            <a:xfrm>
              <a:off x="5426076" y="968375"/>
              <a:ext cx="357188" cy="21535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r>
                <a:rPr kumimoji="1" lang="en-US" altLang="zh-CN" sz="1100" b="1" dirty="0">
                  <a:latin typeface="微软雅黑 Light" panose="020B0502040204020203" pitchFamily="34" charset="-122"/>
                  <a:ea typeface="微软雅黑 Light" panose="020B0502040204020203" pitchFamily="34" charset="-122"/>
                </a:rPr>
                <a:t>K23</a:t>
              </a:r>
            </a:p>
          </p:txBody>
        </p:sp>
        <p:cxnSp>
          <p:nvCxnSpPr>
            <p:cNvPr id="173" name="直接箭头连接符 172"/>
            <p:cNvCxnSpPr>
              <a:endCxn id="119" idx="7"/>
            </p:cNvCxnSpPr>
            <p:nvPr/>
          </p:nvCxnSpPr>
          <p:spPr bwMode="auto">
            <a:xfrm flipH="1">
              <a:off x="8415338" y="2430463"/>
              <a:ext cx="287337" cy="1254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4" name="直接箭头连接符 173"/>
            <p:cNvCxnSpPr/>
            <p:nvPr/>
          </p:nvCxnSpPr>
          <p:spPr bwMode="auto">
            <a:xfrm>
              <a:off x="7886700" y="677863"/>
              <a:ext cx="139700" cy="31591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5" name="直接箭头连接符 174"/>
            <p:cNvCxnSpPr/>
            <p:nvPr/>
          </p:nvCxnSpPr>
          <p:spPr bwMode="auto">
            <a:xfrm flipH="1">
              <a:off x="8085138" y="711200"/>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6" name="直接箭头连接符 175"/>
            <p:cNvCxnSpPr/>
            <p:nvPr/>
          </p:nvCxnSpPr>
          <p:spPr bwMode="auto">
            <a:xfrm flipV="1">
              <a:off x="5768975" y="762000"/>
              <a:ext cx="708025" cy="2968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7" name="直接箭头连接符 176"/>
            <p:cNvCxnSpPr>
              <a:stCxn id="171" idx="1"/>
            </p:cNvCxnSpPr>
            <p:nvPr/>
          </p:nvCxnSpPr>
          <p:spPr bwMode="auto">
            <a:xfrm flipH="1">
              <a:off x="7902576" y="3155679"/>
              <a:ext cx="403224" cy="74884"/>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78" name="直接箭头连接符 177"/>
            <p:cNvCxnSpPr/>
            <p:nvPr/>
          </p:nvCxnSpPr>
          <p:spPr bwMode="auto">
            <a:xfrm flipV="1">
              <a:off x="6103938" y="738188"/>
              <a:ext cx="342900" cy="55562"/>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79" name="Text Box 47"/>
            <p:cNvSpPr txBox="1">
              <a:spLocks noChangeArrowheads="1"/>
            </p:cNvSpPr>
            <p:nvPr/>
          </p:nvSpPr>
          <p:spPr bwMode="auto">
            <a:xfrm>
              <a:off x="5797294" y="3657600"/>
              <a:ext cx="2630707" cy="3915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400" b="1" dirty="0">
                  <a:latin typeface="微软雅黑 Light" panose="020B0502040204020203" pitchFamily="34" charset="-122"/>
                  <a:ea typeface="微软雅黑 Light" panose="020B0502040204020203" pitchFamily="34" charset="-122"/>
                </a:rPr>
                <a:t>(b) N13 </a:t>
              </a:r>
              <a:r>
                <a:rPr kumimoji="1" lang="zh-CN" altLang="en-US" sz="1400" b="1" dirty="0">
                  <a:latin typeface="微软雅黑 Light" panose="020B0502040204020203" pitchFamily="34" charset="-122"/>
                  <a:ea typeface="微软雅黑 Light" panose="020B0502040204020203" pitchFamily="34" charset="-122"/>
                </a:rPr>
                <a:t>加入，</a:t>
              </a:r>
              <a:r>
                <a:rPr kumimoji="1" lang="en-US" altLang="zh-CN" sz="1400" b="1" dirty="0">
                  <a:latin typeface="微软雅黑 Light" panose="020B0502040204020203" pitchFamily="34" charset="-122"/>
                  <a:ea typeface="微软雅黑 Light" panose="020B0502040204020203" pitchFamily="34" charset="-122"/>
                </a:rPr>
                <a:t>N26 </a:t>
              </a:r>
              <a:r>
                <a:rPr kumimoji="1" lang="zh-CN" altLang="en-US" sz="1400" b="1" dirty="0">
                  <a:latin typeface="微软雅黑 Light" panose="020B0502040204020203" pitchFamily="34" charset="-122"/>
                  <a:ea typeface="微软雅黑 Light" panose="020B0502040204020203" pitchFamily="34" charset="-122"/>
                </a:rPr>
                <a:t>退出</a:t>
              </a:r>
              <a:r>
                <a:rPr kumimoji="1" lang="en-US" altLang="zh-CN" sz="1400" b="1" dirty="0">
                  <a:latin typeface="微软雅黑 Light" panose="020B0502040204020203" pitchFamily="34" charset="-122"/>
                  <a:ea typeface="微软雅黑 Light" panose="020B0502040204020203" pitchFamily="34" charset="-122"/>
                </a:rPr>
                <a:t> </a:t>
              </a:r>
            </a:p>
          </p:txBody>
        </p:sp>
        <p:sp>
          <p:nvSpPr>
            <p:cNvPr id="180" name="Oval 52"/>
            <p:cNvSpPr>
              <a:spLocks noChangeArrowheads="1"/>
            </p:cNvSpPr>
            <p:nvPr/>
          </p:nvSpPr>
          <p:spPr bwMode="auto">
            <a:xfrm>
              <a:off x="7764463" y="316230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sp>
          <p:nvSpPr>
            <p:cNvPr id="181" name="Oval 51"/>
            <p:cNvSpPr>
              <a:spLocks noChangeArrowheads="1"/>
            </p:cNvSpPr>
            <p:nvPr/>
          </p:nvSpPr>
          <p:spPr bwMode="auto">
            <a:xfrm>
              <a:off x="5707063" y="149383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1050" b="1" dirty="0">
                <a:latin typeface="微软雅黑 Light" panose="020B0502040204020203" pitchFamily="34" charset="-122"/>
                <a:ea typeface="微软雅黑 Light" panose="020B0502040204020203" pitchFamily="34" charset="-122"/>
              </a:endParaRPr>
            </a:p>
          </p:txBody>
        </p:sp>
      </p:grpSp>
      <p:sp>
        <p:nvSpPr>
          <p:cNvPr id="4" name="标题 3">
            <a:extLst>
              <a:ext uri="{FF2B5EF4-FFF2-40B4-BE49-F238E27FC236}">
                <a16:creationId xmlns:a16="http://schemas.microsoft.com/office/drawing/2014/main" id="{AA72AC49-D838-05AA-1E03-D39F3D60BF82}"/>
              </a:ext>
            </a:extLst>
          </p:cNvPr>
          <p:cNvSpPr>
            <a:spLocks noGrp="1"/>
          </p:cNvSpPr>
          <p:nvPr>
            <p:ph type="title"/>
          </p:nvPr>
        </p:nvSpPr>
        <p:spPr>
          <a:xfrm>
            <a:off x="485999" y="174482"/>
            <a:ext cx="8171999" cy="338554"/>
          </a:xfrm>
        </p:spPr>
        <p:txBody>
          <a:bodyPr/>
          <a:lstStyle/>
          <a:p>
            <a:r>
              <a:rPr lang="zh-CN" altLang="en-US" dirty="0"/>
              <a:t>基于 </a:t>
            </a:r>
            <a:r>
              <a:rPr lang="en-US" altLang="zh-CN" dirty="0"/>
              <a:t>DHT </a:t>
            </a:r>
            <a:r>
              <a:rPr lang="zh-CN" altLang="en-US" dirty="0"/>
              <a:t>的 </a:t>
            </a:r>
            <a:r>
              <a:rPr lang="en-US" altLang="zh-CN" dirty="0"/>
              <a:t>Chord </a:t>
            </a:r>
            <a:r>
              <a:rPr lang="zh-CN" altLang="en-US" dirty="0"/>
              <a:t>环</a:t>
            </a:r>
          </a:p>
        </p:txBody>
      </p:sp>
      <p:sp>
        <p:nvSpPr>
          <p:cNvPr id="182" name="内容占位符 181">
            <a:extLst>
              <a:ext uri="{FF2B5EF4-FFF2-40B4-BE49-F238E27FC236}">
                <a16:creationId xmlns:a16="http://schemas.microsoft.com/office/drawing/2014/main" id="{6DEBBB9C-64C2-7A00-580B-B75A5A1756B5}"/>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6138153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367334" y="1022889"/>
            <a:ext cx="2457313" cy="32085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为了加速查找，在 </a:t>
            </a:r>
            <a:r>
              <a:rPr lang="en-US" altLang="zh-CN" sz="1600" b="1" dirty="0">
                <a:latin typeface="微软雅黑 Light" panose="020B0502040204020203" pitchFamily="34" charset="-122"/>
                <a:ea typeface="微软雅黑 Light" panose="020B0502040204020203" pitchFamily="34" charset="-122"/>
              </a:rPr>
              <a:t>Chord </a:t>
            </a:r>
            <a:r>
              <a:rPr lang="zh-CN" altLang="en-US" sz="1600" b="1" dirty="0">
                <a:latin typeface="微软雅黑 Light" panose="020B0502040204020203" pitchFamily="34" charset="-122"/>
                <a:ea typeface="微软雅黑 Light" panose="020B0502040204020203" pitchFamily="34" charset="-122"/>
              </a:rPr>
              <a:t>环上可以增加一些</a:t>
            </a:r>
            <a:r>
              <a:rPr lang="zh-CN" altLang="en-US" sz="1600" b="1" dirty="0">
                <a:solidFill>
                  <a:srgbClr val="0000FF"/>
                </a:solidFill>
                <a:latin typeface="微软雅黑 Light" panose="020B0502040204020203" pitchFamily="34" charset="-122"/>
                <a:ea typeface="微软雅黑 Light" panose="020B0502040204020203" pitchFamily="34" charset="-122"/>
              </a:rPr>
              <a:t>指针表</a:t>
            </a:r>
            <a:r>
              <a:rPr lang="en-US" altLang="zh-CN" sz="1600" b="1" dirty="0">
                <a:latin typeface="微软雅黑 Light" panose="020B0502040204020203" pitchFamily="34" charset="-122"/>
                <a:ea typeface="微软雅黑 Light" panose="020B0502040204020203" pitchFamily="34" charset="-122"/>
              </a:rPr>
              <a:t>(finger table)</a:t>
            </a:r>
            <a:r>
              <a:rPr lang="zh-CN" altLang="en-US" sz="1600" b="1" dirty="0">
                <a:latin typeface="微软雅黑 Light" panose="020B0502040204020203" pitchFamily="34" charset="-122"/>
                <a:ea typeface="微软雅黑 Light" panose="020B0502040204020203" pitchFamily="34" charset="-122"/>
              </a:rPr>
              <a:t>，又称为</a:t>
            </a:r>
            <a:r>
              <a:rPr lang="zh-CN" altLang="en-US" sz="1600" b="1" dirty="0">
                <a:solidFill>
                  <a:srgbClr val="0000FF"/>
                </a:solidFill>
                <a:latin typeface="微软雅黑 Light" panose="020B0502040204020203" pitchFamily="34" charset="-122"/>
                <a:ea typeface="微软雅黑 Light" panose="020B0502040204020203" pitchFamily="34" charset="-122"/>
              </a:rPr>
              <a:t>路由表</a:t>
            </a:r>
            <a:r>
              <a:rPr lang="zh-CN" altLang="en-US" sz="1600" b="1" dirty="0">
                <a:latin typeface="微软雅黑 Light" panose="020B0502040204020203" pitchFamily="34" charset="-122"/>
                <a:ea typeface="微软雅黑 Light" panose="020B0502040204020203" pitchFamily="34" charset="-122"/>
              </a:rPr>
              <a:t>或</a:t>
            </a:r>
            <a:r>
              <a:rPr lang="zh-CN" altLang="en-US" sz="1600" b="1" dirty="0">
                <a:solidFill>
                  <a:srgbClr val="0000FF"/>
                </a:solidFill>
                <a:latin typeface="微软雅黑 Light" panose="020B0502040204020203" pitchFamily="34" charset="-122"/>
                <a:ea typeface="微软雅黑 Light" panose="020B0502040204020203" pitchFamily="34" charset="-122"/>
              </a:rPr>
              <a:t>查找器表。</a:t>
            </a:r>
          </a:p>
          <a:p>
            <a:pPr marL="273050" indent="-273050" eaLnBrk="0" hangingPunct="0">
              <a:lnSpc>
                <a:spcPts val="2700"/>
              </a:lnSpc>
              <a:buClr>
                <a:srgbClr val="0070C0"/>
              </a:buClr>
              <a:buFont typeface="Wingdings" pitchFamily="2" charset="2"/>
              <a:buChar char="l"/>
            </a:pPr>
            <a:r>
              <a:rPr lang="zh-CN" altLang="en-US" sz="1600" b="1" dirty="0">
                <a:latin typeface="微软雅黑 Light" panose="020B0502040204020203" pitchFamily="34" charset="-122"/>
                <a:ea typeface="微软雅黑 Light" panose="020B0502040204020203" pitchFamily="34" charset="-122"/>
              </a:rPr>
              <a:t>对于结点 </a:t>
            </a:r>
            <a:r>
              <a:rPr lang="en-US" altLang="zh-CN" sz="1600" b="1" dirty="0">
                <a:latin typeface="微软雅黑 Light" panose="020B0502040204020203" pitchFamily="34" charset="-122"/>
                <a:ea typeface="微软雅黑 Light" panose="020B0502040204020203" pitchFamily="34" charset="-122"/>
              </a:rPr>
              <a:t>N4</a:t>
            </a:r>
            <a:r>
              <a:rPr lang="zh-CN" altLang="en-US" sz="1600" b="1" dirty="0">
                <a:latin typeface="微软雅黑 Light" panose="020B0502040204020203" pitchFamily="34" charset="-122"/>
                <a:ea typeface="微软雅黑 Light" panose="020B0502040204020203" pitchFamily="34" charset="-122"/>
              </a:rPr>
              <a:t>，其指针表的第 </a:t>
            </a:r>
            <a:r>
              <a:rPr lang="en-US" altLang="zh-CN" sz="1600" b="1" dirty="0">
                <a:latin typeface="微软雅黑 Light" panose="020B0502040204020203" pitchFamily="34" charset="-122"/>
                <a:ea typeface="微软雅黑 Light" panose="020B0502040204020203" pitchFamily="34" charset="-122"/>
              </a:rPr>
              <a:t>2 </a:t>
            </a:r>
            <a:r>
              <a:rPr lang="zh-CN" altLang="en-US" sz="1600" b="1" dirty="0">
                <a:latin typeface="微软雅黑 Light" panose="020B0502040204020203" pitchFamily="34" charset="-122"/>
                <a:ea typeface="微软雅黑 Light" panose="020B0502040204020203" pitchFamily="34" charset="-122"/>
              </a:rPr>
              <a:t>列第 </a:t>
            </a:r>
            <a:r>
              <a:rPr lang="en-US" altLang="zh-CN" sz="1600" b="1" i="1" dirty="0" err="1">
                <a:latin typeface="微软雅黑 Light" panose="020B0502040204020203" pitchFamily="34" charset="-122"/>
                <a:ea typeface="微软雅黑 Light" panose="020B0502040204020203" pitchFamily="34" charset="-122"/>
              </a:rPr>
              <a:t>i</a:t>
            </a:r>
            <a:r>
              <a:rPr lang="en-US" altLang="zh-CN" sz="1600" b="1" i="1" dirty="0">
                <a:latin typeface="微软雅黑 Light" panose="020B0502040204020203" pitchFamily="34" charset="-122"/>
                <a:ea typeface="微软雅黑 Light" panose="020B0502040204020203" pitchFamily="34" charset="-122"/>
              </a:rPr>
              <a:t>  </a:t>
            </a:r>
            <a:r>
              <a:rPr lang="zh-CN" altLang="en-US" sz="1600" b="1" dirty="0">
                <a:latin typeface="微软雅黑 Light" panose="020B0502040204020203" pitchFamily="34" charset="-122"/>
                <a:ea typeface="微软雅黑 Light" panose="020B0502040204020203" pitchFamily="34" charset="-122"/>
              </a:rPr>
              <a:t>行根据（</a:t>
            </a:r>
            <a:r>
              <a:rPr lang="en-US" altLang="zh-CN" sz="1600" b="1" dirty="0">
                <a:latin typeface="微软雅黑 Light" panose="020B0502040204020203" pitchFamily="34" charset="-122"/>
                <a:ea typeface="微软雅黑 Light" panose="020B0502040204020203" pitchFamily="34" charset="-122"/>
              </a:rPr>
              <a:t>N4 + 2</a:t>
            </a:r>
            <a:r>
              <a:rPr lang="en-US" altLang="zh-CN" sz="1600" b="1" i="1" baseline="30000" dirty="0">
                <a:latin typeface="微软雅黑 Light" panose="020B0502040204020203" pitchFamily="34" charset="-122"/>
                <a:ea typeface="微软雅黑 Light" panose="020B0502040204020203" pitchFamily="34" charset="-122"/>
              </a:rPr>
              <a:t>i – 1</a:t>
            </a:r>
            <a:r>
              <a:rPr lang="zh-CN" altLang="en-US" sz="1600" b="1" dirty="0">
                <a:latin typeface="微软雅黑 Light" panose="020B0502040204020203" pitchFamily="34" charset="-122"/>
                <a:ea typeface="微软雅黑 Light" panose="020B0502040204020203" pitchFamily="34" charset="-122"/>
              </a:rPr>
              <a:t>）计算得出其</a:t>
            </a:r>
            <a:r>
              <a:rPr lang="zh-CN" altLang="en-US" sz="1600" b="1" dirty="0">
                <a:solidFill>
                  <a:srgbClr val="0000FF"/>
                </a:solidFill>
                <a:latin typeface="微软雅黑 Light" panose="020B0502040204020203" pitchFamily="34" charset="-122"/>
                <a:ea typeface="微软雅黑 Light" panose="020B0502040204020203" pitchFamily="34" charset="-122"/>
              </a:rPr>
              <a:t>后继结点。</a:t>
            </a:r>
          </a:p>
        </p:txBody>
      </p:sp>
      <p:grpSp>
        <p:nvGrpSpPr>
          <p:cNvPr id="6" name="组合 5"/>
          <p:cNvGrpSpPr/>
          <p:nvPr/>
        </p:nvGrpSpPr>
        <p:grpSpPr>
          <a:xfrm>
            <a:off x="2951985" y="1278383"/>
            <a:ext cx="5653754" cy="2840854"/>
            <a:chOff x="152399" y="419100"/>
            <a:chExt cx="7000772" cy="3554168"/>
          </a:xfrm>
        </p:grpSpPr>
        <p:sp>
          <p:nvSpPr>
            <p:cNvPr id="8" name="任意多边形 7"/>
            <p:cNvSpPr/>
            <p:nvPr/>
          </p:nvSpPr>
          <p:spPr>
            <a:xfrm>
              <a:off x="1703388" y="2362200"/>
              <a:ext cx="628650" cy="1282700"/>
            </a:xfrm>
            <a:custGeom>
              <a:avLst/>
              <a:gdLst>
                <a:gd name="connsiteX0" fmla="*/ 0 w 629174"/>
                <a:gd name="connsiteY0" fmla="*/ 0 h 1283516"/>
                <a:gd name="connsiteX1" fmla="*/ 629174 w 629174"/>
                <a:gd name="connsiteY1" fmla="*/ 700481 h 1283516"/>
                <a:gd name="connsiteX2" fmla="*/ 0 w 629174"/>
                <a:gd name="connsiteY2" fmla="*/ 1283516 h 1283516"/>
                <a:gd name="connsiteX3" fmla="*/ 0 w 629174"/>
                <a:gd name="connsiteY3" fmla="*/ 0 h 1283516"/>
              </a:gdLst>
              <a:ahLst/>
              <a:cxnLst>
                <a:cxn ang="0">
                  <a:pos x="connsiteX0" y="connsiteY0"/>
                </a:cxn>
                <a:cxn ang="0">
                  <a:pos x="connsiteX1" y="connsiteY1"/>
                </a:cxn>
                <a:cxn ang="0">
                  <a:pos x="connsiteX2" y="connsiteY2"/>
                </a:cxn>
                <a:cxn ang="0">
                  <a:pos x="connsiteX3" y="connsiteY3"/>
                </a:cxn>
              </a:cxnLst>
              <a:rect l="l" t="t" r="r" b="b"/>
              <a:pathLst>
                <a:path w="629174" h="1283516">
                  <a:moveTo>
                    <a:pt x="0" y="0"/>
                  </a:moveTo>
                  <a:lnTo>
                    <a:pt x="629174" y="700481"/>
                  </a:lnTo>
                  <a:lnTo>
                    <a:pt x="0" y="1283516"/>
                  </a:lnTo>
                  <a:lnTo>
                    <a:pt x="0" y="0"/>
                  </a:lnTo>
                  <a:close/>
                </a:path>
              </a:pathLst>
            </a:custGeom>
            <a:gradFill flip="none" rotWithShape="1">
              <a:gsLst>
                <a:gs pos="0">
                  <a:schemeClr val="bg2">
                    <a:lumMod val="20000"/>
                    <a:lumOff val="80000"/>
                    <a:shade val="30000"/>
                    <a:satMod val="115000"/>
                  </a:schemeClr>
                </a:gs>
                <a:gs pos="50000">
                  <a:schemeClr val="bg2">
                    <a:lumMod val="20000"/>
                    <a:lumOff val="80000"/>
                    <a:shade val="67500"/>
                    <a:satMod val="115000"/>
                  </a:schemeClr>
                </a:gs>
                <a:gs pos="100000">
                  <a:schemeClr val="bg2">
                    <a:lumMod val="20000"/>
                    <a:lumOff val="80000"/>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9" name="Text Box 81"/>
            <p:cNvSpPr txBox="1">
              <a:spLocks noChangeArrowheads="1"/>
            </p:cNvSpPr>
            <p:nvPr/>
          </p:nvSpPr>
          <p:spPr bwMode="auto">
            <a:xfrm>
              <a:off x="228600" y="533400"/>
              <a:ext cx="715963"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zh-CN" altLang="en-US" sz="1000" b="1" dirty="0">
                  <a:latin typeface="微软雅黑 Light" panose="020B0502040204020203" pitchFamily="34" charset="-122"/>
                  <a:ea typeface="微软雅黑 Light" panose="020B0502040204020203" pitchFamily="34" charset="-122"/>
                </a:rPr>
                <a:t>图例：</a:t>
              </a:r>
            </a:p>
          </p:txBody>
        </p:sp>
        <p:sp>
          <p:nvSpPr>
            <p:cNvPr id="10" name="Text Box 47"/>
            <p:cNvSpPr txBox="1">
              <a:spLocks noChangeArrowheads="1"/>
            </p:cNvSpPr>
            <p:nvPr/>
          </p:nvSpPr>
          <p:spPr bwMode="auto">
            <a:xfrm>
              <a:off x="1127125" y="533400"/>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NID</a:t>
              </a:r>
            </a:p>
          </p:txBody>
        </p:sp>
        <p:sp>
          <p:nvSpPr>
            <p:cNvPr id="11" name="Oval 53"/>
            <p:cNvSpPr>
              <a:spLocks noChangeArrowheads="1"/>
            </p:cNvSpPr>
            <p:nvPr/>
          </p:nvSpPr>
          <p:spPr bwMode="auto">
            <a:xfrm>
              <a:off x="876300" y="6254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2" name="Text Box 71"/>
            <p:cNvSpPr txBox="1">
              <a:spLocks noChangeArrowheads="1"/>
            </p:cNvSpPr>
            <p:nvPr/>
          </p:nvSpPr>
          <p:spPr bwMode="auto">
            <a:xfrm>
              <a:off x="854076" y="860425"/>
              <a:ext cx="190500" cy="173275"/>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lIns="0" tIns="0" rIns="0" bIns="0">
              <a:spAutoFit/>
            </a:bodyPr>
            <a:lstStyle/>
            <a:p>
              <a:pPr algn="ctr">
                <a:defRPr/>
              </a:pPr>
              <a:endParaRPr kumimoji="1" lang="en-US" altLang="zh-CN" sz="900" b="1" dirty="0">
                <a:latin typeface="微软雅黑 Light" panose="020B0502040204020203" pitchFamily="34" charset="-122"/>
                <a:ea typeface="微软雅黑 Light" panose="020B0502040204020203" pitchFamily="34" charset="-122"/>
              </a:endParaRPr>
            </a:p>
          </p:txBody>
        </p:sp>
        <p:sp>
          <p:nvSpPr>
            <p:cNvPr id="13" name="Text Box 47"/>
            <p:cNvSpPr txBox="1">
              <a:spLocks noChangeArrowheads="1"/>
            </p:cNvSpPr>
            <p:nvPr/>
          </p:nvSpPr>
          <p:spPr bwMode="auto">
            <a:xfrm>
              <a:off x="1143001" y="819400"/>
              <a:ext cx="38099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KID</a:t>
              </a:r>
            </a:p>
          </p:txBody>
        </p:sp>
        <p:sp>
          <p:nvSpPr>
            <p:cNvPr id="14" name="矩形 13"/>
            <p:cNvSpPr/>
            <p:nvPr/>
          </p:nvSpPr>
          <p:spPr bwMode="auto">
            <a:xfrm>
              <a:off x="266700" y="519113"/>
              <a:ext cx="1295400" cy="62547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5" name="Oval 20"/>
            <p:cNvSpPr>
              <a:spLocks noChangeArrowheads="1"/>
            </p:cNvSpPr>
            <p:nvPr/>
          </p:nvSpPr>
          <p:spPr bwMode="auto">
            <a:xfrm>
              <a:off x="1987550" y="654050"/>
              <a:ext cx="2819400" cy="2819400"/>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16" name="Text Box 31"/>
            <p:cNvSpPr txBox="1">
              <a:spLocks noChangeArrowheads="1"/>
            </p:cNvSpPr>
            <p:nvPr/>
          </p:nvSpPr>
          <p:spPr bwMode="auto">
            <a:xfrm>
              <a:off x="3263900" y="654050"/>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0</a:t>
              </a:r>
            </a:p>
          </p:txBody>
        </p:sp>
        <p:sp>
          <p:nvSpPr>
            <p:cNvPr id="17" name="Text Box 33"/>
            <p:cNvSpPr txBox="1">
              <a:spLocks noChangeArrowheads="1"/>
            </p:cNvSpPr>
            <p:nvPr/>
          </p:nvSpPr>
          <p:spPr bwMode="auto">
            <a:xfrm>
              <a:off x="3519487" y="67627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a:t>
              </a:r>
            </a:p>
          </p:txBody>
        </p:sp>
        <p:sp>
          <p:nvSpPr>
            <p:cNvPr id="18" name="Text Box 34"/>
            <p:cNvSpPr txBox="1">
              <a:spLocks noChangeArrowheads="1"/>
            </p:cNvSpPr>
            <p:nvPr/>
          </p:nvSpPr>
          <p:spPr bwMode="auto">
            <a:xfrm>
              <a:off x="3754438" y="72866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a:t>
              </a:r>
            </a:p>
          </p:txBody>
        </p:sp>
        <p:sp>
          <p:nvSpPr>
            <p:cNvPr id="19" name="Text Box 35"/>
            <p:cNvSpPr txBox="1">
              <a:spLocks noChangeArrowheads="1"/>
            </p:cNvSpPr>
            <p:nvPr/>
          </p:nvSpPr>
          <p:spPr bwMode="auto">
            <a:xfrm>
              <a:off x="3997325" y="85248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a:t>
              </a:r>
            </a:p>
          </p:txBody>
        </p:sp>
        <p:sp>
          <p:nvSpPr>
            <p:cNvPr id="20" name="Text Box 36"/>
            <p:cNvSpPr txBox="1">
              <a:spLocks noChangeArrowheads="1"/>
            </p:cNvSpPr>
            <p:nvPr/>
          </p:nvSpPr>
          <p:spPr bwMode="auto">
            <a:xfrm>
              <a:off x="4152898" y="102869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4</a:t>
              </a:r>
            </a:p>
          </p:txBody>
        </p:sp>
        <p:sp>
          <p:nvSpPr>
            <p:cNvPr id="21" name="Text Box 37"/>
            <p:cNvSpPr txBox="1">
              <a:spLocks noChangeArrowheads="1"/>
            </p:cNvSpPr>
            <p:nvPr/>
          </p:nvSpPr>
          <p:spPr bwMode="auto">
            <a:xfrm>
              <a:off x="4303712" y="11763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5</a:t>
              </a:r>
            </a:p>
          </p:txBody>
        </p:sp>
        <p:sp>
          <p:nvSpPr>
            <p:cNvPr id="22" name="Text Box 38"/>
            <p:cNvSpPr txBox="1">
              <a:spLocks noChangeArrowheads="1"/>
            </p:cNvSpPr>
            <p:nvPr/>
          </p:nvSpPr>
          <p:spPr bwMode="auto">
            <a:xfrm>
              <a:off x="4435474" y="13604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6</a:t>
              </a:r>
            </a:p>
          </p:txBody>
        </p:sp>
        <p:sp>
          <p:nvSpPr>
            <p:cNvPr id="23" name="Text Box 39"/>
            <p:cNvSpPr txBox="1">
              <a:spLocks noChangeArrowheads="1"/>
            </p:cNvSpPr>
            <p:nvPr/>
          </p:nvSpPr>
          <p:spPr bwMode="auto">
            <a:xfrm>
              <a:off x="4502150" y="163512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7</a:t>
              </a:r>
            </a:p>
          </p:txBody>
        </p:sp>
        <p:sp>
          <p:nvSpPr>
            <p:cNvPr id="24" name="Text Box 40"/>
            <p:cNvSpPr txBox="1">
              <a:spLocks noChangeArrowheads="1"/>
            </p:cNvSpPr>
            <p:nvPr/>
          </p:nvSpPr>
          <p:spPr bwMode="auto">
            <a:xfrm>
              <a:off x="4543426" y="18494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8</a:t>
              </a:r>
            </a:p>
          </p:txBody>
        </p:sp>
        <p:sp>
          <p:nvSpPr>
            <p:cNvPr id="25" name="Text Box 41"/>
            <p:cNvSpPr txBox="1">
              <a:spLocks noChangeArrowheads="1"/>
            </p:cNvSpPr>
            <p:nvPr/>
          </p:nvSpPr>
          <p:spPr bwMode="auto">
            <a:xfrm>
              <a:off x="4538665" y="20970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9</a:t>
              </a:r>
            </a:p>
          </p:txBody>
        </p:sp>
        <p:sp>
          <p:nvSpPr>
            <p:cNvPr id="26" name="Text Box 42"/>
            <p:cNvSpPr txBox="1">
              <a:spLocks noChangeArrowheads="1"/>
            </p:cNvSpPr>
            <p:nvPr/>
          </p:nvSpPr>
          <p:spPr bwMode="auto">
            <a:xfrm>
              <a:off x="4479926" y="234473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10</a:t>
              </a:r>
            </a:p>
          </p:txBody>
        </p:sp>
        <p:sp>
          <p:nvSpPr>
            <p:cNvPr id="27" name="Text Box 43"/>
            <p:cNvSpPr txBox="1">
              <a:spLocks noChangeArrowheads="1"/>
            </p:cNvSpPr>
            <p:nvPr/>
          </p:nvSpPr>
          <p:spPr bwMode="auto">
            <a:xfrm>
              <a:off x="4357688" y="257016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11</a:t>
              </a:r>
            </a:p>
          </p:txBody>
        </p:sp>
        <p:sp>
          <p:nvSpPr>
            <p:cNvPr id="28" name="Text Box 44"/>
            <p:cNvSpPr txBox="1">
              <a:spLocks noChangeArrowheads="1"/>
            </p:cNvSpPr>
            <p:nvPr/>
          </p:nvSpPr>
          <p:spPr bwMode="auto">
            <a:xfrm>
              <a:off x="4179888" y="279558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12</a:t>
              </a:r>
            </a:p>
          </p:txBody>
        </p:sp>
        <p:sp>
          <p:nvSpPr>
            <p:cNvPr id="29" name="Text Box 45"/>
            <p:cNvSpPr txBox="1">
              <a:spLocks noChangeArrowheads="1"/>
            </p:cNvSpPr>
            <p:nvPr/>
          </p:nvSpPr>
          <p:spPr bwMode="auto">
            <a:xfrm>
              <a:off x="4011614" y="2932111"/>
              <a:ext cx="230186"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13</a:t>
              </a:r>
            </a:p>
          </p:txBody>
        </p:sp>
        <p:sp>
          <p:nvSpPr>
            <p:cNvPr id="30" name="Text Box 46"/>
            <p:cNvSpPr txBox="1">
              <a:spLocks noChangeArrowheads="1"/>
            </p:cNvSpPr>
            <p:nvPr/>
          </p:nvSpPr>
          <p:spPr bwMode="auto">
            <a:xfrm>
              <a:off x="3802062" y="306070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14</a:t>
              </a:r>
            </a:p>
          </p:txBody>
        </p:sp>
        <p:sp>
          <p:nvSpPr>
            <p:cNvPr id="31" name="Text Box 47"/>
            <p:cNvSpPr txBox="1">
              <a:spLocks noChangeArrowheads="1"/>
            </p:cNvSpPr>
            <p:nvPr/>
          </p:nvSpPr>
          <p:spPr bwMode="auto">
            <a:xfrm>
              <a:off x="3535362" y="31337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15</a:t>
              </a:r>
            </a:p>
          </p:txBody>
        </p:sp>
        <p:sp>
          <p:nvSpPr>
            <p:cNvPr id="32" name="Oval 48"/>
            <p:cNvSpPr>
              <a:spLocks noChangeArrowheads="1"/>
            </p:cNvSpPr>
            <p:nvPr/>
          </p:nvSpPr>
          <p:spPr bwMode="auto">
            <a:xfrm>
              <a:off x="4311650" y="9969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3" name="Oval 49"/>
            <p:cNvSpPr>
              <a:spLocks noChangeArrowheads="1"/>
            </p:cNvSpPr>
            <p:nvPr/>
          </p:nvSpPr>
          <p:spPr bwMode="auto">
            <a:xfrm>
              <a:off x="2330450" y="298767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4" name="Oval 50"/>
            <p:cNvSpPr>
              <a:spLocks noChangeArrowheads="1"/>
            </p:cNvSpPr>
            <p:nvPr/>
          </p:nvSpPr>
          <p:spPr bwMode="auto">
            <a:xfrm>
              <a:off x="2016125" y="1454150"/>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5" name="Oval 51"/>
            <p:cNvSpPr>
              <a:spLocks noChangeArrowheads="1"/>
            </p:cNvSpPr>
            <p:nvPr/>
          </p:nvSpPr>
          <p:spPr bwMode="auto">
            <a:xfrm>
              <a:off x="3911600" y="730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6" name="Oval 52"/>
            <p:cNvSpPr>
              <a:spLocks noChangeArrowheads="1"/>
            </p:cNvSpPr>
            <p:nvPr/>
          </p:nvSpPr>
          <p:spPr bwMode="auto">
            <a:xfrm>
              <a:off x="4633913" y="2541588"/>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7" name="Oval 53"/>
            <p:cNvSpPr>
              <a:spLocks noChangeArrowheads="1"/>
            </p:cNvSpPr>
            <p:nvPr/>
          </p:nvSpPr>
          <p:spPr bwMode="auto">
            <a:xfrm>
              <a:off x="2797175" y="682625"/>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8" name="Oval 54"/>
            <p:cNvSpPr>
              <a:spLocks noChangeArrowheads="1"/>
            </p:cNvSpPr>
            <p:nvPr/>
          </p:nvSpPr>
          <p:spPr bwMode="auto">
            <a:xfrm>
              <a:off x="4654550" y="1492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39" name="Oval 55"/>
            <p:cNvSpPr>
              <a:spLocks noChangeArrowheads="1"/>
            </p:cNvSpPr>
            <p:nvPr/>
          </p:nvSpPr>
          <p:spPr bwMode="auto">
            <a:xfrm>
              <a:off x="47688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0" name="Oval 56"/>
            <p:cNvSpPr>
              <a:spLocks noChangeArrowheads="1"/>
            </p:cNvSpPr>
            <p:nvPr/>
          </p:nvSpPr>
          <p:spPr bwMode="auto">
            <a:xfrm>
              <a:off x="4359275" y="30162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1" name="Oval 57"/>
            <p:cNvSpPr>
              <a:spLocks noChangeArrowheads="1"/>
            </p:cNvSpPr>
            <p:nvPr/>
          </p:nvSpPr>
          <p:spPr bwMode="auto">
            <a:xfrm>
              <a:off x="3892550" y="3321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2" name="Oval 58"/>
            <p:cNvSpPr>
              <a:spLocks noChangeArrowheads="1"/>
            </p:cNvSpPr>
            <p:nvPr/>
          </p:nvSpPr>
          <p:spPr bwMode="auto">
            <a:xfrm>
              <a:off x="3368675" y="34353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3" name="Oval 59"/>
            <p:cNvSpPr>
              <a:spLocks noChangeArrowheads="1"/>
            </p:cNvSpPr>
            <p:nvPr/>
          </p:nvSpPr>
          <p:spPr bwMode="auto">
            <a:xfrm>
              <a:off x="2825750" y="33305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4" name="Oval 60"/>
            <p:cNvSpPr>
              <a:spLocks noChangeArrowheads="1"/>
            </p:cNvSpPr>
            <p:nvPr/>
          </p:nvSpPr>
          <p:spPr bwMode="auto">
            <a:xfrm>
              <a:off x="2063750" y="2559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5" name="Oval 61"/>
            <p:cNvSpPr>
              <a:spLocks noChangeArrowheads="1"/>
            </p:cNvSpPr>
            <p:nvPr/>
          </p:nvSpPr>
          <p:spPr bwMode="auto">
            <a:xfrm>
              <a:off x="1949450" y="2016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6" name="Oval 62"/>
            <p:cNvSpPr>
              <a:spLocks noChangeArrowheads="1"/>
            </p:cNvSpPr>
            <p:nvPr/>
          </p:nvSpPr>
          <p:spPr bwMode="auto">
            <a:xfrm>
              <a:off x="2368550" y="1035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7" name="Oval 51"/>
            <p:cNvSpPr>
              <a:spLocks noChangeArrowheads="1"/>
            </p:cNvSpPr>
            <p:nvPr/>
          </p:nvSpPr>
          <p:spPr bwMode="auto">
            <a:xfrm>
              <a:off x="3636963" y="6540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8" name="Oval 51"/>
            <p:cNvSpPr>
              <a:spLocks noChangeArrowheads="1"/>
            </p:cNvSpPr>
            <p:nvPr/>
          </p:nvSpPr>
          <p:spPr bwMode="auto">
            <a:xfrm>
              <a:off x="4148138"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49" name="Oval 51"/>
            <p:cNvSpPr>
              <a:spLocks noChangeArrowheads="1"/>
            </p:cNvSpPr>
            <p:nvPr/>
          </p:nvSpPr>
          <p:spPr bwMode="auto">
            <a:xfrm>
              <a:off x="2578100" y="8604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0" name="Oval 51"/>
            <p:cNvSpPr>
              <a:spLocks noChangeArrowheads="1"/>
            </p:cNvSpPr>
            <p:nvPr/>
          </p:nvSpPr>
          <p:spPr bwMode="auto">
            <a:xfrm>
              <a:off x="3081338" y="6461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1" name="Oval 51"/>
            <p:cNvSpPr>
              <a:spLocks noChangeArrowheads="1"/>
            </p:cNvSpPr>
            <p:nvPr/>
          </p:nvSpPr>
          <p:spPr bwMode="auto">
            <a:xfrm>
              <a:off x="4537075" y="1263650"/>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2" name="Oval 51"/>
            <p:cNvSpPr>
              <a:spLocks noChangeArrowheads="1"/>
            </p:cNvSpPr>
            <p:nvPr/>
          </p:nvSpPr>
          <p:spPr bwMode="auto">
            <a:xfrm>
              <a:off x="3103563"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3" name="Oval 51"/>
            <p:cNvSpPr>
              <a:spLocks noChangeArrowheads="1"/>
            </p:cNvSpPr>
            <p:nvPr/>
          </p:nvSpPr>
          <p:spPr bwMode="auto">
            <a:xfrm>
              <a:off x="2554288" y="31988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4" name="Oval 51"/>
            <p:cNvSpPr>
              <a:spLocks noChangeArrowheads="1"/>
            </p:cNvSpPr>
            <p:nvPr/>
          </p:nvSpPr>
          <p:spPr bwMode="auto">
            <a:xfrm>
              <a:off x="1968500" y="17430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5" name="Oval 51"/>
            <p:cNvSpPr>
              <a:spLocks noChangeArrowheads="1"/>
            </p:cNvSpPr>
            <p:nvPr/>
          </p:nvSpPr>
          <p:spPr bwMode="auto">
            <a:xfrm>
              <a:off x="2181225" y="12477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6" name="Oval 51"/>
            <p:cNvSpPr>
              <a:spLocks noChangeArrowheads="1"/>
            </p:cNvSpPr>
            <p:nvPr/>
          </p:nvSpPr>
          <p:spPr bwMode="auto">
            <a:xfrm>
              <a:off x="3621088" y="34131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7" name="Oval 51"/>
            <p:cNvSpPr>
              <a:spLocks noChangeArrowheads="1"/>
            </p:cNvSpPr>
            <p:nvPr/>
          </p:nvSpPr>
          <p:spPr bwMode="auto">
            <a:xfrm>
              <a:off x="4148138" y="3190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8" name="Oval 51"/>
            <p:cNvSpPr>
              <a:spLocks noChangeArrowheads="1"/>
            </p:cNvSpPr>
            <p:nvPr/>
          </p:nvSpPr>
          <p:spPr bwMode="auto">
            <a:xfrm>
              <a:off x="4741863" y="2284413"/>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59" name="Oval 51"/>
            <p:cNvSpPr>
              <a:spLocks noChangeArrowheads="1"/>
            </p:cNvSpPr>
            <p:nvPr/>
          </p:nvSpPr>
          <p:spPr bwMode="auto">
            <a:xfrm>
              <a:off x="4521200" y="280987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0" name="Oval 51"/>
            <p:cNvSpPr>
              <a:spLocks noChangeArrowheads="1"/>
            </p:cNvSpPr>
            <p:nvPr/>
          </p:nvSpPr>
          <p:spPr bwMode="auto">
            <a:xfrm>
              <a:off x="1974850" y="23002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1" name="Oval 51"/>
            <p:cNvSpPr>
              <a:spLocks noChangeArrowheads="1"/>
            </p:cNvSpPr>
            <p:nvPr/>
          </p:nvSpPr>
          <p:spPr bwMode="auto">
            <a:xfrm>
              <a:off x="2173288" y="2803525"/>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2" name="Oval 51"/>
            <p:cNvSpPr>
              <a:spLocks noChangeArrowheads="1"/>
            </p:cNvSpPr>
            <p:nvPr/>
          </p:nvSpPr>
          <p:spPr bwMode="auto">
            <a:xfrm>
              <a:off x="3362325" y="623888"/>
              <a:ext cx="76200" cy="76200"/>
            </a:xfrm>
            <a:prstGeom prst="ellipse">
              <a:avLst/>
            </a:prstGeom>
            <a:solidFill>
              <a:schemeClr val="tx1"/>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63" name="Text Box 47"/>
            <p:cNvSpPr txBox="1">
              <a:spLocks noChangeArrowheads="1"/>
            </p:cNvSpPr>
            <p:nvPr/>
          </p:nvSpPr>
          <p:spPr bwMode="auto">
            <a:xfrm>
              <a:off x="3306763" y="3168649"/>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16</a:t>
              </a:r>
            </a:p>
          </p:txBody>
        </p:sp>
        <p:sp>
          <p:nvSpPr>
            <p:cNvPr id="64" name="Text Box 47"/>
            <p:cNvSpPr txBox="1">
              <a:spLocks noChangeArrowheads="1"/>
            </p:cNvSpPr>
            <p:nvPr/>
          </p:nvSpPr>
          <p:spPr bwMode="auto">
            <a:xfrm>
              <a:off x="3063876" y="3148011"/>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17</a:t>
              </a:r>
            </a:p>
          </p:txBody>
        </p:sp>
        <p:sp>
          <p:nvSpPr>
            <p:cNvPr id="65" name="Text Box 47"/>
            <p:cNvSpPr txBox="1">
              <a:spLocks noChangeArrowheads="1"/>
            </p:cNvSpPr>
            <p:nvPr/>
          </p:nvSpPr>
          <p:spPr bwMode="auto">
            <a:xfrm>
              <a:off x="2819401" y="308768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18</a:t>
              </a:r>
            </a:p>
          </p:txBody>
        </p:sp>
        <p:sp>
          <p:nvSpPr>
            <p:cNvPr id="66" name="Text Box 47"/>
            <p:cNvSpPr txBox="1">
              <a:spLocks noChangeArrowheads="1"/>
            </p:cNvSpPr>
            <p:nvPr/>
          </p:nvSpPr>
          <p:spPr bwMode="auto">
            <a:xfrm>
              <a:off x="2598739" y="29876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19</a:t>
              </a:r>
            </a:p>
          </p:txBody>
        </p:sp>
        <p:sp>
          <p:nvSpPr>
            <p:cNvPr id="67" name="Text Box 47"/>
            <p:cNvSpPr txBox="1">
              <a:spLocks noChangeArrowheads="1"/>
            </p:cNvSpPr>
            <p:nvPr/>
          </p:nvSpPr>
          <p:spPr bwMode="auto">
            <a:xfrm>
              <a:off x="2482851" y="275113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20</a:t>
              </a:r>
            </a:p>
          </p:txBody>
        </p:sp>
        <p:sp>
          <p:nvSpPr>
            <p:cNvPr id="68" name="Text Box 47"/>
            <p:cNvSpPr txBox="1">
              <a:spLocks noChangeArrowheads="1"/>
            </p:cNvSpPr>
            <p:nvPr/>
          </p:nvSpPr>
          <p:spPr bwMode="auto">
            <a:xfrm>
              <a:off x="2292351" y="2636838"/>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21</a:t>
              </a:r>
            </a:p>
          </p:txBody>
        </p:sp>
        <p:sp>
          <p:nvSpPr>
            <p:cNvPr id="69" name="Text Box 47"/>
            <p:cNvSpPr txBox="1">
              <a:spLocks noChangeArrowheads="1"/>
            </p:cNvSpPr>
            <p:nvPr/>
          </p:nvSpPr>
          <p:spPr bwMode="auto">
            <a:xfrm>
              <a:off x="2178050" y="24383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22</a:t>
              </a:r>
            </a:p>
          </p:txBody>
        </p:sp>
        <p:sp>
          <p:nvSpPr>
            <p:cNvPr id="70" name="Text Box 47"/>
            <p:cNvSpPr txBox="1">
              <a:spLocks noChangeArrowheads="1"/>
            </p:cNvSpPr>
            <p:nvPr/>
          </p:nvSpPr>
          <p:spPr bwMode="auto">
            <a:xfrm>
              <a:off x="2063749" y="21875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23</a:t>
              </a:r>
            </a:p>
          </p:txBody>
        </p:sp>
        <p:sp>
          <p:nvSpPr>
            <p:cNvPr id="71" name="Text Box 47"/>
            <p:cNvSpPr txBox="1">
              <a:spLocks noChangeArrowheads="1"/>
            </p:cNvSpPr>
            <p:nvPr/>
          </p:nvSpPr>
          <p:spPr bwMode="auto">
            <a:xfrm>
              <a:off x="2063749" y="190499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24</a:t>
              </a:r>
            </a:p>
          </p:txBody>
        </p:sp>
        <p:sp>
          <p:nvSpPr>
            <p:cNvPr id="72" name="Text Box 47"/>
            <p:cNvSpPr txBox="1">
              <a:spLocks noChangeArrowheads="1"/>
            </p:cNvSpPr>
            <p:nvPr/>
          </p:nvSpPr>
          <p:spPr bwMode="auto">
            <a:xfrm>
              <a:off x="2063749" y="1646237"/>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25</a:t>
              </a:r>
            </a:p>
          </p:txBody>
        </p:sp>
        <p:sp>
          <p:nvSpPr>
            <p:cNvPr id="73" name="Text Box 47"/>
            <p:cNvSpPr txBox="1">
              <a:spLocks noChangeArrowheads="1"/>
            </p:cNvSpPr>
            <p:nvPr/>
          </p:nvSpPr>
          <p:spPr bwMode="auto">
            <a:xfrm>
              <a:off x="2162175" y="1425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26</a:t>
              </a:r>
            </a:p>
          </p:txBody>
        </p:sp>
        <p:sp>
          <p:nvSpPr>
            <p:cNvPr id="74" name="Text Box 47"/>
            <p:cNvSpPr txBox="1">
              <a:spLocks noChangeArrowheads="1"/>
            </p:cNvSpPr>
            <p:nvPr/>
          </p:nvSpPr>
          <p:spPr bwMode="auto">
            <a:xfrm>
              <a:off x="2268538" y="1249362"/>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27</a:t>
              </a:r>
            </a:p>
          </p:txBody>
        </p:sp>
        <p:sp>
          <p:nvSpPr>
            <p:cNvPr id="75" name="Text Box 47"/>
            <p:cNvSpPr txBox="1">
              <a:spLocks noChangeArrowheads="1"/>
            </p:cNvSpPr>
            <p:nvPr/>
          </p:nvSpPr>
          <p:spPr bwMode="auto">
            <a:xfrm>
              <a:off x="2360613" y="1044574"/>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28</a:t>
              </a:r>
            </a:p>
          </p:txBody>
        </p:sp>
        <p:sp>
          <p:nvSpPr>
            <p:cNvPr id="76" name="Text Box 47"/>
            <p:cNvSpPr txBox="1">
              <a:spLocks noChangeArrowheads="1"/>
            </p:cNvSpPr>
            <p:nvPr/>
          </p:nvSpPr>
          <p:spPr bwMode="auto">
            <a:xfrm>
              <a:off x="2573338" y="892175"/>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29</a:t>
              </a:r>
            </a:p>
          </p:txBody>
        </p:sp>
        <p:sp>
          <p:nvSpPr>
            <p:cNvPr id="77" name="Text Box 47"/>
            <p:cNvSpPr txBox="1">
              <a:spLocks noChangeArrowheads="1"/>
            </p:cNvSpPr>
            <p:nvPr/>
          </p:nvSpPr>
          <p:spPr bwMode="auto">
            <a:xfrm>
              <a:off x="2787651" y="7842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30</a:t>
              </a:r>
            </a:p>
          </p:txBody>
        </p:sp>
        <p:sp>
          <p:nvSpPr>
            <p:cNvPr id="78" name="Text Box 47"/>
            <p:cNvSpPr txBox="1">
              <a:spLocks noChangeArrowheads="1"/>
            </p:cNvSpPr>
            <p:nvPr/>
          </p:nvSpPr>
          <p:spPr bwMode="auto">
            <a:xfrm>
              <a:off x="3062287" y="669926"/>
              <a:ext cx="228600" cy="2887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900" b="1" dirty="0">
                  <a:latin typeface="微软雅黑 Light" panose="020B0502040204020203" pitchFamily="34" charset="-122"/>
                  <a:ea typeface="微软雅黑 Light" panose="020B0502040204020203" pitchFamily="34" charset="-122"/>
                </a:rPr>
                <a:t>31</a:t>
              </a:r>
            </a:p>
          </p:txBody>
        </p:sp>
        <p:sp>
          <p:nvSpPr>
            <p:cNvPr id="79" name="Text Box 71"/>
            <p:cNvSpPr txBox="1">
              <a:spLocks noChangeArrowheads="1"/>
            </p:cNvSpPr>
            <p:nvPr/>
          </p:nvSpPr>
          <p:spPr bwMode="auto">
            <a:xfrm>
              <a:off x="5013325" y="2285999"/>
              <a:ext cx="45402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K8</a:t>
              </a:r>
            </a:p>
          </p:txBody>
        </p:sp>
        <p:sp>
          <p:nvSpPr>
            <p:cNvPr id="80" name="Oval 53"/>
            <p:cNvSpPr>
              <a:spLocks noChangeArrowheads="1"/>
            </p:cNvSpPr>
            <p:nvPr/>
          </p:nvSpPr>
          <p:spPr bwMode="auto">
            <a:xfrm>
              <a:off x="4692650" y="1706563"/>
              <a:ext cx="152400" cy="152400"/>
            </a:xfrm>
            <a:prstGeom prst="ellipse">
              <a:avLst/>
            </a:prstGeom>
            <a:solidFill>
              <a:srgbClr val="FFC000"/>
            </a:solidFill>
            <a:ln w="9525">
              <a:solidFill>
                <a:schemeClr val="tx1"/>
              </a:solidFill>
              <a:round/>
              <a:headEnd/>
              <a:tailEnd/>
            </a:ln>
          </p:spPr>
          <p:txBody>
            <a:bodyPr wrap="none" anchor="ct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endParaRPr lang="zh-CN" altLang="en-US" sz="900" b="1" dirty="0">
                <a:latin typeface="微软雅黑 Light" panose="020B0502040204020203" pitchFamily="34" charset="-122"/>
                <a:ea typeface="微软雅黑 Light" panose="020B0502040204020203" pitchFamily="34" charset="-122"/>
              </a:endParaRPr>
            </a:p>
          </p:txBody>
        </p:sp>
        <p:sp>
          <p:nvSpPr>
            <p:cNvPr id="81" name="Text Box 47"/>
            <p:cNvSpPr txBox="1">
              <a:spLocks noChangeArrowheads="1"/>
            </p:cNvSpPr>
            <p:nvPr/>
          </p:nvSpPr>
          <p:spPr bwMode="auto">
            <a:xfrm>
              <a:off x="4883149" y="1600198"/>
              <a:ext cx="381000"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N7</a:t>
              </a:r>
            </a:p>
          </p:txBody>
        </p:sp>
        <p:sp>
          <p:nvSpPr>
            <p:cNvPr id="82" name="Text Box 47"/>
            <p:cNvSpPr txBox="1">
              <a:spLocks noChangeArrowheads="1"/>
            </p:cNvSpPr>
            <p:nvPr/>
          </p:nvSpPr>
          <p:spPr bwMode="auto">
            <a:xfrm>
              <a:off x="4822825" y="2498724"/>
              <a:ext cx="47614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N10</a:t>
              </a:r>
            </a:p>
          </p:txBody>
        </p:sp>
        <p:sp>
          <p:nvSpPr>
            <p:cNvPr id="83" name="Text Box 47"/>
            <p:cNvSpPr txBox="1">
              <a:spLocks noChangeArrowheads="1"/>
            </p:cNvSpPr>
            <p:nvPr/>
          </p:nvSpPr>
          <p:spPr bwMode="auto">
            <a:xfrm>
              <a:off x="4533900" y="769939"/>
              <a:ext cx="471485"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N4</a:t>
              </a:r>
            </a:p>
          </p:txBody>
        </p:sp>
        <p:sp>
          <p:nvSpPr>
            <p:cNvPr id="84" name="Text Box 47"/>
            <p:cNvSpPr txBox="1">
              <a:spLocks noChangeArrowheads="1"/>
            </p:cNvSpPr>
            <p:nvPr/>
          </p:nvSpPr>
          <p:spPr bwMode="auto">
            <a:xfrm>
              <a:off x="2590007" y="419268"/>
              <a:ext cx="514349"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N30</a:t>
              </a:r>
            </a:p>
          </p:txBody>
        </p:sp>
        <p:sp>
          <p:nvSpPr>
            <p:cNvPr id="85" name="Text Box 47"/>
            <p:cNvSpPr txBox="1">
              <a:spLocks noChangeArrowheads="1"/>
            </p:cNvSpPr>
            <p:nvPr/>
          </p:nvSpPr>
          <p:spPr bwMode="auto">
            <a:xfrm>
              <a:off x="1976438" y="3109914"/>
              <a:ext cx="438151"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N20</a:t>
              </a:r>
            </a:p>
          </p:txBody>
        </p:sp>
        <p:sp>
          <p:nvSpPr>
            <p:cNvPr id="86" name="Text Box 47"/>
            <p:cNvSpPr txBox="1">
              <a:spLocks noChangeArrowheads="1"/>
            </p:cNvSpPr>
            <p:nvPr/>
          </p:nvSpPr>
          <p:spPr bwMode="auto">
            <a:xfrm>
              <a:off x="1641693" y="1295401"/>
              <a:ext cx="479426" cy="3080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r>
                <a:rPr kumimoji="1" lang="en-US" altLang="zh-CN" sz="1000" b="1" dirty="0">
                  <a:latin typeface="微软雅黑 Light" panose="020B0502040204020203" pitchFamily="34" charset="-122"/>
                  <a:ea typeface="微软雅黑 Light" panose="020B0502040204020203" pitchFamily="34" charset="-122"/>
                </a:rPr>
                <a:t>N26</a:t>
              </a:r>
            </a:p>
          </p:txBody>
        </p:sp>
        <p:sp>
          <p:nvSpPr>
            <p:cNvPr id="87" name="Text Box 71"/>
            <p:cNvSpPr txBox="1">
              <a:spLocks noChangeArrowheads="1"/>
            </p:cNvSpPr>
            <p:nvPr/>
          </p:nvSpPr>
          <p:spPr bwMode="auto">
            <a:xfrm>
              <a:off x="3968751" y="419100"/>
              <a:ext cx="427037"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K31</a:t>
              </a:r>
            </a:p>
          </p:txBody>
        </p:sp>
        <p:sp>
          <p:nvSpPr>
            <p:cNvPr id="88" name="Text Box 71"/>
            <p:cNvSpPr txBox="1">
              <a:spLocks noChangeArrowheads="1"/>
            </p:cNvSpPr>
            <p:nvPr/>
          </p:nvSpPr>
          <p:spPr bwMode="auto">
            <a:xfrm>
              <a:off x="1968500" y="701675"/>
              <a:ext cx="438153"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K29</a:t>
              </a:r>
            </a:p>
          </p:txBody>
        </p:sp>
        <p:sp>
          <p:nvSpPr>
            <p:cNvPr id="89" name="Text Box 71"/>
            <p:cNvSpPr txBox="1">
              <a:spLocks noChangeArrowheads="1"/>
            </p:cNvSpPr>
            <p:nvPr/>
          </p:nvSpPr>
          <p:spPr bwMode="auto">
            <a:xfrm>
              <a:off x="4425950" y="457198"/>
              <a:ext cx="419099"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a:t>
              </a:r>
            </a:p>
          </p:txBody>
        </p:sp>
        <p:sp>
          <p:nvSpPr>
            <p:cNvPr id="90" name="Text Box 71"/>
            <p:cNvSpPr txBox="1">
              <a:spLocks noChangeArrowheads="1"/>
            </p:cNvSpPr>
            <p:nvPr/>
          </p:nvSpPr>
          <p:spPr bwMode="auto">
            <a:xfrm>
              <a:off x="2262024" y="3352795"/>
              <a:ext cx="512764"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K12</a:t>
              </a:r>
            </a:p>
          </p:txBody>
        </p:sp>
        <p:sp>
          <p:nvSpPr>
            <p:cNvPr id="91" name="Text Box 71"/>
            <p:cNvSpPr txBox="1">
              <a:spLocks noChangeArrowheads="1"/>
            </p:cNvSpPr>
            <p:nvPr/>
          </p:nvSpPr>
          <p:spPr bwMode="auto">
            <a:xfrm>
              <a:off x="1262063" y="1592263"/>
              <a:ext cx="466728" cy="192528"/>
            </a:xfrm>
            <a:prstGeom prst="rect">
              <a:avLst/>
            </a:prstGeom>
            <a:solidFill>
              <a:schemeClr val="bg1"/>
            </a:solidFill>
            <a:ln w="9525">
              <a:solidFill>
                <a:schemeClr val="tx1"/>
              </a:solidFill>
              <a:miter lim="800000"/>
              <a:headEnd/>
              <a:tailEnd/>
            </a:ln>
            <a:effectLst>
              <a:outerShdw dist="35921" dir="2700000" algn="ctr" rotWithShape="0">
                <a:schemeClr val="bg2"/>
              </a:outerShdw>
            </a:effectLst>
          </p:spPr>
          <p:txBody>
            <a:bodyPr wrap="square" lIns="0" tIns="0" rIns="0" bIns="0">
              <a:spAutoFit/>
            </a:bodyPr>
            <a:lstStyle/>
            <a:p>
              <a:pPr algn="ctr">
                <a:defRPr/>
              </a:pPr>
              <a:r>
                <a:rPr kumimoji="1" lang="en-US" altLang="zh-CN" sz="1000" b="1" dirty="0">
                  <a:latin typeface="微软雅黑 Light" panose="020B0502040204020203" pitchFamily="34" charset="-122"/>
                  <a:ea typeface="微软雅黑 Light" panose="020B0502040204020203" pitchFamily="34" charset="-122"/>
                </a:rPr>
                <a:t>K23</a:t>
              </a:r>
            </a:p>
          </p:txBody>
        </p:sp>
        <p:cxnSp>
          <p:nvCxnSpPr>
            <p:cNvPr id="92" name="直接箭头连接符 91"/>
            <p:cNvCxnSpPr/>
            <p:nvPr/>
          </p:nvCxnSpPr>
          <p:spPr bwMode="auto">
            <a:xfrm flipH="1">
              <a:off x="4776788" y="2408238"/>
              <a:ext cx="214312" cy="16668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3" name="直接箭头连接符 92"/>
            <p:cNvCxnSpPr/>
            <p:nvPr/>
          </p:nvCxnSpPr>
          <p:spPr bwMode="auto">
            <a:xfrm>
              <a:off x="4235450" y="685800"/>
              <a:ext cx="139700" cy="31591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4" name="直接箭头连接符 93"/>
            <p:cNvCxnSpPr/>
            <p:nvPr/>
          </p:nvCxnSpPr>
          <p:spPr bwMode="auto">
            <a:xfrm flipH="1">
              <a:off x="4433888" y="719138"/>
              <a:ext cx="198437" cy="27940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5" name="直接箭头连接符 94"/>
            <p:cNvCxnSpPr/>
            <p:nvPr/>
          </p:nvCxnSpPr>
          <p:spPr bwMode="auto">
            <a:xfrm flipV="1">
              <a:off x="1744663" y="1577975"/>
              <a:ext cx="273050" cy="1365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6" name="直接箭头连接符 95"/>
            <p:cNvCxnSpPr/>
            <p:nvPr/>
          </p:nvCxnSpPr>
          <p:spPr bwMode="auto">
            <a:xfrm flipH="1" flipV="1">
              <a:off x="2392363" y="3140075"/>
              <a:ext cx="144462" cy="2206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97" name="直接箭头连接符 96"/>
            <p:cNvCxnSpPr/>
            <p:nvPr/>
          </p:nvCxnSpPr>
          <p:spPr bwMode="auto">
            <a:xfrm flipV="1">
              <a:off x="2452688" y="746125"/>
              <a:ext cx="342900" cy="55563"/>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98" name="TextBox 176"/>
            <p:cNvSpPr txBox="1">
              <a:spLocks noChangeArrowheads="1"/>
            </p:cNvSpPr>
            <p:nvPr/>
          </p:nvSpPr>
          <p:spPr bwMode="auto">
            <a:xfrm>
              <a:off x="5576890" y="764925"/>
              <a:ext cx="1576281" cy="16230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+ 2      N7</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+ 4      N10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+ 8      N20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N4 + 16    N20</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cxnSp>
          <p:nvCxnSpPr>
            <p:cNvPr id="99" name="直接连接符 98"/>
            <p:cNvCxnSpPr/>
            <p:nvPr/>
          </p:nvCxnSpPr>
          <p:spPr>
            <a:xfrm flipV="1">
              <a:off x="5578475" y="10588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0" name="直接连接符 99"/>
            <p:cNvCxnSpPr/>
            <p:nvPr/>
          </p:nvCxnSpPr>
          <p:spPr>
            <a:xfrm flipV="1">
              <a:off x="5570538" y="1303338"/>
              <a:ext cx="1363662" cy="635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1" name="直接连接符 100"/>
            <p:cNvCxnSpPr/>
            <p:nvPr/>
          </p:nvCxnSpPr>
          <p:spPr>
            <a:xfrm flipV="1">
              <a:off x="5562600" y="1554163"/>
              <a:ext cx="1363663"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 name="直接连接符 101"/>
            <p:cNvCxnSpPr/>
            <p:nvPr/>
          </p:nvCxnSpPr>
          <p:spPr>
            <a:xfrm flipV="1">
              <a:off x="5562600" y="1812925"/>
              <a:ext cx="1363663"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3" name="直接连接符 102"/>
            <p:cNvCxnSpPr/>
            <p:nvPr/>
          </p:nvCxnSpPr>
          <p:spPr>
            <a:xfrm flipV="1">
              <a:off x="6461125" y="838200"/>
              <a:ext cx="15875" cy="12271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04" name="TextBox 200"/>
            <p:cNvSpPr txBox="1">
              <a:spLocks noChangeArrowheads="1"/>
            </p:cNvSpPr>
            <p:nvPr/>
          </p:nvSpPr>
          <p:spPr bwMode="auto">
            <a:xfrm>
              <a:off x="152399" y="2327024"/>
              <a:ext cx="1833561" cy="16462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+ 2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+ 4      N26</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+ 8      N30</a:t>
              </a:r>
            </a:p>
            <a:p>
              <a:pPr eaLnBrk="1" hangingPunct="1">
                <a:lnSpc>
                  <a:spcPts val="1600"/>
                </a:lnSpc>
              </a:pPr>
              <a:r>
                <a:rPr lang="en-US" altLang="zh-CN" sz="1000" b="1" dirty="0">
                  <a:latin typeface="微软雅黑 Light" panose="020B0502040204020203" pitchFamily="34" charset="-122"/>
                  <a:ea typeface="微软雅黑 Light" panose="020B0502040204020203" pitchFamily="34" charset="-122"/>
                  <a:cs typeface="Times New Roman" panose="02020603050405020304" pitchFamily="18" charset="0"/>
                </a:rPr>
                <a:t>N20 + 16    N4</a:t>
              </a:r>
            </a:p>
            <a:p>
              <a:pPr eaLnBrk="1" hangingPunct="1">
                <a:lnSpc>
                  <a:spcPts val="1600"/>
                </a:lnSpc>
              </a:pPr>
              <a:endParaRPr lang="zh-CN" altLang="en-US" sz="1000" b="1" dirty="0">
                <a:latin typeface="微软雅黑 Light" panose="020B0502040204020203" pitchFamily="34" charset="-122"/>
                <a:ea typeface="微软雅黑 Light" panose="020B0502040204020203" pitchFamily="34" charset="-122"/>
                <a:cs typeface="Times New Roman" panose="02020603050405020304" pitchFamily="18" charset="0"/>
              </a:endParaRPr>
            </a:p>
          </p:txBody>
        </p:sp>
        <p:sp>
          <p:nvSpPr>
            <p:cNvPr id="105" name="矩形 104"/>
            <p:cNvSpPr/>
            <p:nvPr/>
          </p:nvSpPr>
          <p:spPr>
            <a:xfrm>
              <a:off x="195263" y="2362200"/>
              <a:ext cx="1489075" cy="1273175"/>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nvGrpSpPr>
            <p:cNvPr id="106" name="组合 115"/>
            <p:cNvGrpSpPr>
              <a:grpSpLocks/>
            </p:cNvGrpSpPr>
            <p:nvPr/>
          </p:nvGrpSpPr>
          <p:grpSpPr bwMode="auto">
            <a:xfrm>
              <a:off x="176213" y="2636838"/>
              <a:ext cx="1508125" cy="762000"/>
              <a:chOff x="304800" y="2636838"/>
              <a:chExt cx="1379538" cy="762000"/>
            </a:xfrm>
          </p:grpSpPr>
          <p:cxnSp>
            <p:nvCxnSpPr>
              <p:cNvPr id="107" name="直接连接符 106"/>
              <p:cNvCxnSpPr/>
              <p:nvPr/>
            </p:nvCxnSpPr>
            <p:spPr>
              <a:xfrm flipV="1">
                <a:off x="320773" y="2636838"/>
                <a:ext cx="1363565"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8" name="直接连接符 107"/>
              <p:cNvCxnSpPr/>
              <p:nvPr/>
            </p:nvCxnSpPr>
            <p:spPr>
              <a:xfrm flipV="1">
                <a:off x="312060" y="2887663"/>
                <a:ext cx="1365017"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9" name="直接连接符 108"/>
              <p:cNvCxnSpPr/>
              <p:nvPr/>
            </p:nvCxnSpPr>
            <p:spPr>
              <a:xfrm flipV="1">
                <a:off x="304800" y="3132138"/>
                <a:ext cx="1363564" cy="793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0" name="直接连接符 109"/>
              <p:cNvCxnSpPr/>
              <p:nvPr/>
            </p:nvCxnSpPr>
            <p:spPr>
              <a:xfrm flipV="1">
                <a:off x="304800" y="3390900"/>
                <a:ext cx="1363564" cy="793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111" name="直接连接符 110"/>
            <p:cNvCxnSpPr/>
            <p:nvPr/>
          </p:nvCxnSpPr>
          <p:spPr>
            <a:xfrm flipV="1">
              <a:off x="1082675" y="2370138"/>
              <a:ext cx="14288" cy="127158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12" name="Text Box 47"/>
            <p:cNvSpPr txBox="1">
              <a:spLocks noChangeArrowheads="1"/>
            </p:cNvSpPr>
            <p:nvPr/>
          </p:nvSpPr>
          <p:spPr bwMode="auto">
            <a:xfrm>
              <a:off x="5576890" y="534950"/>
              <a:ext cx="1365247"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N4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sp>
          <p:nvSpPr>
            <p:cNvPr id="113" name="Text Box 47"/>
            <p:cNvSpPr txBox="1">
              <a:spLocks noChangeArrowheads="1"/>
            </p:cNvSpPr>
            <p:nvPr/>
          </p:nvSpPr>
          <p:spPr bwMode="auto">
            <a:xfrm>
              <a:off x="212005" y="2060559"/>
              <a:ext cx="1418361" cy="3272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800000"/>
                  <a:headEnd/>
                  <a:tailEnd/>
                </a14:hiddenLine>
              </a:ext>
            </a:extLst>
          </p:spPr>
          <p:txBody>
            <a:bodyPr wrap="square" lIns="0" rIns="0">
              <a:spAutoFit/>
            </a:bodyPr>
            <a:lstStyle>
              <a:lvl1pPr eaLnBrk="0" hangingPunct="0">
                <a:defRPr>
                  <a:solidFill>
                    <a:schemeClr val="tx1"/>
                  </a:solidFill>
                  <a:latin typeface="Arial" panose="020B0604020202020204" pitchFamily="34" charset="0"/>
                  <a:ea typeface="宋体" panose="02010600030101010101" pitchFamily="2" charset="-122"/>
                </a:defRPr>
              </a:lvl1pPr>
              <a:lvl2pPr marL="742950" indent="-285750" eaLnBrk="0" hangingPunct="0">
                <a:defRPr>
                  <a:solidFill>
                    <a:schemeClr val="tx1"/>
                  </a:solidFill>
                  <a:latin typeface="Arial" panose="020B0604020202020204" pitchFamily="34" charset="0"/>
                  <a:ea typeface="宋体" panose="02010600030101010101" pitchFamily="2" charset="-122"/>
                </a:defRPr>
              </a:lvl2pPr>
              <a:lvl3pPr marL="1143000" indent="-228600" eaLnBrk="0" hangingPunct="0">
                <a:defRPr>
                  <a:solidFill>
                    <a:schemeClr val="tx1"/>
                  </a:solidFill>
                  <a:latin typeface="Arial" panose="020B0604020202020204" pitchFamily="34" charset="0"/>
                  <a:ea typeface="宋体" panose="02010600030101010101" pitchFamily="2" charset="-122"/>
                </a:defRPr>
              </a:lvl3pPr>
              <a:lvl4pPr marL="1600200" indent="-228600" eaLnBrk="0" hangingPunct="0">
                <a:defRPr>
                  <a:solidFill>
                    <a:schemeClr val="tx1"/>
                  </a:solidFill>
                  <a:latin typeface="Arial" panose="020B0604020202020204" pitchFamily="34" charset="0"/>
                  <a:ea typeface="宋体" panose="02010600030101010101" pitchFamily="2" charset="-122"/>
                </a:defRPr>
              </a:lvl4pPr>
              <a:lvl5pPr marL="2057400" indent="-228600" eaLnBrk="0" hangingPunct="0">
                <a:defRPr>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a:solidFill>
                    <a:schemeClr val="tx1"/>
                  </a:solidFill>
                  <a:latin typeface="Arial" panose="020B0604020202020204" pitchFamily="34" charset="0"/>
                  <a:ea typeface="宋体" panose="02010600030101010101" pitchFamily="2" charset="-122"/>
                </a:defRPr>
              </a:lvl9pPr>
            </a:lstStyle>
            <a:p>
              <a:pPr algn="ctr" eaLnBrk="1" hangingPunct="1"/>
              <a:r>
                <a:rPr kumimoji="1" lang="en-US" altLang="zh-CN" sz="1100" b="1" dirty="0">
                  <a:latin typeface="微软雅黑 Light" panose="020B0502040204020203" pitchFamily="34" charset="-122"/>
                  <a:ea typeface="微软雅黑 Light" panose="020B0502040204020203" pitchFamily="34" charset="-122"/>
                </a:rPr>
                <a:t>N20 </a:t>
              </a:r>
              <a:r>
                <a:rPr kumimoji="1" lang="zh-CN" altLang="en-US" sz="1100" b="1" dirty="0">
                  <a:latin typeface="微软雅黑 Light" panose="020B0502040204020203" pitchFamily="34" charset="-122"/>
                  <a:ea typeface="微软雅黑 Light" panose="020B0502040204020203" pitchFamily="34" charset="-122"/>
                </a:rPr>
                <a:t>的指针表</a:t>
              </a:r>
              <a:endParaRPr kumimoji="1" lang="en-US" altLang="zh-CN" sz="1100" b="1" dirty="0">
                <a:latin typeface="微软雅黑 Light" panose="020B0502040204020203" pitchFamily="34" charset="-122"/>
                <a:ea typeface="微软雅黑 Light" panose="020B0502040204020203" pitchFamily="34" charset="-122"/>
              </a:endParaRPr>
            </a:p>
          </p:txBody>
        </p:sp>
        <p:cxnSp>
          <p:nvCxnSpPr>
            <p:cNvPr id="114" name="直接箭头连接符 113"/>
            <p:cNvCxnSpPr/>
            <p:nvPr/>
          </p:nvCxnSpPr>
          <p:spPr bwMode="auto">
            <a:xfrm>
              <a:off x="4397375" y="1158875"/>
              <a:ext cx="250825" cy="1416050"/>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5" name="直接箭头连接符 114"/>
            <p:cNvCxnSpPr/>
            <p:nvPr/>
          </p:nvCxnSpPr>
          <p:spPr bwMode="auto">
            <a:xfrm>
              <a:off x="4427538" y="1135063"/>
              <a:ext cx="288925" cy="617537"/>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6" name="直接箭头连接符 115"/>
            <p:cNvCxnSpPr/>
            <p:nvPr/>
          </p:nvCxnSpPr>
          <p:spPr bwMode="auto">
            <a:xfrm flipH="1">
              <a:off x="2492375" y="1176950"/>
              <a:ext cx="1881188"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7" name="直接箭头连接符 116"/>
            <p:cNvCxnSpPr/>
            <p:nvPr/>
          </p:nvCxnSpPr>
          <p:spPr bwMode="auto">
            <a:xfrm flipH="1" flipV="1">
              <a:off x="2149475" y="1584325"/>
              <a:ext cx="220663" cy="1417638"/>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8" name="直接箭头连接符 117"/>
            <p:cNvCxnSpPr/>
            <p:nvPr/>
          </p:nvCxnSpPr>
          <p:spPr bwMode="auto">
            <a:xfrm flipV="1">
              <a:off x="2422525" y="846138"/>
              <a:ext cx="442913" cy="2155825"/>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119" name="直接箭头连接符 118"/>
            <p:cNvCxnSpPr/>
            <p:nvPr/>
          </p:nvCxnSpPr>
          <p:spPr bwMode="auto">
            <a:xfrm flipV="1">
              <a:off x="2397107" y="1085238"/>
              <a:ext cx="1897062" cy="1904999"/>
            </a:xfrm>
            <a:prstGeom prst="straightConnector1">
              <a:avLst/>
            </a:prstGeom>
            <a:ln>
              <a:solidFill>
                <a:schemeClr val="tx1"/>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20" name="矩形 119"/>
            <p:cNvSpPr/>
            <p:nvPr/>
          </p:nvSpPr>
          <p:spPr>
            <a:xfrm>
              <a:off x="5562600" y="830263"/>
              <a:ext cx="1371600" cy="1243012"/>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sp>
          <p:nvSpPr>
            <p:cNvPr id="121" name="任意多边形 120"/>
            <p:cNvSpPr/>
            <p:nvPr/>
          </p:nvSpPr>
          <p:spPr>
            <a:xfrm>
              <a:off x="4479925" y="838200"/>
              <a:ext cx="1060450" cy="1241425"/>
            </a:xfrm>
            <a:custGeom>
              <a:avLst/>
              <a:gdLst>
                <a:gd name="connsiteX0" fmla="*/ 0 w 1082040"/>
                <a:gd name="connsiteY0" fmla="*/ 236220 h 1257300"/>
                <a:gd name="connsiteX1" fmla="*/ 0 w 1082040"/>
                <a:gd name="connsiteY1" fmla="*/ 236220 h 1257300"/>
                <a:gd name="connsiteX2" fmla="*/ 1074420 w 1082040"/>
                <a:gd name="connsiteY2" fmla="*/ 0 h 1257300"/>
                <a:gd name="connsiteX3" fmla="*/ 1082040 w 1082040"/>
                <a:gd name="connsiteY3" fmla="*/ 1257300 h 1257300"/>
                <a:gd name="connsiteX4" fmla="*/ 0 w 1082040"/>
                <a:gd name="connsiteY4" fmla="*/ 236220 h 12573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2040" h="1257300">
                  <a:moveTo>
                    <a:pt x="0" y="236220"/>
                  </a:moveTo>
                  <a:lnTo>
                    <a:pt x="0" y="236220"/>
                  </a:lnTo>
                  <a:lnTo>
                    <a:pt x="1074420" y="0"/>
                  </a:lnTo>
                  <a:lnTo>
                    <a:pt x="1082040" y="1257300"/>
                  </a:lnTo>
                  <a:lnTo>
                    <a:pt x="0" y="236220"/>
                  </a:lnTo>
                  <a:close/>
                </a:path>
              </a:pathLst>
            </a:custGeom>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27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zh-CN" altLang="en-US" sz="1050" b="1" dirty="0">
                <a:latin typeface="微软雅黑 Light" panose="020B0502040204020203" pitchFamily="34" charset="-122"/>
                <a:ea typeface="微软雅黑 Light" panose="020B0502040204020203" pitchFamily="34" charset="-122"/>
              </a:endParaRPr>
            </a:p>
          </p:txBody>
        </p:sp>
      </p:grpSp>
      <p:sp>
        <p:nvSpPr>
          <p:cNvPr id="2" name="标题 1">
            <a:extLst>
              <a:ext uri="{FF2B5EF4-FFF2-40B4-BE49-F238E27FC236}">
                <a16:creationId xmlns:a16="http://schemas.microsoft.com/office/drawing/2014/main" id="{AF775248-4CFE-5CC2-A2EA-063BEF60F8D8}"/>
              </a:ext>
            </a:extLst>
          </p:cNvPr>
          <p:cNvSpPr>
            <a:spLocks noGrp="1"/>
          </p:cNvSpPr>
          <p:nvPr>
            <p:ph type="title"/>
          </p:nvPr>
        </p:nvSpPr>
        <p:spPr>
          <a:xfrm>
            <a:off x="485999" y="174482"/>
            <a:ext cx="8171999" cy="338554"/>
          </a:xfrm>
        </p:spPr>
        <p:txBody>
          <a:bodyPr/>
          <a:lstStyle/>
          <a:p>
            <a:r>
              <a:rPr lang="zh-CN" altLang="en-US" dirty="0"/>
              <a:t>通过指针表加速 </a:t>
            </a:r>
            <a:r>
              <a:rPr lang="en-US" altLang="zh-CN" dirty="0"/>
              <a:t>Chord </a:t>
            </a:r>
            <a:r>
              <a:rPr lang="zh-CN" altLang="en-US" dirty="0"/>
              <a:t>表查找</a:t>
            </a:r>
          </a:p>
        </p:txBody>
      </p:sp>
      <p:sp>
        <p:nvSpPr>
          <p:cNvPr id="123" name="内容占位符 122">
            <a:extLst>
              <a:ext uri="{FF2B5EF4-FFF2-40B4-BE49-F238E27FC236}">
                <a16:creationId xmlns:a16="http://schemas.microsoft.com/office/drawing/2014/main" id="{E57784CD-2911-2245-B1F7-8C8D51B292BC}"/>
              </a:ext>
            </a:extLst>
          </p:cNvPr>
          <p:cNvSpPr>
            <a:spLocks noGrp="1"/>
          </p:cNvSpPr>
          <p:nvPr>
            <p:ph sz="quarter" idx="11"/>
          </p:nvPr>
        </p:nvSpPr>
        <p:spPr/>
        <p:txBody>
          <a:bodyPr/>
          <a:lstStyle/>
          <a:p>
            <a:endParaRPr lang="zh-CN" altLang="en-US"/>
          </a:p>
        </p:txBody>
      </p:sp>
    </p:spTree>
    <p:extLst>
      <p:ext uri="{BB962C8B-B14F-4D97-AF65-F5344CB8AC3E}">
        <p14:creationId xmlns:p14="http://schemas.microsoft.com/office/powerpoint/2010/main" val="21461170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txDef>
      <a:spPr>
        <a:solidFill>
          <a:schemeClr val="bg1">
            <a:lumMod val="95000"/>
          </a:schemeClr>
        </a:solidFill>
      </a:spPr>
      <a:bodyPr wrap="none" rtlCol="0">
        <a:spAutoFit/>
      </a:bodyPr>
      <a:lstStyle>
        <a:defPPr algn="l">
          <a:defRPr sz="1200" dirty="0" smtClean="0">
            <a:latin typeface="Montserrat" panose="00000500000000000000" pitchFamily="2" charset="0"/>
            <a:ea typeface="微软雅黑 Light" panose="020B0502040204020203" pitchFamily="34" charset="-122"/>
          </a:defRPr>
        </a:defPPr>
      </a:lstStyle>
    </a:txDef>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10514</TotalTime>
  <Words>20569</Words>
  <Application>Microsoft Office PowerPoint</Application>
  <PresentationFormat>全屏显示(16:9)</PresentationFormat>
  <Paragraphs>4808</Paragraphs>
  <Slides>272</Slides>
  <Notes>38</Notes>
  <HiddenSlides>0</HiddenSlides>
  <MMClips>0</MMClips>
  <ScaleCrop>false</ScaleCrop>
  <HeadingPairs>
    <vt:vector size="8" baseType="variant">
      <vt:variant>
        <vt:lpstr>已用的字体</vt:lpstr>
      </vt:variant>
      <vt:variant>
        <vt:i4>6</vt:i4>
      </vt:variant>
      <vt:variant>
        <vt:lpstr>主题</vt:lpstr>
      </vt:variant>
      <vt:variant>
        <vt:i4>1</vt:i4>
      </vt:variant>
      <vt:variant>
        <vt:lpstr>嵌入 OLE 服务器</vt:lpstr>
      </vt:variant>
      <vt:variant>
        <vt:i4>3</vt:i4>
      </vt:variant>
      <vt:variant>
        <vt:lpstr>幻灯片标题</vt:lpstr>
      </vt:variant>
      <vt:variant>
        <vt:i4>272</vt:i4>
      </vt:variant>
    </vt:vector>
  </HeadingPairs>
  <TitlesOfParts>
    <vt:vector size="282" baseType="lpstr">
      <vt:lpstr>Montserrat</vt:lpstr>
      <vt:lpstr>Arial</vt:lpstr>
      <vt:lpstr>微软雅黑 Light</vt:lpstr>
      <vt:lpstr>Times New Roman</vt:lpstr>
      <vt:lpstr>微软雅黑</vt:lpstr>
      <vt:lpstr>Wingdings</vt:lpstr>
      <vt:lpstr>network</vt:lpstr>
      <vt:lpstr>VISIO</vt:lpstr>
      <vt:lpstr>Visio</vt:lpstr>
      <vt:lpstr>Microsoft ClipArt Gallery</vt:lpstr>
      <vt:lpstr>PowerPoint 演示文稿</vt:lpstr>
      <vt:lpstr>PowerPoint 演示文稿</vt:lpstr>
      <vt:lpstr>PowerPoint 演示文稿</vt:lpstr>
      <vt:lpstr>计算机网络体系结构</vt:lpstr>
      <vt:lpstr>6 应用层协议</vt:lpstr>
      <vt:lpstr>6 应用层协议</vt:lpstr>
      <vt:lpstr>PowerPoint 演示文稿</vt:lpstr>
      <vt:lpstr>PowerPoint 演示文稿</vt:lpstr>
      <vt:lpstr>PowerPoint 演示文稿</vt:lpstr>
      <vt:lpstr>6.1.1  域名系统</vt:lpstr>
      <vt:lpstr>6.1.1  域名系统</vt:lpstr>
      <vt:lpstr>域名解析过程要点</vt:lpstr>
      <vt:lpstr>6.1.2   互联网的域名结构</vt:lpstr>
      <vt:lpstr>6.1.2   互联网的域名结构</vt:lpstr>
      <vt:lpstr>PowerPoint 演示文稿</vt:lpstr>
      <vt:lpstr>PowerPoint 演示文稿</vt:lpstr>
      <vt:lpstr>互联网的域名空间结构</vt:lpstr>
      <vt:lpstr>6.1.3  域名服务器</vt:lpstr>
      <vt:lpstr>PowerPoint 演示文稿</vt:lpstr>
      <vt:lpstr>PowerPoint 演示文稿</vt:lpstr>
      <vt:lpstr>6.1.3  域名服务器 - 类型</vt:lpstr>
      <vt:lpstr>6.1.3  域名服务器 - 根域名服务器</vt:lpstr>
      <vt:lpstr>6.1.3  域名服务器 - 根域名服务器</vt:lpstr>
      <vt:lpstr>6.1.3  域名服务器 - 根域名服务器</vt:lpstr>
      <vt:lpstr>6.1.3  域名服务器 - 顶级域名服务器</vt:lpstr>
      <vt:lpstr>6.1.3  域名服务器 - 权限域名服务器</vt:lpstr>
      <vt:lpstr>6.1.3  域名服务器 - 本地域名服务器</vt:lpstr>
      <vt:lpstr>6.1.3  域名服务器 - 提高域名服务器的可靠性</vt:lpstr>
      <vt:lpstr>域名解析过程</vt:lpstr>
      <vt:lpstr>递归查询</vt:lpstr>
      <vt:lpstr>迭代查询</vt:lpstr>
      <vt:lpstr>8个报文</vt:lpstr>
      <vt:lpstr>6.1.3  域名服务器 - 高速缓存</vt:lpstr>
      <vt:lpstr>PowerPoint 演示文稿</vt:lpstr>
      <vt:lpstr>PowerPoint 演示文稿</vt:lpstr>
      <vt:lpstr>6.2.1  FTP 概述</vt:lpstr>
      <vt:lpstr>6.2.1  FTP 概述</vt:lpstr>
      <vt:lpstr>6.2.2  FTP 的基本工作原理</vt:lpstr>
      <vt:lpstr>6.2.2  FTP 的基本工作原理</vt:lpstr>
      <vt:lpstr>FTP 特点</vt:lpstr>
      <vt:lpstr>FTP 主进程的工作步骤</vt:lpstr>
      <vt:lpstr>FTP 客户和服务器之间的两个从属进程和两个 TCP 连接</vt:lpstr>
      <vt:lpstr>FTP 使用两个不同的端口号</vt:lpstr>
      <vt:lpstr>NFS 采用的思路</vt:lpstr>
      <vt:lpstr>6.2.3  简单文件传送协议 TFTP</vt:lpstr>
      <vt:lpstr>6.2.3  简单文件传送协议 TFTP - 特点</vt:lpstr>
      <vt:lpstr>TFTP 的工作很像停止等待协议</vt:lpstr>
      <vt:lpstr>6.2.3  简单文件传送协议 TFTP - 工作过程</vt:lpstr>
      <vt:lpstr>PowerPoint 演示文稿</vt:lpstr>
      <vt:lpstr>6.3  远程终端协议 TELNET</vt:lpstr>
      <vt:lpstr>6.3  远程终端协议 TELNET</vt:lpstr>
      <vt:lpstr>6.3  网络虚拟终端 </vt:lpstr>
      <vt:lpstr>6.3  网络虚拟终端 </vt:lpstr>
      <vt:lpstr>PowerPoint 演示文稿</vt:lpstr>
      <vt:lpstr>6.4.1  万维网</vt:lpstr>
      <vt:lpstr>6.4.1  万维网</vt:lpstr>
      <vt:lpstr>6.4.1  万维网</vt:lpstr>
      <vt:lpstr>6.4.1  万维网</vt:lpstr>
      <vt:lpstr>6.4.1  万维网</vt:lpstr>
      <vt:lpstr>6.4.2  统一资源定位符 URL</vt:lpstr>
      <vt:lpstr>6.4.2  统一资源定位符 URL</vt:lpstr>
      <vt:lpstr>6.4.2  统一资源定位符 URL</vt:lpstr>
      <vt:lpstr>PowerPoint 演示文稿</vt:lpstr>
      <vt:lpstr>6.4.3  超文本传送协议 HTTP</vt:lpstr>
      <vt:lpstr>6.4.3  超文本传送协议 HTTP – 基本过程</vt:lpstr>
      <vt:lpstr>1.  HTTP 的操作过程</vt:lpstr>
      <vt:lpstr>6.4.3  超文本传送协议 HTTP – 基本过程</vt:lpstr>
      <vt:lpstr>6.4.3  超文本传送协议 HTTP – 基本过程</vt:lpstr>
      <vt:lpstr>6.4.3  超文本传送协议 HTTP – 基本过程</vt:lpstr>
      <vt:lpstr>6.4.3  超文本传送协议 HTTP – HTTP/1.0</vt:lpstr>
      <vt:lpstr>6.4.3  超文本传送协议 HTTP – HTTP/1.1</vt:lpstr>
      <vt:lpstr>6.4.3  超文本传送协议 HTTP – HTTP/1.1</vt:lpstr>
      <vt:lpstr>6.4.3  超文本传送协议 HTTP – HTTP/1.1</vt:lpstr>
      <vt:lpstr>6.4.3  超文本传送协议 HTTP – HTTP/2</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代理服务器</vt:lpstr>
      <vt:lpstr>6.4.3  超文本传送协议 HTTP - HTTP 的报文结构</vt:lpstr>
      <vt:lpstr>HTTP 的报文结构（请求报文）</vt:lpstr>
      <vt:lpstr>PowerPoint 演示文稿</vt:lpstr>
      <vt:lpstr>PowerPoint 演示文稿</vt:lpstr>
      <vt:lpstr>PowerPoint 演示文稿</vt:lpstr>
      <vt:lpstr>PowerPoint 演示文稿</vt:lpstr>
      <vt:lpstr>PowerPoint 演示文稿</vt:lpstr>
      <vt:lpstr>HTTP 的报文结构（响应报文）</vt:lpstr>
      <vt:lpstr>PowerPoint 演示文稿</vt:lpstr>
      <vt:lpstr>4. 在服务器上存放用户的信息</vt:lpstr>
      <vt:lpstr>6.4.4  万维网的文档</vt:lpstr>
      <vt:lpstr>6.4.4  万维网的文档 - 超文本标记语言 HTML</vt:lpstr>
      <vt:lpstr>6.4.4  万维网的文档 - 超文本标记语言 HTML</vt:lpstr>
      <vt:lpstr>6.4.4  万维网的文档 - 超文本标记语言 HTML – 标签</vt:lpstr>
      <vt:lpstr>6.4.4  万维网的文档 - 超文本标记语言 HTML – 标签</vt:lpstr>
      <vt:lpstr>6.4.4  万维网的文档 - XML</vt:lpstr>
      <vt:lpstr>6.4.4  万维网的文档 - XHTML</vt:lpstr>
      <vt:lpstr>6.4.4  万维网的文档 - CSS</vt:lpstr>
      <vt:lpstr>6.4.4  万维网的文档 - JavaScript</vt:lpstr>
      <vt:lpstr>6.4.4  万维网的文档 - 动态万维网文档</vt:lpstr>
      <vt:lpstr>6.4.4  万维网的文档 - 动态万维网文档</vt:lpstr>
      <vt:lpstr>6.4.4  万维网的文档 - 动态万维网文档</vt:lpstr>
      <vt:lpstr>6.4.4  万维网的文档 - 动态万维网文档 - CGI</vt:lpstr>
      <vt:lpstr>6.4.4  万维网的文档 - 动态万维网文档 - CGI</vt:lpstr>
      <vt:lpstr>6.4.4  万维网的文档 - 活动万维网文档</vt:lpstr>
      <vt:lpstr>6.4.4  万维网的文档 - 活动万维网文档</vt:lpstr>
      <vt:lpstr>6.4.4  万维网的文档 - 活动万维网文档</vt:lpstr>
      <vt:lpstr>6.4.5  万维网的信息检索系统</vt:lpstr>
      <vt:lpstr>6.4.5  万维网的信息检索系统 - 搜索引擎</vt:lpstr>
      <vt:lpstr>6.4.5  万维网的信息检索系统 - 搜索引擎</vt:lpstr>
      <vt:lpstr>6.4.5  万维网的信息检索系统 - 搜索引擎</vt:lpstr>
      <vt:lpstr>6.4.5  万维网的信息检索系统 - 垂直搜索引擎</vt:lpstr>
      <vt:lpstr>6.4.5  万维网的信息检索系统 - 元搜索引擎</vt:lpstr>
      <vt:lpstr>6.4.5  万维网的信息检索系统 - Google 搜索技术的特点</vt:lpstr>
      <vt:lpstr>6.4.6  博客和微博</vt:lpstr>
      <vt:lpstr>6.4.7  社交网站</vt:lpstr>
      <vt:lpstr>PowerPoint 演示文稿</vt:lpstr>
      <vt:lpstr>6.5.1  电子邮件 - 概述</vt:lpstr>
      <vt:lpstr>PowerPoint 演示文稿</vt:lpstr>
      <vt:lpstr>6.5.1  电子邮件 – 组成</vt:lpstr>
      <vt:lpstr>6.5.1 电子邮件 - 发送和接收</vt:lpstr>
      <vt:lpstr>6.5.1 电子邮件 - 发送和接收</vt:lpstr>
      <vt:lpstr>6.5.1 电子邮件 - 发送和接收</vt:lpstr>
      <vt:lpstr>6.5.1 电子邮件 - 发送和接收</vt:lpstr>
      <vt:lpstr>6.5.1 电子邮件 - 发送和接收</vt:lpstr>
      <vt:lpstr>6.5.1 电子邮件 - 发送和接收</vt:lpstr>
      <vt:lpstr>6.5.1 电子邮件 - 电子邮件的组成</vt:lpstr>
      <vt:lpstr>6.5.1 电子邮件 - 电子邮件地址的格式</vt:lpstr>
      <vt:lpstr>6.5.2  简单邮件传送协议 SMTP</vt:lpstr>
      <vt:lpstr>6.5.2  简单邮件传送协议 SMTP</vt:lpstr>
      <vt:lpstr>6.5.2  简单邮件传送协议 SMTP</vt:lpstr>
      <vt:lpstr>6.5.2  简单邮件传送协议 SMTP – 三个阶段</vt:lpstr>
      <vt:lpstr>6.5.2  简单邮件传送协议 SMTP – 三个阶段 – 连接建立</vt:lpstr>
      <vt:lpstr>6.5.2  简单邮件传送协议 SMTP – 三个阶段 – 邮件传送</vt:lpstr>
      <vt:lpstr>6.5.2  简单邮件传送协议 SMTP – 三个阶段 – 连接释放</vt:lpstr>
      <vt:lpstr>PowerPoint 演示文稿</vt:lpstr>
      <vt:lpstr>PowerPoint 演示文稿</vt:lpstr>
      <vt:lpstr>6.5.4  邮件读取协议</vt:lpstr>
      <vt:lpstr>6.5.4  邮件读取协议 - POP3</vt:lpstr>
      <vt:lpstr>6.5.4  邮件读取协议 - IMAP</vt:lpstr>
      <vt:lpstr>PowerPoint 演示文稿</vt:lpstr>
      <vt:lpstr>PowerPoint 演示文稿</vt:lpstr>
      <vt:lpstr>PowerPoint 演示文稿</vt:lpstr>
      <vt:lpstr>6.5.5  基于万维网的电子邮件</vt:lpstr>
      <vt:lpstr>6.5.5  基于万维网的电子邮件</vt:lpstr>
      <vt:lpstr>6.5.6  通用互联网邮件扩充 MIME</vt:lpstr>
      <vt:lpstr>6.5.6  通用互联网邮件扩充 MIME</vt:lpstr>
      <vt:lpstr>6.5.6  通用互联网邮件扩充 MIME – 首部</vt:lpstr>
      <vt:lpstr>6.5.6  通用互联网邮件扩充 MIME – 首部</vt:lpstr>
      <vt:lpstr>6.5.6  通用互联网邮件扩充 MIME – 首部</vt:lpstr>
      <vt:lpstr>6.5.6  通用互联网邮件扩充 MIME - 内容传送编码</vt:lpstr>
      <vt:lpstr>6.5.6  通用互联网邮件扩充 MIME - 内容传送编码</vt:lpstr>
      <vt:lpstr>6.5.6  通用互联网邮件扩充 MIME - 内容传送编码 - Quoted-printable</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内容传送编码 - Base64</vt:lpstr>
      <vt:lpstr>6.5.6  通用互联网邮件扩充 MIME - 内容类型 </vt:lpstr>
      <vt:lpstr>6.5.6  通用互联网邮件扩充 MIME - 内容类型 </vt:lpstr>
      <vt:lpstr>6.5.6  通用互联网邮件扩充 MIME - 内容传送编码 - Base64</vt:lpstr>
      <vt:lpstr>PowerPoint 演示文稿</vt:lpstr>
      <vt:lpstr>6.6 动态主机配置协议 DHCP</vt:lpstr>
      <vt:lpstr>6.6 动态主机配置协议 DHCP</vt:lpstr>
      <vt:lpstr>DHCP 使用客户服务器方式</vt:lpstr>
      <vt:lpstr>DHCP 工作方式</vt:lpstr>
      <vt:lpstr>DHCP 工作方式</vt:lpstr>
      <vt:lpstr>DHCP 工作方式</vt:lpstr>
      <vt:lpstr>DHCP 中继代理</vt:lpstr>
      <vt:lpstr>DHCP 中继代理</vt:lpstr>
      <vt:lpstr>租用期 Lease Period</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DHCP 协议的工作过程</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6.9.0 P2P</vt:lpstr>
      <vt:lpstr>6.9.0 P2P – 应用</vt:lpstr>
      <vt:lpstr>6.9.1 集中目录服务器</vt:lpstr>
      <vt:lpstr>6.9.1 集中目录服务器 - 工作过程</vt:lpstr>
      <vt:lpstr>6.9.1 集中目录服务器 - 缺点</vt:lpstr>
      <vt:lpstr>6.9.2 全分布式结构</vt:lpstr>
      <vt:lpstr>6.9.2 全分布式结构 – 应用</vt:lpstr>
      <vt:lpstr>6.9.2 全分布式结构 –  BT</vt:lpstr>
      <vt:lpstr>6.9.2 全分布式结构 –  BT</vt:lpstr>
      <vt:lpstr>6.9.2 全分布式结构 –  BT</vt:lpstr>
      <vt:lpstr>6.9.2 全分布式结构 –  BT</vt:lpstr>
      <vt:lpstr>6.9.3  文件分发</vt:lpstr>
      <vt:lpstr>6.9.3  文件分发 - C/S</vt:lpstr>
      <vt:lpstr>6.9.3  文件分发 - C/S</vt:lpstr>
      <vt:lpstr>6.9.3  文件分发 - P2P</vt:lpstr>
      <vt:lpstr>6.9.3  文件分发 - 时间比较</vt:lpstr>
      <vt:lpstr>P333 6-51</vt:lpstr>
      <vt:lpstr>P333 6-51</vt:lpstr>
      <vt:lpstr>6.9.3  文件分发 – 总结</vt:lpstr>
      <vt:lpstr>6.9.4  在 P2P 对等方中搜索对象</vt:lpstr>
      <vt:lpstr>6.9.4  在 P2P 对等方中搜索对象</vt:lpstr>
      <vt:lpstr>基于 DHT 的 Chord 环</vt:lpstr>
      <vt:lpstr>基于 DHT 的 Chord 环</vt:lpstr>
      <vt:lpstr>通过指针表加速 Chord 表查找</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Network</dc:title>
  <dc:creator>glplaman.github.io</dc:creator>
  <cp:lastModifiedBy>cn plaman</cp:lastModifiedBy>
  <cp:revision>907</cp:revision>
  <dcterms:created xsi:type="dcterms:W3CDTF">2018-07-18T08:51:30Z</dcterms:created>
  <dcterms:modified xsi:type="dcterms:W3CDTF">2025-12-05T01:03:12Z</dcterms:modified>
</cp:coreProperties>
</file>