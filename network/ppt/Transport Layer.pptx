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72" r:id="rId8"/>
    <p:sldId id="275" r:id="rId9"/>
    <p:sldId id="276" r:id="rId10"/>
    <p:sldId id="264" r:id="rId11"/>
    <p:sldId id="265" r:id="rId12"/>
    <p:sldId id="266" r:id="rId13"/>
    <p:sldId id="268" r:id="rId14"/>
    <p:sldId id="267" r:id="rId15"/>
    <p:sldId id="270" r:id="rId16"/>
    <p:sldId id="269" r:id="rId17"/>
    <p:sldId id="271" r:id="rId18"/>
    <p:sldId id="277" r:id="rId19"/>
    <p:sldId id="273" r:id="rId20"/>
    <p:sldId id="274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32A264-2018-4A34-806D-EC64DAE2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CC546DA-75D5-4ADD-8E1B-668E945011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8C5FF2E-56B6-4053-B0D5-88C220F1A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C27EC-B482-43A8-9F29-5226AFF067B3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D493E5-C31E-47EB-A5AE-1240D0182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642EBC-471E-4612-A29B-3F4518EF2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C3FBE-8082-4C7D-9FA6-CF9EB9EF83E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3456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3E19A1-2626-491B-B89E-FA4F13739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75A0D6-CF50-4132-8858-24457AF62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D31BE1-91C0-437D-A0B2-42F7A3C8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C27EC-B482-43A8-9F29-5226AFF067B3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FE073A5-FB4E-4EE1-B48E-DA99C121E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3A3CBA-7084-4C7E-A545-E7570D221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C3FBE-8082-4C7D-9FA6-CF9EB9EF83E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0815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B76839-5745-4496-9981-3CC753D73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35B3B50-58DB-4FB8-9286-DB765E852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88465F1-376B-4593-8ED6-E00206DD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C27EC-B482-43A8-9F29-5226AFF067B3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A261449-5549-484F-A7D0-CED8BF2DB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13C2B89-56BC-437B-9AE9-3FADA1552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C3FBE-8082-4C7D-9FA6-CF9EB9EF83E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6869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206BC6-B798-464A-8D60-5C9D88492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82B94D-147F-4A67-B11E-2D368A228C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E028BB4-C180-4B2C-B0A7-9CDD211C2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86F6C4-557E-4013-88C9-B3C2C3691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C27EC-B482-43A8-9F29-5226AFF067B3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CDC7E43-E36C-4F5C-9047-EC08D04A2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BA296D1-0D4F-493B-8E65-6F697301F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C3FBE-8082-4C7D-9FA6-CF9EB9EF83E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2206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783E45-3AF8-4977-9077-3862B1983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A789649-5E54-4AD0-ABA3-34FD13A16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FF5381-1C68-41B5-AEFC-78037068CA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021599D-18D2-4A2B-97E5-1BB72DB114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B1AD98C-6803-43A5-BA3F-E9B2236BDE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E3D82E3-859C-4635-A969-C4900D7A9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C27EC-B482-43A8-9F29-5226AFF067B3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8BD6C6F-5972-4B7E-8D67-E6C019EE1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361A7F8-3878-4083-960D-8D0A4675B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C3FBE-8082-4C7D-9FA6-CF9EB9EF83E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6048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4DADEE-86E9-44D3-9A14-CD1D97BA1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51985D2-A3DA-4EA8-BF9F-4CFFD642B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C27EC-B482-43A8-9F29-5226AFF067B3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FFB2CDF-983C-47F4-A6DF-5CFB69AA0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1F56ED1-D3BD-4FAD-AB28-5153BFA75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C3FBE-8082-4C7D-9FA6-CF9EB9EF83E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6675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430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占位符 8">
            <a:extLst>
              <a:ext uri="{FF2B5EF4-FFF2-40B4-BE49-F238E27FC236}">
                <a16:creationId xmlns:a16="http://schemas.microsoft.com/office/drawing/2014/main" id="{55CC4C6F-4FF2-43B1-B541-4AB466F31DD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350" y="425202"/>
            <a:ext cx="3543300" cy="469916"/>
          </a:xfrm>
          <a:prstGeom prst="roundRect">
            <a:avLst/>
          </a:prstGeom>
          <a:solidFill>
            <a:srgbClr val="C00000"/>
          </a:solidFill>
        </p:spPr>
        <p:txBody>
          <a:bodyPr>
            <a:sp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9144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716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8288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标题</a:t>
            </a:r>
          </a:p>
        </p:txBody>
      </p:sp>
      <p:sp>
        <p:nvSpPr>
          <p:cNvPr id="10" name="文本占位符 8">
            <a:extLst>
              <a:ext uri="{FF2B5EF4-FFF2-40B4-BE49-F238E27FC236}">
                <a16:creationId xmlns:a16="http://schemas.microsoft.com/office/drawing/2014/main" id="{B3C93999-283F-4CE8-B2D2-1D5EE35527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350" y="895118"/>
            <a:ext cx="3543300" cy="320088"/>
          </a:xfrm>
        </p:spPr>
        <p:txBody>
          <a:bodyPr>
            <a:spAutoFit/>
          </a:bodyPr>
          <a:lstStyle>
            <a:lvl1pPr marL="0" indent="0" algn="ctr">
              <a:buNone/>
              <a:defRPr sz="160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572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9144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716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8288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en-US" altLang="zh-CN" dirty="0"/>
              <a:t>Title</a:t>
            </a:r>
            <a:endParaRPr lang="zh-CN" altLang="en-US" dirty="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E21DCF07-9243-40EE-A911-889B64A0F065}"/>
              </a:ext>
            </a:extLst>
          </p:cNvPr>
          <p:cNvCxnSpPr>
            <a:cxnSpLocks/>
          </p:cNvCxnSpPr>
          <p:nvPr userDrawn="1"/>
        </p:nvCxnSpPr>
        <p:spPr>
          <a:xfrm>
            <a:off x="696000" y="895118"/>
            <a:ext cx="10800000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0B7AD5B9-6A67-4ABA-A5A2-428F7784B2F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6000" y="1267376"/>
            <a:ext cx="10800000" cy="5040000"/>
          </a:xfrm>
        </p:spPr>
        <p:txBody>
          <a:bodyPr/>
          <a:lstStyle>
            <a:lvl1pPr algn="just">
              <a:lnSpc>
                <a:spcPct val="150000"/>
              </a:lnSpc>
              <a:spcBef>
                <a:spcPts val="0"/>
              </a:spcBef>
              <a:defRPr/>
            </a:lvl1pPr>
            <a:lvl2pPr algn="just">
              <a:lnSpc>
                <a:spcPct val="150000"/>
              </a:lnSpc>
              <a:spcBef>
                <a:spcPts val="0"/>
              </a:spcBef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265090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530357-2AA8-4DF3-8488-18796EE22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C9F44A-31B0-4C6C-B6CA-948DC909A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B892C14-8EC3-49C0-9222-5A52127C80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7E76BA-B2A4-4256-839D-1473D6091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C27EC-B482-43A8-9F29-5226AFF067B3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AC318D2-0842-4B28-A90E-9B1C88C77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92EDA5F-8A46-45A0-920D-7F32B84D4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C3FBE-8082-4C7D-9FA6-CF9EB9EF83E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632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B391D7-B4B5-4397-A469-18319DBB4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5781B64-D77B-48CE-9596-0CE408B2CB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B34FFCE-3E3A-46B7-ABB1-C7374ACF05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2DF3E0D-C35C-4EE9-91B6-7C69E71B2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C27EC-B482-43A8-9F29-5226AFF067B3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143720-114F-47EF-9E0B-A8C1DE1DD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C003CE-0B4A-4474-8312-8463BC86F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C3FBE-8082-4C7D-9FA6-CF9EB9EF83E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66806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3BA1E9-CE4F-4DA8-8740-5CCD9136C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C9B5F64-0831-4DCB-A982-7937EAB525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A22CF1-FA63-4162-835B-9C1192597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C27EC-B482-43A8-9F29-5226AFF067B3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9C96F0-504E-44E2-A74A-E30171A03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F690B9-3C02-46CB-9B22-C1913A9C8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C3FBE-8082-4C7D-9FA6-CF9EB9EF83E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65610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89E2416-B609-4958-A5BE-32773B120C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3AC44E5-6C14-4CAD-B0D2-06877C43A2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46055E-A7AA-4B5D-BB66-532DE95F8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C27EC-B482-43A8-9F29-5226AFF067B3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FF089C-9FBF-4CF5-8402-F33E1150D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FCEF4EE-8D65-4BE1-BB01-DC03F9E16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C3FBE-8082-4C7D-9FA6-CF9EB9EF83E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79224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4E5995B-9290-4552-A3F0-8E0D82C1E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9B090FB-D04F-437D-BA09-240C228D9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C6CBC5-B65F-426A-829B-C306F8961F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5C27EC-B482-43A8-9F29-5226AFF067B3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78B7FC6-3DD0-4CBD-A3C2-3F77FB762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EA9F0C-583E-4494-B87B-FD60BC73C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C3FBE-8082-4C7D-9FA6-CF9EB9EF83E6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0EEA0E3A-DBBE-47EB-BBC4-B03C7432CCE3}"/>
              </a:ext>
            </a:extLst>
          </p:cNvPr>
          <p:cNvGrpSpPr/>
          <p:nvPr userDrawn="1"/>
        </p:nvGrpSpPr>
        <p:grpSpPr>
          <a:xfrm>
            <a:off x="3486563" y="6318000"/>
            <a:ext cx="5218875" cy="540000"/>
            <a:chOff x="3525034" y="6318000"/>
            <a:chExt cx="5218875" cy="540000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FF342350-6A17-4F54-BB67-74AB49AD909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3733" b="-7062"/>
            <a:stretch/>
          </p:blipFill>
          <p:spPr>
            <a:xfrm>
              <a:off x="5839512" y="6318000"/>
              <a:ext cx="450458" cy="5400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B3581E3-C67A-4594-A916-986641CE6ECA}"/>
                </a:ext>
              </a:extLst>
            </p:cNvPr>
            <p:cNvSpPr txBox="1"/>
            <p:nvPr userDrawn="1"/>
          </p:nvSpPr>
          <p:spPr>
            <a:xfrm>
              <a:off x="6388777" y="6449501"/>
              <a:ext cx="2355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r"/>
              <a:r>
                <a:rPr lang="en-US" altLang="zh-CN" sz="1200" dirty="0">
                  <a:solidFill>
                    <a:schemeClr val="bg2">
                      <a:lumMod val="50000"/>
                    </a:schemeClr>
                  </a:solidFill>
                  <a:latin typeface="Cuprum" panose="00000500000000000000" pitchFamily="2" charset="0"/>
                  <a:ea typeface="微软雅黑 Light" panose="020B0502040204020203" pitchFamily="34" charset="-122"/>
                </a:rPr>
                <a:t>Cnplaman from http://www.xit.edu.cn</a:t>
              </a:r>
              <a:endParaRPr lang="zh-CN" altLang="en-US" sz="12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641C8C06-D358-46F1-8B11-475722543691}"/>
                </a:ext>
              </a:extLst>
            </p:cNvPr>
            <p:cNvSpPr txBox="1"/>
            <p:nvPr userDrawn="1"/>
          </p:nvSpPr>
          <p:spPr>
            <a:xfrm>
              <a:off x="3525034" y="6449501"/>
              <a:ext cx="221567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sz="1200">
                  <a:solidFill>
                    <a:schemeClr val="bg2">
                      <a:lumMod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defRPr>
              </a:lvl1pPr>
            </a:lstStyle>
            <a:p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lang="en-US" altLang="zh-CN" sz="1200" dirty="0">
                  <a:solidFill>
                    <a:schemeClr val="bg2">
                      <a:lumMod val="50000"/>
                    </a:schemeClr>
                  </a:solidFill>
                  <a:latin typeface="Cuprum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All Copyrights Reserved, 2022-2024</a:t>
              </a:r>
              <a:endParaRPr lang="zh-CN" altLang="en-US" sz="12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546291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Cuprum" panose="00000500000000000000" pitchFamily="2" charset="0"/>
          <a:ea typeface="微软雅黑 Light" panose="020B0502040204020203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uprum" panose="00000500000000000000" pitchFamily="2" charset="0"/>
          <a:ea typeface="微软雅黑 Light" panose="020B0502040204020203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rfc-editor.org/rfc/rfc768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5">
            <a:extLst>
              <a:ext uri="{FF2B5EF4-FFF2-40B4-BE49-F238E27FC236}">
                <a16:creationId xmlns:a16="http://schemas.microsoft.com/office/drawing/2014/main" id="{EB0026B8-C84A-4555-849F-868D4D7943FB}"/>
              </a:ext>
            </a:extLst>
          </p:cNvPr>
          <p:cNvSpPr txBox="1"/>
          <p:nvPr/>
        </p:nvSpPr>
        <p:spPr>
          <a:xfrm>
            <a:off x="0" y="5905501"/>
            <a:ext cx="7678058" cy="964148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 anchorCtr="0">
            <a:noAutofit/>
          </a:bodyPr>
          <a:lstStyle/>
          <a:p>
            <a:pPr algn="r"/>
            <a:r>
              <a:rPr lang="en-US" sz="2000" spc="300" dirty="0">
                <a:solidFill>
                  <a:schemeClr val="bg1"/>
                </a:solidFill>
                <a:latin typeface="Lato Heavy" panose="020F0502020204030203" pitchFamily="34" charset="0"/>
                <a:ea typeface="Lato Heavy" panose="020F0502020204030203" pitchFamily="34" charset="0"/>
                <a:cs typeface="Lato Heavy" panose="020F0502020204030203" pitchFamily="34" charset="0"/>
              </a:rPr>
              <a:t>2021</a:t>
            </a:r>
            <a:r>
              <a:rPr lang="en-US" altLang="zh-CN" sz="2000" spc="300" dirty="0">
                <a:solidFill>
                  <a:schemeClr val="bg1"/>
                </a:solidFill>
                <a:latin typeface="Lato Heavy" panose="020F0502020204030203" pitchFamily="34" charset="0"/>
                <a:ea typeface="Lato Heavy" panose="020F0502020204030203" pitchFamily="34" charset="0"/>
                <a:cs typeface="Lato Heavy" panose="020F0502020204030203" pitchFamily="34" charset="0"/>
              </a:rPr>
              <a:t>-06-08</a:t>
            </a:r>
            <a:endParaRPr lang="id-ID" sz="2000" spc="300" dirty="0">
              <a:solidFill>
                <a:schemeClr val="bg1"/>
              </a:solidFill>
              <a:latin typeface="Lato Heavy" panose="020F0502020204030203" pitchFamily="34" charset="0"/>
              <a:ea typeface="Lato Heavy" panose="020F0502020204030203" pitchFamily="34" charset="0"/>
              <a:cs typeface="Lato Heavy" panose="020F0502020204030203" pitchFamily="34" charset="0"/>
            </a:endParaRPr>
          </a:p>
        </p:txBody>
      </p:sp>
      <p:pic>
        <p:nvPicPr>
          <p:cNvPr id="6" name="图片占位符 12">
            <a:extLst>
              <a:ext uri="{FF2B5EF4-FFF2-40B4-BE49-F238E27FC236}">
                <a16:creationId xmlns:a16="http://schemas.microsoft.com/office/drawing/2014/main" id="{E40D4C28-48E1-4FB5-BDE4-75AA1D547E4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78058" y="0"/>
            <a:ext cx="4513943" cy="6858000"/>
          </a:xfrm>
          <a:prstGeom prst="rect">
            <a:avLst/>
          </a:prstGeom>
        </p:spPr>
      </p:pic>
      <p:sp>
        <p:nvSpPr>
          <p:cNvPr id="7" name="TextBox 5">
            <a:extLst>
              <a:ext uri="{FF2B5EF4-FFF2-40B4-BE49-F238E27FC236}">
                <a16:creationId xmlns:a16="http://schemas.microsoft.com/office/drawing/2014/main" id="{F12DD9E8-67E8-41A8-AD6E-A6CE802D72F1}"/>
              </a:ext>
            </a:extLst>
          </p:cNvPr>
          <p:cNvSpPr txBox="1"/>
          <p:nvPr/>
        </p:nvSpPr>
        <p:spPr>
          <a:xfrm>
            <a:off x="6793200" y="954739"/>
            <a:ext cx="884858" cy="307777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r>
              <a:rPr lang="zh-CN" altLang="en-US" sz="2000" spc="3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to Heavy" panose="020F0502020204030203" pitchFamily="34" charset="0"/>
              </a:rPr>
              <a:t>运输层</a:t>
            </a:r>
            <a:endParaRPr lang="id-ID" sz="2000" spc="3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to Heavy" panose="020F0502020204030203" pitchFamily="34" charset="0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B0A7C71-3269-4E25-B0A0-AA52B18FE204}"/>
              </a:ext>
            </a:extLst>
          </p:cNvPr>
          <p:cNvCxnSpPr>
            <a:cxnSpLocks/>
          </p:cNvCxnSpPr>
          <p:nvPr/>
        </p:nvCxnSpPr>
        <p:spPr>
          <a:xfrm>
            <a:off x="3353708" y="1337258"/>
            <a:ext cx="432435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5">
            <a:extLst>
              <a:ext uri="{FF2B5EF4-FFF2-40B4-BE49-F238E27FC236}">
                <a16:creationId xmlns:a16="http://schemas.microsoft.com/office/drawing/2014/main" id="{36152181-5DD6-423C-9553-AE198A3A391D}"/>
              </a:ext>
            </a:extLst>
          </p:cNvPr>
          <p:cNvSpPr txBox="1"/>
          <p:nvPr/>
        </p:nvSpPr>
        <p:spPr>
          <a:xfrm>
            <a:off x="3353707" y="1412001"/>
            <a:ext cx="4324351" cy="400110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 anchorCtr="0">
            <a:spAutoFit/>
          </a:bodyPr>
          <a:lstStyle/>
          <a:p>
            <a:pPr algn="r"/>
            <a:r>
              <a:rPr lang="en-US" sz="2000" spc="300" dirty="0">
                <a:solidFill>
                  <a:schemeClr val="bg1"/>
                </a:solidFill>
                <a:latin typeface="Lato Heavy" panose="020F0502020204030203" pitchFamily="34" charset="0"/>
                <a:ea typeface="Lato Heavy" panose="020F0502020204030203" pitchFamily="34" charset="0"/>
                <a:cs typeface="Lato Heavy" panose="020F0502020204030203" pitchFamily="34" charset="0"/>
              </a:rPr>
              <a:t>Transport Layer</a:t>
            </a:r>
            <a:endParaRPr lang="id-ID" sz="2000" spc="300" dirty="0">
              <a:solidFill>
                <a:schemeClr val="bg1"/>
              </a:solidFill>
              <a:latin typeface="Lato Heavy" panose="020F0502020204030203" pitchFamily="34" charset="0"/>
              <a:ea typeface="Lato Heavy" panose="020F0502020204030203" pitchFamily="34" charset="0"/>
              <a:cs typeface="Lato Heavy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67035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9">
            <a:extLst>
              <a:ext uri="{FF2B5EF4-FFF2-40B4-BE49-F238E27FC236}">
                <a16:creationId xmlns:a16="http://schemas.microsoft.com/office/drawing/2014/main" id="{8237AFE3-AFF6-4ACC-BCC4-803E6428F07A}"/>
              </a:ext>
            </a:extLst>
          </p:cNvPr>
          <p:cNvSpPr txBox="1"/>
          <p:nvPr/>
        </p:nvSpPr>
        <p:spPr>
          <a:xfrm>
            <a:off x="3802496" y="2519422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2000" b="1" spc="300" dirty="0">
                <a:solidFill>
                  <a:srgbClr val="000000"/>
                </a:solidFill>
                <a:latin typeface="Courier New" panose="02070309020205020404" pitchFamily="49" charset="0"/>
                <a:ea typeface="Source Sans Pro Light" panose="020B0403030403020204" pitchFamily="34" charset="0"/>
                <a:cs typeface="Courier New" panose="02070309020205020404" pitchFamily="49" charset="0"/>
              </a:rPr>
              <a:t>Port</a:t>
            </a:r>
            <a:endParaRPr lang="id-ID" sz="2000" b="1" spc="300" dirty="0">
              <a:solidFill>
                <a:srgbClr val="000000"/>
              </a:solidFill>
              <a:latin typeface="Courier New" panose="02070309020205020404" pitchFamily="49" charset="0"/>
              <a:ea typeface="Source Sans Pro Light" panose="020B04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7" name="TextBox 10">
            <a:extLst>
              <a:ext uri="{FF2B5EF4-FFF2-40B4-BE49-F238E27FC236}">
                <a16:creationId xmlns:a16="http://schemas.microsoft.com/office/drawing/2014/main" id="{880C38F4-DD99-44AA-80F6-878A148078CF}"/>
              </a:ext>
            </a:extLst>
          </p:cNvPr>
          <p:cNvSpPr txBox="1"/>
          <p:nvPr/>
        </p:nvSpPr>
        <p:spPr>
          <a:xfrm>
            <a:off x="3998062" y="4557772"/>
            <a:ext cx="7585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spc="300" dirty="0">
                <a:solidFill>
                  <a:srgbClr val="000000"/>
                </a:solidFill>
                <a:latin typeface="Courier New" panose="02070309020205020404" pitchFamily="49" charset="0"/>
                <a:ea typeface="Source Sans Pro Light" panose="020B0403030403020204" pitchFamily="34" charset="0"/>
                <a:cs typeface="Courier New" panose="02070309020205020404" pitchFamily="49" charset="0"/>
              </a:rPr>
              <a:t>UDP</a:t>
            </a:r>
            <a:endParaRPr lang="id-ID" sz="2000" b="1" spc="300" dirty="0">
              <a:solidFill>
                <a:srgbClr val="000000"/>
              </a:solidFill>
              <a:latin typeface="Courier New" panose="02070309020205020404" pitchFamily="49" charset="0"/>
              <a:ea typeface="Source Sans Pro Light" panose="020B04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D447FF9B-8643-4B08-AA1F-3BE18931099A}"/>
              </a:ext>
            </a:extLst>
          </p:cNvPr>
          <p:cNvSpPr txBox="1"/>
          <p:nvPr/>
        </p:nvSpPr>
        <p:spPr>
          <a:xfrm>
            <a:off x="7442293" y="2519422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spc="300" dirty="0">
                <a:solidFill>
                  <a:srgbClr val="000000"/>
                </a:solidFill>
                <a:latin typeface="Courier New" panose="02070309020205020404" pitchFamily="49" charset="0"/>
                <a:ea typeface="Source Sans Pro Light" panose="020B0403030403020204" pitchFamily="34" charset="0"/>
                <a:cs typeface="Courier New" panose="02070309020205020404" pitchFamily="49" charset="0"/>
              </a:rPr>
              <a:t>Socket</a:t>
            </a:r>
            <a:endParaRPr lang="id-ID" sz="2000" b="1" spc="300" dirty="0">
              <a:solidFill>
                <a:srgbClr val="000000"/>
              </a:solidFill>
              <a:latin typeface="Courier New" panose="02070309020205020404" pitchFamily="49" charset="0"/>
              <a:ea typeface="Source Sans Pro Light" panose="020B04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585E1D35-E0E0-4BB5-8A84-61897E24565E}"/>
              </a:ext>
            </a:extLst>
          </p:cNvPr>
          <p:cNvSpPr txBox="1"/>
          <p:nvPr/>
        </p:nvSpPr>
        <p:spPr>
          <a:xfrm>
            <a:off x="7442293" y="4557772"/>
            <a:ext cx="7617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spc="300" dirty="0">
                <a:solidFill>
                  <a:srgbClr val="000000"/>
                </a:solidFill>
                <a:latin typeface="Courier New" panose="02070309020205020404" pitchFamily="49" charset="0"/>
                <a:ea typeface="Source Sans Pro Light" panose="020B0403030403020204" pitchFamily="34" charset="0"/>
                <a:cs typeface="Courier New" panose="02070309020205020404" pitchFamily="49" charset="0"/>
              </a:rPr>
              <a:t>TCP</a:t>
            </a:r>
            <a:endParaRPr lang="id-ID" sz="2000" b="1" spc="300" dirty="0">
              <a:solidFill>
                <a:srgbClr val="000000"/>
              </a:solidFill>
              <a:latin typeface="Courier New" panose="02070309020205020404" pitchFamily="49" charset="0"/>
              <a:ea typeface="Source Sans Pro Light" panose="020B0403030403020204" pitchFamily="34" charset="0"/>
              <a:cs typeface="Courier New" panose="02070309020205020404" pitchFamily="49" charset="0"/>
            </a:endParaRPr>
          </a:p>
        </p:txBody>
      </p: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3B09659A-A380-4364-AB97-3FEB08323E86}"/>
              </a:ext>
            </a:extLst>
          </p:cNvPr>
          <p:cNvGrpSpPr/>
          <p:nvPr/>
        </p:nvGrpSpPr>
        <p:grpSpPr>
          <a:xfrm>
            <a:off x="4750483" y="2519422"/>
            <a:ext cx="902302" cy="962133"/>
            <a:chOff x="899885" y="2519422"/>
            <a:chExt cx="902302" cy="962133"/>
          </a:xfrm>
        </p:grpSpPr>
        <p:sp>
          <p:nvSpPr>
            <p:cNvPr id="2" name="Rectangle 5">
              <a:extLst>
                <a:ext uri="{FF2B5EF4-FFF2-40B4-BE49-F238E27FC236}">
                  <a16:creationId xmlns:a16="http://schemas.microsoft.com/office/drawing/2014/main" id="{1938633F-EDF1-4F9F-A7EA-0725EBF0C783}"/>
                </a:ext>
              </a:extLst>
            </p:cNvPr>
            <p:cNvSpPr/>
            <p:nvPr/>
          </p:nvSpPr>
          <p:spPr>
            <a:xfrm>
              <a:off x="899885" y="2519422"/>
              <a:ext cx="902302" cy="962133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10" name="Shape 5089">
              <a:extLst>
                <a:ext uri="{FF2B5EF4-FFF2-40B4-BE49-F238E27FC236}">
                  <a16:creationId xmlns:a16="http://schemas.microsoft.com/office/drawing/2014/main" id="{96516ED3-0771-482E-B922-8D1366CCD181}"/>
                </a:ext>
              </a:extLst>
            </p:cNvPr>
            <p:cNvSpPr/>
            <p:nvPr/>
          </p:nvSpPr>
          <p:spPr>
            <a:xfrm>
              <a:off x="1094637" y="2757248"/>
              <a:ext cx="537759" cy="486480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59750" y="90275"/>
                  </a:moveTo>
                  <a:lnTo>
                    <a:pt x="59750" y="90275"/>
                  </a:lnTo>
                  <a:cubicBezTo>
                    <a:pt x="53250" y="90275"/>
                    <a:pt x="46500" y="97706"/>
                    <a:pt x="46500" y="105137"/>
                  </a:cubicBezTo>
                  <a:cubicBezTo>
                    <a:pt x="46500" y="112568"/>
                    <a:pt x="53250" y="119724"/>
                    <a:pt x="59750" y="119724"/>
                  </a:cubicBezTo>
                  <a:cubicBezTo>
                    <a:pt x="66500" y="119724"/>
                    <a:pt x="73000" y="112568"/>
                    <a:pt x="73000" y="105137"/>
                  </a:cubicBezTo>
                  <a:cubicBezTo>
                    <a:pt x="73000" y="97706"/>
                    <a:pt x="66500" y="90275"/>
                    <a:pt x="59750" y="90275"/>
                  </a:cubicBezTo>
                  <a:close/>
                  <a:moveTo>
                    <a:pt x="33250" y="75688"/>
                  </a:moveTo>
                  <a:lnTo>
                    <a:pt x="33250" y="75688"/>
                  </a:lnTo>
                  <a:cubicBezTo>
                    <a:pt x="42000" y="85596"/>
                    <a:pt x="42000" y="85596"/>
                    <a:pt x="42000" y="85596"/>
                  </a:cubicBezTo>
                  <a:cubicBezTo>
                    <a:pt x="51000" y="75688"/>
                    <a:pt x="66500" y="75688"/>
                    <a:pt x="77500" y="85596"/>
                  </a:cubicBezTo>
                  <a:cubicBezTo>
                    <a:pt x="86250" y="75688"/>
                    <a:pt x="86250" y="75688"/>
                    <a:pt x="86250" y="75688"/>
                  </a:cubicBezTo>
                  <a:cubicBezTo>
                    <a:pt x="70750" y="61100"/>
                    <a:pt x="48750" y="61100"/>
                    <a:pt x="33250" y="75688"/>
                  </a:cubicBezTo>
                  <a:close/>
                  <a:moveTo>
                    <a:pt x="15500" y="56146"/>
                  </a:moveTo>
                  <a:lnTo>
                    <a:pt x="15500" y="56146"/>
                  </a:lnTo>
                  <a:cubicBezTo>
                    <a:pt x="24500" y="66055"/>
                    <a:pt x="24500" y="66055"/>
                    <a:pt x="24500" y="66055"/>
                  </a:cubicBezTo>
                  <a:cubicBezTo>
                    <a:pt x="44250" y="46513"/>
                    <a:pt x="75250" y="46513"/>
                    <a:pt x="95250" y="66055"/>
                  </a:cubicBezTo>
                  <a:cubicBezTo>
                    <a:pt x="104250" y="56146"/>
                    <a:pt x="104250" y="56146"/>
                    <a:pt x="104250" y="56146"/>
                  </a:cubicBezTo>
                  <a:cubicBezTo>
                    <a:pt x="79750" y="29449"/>
                    <a:pt x="40000" y="29449"/>
                    <a:pt x="15500" y="56146"/>
                  </a:cubicBezTo>
                  <a:close/>
                  <a:moveTo>
                    <a:pt x="0" y="36880"/>
                  </a:moveTo>
                  <a:lnTo>
                    <a:pt x="0" y="36880"/>
                  </a:lnTo>
                  <a:cubicBezTo>
                    <a:pt x="6500" y="46513"/>
                    <a:pt x="6500" y="46513"/>
                    <a:pt x="6500" y="46513"/>
                  </a:cubicBezTo>
                  <a:cubicBezTo>
                    <a:pt x="35500" y="14862"/>
                    <a:pt x="82000" y="14862"/>
                    <a:pt x="110750" y="46513"/>
                  </a:cubicBezTo>
                  <a:cubicBezTo>
                    <a:pt x="119750" y="36880"/>
                    <a:pt x="119750" y="36880"/>
                    <a:pt x="119750" y="36880"/>
                  </a:cubicBezTo>
                  <a:cubicBezTo>
                    <a:pt x="86250" y="0"/>
                    <a:pt x="33250" y="0"/>
                    <a:pt x="0" y="3688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lIns="45700" tIns="22850" rIns="45700" bIns="22850" anchor="ctr" anchorCtr="0">
              <a:noAutofit/>
            </a:bodyPr>
            <a:lstStyle/>
            <a:p>
              <a:endPara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498E0FFB-B220-4FB2-A4A2-6DCF2DD5DBD5}"/>
              </a:ext>
            </a:extLst>
          </p:cNvPr>
          <p:cNvGrpSpPr/>
          <p:nvPr/>
        </p:nvGrpSpPr>
        <p:grpSpPr>
          <a:xfrm>
            <a:off x="4750483" y="4557772"/>
            <a:ext cx="902302" cy="962133"/>
            <a:chOff x="899885" y="4557772"/>
            <a:chExt cx="902302" cy="962133"/>
          </a:xfrm>
        </p:grpSpPr>
        <p:sp>
          <p:nvSpPr>
            <p:cNvPr id="3" name="Rectangle 6">
              <a:extLst>
                <a:ext uri="{FF2B5EF4-FFF2-40B4-BE49-F238E27FC236}">
                  <a16:creationId xmlns:a16="http://schemas.microsoft.com/office/drawing/2014/main" id="{9F4E3FAB-B6D7-4201-B4A2-2314638058ED}"/>
                </a:ext>
              </a:extLst>
            </p:cNvPr>
            <p:cNvSpPr/>
            <p:nvPr/>
          </p:nvSpPr>
          <p:spPr>
            <a:xfrm>
              <a:off x="899885" y="4557772"/>
              <a:ext cx="902302" cy="962133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11" name="Shape 5147">
              <a:extLst>
                <a:ext uri="{FF2B5EF4-FFF2-40B4-BE49-F238E27FC236}">
                  <a16:creationId xmlns:a16="http://schemas.microsoft.com/office/drawing/2014/main" id="{C9C99118-7476-4F37-B7B4-90CEFCD91C51}"/>
                </a:ext>
              </a:extLst>
            </p:cNvPr>
            <p:cNvSpPr/>
            <p:nvPr/>
          </p:nvSpPr>
          <p:spPr>
            <a:xfrm>
              <a:off x="1072272" y="4819279"/>
              <a:ext cx="557527" cy="427154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9315" y="77905"/>
                  </a:moveTo>
                  <a:lnTo>
                    <a:pt x="19315" y="77905"/>
                  </a:lnTo>
                  <a:cubicBezTo>
                    <a:pt x="23420" y="92041"/>
                    <a:pt x="25593" y="97696"/>
                    <a:pt x="38390" y="103036"/>
                  </a:cubicBezTo>
                  <a:cubicBezTo>
                    <a:pt x="49014" y="111518"/>
                    <a:pt x="55533" y="119685"/>
                    <a:pt x="59879" y="119685"/>
                  </a:cubicBezTo>
                  <a:cubicBezTo>
                    <a:pt x="64225" y="119685"/>
                    <a:pt x="70744" y="111518"/>
                    <a:pt x="81368" y="105863"/>
                  </a:cubicBezTo>
                  <a:cubicBezTo>
                    <a:pt x="94164" y="97696"/>
                    <a:pt x="89818" y="97696"/>
                    <a:pt x="94164" y="81047"/>
                  </a:cubicBezTo>
                  <a:cubicBezTo>
                    <a:pt x="59879" y="103036"/>
                    <a:pt x="59879" y="103036"/>
                    <a:pt x="59879" y="103036"/>
                  </a:cubicBezTo>
                  <a:lnTo>
                    <a:pt x="19315" y="77905"/>
                  </a:lnTo>
                  <a:close/>
                  <a:moveTo>
                    <a:pt x="117585" y="38952"/>
                  </a:moveTo>
                  <a:lnTo>
                    <a:pt x="117585" y="38952"/>
                  </a:lnTo>
                  <a:cubicBezTo>
                    <a:pt x="66156" y="2827"/>
                    <a:pt x="66156" y="2827"/>
                    <a:pt x="66156" y="2827"/>
                  </a:cubicBezTo>
                  <a:cubicBezTo>
                    <a:pt x="64225" y="0"/>
                    <a:pt x="57706" y="0"/>
                    <a:pt x="53360" y="2827"/>
                  </a:cubicBezTo>
                  <a:cubicBezTo>
                    <a:pt x="2173" y="38952"/>
                    <a:pt x="2173" y="38952"/>
                    <a:pt x="2173" y="38952"/>
                  </a:cubicBezTo>
                  <a:cubicBezTo>
                    <a:pt x="0" y="41780"/>
                    <a:pt x="0" y="44607"/>
                    <a:pt x="2173" y="50261"/>
                  </a:cubicBezTo>
                  <a:cubicBezTo>
                    <a:pt x="53360" y="86387"/>
                    <a:pt x="53360" y="86387"/>
                    <a:pt x="53360" y="86387"/>
                  </a:cubicBezTo>
                  <a:cubicBezTo>
                    <a:pt x="57706" y="89214"/>
                    <a:pt x="64225" y="89214"/>
                    <a:pt x="66156" y="86387"/>
                  </a:cubicBezTo>
                  <a:cubicBezTo>
                    <a:pt x="98511" y="61256"/>
                    <a:pt x="98511" y="61256"/>
                    <a:pt x="98511" y="61256"/>
                  </a:cubicBezTo>
                  <a:cubicBezTo>
                    <a:pt x="64225" y="50261"/>
                    <a:pt x="64225" y="50261"/>
                    <a:pt x="64225" y="50261"/>
                  </a:cubicBezTo>
                  <a:cubicBezTo>
                    <a:pt x="62052" y="50261"/>
                    <a:pt x="62052" y="52774"/>
                    <a:pt x="59879" y="52774"/>
                  </a:cubicBezTo>
                  <a:cubicBezTo>
                    <a:pt x="53360" y="52774"/>
                    <a:pt x="49014" y="47434"/>
                    <a:pt x="49014" y="41780"/>
                  </a:cubicBezTo>
                  <a:cubicBezTo>
                    <a:pt x="49014" y="38952"/>
                    <a:pt x="53360" y="33612"/>
                    <a:pt x="59879" y="33612"/>
                  </a:cubicBezTo>
                  <a:cubicBezTo>
                    <a:pt x="64225" y="33612"/>
                    <a:pt x="68571" y="36125"/>
                    <a:pt x="70744" y="38952"/>
                  </a:cubicBezTo>
                  <a:cubicBezTo>
                    <a:pt x="106961" y="55602"/>
                    <a:pt x="106961" y="55602"/>
                    <a:pt x="106961" y="55602"/>
                  </a:cubicBezTo>
                  <a:cubicBezTo>
                    <a:pt x="117585" y="50261"/>
                    <a:pt x="117585" y="50261"/>
                    <a:pt x="117585" y="50261"/>
                  </a:cubicBezTo>
                  <a:cubicBezTo>
                    <a:pt x="119758" y="44607"/>
                    <a:pt x="119758" y="41780"/>
                    <a:pt x="117585" y="38952"/>
                  </a:cubicBezTo>
                  <a:close/>
                  <a:moveTo>
                    <a:pt x="102615" y="108691"/>
                  </a:moveTo>
                  <a:lnTo>
                    <a:pt x="102615" y="108691"/>
                  </a:lnTo>
                  <a:cubicBezTo>
                    <a:pt x="100442" y="111518"/>
                    <a:pt x="109134" y="114345"/>
                    <a:pt x="111307" y="105863"/>
                  </a:cubicBezTo>
                  <a:cubicBezTo>
                    <a:pt x="113239" y="66910"/>
                    <a:pt x="106961" y="55602"/>
                    <a:pt x="106961" y="55602"/>
                  </a:cubicBezTo>
                  <a:cubicBezTo>
                    <a:pt x="98511" y="61256"/>
                    <a:pt x="98511" y="61256"/>
                    <a:pt x="98511" y="61256"/>
                  </a:cubicBezTo>
                  <a:cubicBezTo>
                    <a:pt x="98511" y="61256"/>
                    <a:pt x="106961" y="69738"/>
                    <a:pt x="102615" y="10869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lIns="45700" tIns="22850" rIns="45700" bIns="22850" anchor="ctr" anchorCtr="0">
              <a:noAutofit/>
            </a:bodyPr>
            <a:lstStyle/>
            <a:p>
              <a:endPara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AFA7E111-D1B8-41CD-B1A4-5C3E00E67A58}"/>
              </a:ext>
            </a:extLst>
          </p:cNvPr>
          <p:cNvGrpSpPr/>
          <p:nvPr/>
        </p:nvGrpSpPr>
        <p:grpSpPr>
          <a:xfrm>
            <a:off x="6539216" y="2468743"/>
            <a:ext cx="902302" cy="962133"/>
            <a:chOff x="6717693" y="2468743"/>
            <a:chExt cx="902302" cy="962133"/>
          </a:xfrm>
        </p:grpSpPr>
        <p:sp>
          <p:nvSpPr>
            <p:cNvPr id="4" name="Rectangle 7">
              <a:extLst>
                <a:ext uri="{FF2B5EF4-FFF2-40B4-BE49-F238E27FC236}">
                  <a16:creationId xmlns:a16="http://schemas.microsoft.com/office/drawing/2014/main" id="{DA2AA0ED-615E-4FB7-BAAF-00644105472A}"/>
                </a:ext>
              </a:extLst>
            </p:cNvPr>
            <p:cNvSpPr/>
            <p:nvPr/>
          </p:nvSpPr>
          <p:spPr>
            <a:xfrm>
              <a:off x="6717693" y="2468743"/>
              <a:ext cx="902302" cy="962133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12" name="Shape 5164">
              <a:extLst>
                <a:ext uri="{FF2B5EF4-FFF2-40B4-BE49-F238E27FC236}">
                  <a16:creationId xmlns:a16="http://schemas.microsoft.com/office/drawing/2014/main" id="{EC3307CB-A418-437A-B460-A5289F068A76}"/>
                </a:ext>
              </a:extLst>
            </p:cNvPr>
            <p:cNvSpPr/>
            <p:nvPr/>
          </p:nvSpPr>
          <p:spPr>
            <a:xfrm>
              <a:off x="6890079" y="2696595"/>
              <a:ext cx="557529" cy="498346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06961" y="18918"/>
                  </a:moveTo>
                  <a:lnTo>
                    <a:pt x="106961" y="18918"/>
                  </a:lnTo>
                  <a:cubicBezTo>
                    <a:pt x="102857" y="18918"/>
                    <a:pt x="102857" y="18918"/>
                    <a:pt x="102857" y="18918"/>
                  </a:cubicBezTo>
                  <a:cubicBezTo>
                    <a:pt x="102857" y="119729"/>
                    <a:pt x="102857" y="119729"/>
                    <a:pt x="102857" y="119729"/>
                  </a:cubicBezTo>
                  <a:cubicBezTo>
                    <a:pt x="106961" y="119729"/>
                    <a:pt x="106961" y="119729"/>
                    <a:pt x="106961" y="119729"/>
                  </a:cubicBezTo>
                  <a:cubicBezTo>
                    <a:pt x="115653" y="119729"/>
                    <a:pt x="119758" y="114864"/>
                    <a:pt x="119758" y="107567"/>
                  </a:cubicBezTo>
                  <a:cubicBezTo>
                    <a:pt x="119758" y="33513"/>
                    <a:pt x="119758" y="33513"/>
                    <a:pt x="119758" y="33513"/>
                  </a:cubicBezTo>
                  <a:cubicBezTo>
                    <a:pt x="119758" y="26216"/>
                    <a:pt x="115653" y="18918"/>
                    <a:pt x="106961" y="18918"/>
                  </a:cubicBezTo>
                  <a:close/>
                  <a:moveTo>
                    <a:pt x="0" y="33513"/>
                  </a:moveTo>
                  <a:lnTo>
                    <a:pt x="0" y="33513"/>
                  </a:lnTo>
                  <a:cubicBezTo>
                    <a:pt x="0" y="107567"/>
                    <a:pt x="0" y="107567"/>
                    <a:pt x="0" y="107567"/>
                  </a:cubicBezTo>
                  <a:cubicBezTo>
                    <a:pt x="0" y="114864"/>
                    <a:pt x="6277" y="119729"/>
                    <a:pt x="12796" y="119729"/>
                  </a:cubicBezTo>
                  <a:cubicBezTo>
                    <a:pt x="17142" y="119729"/>
                    <a:pt x="17142" y="119729"/>
                    <a:pt x="17142" y="119729"/>
                  </a:cubicBezTo>
                  <a:cubicBezTo>
                    <a:pt x="17142" y="18918"/>
                    <a:pt x="17142" y="18918"/>
                    <a:pt x="17142" y="18918"/>
                  </a:cubicBezTo>
                  <a:cubicBezTo>
                    <a:pt x="12796" y="18918"/>
                    <a:pt x="12796" y="18918"/>
                    <a:pt x="12796" y="18918"/>
                  </a:cubicBezTo>
                  <a:cubicBezTo>
                    <a:pt x="6277" y="18918"/>
                    <a:pt x="0" y="26216"/>
                    <a:pt x="0" y="33513"/>
                  </a:cubicBezTo>
                  <a:close/>
                  <a:moveTo>
                    <a:pt x="81368" y="7027"/>
                  </a:moveTo>
                  <a:lnTo>
                    <a:pt x="81368" y="7027"/>
                  </a:lnTo>
                  <a:cubicBezTo>
                    <a:pt x="77022" y="4594"/>
                    <a:pt x="70503" y="0"/>
                    <a:pt x="59879" y="0"/>
                  </a:cubicBezTo>
                  <a:cubicBezTo>
                    <a:pt x="49255" y="0"/>
                    <a:pt x="42736" y="4594"/>
                    <a:pt x="38631" y="7027"/>
                  </a:cubicBezTo>
                  <a:cubicBezTo>
                    <a:pt x="38631" y="18918"/>
                    <a:pt x="38631" y="18918"/>
                    <a:pt x="38631" y="18918"/>
                  </a:cubicBezTo>
                  <a:cubicBezTo>
                    <a:pt x="25835" y="18918"/>
                    <a:pt x="25835" y="18918"/>
                    <a:pt x="25835" y="18918"/>
                  </a:cubicBezTo>
                  <a:cubicBezTo>
                    <a:pt x="25835" y="119729"/>
                    <a:pt x="25835" y="119729"/>
                    <a:pt x="25835" y="119729"/>
                  </a:cubicBezTo>
                  <a:cubicBezTo>
                    <a:pt x="94164" y="119729"/>
                    <a:pt x="94164" y="119729"/>
                    <a:pt x="94164" y="119729"/>
                  </a:cubicBezTo>
                  <a:cubicBezTo>
                    <a:pt x="94164" y="18918"/>
                    <a:pt x="94164" y="18918"/>
                    <a:pt x="94164" y="18918"/>
                  </a:cubicBezTo>
                  <a:cubicBezTo>
                    <a:pt x="81368" y="18918"/>
                    <a:pt x="81368" y="18918"/>
                    <a:pt x="81368" y="18918"/>
                  </a:cubicBezTo>
                  <a:lnTo>
                    <a:pt x="81368" y="7027"/>
                  </a:lnTo>
                  <a:close/>
                  <a:moveTo>
                    <a:pt x="72676" y="18918"/>
                  </a:moveTo>
                  <a:lnTo>
                    <a:pt x="72676" y="18918"/>
                  </a:lnTo>
                  <a:cubicBezTo>
                    <a:pt x="47082" y="18918"/>
                    <a:pt x="47082" y="18918"/>
                    <a:pt x="47082" y="18918"/>
                  </a:cubicBezTo>
                  <a:cubicBezTo>
                    <a:pt x="47082" y="11891"/>
                    <a:pt x="47082" y="11891"/>
                    <a:pt x="47082" y="11891"/>
                  </a:cubicBezTo>
                  <a:cubicBezTo>
                    <a:pt x="49255" y="9459"/>
                    <a:pt x="53601" y="7027"/>
                    <a:pt x="59879" y="7027"/>
                  </a:cubicBezTo>
                  <a:cubicBezTo>
                    <a:pt x="66398" y="7027"/>
                    <a:pt x="70503" y="9459"/>
                    <a:pt x="72676" y="11891"/>
                  </a:cubicBezTo>
                  <a:lnTo>
                    <a:pt x="72676" y="1891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lIns="45700" tIns="22850" rIns="45700" bIns="22850" anchor="ctr" anchorCtr="0">
              <a:noAutofit/>
            </a:bodyPr>
            <a:lstStyle/>
            <a:p>
              <a:endPara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58AF7860-6E68-44C7-A49F-6A86E487B906}"/>
              </a:ext>
            </a:extLst>
          </p:cNvPr>
          <p:cNvGrpSpPr/>
          <p:nvPr/>
        </p:nvGrpSpPr>
        <p:grpSpPr>
          <a:xfrm>
            <a:off x="6539216" y="4557772"/>
            <a:ext cx="902302" cy="962133"/>
            <a:chOff x="6717693" y="4557772"/>
            <a:chExt cx="902302" cy="962133"/>
          </a:xfrm>
        </p:grpSpPr>
        <p:sp>
          <p:nvSpPr>
            <p:cNvPr id="5" name="Rectangle 8">
              <a:extLst>
                <a:ext uri="{FF2B5EF4-FFF2-40B4-BE49-F238E27FC236}">
                  <a16:creationId xmlns:a16="http://schemas.microsoft.com/office/drawing/2014/main" id="{CDDD72E2-DC5D-4367-B713-9DE16CFD03D9}"/>
                </a:ext>
              </a:extLst>
            </p:cNvPr>
            <p:cNvSpPr/>
            <p:nvPr/>
          </p:nvSpPr>
          <p:spPr>
            <a:xfrm>
              <a:off x="6717693" y="4557772"/>
              <a:ext cx="902302" cy="962133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13" name="Shape 5115">
              <a:extLst>
                <a:ext uri="{FF2B5EF4-FFF2-40B4-BE49-F238E27FC236}">
                  <a16:creationId xmlns:a16="http://schemas.microsoft.com/office/drawing/2014/main" id="{0233D017-44BD-424B-910A-BF243C352712}"/>
                </a:ext>
              </a:extLst>
            </p:cNvPr>
            <p:cNvSpPr/>
            <p:nvPr/>
          </p:nvSpPr>
          <p:spPr>
            <a:xfrm>
              <a:off x="6928794" y="4590099"/>
              <a:ext cx="564353" cy="656397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4966" y="41876"/>
                  </a:moveTo>
                  <a:lnTo>
                    <a:pt x="114966" y="41876"/>
                  </a:lnTo>
                  <a:cubicBezTo>
                    <a:pt x="39999" y="67767"/>
                    <a:pt x="70463" y="0"/>
                    <a:pt x="11655" y="36022"/>
                  </a:cubicBezTo>
                  <a:cubicBezTo>
                    <a:pt x="0" y="40075"/>
                    <a:pt x="0" y="40075"/>
                    <a:pt x="0" y="40075"/>
                  </a:cubicBezTo>
                  <a:cubicBezTo>
                    <a:pt x="23311" y="119774"/>
                    <a:pt x="23311" y="119774"/>
                    <a:pt x="23311" y="119774"/>
                  </a:cubicBezTo>
                  <a:cubicBezTo>
                    <a:pt x="37350" y="119774"/>
                    <a:pt x="37350" y="119774"/>
                    <a:pt x="37350" y="119774"/>
                  </a:cubicBezTo>
                  <a:cubicBezTo>
                    <a:pt x="25695" y="79924"/>
                    <a:pt x="25695" y="79924"/>
                    <a:pt x="25695" y="79924"/>
                  </a:cubicBezTo>
                  <a:cubicBezTo>
                    <a:pt x="77615" y="43902"/>
                    <a:pt x="56423" y="119774"/>
                    <a:pt x="117350" y="43902"/>
                  </a:cubicBezTo>
                  <a:cubicBezTo>
                    <a:pt x="119735" y="43902"/>
                    <a:pt x="117350" y="41876"/>
                    <a:pt x="114966" y="41876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lIns="45700" tIns="22850" rIns="45700" bIns="22850" anchor="ctr" anchorCtr="0">
              <a:noAutofit/>
            </a:bodyPr>
            <a:lstStyle/>
            <a:p>
              <a:endPara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7" name="Rectangle 1">
            <a:extLst>
              <a:ext uri="{FF2B5EF4-FFF2-40B4-BE49-F238E27FC236}">
                <a16:creationId xmlns:a16="http://schemas.microsoft.com/office/drawing/2014/main" id="{4316B65F-88B2-4F7F-AB1B-896611FD6AFE}"/>
              </a:ext>
            </a:extLst>
          </p:cNvPr>
          <p:cNvSpPr/>
          <p:nvPr/>
        </p:nvSpPr>
        <p:spPr>
          <a:xfrm>
            <a:off x="865562" y="2784844"/>
            <a:ext cx="3891041" cy="378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sz="1400" i="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Lato" panose="020F0502020204030203" pitchFamily="34" charset="0"/>
              </a:rPr>
              <a:t>端口</a:t>
            </a:r>
            <a:endParaRPr lang="id-ID" sz="1400" dirty="0">
              <a:latin typeface="微软雅黑 Light" panose="020B0502040204020203" pitchFamily="34" charset="-122"/>
              <a:ea typeface="微软雅黑 Light" panose="020B0502040204020203" pitchFamily="34" charset="-122"/>
              <a:cs typeface="Lato" panose="020F0502020204030203" pitchFamily="34" charset="0"/>
            </a:endParaRPr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598CC824-99D6-4108-BA17-2ED5D34F379D}"/>
              </a:ext>
            </a:extLst>
          </p:cNvPr>
          <p:cNvSpPr/>
          <p:nvPr/>
        </p:nvSpPr>
        <p:spPr>
          <a:xfrm>
            <a:off x="7451818" y="2784844"/>
            <a:ext cx="3891041" cy="378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Lato" panose="020F0502020204030203" pitchFamily="34" charset="0"/>
              </a:rPr>
              <a:t>套接字</a:t>
            </a:r>
            <a:endParaRPr lang="id-ID" sz="1400" dirty="0">
              <a:latin typeface="微软雅黑 Light" panose="020B0502040204020203" pitchFamily="34" charset="-122"/>
              <a:ea typeface="微软雅黑 Light" panose="020B0502040204020203" pitchFamily="34" charset="-122"/>
              <a:cs typeface="Lato" panose="020F0502020204030203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4B4FE8EB-7697-48FC-9116-332A965C0974}"/>
              </a:ext>
            </a:extLst>
          </p:cNvPr>
          <p:cNvSpPr/>
          <p:nvPr/>
        </p:nvSpPr>
        <p:spPr>
          <a:xfrm>
            <a:off x="865562" y="4858842"/>
            <a:ext cx="3891041" cy="378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1400" i="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Lato" panose="020F0502020204030203" pitchFamily="34" charset="0"/>
              </a:rPr>
              <a:t>UDP</a:t>
            </a:r>
            <a:r>
              <a:rPr lang="zh-CN" altLang="en-US" sz="1400" i="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Lato" panose="020F0502020204030203" pitchFamily="34" charset="0"/>
              </a:rPr>
              <a:t>用户数据报</a:t>
            </a:r>
            <a:endParaRPr lang="id-ID" sz="1400" dirty="0">
              <a:latin typeface="微软雅黑 Light" panose="020B0502040204020203" pitchFamily="34" charset="-122"/>
              <a:ea typeface="微软雅黑 Light" panose="020B0502040204020203" pitchFamily="34" charset="-122"/>
              <a:cs typeface="Lato" panose="020F0502020204030203" pitchFamily="34" charset="0"/>
            </a:endParaRPr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4BD1EFDB-5671-4D5C-A7A1-8855BA72EFE7}"/>
              </a:ext>
            </a:extLst>
          </p:cNvPr>
          <p:cNvSpPr/>
          <p:nvPr/>
        </p:nvSpPr>
        <p:spPr>
          <a:xfrm>
            <a:off x="7451818" y="4858842"/>
            <a:ext cx="3891041" cy="378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i="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Lato" panose="020F0502020204030203" pitchFamily="34" charset="0"/>
              </a:rPr>
              <a:t>TCP</a:t>
            </a:r>
            <a:r>
              <a:rPr lang="zh-CN" altLang="en-US" sz="1400" i="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Lato" panose="020F0502020204030203" pitchFamily="34" charset="0"/>
              </a:rPr>
              <a:t>报文段</a:t>
            </a:r>
            <a:endParaRPr lang="id-ID" sz="1400" dirty="0">
              <a:latin typeface="微软雅黑 Light" panose="020B0502040204020203" pitchFamily="34" charset="-122"/>
              <a:ea typeface="微软雅黑 Light" panose="020B0502040204020203" pitchFamily="34" charset="-122"/>
              <a:cs typeface="Lato" panose="020F0502020204030203" pitchFamily="34" charset="0"/>
            </a:endParaRP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F77CA673-1860-4E8C-9A54-59016B3D2B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知识点</a:t>
            </a:r>
          </a:p>
        </p:txBody>
      </p:sp>
      <p:sp>
        <p:nvSpPr>
          <p:cNvPr id="25" name="文本占位符 24">
            <a:extLst>
              <a:ext uri="{FF2B5EF4-FFF2-40B4-BE49-F238E27FC236}">
                <a16:creationId xmlns:a16="http://schemas.microsoft.com/office/drawing/2014/main" id="{7DF9BF19-A46E-4A02-A2A9-85BEDBE31AB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Point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19604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C2109DD3-367D-4A8F-B5E2-7EC3C82C07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337492"/>
              </p:ext>
            </p:extLst>
          </p:nvPr>
        </p:nvGraphicFramePr>
        <p:xfrm>
          <a:off x="2585168" y="1425594"/>
          <a:ext cx="2522748" cy="47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2748">
                  <a:extLst>
                    <a:ext uri="{9D8B030D-6E8A-4147-A177-3AD203B41FA5}">
                      <a16:colId xmlns:a16="http://schemas.microsoft.com/office/drawing/2014/main" val="1247567830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Application layer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0868369"/>
                  </a:ext>
                </a:extLst>
              </a:tr>
              <a:tr h="2520000"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Transport layer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b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0580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Network layer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805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Link layer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89260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Physical layer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246470"/>
                  </a:ext>
                </a:extLst>
              </a:tr>
            </a:tbl>
          </a:graphicData>
        </a:graphic>
      </p:graphicFrame>
      <p:sp>
        <p:nvSpPr>
          <p:cNvPr id="5" name="椭圆 4">
            <a:extLst>
              <a:ext uri="{FF2B5EF4-FFF2-40B4-BE49-F238E27FC236}">
                <a16:creationId xmlns:a16="http://schemas.microsoft.com/office/drawing/2014/main" id="{98247C54-E4A2-4DCA-BCB6-6601A6722553}"/>
              </a:ext>
            </a:extLst>
          </p:cNvPr>
          <p:cNvSpPr>
            <a:spLocks noChangeAspect="1"/>
          </p:cNvSpPr>
          <p:nvPr/>
        </p:nvSpPr>
        <p:spPr>
          <a:xfrm>
            <a:off x="4554114" y="1787982"/>
            <a:ext cx="432000" cy="432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AP1</a:t>
            </a:r>
            <a:endParaRPr lang="zh-CN" altLang="en-US" sz="1100" dirty="0">
              <a:solidFill>
                <a:sysClr val="windowText" lastClr="000000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AE830E0D-729E-42B9-A3B0-43D5949C5F50}"/>
              </a:ext>
            </a:extLst>
          </p:cNvPr>
          <p:cNvSpPr>
            <a:spLocks noChangeAspect="1"/>
          </p:cNvSpPr>
          <p:nvPr/>
        </p:nvSpPr>
        <p:spPr>
          <a:xfrm>
            <a:off x="3332191" y="1787982"/>
            <a:ext cx="432000" cy="432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AP4</a:t>
            </a:r>
            <a:endParaRPr lang="zh-CN" altLang="en-US" sz="1100" dirty="0">
              <a:solidFill>
                <a:sysClr val="windowText" lastClr="000000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9B8F1F32-7ECD-4FE1-ABF1-852EAE0EC683}"/>
              </a:ext>
            </a:extLst>
          </p:cNvPr>
          <p:cNvSpPr>
            <a:spLocks noChangeAspect="1"/>
          </p:cNvSpPr>
          <p:nvPr/>
        </p:nvSpPr>
        <p:spPr>
          <a:xfrm>
            <a:off x="2772792" y="1787982"/>
            <a:ext cx="432000" cy="432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AP3</a:t>
            </a:r>
            <a:endParaRPr lang="zh-CN" altLang="en-US" sz="1100" dirty="0">
              <a:solidFill>
                <a:sysClr val="windowText" lastClr="000000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D65B4CC-90BC-4119-BE82-C9BE8BFDCA84}"/>
              </a:ext>
            </a:extLst>
          </p:cNvPr>
          <p:cNvSpPr/>
          <p:nvPr/>
        </p:nvSpPr>
        <p:spPr>
          <a:xfrm>
            <a:off x="2736791" y="3248193"/>
            <a:ext cx="1080000" cy="43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UDP</a:t>
            </a:r>
            <a:endParaRPr lang="zh-CN" altLang="en-US" sz="1400" dirty="0">
              <a:solidFill>
                <a:schemeClr val="tx1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AE841F-C501-4A63-9E9B-50EBBB6181A5}"/>
              </a:ext>
            </a:extLst>
          </p:cNvPr>
          <p:cNvSpPr/>
          <p:nvPr/>
        </p:nvSpPr>
        <p:spPr>
          <a:xfrm>
            <a:off x="3958713" y="3248193"/>
            <a:ext cx="1080000" cy="43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TCP</a:t>
            </a:r>
            <a:endParaRPr lang="zh-CN" altLang="en-US" sz="1400" dirty="0">
              <a:solidFill>
                <a:schemeClr val="tx1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0F3D15D-8DC1-438F-BB25-23A5C1A6564F}"/>
              </a:ext>
            </a:extLst>
          </p:cNvPr>
          <p:cNvSpPr/>
          <p:nvPr/>
        </p:nvSpPr>
        <p:spPr>
          <a:xfrm>
            <a:off x="2736792" y="2504086"/>
            <a:ext cx="504000" cy="216000"/>
          </a:xfrm>
          <a:prstGeom prst="rect">
            <a:avLst/>
          </a:prstGeom>
          <a:noFill/>
          <a:ln w="6350">
            <a:solidFill>
              <a:schemeClr val="bg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chemeClr val="bg1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port</a:t>
            </a:r>
            <a:endParaRPr lang="zh-CN" altLang="en-US" sz="1100" dirty="0">
              <a:solidFill>
                <a:schemeClr val="bg1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E7A92EF-BBFF-4C67-BA71-96A0A76A2285}"/>
              </a:ext>
            </a:extLst>
          </p:cNvPr>
          <p:cNvSpPr/>
          <p:nvPr/>
        </p:nvSpPr>
        <p:spPr>
          <a:xfrm>
            <a:off x="3296191" y="2500990"/>
            <a:ext cx="504000" cy="216000"/>
          </a:xfrm>
          <a:prstGeom prst="rect">
            <a:avLst/>
          </a:prstGeom>
          <a:noFill/>
          <a:ln w="6350">
            <a:solidFill>
              <a:schemeClr val="bg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chemeClr val="bg1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port</a:t>
            </a:r>
            <a:endParaRPr lang="zh-CN" altLang="en-US" sz="1100" dirty="0">
              <a:solidFill>
                <a:schemeClr val="bg1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9A1C7E3-201F-439C-BC5C-96EF327F1041}"/>
              </a:ext>
            </a:extLst>
          </p:cNvPr>
          <p:cNvSpPr/>
          <p:nvPr/>
        </p:nvSpPr>
        <p:spPr>
          <a:xfrm>
            <a:off x="4518114" y="2493571"/>
            <a:ext cx="504000" cy="216000"/>
          </a:xfrm>
          <a:prstGeom prst="rect">
            <a:avLst/>
          </a:prstGeom>
          <a:noFill/>
          <a:ln w="6350">
            <a:solidFill>
              <a:schemeClr val="bg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chemeClr val="bg1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port</a:t>
            </a:r>
            <a:endParaRPr lang="zh-CN" altLang="en-US" sz="1100" dirty="0">
              <a:solidFill>
                <a:schemeClr val="bg1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5A13D6C5-024D-4E48-9A4D-3D2DABDAECEF}"/>
              </a:ext>
            </a:extLst>
          </p:cNvPr>
          <p:cNvSpPr>
            <a:spLocks noChangeAspect="1"/>
          </p:cNvSpPr>
          <p:nvPr/>
        </p:nvSpPr>
        <p:spPr>
          <a:xfrm>
            <a:off x="3996677" y="1787982"/>
            <a:ext cx="432000" cy="432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AP2</a:t>
            </a:r>
            <a:endParaRPr lang="zh-CN" altLang="en-US" sz="1100" dirty="0">
              <a:solidFill>
                <a:sysClr val="windowText" lastClr="000000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F61F0CC-E579-4D84-8179-FE540C5E2515}"/>
              </a:ext>
            </a:extLst>
          </p:cNvPr>
          <p:cNvSpPr/>
          <p:nvPr/>
        </p:nvSpPr>
        <p:spPr>
          <a:xfrm>
            <a:off x="3960677" y="2493571"/>
            <a:ext cx="504000" cy="216000"/>
          </a:xfrm>
          <a:prstGeom prst="rect">
            <a:avLst/>
          </a:prstGeom>
          <a:noFill/>
          <a:ln w="6350">
            <a:solidFill>
              <a:schemeClr val="bg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chemeClr val="bg1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port</a:t>
            </a:r>
            <a:endParaRPr lang="zh-CN" altLang="en-US" sz="1100" dirty="0">
              <a:solidFill>
                <a:schemeClr val="bg1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011982A6-6524-49E8-9BE1-D47C3D8A1F63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4770114" y="2219982"/>
            <a:ext cx="0" cy="2735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752FB3F-99E0-4198-AC93-60E966AFF749}"/>
              </a:ext>
            </a:extLst>
          </p:cNvPr>
          <p:cNvCxnSpPr>
            <a:cxnSpLocks/>
            <a:stCxn id="14" idx="4"/>
            <a:endCxn id="15" idx="0"/>
          </p:cNvCxnSpPr>
          <p:nvPr/>
        </p:nvCxnSpPr>
        <p:spPr>
          <a:xfrm>
            <a:off x="4212677" y="2219982"/>
            <a:ext cx="0" cy="2735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397FAEFC-5CAB-46B2-BA01-4E4FCD496616}"/>
              </a:ext>
            </a:extLst>
          </p:cNvPr>
          <p:cNvCxnSpPr>
            <a:stCxn id="6" idx="4"/>
            <a:endCxn id="12" idx="0"/>
          </p:cNvCxnSpPr>
          <p:nvPr/>
        </p:nvCxnSpPr>
        <p:spPr>
          <a:xfrm>
            <a:off x="3548191" y="2219982"/>
            <a:ext cx="0" cy="28100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147FC5A7-DA6C-40FF-952E-A7701ECA229F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2988792" y="2234688"/>
            <a:ext cx="0" cy="2693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2CB7FA4-8E7B-4A69-9006-B810948F9D79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2981325" y="2720086"/>
            <a:ext cx="7467" cy="432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CDDF7259-EDB0-4A0C-9563-370E7D692881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3540724" y="2716990"/>
            <a:ext cx="7467" cy="432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B41F333E-12E4-416D-935D-AAF56C2942CF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4212677" y="2709571"/>
            <a:ext cx="0" cy="432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E8969562-4C74-4C85-BDB0-96571D2BCE50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4770113" y="2709571"/>
            <a:ext cx="1" cy="432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1C386AD3-8A12-4330-918A-1A70BAE24427}"/>
              </a:ext>
            </a:extLst>
          </p:cNvPr>
          <p:cNvSpPr/>
          <p:nvPr/>
        </p:nvSpPr>
        <p:spPr>
          <a:xfrm>
            <a:off x="2736792" y="4230096"/>
            <a:ext cx="2285321" cy="320496"/>
          </a:xfrm>
          <a:prstGeom prst="rect">
            <a:avLst/>
          </a:prstGeom>
          <a:noFill/>
          <a:ln w="6350">
            <a:solidFill>
              <a:schemeClr val="bg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Multiplexing</a:t>
            </a:r>
            <a:endParaRPr lang="zh-CN" altLang="en-US" sz="1200" dirty="0">
              <a:solidFill>
                <a:schemeClr val="bg1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0F8B609B-212F-4E55-A89C-4201854D1FAE}"/>
              </a:ext>
            </a:extLst>
          </p:cNvPr>
          <p:cNvCxnSpPr>
            <a:cxnSpLocks/>
          </p:cNvCxnSpPr>
          <p:nvPr/>
        </p:nvCxnSpPr>
        <p:spPr>
          <a:xfrm>
            <a:off x="3296191" y="3763430"/>
            <a:ext cx="0" cy="432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25D71E23-85D0-4446-BD75-1641699953C6}"/>
              </a:ext>
            </a:extLst>
          </p:cNvPr>
          <p:cNvCxnSpPr>
            <a:cxnSpLocks/>
          </p:cNvCxnSpPr>
          <p:nvPr/>
        </p:nvCxnSpPr>
        <p:spPr>
          <a:xfrm>
            <a:off x="4518114" y="3763430"/>
            <a:ext cx="0" cy="432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71C54783-61D3-4ED5-BBEE-C9314942681A}"/>
              </a:ext>
            </a:extLst>
          </p:cNvPr>
          <p:cNvCxnSpPr/>
          <p:nvPr/>
        </p:nvCxnSpPr>
        <p:spPr>
          <a:xfrm>
            <a:off x="3867150" y="4550592"/>
            <a:ext cx="0" cy="47860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0" name="表格 4">
            <a:extLst>
              <a:ext uri="{FF2B5EF4-FFF2-40B4-BE49-F238E27FC236}">
                <a16:creationId xmlns:a16="http://schemas.microsoft.com/office/drawing/2014/main" id="{2FAC17FC-2306-419D-A913-941F0D10D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3053376"/>
              </p:ext>
            </p:extLst>
          </p:nvPr>
        </p:nvGraphicFramePr>
        <p:xfrm>
          <a:off x="8198674" y="1425594"/>
          <a:ext cx="2522748" cy="47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2748">
                  <a:extLst>
                    <a:ext uri="{9D8B030D-6E8A-4147-A177-3AD203B41FA5}">
                      <a16:colId xmlns:a16="http://schemas.microsoft.com/office/drawing/2014/main" val="1247567830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Application layer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0868369"/>
                  </a:ext>
                </a:extLst>
              </a:tr>
              <a:tr h="2520000"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Transport layer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b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0580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Network layer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805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Link layer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89260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cs typeface="Courier New" panose="02070309020205020404" pitchFamily="49" charset="0"/>
                        </a:rPr>
                        <a:t>Physical layer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246470"/>
                  </a:ext>
                </a:extLst>
              </a:tr>
            </a:tbl>
          </a:graphicData>
        </a:graphic>
      </p:graphicFrame>
      <p:sp>
        <p:nvSpPr>
          <p:cNvPr id="61" name="椭圆 60">
            <a:extLst>
              <a:ext uri="{FF2B5EF4-FFF2-40B4-BE49-F238E27FC236}">
                <a16:creationId xmlns:a16="http://schemas.microsoft.com/office/drawing/2014/main" id="{4DCEA92A-ED2C-47EA-A791-677D135B9480}"/>
              </a:ext>
            </a:extLst>
          </p:cNvPr>
          <p:cNvSpPr>
            <a:spLocks noChangeAspect="1"/>
          </p:cNvSpPr>
          <p:nvPr/>
        </p:nvSpPr>
        <p:spPr>
          <a:xfrm>
            <a:off x="10167620" y="1787982"/>
            <a:ext cx="432000" cy="432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AP1</a:t>
            </a:r>
            <a:endParaRPr lang="zh-CN" altLang="en-US" sz="1100" dirty="0">
              <a:solidFill>
                <a:sysClr val="windowText" lastClr="000000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9C08A702-41C8-4961-985E-C7C8ED6FCE01}"/>
              </a:ext>
            </a:extLst>
          </p:cNvPr>
          <p:cNvSpPr>
            <a:spLocks noChangeAspect="1"/>
          </p:cNvSpPr>
          <p:nvPr/>
        </p:nvSpPr>
        <p:spPr>
          <a:xfrm>
            <a:off x="8945697" y="1787982"/>
            <a:ext cx="432000" cy="432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AP4</a:t>
            </a:r>
            <a:endParaRPr lang="zh-CN" altLang="en-US" sz="1100" dirty="0">
              <a:solidFill>
                <a:sysClr val="windowText" lastClr="000000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D7058B1C-77F6-4C51-BC63-8F51D598096E}"/>
              </a:ext>
            </a:extLst>
          </p:cNvPr>
          <p:cNvSpPr>
            <a:spLocks noChangeAspect="1"/>
          </p:cNvSpPr>
          <p:nvPr/>
        </p:nvSpPr>
        <p:spPr>
          <a:xfrm>
            <a:off x="8386298" y="1787982"/>
            <a:ext cx="432000" cy="432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AP3</a:t>
            </a:r>
            <a:endParaRPr lang="zh-CN" altLang="en-US" sz="1100" dirty="0">
              <a:solidFill>
                <a:sysClr val="windowText" lastClr="000000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FB7BE76-21A9-491F-AEED-87EFC7E2B860}"/>
              </a:ext>
            </a:extLst>
          </p:cNvPr>
          <p:cNvSpPr/>
          <p:nvPr/>
        </p:nvSpPr>
        <p:spPr>
          <a:xfrm>
            <a:off x="8350297" y="3248193"/>
            <a:ext cx="1080000" cy="43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UDP</a:t>
            </a:r>
            <a:endParaRPr lang="zh-CN" altLang="en-US" sz="1400" dirty="0">
              <a:solidFill>
                <a:schemeClr val="tx1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8C84CAA6-9436-4D5E-BAF8-C1E643338D2C}"/>
              </a:ext>
            </a:extLst>
          </p:cNvPr>
          <p:cNvSpPr/>
          <p:nvPr/>
        </p:nvSpPr>
        <p:spPr>
          <a:xfrm>
            <a:off x="9572219" y="3248193"/>
            <a:ext cx="1080000" cy="43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TCP</a:t>
            </a:r>
            <a:endParaRPr lang="zh-CN" altLang="en-US" sz="1400" dirty="0">
              <a:solidFill>
                <a:schemeClr val="tx1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7EC3C6AB-44C9-4A88-B0BF-27A992BBB759}"/>
              </a:ext>
            </a:extLst>
          </p:cNvPr>
          <p:cNvSpPr/>
          <p:nvPr/>
        </p:nvSpPr>
        <p:spPr>
          <a:xfrm>
            <a:off x="8350298" y="2493571"/>
            <a:ext cx="504000" cy="216000"/>
          </a:xfrm>
          <a:prstGeom prst="rect">
            <a:avLst/>
          </a:prstGeom>
          <a:noFill/>
          <a:ln w="6350">
            <a:solidFill>
              <a:schemeClr val="bg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chemeClr val="bg1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port</a:t>
            </a:r>
            <a:endParaRPr lang="zh-CN" altLang="en-US" sz="1100" dirty="0">
              <a:solidFill>
                <a:schemeClr val="bg1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109577AE-A176-4A34-8E0B-D8519B5969E9}"/>
              </a:ext>
            </a:extLst>
          </p:cNvPr>
          <p:cNvSpPr/>
          <p:nvPr/>
        </p:nvSpPr>
        <p:spPr>
          <a:xfrm>
            <a:off x="8909697" y="2493571"/>
            <a:ext cx="504000" cy="216000"/>
          </a:xfrm>
          <a:prstGeom prst="rect">
            <a:avLst/>
          </a:prstGeom>
          <a:noFill/>
          <a:ln w="6350">
            <a:solidFill>
              <a:schemeClr val="bg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chemeClr val="bg1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port</a:t>
            </a:r>
            <a:endParaRPr lang="zh-CN" altLang="en-US" sz="1100" dirty="0">
              <a:solidFill>
                <a:schemeClr val="bg1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EF4C9308-E49E-45B7-8863-0ED68D6D3DCE}"/>
              </a:ext>
            </a:extLst>
          </p:cNvPr>
          <p:cNvSpPr/>
          <p:nvPr/>
        </p:nvSpPr>
        <p:spPr>
          <a:xfrm>
            <a:off x="10131620" y="2493571"/>
            <a:ext cx="504000" cy="216000"/>
          </a:xfrm>
          <a:prstGeom prst="rect">
            <a:avLst/>
          </a:prstGeom>
          <a:noFill/>
          <a:ln w="6350">
            <a:solidFill>
              <a:schemeClr val="bg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chemeClr val="bg1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port</a:t>
            </a:r>
            <a:endParaRPr lang="zh-CN" altLang="en-US" sz="1100" dirty="0">
              <a:solidFill>
                <a:schemeClr val="bg1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A2CB934E-CD68-48BE-B632-F1211DDCB543}"/>
              </a:ext>
            </a:extLst>
          </p:cNvPr>
          <p:cNvSpPr>
            <a:spLocks noChangeAspect="1"/>
          </p:cNvSpPr>
          <p:nvPr/>
        </p:nvSpPr>
        <p:spPr>
          <a:xfrm>
            <a:off x="9610183" y="1787982"/>
            <a:ext cx="432000" cy="432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AP2</a:t>
            </a:r>
            <a:endParaRPr lang="zh-CN" altLang="en-US" sz="1100" dirty="0">
              <a:solidFill>
                <a:sysClr val="windowText" lastClr="000000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EA0083D-CB17-4651-8F37-90170DCBED32}"/>
              </a:ext>
            </a:extLst>
          </p:cNvPr>
          <p:cNvSpPr/>
          <p:nvPr/>
        </p:nvSpPr>
        <p:spPr>
          <a:xfrm>
            <a:off x="9574183" y="2493571"/>
            <a:ext cx="504000" cy="216000"/>
          </a:xfrm>
          <a:prstGeom prst="rect">
            <a:avLst/>
          </a:prstGeom>
          <a:noFill/>
          <a:ln w="6350">
            <a:solidFill>
              <a:schemeClr val="bg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100" dirty="0">
                <a:solidFill>
                  <a:schemeClr val="bg1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port</a:t>
            </a:r>
            <a:endParaRPr lang="zh-CN" altLang="en-US" sz="1100" dirty="0">
              <a:solidFill>
                <a:schemeClr val="bg1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D2131B1C-55A8-4CDB-A8F8-28F74F0A794C}"/>
              </a:ext>
            </a:extLst>
          </p:cNvPr>
          <p:cNvCxnSpPr>
            <a:cxnSpLocks/>
            <a:endCxn id="68" idx="0"/>
          </p:cNvCxnSpPr>
          <p:nvPr/>
        </p:nvCxnSpPr>
        <p:spPr>
          <a:xfrm flipH="1">
            <a:off x="10383620" y="2305707"/>
            <a:ext cx="1" cy="187864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6CEAE68E-2347-41E8-9838-BFBB88BA6755}"/>
              </a:ext>
            </a:extLst>
          </p:cNvPr>
          <p:cNvCxnSpPr>
            <a:cxnSpLocks/>
            <a:stCxn id="69" idx="4"/>
            <a:endCxn id="70" idx="0"/>
          </p:cNvCxnSpPr>
          <p:nvPr/>
        </p:nvCxnSpPr>
        <p:spPr>
          <a:xfrm>
            <a:off x="9826183" y="2219982"/>
            <a:ext cx="0" cy="273589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D595BBF6-8725-4B35-9AD4-35BDA39A1A2C}"/>
              </a:ext>
            </a:extLst>
          </p:cNvPr>
          <p:cNvCxnSpPr>
            <a:stCxn id="62" idx="4"/>
            <a:endCxn id="67" idx="0"/>
          </p:cNvCxnSpPr>
          <p:nvPr/>
        </p:nvCxnSpPr>
        <p:spPr>
          <a:xfrm>
            <a:off x="9161697" y="2219982"/>
            <a:ext cx="0" cy="273589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5990D001-82C5-44AF-9A73-877AD60C7930}"/>
              </a:ext>
            </a:extLst>
          </p:cNvPr>
          <p:cNvCxnSpPr>
            <a:cxnSpLocks/>
            <a:endCxn id="66" idx="0"/>
          </p:cNvCxnSpPr>
          <p:nvPr/>
        </p:nvCxnSpPr>
        <p:spPr>
          <a:xfrm>
            <a:off x="8594831" y="2219982"/>
            <a:ext cx="7467" cy="273589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7D992935-75D2-4BE6-9B86-01F41B7F385D}"/>
              </a:ext>
            </a:extLst>
          </p:cNvPr>
          <p:cNvCxnSpPr>
            <a:cxnSpLocks/>
            <a:stCxn id="66" idx="2"/>
          </p:cNvCxnSpPr>
          <p:nvPr/>
        </p:nvCxnSpPr>
        <p:spPr>
          <a:xfrm flipH="1">
            <a:off x="8594831" y="2709571"/>
            <a:ext cx="7467" cy="43200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0D41A892-21D6-4396-89C1-D6AF48A99040}"/>
              </a:ext>
            </a:extLst>
          </p:cNvPr>
          <p:cNvCxnSpPr>
            <a:cxnSpLocks/>
            <a:stCxn id="67" idx="2"/>
          </p:cNvCxnSpPr>
          <p:nvPr/>
        </p:nvCxnSpPr>
        <p:spPr>
          <a:xfrm flipH="1">
            <a:off x="9154230" y="2709571"/>
            <a:ext cx="7467" cy="43200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F267CFE1-86E4-4307-A4C8-7A2CEEC47D8A}"/>
              </a:ext>
            </a:extLst>
          </p:cNvPr>
          <p:cNvCxnSpPr>
            <a:cxnSpLocks/>
            <a:stCxn id="70" idx="2"/>
          </p:cNvCxnSpPr>
          <p:nvPr/>
        </p:nvCxnSpPr>
        <p:spPr>
          <a:xfrm>
            <a:off x="9826183" y="2709571"/>
            <a:ext cx="0" cy="43200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B81B4BE2-0E25-4623-99E8-B913DE50F36B}"/>
              </a:ext>
            </a:extLst>
          </p:cNvPr>
          <p:cNvCxnSpPr>
            <a:cxnSpLocks/>
            <a:stCxn id="68" idx="2"/>
          </p:cNvCxnSpPr>
          <p:nvPr/>
        </p:nvCxnSpPr>
        <p:spPr>
          <a:xfrm flipH="1">
            <a:off x="10383619" y="2709571"/>
            <a:ext cx="1" cy="43200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 78">
            <a:extLst>
              <a:ext uri="{FF2B5EF4-FFF2-40B4-BE49-F238E27FC236}">
                <a16:creationId xmlns:a16="http://schemas.microsoft.com/office/drawing/2014/main" id="{F734443F-DFD4-42A7-A26D-1DFA982AB54F}"/>
              </a:ext>
            </a:extLst>
          </p:cNvPr>
          <p:cNvSpPr/>
          <p:nvPr/>
        </p:nvSpPr>
        <p:spPr>
          <a:xfrm>
            <a:off x="8350298" y="4230096"/>
            <a:ext cx="2285321" cy="320496"/>
          </a:xfrm>
          <a:prstGeom prst="rect">
            <a:avLst/>
          </a:prstGeom>
          <a:noFill/>
          <a:ln w="6350">
            <a:solidFill>
              <a:schemeClr val="bg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cs typeface="Courier New" panose="02070309020205020404" pitchFamily="49" charset="0"/>
              </a:rPr>
              <a:t>Demultiplexing</a:t>
            </a:r>
            <a:endParaRPr lang="zh-CN" altLang="en-US" sz="1200" dirty="0">
              <a:solidFill>
                <a:schemeClr val="bg1"/>
              </a:solidFill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E766A1F2-487B-4A3B-8DA4-65EBEBA10F9A}"/>
              </a:ext>
            </a:extLst>
          </p:cNvPr>
          <p:cNvCxnSpPr>
            <a:cxnSpLocks/>
          </p:cNvCxnSpPr>
          <p:nvPr/>
        </p:nvCxnSpPr>
        <p:spPr>
          <a:xfrm>
            <a:off x="8909697" y="3763430"/>
            <a:ext cx="0" cy="43200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4C18764C-DF25-4233-A178-07CFC6645ECC}"/>
              </a:ext>
            </a:extLst>
          </p:cNvPr>
          <p:cNvCxnSpPr>
            <a:cxnSpLocks/>
          </p:cNvCxnSpPr>
          <p:nvPr/>
        </p:nvCxnSpPr>
        <p:spPr>
          <a:xfrm>
            <a:off x="10131620" y="3763430"/>
            <a:ext cx="0" cy="43200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D52F2579-D6D3-4BBE-9B2C-195791FCA981}"/>
              </a:ext>
            </a:extLst>
          </p:cNvPr>
          <p:cNvCxnSpPr/>
          <p:nvPr/>
        </p:nvCxnSpPr>
        <p:spPr>
          <a:xfrm>
            <a:off x="9480656" y="4550592"/>
            <a:ext cx="0" cy="478608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C0C7BD56-8F12-4AE5-9378-3BB17547695B}"/>
              </a:ext>
            </a:extLst>
          </p:cNvPr>
          <p:cNvCxnSpPr>
            <a:cxnSpLocks/>
          </p:cNvCxnSpPr>
          <p:nvPr/>
        </p:nvCxnSpPr>
        <p:spPr>
          <a:xfrm>
            <a:off x="5393295" y="5962650"/>
            <a:ext cx="2520000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874D666A-130C-4C2F-AC5E-DE25D63AABED}"/>
              </a:ext>
            </a:extLst>
          </p:cNvPr>
          <p:cNvCxnSpPr>
            <a:cxnSpLocks/>
          </p:cNvCxnSpPr>
          <p:nvPr/>
        </p:nvCxnSpPr>
        <p:spPr>
          <a:xfrm>
            <a:off x="5393295" y="5562600"/>
            <a:ext cx="2520000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5BF10980-6326-4901-82C1-34F3901E3A74}"/>
              </a:ext>
            </a:extLst>
          </p:cNvPr>
          <p:cNvCxnSpPr>
            <a:cxnSpLocks/>
          </p:cNvCxnSpPr>
          <p:nvPr/>
        </p:nvCxnSpPr>
        <p:spPr>
          <a:xfrm>
            <a:off x="5393295" y="5200650"/>
            <a:ext cx="2520000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D9CBF806-C88C-4139-9478-978A3273F0FF}"/>
              </a:ext>
            </a:extLst>
          </p:cNvPr>
          <p:cNvCxnSpPr>
            <a:cxnSpLocks/>
          </p:cNvCxnSpPr>
          <p:nvPr/>
        </p:nvCxnSpPr>
        <p:spPr>
          <a:xfrm>
            <a:off x="5393295" y="3657600"/>
            <a:ext cx="2520000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1CE4F851-6168-4711-B05D-3FCC0C431A52}"/>
              </a:ext>
            </a:extLst>
          </p:cNvPr>
          <p:cNvCxnSpPr>
            <a:cxnSpLocks/>
          </p:cNvCxnSpPr>
          <p:nvPr/>
        </p:nvCxnSpPr>
        <p:spPr>
          <a:xfrm>
            <a:off x="5393295" y="1873707"/>
            <a:ext cx="2520000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3E3A5F04-6D47-430A-AD61-D66BBD803BA3}"/>
              </a:ext>
            </a:extLst>
          </p:cNvPr>
          <p:cNvSpPr txBox="1"/>
          <p:nvPr/>
        </p:nvSpPr>
        <p:spPr>
          <a:xfrm>
            <a:off x="5951019" y="1596708"/>
            <a:ext cx="14045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cs typeface="Courier New" panose="02070309020205020404" pitchFamily="49" charset="0"/>
              </a:rPr>
              <a:t>Logical channel</a:t>
            </a:r>
            <a:endParaRPr lang="zh-CN" altLang="en-US" sz="1200" dirty="0"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C2A0496D-35DC-46AC-A1A0-AE3853059BE1}"/>
              </a:ext>
            </a:extLst>
          </p:cNvPr>
          <p:cNvSpPr txBox="1"/>
          <p:nvPr/>
        </p:nvSpPr>
        <p:spPr>
          <a:xfrm>
            <a:off x="5951019" y="3380601"/>
            <a:ext cx="14045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cs typeface="Courier New" panose="02070309020205020404" pitchFamily="49" charset="0"/>
              </a:rPr>
              <a:t>Logical channel</a:t>
            </a:r>
            <a:endParaRPr lang="zh-CN" altLang="en-US" sz="1200" dirty="0"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E589ABBE-8998-4878-95EF-70B80637E1D2}"/>
              </a:ext>
            </a:extLst>
          </p:cNvPr>
          <p:cNvSpPr txBox="1"/>
          <p:nvPr/>
        </p:nvSpPr>
        <p:spPr>
          <a:xfrm>
            <a:off x="5951019" y="4923651"/>
            <a:ext cx="14045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cs typeface="Courier New" panose="02070309020205020404" pitchFamily="49" charset="0"/>
              </a:rPr>
              <a:t>Logical channel</a:t>
            </a:r>
            <a:endParaRPr lang="zh-CN" altLang="en-US" sz="1200" dirty="0"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8C4FFF4B-A57A-4DC9-893A-CCEC7F6F5FED}"/>
              </a:ext>
            </a:extLst>
          </p:cNvPr>
          <p:cNvSpPr txBox="1"/>
          <p:nvPr/>
        </p:nvSpPr>
        <p:spPr>
          <a:xfrm>
            <a:off x="5951019" y="5285601"/>
            <a:ext cx="14045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cs typeface="Courier New" panose="02070309020205020404" pitchFamily="49" charset="0"/>
              </a:rPr>
              <a:t>Logical channel</a:t>
            </a:r>
            <a:endParaRPr lang="zh-CN" altLang="en-US" sz="1200" dirty="0">
              <a:latin typeface="Montserrat" panose="00000500000000000000" pitchFamily="2" charset="0"/>
              <a:cs typeface="Courier New" panose="02070309020205020404" pitchFamily="49" charset="0"/>
            </a:endParaRPr>
          </a:p>
        </p:txBody>
      </p:sp>
      <p:sp>
        <p:nvSpPr>
          <p:cNvPr id="99" name="文本占位符 98">
            <a:extLst>
              <a:ext uri="{FF2B5EF4-FFF2-40B4-BE49-F238E27FC236}">
                <a16:creationId xmlns:a16="http://schemas.microsoft.com/office/drawing/2014/main" id="{221F86ED-38A7-4F5C-8A9E-775B34AA80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工作流</a:t>
            </a:r>
          </a:p>
        </p:txBody>
      </p:sp>
      <p:sp>
        <p:nvSpPr>
          <p:cNvPr id="100" name="文本占位符 99">
            <a:extLst>
              <a:ext uri="{FF2B5EF4-FFF2-40B4-BE49-F238E27FC236}">
                <a16:creationId xmlns:a16="http://schemas.microsoft.com/office/drawing/2014/main" id="{1CAE44E3-1B7F-4929-8B6E-A592E18768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Workflow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362740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AB8EDB69-9D8D-42E7-BEAB-6A42A3C549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端口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143F633-1D6C-4C0F-8646-908501B7DF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Protocol Port Number</a:t>
            </a:r>
            <a:endParaRPr lang="zh-CN" altLang="en-US" dirty="0"/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80AA19E-0042-48B4-A43A-257534499AEA}"/>
              </a:ext>
            </a:extLst>
          </p:cNvPr>
          <p:cNvGrpSpPr/>
          <p:nvPr/>
        </p:nvGrpSpPr>
        <p:grpSpPr>
          <a:xfrm>
            <a:off x="2352675" y="1910834"/>
            <a:ext cx="1860471" cy="369332"/>
            <a:chOff x="2352675" y="2025134"/>
            <a:chExt cx="1860471" cy="36933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C1556E0-875B-42E3-880B-67B1744B7F97}"/>
                </a:ext>
              </a:extLst>
            </p:cNvPr>
            <p:cNvSpPr/>
            <p:nvPr/>
          </p:nvSpPr>
          <p:spPr>
            <a:xfrm>
              <a:off x="2352675" y="2076450"/>
              <a:ext cx="752475" cy="2667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820AA8ED-D934-4CA1-B964-DF5DF7F57646}"/>
                </a:ext>
              </a:extLst>
            </p:cNvPr>
            <p:cNvSpPr txBox="1"/>
            <p:nvPr/>
          </p:nvSpPr>
          <p:spPr>
            <a:xfrm>
              <a:off x="3105150" y="20251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软件地址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59C20513-6B24-4C09-B8EB-80BAD4CAFAB6}"/>
              </a:ext>
            </a:extLst>
          </p:cNvPr>
          <p:cNvGrpSpPr/>
          <p:nvPr/>
        </p:nvGrpSpPr>
        <p:grpSpPr>
          <a:xfrm>
            <a:off x="2352675" y="2425184"/>
            <a:ext cx="2552968" cy="369332"/>
            <a:chOff x="2352675" y="2025134"/>
            <a:chExt cx="2552968" cy="369332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09C0468-CDF7-4C58-8B3C-AEDA612ED982}"/>
                </a:ext>
              </a:extLst>
            </p:cNvPr>
            <p:cNvSpPr/>
            <p:nvPr/>
          </p:nvSpPr>
          <p:spPr>
            <a:xfrm>
              <a:off x="2352675" y="2076450"/>
              <a:ext cx="752475" cy="2667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F86FE51-B180-43B9-B8E0-0DA07281042E}"/>
                </a:ext>
              </a:extLst>
            </p:cNvPr>
            <p:cNvSpPr txBox="1"/>
            <p:nvPr/>
          </p:nvSpPr>
          <p:spPr>
            <a:xfrm>
              <a:off x="3105150" y="2025134"/>
              <a:ext cx="18004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只具有本地意义</a:t>
              </a: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AAA53A2-2856-4B40-957D-E8F19C3D27E4}"/>
              </a:ext>
            </a:extLst>
          </p:cNvPr>
          <p:cNvGrpSpPr/>
          <p:nvPr/>
        </p:nvGrpSpPr>
        <p:grpSpPr>
          <a:xfrm>
            <a:off x="2352675" y="2939534"/>
            <a:ext cx="2551365" cy="369332"/>
            <a:chOff x="2352675" y="2025134"/>
            <a:chExt cx="2551365" cy="369332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44BC964-4EEB-4E49-B847-5B2A40421F3F}"/>
                </a:ext>
              </a:extLst>
            </p:cNvPr>
            <p:cNvSpPr/>
            <p:nvPr/>
          </p:nvSpPr>
          <p:spPr>
            <a:xfrm>
              <a:off x="2352675" y="2076450"/>
              <a:ext cx="752475" cy="2667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CC2F3936-6EFE-4C0F-AB3B-DDD40184D649}"/>
                </a:ext>
              </a:extLst>
            </p:cNvPr>
            <p:cNvSpPr txBox="1"/>
            <p:nvPr/>
          </p:nvSpPr>
          <p:spPr>
            <a:xfrm>
              <a:off x="3105150" y="2025134"/>
              <a:ext cx="17988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16bit</a:t>
              </a:r>
              <a:r>
                <a:rPr lang="zh-CN" altLang="en-US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，共</a:t>
              </a:r>
              <a:r>
                <a:rPr lang="en-US" altLang="zh-CN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65535</a:t>
              </a:r>
              <a:r>
                <a:rPr lang="zh-CN" altLang="en-US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个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2E6D4384-E61F-4239-B7A4-B5325E16B02D}"/>
              </a:ext>
            </a:extLst>
          </p:cNvPr>
          <p:cNvGrpSpPr/>
          <p:nvPr/>
        </p:nvGrpSpPr>
        <p:grpSpPr>
          <a:xfrm>
            <a:off x="2352675" y="3453884"/>
            <a:ext cx="3245465" cy="369332"/>
            <a:chOff x="2352675" y="3568184"/>
            <a:chExt cx="3245465" cy="369332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ADE7795E-7E3C-439D-BF82-69027CF5A910}"/>
                </a:ext>
              </a:extLst>
            </p:cNvPr>
            <p:cNvSpPr/>
            <p:nvPr/>
          </p:nvSpPr>
          <p:spPr>
            <a:xfrm>
              <a:off x="2352675" y="3619500"/>
              <a:ext cx="752475" cy="2667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43843278-231A-4BB8-86E4-922A8CF6B9AA}"/>
                </a:ext>
              </a:extLst>
            </p:cNvPr>
            <p:cNvSpPr txBox="1"/>
            <p:nvPr/>
          </p:nvSpPr>
          <p:spPr>
            <a:xfrm>
              <a:off x="3105150" y="3568184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服务器端使用的端口号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AF6F057E-39E3-4A7C-9B29-33293604F163}"/>
              </a:ext>
            </a:extLst>
          </p:cNvPr>
          <p:cNvGrpSpPr/>
          <p:nvPr/>
        </p:nvGrpSpPr>
        <p:grpSpPr>
          <a:xfrm>
            <a:off x="2352675" y="3968234"/>
            <a:ext cx="4117499" cy="369332"/>
            <a:chOff x="2352675" y="2025134"/>
            <a:chExt cx="4117499" cy="369332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FB736360-2BAA-4C61-8048-41A6981B7C4A}"/>
                </a:ext>
              </a:extLst>
            </p:cNvPr>
            <p:cNvSpPr/>
            <p:nvPr/>
          </p:nvSpPr>
          <p:spPr>
            <a:xfrm>
              <a:off x="2352675" y="2076450"/>
              <a:ext cx="752475" cy="2667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7E6EFD4A-BDB4-41DE-9AFF-F200C2210745}"/>
                </a:ext>
              </a:extLst>
            </p:cNvPr>
            <p:cNvSpPr txBox="1"/>
            <p:nvPr/>
          </p:nvSpPr>
          <p:spPr>
            <a:xfrm>
              <a:off x="3105150" y="2025134"/>
              <a:ext cx="33650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客户端使用的端口号</a:t>
              </a:r>
              <a:r>
                <a:rPr lang="en-US" altLang="zh-CN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:49152-65535</a:t>
              </a:r>
              <a:endParaRPr lang="zh-CN" altLang="en-US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endParaRPr>
            </a:p>
          </p:txBody>
        </p:sp>
      </p:grpSp>
      <p:sp>
        <p:nvSpPr>
          <p:cNvPr id="24" name="矩形 23">
            <a:extLst>
              <a:ext uri="{FF2B5EF4-FFF2-40B4-BE49-F238E27FC236}">
                <a16:creationId xmlns:a16="http://schemas.microsoft.com/office/drawing/2014/main" id="{1EE5CEFC-EAEC-4D64-B0BC-6B8E47F92EBE}"/>
              </a:ext>
            </a:extLst>
          </p:cNvPr>
          <p:cNvSpPr/>
          <p:nvPr/>
        </p:nvSpPr>
        <p:spPr>
          <a:xfrm>
            <a:off x="6419850" y="3648075"/>
            <a:ext cx="752475" cy="2667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D5895FB-15F6-4280-9F6C-4C62C28F91CE}"/>
              </a:ext>
            </a:extLst>
          </p:cNvPr>
          <p:cNvSpPr txBox="1"/>
          <p:nvPr/>
        </p:nvSpPr>
        <p:spPr>
          <a:xfrm>
            <a:off x="7172325" y="3596759"/>
            <a:ext cx="2055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登记端口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:1024-49151</a:t>
            </a:r>
            <a:endParaRPr lang="zh-CN" altLang="en-US" dirty="0">
              <a:latin typeface="Cuprum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F1C7A17-A629-4AB5-8B0B-B832C4E0970C}"/>
              </a:ext>
            </a:extLst>
          </p:cNvPr>
          <p:cNvSpPr/>
          <p:nvPr/>
        </p:nvSpPr>
        <p:spPr>
          <a:xfrm>
            <a:off x="6419850" y="3362325"/>
            <a:ext cx="752475" cy="2667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E75E2A2-C858-469B-A888-294E7B8412A6}"/>
              </a:ext>
            </a:extLst>
          </p:cNvPr>
          <p:cNvSpPr txBox="1"/>
          <p:nvPr/>
        </p:nvSpPr>
        <p:spPr>
          <a:xfrm>
            <a:off x="7172325" y="3311009"/>
            <a:ext cx="3368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熟知端口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:0-1023,</a:t>
            </a:r>
            <a:r>
              <a:rPr lang="zh-CN" altLang="en-US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全地球人都直到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4F6D9D6-37C8-4863-9DF8-D3E8E6F415B5}"/>
              </a:ext>
            </a:extLst>
          </p:cNvPr>
          <p:cNvSpPr/>
          <p:nvPr/>
        </p:nvSpPr>
        <p:spPr>
          <a:xfrm>
            <a:off x="0" y="4419600"/>
            <a:ext cx="12192000" cy="24384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1" name="表格 31">
            <a:extLst>
              <a:ext uri="{FF2B5EF4-FFF2-40B4-BE49-F238E27FC236}">
                <a16:creationId xmlns:a16="http://schemas.microsoft.com/office/drawing/2014/main" id="{B775A62E-318C-4C0D-B05B-7ACF4357C2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333381"/>
              </p:ext>
            </p:extLst>
          </p:nvPr>
        </p:nvGraphicFramePr>
        <p:xfrm>
          <a:off x="2352675" y="5267960"/>
          <a:ext cx="7444086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0681">
                  <a:extLst>
                    <a:ext uri="{9D8B030D-6E8A-4147-A177-3AD203B41FA5}">
                      <a16:colId xmlns:a16="http://schemas.microsoft.com/office/drawing/2014/main" val="2647972629"/>
                    </a:ext>
                  </a:extLst>
                </a:gridCol>
                <a:gridCol w="1240681">
                  <a:extLst>
                    <a:ext uri="{9D8B030D-6E8A-4147-A177-3AD203B41FA5}">
                      <a16:colId xmlns:a16="http://schemas.microsoft.com/office/drawing/2014/main" val="1406084142"/>
                    </a:ext>
                  </a:extLst>
                </a:gridCol>
                <a:gridCol w="1240681">
                  <a:extLst>
                    <a:ext uri="{9D8B030D-6E8A-4147-A177-3AD203B41FA5}">
                      <a16:colId xmlns:a16="http://schemas.microsoft.com/office/drawing/2014/main" val="2281904850"/>
                    </a:ext>
                  </a:extLst>
                </a:gridCol>
                <a:gridCol w="1240681">
                  <a:extLst>
                    <a:ext uri="{9D8B030D-6E8A-4147-A177-3AD203B41FA5}">
                      <a16:colId xmlns:a16="http://schemas.microsoft.com/office/drawing/2014/main" val="3279240791"/>
                    </a:ext>
                  </a:extLst>
                </a:gridCol>
                <a:gridCol w="1240681">
                  <a:extLst>
                    <a:ext uri="{9D8B030D-6E8A-4147-A177-3AD203B41FA5}">
                      <a16:colId xmlns:a16="http://schemas.microsoft.com/office/drawing/2014/main" val="1199514212"/>
                    </a:ext>
                  </a:extLst>
                </a:gridCol>
                <a:gridCol w="1240681">
                  <a:extLst>
                    <a:ext uri="{9D8B030D-6E8A-4147-A177-3AD203B41FA5}">
                      <a16:colId xmlns:a16="http://schemas.microsoft.com/office/drawing/2014/main" val="21925360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FTP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TELNET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SMTP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DNS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HTTP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HTTPS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4380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53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80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443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1924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04221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17EA92E7-D303-40B7-93F3-7FD02D178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0" y="981075"/>
            <a:ext cx="4582164" cy="3477110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4CAECB2-C215-4DE6-90EA-D5C33717835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439" b="37704"/>
          <a:stretch/>
        </p:blipFill>
        <p:spPr>
          <a:xfrm>
            <a:off x="7096125" y="3429000"/>
            <a:ext cx="4267200" cy="244792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7D7ED538-9C47-4BD0-AB34-DBA506D83D8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8438" b="37705"/>
          <a:stretch/>
        </p:blipFill>
        <p:spPr>
          <a:xfrm>
            <a:off x="7096126" y="981075"/>
            <a:ext cx="4267200" cy="244792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B7E82F3E-390E-4345-AFE4-1A8A2EEDBF3F}"/>
              </a:ext>
            </a:extLst>
          </p:cNvPr>
          <p:cNvSpPr/>
          <p:nvPr/>
        </p:nvSpPr>
        <p:spPr>
          <a:xfrm>
            <a:off x="9315450" y="1628776"/>
            <a:ext cx="1943100" cy="3238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410C049-3087-4212-A4BA-124BBA509440}"/>
              </a:ext>
            </a:extLst>
          </p:cNvPr>
          <p:cNvSpPr/>
          <p:nvPr/>
        </p:nvSpPr>
        <p:spPr>
          <a:xfrm>
            <a:off x="9315450" y="4076701"/>
            <a:ext cx="1943100" cy="3238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TextBox 5">
            <a:extLst>
              <a:ext uri="{FF2B5EF4-FFF2-40B4-BE49-F238E27FC236}">
                <a16:creationId xmlns:a16="http://schemas.microsoft.com/office/drawing/2014/main" id="{805953CF-0600-4878-BC32-CAC085F202A5}"/>
              </a:ext>
            </a:extLst>
          </p:cNvPr>
          <p:cNvSpPr txBox="1"/>
          <p:nvPr/>
        </p:nvSpPr>
        <p:spPr>
          <a:xfrm>
            <a:off x="6115694" y="5019553"/>
            <a:ext cx="589905" cy="307777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pPr algn="r"/>
            <a:r>
              <a:rPr lang="zh-CN" altLang="en-US" sz="2000" spc="3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Lato Heavy" panose="020F0502020204030203" pitchFamily="34" charset="0"/>
              </a:rPr>
              <a:t>实验</a:t>
            </a:r>
            <a:endParaRPr lang="id-ID" sz="2000" spc="3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Lato Heavy" panose="020F0502020204030203" pitchFamily="34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76DFD2E-C263-4FF7-9C44-0DDEF719AC46}"/>
              </a:ext>
            </a:extLst>
          </p:cNvPr>
          <p:cNvCxnSpPr>
            <a:cxnSpLocks/>
          </p:cNvCxnSpPr>
          <p:nvPr/>
        </p:nvCxnSpPr>
        <p:spPr>
          <a:xfrm>
            <a:off x="2771774" y="5402072"/>
            <a:ext cx="432435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5">
            <a:extLst>
              <a:ext uri="{FF2B5EF4-FFF2-40B4-BE49-F238E27FC236}">
                <a16:creationId xmlns:a16="http://schemas.microsoft.com/office/drawing/2014/main" id="{26FAD7EA-AE47-4A90-BD29-FE6E734F926D}"/>
              </a:ext>
            </a:extLst>
          </p:cNvPr>
          <p:cNvSpPr txBox="1"/>
          <p:nvPr/>
        </p:nvSpPr>
        <p:spPr>
          <a:xfrm>
            <a:off x="933451" y="5476815"/>
            <a:ext cx="6162674" cy="400110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 anchorCtr="0">
            <a:spAutoFit/>
          </a:bodyPr>
          <a:lstStyle/>
          <a:p>
            <a:pPr algn="r"/>
            <a:r>
              <a:rPr lang="en-US" altLang="zh-CN" sz="2000" spc="300" dirty="0">
                <a:solidFill>
                  <a:schemeClr val="bg1"/>
                </a:solidFill>
                <a:latin typeface="Lato Heavy" panose="020F0502020204030203" pitchFamily="34" charset="0"/>
                <a:ea typeface="Lato Heavy" panose="020F0502020204030203" pitchFamily="34" charset="0"/>
                <a:cs typeface="Lato Heavy" panose="020F0502020204030203" pitchFamily="34" charset="0"/>
              </a:rPr>
              <a:t>Operation</a:t>
            </a:r>
            <a:endParaRPr lang="id-ID" sz="2000" spc="300" dirty="0">
              <a:solidFill>
                <a:schemeClr val="bg1"/>
              </a:solidFill>
              <a:latin typeface="Lato Heavy" panose="020F0502020204030203" pitchFamily="34" charset="0"/>
              <a:ea typeface="Lato Heavy" panose="020F0502020204030203" pitchFamily="34" charset="0"/>
              <a:cs typeface="Lato Heavy" panose="020F0502020204030203" pitchFamily="34" charset="0"/>
            </a:endParaRPr>
          </a:p>
        </p:txBody>
      </p:sp>
      <p:sp>
        <p:nvSpPr>
          <p:cNvPr id="23" name="Shape 5125">
            <a:extLst>
              <a:ext uri="{FF2B5EF4-FFF2-40B4-BE49-F238E27FC236}">
                <a16:creationId xmlns:a16="http://schemas.microsoft.com/office/drawing/2014/main" id="{EDE6F104-422B-4E45-82EA-FB0F0E718996}"/>
              </a:ext>
            </a:extLst>
          </p:cNvPr>
          <p:cNvSpPr/>
          <p:nvPr/>
        </p:nvSpPr>
        <p:spPr>
          <a:xfrm>
            <a:off x="6821840" y="5057667"/>
            <a:ext cx="274285" cy="23154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89818" y="35598"/>
                </a:moveTo>
                <a:lnTo>
                  <a:pt x="89818" y="35598"/>
                </a:lnTo>
                <a:cubicBezTo>
                  <a:pt x="93923" y="35598"/>
                  <a:pt x="93923" y="35598"/>
                  <a:pt x="93923" y="35598"/>
                </a:cubicBezTo>
                <a:cubicBezTo>
                  <a:pt x="93923" y="51100"/>
                  <a:pt x="93923" y="51100"/>
                  <a:pt x="93923" y="51100"/>
                </a:cubicBezTo>
                <a:cubicBezTo>
                  <a:pt x="119758" y="25550"/>
                  <a:pt x="119758" y="25550"/>
                  <a:pt x="119758" y="25550"/>
                </a:cubicBezTo>
                <a:cubicBezTo>
                  <a:pt x="93923" y="0"/>
                  <a:pt x="93923" y="0"/>
                  <a:pt x="93923" y="0"/>
                </a:cubicBezTo>
                <a:cubicBezTo>
                  <a:pt x="93923" y="15215"/>
                  <a:pt x="93923" y="15215"/>
                  <a:pt x="93923" y="15215"/>
                </a:cubicBezTo>
                <a:cubicBezTo>
                  <a:pt x="89818" y="15215"/>
                  <a:pt x="89818" y="15215"/>
                  <a:pt x="89818" y="15215"/>
                </a:cubicBezTo>
                <a:cubicBezTo>
                  <a:pt x="68329" y="15215"/>
                  <a:pt x="55533" y="35598"/>
                  <a:pt x="44909" y="53684"/>
                </a:cubicBezTo>
                <a:cubicBezTo>
                  <a:pt x="34044" y="68899"/>
                  <a:pt x="25593" y="81531"/>
                  <a:pt x="12796" y="81531"/>
                </a:cubicBezTo>
                <a:cubicBezTo>
                  <a:pt x="0" y="81531"/>
                  <a:pt x="0" y="81531"/>
                  <a:pt x="0" y="81531"/>
                </a:cubicBezTo>
                <a:cubicBezTo>
                  <a:pt x="0" y="101913"/>
                  <a:pt x="0" y="101913"/>
                  <a:pt x="0" y="101913"/>
                </a:cubicBezTo>
                <a:cubicBezTo>
                  <a:pt x="12796" y="101913"/>
                  <a:pt x="12796" y="101913"/>
                  <a:pt x="12796" y="101913"/>
                </a:cubicBezTo>
                <a:cubicBezTo>
                  <a:pt x="34044" y="101913"/>
                  <a:pt x="46841" y="81531"/>
                  <a:pt x="57706" y="63732"/>
                </a:cubicBezTo>
                <a:cubicBezTo>
                  <a:pt x="68329" y="48516"/>
                  <a:pt x="77022" y="35598"/>
                  <a:pt x="89818" y="35598"/>
                </a:cubicBezTo>
                <a:close/>
                <a:moveTo>
                  <a:pt x="31871" y="48516"/>
                </a:moveTo>
                <a:lnTo>
                  <a:pt x="31871" y="48516"/>
                </a:lnTo>
                <a:cubicBezTo>
                  <a:pt x="31871" y="45933"/>
                  <a:pt x="34044" y="45933"/>
                  <a:pt x="34044" y="43636"/>
                </a:cubicBezTo>
                <a:cubicBezTo>
                  <a:pt x="36217" y="41052"/>
                  <a:pt x="40321" y="35598"/>
                  <a:pt x="42736" y="33301"/>
                </a:cubicBezTo>
                <a:cubicBezTo>
                  <a:pt x="34044" y="22966"/>
                  <a:pt x="25593" y="18086"/>
                  <a:pt x="12796" y="18086"/>
                </a:cubicBezTo>
                <a:cubicBezTo>
                  <a:pt x="0" y="18086"/>
                  <a:pt x="0" y="18086"/>
                  <a:pt x="0" y="18086"/>
                </a:cubicBezTo>
                <a:cubicBezTo>
                  <a:pt x="0" y="38468"/>
                  <a:pt x="0" y="38468"/>
                  <a:pt x="0" y="38468"/>
                </a:cubicBezTo>
                <a:cubicBezTo>
                  <a:pt x="12796" y="38468"/>
                  <a:pt x="12796" y="38468"/>
                  <a:pt x="12796" y="38468"/>
                </a:cubicBezTo>
                <a:cubicBezTo>
                  <a:pt x="19074" y="38468"/>
                  <a:pt x="25593" y="41052"/>
                  <a:pt x="31871" y="48516"/>
                </a:cubicBezTo>
                <a:close/>
                <a:moveTo>
                  <a:pt x="93923" y="84114"/>
                </a:moveTo>
                <a:lnTo>
                  <a:pt x="93923" y="84114"/>
                </a:lnTo>
                <a:cubicBezTo>
                  <a:pt x="89818" y="84114"/>
                  <a:pt x="89818" y="84114"/>
                  <a:pt x="89818" y="84114"/>
                </a:cubicBezTo>
                <a:cubicBezTo>
                  <a:pt x="81126" y="84114"/>
                  <a:pt x="74849" y="78947"/>
                  <a:pt x="68329" y="71483"/>
                </a:cubicBezTo>
                <a:cubicBezTo>
                  <a:pt x="68329" y="71483"/>
                  <a:pt x="68329" y="71483"/>
                  <a:pt x="68329" y="74066"/>
                </a:cubicBezTo>
                <a:cubicBezTo>
                  <a:pt x="64225" y="76363"/>
                  <a:pt x="62052" y="81531"/>
                  <a:pt x="59879" y="86698"/>
                </a:cubicBezTo>
                <a:cubicBezTo>
                  <a:pt x="66156" y="96746"/>
                  <a:pt x="77022" y="101913"/>
                  <a:pt x="89818" y="101913"/>
                </a:cubicBezTo>
                <a:cubicBezTo>
                  <a:pt x="93923" y="101913"/>
                  <a:pt x="93923" y="101913"/>
                  <a:pt x="93923" y="101913"/>
                </a:cubicBezTo>
                <a:cubicBezTo>
                  <a:pt x="93923" y="119712"/>
                  <a:pt x="93923" y="119712"/>
                  <a:pt x="93923" y="119712"/>
                </a:cubicBezTo>
                <a:cubicBezTo>
                  <a:pt x="119758" y="94162"/>
                  <a:pt x="119758" y="94162"/>
                  <a:pt x="119758" y="94162"/>
                </a:cubicBezTo>
                <a:cubicBezTo>
                  <a:pt x="93923" y="68899"/>
                  <a:pt x="93923" y="68899"/>
                  <a:pt x="93923" y="68899"/>
                </a:cubicBezTo>
                <a:lnTo>
                  <a:pt x="93923" y="8411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lIns="45700" tIns="22850" rIns="45700" bIns="22850" anchor="ctr" anchorCtr="0">
            <a:noAutofit/>
          </a:bodyPr>
          <a:lstStyle/>
          <a:p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8076738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B293CB8-4588-40D0-91AE-7600EA9D15FA}"/>
              </a:ext>
            </a:extLst>
          </p:cNvPr>
          <p:cNvSpPr/>
          <p:nvPr/>
        </p:nvSpPr>
        <p:spPr>
          <a:xfrm>
            <a:off x="-2" y="4657725"/>
            <a:ext cx="12192001" cy="2200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062FF07-5B1D-4069-B2D9-4C1FC4D42BD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28625" y="5202237"/>
            <a:ext cx="3543300" cy="646113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用户数据报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4AF862-2F71-407C-86CB-D6AFF66B6A2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28625" y="5857875"/>
            <a:ext cx="3543300" cy="32067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US" altLang="zh-CN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 Datagram Protocol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EE18A26-8E84-4F62-9B6F-350B7F4435C6}"/>
              </a:ext>
            </a:extLst>
          </p:cNvPr>
          <p:cNvSpPr/>
          <p:nvPr/>
        </p:nvSpPr>
        <p:spPr>
          <a:xfrm>
            <a:off x="-1" y="888283"/>
            <a:ext cx="432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8E346F3-F188-42B3-A576-652B5325C983}"/>
              </a:ext>
            </a:extLst>
          </p:cNvPr>
          <p:cNvSpPr txBox="1"/>
          <p:nvPr/>
        </p:nvSpPr>
        <p:spPr>
          <a:xfrm>
            <a:off x="463221" y="77561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无连接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950B469-8F4D-4C8B-BAF5-3FB61596D5E0}"/>
              </a:ext>
            </a:extLst>
          </p:cNvPr>
          <p:cNvSpPr/>
          <p:nvPr/>
        </p:nvSpPr>
        <p:spPr>
          <a:xfrm>
            <a:off x="-1" y="1318828"/>
            <a:ext cx="432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AD810B-6262-4C6A-9E14-61BE133BB5C5}"/>
              </a:ext>
            </a:extLst>
          </p:cNvPr>
          <p:cNvSpPr txBox="1"/>
          <p:nvPr/>
        </p:nvSpPr>
        <p:spPr>
          <a:xfrm>
            <a:off x="463221" y="120616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尽最大努力交付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8028B13-F622-46DE-8888-76830A7CFFD0}"/>
              </a:ext>
            </a:extLst>
          </p:cNvPr>
          <p:cNvSpPr/>
          <p:nvPr/>
        </p:nvSpPr>
        <p:spPr>
          <a:xfrm>
            <a:off x="-1" y="1749373"/>
            <a:ext cx="432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5B33EE-8C40-483D-A0C7-732D050B39E9}"/>
              </a:ext>
            </a:extLst>
          </p:cNvPr>
          <p:cNvSpPr txBox="1"/>
          <p:nvPr/>
        </p:nvSpPr>
        <p:spPr>
          <a:xfrm>
            <a:off x="463221" y="163670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面向报文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0BF5CE3-32ED-4382-BEAC-E7DC01BC423D}"/>
              </a:ext>
            </a:extLst>
          </p:cNvPr>
          <p:cNvSpPr/>
          <p:nvPr/>
        </p:nvSpPr>
        <p:spPr>
          <a:xfrm>
            <a:off x="-1" y="2179918"/>
            <a:ext cx="432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CD15562-8AF3-4E56-A6A0-3024532FED83}"/>
              </a:ext>
            </a:extLst>
          </p:cNvPr>
          <p:cNvSpPr txBox="1"/>
          <p:nvPr/>
        </p:nvSpPr>
        <p:spPr>
          <a:xfrm>
            <a:off x="463221" y="20672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不确认</a:t>
            </a:r>
            <a:endParaRPr lang="en-US" altLang="zh-CN" dirty="0">
              <a:latin typeface="Cuprum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070FC94-7F02-4520-A0C6-B686D0F4080E}"/>
              </a:ext>
            </a:extLst>
          </p:cNvPr>
          <p:cNvSpPr/>
          <p:nvPr/>
        </p:nvSpPr>
        <p:spPr>
          <a:xfrm>
            <a:off x="-1" y="2610463"/>
            <a:ext cx="432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E500AAAF-6268-40AB-B7E5-B7E9312CF16B}"/>
              </a:ext>
            </a:extLst>
          </p:cNvPr>
          <p:cNvSpPr txBox="1"/>
          <p:nvPr/>
        </p:nvSpPr>
        <p:spPr>
          <a:xfrm>
            <a:off x="463221" y="2497797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没有拥塞控制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CE2BC5B-CFAE-4A9C-B03A-AB7EE028A871}"/>
              </a:ext>
            </a:extLst>
          </p:cNvPr>
          <p:cNvSpPr/>
          <p:nvPr/>
        </p:nvSpPr>
        <p:spPr>
          <a:xfrm>
            <a:off x="-1" y="3041008"/>
            <a:ext cx="432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E5584DD-68E4-44B9-A79F-B3305C44A890}"/>
              </a:ext>
            </a:extLst>
          </p:cNvPr>
          <p:cNvSpPr txBox="1"/>
          <p:nvPr/>
        </p:nvSpPr>
        <p:spPr>
          <a:xfrm>
            <a:off x="463221" y="2928342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实时通信、点播、多播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FE44932-273E-4A4D-976A-68CC68EF2B5F}"/>
              </a:ext>
            </a:extLst>
          </p:cNvPr>
          <p:cNvSpPr/>
          <p:nvPr/>
        </p:nvSpPr>
        <p:spPr>
          <a:xfrm>
            <a:off x="0" y="3471553"/>
            <a:ext cx="432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D5DD089-1830-490A-B129-76CBDEB3AB4F}"/>
              </a:ext>
            </a:extLst>
          </p:cNvPr>
          <p:cNvSpPr txBox="1"/>
          <p:nvPr/>
        </p:nvSpPr>
        <p:spPr>
          <a:xfrm>
            <a:off x="463222" y="3358887"/>
            <a:ext cx="2307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首部开销小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-8</a:t>
            </a:r>
            <a:r>
              <a:rPr lang="zh-CN" altLang="en-US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个字节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A694A09-BEBA-4815-811F-D0A9235D19FA}"/>
              </a:ext>
            </a:extLst>
          </p:cNvPr>
          <p:cNvSpPr/>
          <p:nvPr/>
        </p:nvSpPr>
        <p:spPr>
          <a:xfrm>
            <a:off x="0" y="4332642"/>
            <a:ext cx="432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0" name="文本框 29">
            <a:hlinkClick r:id="rId2"/>
            <a:extLst>
              <a:ext uri="{FF2B5EF4-FFF2-40B4-BE49-F238E27FC236}">
                <a16:creationId xmlns:a16="http://schemas.microsoft.com/office/drawing/2014/main" id="{E01A77E3-F0B9-42CE-B77B-349DDBC546E4}"/>
              </a:ext>
            </a:extLst>
          </p:cNvPr>
          <p:cNvSpPr txBox="1"/>
          <p:nvPr/>
        </p:nvSpPr>
        <p:spPr>
          <a:xfrm>
            <a:off x="463222" y="4219976"/>
            <a:ext cx="870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RFC 768</a:t>
            </a:r>
            <a:endParaRPr lang="zh-CN" altLang="en-US" dirty="0">
              <a:latin typeface="Cuprum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9AF38CF-C0E3-45DC-81D6-FE60E1A5519F}"/>
              </a:ext>
            </a:extLst>
          </p:cNvPr>
          <p:cNvSpPr/>
          <p:nvPr/>
        </p:nvSpPr>
        <p:spPr>
          <a:xfrm>
            <a:off x="-2" y="3902098"/>
            <a:ext cx="432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6809D1E-95CB-4812-BB30-C95847A5CA81}"/>
              </a:ext>
            </a:extLst>
          </p:cNvPr>
          <p:cNvSpPr txBox="1"/>
          <p:nvPr/>
        </p:nvSpPr>
        <p:spPr>
          <a:xfrm>
            <a:off x="463220" y="3789432"/>
            <a:ext cx="1968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应用：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DNS</a:t>
            </a:r>
            <a:r>
              <a:rPr lang="zh-CN" altLang="en-US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、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SNMP</a:t>
            </a:r>
            <a:endParaRPr lang="zh-CN" altLang="en-US" dirty="0">
              <a:latin typeface="Cuprum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42744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B293CB8-4588-40D0-91AE-7600EA9D15FA}"/>
              </a:ext>
            </a:extLst>
          </p:cNvPr>
          <p:cNvSpPr/>
          <p:nvPr/>
        </p:nvSpPr>
        <p:spPr>
          <a:xfrm>
            <a:off x="-2" y="4657725"/>
            <a:ext cx="12192001" cy="2200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062FF07-5B1D-4069-B2D9-4C1FC4D42BD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28625" y="5202237"/>
            <a:ext cx="3543300" cy="646113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用户数据报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4AF862-2F71-407C-86CB-D6AFF66B6A2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28625" y="5857875"/>
            <a:ext cx="3543300" cy="32067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US" altLang="zh-CN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 Datagram Protocol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D75093AD-D370-4931-A2B8-8084EA70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75" y="1009650"/>
            <a:ext cx="3505200" cy="2419350"/>
          </a:xfrm>
          <a:prstGeom prst="rect">
            <a:avLst/>
          </a:prstGeom>
        </p:spPr>
      </p:pic>
      <p:sp>
        <p:nvSpPr>
          <p:cNvPr id="41" name="文本框 40">
            <a:extLst>
              <a:ext uri="{FF2B5EF4-FFF2-40B4-BE49-F238E27FC236}">
                <a16:creationId xmlns:a16="http://schemas.microsoft.com/office/drawing/2014/main" id="{F60E5FEB-E179-4C14-B541-A337AE62B0A1}"/>
              </a:ext>
            </a:extLst>
          </p:cNvPr>
          <p:cNvSpPr txBox="1"/>
          <p:nvPr/>
        </p:nvSpPr>
        <p:spPr>
          <a:xfrm>
            <a:off x="4213412" y="409485"/>
            <a:ext cx="7530913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buClr>
                <a:srgbClr val="C00000"/>
              </a:buClr>
            </a:pPr>
            <a:r>
              <a:rPr lang="en-US" altLang="zh-CN" dirty="0">
                <a:solidFill>
                  <a:srgbClr val="FF0000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Source Port 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</a:rPr>
              <a:t>is an </a:t>
            </a:r>
            <a:r>
              <a:rPr lang="en-US" altLang="zh-CN" u="sng" dirty="0">
                <a:latin typeface="Cuprum" panose="00000500000000000000" pitchFamily="2" charset="0"/>
                <a:ea typeface="微软雅黑 Light" panose="020B0502040204020203" pitchFamily="34" charset="-122"/>
              </a:rPr>
              <a:t>optional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</a:rPr>
              <a:t> field, when meaningful, it indicates the port of the sending  process,  and </a:t>
            </a:r>
            <a:r>
              <a:rPr lang="en-US" altLang="zh-CN" u="sng" dirty="0">
                <a:latin typeface="Cuprum" panose="00000500000000000000" pitchFamily="2" charset="0"/>
                <a:ea typeface="微软雅黑 Light" panose="020B0502040204020203" pitchFamily="34" charset="-122"/>
              </a:rPr>
              <a:t>may be assumed  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</a:rPr>
              <a:t>to be the port  to which a reply should  be addressed  in the absence of any other information.  If </a:t>
            </a:r>
            <a:r>
              <a:rPr lang="en-US" altLang="zh-CN" u="sng" dirty="0">
                <a:latin typeface="Cuprum" panose="00000500000000000000" pitchFamily="2" charset="0"/>
                <a:ea typeface="微软雅黑 Light" panose="020B0502040204020203" pitchFamily="34" charset="-122"/>
              </a:rPr>
              <a:t>not used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</a:rPr>
              <a:t>, a value of </a:t>
            </a:r>
            <a:r>
              <a:rPr lang="en-US" altLang="zh-CN" u="sng" dirty="0">
                <a:latin typeface="Cuprum" panose="00000500000000000000" pitchFamily="2" charset="0"/>
                <a:ea typeface="微软雅黑 Light" panose="020B0502040204020203" pitchFamily="34" charset="-122"/>
              </a:rPr>
              <a:t>zero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</a:rPr>
              <a:t> is inserted.</a:t>
            </a:r>
            <a:endParaRPr lang="zh-CN" altLang="en-US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FE40FEE-1882-4189-BF53-15C9D39ABA98}"/>
              </a:ext>
            </a:extLst>
          </p:cNvPr>
          <p:cNvSpPr txBox="1"/>
          <p:nvPr/>
        </p:nvSpPr>
        <p:spPr>
          <a:xfrm>
            <a:off x="4213410" y="1771050"/>
            <a:ext cx="7530913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buClr>
                <a:srgbClr val="C00000"/>
              </a:buClr>
            </a:pPr>
            <a:r>
              <a:rPr lang="en-US" altLang="zh-CN" dirty="0">
                <a:solidFill>
                  <a:srgbClr val="FF0000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Destination  Port 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</a:rPr>
              <a:t>has a meaning  within  the  context  of  a  </a:t>
            </a:r>
            <a:r>
              <a:rPr lang="en-US" altLang="zh-CN" u="sng" dirty="0">
                <a:latin typeface="Cuprum" panose="00000500000000000000" pitchFamily="2" charset="0"/>
                <a:ea typeface="微软雅黑 Light" panose="020B0502040204020203" pitchFamily="34" charset="-122"/>
              </a:rPr>
              <a:t>particular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</a:rPr>
              <a:t> internet destination address.</a:t>
            </a:r>
            <a:endParaRPr lang="zh-CN" altLang="en-US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FD6B92E-8FBA-4227-9EDB-B8E81DAA2DF9}"/>
              </a:ext>
            </a:extLst>
          </p:cNvPr>
          <p:cNvSpPr txBox="1"/>
          <p:nvPr/>
        </p:nvSpPr>
        <p:spPr>
          <a:xfrm>
            <a:off x="4213409" y="3386185"/>
            <a:ext cx="7530913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buClr>
                <a:srgbClr val="C00000"/>
              </a:buClr>
            </a:pPr>
            <a:r>
              <a:rPr lang="en-US" altLang="zh-CN" dirty="0">
                <a:solidFill>
                  <a:srgbClr val="FF0000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Checksum 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</a:rPr>
              <a:t>is the 16-bit one's complement of the one's complement sum of a pseudo header of information from the IP header, the UDP header, and the data,  padded  with zero octets  at the end (if  necessary)  to  make  a multiple of two octets.</a:t>
            </a:r>
            <a:endParaRPr lang="zh-CN" altLang="en-US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87C0B601-0A9D-4C23-885A-DB931CE82A14}"/>
              </a:ext>
            </a:extLst>
          </p:cNvPr>
          <p:cNvSpPr txBox="1"/>
          <p:nvPr/>
        </p:nvSpPr>
        <p:spPr>
          <a:xfrm>
            <a:off x="4213411" y="2578618"/>
            <a:ext cx="7530913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buClr>
                <a:srgbClr val="C00000"/>
              </a:buClr>
            </a:pPr>
            <a:r>
              <a:rPr lang="en-US" altLang="zh-CN" dirty="0">
                <a:solidFill>
                  <a:srgbClr val="FF0000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Length  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</a:rPr>
              <a:t>is the length  </a:t>
            </a:r>
            <a:r>
              <a:rPr lang="en-US" altLang="zh-CN" u="sng" dirty="0">
                <a:latin typeface="Cuprum" panose="00000500000000000000" pitchFamily="2" charset="0"/>
                <a:ea typeface="微软雅黑 Light" panose="020B0502040204020203" pitchFamily="34" charset="-122"/>
              </a:rPr>
              <a:t>in octets  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</a:rPr>
              <a:t>of this user datagram  including  </a:t>
            </a:r>
            <a:r>
              <a:rPr lang="en-US" altLang="zh-CN" u="sng" dirty="0">
                <a:latin typeface="Cuprum" panose="00000500000000000000" pitchFamily="2" charset="0"/>
                <a:ea typeface="微软雅黑 Light" panose="020B0502040204020203" pitchFamily="34" charset="-122"/>
              </a:rPr>
              <a:t>this header  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</a:rPr>
              <a:t>and </a:t>
            </a:r>
            <a:r>
              <a:rPr lang="en-US" altLang="zh-CN" u="sng" dirty="0">
                <a:latin typeface="Cuprum" panose="00000500000000000000" pitchFamily="2" charset="0"/>
                <a:ea typeface="微软雅黑 Light" panose="020B0502040204020203" pitchFamily="34" charset="-122"/>
              </a:rPr>
              <a:t>the data</a:t>
            </a:r>
            <a:r>
              <a:rPr lang="en-US" altLang="zh-CN" dirty="0">
                <a:latin typeface="Cuprum" panose="00000500000000000000" pitchFamily="2" charset="0"/>
                <a:ea typeface="微软雅黑 Light" panose="020B0502040204020203" pitchFamily="34" charset="-122"/>
              </a:rPr>
              <a:t>.   (This  means  the minimum value of the length is eight.)</a:t>
            </a:r>
            <a:endParaRPr lang="zh-CN" altLang="en-US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89801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B293CB8-4588-40D0-91AE-7600EA9D15FA}"/>
              </a:ext>
            </a:extLst>
          </p:cNvPr>
          <p:cNvSpPr/>
          <p:nvPr/>
        </p:nvSpPr>
        <p:spPr>
          <a:xfrm>
            <a:off x="-2" y="4657725"/>
            <a:ext cx="12192001" cy="2200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062FF07-5B1D-4069-B2D9-4C1FC4D42BD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28625" y="5202237"/>
            <a:ext cx="3543300" cy="646113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用户数据报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4AF862-2F71-407C-86CB-D6AFF66B6A2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28625" y="5857875"/>
            <a:ext cx="3543300" cy="32067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US" altLang="zh-CN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 Datagram Protocol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D75093AD-D370-4931-A2B8-8084EA70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75" y="1009650"/>
            <a:ext cx="3505200" cy="24193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04BE13D-5B50-4407-802D-AA1E47D0E9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15691" y="673304"/>
            <a:ext cx="5760000" cy="3092041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8142D385-6559-41AE-B49E-DD24F072FC27}"/>
              </a:ext>
            </a:extLst>
          </p:cNvPr>
          <p:cNvSpPr txBox="1"/>
          <p:nvPr/>
        </p:nvSpPr>
        <p:spPr>
          <a:xfrm>
            <a:off x="5215692" y="3914360"/>
            <a:ext cx="5760000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buClr>
                <a:srgbClr val="C00000"/>
              </a:buClr>
            </a:pPr>
            <a:r>
              <a:rPr lang="zh-CN" altLang="en-US" sz="1600" dirty="0">
                <a:solidFill>
                  <a:srgbClr val="FF0000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伪首部</a:t>
            </a:r>
            <a:r>
              <a:rPr lang="en-US" altLang="zh-CN" sz="1600" dirty="0">
                <a:solidFill>
                  <a:srgbClr val="FF0000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  </a:t>
            </a: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只在计算校验和时出现，不向下传送，也不向上递交</a:t>
            </a:r>
          </a:p>
        </p:txBody>
      </p:sp>
    </p:spTree>
    <p:extLst>
      <p:ext uri="{BB962C8B-B14F-4D97-AF65-F5344CB8AC3E}">
        <p14:creationId xmlns:p14="http://schemas.microsoft.com/office/powerpoint/2010/main" val="530776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B293CB8-4588-40D0-91AE-7600EA9D15FA}"/>
              </a:ext>
            </a:extLst>
          </p:cNvPr>
          <p:cNvSpPr/>
          <p:nvPr/>
        </p:nvSpPr>
        <p:spPr>
          <a:xfrm>
            <a:off x="-2" y="4657725"/>
            <a:ext cx="12192001" cy="2200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062FF07-5B1D-4069-B2D9-4C1FC4D42BD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28625" y="5202237"/>
            <a:ext cx="3543300" cy="646113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用户数据报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4AF862-2F71-407C-86CB-D6AFF66B6A2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28625" y="5857875"/>
            <a:ext cx="3543300" cy="32067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US" altLang="zh-CN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 Datagram Protocol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4B507E6-B728-4CDF-91F4-5CC9C33037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0257" y="673304"/>
            <a:ext cx="5760000" cy="3549890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759DD215-6731-4E56-8758-558F3493369F}"/>
              </a:ext>
            </a:extLst>
          </p:cNvPr>
          <p:cNvSpPr/>
          <p:nvPr/>
        </p:nvSpPr>
        <p:spPr>
          <a:xfrm>
            <a:off x="6391835" y="376518"/>
            <a:ext cx="1219200" cy="29678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发送方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85A5458-4AA6-4D54-A904-A3286857C39B}"/>
              </a:ext>
            </a:extLst>
          </p:cNvPr>
          <p:cNvCxnSpPr>
            <a:cxnSpLocks/>
          </p:cNvCxnSpPr>
          <p:nvPr/>
        </p:nvCxnSpPr>
        <p:spPr>
          <a:xfrm>
            <a:off x="6391835" y="673304"/>
            <a:ext cx="5400000" cy="0"/>
          </a:xfrm>
          <a:prstGeom prst="line">
            <a:avLst/>
          </a:prstGeom>
          <a:ln w="1270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4B13FA9D-4CD7-49A3-A9F3-DDB0C1B6BC63}"/>
              </a:ext>
            </a:extLst>
          </p:cNvPr>
          <p:cNvSpPr txBox="1"/>
          <p:nvPr/>
        </p:nvSpPr>
        <p:spPr>
          <a:xfrm>
            <a:off x="6391835" y="800813"/>
            <a:ext cx="5400000" cy="13234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180000" indent="-180000" algn="just">
              <a:buClr>
                <a:srgbClr val="C00000"/>
              </a:buClr>
              <a:buFont typeface="+mj-lt"/>
              <a:buAutoNum type="arabicPeriod"/>
            </a:pP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填上伪首部</a:t>
            </a:r>
            <a:endParaRPr lang="en-US" altLang="zh-CN" sz="1600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  <a:p>
            <a:pPr marL="180000" indent="-180000" algn="just">
              <a:buClr>
                <a:srgbClr val="C00000"/>
              </a:buClr>
              <a:buFont typeface="+mj-lt"/>
              <a:buAutoNum type="arabicPeriod"/>
            </a:pP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全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0</a:t>
            </a: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填充校验和字段；全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0</a:t>
            </a: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填充数据部分</a:t>
            </a:r>
            <a:endParaRPr lang="en-US" altLang="zh-CN" sz="1600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  <a:p>
            <a:pPr marL="180000" indent="-180000" algn="just">
              <a:buClr>
                <a:srgbClr val="C00000"/>
              </a:buClr>
              <a:buFont typeface="+mj-lt"/>
              <a:buAutoNum type="arabicPeriod"/>
            </a:pP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伪首部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+</a:t>
            </a: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首部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+</a:t>
            </a: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数据三部分采用二进制反码求和</a:t>
            </a:r>
            <a:endParaRPr lang="en-US" altLang="zh-CN" sz="1600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  <a:p>
            <a:pPr marL="180000" indent="-180000" algn="just">
              <a:buClr>
                <a:srgbClr val="C00000"/>
              </a:buClr>
              <a:buFont typeface="+mj-lt"/>
              <a:buAutoNum type="arabicPeriod"/>
            </a:pP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求和结果填入校验和字段并发送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UDP</a:t>
            </a: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报文</a:t>
            </a:r>
            <a:endParaRPr lang="en-US" altLang="zh-CN" sz="1600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  <a:p>
            <a:pPr algn="just">
              <a:buClr>
                <a:srgbClr val="C00000"/>
              </a:buClr>
            </a:pP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注意：最高进位必须加进去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03B168E-6551-4685-BC0F-F1815511792B}"/>
              </a:ext>
            </a:extLst>
          </p:cNvPr>
          <p:cNvSpPr/>
          <p:nvPr/>
        </p:nvSpPr>
        <p:spPr>
          <a:xfrm>
            <a:off x="6391835" y="2261789"/>
            <a:ext cx="1219200" cy="29678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接收方</a:t>
            </a: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DCCCAB1-CE24-4B32-9201-7D4838683542}"/>
              </a:ext>
            </a:extLst>
          </p:cNvPr>
          <p:cNvCxnSpPr>
            <a:cxnSpLocks/>
          </p:cNvCxnSpPr>
          <p:nvPr/>
        </p:nvCxnSpPr>
        <p:spPr>
          <a:xfrm>
            <a:off x="6391835" y="2558575"/>
            <a:ext cx="5400000" cy="0"/>
          </a:xfrm>
          <a:prstGeom prst="line">
            <a:avLst/>
          </a:prstGeom>
          <a:ln w="1270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5CFA1BF7-C2AC-4AE4-90FA-A6E7AF296A90}"/>
              </a:ext>
            </a:extLst>
          </p:cNvPr>
          <p:cNvSpPr txBox="1"/>
          <p:nvPr/>
        </p:nvSpPr>
        <p:spPr>
          <a:xfrm>
            <a:off x="6391835" y="2686084"/>
            <a:ext cx="5400000" cy="13234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180000" indent="-180000" algn="just">
              <a:buClr>
                <a:srgbClr val="C00000"/>
              </a:buClr>
              <a:buFont typeface="+mj-lt"/>
              <a:buAutoNum type="arabicPeriod"/>
            </a:pP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填上伪首部</a:t>
            </a:r>
            <a:endParaRPr lang="en-US" altLang="zh-CN" sz="1600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  <a:p>
            <a:pPr marL="180000" indent="-180000" algn="just">
              <a:buClr>
                <a:srgbClr val="C00000"/>
              </a:buClr>
              <a:buFont typeface="+mj-lt"/>
              <a:buAutoNum type="arabicPeriod"/>
            </a:pP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伪首部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+</a:t>
            </a: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首部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+</a:t>
            </a: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数据三部分采用二进制反码求和</a:t>
            </a:r>
            <a:endParaRPr lang="en-US" altLang="zh-CN" sz="1600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  <a:p>
            <a:pPr marL="180000" indent="-180000" algn="just">
              <a:buClr>
                <a:srgbClr val="C00000"/>
              </a:buClr>
              <a:buFont typeface="+mj-lt"/>
              <a:buAutoNum type="arabicPeriod"/>
            </a:pP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结果全为</a:t>
            </a:r>
            <a:r>
              <a:rPr lang="en-US" altLang="zh-CN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1</a:t>
            </a: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则无差错；否则丢弃</a:t>
            </a:r>
            <a:endParaRPr lang="en-US" altLang="zh-CN" sz="1600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  <a:p>
            <a:pPr marL="180000" indent="-180000" algn="just">
              <a:buClr>
                <a:srgbClr val="C00000"/>
              </a:buClr>
              <a:buFont typeface="+mj-lt"/>
              <a:buAutoNum type="arabicPeriod"/>
            </a:pPr>
            <a:endParaRPr lang="en-US" altLang="zh-CN" sz="1600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  <a:p>
            <a:pPr marL="180000" indent="-180000" algn="just">
              <a:buClr>
                <a:srgbClr val="C00000"/>
              </a:buClr>
              <a:buFont typeface="+mj-lt"/>
              <a:buAutoNum type="arabicPeriod"/>
            </a:pPr>
            <a:endParaRPr lang="zh-CN" altLang="en-US" sz="1600" dirty="0"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319001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B293CB8-4588-40D0-91AE-7600EA9D15FA}"/>
              </a:ext>
            </a:extLst>
          </p:cNvPr>
          <p:cNvSpPr/>
          <p:nvPr/>
        </p:nvSpPr>
        <p:spPr>
          <a:xfrm>
            <a:off x="-2" y="4657725"/>
            <a:ext cx="12192001" cy="2200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062FF07-5B1D-4069-B2D9-4C1FC4D42BD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28625" y="5202237"/>
            <a:ext cx="3543300" cy="646113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传输控制协议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4AF862-2F71-407C-86CB-D6AFF66B6A2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28625" y="5857875"/>
            <a:ext cx="3543300" cy="32067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US" altLang="zh-CN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Transport Control Protocol</a:t>
            </a:r>
            <a:endParaRPr lang="zh-CN" alt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B76E315F-60A8-48FD-B14D-B10296553606}"/>
              </a:ext>
            </a:extLst>
          </p:cNvPr>
          <p:cNvGrpSpPr/>
          <p:nvPr/>
        </p:nvGrpSpPr>
        <p:grpSpPr>
          <a:xfrm>
            <a:off x="-1" y="514350"/>
            <a:ext cx="1860471" cy="369332"/>
            <a:chOff x="2352675" y="2025134"/>
            <a:chExt cx="1860471" cy="36933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EEE18A26-8E84-4F62-9B6F-350B7F4435C6}"/>
                </a:ext>
              </a:extLst>
            </p:cNvPr>
            <p:cNvSpPr/>
            <p:nvPr/>
          </p:nvSpPr>
          <p:spPr>
            <a:xfrm>
              <a:off x="2352675" y="2076450"/>
              <a:ext cx="752475" cy="2667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88E346F3-F188-42B3-A576-652B5325C983}"/>
                </a:ext>
              </a:extLst>
            </p:cNvPr>
            <p:cNvSpPr txBox="1"/>
            <p:nvPr/>
          </p:nvSpPr>
          <p:spPr>
            <a:xfrm>
              <a:off x="3105150" y="20251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面向连接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63FCFABA-D986-4CDC-B871-8A17EF8E02C0}"/>
              </a:ext>
            </a:extLst>
          </p:cNvPr>
          <p:cNvGrpSpPr/>
          <p:nvPr/>
        </p:nvGrpSpPr>
        <p:grpSpPr>
          <a:xfrm>
            <a:off x="-1" y="1006401"/>
            <a:ext cx="5784622" cy="369332"/>
            <a:chOff x="2352675" y="2025134"/>
            <a:chExt cx="5784622" cy="369332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950B469-8F4D-4C8B-BAF5-3FB61596D5E0}"/>
                </a:ext>
              </a:extLst>
            </p:cNvPr>
            <p:cNvSpPr/>
            <p:nvPr/>
          </p:nvSpPr>
          <p:spPr>
            <a:xfrm>
              <a:off x="2352675" y="2076450"/>
              <a:ext cx="752475" cy="2667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8AD810B-6262-4C6A-9E14-61BE133BB5C5}"/>
                </a:ext>
              </a:extLst>
            </p:cNvPr>
            <p:cNvSpPr txBox="1"/>
            <p:nvPr/>
          </p:nvSpPr>
          <p:spPr>
            <a:xfrm>
              <a:off x="3105150" y="2025134"/>
              <a:ext cx="50321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可靠交付：无差错、不丢失、不重复、按序达到</a:t>
              </a:r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76A92790-1C00-4D52-9EAE-EC11C31766C6}"/>
              </a:ext>
            </a:extLst>
          </p:cNvPr>
          <p:cNvGrpSpPr/>
          <p:nvPr/>
        </p:nvGrpSpPr>
        <p:grpSpPr>
          <a:xfrm>
            <a:off x="-1" y="1498452"/>
            <a:ext cx="12247930" cy="369332"/>
            <a:chOff x="2352675" y="2025134"/>
            <a:chExt cx="12247930" cy="369332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08028B13-F622-46DE-8888-76830A7CFFD0}"/>
                </a:ext>
              </a:extLst>
            </p:cNvPr>
            <p:cNvSpPr/>
            <p:nvPr/>
          </p:nvSpPr>
          <p:spPr>
            <a:xfrm>
              <a:off x="2352675" y="2076450"/>
              <a:ext cx="752475" cy="2667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C85B33EE-8C40-483D-A0C7-732D050B39E9}"/>
                </a:ext>
              </a:extLst>
            </p:cNvPr>
            <p:cNvSpPr txBox="1"/>
            <p:nvPr/>
          </p:nvSpPr>
          <p:spPr>
            <a:xfrm>
              <a:off x="3105150" y="2025134"/>
              <a:ext cx="11495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面向字节流：流入到进程或从进程流出的字节序列，即：把应用层交付下来的数据看成一连串的无结构的字节流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80064793-57E8-423C-B65C-3AEEBC30E30E}"/>
              </a:ext>
            </a:extLst>
          </p:cNvPr>
          <p:cNvGrpSpPr/>
          <p:nvPr/>
        </p:nvGrpSpPr>
        <p:grpSpPr>
          <a:xfrm>
            <a:off x="-1" y="1990503"/>
            <a:ext cx="1860471" cy="369332"/>
            <a:chOff x="2352675" y="3568184"/>
            <a:chExt cx="1860471" cy="369332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B0BF5CE3-32ED-4382-BEAC-E7DC01BC423D}"/>
                </a:ext>
              </a:extLst>
            </p:cNvPr>
            <p:cNvSpPr/>
            <p:nvPr/>
          </p:nvSpPr>
          <p:spPr>
            <a:xfrm>
              <a:off x="2352675" y="3619500"/>
              <a:ext cx="752475" cy="2667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CD15562-8AF3-4E56-A6A0-3024532FED83}"/>
                </a:ext>
              </a:extLst>
            </p:cNvPr>
            <p:cNvSpPr txBox="1"/>
            <p:nvPr/>
          </p:nvSpPr>
          <p:spPr>
            <a:xfrm>
              <a:off x="3105150" y="356818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需要确认</a:t>
              </a:r>
              <a:endParaRPr lang="en-US" altLang="zh-CN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9E91799E-4FCE-4B7B-8EB8-945CCC66522B}"/>
              </a:ext>
            </a:extLst>
          </p:cNvPr>
          <p:cNvGrpSpPr/>
          <p:nvPr/>
        </p:nvGrpSpPr>
        <p:grpSpPr>
          <a:xfrm>
            <a:off x="-1" y="2482554"/>
            <a:ext cx="3476298" cy="369332"/>
            <a:chOff x="2352675" y="2025134"/>
            <a:chExt cx="3476298" cy="369332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9070FC94-7F02-4520-A0C6-B686D0F4080E}"/>
                </a:ext>
              </a:extLst>
            </p:cNvPr>
            <p:cNvSpPr/>
            <p:nvPr/>
          </p:nvSpPr>
          <p:spPr>
            <a:xfrm>
              <a:off x="2352675" y="2076450"/>
              <a:ext cx="752475" cy="2667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E500AAAF-6268-40AB-B7E5-B7E9312CF16B}"/>
                </a:ext>
              </a:extLst>
            </p:cNvPr>
            <p:cNvSpPr txBox="1"/>
            <p:nvPr/>
          </p:nvSpPr>
          <p:spPr>
            <a:xfrm>
              <a:off x="3105150" y="2025134"/>
              <a:ext cx="27238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有流量控制、有拥塞控制</a:t>
              </a: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A0F4D057-8B0E-42DC-95AE-A3EA63F7927F}"/>
              </a:ext>
            </a:extLst>
          </p:cNvPr>
          <p:cNvGrpSpPr/>
          <p:nvPr/>
        </p:nvGrpSpPr>
        <p:grpSpPr>
          <a:xfrm>
            <a:off x="-1" y="2974605"/>
            <a:ext cx="2783800" cy="369332"/>
            <a:chOff x="2352675" y="2025134"/>
            <a:chExt cx="2783800" cy="369332"/>
          </a:xfrm>
        </p:grpSpPr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BCE2BC5B-CFAE-4A9C-B03A-AB7EE028A871}"/>
                </a:ext>
              </a:extLst>
            </p:cNvPr>
            <p:cNvSpPr/>
            <p:nvPr/>
          </p:nvSpPr>
          <p:spPr>
            <a:xfrm>
              <a:off x="2352675" y="2076450"/>
              <a:ext cx="752475" cy="2667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4E5584DD-68E4-44B9-A79F-B3305C44A890}"/>
                </a:ext>
              </a:extLst>
            </p:cNvPr>
            <p:cNvSpPr txBox="1"/>
            <p:nvPr/>
          </p:nvSpPr>
          <p:spPr>
            <a:xfrm>
              <a:off x="3105150" y="2025134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点对点双全工通信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DFC74C84-DFD6-4BE4-9F38-C3E92FD28BF3}"/>
              </a:ext>
            </a:extLst>
          </p:cNvPr>
          <p:cNvGrpSpPr/>
          <p:nvPr/>
        </p:nvGrpSpPr>
        <p:grpSpPr>
          <a:xfrm>
            <a:off x="0" y="3466656"/>
            <a:ext cx="2091303" cy="369332"/>
            <a:chOff x="2352675" y="2025134"/>
            <a:chExt cx="2091303" cy="369332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EFE44932-273E-4A4D-976A-68CC68EF2B5F}"/>
                </a:ext>
              </a:extLst>
            </p:cNvPr>
            <p:cNvSpPr/>
            <p:nvPr/>
          </p:nvSpPr>
          <p:spPr>
            <a:xfrm>
              <a:off x="2352675" y="2076450"/>
              <a:ext cx="752475" cy="2667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AD5DD089-1830-490A-B129-76CBDEB3AB4F}"/>
                </a:ext>
              </a:extLst>
            </p:cNvPr>
            <p:cNvSpPr txBox="1"/>
            <p:nvPr/>
          </p:nvSpPr>
          <p:spPr>
            <a:xfrm>
              <a:off x="3105150" y="2025134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首部开销大</a:t>
              </a: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8BE5D751-374D-445B-BCAF-2BB9E2311DDF}"/>
              </a:ext>
            </a:extLst>
          </p:cNvPr>
          <p:cNvGrpSpPr/>
          <p:nvPr/>
        </p:nvGrpSpPr>
        <p:grpSpPr>
          <a:xfrm>
            <a:off x="0" y="3958709"/>
            <a:ext cx="1608800" cy="369332"/>
            <a:chOff x="2352675" y="2025134"/>
            <a:chExt cx="1608800" cy="369332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DA694A09-BEBA-4815-811F-D0A9235D19FA}"/>
                </a:ext>
              </a:extLst>
            </p:cNvPr>
            <p:cNvSpPr/>
            <p:nvPr/>
          </p:nvSpPr>
          <p:spPr>
            <a:xfrm>
              <a:off x="2352675" y="2076450"/>
              <a:ext cx="752475" cy="2667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uprum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E01A77E3-F0B9-42CE-B77B-349DDBC546E4}"/>
                </a:ext>
              </a:extLst>
            </p:cNvPr>
            <p:cNvSpPr txBox="1"/>
            <p:nvPr/>
          </p:nvSpPr>
          <p:spPr>
            <a:xfrm>
              <a:off x="3105150" y="2025134"/>
              <a:ext cx="856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Cuprum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RFC 793</a:t>
              </a:r>
              <a:endParaRPr lang="zh-CN" altLang="en-US" dirty="0"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endParaRPr>
            </a:p>
          </p:txBody>
        </p:sp>
      </p:grpSp>
      <p:graphicFrame>
        <p:nvGraphicFramePr>
          <p:cNvPr id="31" name="表格 31">
            <a:extLst>
              <a:ext uri="{FF2B5EF4-FFF2-40B4-BE49-F238E27FC236}">
                <a16:creationId xmlns:a16="http://schemas.microsoft.com/office/drawing/2014/main" id="{B6D6ED76-04F1-4E98-9E75-2368DD04AA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854299"/>
              </p:ext>
            </p:extLst>
          </p:nvPr>
        </p:nvGraphicFramePr>
        <p:xfrm>
          <a:off x="7225781" y="5267960"/>
          <a:ext cx="208597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5979">
                  <a:extLst>
                    <a:ext uri="{9D8B030D-6E8A-4147-A177-3AD203B41FA5}">
                      <a16:colId xmlns:a16="http://schemas.microsoft.com/office/drawing/2014/main" val="2647972629"/>
                    </a:ext>
                  </a:extLst>
                </a:gridCol>
              </a:tblGrid>
              <a:tr h="7416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SOCKET = IP:PORT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4380749"/>
                  </a:ext>
                </a:extLst>
              </a:tr>
            </a:tbl>
          </a:graphicData>
        </a:graphic>
      </p:graphicFrame>
      <p:graphicFrame>
        <p:nvGraphicFramePr>
          <p:cNvPr id="33" name="表格 31">
            <a:extLst>
              <a:ext uri="{FF2B5EF4-FFF2-40B4-BE49-F238E27FC236}">
                <a16:creationId xmlns:a16="http://schemas.microsoft.com/office/drawing/2014/main" id="{4ECA6E56-7C2E-487D-8B87-380B590CD4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2486579"/>
              </p:ext>
            </p:extLst>
          </p:nvPr>
        </p:nvGraphicFramePr>
        <p:xfrm>
          <a:off x="9813705" y="5267960"/>
          <a:ext cx="208597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5979">
                  <a:extLst>
                    <a:ext uri="{9D8B030D-6E8A-4147-A177-3AD203B41FA5}">
                      <a16:colId xmlns:a16="http://schemas.microsoft.com/office/drawing/2014/main" val="2647972629"/>
                    </a:ext>
                  </a:extLst>
                </a:gridCol>
              </a:tblGrid>
              <a:tr h="7416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SOCKET = IP:PORT</a:t>
                      </a:r>
                      <a:endParaRPr lang="zh-CN" altLang="en-US" sz="14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4380749"/>
                  </a:ext>
                </a:extLst>
              </a:tr>
            </a:tbl>
          </a:graphicData>
        </a:graphic>
      </p:graphicFrame>
      <p:sp>
        <p:nvSpPr>
          <p:cNvPr id="20" name="箭头: 右 19">
            <a:extLst>
              <a:ext uri="{FF2B5EF4-FFF2-40B4-BE49-F238E27FC236}">
                <a16:creationId xmlns:a16="http://schemas.microsoft.com/office/drawing/2014/main" id="{93D2DB91-CFFE-4C3E-A630-A74D82D15CEF}"/>
              </a:ext>
            </a:extLst>
          </p:cNvPr>
          <p:cNvSpPr/>
          <p:nvPr/>
        </p:nvSpPr>
        <p:spPr>
          <a:xfrm>
            <a:off x="9342400" y="5550417"/>
            <a:ext cx="440664" cy="176767"/>
          </a:xfrm>
          <a:prstGeom prst="right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41C471F0-DE05-4791-B0A2-19027D66943C}"/>
              </a:ext>
            </a:extLst>
          </p:cNvPr>
          <p:cNvCxnSpPr>
            <a:cxnSpLocks/>
            <a:stCxn id="7" idx="3"/>
            <a:endCxn id="20" idx="0"/>
          </p:cNvCxnSpPr>
          <p:nvPr/>
        </p:nvCxnSpPr>
        <p:spPr>
          <a:xfrm>
            <a:off x="1860470" y="699016"/>
            <a:ext cx="7834211" cy="4851401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DA463B1B-A4DB-4EA3-AE7C-82ADB0DEE3E6}"/>
              </a:ext>
            </a:extLst>
          </p:cNvPr>
          <p:cNvSpPr txBox="1"/>
          <p:nvPr/>
        </p:nvSpPr>
        <p:spPr>
          <a:xfrm>
            <a:off x="7632345" y="381000"/>
            <a:ext cx="532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C/S</a:t>
            </a:r>
            <a:endParaRPr lang="zh-CN" altLang="en-US" dirty="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6ADFA17-E9D5-45A0-AFFF-97F7631391C9}"/>
              </a:ext>
            </a:extLst>
          </p:cNvPr>
          <p:cNvSpPr/>
          <p:nvPr/>
        </p:nvSpPr>
        <p:spPr>
          <a:xfrm>
            <a:off x="2730047" y="2807755"/>
            <a:ext cx="1219200" cy="36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发送缓存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50761FD8-93F1-4912-91F9-32682D66E31E}"/>
              </a:ext>
            </a:extLst>
          </p:cNvPr>
          <p:cNvSpPr/>
          <p:nvPr/>
        </p:nvSpPr>
        <p:spPr>
          <a:xfrm>
            <a:off x="2730047" y="3195590"/>
            <a:ext cx="1219200" cy="36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接收缓存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43C1F72-8FE5-4E19-B3F0-50167AF79929}"/>
              </a:ext>
            </a:extLst>
          </p:cNvPr>
          <p:cNvSpPr txBox="1"/>
          <p:nvPr/>
        </p:nvSpPr>
        <p:spPr>
          <a:xfrm>
            <a:off x="3949247" y="2807755"/>
            <a:ext cx="5045666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buClr>
                <a:srgbClr val="C00000"/>
              </a:buClr>
            </a:pP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待发送的数据；已发送但还未收到确认的数据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529D0A3-6DA6-447A-9F19-B26DF1E347A3}"/>
              </a:ext>
            </a:extLst>
          </p:cNvPr>
          <p:cNvSpPr txBox="1"/>
          <p:nvPr/>
        </p:nvSpPr>
        <p:spPr>
          <a:xfrm>
            <a:off x="3949246" y="3195590"/>
            <a:ext cx="5045667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buClr>
                <a:srgbClr val="C00000"/>
              </a:buClr>
            </a:pPr>
            <a:r>
              <a:rPr lang="zh-CN" altLang="en-US" sz="1600" dirty="0">
                <a:latin typeface="Cuprum" panose="00000500000000000000" pitchFamily="2" charset="0"/>
                <a:ea typeface="微软雅黑 Light" panose="020B0502040204020203" pitchFamily="34" charset="-122"/>
              </a:rPr>
              <a:t>按序到达还没有被接收的数据；未按序到达的数据</a:t>
            </a:r>
          </a:p>
        </p:txBody>
      </p:sp>
    </p:spTree>
    <p:extLst>
      <p:ext uri="{BB962C8B-B14F-4D97-AF65-F5344CB8AC3E}">
        <p14:creationId xmlns:p14="http://schemas.microsoft.com/office/powerpoint/2010/main" val="6241488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6AA4098-7113-4E53-9274-7C5E5D9B108B}"/>
              </a:ext>
            </a:extLst>
          </p:cNvPr>
          <p:cNvSpPr/>
          <p:nvPr/>
        </p:nvSpPr>
        <p:spPr>
          <a:xfrm>
            <a:off x="-1" y="3428998"/>
            <a:ext cx="4244198" cy="135865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>
            <a:extLst>
              <a:ext uri="{FF2B5EF4-FFF2-40B4-BE49-F238E27FC236}">
                <a16:creationId xmlns:a16="http://schemas.microsoft.com/office/drawing/2014/main" id="{574DB6FF-F11A-40E4-80DC-FFE6AE094481}"/>
              </a:ext>
            </a:extLst>
          </p:cNvPr>
          <p:cNvSpPr txBox="1">
            <a:spLocks/>
          </p:cNvSpPr>
          <p:nvPr/>
        </p:nvSpPr>
        <p:spPr>
          <a:xfrm>
            <a:off x="428625" y="3770255"/>
            <a:ext cx="3543300" cy="646113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zh-CN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TCP</a:t>
            </a:r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报文格式</a:t>
            </a:r>
          </a:p>
        </p:txBody>
      </p:sp>
      <p:sp>
        <p:nvSpPr>
          <p:cNvPr id="4" name="文本占位符 2">
            <a:extLst>
              <a:ext uri="{FF2B5EF4-FFF2-40B4-BE49-F238E27FC236}">
                <a16:creationId xmlns:a16="http://schemas.microsoft.com/office/drawing/2014/main" id="{86555F41-11E0-4152-9BC4-0BFD7CFA219B}"/>
              </a:ext>
            </a:extLst>
          </p:cNvPr>
          <p:cNvSpPr txBox="1">
            <a:spLocks/>
          </p:cNvSpPr>
          <p:nvPr/>
        </p:nvSpPr>
        <p:spPr>
          <a:xfrm>
            <a:off x="428625" y="4425893"/>
            <a:ext cx="3543300" cy="320675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zh-CN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Format</a:t>
            </a:r>
            <a:endParaRPr lang="zh-CN" alt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B4E8DA1-8F02-418B-A854-40D7A4E36C19}"/>
              </a:ext>
            </a:extLst>
          </p:cNvPr>
          <p:cNvSpPr/>
          <p:nvPr/>
        </p:nvSpPr>
        <p:spPr>
          <a:xfrm>
            <a:off x="4244197" y="780690"/>
            <a:ext cx="2648309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首部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4D2D732-7690-4192-BB52-871E11C58B11}"/>
              </a:ext>
            </a:extLst>
          </p:cNvPr>
          <p:cNvSpPr/>
          <p:nvPr/>
        </p:nvSpPr>
        <p:spPr>
          <a:xfrm>
            <a:off x="6892506" y="780690"/>
            <a:ext cx="2648309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数据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697FA35-F157-430C-B1AB-C3942455DF65}"/>
              </a:ext>
            </a:extLst>
          </p:cNvPr>
          <p:cNvSpPr/>
          <p:nvPr/>
        </p:nvSpPr>
        <p:spPr>
          <a:xfrm>
            <a:off x="4244197" y="1617452"/>
            <a:ext cx="2648309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首部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C5A9B8E-0DF8-42A3-B6E4-9D0373395E7D}"/>
              </a:ext>
            </a:extLst>
          </p:cNvPr>
          <p:cNvSpPr/>
          <p:nvPr/>
        </p:nvSpPr>
        <p:spPr>
          <a:xfrm>
            <a:off x="6892506" y="1617452"/>
            <a:ext cx="2648309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数据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394CE12-41BC-40AA-9B89-20644493CBD2}"/>
              </a:ext>
            </a:extLst>
          </p:cNvPr>
          <p:cNvSpPr/>
          <p:nvPr/>
        </p:nvSpPr>
        <p:spPr>
          <a:xfrm>
            <a:off x="3367538" y="1617452"/>
            <a:ext cx="876659" cy="452885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IP</a:t>
            </a:r>
            <a:endParaRPr lang="zh-CN" altLang="en-US" sz="1600" dirty="0">
              <a:solidFill>
                <a:schemeClr val="bg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1" name="箭头: 下 10">
            <a:extLst>
              <a:ext uri="{FF2B5EF4-FFF2-40B4-BE49-F238E27FC236}">
                <a16:creationId xmlns:a16="http://schemas.microsoft.com/office/drawing/2014/main" id="{0648AE9B-BBF4-4260-8F74-7993707A006F}"/>
              </a:ext>
            </a:extLst>
          </p:cNvPr>
          <p:cNvSpPr/>
          <p:nvPr/>
        </p:nvSpPr>
        <p:spPr>
          <a:xfrm>
            <a:off x="6797618" y="1317513"/>
            <a:ext cx="17252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2" name="箭头: 左 11">
            <a:extLst>
              <a:ext uri="{FF2B5EF4-FFF2-40B4-BE49-F238E27FC236}">
                <a16:creationId xmlns:a16="http://schemas.microsoft.com/office/drawing/2014/main" id="{684763F3-3965-4D2F-BC7B-24A05AFAEDCC}"/>
              </a:ext>
            </a:extLst>
          </p:cNvPr>
          <p:cNvSpPr/>
          <p:nvPr/>
        </p:nvSpPr>
        <p:spPr>
          <a:xfrm>
            <a:off x="2964180" y="1767840"/>
            <a:ext cx="259080" cy="144780"/>
          </a:xfrm>
          <a:prstGeom prst="lef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59574C0-AF75-454E-81E0-06F34C31E0D3}"/>
              </a:ext>
            </a:extLst>
          </p:cNvPr>
          <p:cNvSpPr/>
          <p:nvPr/>
        </p:nvSpPr>
        <p:spPr>
          <a:xfrm>
            <a:off x="4244197" y="2976113"/>
            <a:ext cx="2648309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源端口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66C111C-88C0-46B3-896A-AC4A68368334}"/>
              </a:ext>
            </a:extLst>
          </p:cNvPr>
          <p:cNvSpPr/>
          <p:nvPr/>
        </p:nvSpPr>
        <p:spPr>
          <a:xfrm>
            <a:off x="6892506" y="2976113"/>
            <a:ext cx="2648309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目的端口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E6FCB09-E739-462D-8C9E-6B5D119404BB}"/>
              </a:ext>
            </a:extLst>
          </p:cNvPr>
          <p:cNvSpPr/>
          <p:nvPr/>
        </p:nvSpPr>
        <p:spPr>
          <a:xfrm>
            <a:off x="4244197" y="3428998"/>
            <a:ext cx="5296618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序号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7D28B77-D9D0-4D37-898F-30015C9ACC9F}"/>
              </a:ext>
            </a:extLst>
          </p:cNvPr>
          <p:cNvSpPr/>
          <p:nvPr/>
        </p:nvSpPr>
        <p:spPr>
          <a:xfrm>
            <a:off x="4244197" y="3881882"/>
            <a:ext cx="5296618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确认号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C48FF12-D67A-4512-98F6-9E6DC2D6DF77}"/>
              </a:ext>
            </a:extLst>
          </p:cNvPr>
          <p:cNvSpPr/>
          <p:nvPr/>
        </p:nvSpPr>
        <p:spPr>
          <a:xfrm>
            <a:off x="4244197" y="4326502"/>
            <a:ext cx="784427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…</a:t>
            </a:r>
            <a:endParaRPr lang="zh-CN" altLang="en-US" sz="16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B2977FA-3A6F-4976-A24C-F44A03AFA5B0}"/>
              </a:ext>
            </a:extLst>
          </p:cNvPr>
          <p:cNvSpPr/>
          <p:nvPr/>
        </p:nvSpPr>
        <p:spPr>
          <a:xfrm>
            <a:off x="5028624" y="4326502"/>
            <a:ext cx="594360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URG</a:t>
            </a:r>
            <a:endParaRPr lang="zh-CN" altLang="en-US" sz="1400" dirty="0">
              <a:solidFill>
                <a:srgbClr val="FF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E1DD247-4302-4B67-B9E9-BFE3D6D1C411}"/>
              </a:ext>
            </a:extLst>
          </p:cNvPr>
          <p:cNvSpPr/>
          <p:nvPr/>
        </p:nvSpPr>
        <p:spPr>
          <a:xfrm>
            <a:off x="5622983" y="4326502"/>
            <a:ext cx="594360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ACK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DA70D39-9125-4CFA-A191-B838516CB412}"/>
              </a:ext>
            </a:extLst>
          </p:cNvPr>
          <p:cNvSpPr/>
          <p:nvPr/>
        </p:nvSpPr>
        <p:spPr>
          <a:xfrm>
            <a:off x="6217343" y="4326502"/>
            <a:ext cx="594360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PSH</a:t>
            </a:r>
            <a:endParaRPr lang="zh-CN" altLang="en-US" sz="1400" dirty="0">
              <a:solidFill>
                <a:srgbClr val="FF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31C06E4-7A6A-4954-A8AE-66ACA79BF919}"/>
              </a:ext>
            </a:extLst>
          </p:cNvPr>
          <p:cNvSpPr/>
          <p:nvPr/>
        </p:nvSpPr>
        <p:spPr>
          <a:xfrm>
            <a:off x="6811702" y="4326502"/>
            <a:ext cx="594360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RST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FB2829C-43E3-4457-8A52-6DB522CB0180}"/>
              </a:ext>
            </a:extLst>
          </p:cNvPr>
          <p:cNvSpPr/>
          <p:nvPr/>
        </p:nvSpPr>
        <p:spPr>
          <a:xfrm>
            <a:off x="7406061" y="4326502"/>
            <a:ext cx="594360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SYN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441429A-6B7D-4A46-8936-C3442DC5F305}"/>
              </a:ext>
            </a:extLst>
          </p:cNvPr>
          <p:cNvSpPr/>
          <p:nvPr/>
        </p:nvSpPr>
        <p:spPr>
          <a:xfrm>
            <a:off x="8000420" y="4326502"/>
            <a:ext cx="594360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FIN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A6401C5-34BC-4B1F-A2A4-7894761AE69B}"/>
              </a:ext>
            </a:extLst>
          </p:cNvPr>
          <p:cNvSpPr/>
          <p:nvPr/>
        </p:nvSpPr>
        <p:spPr>
          <a:xfrm>
            <a:off x="8594779" y="4334767"/>
            <a:ext cx="946035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窗口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9700EA6-9225-4C64-8832-41188ED4409C}"/>
              </a:ext>
            </a:extLst>
          </p:cNvPr>
          <p:cNvSpPr/>
          <p:nvPr/>
        </p:nvSpPr>
        <p:spPr>
          <a:xfrm>
            <a:off x="4244197" y="4787651"/>
            <a:ext cx="5296618" cy="4528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Courier New" panose="02070309020205020404" pitchFamily="49" charset="0"/>
              </a:rPr>
              <a:t>…</a:t>
            </a:r>
            <a:endParaRPr lang="zh-CN" altLang="en-US" sz="16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391FB480-27E5-4E7C-9297-EECCEBD5CACB}"/>
              </a:ext>
            </a:extLst>
          </p:cNvPr>
          <p:cNvSpPr txBox="1"/>
          <p:nvPr/>
        </p:nvSpPr>
        <p:spPr>
          <a:xfrm>
            <a:off x="4244197" y="2682363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zh-CN" alt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83E376A-8DE7-4627-BDDE-84D678ABF3DE}"/>
              </a:ext>
            </a:extLst>
          </p:cNvPr>
          <p:cNvSpPr txBox="1"/>
          <p:nvPr/>
        </p:nvSpPr>
        <p:spPr>
          <a:xfrm>
            <a:off x="6606242" y="2699113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16bit</a:t>
            </a:r>
            <a:endParaRPr lang="zh-CN" alt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A1B391E-DFCD-43D9-B712-2DC20AF83875}"/>
              </a:ext>
            </a:extLst>
          </p:cNvPr>
          <p:cNvSpPr txBox="1"/>
          <p:nvPr/>
        </p:nvSpPr>
        <p:spPr>
          <a:xfrm>
            <a:off x="9166606" y="2707379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31bit</a:t>
            </a:r>
            <a:endParaRPr lang="zh-CN" alt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C28AC29-0050-4E68-80DF-E5A22AF5C172}"/>
              </a:ext>
            </a:extLst>
          </p:cNvPr>
          <p:cNvSpPr txBox="1"/>
          <p:nvPr/>
        </p:nvSpPr>
        <p:spPr>
          <a:xfrm>
            <a:off x="4244197" y="499572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zh-CN" alt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6A8B4DF-FED6-464C-BFEA-93603BB2528C}"/>
              </a:ext>
            </a:extLst>
          </p:cNvPr>
          <p:cNvSpPr txBox="1"/>
          <p:nvPr/>
        </p:nvSpPr>
        <p:spPr>
          <a:xfrm>
            <a:off x="6606242" y="516322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zh-CN" alt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字节</a:t>
            </a: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A4E763D-003A-4381-93DC-EBA11FA26370}"/>
              </a:ext>
            </a:extLst>
          </p:cNvPr>
          <p:cNvCxnSpPr>
            <a:stCxn id="19" idx="0"/>
          </p:cNvCxnSpPr>
          <p:nvPr/>
        </p:nvCxnSpPr>
        <p:spPr>
          <a:xfrm rot="5400000" flipH="1" flipV="1">
            <a:off x="6153038" y="3873299"/>
            <a:ext cx="220328" cy="686079"/>
          </a:xfrm>
          <a:prstGeom prst="bentConnector2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413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8F62CDA-23D1-41CC-883E-812C2459D23F}"/>
              </a:ext>
            </a:extLst>
          </p:cNvPr>
          <p:cNvSpPr txBox="1"/>
          <p:nvPr/>
        </p:nvSpPr>
        <p:spPr>
          <a:xfrm>
            <a:off x="1477827" y="646647"/>
            <a:ext cx="78614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主机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收到主机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发过来的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报文，序号为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501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，数据长度为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200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字节，则主机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给主机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的响应报文中，序号为（</a:t>
            </a:r>
            <a:r>
              <a:rPr lang="en-US" altLang="zh-CN" sz="1600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701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）。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BCFBC0A-8EEA-4F1E-8BD5-981304B2A537}"/>
              </a:ext>
            </a:extLst>
          </p:cNvPr>
          <p:cNvSpPr/>
          <p:nvPr/>
        </p:nvSpPr>
        <p:spPr>
          <a:xfrm>
            <a:off x="601169" y="646647"/>
            <a:ext cx="876659" cy="584775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QA</a:t>
            </a:r>
            <a:endParaRPr lang="zh-CN" altLang="en-US" sz="1600" dirty="0">
              <a:solidFill>
                <a:schemeClr val="bg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7439A41-2320-484A-9FBA-7A1FBF5B120B}"/>
              </a:ext>
            </a:extLst>
          </p:cNvPr>
          <p:cNvSpPr txBox="1"/>
          <p:nvPr/>
        </p:nvSpPr>
        <p:spPr>
          <a:xfrm>
            <a:off x="1477827" y="1925032"/>
            <a:ext cx="78614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已知发送窗口大小为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500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，某主机收到的确认号为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201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。如果已经发送了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300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个字节的数据，则还可以发送（</a:t>
            </a:r>
            <a:r>
              <a:rPr lang="en-US" altLang="zh-CN" sz="1600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400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）个字节的数据。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7B6D5A7-E257-4F09-B827-F5EE07CF6E17}"/>
              </a:ext>
            </a:extLst>
          </p:cNvPr>
          <p:cNvSpPr/>
          <p:nvPr/>
        </p:nvSpPr>
        <p:spPr>
          <a:xfrm>
            <a:off x="601169" y="1925032"/>
            <a:ext cx="876659" cy="584775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QA</a:t>
            </a:r>
            <a:endParaRPr lang="zh-CN" altLang="en-US" sz="1600" dirty="0">
              <a:solidFill>
                <a:schemeClr val="bg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74BE447-3EA1-4A41-823E-95449DE24B0B}"/>
              </a:ext>
            </a:extLst>
          </p:cNvPr>
          <p:cNvSpPr txBox="1"/>
          <p:nvPr/>
        </p:nvSpPr>
        <p:spPr>
          <a:xfrm>
            <a:off x="1477827" y="3203417"/>
            <a:ext cx="78614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报文发送的时机主要有哪几种情况？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A9D02C8-1A58-4916-BDA4-1032C7180853}"/>
              </a:ext>
            </a:extLst>
          </p:cNvPr>
          <p:cNvSpPr/>
          <p:nvPr/>
        </p:nvSpPr>
        <p:spPr>
          <a:xfrm>
            <a:off x="601169" y="3203417"/>
            <a:ext cx="876659" cy="584775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QA</a:t>
            </a:r>
            <a:endParaRPr lang="zh-CN" altLang="en-US" sz="1600" dirty="0">
              <a:solidFill>
                <a:schemeClr val="bg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32892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91E3787D-5E5A-40A4-8E21-C26876254C41}"/>
              </a:ext>
            </a:extLst>
          </p:cNvPr>
          <p:cNvCxnSpPr>
            <a:cxnSpLocks/>
          </p:cNvCxnSpPr>
          <p:nvPr/>
        </p:nvCxnSpPr>
        <p:spPr>
          <a:xfrm>
            <a:off x="3861764" y="2130696"/>
            <a:ext cx="0" cy="4080294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6CB5F4A8-C3EB-48D8-B642-DD4A763172D8}"/>
              </a:ext>
            </a:extLst>
          </p:cNvPr>
          <p:cNvCxnSpPr>
            <a:cxnSpLocks/>
          </p:cNvCxnSpPr>
          <p:nvPr/>
        </p:nvCxnSpPr>
        <p:spPr>
          <a:xfrm>
            <a:off x="8330237" y="2130696"/>
            <a:ext cx="0" cy="4080294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形 3" descr="监视器">
            <a:extLst>
              <a:ext uri="{FF2B5EF4-FFF2-40B4-BE49-F238E27FC236}">
                <a16:creationId xmlns:a16="http://schemas.microsoft.com/office/drawing/2014/main" id="{CD0145B2-A031-4308-B2F8-C1189DED14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73764" y="1530538"/>
            <a:ext cx="576000" cy="576000"/>
          </a:xfrm>
          <a:prstGeom prst="rect">
            <a:avLst/>
          </a:prstGeom>
        </p:spPr>
      </p:pic>
      <p:pic>
        <p:nvPicPr>
          <p:cNvPr id="5" name="图形 4" descr="监视器">
            <a:extLst>
              <a:ext uri="{FF2B5EF4-FFF2-40B4-BE49-F238E27FC236}">
                <a16:creationId xmlns:a16="http://schemas.microsoft.com/office/drawing/2014/main" id="{C57BE50F-44D2-4201-8654-9227EA07A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42237" y="1530538"/>
            <a:ext cx="576000" cy="576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EF81F9E-AAAB-4B71-85BA-E57B0569BC9B}"/>
              </a:ext>
            </a:extLst>
          </p:cNvPr>
          <p:cNvSpPr txBox="1"/>
          <p:nvPr/>
        </p:nvSpPr>
        <p:spPr>
          <a:xfrm>
            <a:off x="3707715" y="1637033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图形 6" descr="监视器">
            <a:extLst>
              <a:ext uri="{FF2B5EF4-FFF2-40B4-BE49-F238E27FC236}">
                <a16:creationId xmlns:a16="http://schemas.microsoft.com/office/drawing/2014/main" id="{83169048-41D9-4FC8-BD64-372C4FC849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42237" y="1542617"/>
            <a:ext cx="576000" cy="57600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CBE4397-3BB5-4B34-8CC6-9B285BAE4EE8}"/>
              </a:ext>
            </a:extLst>
          </p:cNvPr>
          <p:cNvSpPr txBox="1"/>
          <p:nvPr/>
        </p:nvSpPr>
        <p:spPr>
          <a:xfrm>
            <a:off x="8176188" y="1638635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19FB572-B571-4542-819D-C0C4FD7A8F55}"/>
              </a:ext>
            </a:extLst>
          </p:cNvPr>
          <p:cNvSpPr/>
          <p:nvPr/>
        </p:nvSpPr>
        <p:spPr>
          <a:xfrm>
            <a:off x="3861763" y="2554649"/>
            <a:ext cx="4468472" cy="576000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连接建立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3288FF8-5AD3-46A0-B7D6-F6BAF253BB65}"/>
              </a:ext>
            </a:extLst>
          </p:cNvPr>
          <p:cNvSpPr/>
          <p:nvPr/>
        </p:nvSpPr>
        <p:spPr>
          <a:xfrm>
            <a:off x="3861763" y="3171349"/>
            <a:ext cx="4468472" cy="15198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数据传输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68243B1-475D-4EB7-B49B-2B56E9636E86}"/>
              </a:ext>
            </a:extLst>
          </p:cNvPr>
          <p:cNvSpPr/>
          <p:nvPr/>
        </p:nvSpPr>
        <p:spPr>
          <a:xfrm>
            <a:off x="3861763" y="4731869"/>
            <a:ext cx="4468472" cy="57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连接释放</a:t>
            </a:r>
          </a:p>
        </p:txBody>
      </p:sp>
      <p:sp>
        <p:nvSpPr>
          <p:cNvPr id="9" name="文本占位符 8">
            <a:extLst>
              <a:ext uri="{FF2B5EF4-FFF2-40B4-BE49-F238E27FC236}">
                <a16:creationId xmlns:a16="http://schemas.microsoft.com/office/drawing/2014/main" id="{A7F628B1-FD69-453C-A3E3-7AB083E13F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TCP</a:t>
            </a:r>
            <a:r>
              <a:rPr lang="zh-CN" altLang="en-US" dirty="0"/>
              <a:t>连接管理</a:t>
            </a:r>
          </a:p>
        </p:txBody>
      </p:sp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A4F9087F-3577-4C2C-926F-8EED42C9240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Connection</a:t>
            </a:r>
            <a:endParaRPr lang="zh-CN" altLang="en-US" dirty="0"/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C6FBDA46-A7FF-4A19-916E-3B42B39009D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61968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4181015-C850-4699-A611-B7058E3648CC}"/>
              </a:ext>
            </a:extLst>
          </p:cNvPr>
          <p:cNvSpPr/>
          <p:nvPr/>
        </p:nvSpPr>
        <p:spPr>
          <a:xfrm>
            <a:off x="8988725" y="224291"/>
            <a:ext cx="3203274" cy="10092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>
            <a:extLst>
              <a:ext uri="{FF2B5EF4-FFF2-40B4-BE49-F238E27FC236}">
                <a16:creationId xmlns:a16="http://schemas.microsoft.com/office/drawing/2014/main" id="{EA8D315C-673B-41A7-BBBA-80F76FBD4E7C}"/>
              </a:ext>
            </a:extLst>
          </p:cNvPr>
          <p:cNvSpPr txBox="1">
            <a:spLocks/>
          </p:cNvSpPr>
          <p:nvPr/>
        </p:nvSpPr>
        <p:spPr>
          <a:xfrm>
            <a:off x="9276724" y="345574"/>
            <a:ext cx="2643004" cy="646113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三次握手</a:t>
            </a:r>
          </a:p>
        </p:txBody>
      </p:sp>
      <p:sp>
        <p:nvSpPr>
          <p:cNvPr id="5" name="文本占位符 1">
            <a:extLst>
              <a:ext uri="{FF2B5EF4-FFF2-40B4-BE49-F238E27FC236}">
                <a16:creationId xmlns:a16="http://schemas.microsoft.com/office/drawing/2014/main" id="{4CA4F1B3-430D-4CF7-B720-9FF8EA240AC6}"/>
              </a:ext>
            </a:extLst>
          </p:cNvPr>
          <p:cNvSpPr txBox="1">
            <a:spLocks/>
          </p:cNvSpPr>
          <p:nvPr/>
        </p:nvSpPr>
        <p:spPr>
          <a:xfrm>
            <a:off x="9528428" y="893855"/>
            <a:ext cx="2391300" cy="3139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zh-CN" altLang="en-US" sz="16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连接建立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B4542E5-7B96-4313-9355-60F5FB413AF9}"/>
              </a:ext>
            </a:extLst>
          </p:cNvPr>
          <p:cNvCxnSpPr>
            <a:cxnSpLocks/>
          </p:cNvCxnSpPr>
          <p:nvPr/>
        </p:nvCxnSpPr>
        <p:spPr>
          <a:xfrm>
            <a:off x="1923690" y="1112820"/>
            <a:ext cx="0" cy="50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5E1C2CF-31FC-485A-B89C-795A18AE9601}"/>
              </a:ext>
            </a:extLst>
          </p:cNvPr>
          <p:cNvCxnSpPr>
            <a:cxnSpLocks/>
          </p:cNvCxnSpPr>
          <p:nvPr/>
        </p:nvCxnSpPr>
        <p:spPr>
          <a:xfrm>
            <a:off x="6392163" y="1112820"/>
            <a:ext cx="0" cy="50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形 9" descr="监视器">
            <a:extLst>
              <a:ext uri="{FF2B5EF4-FFF2-40B4-BE49-F238E27FC236}">
                <a16:creationId xmlns:a16="http://schemas.microsoft.com/office/drawing/2014/main" id="{E90B9A70-A121-430D-8F3D-546518F7E2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35690" y="547157"/>
            <a:ext cx="576000" cy="576000"/>
          </a:xfrm>
          <a:prstGeom prst="rect">
            <a:avLst/>
          </a:prstGeom>
        </p:spPr>
      </p:pic>
      <p:pic>
        <p:nvPicPr>
          <p:cNvPr id="11" name="图形 10" descr="监视器">
            <a:extLst>
              <a:ext uri="{FF2B5EF4-FFF2-40B4-BE49-F238E27FC236}">
                <a16:creationId xmlns:a16="http://schemas.microsoft.com/office/drawing/2014/main" id="{D0DE5888-B7DF-4ACA-B708-79995DF4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04163" y="547157"/>
            <a:ext cx="576000" cy="576000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D2E7D11F-538D-49A3-A6C5-281E646B3A73}"/>
              </a:ext>
            </a:extLst>
          </p:cNvPr>
          <p:cNvSpPr txBox="1"/>
          <p:nvPr/>
        </p:nvSpPr>
        <p:spPr>
          <a:xfrm>
            <a:off x="1769641" y="653652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图形 12" descr="监视器">
            <a:extLst>
              <a:ext uri="{FF2B5EF4-FFF2-40B4-BE49-F238E27FC236}">
                <a16:creationId xmlns:a16="http://schemas.microsoft.com/office/drawing/2014/main" id="{0FB476F0-AC1D-4364-84FB-C01329A756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04163" y="559236"/>
            <a:ext cx="576000" cy="576000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A88FD238-89A2-4968-97B6-DC010DE396E0}"/>
              </a:ext>
            </a:extLst>
          </p:cNvPr>
          <p:cNvSpPr txBox="1"/>
          <p:nvPr/>
        </p:nvSpPr>
        <p:spPr>
          <a:xfrm>
            <a:off x="6238114" y="655254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115AE2CB-7190-4B48-BDC9-2D9758EC51B4}"/>
              </a:ext>
            </a:extLst>
          </p:cNvPr>
          <p:cNvCxnSpPr/>
          <p:nvPr/>
        </p:nvCxnSpPr>
        <p:spPr>
          <a:xfrm>
            <a:off x="1923690" y="1575945"/>
            <a:ext cx="4468473" cy="543465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3FB187D5-EFDD-40A9-88D6-CA2A1EE750A5}"/>
              </a:ext>
            </a:extLst>
          </p:cNvPr>
          <p:cNvCxnSpPr>
            <a:cxnSpLocks/>
          </p:cNvCxnSpPr>
          <p:nvPr/>
        </p:nvCxnSpPr>
        <p:spPr>
          <a:xfrm flipH="1">
            <a:off x="1923689" y="2337768"/>
            <a:ext cx="4468475" cy="785004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0F76EE9-3E23-43FB-B07F-D9FBD878E67D}"/>
              </a:ext>
            </a:extLst>
          </p:cNvPr>
          <p:cNvCxnSpPr>
            <a:cxnSpLocks/>
          </p:cNvCxnSpPr>
          <p:nvPr/>
        </p:nvCxnSpPr>
        <p:spPr>
          <a:xfrm>
            <a:off x="1923689" y="3379361"/>
            <a:ext cx="4468474" cy="58449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DFD476A-5924-4CFB-9B8D-165079B490B7}"/>
              </a:ext>
            </a:extLst>
          </p:cNvPr>
          <p:cNvSpPr txBox="1"/>
          <p:nvPr/>
        </p:nvSpPr>
        <p:spPr>
          <a:xfrm rot="420000">
            <a:off x="3386722" y="1500999"/>
            <a:ext cx="15424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SYN=1 seq=x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8FBD227-7388-43EA-9463-15867027129D}"/>
              </a:ext>
            </a:extLst>
          </p:cNvPr>
          <p:cNvSpPr txBox="1"/>
          <p:nvPr/>
        </p:nvSpPr>
        <p:spPr>
          <a:xfrm rot="-600000">
            <a:off x="2522703" y="2386340"/>
            <a:ext cx="32704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SYN=1 ACK=1 seq=y ack=x+1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D4FB45E-926D-4AE3-AD41-EB8F05162C5A}"/>
              </a:ext>
            </a:extLst>
          </p:cNvPr>
          <p:cNvSpPr txBox="1"/>
          <p:nvPr/>
        </p:nvSpPr>
        <p:spPr>
          <a:xfrm rot="420000">
            <a:off x="2769565" y="3315423"/>
            <a:ext cx="2776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ACK=1 seq=x+1 ack=y+1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5565D41-05E6-448B-A0B5-C5815786EE34}"/>
              </a:ext>
            </a:extLst>
          </p:cNvPr>
          <p:cNvSpPr/>
          <p:nvPr/>
        </p:nvSpPr>
        <p:spPr>
          <a:xfrm>
            <a:off x="483690" y="1112820"/>
            <a:ext cx="1440000" cy="468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CLOSED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关闭</a:t>
            </a:r>
            <a:endParaRPr lang="en-US" altLang="zh-CN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D6B85DF-0BB9-41CE-9F4A-F51AF8F5A6B0}"/>
              </a:ext>
            </a:extLst>
          </p:cNvPr>
          <p:cNvSpPr/>
          <p:nvPr/>
        </p:nvSpPr>
        <p:spPr>
          <a:xfrm>
            <a:off x="6392163" y="1112819"/>
            <a:ext cx="1440000" cy="468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CLOSED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关闭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92DFAFE-91DD-414E-9ADB-0D67CB4E3798}"/>
              </a:ext>
            </a:extLst>
          </p:cNvPr>
          <p:cNvSpPr/>
          <p:nvPr/>
        </p:nvSpPr>
        <p:spPr>
          <a:xfrm>
            <a:off x="6392163" y="1624009"/>
            <a:ext cx="1440000" cy="468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LISTEN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监听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E0140D8-6C44-43A8-80B7-96CC038B4742}"/>
              </a:ext>
            </a:extLst>
          </p:cNvPr>
          <p:cNvSpPr/>
          <p:nvPr/>
        </p:nvSpPr>
        <p:spPr>
          <a:xfrm>
            <a:off x="483690" y="1631344"/>
            <a:ext cx="1440000" cy="1440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SYN-SENT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同步发送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EDC2398-AB9B-401B-8A1C-8516882FDADF}"/>
              </a:ext>
            </a:extLst>
          </p:cNvPr>
          <p:cNvSpPr/>
          <p:nvPr/>
        </p:nvSpPr>
        <p:spPr>
          <a:xfrm>
            <a:off x="6392163" y="2337768"/>
            <a:ext cx="1440000" cy="1440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SYN-RCVD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同步收到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CCFB915-5DC9-41E4-A837-F053287C0D83}"/>
              </a:ext>
            </a:extLst>
          </p:cNvPr>
          <p:cNvSpPr/>
          <p:nvPr/>
        </p:nvSpPr>
        <p:spPr>
          <a:xfrm>
            <a:off x="483690" y="3359998"/>
            <a:ext cx="1440000" cy="1440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ESTABLISHED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建立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06E0037-FAD6-4068-9B8B-67F1AD5C6944}"/>
              </a:ext>
            </a:extLst>
          </p:cNvPr>
          <p:cNvSpPr/>
          <p:nvPr/>
        </p:nvSpPr>
        <p:spPr>
          <a:xfrm>
            <a:off x="6392162" y="3996126"/>
            <a:ext cx="1440000" cy="1440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ESTABLISHED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建立</a:t>
            </a:r>
            <a:endParaRPr lang="en-US" altLang="zh-CN" sz="14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33" name="箭头: 左右 32">
            <a:extLst>
              <a:ext uri="{FF2B5EF4-FFF2-40B4-BE49-F238E27FC236}">
                <a16:creationId xmlns:a16="http://schemas.microsoft.com/office/drawing/2014/main" id="{4E844A21-9D9C-457B-A16E-D33F09A49FFE}"/>
              </a:ext>
            </a:extLst>
          </p:cNvPr>
          <p:cNvSpPr/>
          <p:nvPr/>
        </p:nvSpPr>
        <p:spPr>
          <a:xfrm>
            <a:off x="2077740" y="5499319"/>
            <a:ext cx="4160371" cy="653501"/>
          </a:xfrm>
          <a:prstGeom prst="leftRightArrow">
            <a:avLst>
              <a:gd name="adj1" fmla="val 50000"/>
              <a:gd name="adj2" fmla="val 59067"/>
            </a:avLst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数据传输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5E9A01C-6435-410F-9851-DDA4F286CDC6}"/>
              </a:ext>
            </a:extLst>
          </p:cNvPr>
          <p:cNvSpPr txBox="1"/>
          <p:nvPr/>
        </p:nvSpPr>
        <p:spPr>
          <a:xfrm>
            <a:off x="2181515" y="449518"/>
            <a:ext cx="10791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lient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731B7BAE-975F-4957-89A8-9A766F2D5A65}"/>
              </a:ext>
            </a:extLst>
          </p:cNvPr>
          <p:cNvSpPr txBox="1"/>
          <p:nvPr/>
        </p:nvSpPr>
        <p:spPr>
          <a:xfrm>
            <a:off x="5168861" y="444385"/>
            <a:ext cx="10791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erver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40345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8BF453-BCAD-4CE3-8850-FA2219344E9A}"/>
              </a:ext>
            </a:extLst>
          </p:cNvPr>
          <p:cNvCxnSpPr>
            <a:cxnSpLocks/>
          </p:cNvCxnSpPr>
          <p:nvPr/>
        </p:nvCxnSpPr>
        <p:spPr>
          <a:xfrm>
            <a:off x="1447933" y="728936"/>
            <a:ext cx="8679600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24181015-C850-4699-A611-B7058E3648CC}"/>
              </a:ext>
            </a:extLst>
          </p:cNvPr>
          <p:cNvSpPr/>
          <p:nvPr/>
        </p:nvSpPr>
        <p:spPr>
          <a:xfrm>
            <a:off x="8988725" y="224291"/>
            <a:ext cx="3203274" cy="10092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>
            <a:extLst>
              <a:ext uri="{FF2B5EF4-FFF2-40B4-BE49-F238E27FC236}">
                <a16:creationId xmlns:a16="http://schemas.microsoft.com/office/drawing/2014/main" id="{EA8D315C-673B-41A7-BBBA-80F76FBD4E7C}"/>
              </a:ext>
            </a:extLst>
          </p:cNvPr>
          <p:cNvSpPr txBox="1">
            <a:spLocks/>
          </p:cNvSpPr>
          <p:nvPr/>
        </p:nvSpPr>
        <p:spPr>
          <a:xfrm>
            <a:off x="9276724" y="345574"/>
            <a:ext cx="2643004" cy="6463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四次挥手</a:t>
            </a:r>
          </a:p>
        </p:txBody>
      </p:sp>
      <p:sp>
        <p:nvSpPr>
          <p:cNvPr id="5" name="文本占位符 1">
            <a:extLst>
              <a:ext uri="{FF2B5EF4-FFF2-40B4-BE49-F238E27FC236}">
                <a16:creationId xmlns:a16="http://schemas.microsoft.com/office/drawing/2014/main" id="{4CA4F1B3-430D-4CF7-B720-9FF8EA240AC6}"/>
              </a:ext>
            </a:extLst>
          </p:cNvPr>
          <p:cNvSpPr txBox="1">
            <a:spLocks/>
          </p:cNvSpPr>
          <p:nvPr/>
        </p:nvSpPr>
        <p:spPr>
          <a:xfrm>
            <a:off x="9528428" y="893855"/>
            <a:ext cx="2391300" cy="3139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zh-CN" altLang="en-US" sz="16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连接释放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326B2C6-C9D7-4062-8AE7-BE27B081FEB9}"/>
              </a:ext>
            </a:extLst>
          </p:cNvPr>
          <p:cNvSpPr txBox="1"/>
          <p:nvPr/>
        </p:nvSpPr>
        <p:spPr>
          <a:xfrm>
            <a:off x="1447933" y="1742536"/>
            <a:ext cx="8680581" cy="2062103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连接释放时，双方处于连接建立状态</a:t>
            </a:r>
            <a:r>
              <a:rPr lang="en-US" altLang="zh-CN" sz="16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/</a:t>
            </a:r>
            <a:r>
              <a:rPr lang="zh-CN" altLang="en-US" sz="16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数据传输状态</a:t>
            </a:r>
            <a:endParaRPr lang="en-US" altLang="zh-CN" sz="16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任何一方都可以发起连接释放（发起请求的一方为客户端；响应请求的一方为服务器端）</a:t>
            </a:r>
            <a:endParaRPr lang="en-US" altLang="zh-CN" sz="16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客户端发起连接释放请求后，停止发送数据，进入</a:t>
            </a:r>
            <a:r>
              <a:rPr lang="zh-CN" altLang="en-US" sz="1600" u="heavy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终止等待</a:t>
            </a:r>
            <a:r>
              <a:rPr lang="en-US" altLang="zh-CN" sz="1600" u="heavy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1</a:t>
            </a:r>
            <a:r>
              <a:rPr lang="zh-CN" altLang="en-US" sz="16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；但是仍然可以接收数据</a:t>
            </a:r>
            <a:endParaRPr lang="en-US" altLang="zh-CN" sz="16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服务器端先响应请求，进入</a:t>
            </a:r>
            <a:r>
              <a:rPr lang="zh-CN" altLang="en-US" sz="1600" u="heavy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关闭等待</a:t>
            </a:r>
            <a:endParaRPr lang="en-US" altLang="zh-CN" sz="1600" u="heavy" dirty="0">
              <a:solidFill>
                <a:srgbClr val="C00000"/>
              </a:solidFill>
              <a:uFill>
                <a:solidFill>
                  <a:srgbClr val="C00000"/>
                </a:solidFill>
              </a:uFill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客户端收到确认响应后，进入</a:t>
            </a:r>
            <a:r>
              <a:rPr lang="zh-CN" altLang="en-US" sz="1600" u="heavy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终止等待</a:t>
            </a:r>
            <a:r>
              <a:rPr lang="en-US" altLang="zh-CN" sz="1600" u="heavy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2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服务器端继续发送自己的数据（如果有）；完毕后，发起一个连接释放请求，进入</a:t>
            </a:r>
            <a:r>
              <a:rPr lang="zh-CN" altLang="en-US" sz="1600" u="heavy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最后确认</a:t>
            </a:r>
          </a:p>
          <a:p>
            <a:pPr marL="285750" indent="-285750" algn="l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客户端收到释放请求后，进入</a:t>
            </a:r>
            <a:r>
              <a:rPr lang="zh-CN" altLang="en-US" sz="1600" u="heavy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时间等待</a:t>
            </a:r>
            <a:endParaRPr lang="en-US" altLang="zh-CN" sz="1600" u="heavy" dirty="0">
              <a:solidFill>
                <a:srgbClr val="C00000"/>
              </a:solidFill>
              <a:uFill>
                <a:solidFill>
                  <a:srgbClr val="C00000"/>
                </a:solidFill>
              </a:uFill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  <a:p>
            <a:pPr marL="285750" indent="-285750" algn="l">
              <a:buClr>
                <a:srgbClr val="C00000"/>
              </a:buClr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服务器端收到确认后，进入</a:t>
            </a:r>
            <a:r>
              <a:rPr lang="zh-CN" altLang="en-US" sz="1600" u="heavy" dirty="0">
                <a:solidFill>
                  <a:srgbClr val="C00000"/>
                </a:solidFill>
                <a:uFill>
                  <a:solidFill>
                    <a:srgbClr val="C00000"/>
                  </a:solidFill>
                </a:u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关闭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330EBAB-CA36-4F9A-A900-735008B88255}"/>
              </a:ext>
            </a:extLst>
          </p:cNvPr>
          <p:cNvSpPr/>
          <p:nvPr/>
        </p:nvSpPr>
        <p:spPr>
          <a:xfrm>
            <a:off x="5133975" y="505105"/>
            <a:ext cx="1924050" cy="447662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全双工通信</a:t>
            </a:r>
          </a:p>
        </p:txBody>
      </p:sp>
    </p:spTree>
    <p:extLst>
      <p:ext uri="{BB962C8B-B14F-4D97-AF65-F5344CB8AC3E}">
        <p14:creationId xmlns:p14="http://schemas.microsoft.com/office/powerpoint/2010/main" val="36645307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4181015-C850-4699-A611-B7058E3648CC}"/>
              </a:ext>
            </a:extLst>
          </p:cNvPr>
          <p:cNvSpPr/>
          <p:nvPr/>
        </p:nvSpPr>
        <p:spPr>
          <a:xfrm>
            <a:off x="8988725" y="224291"/>
            <a:ext cx="3203274" cy="10092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>
            <a:extLst>
              <a:ext uri="{FF2B5EF4-FFF2-40B4-BE49-F238E27FC236}">
                <a16:creationId xmlns:a16="http://schemas.microsoft.com/office/drawing/2014/main" id="{EA8D315C-673B-41A7-BBBA-80F76FBD4E7C}"/>
              </a:ext>
            </a:extLst>
          </p:cNvPr>
          <p:cNvSpPr txBox="1">
            <a:spLocks/>
          </p:cNvSpPr>
          <p:nvPr/>
        </p:nvSpPr>
        <p:spPr>
          <a:xfrm>
            <a:off x="9276724" y="345574"/>
            <a:ext cx="2643004" cy="6463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四次挥手</a:t>
            </a:r>
          </a:p>
        </p:txBody>
      </p:sp>
      <p:sp>
        <p:nvSpPr>
          <p:cNvPr id="5" name="文本占位符 1">
            <a:extLst>
              <a:ext uri="{FF2B5EF4-FFF2-40B4-BE49-F238E27FC236}">
                <a16:creationId xmlns:a16="http://schemas.microsoft.com/office/drawing/2014/main" id="{4CA4F1B3-430D-4CF7-B720-9FF8EA240AC6}"/>
              </a:ext>
            </a:extLst>
          </p:cNvPr>
          <p:cNvSpPr txBox="1">
            <a:spLocks/>
          </p:cNvSpPr>
          <p:nvPr/>
        </p:nvSpPr>
        <p:spPr>
          <a:xfrm>
            <a:off x="9528428" y="893855"/>
            <a:ext cx="2391300" cy="3139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zh-CN" altLang="en-US" sz="16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连接释放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B4542E5-7B96-4313-9355-60F5FB413AF9}"/>
              </a:ext>
            </a:extLst>
          </p:cNvPr>
          <p:cNvCxnSpPr>
            <a:cxnSpLocks/>
          </p:cNvCxnSpPr>
          <p:nvPr/>
        </p:nvCxnSpPr>
        <p:spPr>
          <a:xfrm>
            <a:off x="2847615" y="1112820"/>
            <a:ext cx="0" cy="50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5E1C2CF-31FC-485A-B89C-795A18AE9601}"/>
              </a:ext>
            </a:extLst>
          </p:cNvPr>
          <p:cNvCxnSpPr>
            <a:cxnSpLocks/>
          </p:cNvCxnSpPr>
          <p:nvPr/>
        </p:nvCxnSpPr>
        <p:spPr>
          <a:xfrm>
            <a:off x="7316088" y="1112820"/>
            <a:ext cx="0" cy="50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形 9" descr="监视器">
            <a:extLst>
              <a:ext uri="{FF2B5EF4-FFF2-40B4-BE49-F238E27FC236}">
                <a16:creationId xmlns:a16="http://schemas.microsoft.com/office/drawing/2014/main" id="{E90B9A70-A121-430D-8F3D-546518F7E2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9615" y="547157"/>
            <a:ext cx="576000" cy="576000"/>
          </a:xfrm>
          <a:prstGeom prst="rect">
            <a:avLst/>
          </a:prstGeom>
        </p:spPr>
      </p:pic>
      <p:pic>
        <p:nvPicPr>
          <p:cNvPr id="11" name="图形 10" descr="监视器">
            <a:extLst>
              <a:ext uri="{FF2B5EF4-FFF2-40B4-BE49-F238E27FC236}">
                <a16:creationId xmlns:a16="http://schemas.microsoft.com/office/drawing/2014/main" id="{D0DE5888-B7DF-4ACA-B708-79995DF4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28088" y="547157"/>
            <a:ext cx="576000" cy="576000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D2E7D11F-538D-49A3-A6C5-281E646B3A73}"/>
              </a:ext>
            </a:extLst>
          </p:cNvPr>
          <p:cNvSpPr txBox="1"/>
          <p:nvPr/>
        </p:nvSpPr>
        <p:spPr>
          <a:xfrm>
            <a:off x="2693566" y="653652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图形 12" descr="监视器">
            <a:extLst>
              <a:ext uri="{FF2B5EF4-FFF2-40B4-BE49-F238E27FC236}">
                <a16:creationId xmlns:a16="http://schemas.microsoft.com/office/drawing/2014/main" id="{0FB476F0-AC1D-4364-84FB-C01329A756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28088" y="559236"/>
            <a:ext cx="576000" cy="576000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A88FD238-89A2-4968-97B6-DC010DE396E0}"/>
              </a:ext>
            </a:extLst>
          </p:cNvPr>
          <p:cNvSpPr txBox="1"/>
          <p:nvPr/>
        </p:nvSpPr>
        <p:spPr>
          <a:xfrm>
            <a:off x="7162039" y="655254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115AE2CB-7190-4B48-BDC9-2D9758EC51B4}"/>
              </a:ext>
            </a:extLst>
          </p:cNvPr>
          <p:cNvCxnSpPr>
            <a:cxnSpLocks/>
          </p:cNvCxnSpPr>
          <p:nvPr/>
        </p:nvCxnSpPr>
        <p:spPr>
          <a:xfrm>
            <a:off x="2847615" y="1575945"/>
            <a:ext cx="4468473" cy="543465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3FB187D5-EFDD-40A9-88D6-CA2A1EE750A5}"/>
              </a:ext>
            </a:extLst>
          </p:cNvPr>
          <p:cNvCxnSpPr>
            <a:cxnSpLocks/>
          </p:cNvCxnSpPr>
          <p:nvPr/>
        </p:nvCxnSpPr>
        <p:spPr>
          <a:xfrm flipH="1">
            <a:off x="2847614" y="2223468"/>
            <a:ext cx="4468475" cy="785004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0F76EE9-3E23-43FB-B07F-D9FBD878E67D}"/>
              </a:ext>
            </a:extLst>
          </p:cNvPr>
          <p:cNvCxnSpPr>
            <a:cxnSpLocks/>
          </p:cNvCxnSpPr>
          <p:nvPr/>
        </p:nvCxnSpPr>
        <p:spPr>
          <a:xfrm>
            <a:off x="2847611" y="4246870"/>
            <a:ext cx="4468474" cy="584490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DFD476A-5924-4CFB-9B8D-165079B490B7}"/>
              </a:ext>
            </a:extLst>
          </p:cNvPr>
          <p:cNvSpPr txBox="1"/>
          <p:nvPr/>
        </p:nvSpPr>
        <p:spPr>
          <a:xfrm rot="420000">
            <a:off x="4310647" y="1500999"/>
            <a:ext cx="15424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FIN=1 seq=u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8FBD227-7388-43EA-9463-15867027129D}"/>
              </a:ext>
            </a:extLst>
          </p:cNvPr>
          <p:cNvSpPr txBox="1"/>
          <p:nvPr/>
        </p:nvSpPr>
        <p:spPr>
          <a:xfrm rot="-600000">
            <a:off x="3816921" y="2272040"/>
            <a:ext cx="25298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ACK=1 seq=v ack=u+1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D4FB45E-926D-4AE3-AD41-EB8F05162C5A}"/>
              </a:ext>
            </a:extLst>
          </p:cNvPr>
          <p:cNvSpPr txBox="1"/>
          <p:nvPr/>
        </p:nvSpPr>
        <p:spPr>
          <a:xfrm rot="420000">
            <a:off x="3693487" y="4182932"/>
            <a:ext cx="2776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ACK=1 seq=u+1 ack=w+1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5565D41-05E6-448B-A0B5-C5815786EE34}"/>
              </a:ext>
            </a:extLst>
          </p:cNvPr>
          <p:cNvSpPr/>
          <p:nvPr/>
        </p:nvSpPr>
        <p:spPr>
          <a:xfrm>
            <a:off x="1407615" y="1112820"/>
            <a:ext cx="1440000" cy="468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ESTABLISHED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建立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D6B85DF-0BB9-41CE-9F4A-F51AF8F5A6B0}"/>
              </a:ext>
            </a:extLst>
          </p:cNvPr>
          <p:cNvSpPr/>
          <p:nvPr/>
        </p:nvSpPr>
        <p:spPr>
          <a:xfrm>
            <a:off x="7316088" y="1112818"/>
            <a:ext cx="1440000" cy="98772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ESTABLISHED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建立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92DFAFE-91DD-414E-9ADB-0D67CB4E3798}"/>
              </a:ext>
            </a:extLst>
          </p:cNvPr>
          <p:cNvSpPr/>
          <p:nvPr/>
        </p:nvSpPr>
        <p:spPr>
          <a:xfrm>
            <a:off x="7316085" y="4947889"/>
            <a:ext cx="1440000" cy="468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CLOSED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关闭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E0140D8-6C44-43A8-80B7-96CC038B4742}"/>
              </a:ext>
            </a:extLst>
          </p:cNvPr>
          <p:cNvSpPr/>
          <p:nvPr/>
        </p:nvSpPr>
        <p:spPr>
          <a:xfrm>
            <a:off x="1407615" y="1631344"/>
            <a:ext cx="1440000" cy="137712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FIN-WAIT1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终止等待</a:t>
            </a:r>
            <a:r>
              <a:rPr lang="en-US" altLang="zh-CN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1</a:t>
            </a:r>
            <a:endParaRPr lang="zh-CN" altLang="en-US" sz="14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EDC2398-AB9B-401B-8A1C-8516882FDADF}"/>
              </a:ext>
            </a:extLst>
          </p:cNvPr>
          <p:cNvSpPr/>
          <p:nvPr/>
        </p:nvSpPr>
        <p:spPr>
          <a:xfrm>
            <a:off x="7316086" y="2221925"/>
            <a:ext cx="1440000" cy="1172347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CLOSE-WAIT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关闭等待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CCFB915-5DC9-41E4-A837-F053287C0D83}"/>
              </a:ext>
            </a:extLst>
          </p:cNvPr>
          <p:cNvSpPr/>
          <p:nvPr/>
        </p:nvSpPr>
        <p:spPr>
          <a:xfrm>
            <a:off x="1407615" y="3058996"/>
            <a:ext cx="1440000" cy="1132004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FIN-WAIT2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终止等待</a:t>
            </a:r>
            <a:r>
              <a:rPr lang="en-US" altLang="zh-CN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2</a:t>
            </a:r>
            <a:endParaRPr lang="zh-CN" altLang="en-US" sz="14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06E0037-FAD6-4068-9B8B-67F1AD5C6944}"/>
              </a:ext>
            </a:extLst>
          </p:cNvPr>
          <p:cNvSpPr/>
          <p:nvPr/>
        </p:nvSpPr>
        <p:spPr>
          <a:xfrm>
            <a:off x="7316087" y="3515656"/>
            <a:ext cx="1440000" cy="1315704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LAST-ACK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最后确认</a:t>
            </a:r>
            <a:endParaRPr lang="en-US" altLang="zh-CN" sz="14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5E9A01C-6435-410F-9851-DDA4F286CDC6}"/>
              </a:ext>
            </a:extLst>
          </p:cNvPr>
          <p:cNvSpPr txBox="1"/>
          <p:nvPr/>
        </p:nvSpPr>
        <p:spPr>
          <a:xfrm>
            <a:off x="3105440" y="449518"/>
            <a:ext cx="10791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lient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731B7BAE-975F-4957-89A8-9A766F2D5A65}"/>
              </a:ext>
            </a:extLst>
          </p:cNvPr>
          <p:cNvSpPr txBox="1"/>
          <p:nvPr/>
        </p:nvSpPr>
        <p:spPr>
          <a:xfrm>
            <a:off x="6092786" y="444385"/>
            <a:ext cx="10791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36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erver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51739C4A-609B-4D22-BAA2-D4DA4ECA4EAE}"/>
              </a:ext>
            </a:extLst>
          </p:cNvPr>
          <p:cNvCxnSpPr>
            <a:cxnSpLocks/>
          </p:cNvCxnSpPr>
          <p:nvPr/>
        </p:nvCxnSpPr>
        <p:spPr>
          <a:xfrm flipH="1">
            <a:off x="2847614" y="3399127"/>
            <a:ext cx="4468475" cy="785004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FC5FF73-5508-4CBF-B28A-2D55A2B7FD23}"/>
              </a:ext>
            </a:extLst>
          </p:cNvPr>
          <p:cNvSpPr txBox="1"/>
          <p:nvPr/>
        </p:nvSpPr>
        <p:spPr>
          <a:xfrm rot="-600000">
            <a:off x="3446628" y="3447699"/>
            <a:ext cx="32704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FIN=1 ACK=1 seq=w ack=u+1</a:t>
            </a:r>
            <a:endParaRPr lang="zh-CN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5192847D-39CD-4B09-96C1-AED2F775C407}"/>
              </a:ext>
            </a:extLst>
          </p:cNvPr>
          <p:cNvSpPr/>
          <p:nvPr/>
        </p:nvSpPr>
        <p:spPr>
          <a:xfrm>
            <a:off x="1407615" y="4241524"/>
            <a:ext cx="1440000" cy="1132004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TIME-WAIT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时间等待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3508B9D-C88F-44C4-9AA7-3A55FDF7DE56}"/>
              </a:ext>
            </a:extLst>
          </p:cNvPr>
          <p:cNvSpPr/>
          <p:nvPr/>
        </p:nvSpPr>
        <p:spPr>
          <a:xfrm>
            <a:off x="1407615" y="5424052"/>
            <a:ext cx="1440000" cy="468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CLOSED</a:t>
            </a:r>
          </a:p>
          <a:p>
            <a:pPr algn="ctr"/>
            <a:r>
              <a:rPr lang="zh-CN" alt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关闭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90DF06CC-E485-4B38-8180-53199C3931FC}"/>
              </a:ext>
            </a:extLst>
          </p:cNvPr>
          <p:cNvCxnSpPr>
            <a:cxnSpLocks/>
          </p:cNvCxnSpPr>
          <p:nvPr/>
        </p:nvCxnSpPr>
        <p:spPr>
          <a:xfrm>
            <a:off x="1241790" y="4241524"/>
            <a:ext cx="0" cy="1182528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7B5B7F12-CD06-4CB8-86C2-BADA103B5DB1}"/>
              </a:ext>
            </a:extLst>
          </p:cNvPr>
          <p:cNvCxnSpPr>
            <a:cxnSpLocks/>
          </p:cNvCxnSpPr>
          <p:nvPr/>
        </p:nvCxnSpPr>
        <p:spPr>
          <a:xfrm>
            <a:off x="1055190" y="4241524"/>
            <a:ext cx="352425" cy="0"/>
          </a:xfrm>
          <a:prstGeom prst="line">
            <a:avLst/>
          </a:prstGeom>
          <a:ln w="19050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86CDF97A-1AB1-4FF8-BA26-C107EF19D0E5}"/>
              </a:ext>
            </a:extLst>
          </p:cNvPr>
          <p:cNvCxnSpPr>
            <a:cxnSpLocks/>
          </p:cNvCxnSpPr>
          <p:nvPr/>
        </p:nvCxnSpPr>
        <p:spPr>
          <a:xfrm>
            <a:off x="1043580" y="5424052"/>
            <a:ext cx="352425" cy="0"/>
          </a:xfrm>
          <a:prstGeom prst="line">
            <a:avLst/>
          </a:prstGeom>
          <a:ln w="19050">
            <a:solidFill>
              <a:srgbClr val="C0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F9F2D3DD-69BE-4D31-839A-5D8DC24F7515}"/>
              </a:ext>
            </a:extLst>
          </p:cNvPr>
          <p:cNvSpPr txBox="1"/>
          <p:nvPr/>
        </p:nvSpPr>
        <p:spPr>
          <a:xfrm>
            <a:off x="627315" y="4663511"/>
            <a:ext cx="6783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buClr>
                <a:srgbClr val="C00000"/>
              </a:buClr>
            </a:pPr>
            <a:r>
              <a:rPr lang="en-US" altLang="zh-CN" sz="16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2MSL</a:t>
            </a:r>
            <a:endParaRPr lang="zh-CN" altLang="en-US" sz="16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286C6A2B-7D26-44B3-8B8B-07DCD8F77AC8}"/>
              </a:ext>
            </a:extLst>
          </p:cNvPr>
          <p:cNvSpPr txBox="1"/>
          <p:nvPr/>
        </p:nvSpPr>
        <p:spPr>
          <a:xfrm>
            <a:off x="4222480" y="2907587"/>
            <a:ext cx="17187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buClr>
                <a:srgbClr val="C00000"/>
              </a:buClr>
            </a:pPr>
            <a:r>
              <a:rPr lang="en-US" altLang="zh-CN" sz="1600" dirty="0">
                <a:solidFill>
                  <a:srgbClr val="FF0000"/>
                </a:solidFill>
                <a:latin typeface="等线" panose="02010600030101010101" pitchFamily="2" charset="-122"/>
                <a:ea typeface="等线" panose="02010600030101010101" pitchFamily="2" charset="-122"/>
                <a:cs typeface="Courier New" panose="02070309020205020404" pitchFamily="49" charset="0"/>
              </a:rPr>
              <a:t>↙ </a:t>
            </a:r>
            <a:r>
              <a:rPr lang="en-US" altLang="zh-CN" sz="16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…</a:t>
            </a:r>
            <a:r>
              <a:rPr lang="zh-CN" altLang="en-US" sz="16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数据传输</a:t>
            </a:r>
            <a:r>
              <a:rPr lang="en-US" altLang="zh-CN" sz="16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…</a:t>
            </a:r>
            <a:r>
              <a:rPr lang="en-US" altLang="zh-CN" sz="1600" dirty="0">
                <a:solidFill>
                  <a:srgbClr val="FF0000"/>
                </a:solidFill>
                <a:latin typeface="等线" panose="02010600030101010101" pitchFamily="2" charset="-122"/>
                <a:ea typeface="等线" panose="02010600030101010101" pitchFamily="2" charset="-122"/>
                <a:cs typeface="Courier New" panose="02070309020205020404" pitchFamily="49" charset="0"/>
              </a:rPr>
              <a:t>↙</a:t>
            </a:r>
            <a:endParaRPr lang="zh-CN" altLang="en-US" sz="16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45227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占位符 7">
            <a:extLst>
              <a:ext uri="{FF2B5EF4-FFF2-40B4-BE49-F238E27FC236}">
                <a16:creationId xmlns:a16="http://schemas.microsoft.com/office/drawing/2014/main" id="{84311725-6814-4416-BF83-50776FDBCD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SYN</a:t>
            </a:r>
            <a:r>
              <a:rPr lang="zh-CN" altLang="en-US" dirty="0"/>
              <a:t>洪泛攻击</a:t>
            </a:r>
          </a:p>
        </p:txBody>
      </p:sp>
      <p:sp>
        <p:nvSpPr>
          <p:cNvPr id="9" name="文本占位符 8">
            <a:extLst>
              <a:ext uri="{FF2B5EF4-FFF2-40B4-BE49-F238E27FC236}">
                <a16:creationId xmlns:a16="http://schemas.microsoft.com/office/drawing/2014/main" id="{EE51F3BE-C910-437F-A21F-F56112937F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SYN flooding</a:t>
            </a:r>
            <a:endParaRPr lang="zh-CN" altLang="en-US" dirty="0"/>
          </a:p>
        </p:txBody>
      </p:sp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4F0A455B-4D10-4CF7-9591-A7461D911A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9B9A916E-7093-4C06-B973-D3C14AC72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775" y="2700337"/>
            <a:ext cx="6648450" cy="145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015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8BF453-BCAD-4CE3-8850-FA2219344E9A}"/>
              </a:ext>
            </a:extLst>
          </p:cNvPr>
          <p:cNvCxnSpPr>
            <a:cxnSpLocks/>
          </p:cNvCxnSpPr>
          <p:nvPr/>
        </p:nvCxnSpPr>
        <p:spPr>
          <a:xfrm>
            <a:off x="1447933" y="728936"/>
            <a:ext cx="8679600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24181015-C850-4699-A611-B7058E3648CC}"/>
              </a:ext>
            </a:extLst>
          </p:cNvPr>
          <p:cNvSpPr/>
          <p:nvPr/>
        </p:nvSpPr>
        <p:spPr>
          <a:xfrm>
            <a:off x="8988725" y="224291"/>
            <a:ext cx="3203274" cy="10092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占位符 1">
            <a:extLst>
              <a:ext uri="{FF2B5EF4-FFF2-40B4-BE49-F238E27FC236}">
                <a16:creationId xmlns:a16="http://schemas.microsoft.com/office/drawing/2014/main" id="{EA8D315C-673B-41A7-BBBA-80F76FBD4E7C}"/>
              </a:ext>
            </a:extLst>
          </p:cNvPr>
          <p:cNvSpPr txBox="1">
            <a:spLocks/>
          </p:cNvSpPr>
          <p:nvPr/>
        </p:nvSpPr>
        <p:spPr>
          <a:xfrm>
            <a:off x="9276724" y="345574"/>
            <a:ext cx="2643004" cy="6463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zh-CN" altLang="en-US" sz="4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四次挥手</a:t>
            </a:r>
          </a:p>
        </p:txBody>
      </p:sp>
      <p:sp>
        <p:nvSpPr>
          <p:cNvPr id="5" name="文本占位符 1">
            <a:extLst>
              <a:ext uri="{FF2B5EF4-FFF2-40B4-BE49-F238E27FC236}">
                <a16:creationId xmlns:a16="http://schemas.microsoft.com/office/drawing/2014/main" id="{4CA4F1B3-430D-4CF7-B720-9FF8EA240AC6}"/>
              </a:ext>
            </a:extLst>
          </p:cNvPr>
          <p:cNvSpPr txBox="1">
            <a:spLocks/>
          </p:cNvSpPr>
          <p:nvPr/>
        </p:nvSpPr>
        <p:spPr>
          <a:xfrm>
            <a:off x="9528428" y="893855"/>
            <a:ext cx="2391300" cy="3139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zh-CN" altLang="en-US" sz="16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连接释放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326B2C6-C9D7-4062-8AE7-BE27B081FEB9}"/>
              </a:ext>
            </a:extLst>
          </p:cNvPr>
          <p:cNvSpPr txBox="1"/>
          <p:nvPr/>
        </p:nvSpPr>
        <p:spPr>
          <a:xfrm>
            <a:off x="1447933" y="1742536"/>
            <a:ext cx="6218369" cy="58477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M"/>
            </a:pPr>
            <a:r>
              <a:rPr lang="zh-CN" altLang="en-US" sz="16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全双工通信：互相确认才可以释放连接</a:t>
            </a:r>
            <a:endParaRPr lang="en-US" altLang="zh-CN" sz="16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M"/>
            </a:pPr>
            <a:r>
              <a:rPr lang="zh-CN" altLang="en-US" sz="1600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最后的确认必须等待一定时长才可以释放，避免报文失效或丢失</a:t>
            </a:r>
            <a:endParaRPr lang="en-US" altLang="zh-CN" sz="16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330EBAB-CA36-4F9A-A900-735008B88255}"/>
              </a:ext>
            </a:extLst>
          </p:cNvPr>
          <p:cNvSpPr/>
          <p:nvPr/>
        </p:nvSpPr>
        <p:spPr>
          <a:xfrm>
            <a:off x="5133975" y="505105"/>
            <a:ext cx="1924050" cy="447662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关键点</a:t>
            </a:r>
            <a:endParaRPr lang="zh-CN" altLang="en-US" sz="1800" dirty="0"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9394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69E9A9EA-3431-4F31-957D-9AF2C11FD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8087" y="1814512"/>
            <a:ext cx="4695825" cy="3228975"/>
          </a:xfrm>
          <a:prstGeom prst="rect">
            <a:avLst/>
          </a:prstGeom>
        </p:spPr>
      </p:pic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A32088F-8EA7-4476-BD8D-85C5BC5568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信道利用率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F4080237-CDFE-411B-AF71-DC9FB60412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Utilization</a:t>
            </a:r>
            <a:endParaRPr lang="zh-CN" altLang="en-US" dirty="0"/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5AD5FBBD-443A-4095-8E2C-D43698A4A8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5511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D619897-A5D7-48EA-BB01-06CCF80B0D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套接字</a:t>
            </a: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A90694D9-61CF-4C28-8422-903D7D00732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Socket</a:t>
            </a:r>
            <a:endParaRPr lang="zh-CN" altLang="en-US" dirty="0"/>
          </a:p>
        </p:txBody>
      </p:sp>
      <p:sp>
        <p:nvSpPr>
          <p:cNvPr id="9" name="文本占位符 8">
            <a:extLst>
              <a:ext uri="{FF2B5EF4-FFF2-40B4-BE49-F238E27FC236}">
                <a16:creationId xmlns:a16="http://schemas.microsoft.com/office/drawing/2014/main" id="{59198F88-DFE6-4CC1-B3D4-FD440C9F5DA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015250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2">
              <a:lumMod val="50000"/>
            </a:schemeClr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buClr>
            <a:srgbClr val="C00000"/>
          </a:buClr>
          <a:defRPr dirty="0" smtClean="0">
            <a:latin typeface="Cuprum" panose="00000500000000000000" pitchFamily="2" charset="0"/>
            <a:ea typeface="微软雅黑 Light" panose="020B0502040204020203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934</TotalTime>
  <Words>966</Words>
  <Application>Microsoft Office PowerPoint</Application>
  <PresentationFormat>宽屏</PresentationFormat>
  <Paragraphs>237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2" baseType="lpstr">
      <vt:lpstr>Cuprum</vt:lpstr>
      <vt:lpstr>Lato Heavy</vt:lpstr>
      <vt:lpstr>等线</vt:lpstr>
      <vt:lpstr>等线 Light</vt:lpstr>
      <vt:lpstr>微软雅黑 Light</vt:lpstr>
      <vt:lpstr>Arial</vt:lpstr>
      <vt:lpstr>Courier New</vt:lpstr>
      <vt:lpstr>Montserrat</vt:lpstr>
      <vt:lpstr>Roboto</vt:lpstr>
      <vt:lpstr>Wingdings</vt:lpstr>
      <vt:lpstr>微软雅黑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冷 军</dc:creator>
  <cp:lastModifiedBy>cn plaman</cp:lastModifiedBy>
  <cp:revision>337</cp:revision>
  <dcterms:created xsi:type="dcterms:W3CDTF">2021-06-07T12:51:08Z</dcterms:created>
  <dcterms:modified xsi:type="dcterms:W3CDTF">2025-11-07T12:20:00Z</dcterms:modified>
</cp:coreProperties>
</file>