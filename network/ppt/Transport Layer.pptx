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72" r:id="rId8"/>
    <p:sldId id="275" r:id="rId9"/>
    <p:sldId id="276" r:id="rId10"/>
    <p:sldId id="264" r:id="rId11"/>
    <p:sldId id="265" r:id="rId12"/>
    <p:sldId id="266" r:id="rId13"/>
    <p:sldId id="268" r:id="rId14"/>
    <p:sldId id="267" r:id="rId15"/>
    <p:sldId id="270" r:id="rId16"/>
    <p:sldId id="269" r:id="rId17"/>
    <p:sldId id="271" r:id="rId18"/>
    <p:sldId id="277" r:id="rId19"/>
    <p:sldId id="273" r:id="rId20"/>
    <p:sldId id="27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3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2A264-2018-4A34-806D-EC64DAE2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C546DA-75D5-4ADD-8E1B-668E94501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C5FF2E-56B6-4053-B0D5-88C220F1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493E5-C31E-47EB-A5AE-1240D018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42EBC-471E-4612-A29B-3F4518EF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45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19A1-2626-491B-B89E-FA4F1373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75A0D6-CF50-4132-8858-24457AF62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D31BE1-91C0-437D-A0B2-42F7A3C8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E073A5-FB4E-4EE1-B48E-DA99C121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3A3CBA-7084-4C7E-A545-E7570D22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81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76839-5745-4496-9981-3CC753D7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B3B50-58DB-4FB8-9286-DB765E852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465F1-376B-4593-8ED6-E00206DD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261449-5549-484F-A7D0-CED8BF2D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3C2B89-56BC-437B-9AE9-3FADA155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6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06BC6-B798-464A-8D60-5C9D8849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82B94D-147F-4A67-B11E-2D368A228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028BB4-C180-4B2C-B0A7-9CDD211C2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86F6C4-557E-4013-88C9-B3C2C369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DC7E43-E36C-4F5C-9047-EC08D04A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A296D1-0D4F-493B-8E65-6F697301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20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83E45-3AF8-4977-9077-3862B1983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789649-5E54-4AD0-ABA3-34FD13A16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FF5381-1C68-41B5-AEFC-78037068C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21599D-18D2-4A2B-97E5-1BB72DB11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1AD98C-6803-43A5-BA3F-E9B2236BD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3D82E3-859C-4635-A969-C4900D7A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BD6C6F-5972-4B7E-8D67-E6C019EE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61A7F8-3878-4083-960D-8D0A4675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04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DADEE-86E9-44D3-9A14-CD1D97BA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1985D2-A3DA-4EA8-BF9F-4CFFD642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FB2CDF-983C-47F4-A6DF-5CFB69AA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F56ED1-D3BD-4FAD-AB28-5153BFA7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675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3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55CC4C6F-4FF2-43B1-B541-4AB466F31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350" y="425202"/>
            <a:ext cx="3543300" cy="469916"/>
          </a:xfrm>
          <a:prstGeom prst="roundRect">
            <a:avLst/>
          </a:prstGeom>
          <a:solidFill>
            <a:srgbClr val="C00000"/>
          </a:solidFill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" name="文本占位符 8">
            <a:extLst>
              <a:ext uri="{FF2B5EF4-FFF2-40B4-BE49-F238E27FC236}">
                <a16:creationId xmlns:a16="http://schemas.microsoft.com/office/drawing/2014/main" id="{B3C93999-283F-4CE8-B2D2-1D5EE35527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350" y="895118"/>
            <a:ext cx="3543300" cy="320088"/>
          </a:xfrm>
        </p:spPr>
        <p:txBody>
          <a:bodyPr>
            <a:spAutoFit/>
          </a:bodyPr>
          <a:lstStyle>
            <a:lvl1pPr marL="0" indent="0" algn="ctr">
              <a:buNone/>
              <a:defRPr sz="160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21DCF07-9243-40EE-A911-889B64A0F065}"/>
              </a:ext>
            </a:extLst>
          </p:cNvPr>
          <p:cNvCxnSpPr>
            <a:cxnSpLocks/>
          </p:cNvCxnSpPr>
          <p:nvPr userDrawn="1"/>
        </p:nvCxnSpPr>
        <p:spPr>
          <a:xfrm>
            <a:off x="696000" y="895118"/>
            <a:ext cx="1080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0B7AD5B9-6A67-4ABA-A5A2-428F7784B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267376"/>
            <a:ext cx="10800000" cy="5040000"/>
          </a:xfrm>
        </p:spPr>
        <p:txBody>
          <a:bodyPr/>
          <a:lstStyle>
            <a:lvl1pPr algn="just">
              <a:lnSpc>
                <a:spcPct val="150000"/>
              </a:lnSpc>
              <a:spcBef>
                <a:spcPts val="0"/>
              </a:spcBef>
              <a:defRPr/>
            </a:lvl1pPr>
            <a:lvl2pPr algn="just">
              <a:lnSpc>
                <a:spcPct val="150000"/>
              </a:lnSpc>
              <a:spcBef>
                <a:spcPts val="0"/>
              </a:spcBef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26509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30357-2AA8-4DF3-8488-18796EE2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9F44A-31B0-4C6C-B6CA-948DC909A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892C14-8EC3-49C0-9222-5A52127C8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7E76BA-B2A4-4256-839D-1473D609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C318D2-0842-4B28-A90E-9B1C88C7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EDA5F-8A46-45A0-920D-7F32B84D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32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391D7-B4B5-4397-A469-18319DBB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781B64-D77B-48CE-9596-0CE408B2C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34FFCE-3E3A-46B7-ABB1-C7374ACF0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DF3E0D-C35C-4EE9-91B6-7C69E71B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143720-114F-47EF-9E0B-A8C1DE1D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003CE-0B4A-4474-8312-8463BC86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680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BA1E9-CE4F-4DA8-8740-5CCD9136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9B5F64-0831-4DCB-A982-7937EAB52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22CF1-FA63-4162-835B-9C119259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9C96F0-504E-44E2-A74A-E30171A0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F690B9-3C02-46CB-9B22-C1913A9C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561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9E2416-B609-4958-A5BE-32773B120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AC44E5-6C14-4CAD-B0D2-06877C43A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6055E-A7AA-4B5D-BB66-532DE95F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F089C-9FBF-4CF5-8402-F33E1150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CEF4EE-8D65-4BE1-BB01-DC03F9E1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2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E5995B-9290-4552-A3F0-8E0D82C1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B090FB-D04F-437D-BA09-240C228D9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6CBC5-B65F-426A-829B-C306F8961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C27EC-B482-43A8-9F29-5226AFF067B3}" type="datetimeFigureOut">
              <a:rPr lang="zh-CN" altLang="en-US" smtClean="0"/>
              <a:t>2025/10/19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B7FC6-3DD0-4CBD-A3C2-3F77FB762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A9F0C-583E-4494-B87B-FD60BC73C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C3FBE-8082-4C7D-9FA6-CF9EB9EF83E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EA0E3A-DBBE-47EB-BBC4-B03C7432CCE3}"/>
              </a:ext>
            </a:extLst>
          </p:cNvPr>
          <p:cNvGrpSpPr/>
          <p:nvPr userDrawn="1"/>
        </p:nvGrpSpPr>
        <p:grpSpPr>
          <a:xfrm>
            <a:off x="3486563" y="6318000"/>
            <a:ext cx="5218875" cy="540000"/>
            <a:chOff x="3525034" y="6318000"/>
            <a:chExt cx="5218875" cy="5400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F342350-6A17-4F54-BB67-74AB49AD909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733" b="-7062"/>
            <a:stretch/>
          </p:blipFill>
          <p:spPr>
            <a:xfrm>
              <a:off x="5839512" y="6318000"/>
              <a:ext cx="450458" cy="5400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B3581E3-C67A-4594-A916-986641CE6ECA}"/>
                </a:ext>
              </a:extLst>
            </p:cNvPr>
            <p:cNvSpPr txBox="1"/>
            <p:nvPr userDrawn="1"/>
          </p:nvSpPr>
          <p:spPr>
            <a:xfrm>
              <a:off x="6388777" y="6449501"/>
              <a:ext cx="2355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r"/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Cnplaman from http://www.xit.edu.cn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41C8C06-D358-46F1-8B11-475722543691}"/>
                </a:ext>
              </a:extLst>
            </p:cNvPr>
            <p:cNvSpPr txBox="1"/>
            <p:nvPr userDrawn="1"/>
          </p:nvSpPr>
          <p:spPr>
            <a:xfrm>
              <a:off x="3525034" y="6449501"/>
              <a:ext cx="22156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20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Cuprum" panose="000005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All Copyrights Reserved, 2022-2024</a:t>
              </a:r>
              <a:endParaRPr lang="zh-CN" altLang="en-US" sz="12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62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fc-editor.org/rfc/rfc768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EB0026B8-C84A-4555-849F-868D4D7943FB}"/>
              </a:ext>
            </a:extLst>
          </p:cNvPr>
          <p:cNvSpPr txBox="1"/>
          <p:nvPr/>
        </p:nvSpPr>
        <p:spPr>
          <a:xfrm>
            <a:off x="0" y="5905501"/>
            <a:ext cx="7678058" cy="964148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2000" spc="3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2021</a:t>
            </a:r>
            <a:r>
              <a:rPr lang="en-US" altLang="zh-CN" sz="2000" spc="3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-06-08</a:t>
            </a:r>
            <a:endParaRPr lang="id-ID" sz="2000" spc="300" dirty="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  <p:pic>
        <p:nvPicPr>
          <p:cNvPr id="6" name="图片占位符 12">
            <a:extLst>
              <a:ext uri="{FF2B5EF4-FFF2-40B4-BE49-F238E27FC236}">
                <a16:creationId xmlns:a16="http://schemas.microsoft.com/office/drawing/2014/main" id="{E40D4C28-48E1-4FB5-BDE4-75AA1D547E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78058" y="0"/>
            <a:ext cx="4513943" cy="6858000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F12DD9E8-67E8-41A8-AD6E-A6CE802D72F1}"/>
              </a:ext>
            </a:extLst>
          </p:cNvPr>
          <p:cNvSpPr txBox="1"/>
          <p:nvPr/>
        </p:nvSpPr>
        <p:spPr>
          <a:xfrm>
            <a:off x="6793200" y="954739"/>
            <a:ext cx="88485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zh-CN" altLang="en-US" sz="2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Heavy" panose="020F0502020204030203" pitchFamily="34" charset="0"/>
              </a:rPr>
              <a:t>运输层</a:t>
            </a:r>
            <a:endParaRPr lang="id-ID" sz="2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Heavy" panose="020F0502020204030203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B0A7C71-3269-4E25-B0A0-AA52B18FE204}"/>
              </a:ext>
            </a:extLst>
          </p:cNvPr>
          <p:cNvCxnSpPr>
            <a:cxnSpLocks/>
          </p:cNvCxnSpPr>
          <p:nvPr/>
        </p:nvCxnSpPr>
        <p:spPr>
          <a:xfrm>
            <a:off x="3353708" y="1337258"/>
            <a:ext cx="4324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>
            <a:extLst>
              <a:ext uri="{FF2B5EF4-FFF2-40B4-BE49-F238E27FC236}">
                <a16:creationId xmlns:a16="http://schemas.microsoft.com/office/drawing/2014/main" id="{36152181-5DD6-423C-9553-AE198A3A391D}"/>
              </a:ext>
            </a:extLst>
          </p:cNvPr>
          <p:cNvSpPr txBox="1"/>
          <p:nvPr/>
        </p:nvSpPr>
        <p:spPr>
          <a:xfrm>
            <a:off x="3353707" y="1412001"/>
            <a:ext cx="4324351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sz="2000" spc="3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Transport Layer</a:t>
            </a:r>
            <a:endParaRPr lang="id-ID" sz="2000" spc="300" dirty="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70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>
            <a:extLst>
              <a:ext uri="{FF2B5EF4-FFF2-40B4-BE49-F238E27FC236}">
                <a16:creationId xmlns:a16="http://schemas.microsoft.com/office/drawing/2014/main" id="{8237AFE3-AFF6-4ACC-BCC4-803E6428F07A}"/>
              </a:ext>
            </a:extLst>
          </p:cNvPr>
          <p:cNvSpPr txBox="1"/>
          <p:nvPr/>
        </p:nvSpPr>
        <p:spPr>
          <a:xfrm>
            <a:off x="3802496" y="251942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spc="300" dirty="0">
                <a:solidFill>
                  <a:srgbClr val="000000"/>
                </a:solidFill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Port</a:t>
            </a:r>
            <a:endParaRPr lang="id-ID" sz="2000" b="1" spc="300" dirty="0">
              <a:solidFill>
                <a:srgbClr val="000000"/>
              </a:solidFill>
              <a:latin typeface="Courier New" panose="02070309020205020404" pitchFamily="49" charset="0"/>
              <a:ea typeface="Source Sans Pro Light" panose="020B04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80C38F4-DD99-44AA-80F6-878A148078CF}"/>
              </a:ext>
            </a:extLst>
          </p:cNvPr>
          <p:cNvSpPr txBox="1"/>
          <p:nvPr/>
        </p:nvSpPr>
        <p:spPr>
          <a:xfrm>
            <a:off x="3998062" y="4557772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spc="300" dirty="0">
                <a:solidFill>
                  <a:srgbClr val="000000"/>
                </a:solidFill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UDP</a:t>
            </a:r>
            <a:endParaRPr lang="id-ID" sz="2000" b="1" spc="300" dirty="0">
              <a:solidFill>
                <a:srgbClr val="000000"/>
              </a:solidFill>
              <a:latin typeface="Courier New" panose="02070309020205020404" pitchFamily="49" charset="0"/>
              <a:ea typeface="Source Sans Pro Light" panose="020B04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447FF9B-8643-4B08-AA1F-3BE18931099A}"/>
              </a:ext>
            </a:extLst>
          </p:cNvPr>
          <p:cNvSpPr txBox="1"/>
          <p:nvPr/>
        </p:nvSpPr>
        <p:spPr>
          <a:xfrm>
            <a:off x="7442293" y="2519422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spc="300" dirty="0">
                <a:solidFill>
                  <a:srgbClr val="000000"/>
                </a:solidFill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Socket</a:t>
            </a:r>
            <a:endParaRPr lang="id-ID" sz="2000" b="1" spc="300" dirty="0">
              <a:solidFill>
                <a:srgbClr val="000000"/>
              </a:solidFill>
              <a:latin typeface="Courier New" panose="02070309020205020404" pitchFamily="49" charset="0"/>
              <a:ea typeface="Source Sans Pro Light" panose="020B040303040302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85E1D35-E0E0-4BB5-8A84-61897E24565E}"/>
              </a:ext>
            </a:extLst>
          </p:cNvPr>
          <p:cNvSpPr txBox="1"/>
          <p:nvPr/>
        </p:nvSpPr>
        <p:spPr>
          <a:xfrm>
            <a:off x="7442293" y="4557772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spc="300" dirty="0">
                <a:solidFill>
                  <a:srgbClr val="000000"/>
                </a:solidFill>
                <a:latin typeface="Courier New" panose="02070309020205020404" pitchFamily="49" charset="0"/>
                <a:ea typeface="Source Sans Pro Light" panose="020B0403030403020204" pitchFamily="34" charset="0"/>
                <a:cs typeface="Courier New" panose="02070309020205020404" pitchFamily="49" charset="0"/>
              </a:rPr>
              <a:t>TCP</a:t>
            </a:r>
            <a:endParaRPr lang="id-ID" sz="2000" b="1" spc="300" dirty="0">
              <a:solidFill>
                <a:srgbClr val="000000"/>
              </a:solidFill>
              <a:latin typeface="Courier New" panose="02070309020205020404" pitchFamily="49" charset="0"/>
              <a:ea typeface="Source Sans Pro Light" panose="020B0403030403020204" pitchFamily="34" charset="0"/>
              <a:cs typeface="Courier New" panose="02070309020205020404" pitchFamily="49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B09659A-A380-4364-AB97-3FEB08323E86}"/>
              </a:ext>
            </a:extLst>
          </p:cNvPr>
          <p:cNvGrpSpPr/>
          <p:nvPr/>
        </p:nvGrpSpPr>
        <p:grpSpPr>
          <a:xfrm>
            <a:off x="4750483" y="2519422"/>
            <a:ext cx="902302" cy="962133"/>
            <a:chOff x="899885" y="2519422"/>
            <a:chExt cx="902302" cy="962133"/>
          </a:xfrm>
        </p:grpSpPr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1938633F-EDF1-4F9F-A7EA-0725EBF0C783}"/>
                </a:ext>
              </a:extLst>
            </p:cNvPr>
            <p:cNvSpPr/>
            <p:nvPr/>
          </p:nvSpPr>
          <p:spPr>
            <a:xfrm>
              <a:off x="899885" y="2519422"/>
              <a:ext cx="902302" cy="96213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0" name="Shape 5089">
              <a:extLst>
                <a:ext uri="{FF2B5EF4-FFF2-40B4-BE49-F238E27FC236}">
                  <a16:creationId xmlns:a16="http://schemas.microsoft.com/office/drawing/2014/main" id="{96516ED3-0771-482E-B922-8D1366CCD181}"/>
                </a:ext>
              </a:extLst>
            </p:cNvPr>
            <p:cNvSpPr/>
            <p:nvPr/>
          </p:nvSpPr>
          <p:spPr>
            <a:xfrm>
              <a:off x="1094637" y="2757248"/>
              <a:ext cx="537759" cy="48648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750" y="90275"/>
                  </a:moveTo>
                  <a:lnTo>
                    <a:pt x="59750" y="90275"/>
                  </a:lnTo>
                  <a:cubicBezTo>
                    <a:pt x="53250" y="90275"/>
                    <a:pt x="46500" y="97706"/>
                    <a:pt x="46500" y="105137"/>
                  </a:cubicBezTo>
                  <a:cubicBezTo>
                    <a:pt x="46500" y="112568"/>
                    <a:pt x="53250" y="119724"/>
                    <a:pt x="59750" y="119724"/>
                  </a:cubicBezTo>
                  <a:cubicBezTo>
                    <a:pt x="66500" y="119724"/>
                    <a:pt x="73000" y="112568"/>
                    <a:pt x="73000" y="105137"/>
                  </a:cubicBezTo>
                  <a:cubicBezTo>
                    <a:pt x="73000" y="97706"/>
                    <a:pt x="66500" y="90275"/>
                    <a:pt x="59750" y="90275"/>
                  </a:cubicBezTo>
                  <a:close/>
                  <a:moveTo>
                    <a:pt x="33250" y="75688"/>
                  </a:moveTo>
                  <a:lnTo>
                    <a:pt x="33250" y="75688"/>
                  </a:lnTo>
                  <a:cubicBezTo>
                    <a:pt x="42000" y="85596"/>
                    <a:pt x="42000" y="85596"/>
                    <a:pt x="42000" y="85596"/>
                  </a:cubicBezTo>
                  <a:cubicBezTo>
                    <a:pt x="51000" y="75688"/>
                    <a:pt x="66500" y="75688"/>
                    <a:pt x="77500" y="85596"/>
                  </a:cubicBezTo>
                  <a:cubicBezTo>
                    <a:pt x="86250" y="75688"/>
                    <a:pt x="86250" y="75688"/>
                    <a:pt x="86250" y="75688"/>
                  </a:cubicBezTo>
                  <a:cubicBezTo>
                    <a:pt x="70750" y="61100"/>
                    <a:pt x="48750" y="61100"/>
                    <a:pt x="33250" y="75688"/>
                  </a:cubicBezTo>
                  <a:close/>
                  <a:moveTo>
                    <a:pt x="15500" y="56146"/>
                  </a:moveTo>
                  <a:lnTo>
                    <a:pt x="15500" y="56146"/>
                  </a:lnTo>
                  <a:cubicBezTo>
                    <a:pt x="24500" y="66055"/>
                    <a:pt x="24500" y="66055"/>
                    <a:pt x="24500" y="66055"/>
                  </a:cubicBezTo>
                  <a:cubicBezTo>
                    <a:pt x="44250" y="46513"/>
                    <a:pt x="75250" y="46513"/>
                    <a:pt x="95250" y="66055"/>
                  </a:cubicBezTo>
                  <a:cubicBezTo>
                    <a:pt x="104250" y="56146"/>
                    <a:pt x="104250" y="56146"/>
                    <a:pt x="104250" y="56146"/>
                  </a:cubicBezTo>
                  <a:cubicBezTo>
                    <a:pt x="79750" y="29449"/>
                    <a:pt x="40000" y="29449"/>
                    <a:pt x="15500" y="56146"/>
                  </a:cubicBezTo>
                  <a:close/>
                  <a:moveTo>
                    <a:pt x="0" y="36880"/>
                  </a:moveTo>
                  <a:lnTo>
                    <a:pt x="0" y="36880"/>
                  </a:lnTo>
                  <a:cubicBezTo>
                    <a:pt x="6500" y="46513"/>
                    <a:pt x="6500" y="46513"/>
                    <a:pt x="6500" y="46513"/>
                  </a:cubicBezTo>
                  <a:cubicBezTo>
                    <a:pt x="35500" y="14862"/>
                    <a:pt x="82000" y="14862"/>
                    <a:pt x="110750" y="46513"/>
                  </a:cubicBezTo>
                  <a:cubicBezTo>
                    <a:pt x="119750" y="36880"/>
                    <a:pt x="119750" y="36880"/>
                    <a:pt x="119750" y="36880"/>
                  </a:cubicBezTo>
                  <a:cubicBezTo>
                    <a:pt x="86250" y="0"/>
                    <a:pt x="33250" y="0"/>
                    <a:pt x="0" y="368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98E0FFB-B220-4FB2-A4A2-6DCF2DD5DBD5}"/>
              </a:ext>
            </a:extLst>
          </p:cNvPr>
          <p:cNvGrpSpPr/>
          <p:nvPr/>
        </p:nvGrpSpPr>
        <p:grpSpPr>
          <a:xfrm>
            <a:off x="4750483" y="4557772"/>
            <a:ext cx="902302" cy="962133"/>
            <a:chOff x="899885" y="4557772"/>
            <a:chExt cx="902302" cy="962133"/>
          </a:xfrm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9F4E3FAB-B6D7-4201-B4A2-2314638058ED}"/>
                </a:ext>
              </a:extLst>
            </p:cNvPr>
            <p:cNvSpPr/>
            <p:nvPr/>
          </p:nvSpPr>
          <p:spPr>
            <a:xfrm>
              <a:off x="899885" y="4557772"/>
              <a:ext cx="902302" cy="96213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1" name="Shape 5147">
              <a:extLst>
                <a:ext uri="{FF2B5EF4-FFF2-40B4-BE49-F238E27FC236}">
                  <a16:creationId xmlns:a16="http://schemas.microsoft.com/office/drawing/2014/main" id="{C9C99118-7476-4F37-B7B4-90CEFCD91C51}"/>
                </a:ext>
              </a:extLst>
            </p:cNvPr>
            <p:cNvSpPr/>
            <p:nvPr/>
          </p:nvSpPr>
          <p:spPr>
            <a:xfrm>
              <a:off x="1072272" y="4819279"/>
              <a:ext cx="557527" cy="42715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9315" y="77905"/>
                  </a:moveTo>
                  <a:lnTo>
                    <a:pt x="19315" y="77905"/>
                  </a:lnTo>
                  <a:cubicBezTo>
                    <a:pt x="23420" y="92041"/>
                    <a:pt x="25593" y="97696"/>
                    <a:pt x="38390" y="103036"/>
                  </a:cubicBezTo>
                  <a:cubicBezTo>
                    <a:pt x="49014" y="111518"/>
                    <a:pt x="55533" y="119685"/>
                    <a:pt x="59879" y="119685"/>
                  </a:cubicBezTo>
                  <a:cubicBezTo>
                    <a:pt x="64225" y="119685"/>
                    <a:pt x="70744" y="111518"/>
                    <a:pt x="81368" y="105863"/>
                  </a:cubicBezTo>
                  <a:cubicBezTo>
                    <a:pt x="94164" y="97696"/>
                    <a:pt x="89818" y="97696"/>
                    <a:pt x="94164" y="81047"/>
                  </a:cubicBezTo>
                  <a:cubicBezTo>
                    <a:pt x="59879" y="103036"/>
                    <a:pt x="59879" y="103036"/>
                    <a:pt x="59879" y="103036"/>
                  </a:cubicBezTo>
                  <a:lnTo>
                    <a:pt x="19315" y="77905"/>
                  </a:lnTo>
                  <a:close/>
                  <a:moveTo>
                    <a:pt x="117585" y="38952"/>
                  </a:moveTo>
                  <a:lnTo>
                    <a:pt x="117585" y="38952"/>
                  </a:lnTo>
                  <a:cubicBezTo>
                    <a:pt x="66156" y="2827"/>
                    <a:pt x="66156" y="2827"/>
                    <a:pt x="66156" y="2827"/>
                  </a:cubicBezTo>
                  <a:cubicBezTo>
                    <a:pt x="64225" y="0"/>
                    <a:pt x="57706" y="0"/>
                    <a:pt x="53360" y="2827"/>
                  </a:cubicBezTo>
                  <a:cubicBezTo>
                    <a:pt x="2173" y="38952"/>
                    <a:pt x="2173" y="38952"/>
                    <a:pt x="2173" y="38952"/>
                  </a:cubicBezTo>
                  <a:cubicBezTo>
                    <a:pt x="0" y="41780"/>
                    <a:pt x="0" y="44607"/>
                    <a:pt x="2173" y="50261"/>
                  </a:cubicBezTo>
                  <a:cubicBezTo>
                    <a:pt x="53360" y="86387"/>
                    <a:pt x="53360" y="86387"/>
                    <a:pt x="53360" y="86387"/>
                  </a:cubicBezTo>
                  <a:cubicBezTo>
                    <a:pt x="57706" y="89214"/>
                    <a:pt x="64225" y="89214"/>
                    <a:pt x="66156" y="86387"/>
                  </a:cubicBezTo>
                  <a:cubicBezTo>
                    <a:pt x="98511" y="61256"/>
                    <a:pt x="98511" y="61256"/>
                    <a:pt x="98511" y="61256"/>
                  </a:cubicBezTo>
                  <a:cubicBezTo>
                    <a:pt x="64225" y="50261"/>
                    <a:pt x="64225" y="50261"/>
                    <a:pt x="64225" y="50261"/>
                  </a:cubicBezTo>
                  <a:cubicBezTo>
                    <a:pt x="62052" y="50261"/>
                    <a:pt x="62052" y="52774"/>
                    <a:pt x="59879" y="52774"/>
                  </a:cubicBezTo>
                  <a:cubicBezTo>
                    <a:pt x="53360" y="52774"/>
                    <a:pt x="49014" y="47434"/>
                    <a:pt x="49014" y="41780"/>
                  </a:cubicBezTo>
                  <a:cubicBezTo>
                    <a:pt x="49014" y="38952"/>
                    <a:pt x="53360" y="33612"/>
                    <a:pt x="59879" y="33612"/>
                  </a:cubicBezTo>
                  <a:cubicBezTo>
                    <a:pt x="64225" y="33612"/>
                    <a:pt x="68571" y="36125"/>
                    <a:pt x="70744" y="38952"/>
                  </a:cubicBezTo>
                  <a:cubicBezTo>
                    <a:pt x="106961" y="55602"/>
                    <a:pt x="106961" y="55602"/>
                    <a:pt x="106961" y="55602"/>
                  </a:cubicBezTo>
                  <a:cubicBezTo>
                    <a:pt x="117585" y="50261"/>
                    <a:pt x="117585" y="50261"/>
                    <a:pt x="117585" y="50261"/>
                  </a:cubicBezTo>
                  <a:cubicBezTo>
                    <a:pt x="119758" y="44607"/>
                    <a:pt x="119758" y="41780"/>
                    <a:pt x="117585" y="38952"/>
                  </a:cubicBezTo>
                  <a:close/>
                  <a:moveTo>
                    <a:pt x="102615" y="108691"/>
                  </a:moveTo>
                  <a:lnTo>
                    <a:pt x="102615" y="108691"/>
                  </a:lnTo>
                  <a:cubicBezTo>
                    <a:pt x="100442" y="111518"/>
                    <a:pt x="109134" y="114345"/>
                    <a:pt x="111307" y="105863"/>
                  </a:cubicBezTo>
                  <a:cubicBezTo>
                    <a:pt x="113239" y="66910"/>
                    <a:pt x="106961" y="55602"/>
                    <a:pt x="106961" y="55602"/>
                  </a:cubicBezTo>
                  <a:cubicBezTo>
                    <a:pt x="98511" y="61256"/>
                    <a:pt x="98511" y="61256"/>
                    <a:pt x="98511" y="61256"/>
                  </a:cubicBezTo>
                  <a:cubicBezTo>
                    <a:pt x="98511" y="61256"/>
                    <a:pt x="106961" y="69738"/>
                    <a:pt x="102615" y="1086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FA7E111-D1B8-41CD-B1A4-5C3E00E67A58}"/>
              </a:ext>
            </a:extLst>
          </p:cNvPr>
          <p:cNvGrpSpPr/>
          <p:nvPr/>
        </p:nvGrpSpPr>
        <p:grpSpPr>
          <a:xfrm>
            <a:off x="6539216" y="2468743"/>
            <a:ext cx="902302" cy="962133"/>
            <a:chOff x="6717693" y="2468743"/>
            <a:chExt cx="902302" cy="962133"/>
          </a:xfrm>
        </p:grpSpPr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DA2AA0ED-615E-4FB7-BAAF-00644105472A}"/>
                </a:ext>
              </a:extLst>
            </p:cNvPr>
            <p:cNvSpPr/>
            <p:nvPr/>
          </p:nvSpPr>
          <p:spPr>
            <a:xfrm>
              <a:off x="6717693" y="2468743"/>
              <a:ext cx="902302" cy="96213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2" name="Shape 5164">
              <a:extLst>
                <a:ext uri="{FF2B5EF4-FFF2-40B4-BE49-F238E27FC236}">
                  <a16:creationId xmlns:a16="http://schemas.microsoft.com/office/drawing/2014/main" id="{EC3307CB-A418-437A-B460-A5289F068A76}"/>
                </a:ext>
              </a:extLst>
            </p:cNvPr>
            <p:cNvSpPr/>
            <p:nvPr/>
          </p:nvSpPr>
          <p:spPr>
            <a:xfrm>
              <a:off x="6890079" y="2696595"/>
              <a:ext cx="557529" cy="49834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6961" y="18918"/>
                  </a:moveTo>
                  <a:lnTo>
                    <a:pt x="106961" y="18918"/>
                  </a:lnTo>
                  <a:cubicBezTo>
                    <a:pt x="102857" y="18918"/>
                    <a:pt x="102857" y="18918"/>
                    <a:pt x="102857" y="18918"/>
                  </a:cubicBezTo>
                  <a:cubicBezTo>
                    <a:pt x="102857" y="119729"/>
                    <a:pt x="102857" y="119729"/>
                    <a:pt x="102857" y="119729"/>
                  </a:cubicBezTo>
                  <a:cubicBezTo>
                    <a:pt x="106961" y="119729"/>
                    <a:pt x="106961" y="119729"/>
                    <a:pt x="106961" y="119729"/>
                  </a:cubicBezTo>
                  <a:cubicBezTo>
                    <a:pt x="115653" y="119729"/>
                    <a:pt x="119758" y="114864"/>
                    <a:pt x="119758" y="107567"/>
                  </a:cubicBezTo>
                  <a:cubicBezTo>
                    <a:pt x="119758" y="33513"/>
                    <a:pt x="119758" y="33513"/>
                    <a:pt x="119758" y="33513"/>
                  </a:cubicBezTo>
                  <a:cubicBezTo>
                    <a:pt x="119758" y="26216"/>
                    <a:pt x="115653" y="18918"/>
                    <a:pt x="106961" y="18918"/>
                  </a:cubicBezTo>
                  <a:close/>
                  <a:moveTo>
                    <a:pt x="0" y="33513"/>
                  </a:moveTo>
                  <a:lnTo>
                    <a:pt x="0" y="33513"/>
                  </a:lnTo>
                  <a:cubicBezTo>
                    <a:pt x="0" y="107567"/>
                    <a:pt x="0" y="107567"/>
                    <a:pt x="0" y="107567"/>
                  </a:cubicBezTo>
                  <a:cubicBezTo>
                    <a:pt x="0" y="114864"/>
                    <a:pt x="6277" y="119729"/>
                    <a:pt x="12796" y="119729"/>
                  </a:cubicBezTo>
                  <a:cubicBezTo>
                    <a:pt x="17142" y="119729"/>
                    <a:pt x="17142" y="119729"/>
                    <a:pt x="17142" y="119729"/>
                  </a:cubicBezTo>
                  <a:cubicBezTo>
                    <a:pt x="17142" y="18918"/>
                    <a:pt x="17142" y="18918"/>
                    <a:pt x="17142" y="18918"/>
                  </a:cubicBezTo>
                  <a:cubicBezTo>
                    <a:pt x="12796" y="18918"/>
                    <a:pt x="12796" y="18918"/>
                    <a:pt x="12796" y="18918"/>
                  </a:cubicBezTo>
                  <a:cubicBezTo>
                    <a:pt x="6277" y="18918"/>
                    <a:pt x="0" y="26216"/>
                    <a:pt x="0" y="33513"/>
                  </a:cubicBezTo>
                  <a:close/>
                  <a:moveTo>
                    <a:pt x="81368" y="7027"/>
                  </a:moveTo>
                  <a:lnTo>
                    <a:pt x="81368" y="7027"/>
                  </a:lnTo>
                  <a:cubicBezTo>
                    <a:pt x="77022" y="4594"/>
                    <a:pt x="70503" y="0"/>
                    <a:pt x="59879" y="0"/>
                  </a:cubicBezTo>
                  <a:cubicBezTo>
                    <a:pt x="49255" y="0"/>
                    <a:pt x="42736" y="4594"/>
                    <a:pt x="38631" y="7027"/>
                  </a:cubicBezTo>
                  <a:cubicBezTo>
                    <a:pt x="38631" y="18918"/>
                    <a:pt x="38631" y="18918"/>
                    <a:pt x="38631" y="18918"/>
                  </a:cubicBezTo>
                  <a:cubicBezTo>
                    <a:pt x="25835" y="18918"/>
                    <a:pt x="25835" y="18918"/>
                    <a:pt x="25835" y="18918"/>
                  </a:cubicBezTo>
                  <a:cubicBezTo>
                    <a:pt x="25835" y="119729"/>
                    <a:pt x="25835" y="119729"/>
                    <a:pt x="25835" y="119729"/>
                  </a:cubicBezTo>
                  <a:cubicBezTo>
                    <a:pt x="94164" y="119729"/>
                    <a:pt x="94164" y="119729"/>
                    <a:pt x="94164" y="119729"/>
                  </a:cubicBezTo>
                  <a:cubicBezTo>
                    <a:pt x="94164" y="18918"/>
                    <a:pt x="94164" y="18918"/>
                    <a:pt x="94164" y="18918"/>
                  </a:cubicBezTo>
                  <a:cubicBezTo>
                    <a:pt x="81368" y="18918"/>
                    <a:pt x="81368" y="18918"/>
                    <a:pt x="81368" y="18918"/>
                  </a:cubicBezTo>
                  <a:lnTo>
                    <a:pt x="81368" y="7027"/>
                  </a:lnTo>
                  <a:close/>
                  <a:moveTo>
                    <a:pt x="72676" y="18918"/>
                  </a:moveTo>
                  <a:lnTo>
                    <a:pt x="72676" y="18918"/>
                  </a:lnTo>
                  <a:cubicBezTo>
                    <a:pt x="47082" y="18918"/>
                    <a:pt x="47082" y="18918"/>
                    <a:pt x="47082" y="18918"/>
                  </a:cubicBezTo>
                  <a:cubicBezTo>
                    <a:pt x="47082" y="11891"/>
                    <a:pt x="47082" y="11891"/>
                    <a:pt x="47082" y="11891"/>
                  </a:cubicBezTo>
                  <a:cubicBezTo>
                    <a:pt x="49255" y="9459"/>
                    <a:pt x="53601" y="7027"/>
                    <a:pt x="59879" y="7027"/>
                  </a:cubicBezTo>
                  <a:cubicBezTo>
                    <a:pt x="66398" y="7027"/>
                    <a:pt x="70503" y="9459"/>
                    <a:pt x="72676" y="11891"/>
                  </a:cubicBezTo>
                  <a:lnTo>
                    <a:pt x="72676" y="189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8AF7860-6E68-44C7-A49F-6A86E487B906}"/>
              </a:ext>
            </a:extLst>
          </p:cNvPr>
          <p:cNvGrpSpPr/>
          <p:nvPr/>
        </p:nvGrpSpPr>
        <p:grpSpPr>
          <a:xfrm>
            <a:off x="6539216" y="4557772"/>
            <a:ext cx="902302" cy="962133"/>
            <a:chOff x="6717693" y="4557772"/>
            <a:chExt cx="902302" cy="962133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CDDD72E2-DC5D-4367-B713-9DE16CFD03D9}"/>
                </a:ext>
              </a:extLst>
            </p:cNvPr>
            <p:cNvSpPr/>
            <p:nvPr/>
          </p:nvSpPr>
          <p:spPr>
            <a:xfrm>
              <a:off x="6717693" y="4557772"/>
              <a:ext cx="902302" cy="96213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3" name="Shape 5115">
              <a:extLst>
                <a:ext uri="{FF2B5EF4-FFF2-40B4-BE49-F238E27FC236}">
                  <a16:creationId xmlns:a16="http://schemas.microsoft.com/office/drawing/2014/main" id="{0233D017-44BD-424B-910A-BF243C352712}"/>
                </a:ext>
              </a:extLst>
            </p:cNvPr>
            <p:cNvSpPr/>
            <p:nvPr/>
          </p:nvSpPr>
          <p:spPr>
            <a:xfrm>
              <a:off x="6928794" y="4590099"/>
              <a:ext cx="564353" cy="65639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4966" y="41876"/>
                  </a:moveTo>
                  <a:lnTo>
                    <a:pt x="114966" y="41876"/>
                  </a:lnTo>
                  <a:cubicBezTo>
                    <a:pt x="39999" y="67767"/>
                    <a:pt x="70463" y="0"/>
                    <a:pt x="11655" y="36022"/>
                  </a:cubicBezTo>
                  <a:cubicBezTo>
                    <a:pt x="0" y="40075"/>
                    <a:pt x="0" y="40075"/>
                    <a:pt x="0" y="40075"/>
                  </a:cubicBezTo>
                  <a:cubicBezTo>
                    <a:pt x="23311" y="119774"/>
                    <a:pt x="23311" y="119774"/>
                    <a:pt x="23311" y="119774"/>
                  </a:cubicBezTo>
                  <a:cubicBezTo>
                    <a:pt x="37350" y="119774"/>
                    <a:pt x="37350" y="119774"/>
                    <a:pt x="37350" y="119774"/>
                  </a:cubicBezTo>
                  <a:cubicBezTo>
                    <a:pt x="25695" y="79924"/>
                    <a:pt x="25695" y="79924"/>
                    <a:pt x="25695" y="79924"/>
                  </a:cubicBezTo>
                  <a:cubicBezTo>
                    <a:pt x="77615" y="43902"/>
                    <a:pt x="56423" y="119774"/>
                    <a:pt x="117350" y="43902"/>
                  </a:cubicBezTo>
                  <a:cubicBezTo>
                    <a:pt x="119735" y="43902"/>
                    <a:pt x="117350" y="41876"/>
                    <a:pt x="114966" y="4187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4316B65F-88B2-4F7F-AB1B-896611FD6AFE}"/>
              </a:ext>
            </a:extLst>
          </p:cNvPr>
          <p:cNvSpPr/>
          <p:nvPr/>
        </p:nvSpPr>
        <p:spPr>
          <a:xfrm>
            <a:off x="865562" y="2784844"/>
            <a:ext cx="3891041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i="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Lato" panose="020F0502020204030203" pitchFamily="34" charset="0"/>
              </a:rPr>
              <a:t>端口</a:t>
            </a:r>
            <a:endParaRPr lang="id-ID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Lato" panose="020F0502020204030203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598CC824-99D6-4108-BA17-2ED5D34F379D}"/>
              </a:ext>
            </a:extLst>
          </p:cNvPr>
          <p:cNvSpPr/>
          <p:nvPr/>
        </p:nvSpPr>
        <p:spPr>
          <a:xfrm>
            <a:off x="7451818" y="2784844"/>
            <a:ext cx="3891041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Lato" panose="020F0502020204030203" pitchFamily="34" charset="0"/>
              </a:rPr>
              <a:t>套接字</a:t>
            </a:r>
            <a:endParaRPr lang="id-ID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Lato" panose="020F0502020204030203" pitchFamily="34" charset="0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4B4FE8EB-7697-48FC-9116-332A965C0974}"/>
              </a:ext>
            </a:extLst>
          </p:cNvPr>
          <p:cNvSpPr/>
          <p:nvPr/>
        </p:nvSpPr>
        <p:spPr>
          <a:xfrm>
            <a:off x="865562" y="4858842"/>
            <a:ext cx="3891041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i="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Lato" panose="020F0502020204030203" pitchFamily="34" charset="0"/>
              </a:rPr>
              <a:t>UDP</a:t>
            </a:r>
            <a:r>
              <a:rPr lang="zh-CN" altLang="en-US" sz="1400" i="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Lato" panose="020F0502020204030203" pitchFamily="34" charset="0"/>
              </a:rPr>
              <a:t>用户数据报</a:t>
            </a:r>
            <a:endParaRPr lang="id-ID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Lato" panose="020F0502020204030203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4BD1EFDB-5671-4D5C-A7A1-8855BA72EFE7}"/>
              </a:ext>
            </a:extLst>
          </p:cNvPr>
          <p:cNvSpPr/>
          <p:nvPr/>
        </p:nvSpPr>
        <p:spPr>
          <a:xfrm>
            <a:off x="7451818" y="4858842"/>
            <a:ext cx="3891041" cy="378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i="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Lato" panose="020F0502020204030203" pitchFamily="34" charset="0"/>
              </a:rPr>
              <a:t>TCP</a:t>
            </a:r>
            <a:r>
              <a:rPr lang="zh-CN" altLang="en-US" sz="1400" i="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Lato" panose="020F0502020204030203" pitchFamily="34" charset="0"/>
              </a:rPr>
              <a:t>报文段</a:t>
            </a:r>
            <a:endParaRPr lang="id-ID" sz="1400" dirty="0">
              <a:latin typeface="微软雅黑 Light" panose="020B0502040204020203" pitchFamily="34" charset="-122"/>
              <a:ea typeface="微软雅黑 Light" panose="020B0502040204020203" pitchFamily="34" charset="-122"/>
              <a:cs typeface="Lato" panose="020F0502020204030203" pitchFamily="34" charset="0"/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F77CA673-1860-4E8C-9A54-59016B3D2B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7DF9BF19-A46E-4A02-A2A9-85BEDBE31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Point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604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2109DD3-367D-4A8F-B5E2-7EC3C82C0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31750"/>
              </p:ext>
            </p:extLst>
          </p:nvPr>
        </p:nvGraphicFramePr>
        <p:xfrm>
          <a:off x="2585168" y="1425594"/>
          <a:ext cx="2522748" cy="47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748">
                  <a:extLst>
                    <a:ext uri="{9D8B030D-6E8A-4147-A177-3AD203B41FA5}">
                      <a16:colId xmlns:a16="http://schemas.microsoft.com/office/drawing/2014/main" val="1247567830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Application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68369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Transport layer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8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Network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80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Link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92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Physical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6470"/>
                  </a:ext>
                </a:extLst>
              </a:tr>
            </a:tbl>
          </a:graphicData>
        </a:graphic>
      </p:graphicFrame>
      <p:sp>
        <p:nvSpPr>
          <p:cNvPr id="5" name="椭圆 4">
            <a:extLst>
              <a:ext uri="{FF2B5EF4-FFF2-40B4-BE49-F238E27FC236}">
                <a16:creationId xmlns:a16="http://schemas.microsoft.com/office/drawing/2014/main" id="{98247C54-E4A2-4DCA-BCB6-6601A6722553}"/>
              </a:ext>
            </a:extLst>
          </p:cNvPr>
          <p:cNvSpPr>
            <a:spLocks noChangeAspect="1"/>
          </p:cNvSpPr>
          <p:nvPr/>
        </p:nvSpPr>
        <p:spPr>
          <a:xfrm>
            <a:off x="4554114" y="1873707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AP1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E830E0D-729E-42B9-A3B0-43D5949C5F50}"/>
              </a:ext>
            </a:extLst>
          </p:cNvPr>
          <p:cNvSpPr>
            <a:spLocks noChangeAspect="1"/>
          </p:cNvSpPr>
          <p:nvPr/>
        </p:nvSpPr>
        <p:spPr>
          <a:xfrm>
            <a:off x="3332191" y="2003982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AP4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B8F1F32-7ECD-4FE1-ABF1-852EAE0EC683}"/>
              </a:ext>
            </a:extLst>
          </p:cNvPr>
          <p:cNvSpPr>
            <a:spLocks noChangeAspect="1"/>
          </p:cNvSpPr>
          <p:nvPr/>
        </p:nvSpPr>
        <p:spPr>
          <a:xfrm>
            <a:off x="2772792" y="1787982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AP3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65B4CC-90BC-4119-BE82-C9BE8BFDCA84}"/>
              </a:ext>
            </a:extLst>
          </p:cNvPr>
          <p:cNvSpPr/>
          <p:nvPr/>
        </p:nvSpPr>
        <p:spPr>
          <a:xfrm>
            <a:off x="2736792" y="3527604"/>
            <a:ext cx="1063399" cy="32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UDP</a:t>
            </a:r>
            <a:endParaRPr lang="zh-CN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AE841F-C501-4A63-9E9B-50EBBB6181A5}"/>
              </a:ext>
            </a:extLst>
          </p:cNvPr>
          <p:cNvSpPr/>
          <p:nvPr/>
        </p:nvSpPr>
        <p:spPr>
          <a:xfrm>
            <a:off x="3958714" y="3527604"/>
            <a:ext cx="1063399" cy="32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TCP</a:t>
            </a:r>
            <a:endParaRPr lang="zh-CN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F3D15D-8DC1-438F-BB25-23A5C1A6564F}"/>
              </a:ext>
            </a:extLst>
          </p:cNvPr>
          <p:cNvSpPr/>
          <p:nvPr/>
        </p:nvSpPr>
        <p:spPr>
          <a:xfrm>
            <a:off x="2736792" y="2749629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7A92EF-BBFF-4C67-BA71-96A0A76A2285}"/>
              </a:ext>
            </a:extLst>
          </p:cNvPr>
          <p:cNvSpPr/>
          <p:nvPr/>
        </p:nvSpPr>
        <p:spPr>
          <a:xfrm>
            <a:off x="3296191" y="2746533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A1C7E3-201F-439C-BC5C-96EF327F1041}"/>
              </a:ext>
            </a:extLst>
          </p:cNvPr>
          <p:cNvSpPr/>
          <p:nvPr/>
        </p:nvSpPr>
        <p:spPr>
          <a:xfrm>
            <a:off x="4518114" y="2739114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13D6C5-024D-4E48-9A4D-3D2DABDAECEF}"/>
              </a:ext>
            </a:extLst>
          </p:cNvPr>
          <p:cNvSpPr>
            <a:spLocks noChangeAspect="1"/>
          </p:cNvSpPr>
          <p:nvPr/>
        </p:nvSpPr>
        <p:spPr>
          <a:xfrm>
            <a:off x="3996677" y="1802688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AP2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61F0CC-E579-4D84-8179-FE540C5E2515}"/>
              </a:ext>
            </a:extLst>
          </p:cNvPr>
          <p:cNvSpPr/>
          <p:nvPr/>
        </p:nvSpPr>
        <p:spPr>
          <a:xfrm>
            <a:off x="3960677" y="2739114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11982A6-6524-49E8-9BE1-D47C3D8A1F63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4770114" y="2305707"/>
            <a:ext cx="1" cy="4334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752FB3F-99E0-4198-AC93-60E966AFF74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4212677" y="2234688"/>
            <a:ext cx="0" cy="504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97FAEFC-5CAB-46B2-BA01-4E4FCD496616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3548191" y="2435982"/>
            <a:ext cx="0" cy="3105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47FC5A7-DA6C-40FF-952E-A7701ECA229F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981325" y="2219982"/>
            <a:ext cx="7467" cy="5296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2CB7FA4-8E7B-4A69-9006-B810948F9D79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981325" y="2965629"/>
            <a:ext cx="7467" cy="5619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DDF7259-EDB0-4A0C-9563-370E7D692881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540724" y="2962533"/>
            <a:ext cx="7467" cy="5619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41F333E-12E4-416D-935D-AAF56C2942C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212677" y="2955114"/>
            <a:ext cx="0" cy="569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8969562-4C74-4C85-BDB0-96571D2BCE5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770113" y="2955114"/>
            <a:ext cx="1" cy="569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C386AD3-8A12-4330-918A-1A70BAE24427}"/>
              </a:ext>
            </a:extLst>
          </p:cNvPr>
          <p:cNvSpPr/>
          <p:nvPr/>
        </p:nvSpPr>
        <p:spPr>
          <a:xfrm>
            <a:off x="2736792" y="4230096"/>
            <a:ext cx="2285321" cy="32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Multiplexing</a:t>
            </a:r>
            <a:endParaRPr lang="zh-CN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F8B609B-212F-4E55-A89C-4201854D1FAE}"/>
              </a:ext>
            </a:extLst>
          </p:cNvPr>
          <p:cNvCxnSpPr>
            <a:cxnSpLocks/>
          </p:cNvCxnSpPr>
          <p:nvPr/>
        </p:nvCxnSpPr>
        <p:spPr>
          <a:xfrm>
            <a:off x="3296191" y="3848100"/>
            <a:ext cx="0" cy="3819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5D71E23-85D0-4446-BD75-1641699953C6}"/>
              </a:ext>
            </a:extLst>
          </p:cNvPr>
          <p:cNvCxnSpPr>
            <a:cxnSpLocks/>
          </p:cNvCxnSpPr>
          <p:nvPr/>
        </p:nvCxnSpPr>
        <p:spPr>
          <a:xfrm>
            <a:off x="4518114" y="3848100"/>
            <a:ext cx="0" cy="3819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1C54783-61D3-4ED5-BBEE-C9314942681A}"/>
              </a:ext>
            </a:extLst>
          </p:cNvPr>
          <p:cNvCxnSpPr/>
          <p:nvPr/>
        </p:nvCxnSpPr>
        <p:spPr>
          <a:xfrm>
            <a:off x="3867150" y="4550592"/>
            <a:ext cx="0" cy="478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表格 4">
            <a:extLst>
              <a:ext uri="{FF2B5EF4-FFF2-40B4-BE49-F238E27FC236}">
                <a16:creationId xmlns:a16="http://schemas.microsoft.com/office/drawing/2014/main" id="{2FAC17FC-2306-419D-A913-941F0D10D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425693"/>
              </p:ext>
            </p:extLst>
          </p:nvPr>
        </p:nvGraphicFramePr>
        <p:xfrm>
          <a:off x="8198674" y="1425594"/>
          <a:ext cx="2522748" cy="47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2748">
                  <a:extLst>
                    <a:ext uri="{9D8B030D-6E8A-4147-A177-3AD203B41FA5}">
                      <a16:colId xmlns:a16="http://schemas.microsoft.com/office/drawing/2014/main" val="1247567830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Application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68369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Transport layer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58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Network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80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Link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92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Physical layer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6470"/>
                  </a:ext>
                </a:extLst>
              </a:tr>
            </a:tbl>
          </a:graphicData>
        </a:graphic>
      </p:graphicFrame>
      <p:sp>
        <p:nvSpPr>
          <p:cNvPr id="61" name="椭圆 60">
            <a:extLst>
              <a:ext uri="{FF2B5EF4-FFF2-40B4-BE49-F238E27FC236}">
                <a16:creationId xmlns:a16="http://schemas.microsoft.com/office/drawing/2014/main" id="{4DCEA92A-ED2C-47EA-A791-677D135B9480}"/>
              </a:ext>
            </a:extLst>
          </p:cNvPr>
          <p:cNvSpPr>
            <a:spLocks noChangeAspect="1"/>
          </p:cNvSpPr>
          <p:nvPr/>
        </p:nvSpPr>
        <p:spPr>
          <a:xfrm>
            <a:off x="10167620" y="1873707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AP1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9C08A702-41C8-4961-985E-C7C8ED6FCE01}"/>
              </a:ext>
            </a:extLst>
          </p:cNvPr>
          <p:cNvSpPr>
            <a:spLocks noChangeAspect="1"/>
          </p:cNvSpPr>
          <p:nvPr/>
        </p:nvSpPr>
        <p:spPr>
          <a:xfrm>
            <a:off x="8945697" y="2003982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AP4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D7058B1C-77F6-4C51-BC63-8F51D598096E}"/>
              </a:ext>
            </a:extLst>
          </p:cNvPr>
          <p:cNvSpPr>
            <a:spLocks noChangeAspect="1"/>
          </p:cNvSpPr>
          <p:nvPr/>
        </p:nvSpPr>
        <p:spPr>
          <a:xfrm>
            <a:off x="8386298" y="1787982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AP3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FB7BE76-21A9-491F-AEED-87EFC7E2B860}"/>
              </a:ext>
            </a:extLst>
          </p:cNvPr>
          <p:cNvSpPr/>
          <p:nvPr/>
        </p:nvSpPr>
        <p:spPr>
          <a:xfrm>
            <a:off x="8350298" y="3527604"/>
            <a:ext cx="1063399" cy="32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UDP</a:t>
            </a:r>
            <a:endParaRPr lang="zh-CN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84CAA6-9436-4D5E-BAF8-C1E643338D2C}"/>
              </a:ext>
            </a:extLst>
          </p:cNvPr>
          <p:cNvSpPr/>
          <p:nvPr/>
        </p:nvSpPr>
        <p:spPr>
          <a:xfrm>
            <a:off x="9572220" y="3527604"/>
            <a:ext cx="1063399" cy="32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TCP</a:t>
            </a:r>
            <a:endParaRPr lang="zh-CN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EC3C6AB-44C9-4A88-B0BF-27A992BBB759}"/>
              </a:ext>
            </a:extLst>
          </p:cNvPr>
          <p:cNvSpPr/>
          <p:nvPr/>
        </p:nvSpPr>
        <p:spPr>
          <a:xfrm>
            <a:off x="8350298" y="2749629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09577AE-A176-4A34-8E0B-D8519B5969E9}"/>
              </a:ext>
            </a:extLst>
          </p:cNvPr>
          <p:cNvSpPr/>
          <p:nvPr/>
        </p:nvSpPr>
        <p:spPr>
          <a:xfrm>
            <a:off x="8909697" y="2746533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F4C9308-E49E-45B7-8863-0ED68D6D3DCE}"/>
              </a:ext>
            </a:extLst>
          </p:cNvPr>
          <p:cNvSpPr/>
          <p:nvPr/>
        </p:nvSpPr>
        <p:spPr>
          <a:xfrm>
            <a:off x="10131620" y="2739114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2CB934E-CD68-48BE-B632-F1211DDCB543}"/>
              </a:ext>
            </a:extLst>
          </p:cNvPr>
          <p:cNvSpPr>
            <a:spLocks noChangeAspect="1"/>
          </p:cNvSpPr>
          <p:nvPr/>
        </p:nvSpPr>
        <p:spPr>
          <a:xfrm>
            <a:off x="9610183" y="1802688"/>
            <a:ext cx="432000" cy="432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AP2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EA0083D-CB17-4651-8F37-90170DCBED32}"/>
              </a:ext>
            </a:extLst>
          </p:cNvPr>
          <p:cNvSpPr/>
          <p:nvPr/>
        </p:nvSpPr>
        <p:spPr>
          <a:xfrm>
            <a:off x="9574183" y="2739114"/>
            <a:ext cx="504000" cy="2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D2131B1C-55A8-4CDB-A8F8-28F74F0A794C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10383620" y="2305707"/>
            <a:ext cx="1" cy="43340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CEAE68E-2347-41E8-9838-BFBB88BA6755}"/>
              </a:ext>
            </a:extLst>
          </p:cNvPr>
          <p:cNvCxnSpPr>
            <a:cxnSpLocks/>
            <a:stCxn id="69" idx="4"/>
            <a:endCxn id="70" idx="0"/>
          </p:cNvCxnSpPr>
          <p:nvPr/>
        </p:nvCxnSpPr>
        <p:spPr>
          <a:xfrm>
            <a:off x="9826183" y="2234688"/>
            <a:ext cx="0" cy="50442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595BBF6-8725-4B35-9AD4-35BDA39A1A2C}"/>
              </a:ext>
            </a:extLst>
          </p:cNvPr>
          <p:cNvCxnSpPr>
            <a:stCxn id="62" idx="4"/>
            <a:endCxn id="67" idx="0"/>
          </p:cNvCxnSpPr>
          <p:nvPr/>
        </p:nvCxnSpPr>
        <p:spPr>
          <a:xfrm>
            <a:off x="9161697" y="2435982"/>
            <a:ext cx="0" cy="31055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5990D001-82C5-44AF-9A73-877AD60C7930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8594831" y="2219982"/>
            <a:ext cx="7467" cy="52964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7D992935-75D2-4BE6-9B86-01F41B7F385D}"/>
              </a:ext>
            </a:extLst>
          </p:cNvPr>
          <p:cNvCxnSpPr>
            <a:cxnSpLocks/>
            <a:stCxn id="66" idx="2"/>
          </p:cNvCxnSpPr>
          <p:nvPr/>
        </p:nvCxnSpPr>
        <p:spPr>
          <a:xfrm flipH="1">
            <a:off x="8594831" y="2965629"/>
            <a:ext cx="7467" cy="5619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D41A892-21D6-4396-89C1-D6AF48A99040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9154230" y="2962533"/>
            <a:ext cx="7467" cy="56197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267CFE1-86E4-4307-A4C8-7A2CEEC47D8A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9826183" y="2955114"/>
            <a:ext cx="0" cy="56939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81B4BE2-0E25-4623-99E8-B913DE50F36B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10383619" y="2955114"/>
            <a:ext cx="1" cy="56939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F734443F-DFD4-42A7-A26D-1DFA982AB54F}"/>
              </a:ext>
            </a:extLst>
          </p:cNvPr>
          <p:cNvSpPr/>
          <p:nvPr/>
        </p:nvSpPr>
        <p:spPr>
          <a:xfrm>
            <a:off x="8350298" y="4230096"/>
            <a:ext cx="2285321" cy="320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Demultiplexing</a:t>
            </a:r>
            <a:endParaRPr lang="zh-CN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766A1F2-487B-4A3B-8DA4-65EBEBA10F9A}"/>
              </a:ext>
            </a:extLst>
          </p:cNvPr>
          <p:cNvCxnSpPr>
            <a:cxnSpLocks/>
          </p:cNvCxnSpPr>
          <p:nvPr/>
        </p:nvCxnSpPr>
        <p:spPr>
          <a:xfrm>
            <a:off x="8909697" y="3848100"/>
            <a:ext cx="0" cy="38199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4C18764C-DF25-4233-A178-07CFC6645ECC}"/>
              </a:ext>
            </a:extLst>
          </p:cNvPr>
          <p:cNvCxnSpPr>
            <a:cxnSpLocks/>
          </p:cNvCxnSpPr>
          <p:nvPr/>
        </p:nvCxnSpPr>
        <p:spPr>
          <a:xfrm>
            <a:off x="10131620" y="3848100"/>
            <a:ext cx="0" cy="38199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52F2579-D6D3-4BBE-9B2C-195791FCA981}"/>
              </a:ext>
            </a:extLst>
          </p:cNvPr>
          <p:cNvCxnSpPr/>
          <p:nvPr/>
        </p:nvCxnSpPr>
        <p:spPr>
          <a:xfrm>
            <a:off x="9480656" y="4550592"/>
            <a:ext cx="0" cy="47860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C0C7BD56-8F12-4AE5-9378-3BB17547695B}"/>
              </a:ext>
            </a:extLst>
          </p:cNvPr>
          <p:cNvCxnSpPr>
            <a:cxnSpLocks/>
          </p:cNvCxnSpPr>
          <p:nvPr/>
        </p:nvCxnSpPr>
        <p:spPr>
          <a:xfrm>
            <a:off x="5393295" y="5962650"/>
            <a:ext cx="25200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4D666A-130C-4C2F-AC5E-DE25D63AABED}"/>
              </a:ext>
            </a:extLst>
          </p:cNvPr>
          <p:cNvCxnSpPr>
            <a:cxnSpLocks/>
          </p:cNvCxnSpPr>
          <p:nvPr/>
        </p:nvCxnSpPr>
        <p:spPr>
          <a:xfrm>
            <a:off x="5393295" y="5562600"/>
            <a:ext cx="25200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BF10980-6326-4901-82C1-34F3901E3A74}"/>
              </a:ext>
            </a:extLst>
          </p:cNvPr>
          <p:cNvCxnSpPr>
            <a:cxnSpLocks/>
          </p:cNvCxnSpPr>
          <p:nvPr/>
        </p:nvCxnSpPr>
        <p:spPr>
          <a:xfrm>
            <a:off x="5393295" y="5200650"/>
            <a:ext cx="25200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D9CBF806-C88C-4139-9478-978A3273F0FF}"/>
              </a:ext>
            </a:extLst>
          </p:cNvPr>
          <p:cNvCxnSpPr>
            <a:cxnSpLocks/>
          </p:cNvCxnSpPr>
          <p:nvPr/>
        </p:nvCxnSpPr>
        <p:spPr>
          <a:xfrm>
            <a:off x="5393295" y="3657600"/>
            <a:ext cx="25200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CE4F851-6168-4711-B05D-3FCC0C431A52}"/>
              </a:ext>
            </a:extLst>
          </p:cNvPr>
          <p:cNvCxnSpPr>
            <a:cxnSpLocks/>
          </p:cNvCxnSpPr>
          <p:nvPr/>
        </p:nvCxnSpPr>
        <p:spPr>
          <a:xfrm>
            <a:off x="5393295" y="1873707"/>
            <a:ext cx="25200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3E3A5F04-6D47-430A-AD61-D66BBD803BA3}"/>
              </a:ext>
            </a:extLst>
          </p:cNvPr>
          <p:cNvSpPr txBox="1"/>
          <p:nvPr/>
        </p:nvSpPr>
        <p:spPr>
          <a:xfrm>
            <a:off x="5863656" y="1596708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Logical channel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A0496D-35DC-46AC-A1A0-AE3853059BE1}"/>
              </a:ext>
            </a:extLst>
          </p:cNvPr>
          <p:cNvSpPr txBox="1"/>
          <p:nvPr/>
        </p:nvSpPr>
        <p:spPr>
          <a:xfrm>
            <a:off x="5863656" y="3380601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Logical channel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589ABBE-8998-4878-95EF-70B80637E1D2}"/>
              </a:ext>
            </a:extLst>
          </p:cNvPr>
          <p:cNvSpPr txBox="1"/>
          <p:nvPr/>
        </p:nvSpPr>
        <p:spPr>
          <a:xfrm>
            <a:off x="5863656" y="4923651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Logical channel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8C4FFF4B-A57A-4DC9-893A-CCEC7F6F5FED}"/>
              </a:ext>
            </a:extLst>
          </p:cNvPr>
          <p:cNvSpPr txBox="1"/>
          <p:nvPr/>
        </p:nvSpPr>
        <p:spPr>
          <a:xfrm>
            <a:off x="5863656" y="5285601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Logical channel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9" name="文本占位符 98">
            <a:extLst>
              <a:ext uri="{FF2B5EF4-FFF2-40B4-BE49-F238E27FC236}">
                <a16:creationId xmlns:a16="http://schemas.microsoft.com/office/drawing/2014/main" id="{221F86ED-38A7-4F5C-8A9E-775B34AA8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工作流</a:t>
            </a:r>
          </a:p>
        </p:txBody>
      </p:sp>
      <p:sp>
        <p:nvSpPr>
          <p:cNvPr id="100" name="文本占位符 99">
            <a:extLst>
              <a:ext uri="{FF2B5EF4-FFF2-40B4-BE49-F238E27FC236}">
                <a16:creationId xmlns:a16="http://schemas.microsoft.com/office/drawing/2014/main" id="{1CAE44E3-1B7F-4929-8B6E-A592E18768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6274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B8EDB69-9D8D-42E7-BEAB-6A42A3C549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端口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43F633-1D6C-4C0F-8646-908501B7DF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Protocol Port Number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0AA19E-0042-48B4-A43A-257534499AEA}"/>
              </a:ext>
            </a:extLst>
          </p:cNvPr>
          <p:cNvGrpSpPr/>
          <p:nvPr/>
        </p:nvGrpSpPr>
        <p:grpSpPr>
          <a:xfrm>
            <a:off x="2352675" y="1910834"/>
            <a:ext cx="1860471" cy="369332"/>
            <a:chOff x="2352675" y="2025134"/>
            <a:chExt cx="1860471" cy="36933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1556E0-875B-42E3-880B-67B1744B7F97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20AA8ED-D934-4CA1-B964-DF5DF7F57646}"/>
                </a:ext>
              </a:extLst>
            </p:cNvPr>
            <p:cNvSpPr txBox="1"/>
            <p:nvPr/>
          </p:nvSpPr>
          <p:spPr>
            <a:xfrm>
              <a:off x="3105150" y="202513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软件地址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9C20513-6B24-4C09-B8EB-80BAD4CAFAB6}"/>
              </a:ext>
            </a:extLst>
          </p:cNvPr>
          <p:cNvGrpSpPr/>
          <p:nvPr/>
        </p:nvGrpSpPr>
        <p:grpSpPr>
          <a:xfrm>
            <a:off x="2352675" y="2425184"/>
            <a:ext cx="2552968" cy="369332"/>
            <a:chOff x="2352675" y="2025134"/>
            <a:chExt cx="2552968" cy="36933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09C0468-CDF7-4C58-8B3C-AEDA612ED982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F86FE51-B180-43B9-B8E0-0DA07281042E}"/>
                </a:ext>
              </a:extLst>
            </p:cNvPr>
            <p:cNvSpPr txBox="1"/>
            <p:nvPr/>
          </p:nvSpPr>
          <p:spPr>
            <a:xfrm>
              <a:off x="3105150" y="202513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只具有本地意义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AAA53A2-2856-4B40-957D-E8F19C3D27E4}"/>
              </a:ext>
            </a:extLst>
          </p:cNvPr>
          <p:cNvGrpSpPr/>
          <p:nvPr/>
        </p:nvGrpSpPr>
        <p:grpSpPr>
          <a:xfrm>
            <a:off x="2352675" y="2939534"/>
            <a:ext cx="2551365" cy="369332"/>
            <a:chOff x="2352675" y="2025134"/>
            <a:chExt cx="2551365" cy="36933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44BC964-4EEB-4E49-B847-5B2A40421F3F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C2F3936-6EFE-4C0F-AB3B-DDD40184D649}"/>
                </a:ext>
              </a:extLst>
            </p:cNvPr>
            <p:cNvSpPr txBox="1"/>
            <p:nvPr/>
          </p:nvSpPr>
          <p:spPr>
            <a:xfrm>
              <a:off x="3105150" y="2025134"/>
              <a:ext cx="1798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16bit</a:t>
              </a:r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，共</a:t>
              </a:r>
              <a:r>
                <a:rPr lang="en-US" altLang="zh-CN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65535</a:t>
              </a:r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个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E6D4384-E61F-4239-B7A4-B5325E16B02D}"/>
              </a:ext>
            </a:extLst>
          </p:cNvPr>
          <p:cNvGrpSpPr/>
          <p:nvPr/>
        </p:nvGrpSpPr>
        <p:grpSpPr>
          <a:xfrm>
            <a:off x="2352675" y="3453884"/>
            <a:ext cx="3245465" cy="369332"/>
            <a:chOff x="2352675" y="3568184"/>
            <a:chExt cx="3245465" cy="36933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DE7795E-7E3C-439D-BF82-69027CF5A910}"/>
                </a:ext>
              </a:extLst>
            </p:cNvPr>
            <p:cNvSpPr/>
            <p:nvPr/>
          </p:nvSpPr>
          <p:spPr>
            <a:xfrm>
              <a:off x="2352675" y="361950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3843278-231A-4BB8-86E4-922A8CF6B9AA}"/>
                </a:ext>
              </a:extLst>
            </p:cNvPr>
            <p:cNvSpPr txBox="1"/>
            <p:nvPr/>
          </p:nvSpPr>
          <p:spPr>
            <a:xfrm>
              <a:off x="3105150" y="3568184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服务器端使用的端口号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6F057E-39E3-4A7C-9B29-33293604F163}"/>
              </a:ext>
            </a:extLst>
          </p:cNvPr>
          <p:cNvGrpSpPr/>
          <p:nvPr/>
        </p:nvGrpSpPr>
        <p:grpSpPr>
          <a:xfrm>
            <a:off x="2352675" y="3968234"/>
            <a:ext cx="4117499" cy="369332"/>
            <a:chOff x="2352675" y="2025134"/>
            <a:chExt cx="4117499" cy="36933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B736360-2BAA-4C61-8048-41A6981B7C4A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E6EFD4A-BDB4-41DE-9AFF-F200C2210745}"/>
                </a:ext>
              </a:extLst>
            </p:cNvPr>
            <p:cNvSpPr txBox="1"/>
            <p:nvPr/>
          </p:nvSpPr>
          <p:spPr>
            <a:xfrm>
              <a:off x="3105150" y="2025134"/>
              <a:ext cx="3365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客户端使用的端口号</a:t>
              </a:r>
              <a:r>
                <a:rPr lang="en-US" altLang="zh-CN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:49152-65535</a:t>
              </a:r>
              <a:endPara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1EE5CEFC-EAEC-4D64-B0BC-6B8E47F92EBE}"/>
              </a:ext>
            </a:extLst>
          </p:cNvPr>
          <p:cNvSpPr/>
          <p:nvPr/>
        </p:nvSpPr>
        <p:spPr>
          <a:xfrm>
            <a:off x="6419850" y="3648075"/>
            <a:ext cx="752475" cy="266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5895FB-15F6-4280-9F6C-4C62C28F91CE}"/>
              </a:ext>
            </a:extLst>
          </p:cNvPr>
          <p:cNvSpPr txBox="1"/>
          <p:nvPr/>
        </p:nvSpPr>
        <p:spPr>
          <a:xfrm>
            <a:off x="7172325" y="3596759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登记端口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:1024-49151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1C7A17-A629-4AB5-8B0B-B832C4E0970C}"/>
              </a:ext>
            </a:extLst>
          </p:cNvPr>
          <p:cNvSpPr/>
          <p:nvPr/>
        </p:nvSpPr>
        <p:spPr>
          <a:xfrm>
            <a:off x="6419850" y="3362325"/>
            <a:ext cx="752475" cy="266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E75E2A2-C858-469B-A888-294E7B8412A6}"/>
              </a:ext>
            </a:extLst>
          </p:cNvPr>
          <p:cNvSpPr txBox="1"/>
          <p:nvPr/>
        </p:nvSpPr>
        <p:spPr>
          <a:xfrm>
            <a:off x="7172325" y="3311009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熟知端口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:0-1023,</a:t>
            </a:r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全地球人都直到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F6D9D6-37C8-4863-9DF8-D3E8E6F415B5}"/>
              </a:ext>
            </a:extLst>
          </p:cNvPr>
          <p:cNvSpPr/>
          <p:nvPr/>
        </p:nvSpPr>
        <p:spPr>
          <a:xfrm>
            <a:off x="0" y="4419600"/>
            <a:ext cx="12192000" cy="2438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表格 31">
            <a:extLst>
              <a:ext uri="{FF2B5EF4-FFF2-40B4-BE49-F238E27FC236}">
                <a16:creationId xmlns:a16="http://schemas.microsoft.com/office/drawing/2014/main" id="{B775A62E-318C-4C0D-B05B-7ACF4357C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3381"/>
              </p:ext>
            </p:extLst>
          </p:nvPr>
        </p:nvGraphicFramePr>
        <p:xfrm>
          <a:off x="2352675" y="5267960"/>
          <a:ext cx="74440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681">
                  <a:extLst>
                    <a:ext uri="{9D8B030D-6E8A-4147-A177-3AD203B41FA5}">
                      <a16:colId xmlns:a16="http://schemas.microsoft.com/office/drawing/2014/main" val="2647972629"/>
                    </a:ext>
                  </a:extLst>
                </a:gridCol>
                <a:gridCol w="1240681">
                  <a:extLst>
                    <a:ext uri="{9D8B030D-6E8A-4147-A177-3AD203B41FA5}">
                      <a16:colId xmlns:a16="http://schemas.microsoft.com/office/drawing/2014/main" val="1406084142"/>
                    </a:ext>
                  </a:extLst>
                </a:gridCol>
                <a:gridCol w="1240681">
                  <a:extLst>
                    <a:ext uri="{9D8B030D-6E8A-4147-A177-3AD203B41FA5}">
                      <a16:colId xmlns:a16="http://schemas.microsoft.com/office/drawing/2014/main" val="2281904850"/>
                    </a:ext>
                  </a:extLst>
                </a:gridCol>
                <a:gridCol w="1240681">
                  <a:extLst>
                    <a:ext uri="{9D8B030D-6E8A-4147-A177-3AD203B41FA5}">
                      <a16:colId xmlns:a16="http://schemas.microsoft.com/office/drawing/2014/main" val="3279240791"/>
                    </a:ext>
                  </a:extLst>
                </a:gridCol>
                <a:gridCol w="1240681">
                  <a:extLst>
                    <a:ext uri="{9D8B030D-6E8A-4147-A177-3AD203B41FA5}">
                      <a16:colId xmlns:a16="http://schemas.microsoft.com/office/drawing/2014/main" val="1199514212"/>
                    </a:ext>
                  </a:extLst>
                </a:gridCol>
                <a:gridCol w="1240681">
                  <a:extLst>
                    <a:ext uri="{9D8B030D-6E8A-4147-A177-3AD203B41FA5}">
                      <a16:colId xmlns:a16="http://schemas.microsoft.com/office/drawing/2014/main" val="2192536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FTP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TELNET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SMTP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DNS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HTTP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HTTPS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38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53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443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924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422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7EA92E7-D303-40B7-93F3-7FD02D178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981075"/>
            <a:ext cx="4582164" cy="347711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CAECB2-C215-4DE6-90EA-D5C3371783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439" b="37704"/>
          <a:stretch/>
        </p:blipFill>
        <p:spPr>
          <a:xfrm>
            <a:off x="7096125" y="3429000"/>
            <a:ext cx="4267200" cy="24479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D7ED538-9C47-4BD0-AB34-DBA506D83D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438" b="37705"/>
          <a:stretch/>
        </p:blipFill>
        <p:spPr>
          <a:xfrm>
            <a:off x="7096126" y="981075"/>
            <a:ext cx="4267200" cy="244792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7E82F3E-390E-4345-AFE4-1A8A2EEDBF3F}"/>
              </a:ext>
            </a:extLst>
          </p:cNvPr>
          <p:cNvSpPr/>
          <p:nvPr/>
        </p:nvSpPr>
        <p:spPr>
          <a:xfrm>
            <a:off x="9315450" y="1628776"/>
            <a:ext cx="1943100" cy="323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10C049-3087-4212-A4BA-124BBA509440}"/>
              </a:ext>
            </a:extLst>
          </p:cNvPr>
          <p:cNvSpPr/>
          <p:nvPr/>
        </p:nvSpPr>
        <p:spPr>
          <a:xfrm>
            <a:off x="9315450" y="4076701"/>
            <a:ext cx="1943100" cy="323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805953CF-0600-4878-BC32-CAC085F202A5}"/>
              </a:ext>
            </a:extLst>
          </p:cNvPr>
          <p:cNvSpPr txBox="1"/>
          <p:nvPr/>
        </p:nvSpPr>
        <p:spPr>
          <a:xfrm>
            <a:off x="6115694" y="5019553"/>
            <a:ext cx="589905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r"/>
            <a:r>
              <a:rPr lang="zh-CN" altLang="en-US" sz="2000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Heavy" panose="020F0502020204030203" pitchFamily="34" charset="0"/>
              </a:rPr>
              <a:t>实验</a:t>
            </a:r>
            <a:endParaRPr lang="id-ID" sz="2000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Heavy" panose="020F0502020204030203" pitchFamily="34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76DFD2E-C263-4FF7-9C44-0DDEF719AC46}"/>
              </a:ext>
            </a:extLst>
          </p:cNvPr>
          <p:cNvCxnSpPr>
            <a:cxnSpLocks/>
          </p:cNvCxnSpPr>
          <p:nvPr/>
        </p:nvCxnSpPr>
        <p:spPr>
          <a:xfrm>
            <a:off x="2771774" y="5402072"/>
            <a:ext cx="4324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5">
            <a:extLst>
              <a:ext uri="{FF2B5EF4-FFF2-40B4-BE49-F238E27FC236}">
                <a16:creationId xmlns:a16="http://schemas.microsoft.com/office/drawing/2014/main" id="{26FAD7EA-AE47-4A90-BD29-FE6E734F926D}"/>
              </a:ext>
            </a:extLst>
          </p:cNvPr>
          <p:cNvSpPr txBox="1"/>
          <p:nvPr/>
        </p:nvSpPr>
        <p:spPr>
          <a:xfrm>
            <a:off x="933451" y="5476815"/>
            <a:ext cx="6162674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altLang="zh-CN" sz="2000" spc="3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rPr>
              <a:t>Operation</a:t>
            </a:r>
            <a:endParaRPr lang="id-ID" sz="2000" spc="300" dirty="0">
              <a:solidFill>
                <a:schemeClr val="bg1"/>
              </a:solidFill>
              <a:latin typeface="Lato Heavy" panose="020F0502020204030203" pitchFamily="34" charset="0"/>
              <a:ea typeface="Lato Heavy" panose="020F0502020204030203" pitchFamily="34" charset="0"/>
              <a:cs typeface="Lato Heavy" panose="020F0502020204030203" pitchFamily="34" charset="0"/>
            </a:endParaRPr>
          </a:p>
        </p:txBody>
      </p:sp>
      <p:sp>
        <p:nvSpPr>
          <p:cNvPr id="23" name="Shape 5125">
            <a:extLst>
              <a:ext uri="{FF2B5EF4-FFF2-40B4-BE49-F238E27FC236}">
                <a16:creationId xmlns:a16="http://schemas.microsoft.com/office/drawing/2014/main" id="{EDE6F104-422B-4E45-82EA-FB0F0E718996}"/>
              </a:ext>
            </a:extLst>
          </p:cNvPr>
          <p:cNvSpPr/>
          <p:nvPr/>
        </p:nvSpPr>
        <p:spPr>
          <a:xfrm>
            <a:off x="6821840" y="5057667"/>
            <a:ext cx="274285" cy="2315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9818" y="35598"/>
                </a:moveTo>
                <a:lnTo>
                  <a:pt x="89818" y="35598"/>
                </a:lnTo>
                <a:cubicBezTo>
                  <a:pt x="93923" y="35598"/>
                  <a:pt x="93923" y="35598"/>
                  <a:pt x="93923" y="35598"/>
                </a:cubicBezTo>
                <a:cubicBezTo>
                  <a:pt x="93923" y="51100"/>
                  <a:pt x="93923" y="51100"/>
                  <a:pt x="93923" y="51100"/>
                </a:cubicBezTo>
                <a:cubicBezTo>
                  <a:pt x="119758" y="25550"/>
                  <a:pt x="119758" y="25550"/>
                  <a:pt x="119758" y="25550"/>
                </a:cubicBezTo>
                <a:cubicBezTo>
                  <a:pt x="93923" y="0"/>
                  <a:pt x="93923" y="0"/>
                  <a:pt x="93923" y="0"/>
                </a:cubicBezTo>
                <a:cubicBezTo>
                  <a:pt x="93923" y="15215"/>
                  <a:pt x="93923" y="15215"/>
                  <a:pt x="93923" y="15215"/>
                </a:cubicBezTo>
                <a:cubicBezTo>
                  <a:pt x="89818" y="15215"/>
                  <a:pt x="89818" y="15215"/>
                  <a:pt x="89818" y="15215"/>
                </a:cubicBezTo>
                <a:cubicBezTo>
                  <a:pt x="68329" y="15215"/>
                  <a:pt x="55533" y="35598"/>
                  <a:pt x="44909" y="53684"/>
                </a:cubicBezTo>
                <a:cubicBezTo>
                  <a:pt x="34044" y="68899"/>
                  <a:pt x="25593" y="81531"/>
                  <a:pt x="12796" y="81531"/>
                </a:cubicBezTo>
                <a:cubicBezTo>
                  <a:pt x="0" y="81531"/>
                  <a:pt x="0" y="81531"/>
                  <a:pt x="0" y="81531"/>
                </a:cubicBezTo>
                <a:cubicBezTo>
                  <a:pt x="0" y="101913"/>
                  <a:pt x="0" y="101913"/>
                  <a:pt x="0" y="101913"/>
                </a:cubicBezTo>
                <a:cubicBezTo>
                  <a:pt x="12796" y="101913"/>
                  <a:pt x="12796" y="101913"/>
                  <a:pt x="12796" y="101913"/>
                </a:cubicBezTo>
                <a:cubicBezTo>
                  <a:pt x="34044" y="101913"/>
                  <a:pt x="46841" y="81531"/>
                  <a:pt x="57706" y="63732"/>
                </a:cubicBezTo>
                <a:cubicBezTo>
                  <a:pt x="68329" y="48516"/>
                  <a:pt x="77022" y="35598"/>
                  <a:pt x="89818" y="35598"/>
                </a:cubicBezTo>
                <a:close/>
                <a:moveTo>
                  <a:pt x="31871" y="48516"/>
                </a:moveTo>
                <a:lnTo>
                  <a:pt x="31871" y="48516"/>
                </a:lnTo>
                <a:cubicBezTo>
                  <a:pt x="31871" y="45933"/>
                  <a:pt x="34044" y="45933"/>
                  <a:pt x="34044" y="43636"/>
                </a:cubicBezTo>
                <a:cubicBezTo>
                  <a:pt x="36217" y="41052"/>
                  <a:pt x="40321" y="35598"/>
                  <a:pt x="42736" y="33301"/>
                </a:cubicBezTo>
                <a:cubicBezTo>
                  <a:pt x="34044" y="22966"/>
                  <a:pt x="25593" y="18086"/>
                  <a:pt x="12796" y="18086"/>
                </a:cubicBezTo>
                <a:cubicBezTo>
                  <a:pt x="0" y="18086"/>
                  <a:pt x="0" y="18086"/>
                  <a:pt x="0" y="18086"/>
                </a:cubicBezTo>
                <a:cubicBezTo>
                  <a:pt x="0" y="38468"/>
                  <a:pt x="0" y="38468"/>
                  <a:pt x="0" y="38468"/>
                </a:cubicBezTo>
                <a:cubicBezTo>
                  <a:pt x="12796" y="38468"/>
                  <a:pt x="12796" y="38468"/>
                  <a:pt x="12796" y="38468"/>
                </a:cubicBezTo>
                <a:cubicBezTo>
                  <a:pt x="19074" y="38468"/>
                  <a:pt x="25593" y="41052"/>
                  <a:pt x="31871" y="48516"/>
                </a:cubicBezTo>
                <a:close/>
                <a:moveTo>
                  <a:pt x="93923" y="84114"/>
                </a:moveTo>
                <a:lnTo>
                  <a:pt x="93923" y="84114"/>
                </a:lnTo>
                <a:cubicBezTo>
                  <a:pt x="89818" y="84114"/>
                  <a:pt x="89818" y="84114"/>
                  <a:pt x="89818" y="84114"/>
                </a:cubicBezTo>
                <a:cubicBezTo>
                  <a:pt x="81126" y="84114"/>
                  <a:pt x="74849" y="78947"/>
                  <a:pt x="68329" y="71483"/>
                </a:cubicBezTo>
                <a:cubicBezTo>
                  <a:pt x="68329" y="71483"/>
                  <a:pt x="68329" y="71483"/>
                  <a:pt x="68329" y="74066"/>
                </a:cubicBezTo>
                <a:cubicBezTo>
                  <a:pt x="64225" y="76363"/>
                  <a:pt x="62052" y="81531"/>
                  <a:pt x="59879" y="86698"/>
                </a:cubicBezTo>
                <a:cubicBezTo>
                  <a:pt x="66156" y="96746"/>
                  <a:pt x="77022" y="101913"/>
                  <a:pt x="89818" y="101913"/>
                </a:cubicBezTo>
                <a:cubicBezTo>
                  <a:pt x="93923" y="101913"/>
                  <a:pt x="93923" y="101913"/>
                  <a:pt x="93923" y="101913"/>
                </a:cubicBezTo>
                <a:cubicBezTo>
                  <a:pt x="93923" y="119712"/>
                  <a:pt x="93923" y="119712"/>
                  <a:pt x="93923" y="119712"/>
                </a:cubicBezTo>
                <a:cubicBezTo>
                  <a:pt x="119758" y="94162"/>
                  <a:pt x="119758" y="94162"/>
                  <a:pt x="119758" y="94162"/>
                </a:cubicBezTo>
                <a:cubicBezTo>
                  <a:pt x="93923" y="68899"/>
                  <a:pt x="93923" y="68899"/>
                  <a:pt x="93923" y="68899"/>
                </a:cubicBezTo>
                <a:lnTo>
                  <a:pt x="93923" y="84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07673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293CB8-4588-40D0-91AE-7600EA9D15FA}"/>
              </a:ext>
            </a:extLst>
          </p:cNvPr>
          <p:cNvSpPr/>
          <p:nvPr/>
        </p:nvSpPr>
        <p:spPr>
          <a:xfrm>
            <a:off x="-2" y="4657725"/>
            <a:ext cx="12192001" cy="2200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62FF07-5B1D-4069-B2D9-4C1FC4D42BD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202237"/>
            <a:ext cx="3543300" cy="64611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AF862-2F71-407C-86CB-D6AFF66B6A2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857875"/>
            <a:ext cx="3543300" cy="32067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Datagram Protocol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E18A26-8E84-4F62-9B6F-350B7F4435C6}"/>
              </a:ext>
            </a:extLst>
          </p:cNvPr>
          <p:cNvSpPr/>
          <p:nvPr/>
        </p:nvSpPr>
        <p:spPr>
          <a:xfrm>
            <a:off x="-1" y="888283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E346F3-F188-42B3-A576-652B5325C983}"/>
              </a:ext>
            </a:extLst>
          </p:cNvPr>
          <p:cNvSpPr txBox="1"/>
          <p:nvPr/>
        </p:nvSpPr>
        <p:spPr>
          <a:xfrm>
            <a:off x="463221" y="77561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无连接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50B469-8F4D-4C8B-BAF5-3FB61596D5E0}"/>
              </a:ext>
            </a:extLst>
          </p:cNvPr>
          <p:cNvSpPr/>
          <p:nvPr/>
        </p:nvSpPr>
        <p:spPr>
          <a:xfrm>
            <a:off x="-1" y="1318828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AD810B-6262-4C6A-9E14-61BE133BB5C5}"/>
              </a:ext>
            </a:extLst>
          </p:cNvPr>
          <p:cNvSpPr txBox="1"/>
          <p:nvPr/>
        </p:nvSpPr>
        <p:spPr>
          <a:xfrm>
            <a:off x="463221" y="12061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尽最大努力交付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028B13-F622-46DE-8888-76830A7CFFD0}"/>
              </a:ext>
            </a:extLst>
          </p:cNvPr>
          <p:cNvSpPr/>
          <p:nvPr/>
        </p:nvSpPr>
        <p:spPr>
          <a:xfrm>
            <a:off x="-1" y="1749373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5B33EE-8C40-483D-A0C7-732D050B39E9}"/>
              </a:ext>
            </a:extLst>
          </p:cNvPr>
          <p:cNvSpPr txBox="1"/>
          <p:nvPr/>
        </p:nvSpPr>
        <p:spPr>
          <a:xfrm>
            <a:off x="463221" y="16367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面向报文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BF5CE3-32ED-4382-BEAC-E7DC01BC423D}"/>
              </a:ext>
            </a:extLst>
          </p:cNvPr>
          <p:cNvSpPr/>
          <p:nvPr/>
        </p:nvSpPr>
        <p:spPr>
          <a:xfrm>
            <a:off x="-1" y="2179918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D15562-8AF3-4E56-A6A0-3024532FED83}"/>
              </a:ext>
            </a:extLst>
          </p:cNvPr>
          <p:cNvSpPr txBox="1"/>
          <p:nvPr/>
        </p:nvSpPr>
        <p:spPr>
          <a:xfrm>
            <a:off x="463221" y="20672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不确认</a:t>
            </a:r>
            <a:endParaRPr lang="en-US" altLang="zh-CN" dirty="0"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70FC94-7F02-4520-A0C6-B686D0F4080E}"/>
              </a:ext>
            </a:extLst>
          </p:cNvPr>
          <p:cNvSpPr/>
          <p:nvPr/>
        </p:nvSpPr>
        <p:spPr>
          <a:xfrm>
            <a:off x="-1" y="2610463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00AAAF-6268-40AB-B7E5-B7E9312CF16B}"/>
              </a:ext>
            </a:extLst>
          </p:cNvPr>
          <p:cNvSpPr txBox="1"/>
          <p:nvPr/>
        </p:nvSpPr>
        <p:spPr>
          <a:xfrm>
            <a:off x="463221" y="249779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没有拥塞控制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E2BC5B-CFAE-4A9C-B03A-AB7EE028A871}"/>
              </a:ext>
            </a:extLst>
          </p:cNvPr>
          <p:cNvSpPr/>
          <p:nvPr/>
        </p:nvSpPr>
        <p:spPr>
          <a:xfrm>
            <a:off x="-1" y="3041008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E5584DD-68E4-44B9-A79F-B3305C44A890}"/>
              </a:ext>
            </a:extLst>
          </p:cNvPr>
          <p:cNvSpPr txBox="1"/>
          <p:nvPr/>
        </p:nvSpPr>
        <p:spPr>
          <a:xfrm>
            <a:off x="463221" y="292834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实时通信、点播、多播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E44932-273E-4A4D-976A-68CC68EF2B5F}"/>
              </a:ext>
            </a:extLst>
          </p:cNvPr>
          <p:cNvSpPr/>
          <p:nvPr/>
        </p:nvSpPr>
        <p:spPr>
          <a:xfrm>
            <a:off x="0" y="3471553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5DD089-1830-490A-B129-76CBDEB3AB4F}"/>
              </a:ext>
            </a:extLst>
          </p:cNvPr>
          <p:cNvSpPr txBox="1"/>
          <p:nvPr/>
        </p:nvSpPr>
        <p:spPr>
          <a:xfrm>
            <a:off x="463222" y="3358887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首部开销小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-8</a:t>
            </a:r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个字节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694A09-BEBA-4815-811F-D0A9235D19FA}"/>
              </a:ext>
            </a:extLst>
          </p:cNvPr>
          <p:cNvSpPr/>
          <p:nvPr/>
        </p:nvSpPr>
        <p:spPr>
          <a:xfrm>
            <a:off x="0" y="4332642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30" name="文本框 29">
            <a:hlinkClick r:id="rId2"/>
            <a:extLst>
              <a:ext uri="{FF2B5EF4-FFF2-40B4-BE49-F238E27FC236}">
                <a16:creationId xmlns:a16="http://schemas.microsoft.com/office/drawing/2014/main" id="{E01A77E3-F0B9-42CE-B77B-349DDBC546E4}"/>
              </a:ext>
            </a:extLst>
          </p:cNvPr>
          <p:cNvSpPr txBox="1"/>
          <p:nvPr/>
        </p:nvSpPr>
        <p:spPr>
          <a:xfrm>
            <a:off x="463222" y="4219976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RFC 768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AF38CF-C0E3-45DC-81D6-FE60E1A5519F}"/>
              </a:ext>
            </a:extLst>
          </p:cNvPr>
          <p:cNvSpPr/>
          <p:nvPr/>
        </p:nvSpPr>
        <p:spPr>
          <a:xfrm>
            <a:off x="-2" y="3902098"/>
            <a:ext cx="432000" cy="14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6809D1E-95CB-4812-BB30-C95847A5CA81}"/>
              </a:ext>
            </a:extLst>
          </p:cNvPr>
          <p:cNvSpPr txBox="1"/>
          <p:nvPr/>
        </p:nvSpPr>
        <p:spPr>
          <a:xfrm>
            <a:off x="463220" y="3789432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应用：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DNS</a:t>
            </a:r>
            <a:r>
              <a: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SNMP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274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293CB8-4588-40D0-91AE-7600EA9D15FA}"/>
              </a:ext>
            </a:extLst>
          </p:cNvPr>
          <p:cNvSpPr/>
          <p:nvPr/>
        </p:nvSpPr>
        <p:spPr>
          <a:xfrm>
            <a:off x="-2" y="4657725"/>
            <a:ext cx="12192001" cy="2200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62FF07-5B1D-4069-B2D9-4C1FC4D42BD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202237"/>
            <a:ext cx="3543300" cy="64611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AF862-2F71-407C-86CB-D6AFF66B6A2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857875"/>
            <a:ext cx="3543300" cy="32067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Datagram Protocol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75093AD-D370-4931-A2B8-8084EA70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009650"/>
            <a:ext cx="3505200" cy="2419350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F60E5FEB-E179-4C14-B541-A337AE62B0A1}"/>
              </a:ext>
            </a:extLst>
          </p:cNvPr>
          <p:cNvSpPr txBox="1"/>
          <p:nvPr/>
        </p:nvSpPr>
        <p:spPr>
          <a:xfrm>
            <a:off x="4213412" y="409485"/>
            <a:ext cx="753091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Source Port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is an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optional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 field, when meaningful, it indicates the port of the sending  process,  and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may be assumed 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to be the port  to which a reply should  be addressed  in the absence of any other information.  If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not used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, a value of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zero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 is inserted.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FE40FEE-1882-4189-BF53-15C9D39ABA98}"/>
              </a:ext>
            </a:extLst>
          </p:cNvPr>
          <p:cNvSpPr txBox="1"/>
          <p:nvPr/>
        </p:nvSpPr>
        <p:spPr>
          <a:xfrm>
            <a:off x="4213410" y="1771050"/>
            <a:ext cx="75309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Destination  Port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has a meaning  within  the  context  of  a 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particular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 internet destination address.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D6B92E-8FBA-4227-9EDB-B8E81DAA2DF9}"/>
              </a:ext>
            </a:extLst>
          </p:cNvPr>
          <p:cNvSpPr txBox="1"/>
          <p:nvPr/>
        </p:nvSpPr>
        <p:spPr>
          <a:xfrm>
            <a:off x="4213409" y="3386185"/>
            <a:ext cx="753091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Checksum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is the 16-bit one's complement of the one's complement sum of a pseudo header of information from the IP header, the UDP header, and the data,  padded  with zero octets  at the end (if  necessary)  to  make  a multiple of two octets.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7C0B601-0A9D-4C23-885A-DB931CE82A14}"/>
              </a:ext>
            </a:extLst>
          </p:cNvPr>
          <p:cNvSpPr txBox="1"/>
          <p:nvPr/>
        </p:nvSpPr>
        <p:spPr>
          <a:xfrm>
            <a:off x="4213411" y="2578618"/>
            <a:ext cx="753091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US" altLang="zh-CN" dirty="0">
                <a:solidFill>
                  <a:srgbClr val="FF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Length 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is the length 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in octets 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of this user datagram  including 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this header  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and </a:t>
            </a:r>
            <a:r>
              <a:rPr lang="en-US" altLang="zh-CN" u="sng" dirty="0">
                <a:latin typeface="Cuprum" panose="00000500000000000000" pitchFamily="2" charset="0"/>
                <a:ea typeface="微软雅黑 Light" panose="020B0502040204020203" pitchFamily="34" charset="-122"/>
              </a:rPr>
              <a:t>the data</a:t>
            </a:r>
            <a:r>
              <a:rPr lang="en-US" altLang="zh-CN" dirty="0">
                <a:latin typeface="Cuprum" panose="00000500000000000000" pitchFamily="2" charset="0"/>
                <a:ea typeface="微软雅黑 Light" panose="020B0502040204020203" pitchFamily="34" charset="-122"/>
              </a:rPr>
              <a:t>.   (This  means  the minimum value of the length is eight.)</a:t>
            </a:r>
            <a:endParaRPr lang="zh-CN" altLang="en-US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801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293CB8-4588-40D0-91AE-7600EA9D15FA}"/>
              </a:ext>
            </a:extLst>
          </p:cNvPr>
          <p:cNvSpPr/>
          <p:nvPr/>
        </p:nvSpPr>
        <p:spPr>
          <a:xfrm>
            <a:off x="-2" y="4657725"/>
            <a:ext cx="12192001" cy="2200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62FF07-5B1D-4069-B2D9-4C1FC4D42BD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202237"/>
            <a:ext cx="3543300" cy="64611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AF862-2F71-407C-86CB-D6AFF66B6A2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857875"/>
            <a:ext cx="3543300" cy="32067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Datagram Protocol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D75093AD-D370-4931-A2B8-8084EA70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009650"/>
            <a:ext cx="3505200" cy="2419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4BE13D-5B50-4407-802D-AA1E47D0E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5691" y="673304"/>
            <a:ext cx="5760000" cy="309204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142D385-6559-41AE-B49E-DD24F072FC27}"/>
              </a:ext>
            </a:extLst>
          </p:cNvPr>
          <p:cNvSpPr txBox="1"/>
          <p:nvPr/>
        </p:nvSpPr>
        <p:spPr>
          <a:xfrm>
            <a:off x="5215692" y="3914360"/>
            <a:ext cx="57600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zh-CN" altLang="en-US" sz="1600" dirty="0">
                <a:solidFill>
                  <a:srgbClr val="FF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伪首部</a:t>
            </a:r>
            <a:r>
              <a:rPr lang="en-US" altLang="zh-CN" sz="1600" dirty="0">
                <a:solidFill>
                  <a:srgbClr val="FF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  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只在计算校验和时出现，不向下传送，也不向上递交</a:t>
            </a:r>
          </a:p>
        </p:txBody>
      </p:sp>
    </p:spTree>
    <p:extLst>
      <p:ext uri="{BB962C8B-B14F-4D97-AF65-F5344CB8AC3E}">
        <p14:creationId xmlns:p14="http://schemas.microsoft.com/office/powerpoint/2010/main" val="53077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293CB8-4588-40D0-91AE-7600EA9D15FA}"/>
              </a:ext>
            </a:extLst>
          </p:cNvPr>
          <p:cNvSpPr/>
          <p:nvPr/>
        </p:nvSpPr>
        <p:spPr>
          <a:xfrm>
            <a:off x="-2" y="4657725"/>
            <a:ext cx="12192001" cy="2200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62FF07-5B1D-4069-B2D9-4C1FC4D42BD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202237"/>
            <a:ext cx="3543300" cy="64611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用户数据报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AF862-2F71-407C-86CB-D6AFF66B6A2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857875"/>
            <a:ext cx="3543300" cy="32067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Datagram Protocol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B507E6-B728-4CDF-91F4-5CC9C3303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257" y="673304"/>
            <a:ext cx="5760000" cy="354989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59DD215-6731-4E56-8758-558F3493369F}"/>
              </a:ext>
            </a:extLst>
          </p:cNvPr>
          <p:cNvSpPr/>
          <p:nvPr/>
        </p:nvSpPr>
        <p:spPr>
          <a:xfrm>
            <a:off x="6391835" y="376518"/>
            <a:ext cx="1219200" cy="2967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发送方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85A5458-4AA6-4D54-A904-A3286857C39B}"/>
              </a:ext>
            </a:extLst>
          </p:cNvPr>
          <p:cNvCxnSpPr>
            <a:cxnSpLocks/>
          </p:cNvCxnSpPr>
          <p:nvPr/>
        </p:nvCxnSpPr>
        <p:spPr>
          <a:xfrm>
            <a:off x="6391835" y="673304"/>
            <a:ext cx="5400000" cy="0"/>
          </a:xfrm>
          <a:prstGeom prst="line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B13FA9D-4CD7-49A3-A9F3-DDB0C1B6BC63}"/>
              </a:ext>
            </a:extLst>
          </p:cNvPr>
          <p:cNvSpPr txBox="1"/>
          <p:nvPr/>
        </p:nvSpPr>
        <p:spPr>
          <a:xfrm>
            <a:off x="6391835" y="800813"/>
            <a:ext cx="5400000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填上伪首部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全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0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填充校验和字段；全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0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填充数据部分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伪首部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+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首部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+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数据三部分采用二进制反码求和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求和结果填入校验和字段并发送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UDP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报文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algn="just">
              <a:buClr>
                <a:srgbClr val="C00000"/>
              </a:buClr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注意：最高进位必须加进去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3B168E-6551-4685-BC0F-F1815511792B}"/>
              </a:ext>
            </a:extLst>
          </p:cNvPr>
          <p:cNvSpPr/>
          <p:nvPr/>
        </p:nvSpPr>
        <p:spPr>
          <a:xfrm>
            <a:off x="6391835" y="2261789"/>
            <a:ext cx="1219200" cy="2967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接收方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DCCCAB1-CE24-4B32-9201-7D4838683542}"/>
              </a:ext>
            </a:extLst>
          </p:cNvPr>
          <p:cNvCxnSpPr>
            <a:cxnSpLocks/>
          </p:cNvCxnSpPr>
          <p:nvPr/>
        </p:nvCxnSpPr>
        <p:spPr>
          <a:xfrm>
            <a:off x="6391835" y="2558575"/>
            <a:ext cx="5400000" cy="0"/>
          </a:xfrm>
          <a:prstGeom prst="line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CFA1BF7-C2AC-4AE4-90FA-A6E7AF296A90}"/>
              </a:ext>
            </a:extLst>
          </p:cNvPr>
          <p:cNvSpPr txBox="1"/>
          <p:nvPr/>
        </p:nvSpPr>
        <p:spPr>
          <a:xfrm>
            <a:off x="6391835" y="2686084"/>
            <a:ext cx="5400000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填上伪首部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伪首部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+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首部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+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数据三部分采用二进制反码求和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结果全为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1</a:t>
            </a: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则无差错；否则丢弃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marL="180000" indent="-180000" algn="just">
              <a:buClr>
                <a:srgbClr val="C00000"/>
              </a:buClr>
              <a:buFont typeface="+mj-lt"/>
              <a:buAutoNum type="arabicPeriod"/>
            </a:pPr>
            <a:endParaRPr lang="zh-CN" altLang="en-US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900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B293CB8-4588-40D0-91AE-7600EA9D15FA}"/>
              </a:ext>
            </a:extLst>
          </p:cNvPr>
          <p:cNvSpPr/>
          <p:nvPr/>
        </p:nvSpPr>
        <p:spPr>
          <a:xfrm>
            <a:off x="-2" y="4657725"/>
            <a:ext cx="12192001" cy="2200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062FF07-5B1D-4069-B2D9-4C1FC4D42BD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202237"/>
            <a:ext cx="3543300" cy="646113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传输控制协议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AF862-2F71-407C-86CB-D6AFF66B6A2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8625" y="5857875"/>
            <a:ext cx="3543300" cy="32067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Control Protocol</a:t>
            </a:r>
            <a:endParaRPr lang="zh-CN" alt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6E315F-60A8-48FD-B14D-B10296553606}"/>
              </a:ext>
            </a:extLst>
          </p:cNvPr>
          <p:cNvGrpSpPr/>
          <p:nvPr/>
        </p:nvGrpSpPr>
        <p:grpSpPr>
          <a:xfrm>
            <a:off x="-1" y="514350"/>
            <a:ext cx="1860471" cy="369332"/>
            <a:chOff x="2352675" y="2025134"/>
            <a:chExt cx="1860471" cy="36933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EE18A26-8E84-4F62-9B6F-350B7F4435C6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E346F3-F188-42B3-A576-652B5325C983}"/>
                </a:ext>
              </a:extLst>
            </p:cNvPr>
            <p:cNvSpPr txBox="1"/>
            <p:nvPr/>
          </p:nvSpPr>
          <p:spPr>
            <a:xfrm>
              <a:off x="3105150" y="202513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面向连接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3FCFABA-D986-4CDC-B871-8A17EF8E02C0}"/>
              </a:ext>
            </a:extLst>
          </p:cNvPr>
          <p:cNvGrpSpPr/>
          <p:nvPr/>
        </p:nvGrpSpPr>
        <p:grpSpPr>
          <a:xfrm>
            <a:off x="-1" y="1006401"/>
            <a:ext cx="5784622" cy="369332"/>
            <a:chOff x="2352675" y="2025134"/>
            <a:chExt cx="5784622" cy="36933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950B469-8F4D-4C8B-BAF5-3FB61596D5E0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AD810B-6262-4C6A-9E14-61BE133BB5C5}"/>
                </a:ext>
              </a:extLst>
            </p:cNvPr>
            <p:cNvSpPr txBox="1"/>
            <p:nvPr/>
          </p:nvSpPr>
          <p:spPr>
            <a:xfrm>
              <a:off x="3105150" y="2025134"/>
              <a:ext cx="50321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可靠交付：无差错、不丢失、不重复、按序达到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6A92790-1C00-4D52-9EAE-EC11C31766C6}"/>
              </a:ext>
            </a:extLst>
          </p:cNvPr>
          <p:cNvGrpSpPr/>
          <p:nvPr/>
        </p:nvGrpSpPr>
        <p:grpSpPr>
          <a:xfrm>
            <a:off x="-1" y="1498452"/>
            <a:ext cx="12247930" cy="369332"/>
            <a:chOff x="2352675" y="2025134"/>
            <a:chExt cx="12247930" cy="36933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8028B13-F622-46DE-8888-76830A7CFFD0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85B33EE-8C40-483D-A0C7-732D050B39E9}"/>
                </a:ext>
              </a:extLst>
            </p:cNvPr>
            <p:cNvSpPr txBox="1"/>
            <p:nvPr/>
          </p:nvSpPr>
          <p:spPr>
            <a:xfrm>
              <a:off x="3105150" y="2025134"/>
              <a:ext cx="11495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面向字节流：流入到进程或从进程流出的字节序列，即：把应用层交付下来的数据看成一连串的无结构的字节流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0064793-57E8-423C-B65C-3AEEBC30E30E}"/>
              </a:ext>
            </a:extLst>
          </p:cNvPr>
          <p:cNvGrpSpPr/>
          <p:nvPr/>
        </p:nvGrpSpPr>
        <p:grpSpPr>
          <a:xfrm>
            <a:off x="-1" y="1990503"/>
            <a:ext cx="1860471" cy="369332"/>
            <a:chOff x="2352675" y="3568184"/>
            <a:chExt cx="1860471" cy="36933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0BF5CE3-32ED-4382-BEAC-E7DC01BC423D}"/>
                </a:ext>
              </a:extLst>
            </p:cNvPr>
            <p:cNvSpPr/>
            <p:nvPr/>
          </p:nvSpPr>
          <p:spPr>
            <a:xfrm>
              <a:off x="2352675" y="361950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CD15562-8AF3-4E56-A6A0-3024532FED83}"/>
                </a:ext>
              </a:extLst>
            </p:cNvPr>
            <p:cNvSpPr txBox="1"/>
            <p:nvPr/>
          </p:nvSpPr>
          <p:spPr>
            <a:xfrm>
              <a:off x="3105150" y="356818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需要确认</a:t>
              </a:r>
              <a:endParaRPr lang="en-US" altLang="zh-CN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E91799E-4FCE-4B7B-8EB8-945CCC66522B}"/>
              </a:ext>
            </a:extLst>
          </p:cNvPr>
          <p:cNvGrpSpPr/>
          <p:nvPr/>
        </p:nvGrpSpPr>
        <p:grpSpPr>
          <a:xfrm>
            <a:off x="-1" y="2482554"/>
            <a:ext cx="3476298" cy="369332"/>
            <a:chOff x="2352675" y="2025134"/>
            <a:chExt cx="3476298" cy="36933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070FC94-7F02-4520-A0C6-B686D0F4080E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500AAAF-6268-40AB-B7E5-B7E9312CF16B}"/>
                </a:ext>
              </a:extLst>
            </p:cNvPr>
            <p:cNvSpPr txBox="1"/>
            <p:nvPr/>
          </p:nvSpPr>
          <p:spPr>
            <a:xfrm>
              <a:off x="3105150" y="2025134"/>
              <a:ext cx="2723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有流量控制、有拥塞控制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0F4D057-8B0E-42DC-95AE-A3EA63F7927F}"/>
              </a:ext>
            </a:extLst>
          </p:cNvPr>
          <p:cNvGrpSpPr/>
          <p:nvPr/>
        </p:nvGrpSpPr>
        <p:grpSpPr>
          <a:xfrm>
            <a:off x="-1" y="2974605"/>
            <a:ext cx="2783800" cy="369332"/>
            <a:chOff x="2352675" y="2025134"/>
            <a:chExt cx="2783800" cy="369332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CE2BC5B-CFAE-4A9C-B03A-AB7EE028A871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E5584DD-68E4-44B9-A79F-B3305C44A890}"/>
                </a:ext>
              </a:extLst>
            </p:cNvPr>
            <p:cNvSpPr txBox="1"/>
            <p:nvPr/>
          </p:nvSpPr>
          <p:spPr>
            <a:xfrm>
              <a:off x="3105150" y="2025134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点对点双全工通信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FC74C84-DFD6-4BE4-9F38-C3E92FD28BF3}"/>
              </a:ext>
            </a:extLst>
          </p:cNvPr>
          <p:cNvGrpSpPr/>
          <p:nvPr/>
        </p:nvGrpSpPr>
        <p:grpSpPr>
          <a:xfrm>
            <a:off x="0" y="3466656"/>
            <a:ext cx="2091303" cy="369332"/>
            <a:chOff x="2352675" y="2025134"/>
            <a:chExt cx="2091303" cy="369332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FE44932-273E-4A4D-976A-68CC68EF2B5F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D5DD089-1830-490A-B129-76CBDEB3AB4F}"/>
                </a:ext>
              </a:extLst>
            </p:cNvPr>
            <p:cNvSpPr txBox="1"/>
            <p:nvPr/>
          </p:nvSpPr>
          <p:spPr>
            <a:xfrm>
              <a:off x="3105150" y="202513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首部开销大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BE5D751-374D-445B-BCAF-2BB9E2311DDF}"/>
              </a:ext>
            </a:extLst>
          </p:cNvPr>
          <p:cNvGrpSpPr/>
          <p:nvPr/>
        </p:nvGrpSpPr>
        <p:grpSpPr>
          <a:xfrm>
            <a:off x="0" y="3958709"/>
            <a:ext cx="1608800" cy="369332"/>
            <a:chOff x="2352675" y="2025134"/>
            <a:chExt cx="1608800" cy="36933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A694A09-BEBA-4815-811F-D0A9235D19FA}"/>
                </a:ext>
              </a:extLst>
            </p:cNvPr>
            <p:cNvSpPr/>
            <p:nvPr/>
          </p:nvSpPr>
          <p:spPr>
            <a:xfrm>
              <a:off x="2352675" y="2076450"/>
              <a:ext cx="752475" cy="2667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01A77E3-F0B9-42CE-B77B-349DDBC546E4}"/>
                </a:ext>
              </a:extLst>
            </p:cNvPr>
            <p:cNvSpPr txBox="1"/>
            <p:nvPr/>
          </p:nvSpPr>
          <p:spPr>
            <a:xfrm>
              <a:off x="3105150" y="2025134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uprum" panose="00000500000000000000" pitchFamily="2" charset="0"/>
                  <a:ea typeface="微软雅黑 Light" panose="020B0502040204020203" pitchFamily="34" charset="-122"/>
                  <a:cs typeface="Courier New" panose="02070309020205020404" pitchFamily="49" charset="0"/>
                </a:rPr>
                <a:t>RFC 793</a:t>
              </a:r>
              <a:endParaRPr lang="zh-CN" altLang="en-US" dirty="0"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endParaRPr>
            </a:p>
          </p:txBody>
        </p:sp>
      </p:grpSp>
      <p:graphicFrame>
        <p:nvGraphicFramePr>
          <p:cNvPr id="31" name="表格 31">
            <a:extLst>
              <a:ext uri="{FF2B5EF4-FFF2-40B4-BE49-F238E27FC236}">
                <a16:creationId xmlns:a16="http://schemas.microsoft.com/office/drawing/2014/main" id="{B6D6ED76-04F1-4E98-9E75-2368DD04A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54299"/>
              </p:ext>
            </p:extLst>
          </p:nvPr>
        </p:nvGraphicFramePr>
        <p:xfrm>
          <a:off x="7225781" y="5267960"/>
          <a:ext cx="208597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979">
                  <a:extLst>
                    <a:ext uri="{9D8B030D-6E8A-4147-A177-3AD203B41FA5}">
                      <a16:colId xmlns:a16="http://schemas.microsoft.com/office/drawing/2014/main" val="264797262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SOCKET = IP:PORT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380749"/>
                  </a:ext>
                </a:extLst>
              </a:tr>
            </a:tbl>
          </a:graphicData>
        </a:graphic>
      </p:graphicFrame>
      <p:graphicFrame>
        <p:nvGraphicFramePr>
          <p:cNvPr id="33" name="表格 31">
            <a:extLst>
              <a:ext uri="{FF2B5EF4-FFF2-40B4-BE49-F238E27FC236}">
                <a16:creationId xmlns:a16="http://schemas.microsoft.com/office/drawing/2014/main" id="{4ECA6E56-7C2E-487D-8B87-380B590CD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486579"/>
              </p:ext>
            </p:extLst>
          </p:nvPr>
        </p:nvGraphicFramePr>
        <p:xfrm>
          <a:off x="9813705" y="5267960"/>
          <a:ext cx="208597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979">
                  <a:extLst>
                    <a:ext uri="{9D8B030D-6E8A-4147-A177-3AD203B41FA5}">
                      <a16:colId xmlns:a16="http://schemas.microsoft.com/office/drawing/2014/main" val="264797262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SOCKET = IP:PORT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380749"/>
                  </a:ext>
                </a:extLst>
              </a:tr>
            </a:tbl>
          </a:graphicData>
        </a:graphic>
      </p:graphicFrame>
      <p:sp>
        <p:nvSpPr>
          <p:cNvPr id="20" name="箭头: 右 19">
            <a:extLst>
              <a:ext uri="{FF2B5EF4-FFF2-40B4-BE49-F238E27FC236}">
                <a16:creationId xmlns:a16="http://schemas.microsoft.com/office/drawing/2014/main" id="{93D2DB91-CFFE-4C3E-A630-A74D82D15CEF}"/>
              </a:ext>
            </a:extLst>
          </p:cNvPr>
          <p:cNvSpPr/>
          <p:nvPr/>
        </p:nvSpPr>
        <p:spPr>
          <a:xfrm>
            <a:off x="9342400" y="5550417"/>
            <a:ext cx="440664" cy="176767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41C471F0-DE05-4791-B0A2-19027D66943C}"/>
              </a:ext>
            </a:extLst>
          </p:cNvPr>
          <p:cNvCxnSpPr>
            <a:cxnSpLocks/>
            <a:stCxn id="7" idx="3"/>
            <a:endCxn id="20" idx="0"/>
          </p:cNvCxnSpPr>
          <p:nvPr/>
        </p:nvCxnSpPr>
        <p:spPr>
          <a:xfrm>
            <a:off x="1860470" y="699016"/>
            <a:ext cx="7834211" cy="485140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A463B1B-A4DB-4EA3-AE7C-82ADB0DEE3E6}"/>
              </a:ext>
            </a:extLst>
          </p:cNvPr>
          <p:cNvSpPr txBox="1"/>
          <p:nvPr/>
        </p:nvSpPr>
        <p:spPr>
          <a:xfrm>
            <a:off x="7632345" y="38100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C/S</a:t>
            </a:r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6ADFA17-E9D5-45A0-AFFF-97F7631391C9}"/>
              </a:ext>
            </a:extLst>
          </p:cNvPr>
          <p:cNvSpPr/>
          <p:nvPr/>
        </p:nvSpPr>
        <p:spPr>
          <a:xfrm>
            <a:off x="2730047" y="2807755"/>
            <a:ext cx="12192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发送缓存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0761FD8-93F1-4912-91F9-32682D66E31E}"/>
              </a:ext>
            </a:extLst>
          </p:cNvPr>
          <p:cNvSpPr/>
          <p:nvPr/>
        </p:nvSpPr>
        <p:spPr>
          <a:xfrm>
            <a:off x="2730047" y="3195590"/>
            <a:ext cx="12192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接收缓存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3C1F72-8FE5-4E19-B3F0-50167AF79929}"/>
              </a:ext>
            </a:extLst>
          </p:cNvPr>
          <p:cNvSpPr txBox="1"/>
          <p:nvPr/>
        </p:nvSpPr>
        <p:spPr>
          <a:xfrm>
            <a:off x="3949247" y="2807755"/>
            <a:ext cx="504566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待发送的数据；已发送但还未收到确认的数据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529D0A3-6DA6-447A-9F19-B26DF1E347A3}"/>
              </a:ext>
            </a:extLst>
          </p:cNvPr>
          <p:cNvSpPr txBox="1"/>
          <p:nvPr/>
        </p:nvSpPr>
        <p:spPr>
          <a:xfrm>
            <a:off x="3949246" y="3195590"/>
            <a:ext cx="504566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zh-CN" altLang="en-US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按序到达还没有被接收的数据；未按序到达的数据</a:t>
            </a:r>
          </a:p>
        </p:txBody>
      </p:sp>
    </p:spTree>
    <p:extLst>
      <p:ext uri="{BB962C8B-B14F-4D97-AF65-F5344CB8AC3E}">
        <p14:creationId xmlns:p14="http://schemas.microsoft.com/office/powerpoint/2010/main" val="624148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AA4098-7113-4E53-9274-7C5E5D9B108B}"/>
              </a:ext>
            </a:extLst>
          </p:cNvPr>
          <p:cNvSpPr/>
          <p:nvPr/>
        </p:nvSpPr>
        <p:spPr>
          <a:xfrm>
            <a:off x="-1" y="3428998"/>
            <a:ext cx="4244198" cy="13586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574DB6FF-F11A-40E4-80DC-FFE6AE094481}"/>
              </a:ext>
            </a:extLst>
          </p:cNvPr>
          <p:cNvSpPr txBox="1">
            <a:spLocks/>
          </p:cNvSpPr>
          <p:nvPr/>
        </p:nvSpPr>
        <p:spPr>
          <a:xfrm>
            <a:off x="428625" y="3770255"/>
            <a:ext cx="3543300" cy="646113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报文格式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86555F41-11E0-4152-9BC4-0BFD7CFA219B}"/>
              </a:ext>
            </a:extLst>
          </p:cNvPr>
          <p:cNvSpPr txBox="1">
            <a:spLocks/>
          </p:cNvSpPr>
          <p:nvPr/>
        </p:nvSpPr>
        <p:spPr>
          <a:xfrm>
            <a:off x="428625" y="4425893"/>
            <a:ext cx="3543300" cy="32067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endParaRPr lang="zh-CN" alt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E8DA1-8F02-418B-A854-40D7A4E36C19}"/>
              </a:ext>
            </a:extLst>
          </p:cNvPr>
          <p:cNvSpPr/>
          <p:nvPr/>
        </p:nvSpPr>
        <p:spPr>
          <a:xfrm>
            <a:off x="4244197" y="780690"/>
            <a:ext cx="2648309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首部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2D732-7690-4192-BB52-871E11C58B11}"/>
              </a:ext>
            </a:extLst>
          </p:cNvPr>
          <p:cNvSpPr/>
          <p:nvPr/>
        </p:nvSpPr>
        <p:spPr>
          <a:xfrm>
            <a:off x="6892506" y="780690"/>
            <a:ext cx="2648309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97FA35-F157-430C-B1AB-C3942455DF65}"/>
              </a:ext>
            </a:extLst>
          </p:cNvPr>
          <p:cNvSpPr/>
          <p:nvPr/>
        </p:nvSpPr>
        <p:spPr>
          <a:xfrm>
            <a:off x="4244197" y="1617452"/>
            <a:ext cx="2648309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首部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A9B8E-0DF8-42A3-B6E4-9D0373395E7D}"/>
              </a:ext>
            </a:extLst>
          </p:cNvPr>
          <p:cNvSpPr/>
          <p:nvPr/>
        </p:nvSpPr>
        <p:spPr>
          <a:xfrm>
            <a:off x="6892506" y="1617452"/>
            <a:ext cx="2648309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94CE12-41BC-40AA-9B89-20644493CBD2}"/>
              </a:ext>
            </a:extLst>
          </p:cNvPr>
          <p:cNvSpPr/>
          <p:nvPr/>
        </p:nvSpPr>
        <p:spPr>
          <a:xfrm>
            <a:off x="3367538" y="1617452"/>
            <a:ext cx="876659" cy="452885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IP</a:t>
            </a:r>
            <a:endParaRPr lang="zh-CN" altLang="en-US" sz="16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0648AE9B-BBF4-4260-8F74-7993707A006F}"/>
              </a:ext>
            </a:extLst>
          </p:cNvPr>
          <p:cNvSpPr/>
          <p:nvPr/>
        </p:nvSpPr>
        <p:spPr>
          <a:xfrm>
            <a:off x="6797618" y="1317513"/>
            <a:ext cx="172528" cy="216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684763F3-3965-4D2F-BC7B-24A05AFAEDCC}"/>
              </a:ext>
            </a:extLst>
          </p:cNvPr>
          <p:cNvSpPr/>
          <p:nvPr/>
        </p:nvSpPr>
        <p:spPr>
          <a:xfrm>
            <a:off x="2964180" y="1767840"/>
            <a:ext cx="259080" cy="144780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9574C0-AF75-454E-81E0-06F34C31E0D3}"/>
              </a:ext>
            </a:extLst>
          </p:cNvPr>
          <p:cNvSpPr/>
          <p:nvPr/>
        </p:nvSpPr>
        <p:spPr>
          <a:xfrm>
            <a:off x="4244197" y="2976113"/>
            <a:ext cx="2648309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源端口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6C111C-88C0-46B3-896A-AC4A68368334}"/>
              </a:ext>
            </a:extLst>
          </p:cNvPr>
          <p:cNvSpPr/>
          <p:nvPr/>
        </p:nvSpPr>
        <p:spPr>
          <a:xfrm>
            <a:off x="6892506" y="2976113"/>
            <a:ext cx="2648309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目的端口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6FCB09-E739-462D-8C9E-6B5D119404BB}"/>
              </a:ext>
            </a:extLst>
          </p:cNvPr>
          <p:cNvSpPr/>
          <p:nvPr/>
        </p:nvSpPr>
        <p:spPr>
          <a:xfrm>
            <a:off x="4244197" y="3428998"/>
            <a:ext cx="5296618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序号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D28B77-D9D0-4D37-898F-30015C9ACC9F}"/>
              </a:ext>
            </a:extLst>
          </p:cNvPr>
          <p:cNvSpPr/>
          <p:nvPr/>
        </p:nvSpPr>
        <p:spPr>
          <a:xfrm>
            <a:off x="4244197" y="3881882"/>
            <a:ext cx="5296618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确认号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48FF12-D67A-4512-98F6-9E6DC2D6DF77}"/>
              </a:ext>
            </a:extLst>
          </p:cNvPr>
          <p:cNvSpPr/>
          <p:nvPr/>
        </p:nvSpPr>
        <p:spPr>
          <a:xfrm>
            <a:off x="4244197" y="4326502"/>
            <a:ext cx="784427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…</a:t>
            </a:r>
            <a:endParaRPr lang="zh-CN" altLang="en-US" sz="16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2977FA-3A6F-4976-A24C-F44A03AFA5B0}"/>
              </a:ext>
            </a:extLst>
          </p:cNvPr>
          <p:cNvSpPr/>
          <p:nvPr/>
        </p:nvSpPr>
        <p:spPr>
          <a:xfrm>
            <a:off x="5028624" y="4326502"/>
            <a:ext cx="594360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URG</a:t>
            </a:r>
            <a:endParaRPr lang="zh-CN" altLang="en-US" sz="1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1DD247-4302-4B67-B9E9-BFE3D6D1C411}"/>
              </a:ext>
            </a:extLst>
          </p:cNvPr>
          <p:cNvSpPr/>
          <p:nvPr/>
        </p:nvSpPr>
        <p:spPr>
          <a:xfrm>
            <a:off x="5622983" y="4326502"/>
            <a:ext cx="594360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ACK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A70D39-9125-4CFA-A191-B838516CB412}"/>
              </a:ext>
            </a:extLst>
          </p:cNvPr>
          <p:cNvSpPr/>
          <p:nvPr/>
        </p:nvSpPr>
        <p:spPr>
          <a:xfrm>
            <a:off x="6217343" y="4326502"/>
            <a:ext cx="594360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PSH</a:t>
            </a:r>
            <a:endParaRPr lang="zh-CN" altLang="en-US" sz="1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1C06E4-7A6A-4954-A8AE-66ACA79BF919}"/>
              </a:ext>
            </a:extLst>
          </p:cNvPr>
          <p:cNvSpPr/>
          <p:nvPr/>
        </p:nvSpPr>
        <p:spPr>
          <a:xfrm>
            <a:off x="6811702" y="4326502"/>
            <a:ext cx="594360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RST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B2829C-43E3-4457-8A52-6DB522CB0180}"/>
              </a:ext>
            </a:extLst>
          </p:cNvPr>
          <p:cNvSpPr/>
          <p:nvPr/>
        </p:nvSpPr>
        <p:spPr>
          <a:xfrm>
            <a:off x="7406061" y="4326502"/>
            <a:ext cx="594360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SYN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441429A-6B7D-4A46-8936-C3442DC5F305}"/>
              </a:ext>
            </a:extLst>
          </p:cNvPr>
          <p:cNvSpPr/>
          <p:nvPr/>
        </p:nvSpPr>
        <p:spPr>
          <a:xfrm>
            <a:off x="8000420" y="4326502"/>
            <a:ext cx="594360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FIN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6401C5-34BC-4B1F-A2A4-7894761AE69B}"/>
              </a:ext>
            </a:extLst>
          </p:cNvPr>
          <p:cNvSpPr/>
          <p:nvPr/>
        </p:nvSpPr>
        <p:spPr>
          <a:xfrm>
            <a:off x="8594779" y="4334767"/>
            <a:ext cx="946035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窗口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700EA6-9225-4C64-8832-41188ED4409C}"/>
              </a:ext>
            </a:extLst>
          </p:cNvPr>
          <p:cNvSpPr/>
          <p:nvPr/>
        </p:nvSpPr>
        <p:spPr>
          <a:xfrm>
            <a:off x="4244197" y="4787651"/>
            <a:ext cx="5296618" cy="4528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Courier New" panose="02070309020205020404" pitchFamily="49" charset="0"/>
              </a:rPr>
              <a:t>…</a:t>
            </a:r>
            <a:endParaRPr lang="zh-CN" altLang="en-US" sz="16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91FB480-27E5-4E7C-9297-EECCEBD5CACB}"/>
              </a:ext>
            </a:extLst>
          </p:cNvPr>
          <p:cNvSpPr txBox="1"/>
          <p:nvPr/>
        </p:nvSpPr>
        <p:spPr>
          <a:xfrm>
            <a:off x="4244197" y="2682363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3E376A-8DE7-4627-BDDE-84D678ABF3DE}"/>
              </a:ext>
            </a:extLst>
          </p:cNvPr>
          <p:cNvSpPr txBox="1"/>
          <p:nvPr/>
        </p:nvSpPr>
        <p:spPr>
          <a:xfrm>
            <a:off x="6606242" y="2699113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16bit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1B391E-DFCD-43D9-B712-2DC20AF83875}"/>
              </a:ext>
            </a:extLst>
          </p:cNvPr>
          <p:cNvSpPr txBox="1"/>
          <p:nvPr/>
        </p:nvSpPr>
        <p:spPr>
          <a:xfrm>
            <a:off x="9166606" y="2707379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31bit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C28AC29-0050-4E68-80DF-E5A22AF5C172}"/>
              </a:ext>
            </a:extLst>
          </p:cNvPr>
          <p:cNvSpPr txBox="1"/>
          <p:nvPr/>
        </p:nvSpPr>
        <p:spPr>
          <a:xfrm>
            <a:off x="4244197" y="499572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A8B4DF-FED6-464C-BFEA-93603BB2528C}"/>
              </a:ext>
            </a:extLst>
          </p:cNvPr>
          <p:cNvSpPr txBox="1"/>
          <p:nvPr/>
        </p:nvSpPr>
        <p:spPr>
          <a:xfrm>
            <a:off x="6606242" y="516322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字节</a:t>
            </a: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4A4E763D-003A-4381-93DC-EBA11FA26370}"/>
              </a:ext>
            </a:extLst>
          </p:cNvPr>
          <p:cNvCxnSpPr>
            <a:stCxn id="19" idx="0"/>
          </p:cNvCxnSpPr>
          <p:nvPr/>
        </p:nvCxnSpPr>
        <p:spPr>
          <a:xfrm rot="5400000" flipH="1" flipV="1">
            <a:off x="6153038" y="3873299"/>
            <a:ext cx="220328" cy="686079"/>
          </a:xfrm>
          <a:prstGeom prst="bentConnector2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13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8F62CDA-23D1-41CC-883E-812C2459D23F}"/>
              </a:ext>
            </a:extLst>
          </p:cNvPr>
          <p:cNvSpPr txBox="1"/>
          <p:nvPr/>
        </p:nvSpPr>
        <p:spPr>
          <a:xfrm>
            <a:off x="1477827" y="646647"/>
            <a:ext cx="7861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收到主机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发过来的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报文，序号为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501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，数据长度为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字节，则主机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给主机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的响应报文中，序号为（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701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CFBC0A-8EEA-4F1E-8BD5-981304B2A537}"/>
              </a:ext>
            </a:extLst>
          </p:cNvPr>
          <p:cNvSpPr/>
          <p:nvPr/>
        </p:nvSpPr>
        <p:spPr>
          <a:xfrm>
            <a:off x="601169" y="646647"/>
            <a:ext cx="876659" cy="584775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QA</a:t>
            </a:r>
            <a:endParaRPr lang="zh-CN" altLang="en-US" sz="16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439A41-2320-484A-9FBA-7A1FBF5B120B}"/>
              </a:ext>
            </a:extLst>
          </p:cNvPr>
          <p:cNvSpPr txBox="1"/>
          <p:nvPr/>
        </p:nvSpPr>
        <p:spPr>
          <a:xfrm>
            <a:off x="1477827" y="1925032"/>
            <a:ext cx="7861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已知发送窗口大小为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500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，某主机收到的确认号为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。如果已经发送了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300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个字节的数据，则还可以发送（</a:t>
            </a:r>
            <a:r>
              <a:rPr lang="en-US" altLang="zh-CN" sz="16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400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）个字节的数据。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B6D5A7-E257-4F09-B827-F5EE07CF6E17}"/>
              </a:ext>
            </a:extLst>
          </p:cNvPr>
          <p:cNvSpPr/>
          <p:nvPr/>
        </p:nvSpPr>
        <p:spPr>
          <a:xfrm>
            <a:off x="601169" y="1925032"/>
            <a:ext cx="876659" cy="584775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QA</a:t>
            </a:r>
            <a:endParaRPr lang="zh-CN" altLang="en-US" sz="16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4BE447-3EA1-4A41-823E-95449DE24B0B}"/>
              </a:ext>
            </a:extLst>
          </p:cNvPr>
          <p:cNvSpPr txBox="1"/>
          <p:nvPr/>
        </p:nvSpPr>
        <p:spPr>
          <a:xfrm>
            <a:off x="1477827" y="3203417"/>
            <a:ext cx="7861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报文发送的时机主要有哪几种情况？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9D02C8-1A58-4916-BDA4-1032C7180853}"/>
              </a:ext>
            </a:extLst>
          </p:cNvPr>
          <p:cNvSpPr/>
          <p:nvPr/>
        </p:nvSpPr>
        <p:spPr>
          <a:xfrm>
            <a:off x="601169" y="3203417"/>
            <a:ext cx="876659" cy="584775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QA</a:t>
            </a:r>
            <a:endParaRPr lang="zh-CN" altLang="en-US" sz="16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89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1E3787D-5E5A-40A4-8E21-C26876254C41}"/>
              </a:ext>
            </a:extLst>
          </p:cNvPr>
          <p:cNvCxnSpPr>
            <a:cxnSpLocks/>
          </p:cNvCxnSpPr>
          <p:nvPr/>
        </p:nvCxnSpPr>
        <p:spPr>
          <a:xfrm>
            <a:off x="3861764" y="2130696"/>
            <a:ext cx="0" cy="408029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CB5F4A8-C3EB-48D8-B642-DD4A763172D8}"/>
              </a:ext>
            </a:extLst>
          </p:cNvPr>
          <p:cNvCxnSpPr>
            <a:cxnSpLocks/>
          </p:cNvCxnSpPr>
          <p:nvPr/>
        </p:nvCxnSpPr>
        <p:spPr>
          <a:xfrm>
            <a:off x="8330237" y="2130696"/>
            <a:ext cx="0" cy="408029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形 3" descr="监视器">
            <a:extLst>
              <a:ext uri="{FF2B5EF4-FFF2-40B4-BE49-F238E27FC236}">
                <a16:creationId xmlns:a16="http://schemas.microsoft.com/office/drawing/2014/main" id="{CD0145B2-A031-4308-B2F8-C1189DED1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3764" y="1530538"/>
            <a:ext cx="576000" cy="576000"/>
          </a:xfrm>
          <a:prstGeom prst="rect">
            <a:avLst/>
          </a:prstGeom>
        </p:spPr>
      </p:pic>
      <p:pic>
        <p:nvPicPr>
          <p:cNvPr id="5" name="图形 4" descr="监视器">
            <a:extLst>
              <a:ext uri="{FF2B5EF4-FFF2-40B4-BE49-F238E27FC236}">
                <a16:creationId xmlns:a16="http://schemas.microsoft.com/office/drawing/2014/main" id="{C57BE50F-44D2-4201-8654-9227EA07A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237" y="1530538"/>
            <a:ext cx="576000" cy="576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F81F9E-AAAB-4B71-85BA-E57B0569BC9B}"/>
              </a:ext>
            </a:extLst>
          </p:cNvPr>
          <p:cNvSpPr txBox="1"/>
          <p:nvPr/>
        </p:nvSpPr>
        <p:spPr>
          <a:xfrm>
            <a:off x="3707715" y="1637033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图形 6" descr="监视器">
            <a:extLst>
              <a:ext uri="{FF2B5EF4-FFF2-40B4-BE49-F238E27FC236}">
                <a16:creationId xmlns:a16="http://schemas.microsoft.com/office/drawing/2014/main" id="{83169048-41D9-4FC8-BD64-372C4FC84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237" y="1542617"/>
            <a:ext cx="576000" cy="576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CBE4397-3BB5-4B34-8CC6-9B285BAE4EE8}"/>
              </a:ext>
            </a:extLst>
          </p:cNvPr>
          <p:cNvSpPr txBox="1"/>
          <p:nvPr/>
        </p:nvSpPr>
        <p:spPr>
          <a:xfrm>
            <a:off x="8176188" y="1638635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9FB572-B571-4542-819D-C0C4FD7A8F55}"/>
              </a:ext>
            </a:extLst>
          </p:cNvPr>
          <p:cNvSpPr/>
          <p:nvPr/>
        </p:nvSpPr>
        <p:spPr>
          <a:xfrm>
            <a:off x="3861763" y="2554649"/>
            <a:ext cx="4468472" cy="5760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连接建立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288FF8-5AD3-46A0-B7D6-F6BAF253BB65}"/>
              </a:ext>
            </a:extLst>
          </p:cNvPr>
          <p:cNvSpPr/>
          <p:nvPr/>
        </p:nvSpPr>
        <p:spPr>
          <a:xfrm>
            <a:off x="3861763" y="3171349"/>
            <a:ext cx="4468472" cy="15198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数据传输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8243B1-475D-4EB7-B49B-2B56E9636E86}"/>
              </a:ext>
            </a:extLst>
          </p:cNvPr>
          <p:cNvSpPr/>
          <p:nvPr/>
        </p:nvSpPr>
        <p:spPr>
          <a:xfrm>
            <a:off x="3861763" y="4731869"/>
            <a:ext cx="4468472" cy="57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连接释放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F628B1-FD69-453C-A3E3-7AB083E13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连接管理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A4F9087F-3577-4C2C-926F-8EED42C924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Connection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C6FBDA46-A7FF-4A19-916E-3B42B39009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196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181015-C850-4699-A611-B7058E3648CC}"/>
              </a:ext>
            </a:extLst>
          </p:cNvPr>
          <p:cNvSpPr/>
          <p:nvPr/>
        </p:nvSpPr>
        <p:spPr>
          <a:xfrm>
            <a:off x="8988725" y="224291"/>
            <a:ext cx="3203274" cy="1009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EA8D315C-673B-41A7-BBBA-80F76FBD4E7C}"/>
              </a:ext>
            </a:extLst>
          </p:cNvPr>
          <p:cNvSpPr txBox="1">
            <a:spLocks/>
          </p:cNvSpPr>
          <p:nvPr/>
        </p:nvSpPr>
        <p:spPr>
          <a:xfrm>
            <a:off x="9276724" y="345574"/>
            <a:ext cx="2643004" cy="64611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4CA4F1B3-430D-4CF7-B720-9FF8EA240AC6}"/>
              </a:ext>
            </a:extLst>
          </p:cNvPr>
          <p:cNvSpPr txBox="1">
            <a:spLocks/>
          </p:cNvSpPr>
          <p:nvPr/>
        </p:nvSpPr>
        <p:spPr>
          <a:xfrm>
            <a:off x="9528428" y="893855"/>
            <a:ext cx="2391300" cy="3139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连接建立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B4542E5-7B96-4313-9355-60F5FB413AF9}"/>
              </a:ext>
            </a:extLst>
          </p:cNvPr>
          <p:cNvCxnSpPr>
            <a:cxnSpLocks/>
          </p:cNvCxnSpPr>
          <p:nvPr/>
        </p:nvCxnSpPr>
        <p:spPr>
          <a:xfrm>
            <a:off x="1923690" y="1112820"/>
            <a:ext cx="0" cy="5040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E1C2CF-31FC-485A-B89C-795A18AE9601}"/>
              </a:ext>
            </a:extLst>
          </p:cNvPr>
          <p:cNvCxnSpPr>
            <a:cxnSpLocks/>
          </p:cNvCxnSpPr>
          <p:nvPr/>
        </p:nvCxnSpPr>
        <p:spPr>
          <a:xfrm>
            <a:off x="6392163" y="1112820"/>
            <a:ext cx="0" cy="5040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 descr="监视器">
            <a:extLst>
              <a:ext uri="{FF2B5EF4-FFF2-40B4-BE49-F238E27FC236}">
                <a16:creationId xmlns:a16="http://schemas.microsoft.com/office/drawing/2014/main" id="{E90B9A70-A121-430D-8F3D-546518F7E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5690" y="547157"/>
            <a:ext cx="576000" cy="576000"/>
          </a:xfrm>
          <a:prstGeom prst="rect">
            <a:avLst/>
          </a:prstGeom>
        </p:spPr>
      </p:pic>
      <p:pic>
        <p:nvPicPr>
          <p:cNvPr id="11" name="图形 10" descr="监视器">
            <a:extLst>
              <a:ext uri="{FF2B5EF4-FFF2-40B4-BE49-F238E27FC236}">
                <a16:creationId xmlns:a16="http://schemas.microsoft.com/office/drawing/2014/main" id="{D0DE5888-B7DF-4ACA-B708-79995DF45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163" y="547157"/>
            <a:ext cx="576000" cy="576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2E7D11F-538D-49A3-A6C5-281E646B3A73}"/>
              </a:ext>
            </a:extLst>
          </p:cNvPr>
          <p:cNvSpPr txBox="1"/>
          <p:nvPr/>
        </p:nvSpPr>
        <p:spPr>
          <a:xfrm>
            <a:off x="1769641" y="653652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图形 12" descr="监视器">
            <a:extLst>
              <a:ext uri="{FF2B5EF4-FFF2-40B4-BE49-F238E27FC236}">
                <a16:creationId xmlns:a16="http://schemas.microsoft.com/office/drawing/2014/main" id="{0FB476F0-AC1D-4364-84FB-C01329A7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4163" y="559236"/>
            <a:ext cx="576000" cy="576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88FD238-89A2-4968-97B6-DC010DE396E0}"/>
              </a:ext>
            </a:extLst>
          </p:cNvPr>
          <p:cNvSpPr txBox="1"/>
          <p:nvPr/>
        </p:nvSpPr>
        <p:spPr>
          <a:xfrm>
            <a:off x="6238114" y="655254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15AE2CB-7190-4B48-BDC9-2D9758EC51B4}"/>
              </a:ext>
            </a:extLst>
          </p:cNvPr>
          <p:cNvCxnSpPr/>
          <p:nvPr/>
        </p:nvCxnSpPr>
        <p:spPr>
          <a:xfrm>
            <a:off x="1923690" y="1575945"/>
            <a:ext cx="4468473" cy="54346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FB187D5-EFDD-40A9-88D6-CA2A1EE750A5}"/>
              </a:ext>
            </a:extLst>
          </p:cNvPr>
          <p:cNvCxnSpPr>
            <a:cxnSpLocks/>
          </p:cNvCxnSpPr>
          <p:nvPr/>
        </p:nvCxnSpPr>
        <p:spPr>
          <a:xfrm flipH="1">
            <a:off x="1923689" y="2337768"/>
            <a:ext cx="4468475" cy="78500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0F76EE9-3E23-43FB-B07F-D9FBD878E67D}"/>
              </a:ext>
            </a:extLst>
          </p:cNvPr>
          <p:cNvCxnSpPr>
            <a:cxnSpLocks/>
          </p:cNvCxnSpPr>
          <p:nvPr/>
        </p:nvCxnSpPr>
        <p:spPr>
          <a:xfrm>
            <a:off x="1923689" y="3379361"/>
            <a:ext cx="4468474" cy="58449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DFD476A-5924-4CFB-9B8D-165079B490B7}"/>
              </a:ext>
            </a:extLst>
          </p:cNvPr>
          <p:cNvSpPr txBox="1"/>
          <p:nvPr/>
        </p:nvSpPr>
        <p:spPr>
          <a:xfrm rot="420000">
            <a:off x="3386722" y="150099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SYN=1 seq=x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FBD227-7388-43EA-9463-15867027129D}"/>
              </a:ext>
            </a:extLst>
          </p:cNvPr>
          <p:cNvSpPr txBox="1"/>
          <p:nvPr/>
        </p:nvSpPr>
        <p:spPr>
          <a:xfrm rot="-600000">
            <a:off x="2522703" y="2386340"/>
            <a:ext cx="3270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SYN=1 ACK=1 seq=y ack=x+1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4FB45E-926D-4AE3-AD41-EB8F05162C5A}"/>
              </a:ext>
            </a:extLst>
          </p:cNvPr>
          <p:cNvSpPr txBox="1"/>
          <p:nvPr/>
        </p:nvSpPr>
        <p:spPr>
          <a:xfrm rot="420000">
            <a:off x="2769565" y="3315423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ACK=1 seq=x+1 ack=y+1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565D41-05E6-448B-A0B5-C5815786EE34}"/>
              </a:ext>
            </a:extLst>
          </p:cNvPr>
          <p:cNvSpPr/>
          <p:nvPr/>
        </p:nvSpPr>
        <p:spPr>
          <a:xfrm>
            <a:off x="483690" y="1112820"/>
            <a:ext cx="1440000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CLOSED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关闭</a:t>
            </a: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D6B85DF-0BB9-41CE-9F4A-F51AF8F5A6B0}"/>
              </a:ext>
            </a:extLst>
          </p:cNvPr>
          <p:cNvSpPr/>
          <p:nvPr/>
        </p:nvSpPr>
        <p:spPr>
          <a:xfrm>
            <a:off x="6392163" y="1112819"/>
            <a:ext cx="1440000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CLOSED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关闭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2DFAFE-91DD-414E-9ADB-0D67CB4E3798}"/>
              </a:ext>
            </a:extLst>
          </p:cNvPr>
          <p:cNvSpPr/>
          <p:nvPr/>
        </p:nvSpPr>
        <p:spPr>
          <a:xfrm>
            <a:off x="6392163" y="1624009"/>
            <a:ext cx="1440000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LISTEN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监听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0140D8-6C44-43A8-80B7-96CC038B4742}"/>
              </a:ext>
            </a:extLst>
          </p:cNvPr>
          <p:cNvSpPr/>
          <p:nvPr/>
        </p:nvSpPr>
        <p:spPr>
          <a:xfrm>
            <a:off x="483690" y="1631344"/>
            <a:ext cx="1440000" cy="14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SYN-SENT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同步发送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DC2398-AB9B-401B-8A1C-8516882FDADF}"/>
              </a:ext>
            </a:extLst>
          </p:cNvPr>
          <p:cNvSpPr/>
          <p:nvPr/>
        </p:nvSpPr>
        <p:spPr>
          <a:xfrm>
            <a:off x="6392163" y="2337768"/>
            <a:ext cx="1440000" cy="14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SYN-RCVD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同步收到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CFB915-5DC9-41E4-A837-F053287C0D83}"/>
              </a:ext>
            </a:extLst>
          </p:cNvPr>
          <p:cNvSpPr/>
          <p:nvPr/>
        </p:nvSpPr>
        <p:spPr>
          <a:xfrm>
            <a:off x="483690" y="3359998"/>
            <a:ext cx="1440000" cy="14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ESTABLISHED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建立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06E0037-FAD6-4068-9B8B-67F1AD5C6944}"/>
              </a:ext>
            </a:extLst>
          </p:cNvPr>
          <p:cNvSpPr/>
          <p:nvPr/>
        </p:nvSpPr>
        <p:spPr>
          <a:xfrm>
            <a:off x="6392162" y="3996126"/>
            <a:ext cx="1440000" cy="144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ESTABLISHED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建立</a:t>
            </a:r>
            <a:endParaRPr lang="en-US" altLang="zh-CN" sz="14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3" name="箭头: 左右 32">
            <a:extLst>
              <a:ext uri="{FF2B5EF4-FFF2-40B4-BE49-F238E27FC236}">
                <a16:creationId xmlns:a16="http://schemas.microsoft.com/office/drawing/2014/main" id="{4E844A21-9D9C-457B-A16E-D33F09A49FFE}"/>
              </a:ext>
            </a:extLst>
          </p:cNvPr>
          <p:cNvSpPr/>
          <p:nvPr/>
        </p:nvSpPr>
        <p:spPr>
          <a:xfrm>
            <a:off x="2077740" y="5499319"/>
            <a:ext cx="4160371" cy="653501"/>
          </a:xfrm>
          <a:prstGeom prst="leftRightArrow">
            <a:avLst>
              <a:gd name="adj1" fmla="val 50000"/>
              <a:gd name="adj2" fmla="val 59067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数据传输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5E9A01C-6435-410F-9851-DDA4F286CDC6}"/>
              </a:ext>
            </a:extLst>
          </p:cNvPr>
          <p:cNvSpPr txBox="1"/>
          <p:nvPr/>
        </p:nvSpPr>
        <p:spPr>
          <a:xfrm>
            <a:off x="2181515" y="449518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lient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1B7BAE-975F-4957-89A8-9A766F2D5A65}"/>
              </a:ext>
            </a:extLst>
          </p:cNvPr>
          <p:cNvSpPr txBox="1"/>
          <p:nvPr/>
        </p:nvSpPr>
        <p:spPr>
          <a:xfrm>
            <a:off x="5168861" y="444385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erver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034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8BF453-BCAD-4CE3-8850-FA2219344E9A}"/>
              </a:ext>
            </a:extLst>
          </p:cNvPr>
          <p:cNvCxnSpPr>
            <a:cxnSpLocks/>
          </p:cNvCxnSpPr>
          <p:nvPr/>
        </p:nvCxnSpPr>
        <p:spPr>
          <a:xfrm>
            <a:off x="1447933" y="728936"/>
            <a:ext cx="8679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4181015-C850-4699-A611-B7058E3648CC}"/>
              </a:ext>
            </a:extLst>
          </p:cNvPr>
          <p:cNvSpPr/>
          <p:nvPr/>
        </p:nvSpPr>
        <p:spPr>
          <a:xfrm>
            <a:off x="8988725" y="224291"/>
            <a:ext cx="3203274" cy="1009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EA8D315C-673B-41A7-BBBA-80F76FBD4E7C}"/>
              </a:ext>
            </a:extLst>
          </p:cNvPr>
          <p:cNvSpPr txBox="1">
            <a:spLocks/>
          </p:cNvSpPr>
          <p:nvPr/>
        </p:nvSpPr>
        <p:spPr>
          <a:xfrm>
            <a:off x="9276724" y="345574"/>
            <a:ext cx="2643004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四次挥手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4CA4F1B3-430D-4CF7-B720-9FF8EA240AC6}"/>
              </a:ext>
            </a:extLst>
          </p:cNvPr>
          <p:cNvSpPr txBox="1">
            <a:spLocks/>
          </p:cNvSpPr>
          <p:nvPr/>
        </p:nvSpPr>
        <p:spPr>
          <a:xfrm>
            <a:off x="9528428" y="893855"/>
            <a:ext cx="2391300" cy="3139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连接释放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6B2C6-C9D7-4062-8AE7-BE27B081FEB9}"/>
              </a:ext>
            </a:extLst>
          </p:cNvPr>
          <p:cNvSpPr txBox="1"/>
          <p:nvPr/>
        </p:nvSpPr>
        <p:spPr>
          <a:xfrm>
            <a:off x="1447933" y="1742536"/>
            <a:ext cx="8680581" cy="206210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连接释放时，双方处于连接建立状态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/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数据传输状态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任何一方都可以发起连接释放（发起请求的一方为客户端；响应请求的一方为服务器端）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客户端发起连接释放请求后，停止发送数据，进入</a:t>
            </a:r>
            <a:r>
              <a:rPr lang="zh-CN" altLang="en-US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终止等待</a:t>
            </a:r>
            <a:r>
              <a:rPr lang="en-US" altLang="zh-CN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；但是仍然可以接收数据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服务器端先响应请求，进入</a:t>
            </a:r>
            <a:r>
              <a:rPr lang="zh-CN" altLang="en-US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关闭等待</a:t>
            </a:r>
            <a:endParaRPr lang="en-US" altLang="zh-CN" sz="1600" u="heavy" dirty="0">
              <a:solidFill>
                <a:srgbClr val="C00000"/>
              </a:solidFill>
              <a:uFill>
                <a:solidFill>
                  <a:srgbClr val="C00000"/>
                </a:solidFill>
              </a:u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客户端收到确认响应后，进入</a:t>
            </a:r>
            <a:r>
              <a:rPr lang="zh-CN" altLang="en-US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终止等待</a:t>
            </a:r>
            <a:r>
              <a:rPr lang="en-US" altLang="zh-CN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2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服务器端继续发送自己的数据（如果有）；完毕后，发起一个连接释放请求，进入</a:t>
            </a:r>
            <a:r>
              <a:rPr lang="zh-CN" altLang="en-US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最后确认</a:t>
            </a:r>
          </a:p>
          <a:p>
            <a:pPr marL="285750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客户端收到释放请求后，进入</a:t>
            </a:r>
            <a:r>
              <a:rPr lang="zh-CN" altLang="en-US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时间等待</a:t>
            </a:r>
            <a:endParaRPr lang="en-US" altLang="zh-CN" sz="1600" u="heavy" dirty="0">
              <a:solidFill>
                <a:srgbClr val="C00000"/>
              </a:solidFill>
              <a:uFill>
                <a:solidFill>
                  <a:srgbClr val="C00000"/>
                </a:solidFill>
              </a:u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  <a:p>
            <a:pPr marL="285750" indent="-285750"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服务器端收到确认后，进入</a:t>
            </a:r>
            <a:r>
              <a:rPr lang="zh-CN" altLang="en-US" sz="16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关闭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330EBAB-CA36-4F9A-A900-735008B88255}"/>
              </a:ext>
            </a:extLst>
          </p:cNvPr>
          <p:cNvSpPr/>
          <p:nvPr/>
        </p:nvSpPr>
        <p:spPr>
          <a:xfrm>
            <a:off x="5133975" y="505105"/>
            <a:ext cx="1924050" cy="44766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全双工通信</a:t>
            </a:r>
          </a:p>
        </p:txBody>
      </p:sp>
    </p:spTree>
    <p:extLst>
      <p:ext uri="{BB962C8B-B14F-4D97-AF65-F5344CB8AC3E}">
        <p14:creationId xmlns:p14="http://schemas.microsoft.com/office/powerpoint/2010/main" val="3664530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181015-C850-4699-A611-B7058E3648CC}"/>
              </a:ext>
            </a:extLst>
          </p:cNvPr>
          <p:cNvSpPr/>
          <p:nvPr/>
        </p:nvSpPr>
        <p:spPr>
          <a:xfrm>
            <a:off x="8988725" y="224291"/>
            <a:ext cx="3203274" cy="1009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EA8D315C-673B-41A7-BBBA-80F76FBD4E7C}"/>
              </a:ext>
            </a:extLst>
          </p:cNvPr>
          <p:cNvSpPr txBox="1">
            <a:spLocks/>
          </p:cNvSpPr>
          <p:nvPr/>
        </p:nvSpPr>
        <p:spPr>
          <a:xfrm>
            <a:off x="9276724" y="345574"/>
            <a:ext cx="2643004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四次挥手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4CA4F1B3-430D-4CF7-B720-9FF8EA240AC6}"/>
              </a:ext>
            </a:extLst>
          </p:cNvPr>
          <p:cNvSpPr txBox="1">
            <a:spLocks/>
          </p:cNvSpPr>
          <p:nvPr/>
        </p:nvSpPr>
        <p:spPr>
          <a:xfrm>
            <a:off x="9528428" y="893855"/>
            <a:ext cx="2391300" cy="3139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连接释放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B4542E5-7B96-4313-9355-60F5FB413AF9}"/>
              </a:ext>
            </a:extLst>
          </p:cNvPr>
          <p:cNvCxnSpPr>
            <a:cxnSpLocks/>
          </p:cNvCxnSpPr>
          <p:nvPr/>
        </p:nvCxnSpPr>
        <p:spPr>
          <a:xfrm>
            <a:off x="2847615" y="1112820"/>
            <a:ext cx="0" cy="5040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E1C2CF-31FC-485A-B89C-795A18AE9601}"/>
              </a:ext>
            </a:extLst>
          </p:cNvPr>
          <p:cNvCxnSpPr>
            <a:cxnSpLocks/>
          </p:cNvCxnSpPr>
          <p:nvPr/>
        </p:nvCxnSpPr>
        <p:spPr>
          <a:xfrm>
            <a:off x="7316088" y="1112820"/>
            <a:ext cx="0" cy="5040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形 9" descr="监视器">
            <a:extLst>
              <a:ext uri="{FF2B5EF4-FFF2-40B4-BE49-F238E27FC236}">
                <a16:creationId xmlns:a16="http://schemas.microsoft.com/office/drawing/2014/main" id="{E90B9A70-A121-430D-8F3D-546518F7E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9615" y="547157"/>
            <a:ext cx="576000" cy="576000"/>
          </a:xfrm>
          <a:prstGeom prst="rect">
            <a:avLst/>
          </a:prstGeom>
        </p:spPr>
      </p:pic>
      <p:pic>
        <p:nvPicPr>
          <p:cNvPr id="11" name="图形 10" descr="监视器">
            <a:extLst>
              <a:ext uri="{FF2B5EF4-FFF2-40B4-BE49-F238E27FC236}">
                <a16:creationId xmlns:a16="http://schemas.microsoft.com/office/drawing/2014/main" id="{D0DE5888-B7DF-4ACA-B708-79995DF45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8088" y="547157"/>
            <a:ext cx="576000" cy="576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2E7D11F-538D-49A3-A6C5-281E646B3A73}"/>
              </a:ext>
            </a:extLst>
          </p:cNvPr>
          <p:cNvSpPr txBox="1"/>
          <p:nvPr/>
        </p:nvSpPr>
        <p:spPr>
          <a:xfrm>
            <a:off x="2693566" y="653652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图形 12" descr="监视器">
            <a:extLst>
              <a:ext uri="{FF2B5EF4-FFF2-40B4-BE49-F238E27FC236}">
                <a16:creationId xmlns:a16="http://schemas.microsoft.com/office/drawing/2014/main" id="{0FB476F0-AC1D-4364-84FB-C01329A75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8088" y="559236"/>
            <a:ext cx="576000" cy="576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88FD238-89A2-4968-97B6-DC010DE396E0}"/>
              </a:ext>
            </a:extLst>
          </p:cNvPr>
          <p:cNvSpPr txBox="1"/>
          <p:nvPr/>
        </p:nvSpPr>
        <p:spPr>
          <a:xfrm>
            <a:off x="7162039" y="655254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15AE2CB-7190-4B48-BDC9-2D9758EC51B4}"/>
              </a:ext>
            </a:extLst>
          </p:cNvPr>
          <p:cNvCxnSpPr>
            <a:cxnSpLocks/>
          </p:cNvCxnSpPr>
          <p:nvPr/>
        </p:nvCxnSpPr>
        <p:spPr>
          <a:xfrm>
            <a:off x="2847615" y="1575945"/>
            <a:ext cx="4468473" cy="54346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FB187D5-EFDD-40A9-88D6-CA2A1EE750A5}"/>
              </a:ext>
            </a:extLst>
          </p:cNvPr>
          <p:cNvCxnSpPr>
            <a:cxnSpLocks/>
          </p:cNvCxnSpPr>
          <p:nvPr/>
        </p:nvCxnSpPr>
        <p:spPr>
          <a:xfrm flipH="1">
            <a:off x="2847614" y="2223468"/>
            <a:ext cx="4468475" cy="78500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0F76EE9-3E23-43FB-B07F-D9FBD878E67D}"/>
              </a:ext>
            </a:extLst>
          </p:cNvPr>
          <p:cNvCxnSpPr>
            <a:cxnSpLocks/>
          </p:cNvCxnSpPr>
          <p:nvPr/>
        </p:nvCxnSpPr>
        <p:spPr>
          <a:xfrm>
            <a:off x="2847611" y="4246870"/>
            <a:ext cx="4468474" cy="58449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DFD476A-5924-4CFB-9B8D-165079B490B7}"/>
              </a:ext>
            </a:extLst>
          </p:cNvPr>
          <p:cNvSpPr txBox="1"/>
          <p:nvPr/>
        </p:nvSpPr>
        <p:spPr>
          <a:xfrm rot="420000">
            <a:off x="4310647" y="150099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FIN=1 seq=u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FBD227-7388-43EA-9463-15867027129D}"/>
              </a:ext>
            </a:extLst>
          </p:cNvPr>
          <p:cNvSpPr txBox="1"/>
          <p:nvPr/>
        </p:nvSpPr>
        <p:spPr>
          <a:xfrm rot="-600000">
            <a:off x="3816921" y="2272040"/>
            <a:ext cx="2529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ACK=1 seq=v ack=u+1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4FB45E-926D-4AE3-AD41-EB8F05162C5A}"/>
              </a:ext>
            </a:extLst>
          </p:cNvPr>
          <p:cNvSpPr txBox="1"/>
          <p:nvPr/>
        </p:nvSpPr>
        <p:spPr>
          <a:xfrm rot="420000">
            <a:off x="3693487" y="4182932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ACK=1 seq=u+1 ack=w+1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565D41-05E6-448B-A0B5-C5815786EE34}"/>
              </a:ext>
            </a:extLst>
          </p:cNvPr>
          <p:cNvSpPr/>
          <p:nvPr/>
        </p:nvSpPr>
        <p:spPr>
          <a:xfrm>
            <a:off x="1407615" y="1112820"/>
            <a:ext cx="1440000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ESTABLISHED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建立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D6B85DF-0BB9-41CE-9F4A-F51AF8F5A6B0}"/>
              </a:ext>
            </a:extLst>
          </p:cNvPr>
          <p:cNvSpPr/>
          <p:nvPr/>
        </p:nvSpPr>
        <p:spPr>
          <a:xfrm>
            <a:off x="7316088" y="1112818"/>
            <a:ext cx="1440000" cy="9877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ESTABLISHED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建立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2DFAFE-91DD-414E-9ADB-0D67CB4E3798}"/>
              </a:ext>
            </a:extLst>
          </p:cNvPr>
          <p:cNvSpPr/>
          <p:nvPr/>
        </p:nvSpPr>
        <p:spPr>
          <a:xfrm>
            <a:off x="7316085" y="4947889"/>
            <a:ext cx="1440000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CLOSED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关闭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0140D8-6C44-43A8-80B7-96CC038B4742}"/>
              </a:ext>
            </a:extLst>
          </p:cNvPr>
          <p:cNvSpPr/>
          <p:nvPr/>
        </p:nvSpPr>
        <p:spPr>
          <a:xfrm>
            <a:off x="1407615" y="1631344"/>
            <a:ext cx="1440000" cy="137712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FIN-WAIT1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终止等待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1</a:t>
            </a:r>
            <a:endParaRPr lang="zh-CN" altLang="en-US" sz="14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DC2398-AB9B-401B-8A1C-8516882FDADF}"/>
              </a:ext>
            </a:extLst>
          </p:cNvPr>
          <p:cNvSpPr/>
          <p:nvPr/>
        </p:nvSpPr>
        <p:spPr>
          <a:xfrm>
            <a:off x="7316086" y="2221925"/>
            <a:ext cx="1440000" cy="11723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CLOSE-WAIT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关闭等待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CFB915-5DC9-41E4-A837-F053287C0D83}"/>
              </a:ext>
            </a:extLst>
          </p:cNvPr>
          <p:cNvSpPr/>
          <p:nvPr/>
        </p:nvSpPr>
        <p:spPr>
          <a:xfrm>
            <a:off x="1407615" y="3058996"/>
            <a:ext cx="1440000" cy="11320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FIN-WAIT2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终止等待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2</a:t>
            </a:r>
            <a:endParaRPr lang="zh-CN" altLang="en-US" sz="14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06E0037-FAD6-4068-9B8B-67F1AD5C6944}"/>
              </a:ext>
            </a:extLst>
          </p:cNvPr>
          <p:cNvSpPr/>
          <p:nvPr/>
        </p:nvSpPr>
        <p:spPr>
          <a:xfrm>
            <a:off x="7316087" y="3515656"/>
            <a:ext cx="1440000" cy="13157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LAST-ACK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最后确认</a:t>
            </a:r>
            <a:endParaRPr lang="en-US" altLang="zh-CN" sz="14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5E9A01C-6435-410F-9851-DDA4F286CDC6}"/>
              </a:ext>
            </a:extLst>
          </p:cNvPr>
          <p:cNvSpPr txBox="1"/>
          <p:nvPr/>
        </p:nvSpPr>
        <p:spPr>
          <a:xfrm>
            <a:off x="3105440" y="449518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lient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31B7BAE-975F-4957-89A8-9A766F2D5A65}"/>
              </a:ext>
            </a:extLst>
          </p:cNvPr>
          <p:cNvSpPr txBox="1"/>
          <p:nvPr/>
        </p:nvSpPr>
        <p:spPr>
          <a:xfrm>
            <a:off x="6092786" y="444385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erver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1739C4A-609B-4D22-BAA2-D4DA4ECA4EAE}"/>
              </a:ext>
            </a:extLst>
          </p:cNvPr>
          <p:cNvCxnSpPr>
            <a:cxnSpLocks/>
          </p:cNvCxnSpPr>
          <p:nvPr/>
        </p:nvCxnSpPr>
        <p:spPr>
          <a:xfrm flipH="1">
            <a:off x="2847614" y="3399127"/>
            <a:ext cx="4468475" cy="78500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FC5FF73-5508-4CBF-B28A-2D55A2B7FD23}"/>
              </a:ext>
            </a:extLst>
          </p:cNvPr>
          <p:cNvSpPr txBox="1"/>
          <p:nvPr/>
        </p:nvSpPr>
        <p:spPr>
          <a:xfrm rot="-600000">
            <a:off x="3446628" y="3447699"/>
            <a:ext cx="3270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FIN=1 ACK=1 seq=w ack=u+1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92847D-39CD-4B09-96C1-AED2F775C407}"/>
              </a:ext>
            </a:extLst>
          </p:cNvPr>
          <p:cNvSpPr/>
          <p:nvPr/>
        </p:nvSpPr>
        <p:spPr>
          <a:xfrm>
            <a:off x="1407615" y="4241524"/>
            <a:ext cx="1440000" cy="11320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TIME-WAIT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时间等待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508B9D-C88F-44C4-9AA7-3A55FDF7DE56}"/>
              </a:ext>
            </a:extLst>
          </p:cNvPr>
          <p:cNvSpPr/>
          <p:nvPr/>
        </p:nvSpPr>
        <p:spPr>
          <a:xfrm>
            <a:off x="1407615" y="5424052"/>
            <a:ext cx="1440000" cy="46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CLOSED</a:t>
            </a:r>
          </a:p>
          <a:p>
            <a:pPr algn="ctr"/>
            <a:r>
              <a:rPr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关闭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0DF06CC-E485-4B38-8180-53199C3931FC}"/>
              </a:ext>
            </a:extLst>
          </p:cNvPr>
          <p:cNvCxnSpPr>
            <a:cxnSpLocks/>
          </p:cNvCxnSpPr>
          <p:nvPr/>
        </p:nvCxnSpPr>
        <p:spPr>
          <a:xfrm>
            <a:off x="1241790" y="4241524"/>
            <a:ext cx="0" cy="1182528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B5B7F12-CD06-4CB8-86C2-BADA103B5DB1}"/>
              </a:ext>
            </a:extLst>
          </p:cNvPr>
          <p:cNvCxnSpPr>
            <a:cxnSpLocks/>
          </p:cNvCxnSpPr>
          <p:nvPr/>
        </p:nvCxnSpPr>
        <p:spPr>
          <a:xfrm>
            <a:off x="1055190" y="4241524"/>
            <a:ext cx="352425" cy="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6CDF97A-1AB1-4FF8-BA26-C107EF19D0E5}"/>
              </a:ext>
            </a:extLst>
          </p:cNvPr>
          <p:cNvCxnSpPr>
            <a:cxnSpLocks/>
          </p:cNvCxnSpPr>
          <p:nvPr/>
        </p:nvCxnSpPr>
        <p:spPr>
          <a:xfrm>
            <a:off x="1043580" y="5424052"/>
            <a:ext cx="352425" cy="0"/>
          </a:xfrm>
          <a:prstGeom prst="line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F9F2D3DD-69BE-4D31-839A-5D8DC24F7515}"/>
              </a:ext>
            </a:extLst>
          </p:cNvPr>
          <p:cNvSpPr txBox="1"/>
          <p:nvPr/>
        </p:nvSpPr>
        <p:spPr>
          <a:xfrm>
            <a:off x="627315" y="4663511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rgbClr val="C00000"/>
              </a:buClr>
            </a:pP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2MSL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6C6A2B-7D26-44B3-8B8B-07DCD8F77AC8}"/>
              </a:ext>
            </a:extLst>
          </p:cNvPr>
          <p:cNvSpPr txBox="1"/>
          <p:nvPr/>
        </p:nvSpPr>
        <p:spPr>
          <a:xfrm>
            <a:off x="4222480" y="2907587"/>
            <a:ext cx="1718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rgbClr val="C00000"/>
              </a:buClr>
            </a:pPr>
            <a:r>
              <a:rPr lang="en-US" altLang="zh-CN" sz="16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↙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…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数据传输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…</a:t>
            </a:r>
            <a:r>
              <a:rPr lang="en-US" altLang="zh-CN" sz="16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↙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52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4311725-6814-4416-BF83-50776FDBCD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SYN</a:t>
            </a:r>
            <a:r>
              <a:rPr lang="zh-CN" altLang="en-US" dirty="0"/>
              <a:t>洪泛攻击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E51F3BE-C910-437F-A21F-F56112937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SYN flooding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F0A455B-4D10-4CF7-9591-A7461D911A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9A916E-7093-4C06-B973-D3C14AC7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2700337"/>
            <a:ext cx="66484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15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F8BF453-BCAD-4CE3-8850-FA2219344E9A}"/>
              </a:ext>
            </a:extLst>
          </p:cNvPr>
          <p:cNvCxnSpPr>
            <a:cxnSpLocks/>
          </p:cNvCxnSpPr>
          <p:nvPr/>
        </p:nvCxnSpPr>
        <p:spPr>
          <a:xfrm>
            <a:off x="1447933" y="728936"/>
            <a:ext cx="8679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4181015-C850-4699-A611-B7058E3648CC}"/>
              </a:ext>
            </a:extLst>
          </p:cNvPr>
          <p:cNvSpPr/>
          <p:nvPr/>
        </p:nvSpPr>
        <p:spPr>
          <a:xfrm>
            <a:off x="8988725" y="224291"/>
            <a:ext cx="3203274" cy="10092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EA8D315C-673B-41A7-BBBA-80F76FBD4E7C}"/>
              </a:ext>
            </a:extLst>
          </p:cNvPr>
          <p:cNvSpPr txBox="1">
            <a:spLocks/>
          </p:cNvSpPr>
          <p:nvPr/>
        </p:nvSpPr>
        <p:spPr>
          <a:xfrm>
            <a:off x="9276724" y="345574"/>
            <a:ext cx="2643004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四次挥手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4CA4F1B3-430D-4CF7-B720-9FF8EA240AC6}"/>
              </a:ext>
            </a:extLst>
          </p:cNvPr>
          <p:cNvSpPr txBox="1">
            <a:spLocks/>
          </p:cNvSpPr>
          <p:nvPr/>
        </p:nvSpPr>
        <p:spPr>
          <a:xfrm>
            <a:off x="9528428" y="893855"/>
            <a:ext cx="2391300" cy="3139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连接释放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6B2C6-C9D7-4062-8AE7-BE27B081FEB9}"/>
              </a:ext>
            </a:extLst>
          </p:cNvPr>
          <p:cNvSpPr txBox="1"/>
          <p:nvPr/>
        </p:nvSpPr>
        <p:spPr>
          <a:xfrm>
            <a:off x="1447933" y="1742536"/>
            <a:ext cx="621836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M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全双工通信：互相确认才可以释放连接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M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最后的确认必须等待一定时长才可以释放，避免报文失效或丢失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330EBAB-CA36-4F9A-A900-735008B88255}"/>
              </a:ext>
            </a:extLst>
          </p:cNvPr>
          <p:cNvSpPr/>
          <p:nvPr/>
        </p:nvSpPr>
        <p:spPr>
          <a:xfrm>
            <a:off x="5133975" y="505105"/>
            <a:ext cx="1924050" cy="44766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关键点</a:t>
            </a:r>
            <a:endParaRPr lang="zh-CN" altLang="en-US" sz="1800" dirty="0"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3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9E9A9EA-3431-4F31-957D-9AF2C11FD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087" y="1814512"/>
            <a:ext cx="4695825" cy="3228975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32088F-8EA7-4476-BD8D-85C5BC5568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信道利用率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4080237-CDFE-411B-AF71-DC9FB60412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Utilization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AD5FBBD-443A-4095-8E2C-D43698A4A8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51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D619897-A5D7-48EA-BB01-06CCF80B0D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套接字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90694D9-61CF-4C28-8422-903D7D0073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Socket</a:t>
            </a: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59198F88-DFE6-4CC1-B3D4-FD440C9F5D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52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2">
              <a:lumMod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buClr>
            <a:srgbClr val="C00000"/>
          </a:buClr>
          <a:defRPr dirty="0" smtClean="0">
            <a:latin typeface="Cuprum" panose="00000500000000000000" pitchFamily="2" charset="0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966</Words>
  <Application>Microsoft Office PowerPoint</Application>
  <PresentationFormat>宽屏</PresentationFormat>
  <Paragraphs>237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Cuprum</vt:lpstr>
      <vt:lpstr>Lato Heavy</vt:lpstr>
      <vt:lpstr>等线</vt:lpstr>
      <vt:lpstr>等线 Light</vt:lpstr>
      <vt:lpstr>微软雅黑</vt:lpstr>
      <vt:lpstr>微软雅黑 Light</vt:lpstr>
      <vt:lpstr>Arial</vt:lpstr>
      <vt:lpstr>Courier New</vt:lpstr>
      <vt:lpstr>Roboto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冷 军</dc:creator>
  <cp:lastModifiedBy>cn plaman</cp:lastModifiedBy>
  <cp:revision>333</cp:revision>
  <dcterms:created xsi:type="dcterms:W3CDTF">2021-06-07T12:51:08Z</dcterms:created>
  <dcterms:modified xsi:type="dcterms:W3CDTF">2025-10-19T03:35:44Z</dcterms:modified>
</cp:coreProperties>
</file>