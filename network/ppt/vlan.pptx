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26E2D-E5C6-4FD5-A5C6-D45C69F5F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63771B-85A0-4D40-93AD-775BCAFE2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78076-5E27-4312-8546-DBC3565E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7EA337-9417-41BF-B4ED-C6E244B5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32143-6F9D-4F34-9DD6-A89B642D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4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750A-6D01-441E-8164-A050E979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23CED-B3A6-413A-A4D1-A84BDFC3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78197-B102-42EB-8655-E7988D64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0BAC1-75C0-4539-87E7-06E19B93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9FF2C-E412-42C6-85B4-CE26DFB4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4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69BEF-55E8-4B51-A965-E8404943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9DBB7C-40C5-42B2-B9E0-C50D92C44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04429-4E2C-483C-A73C-848082E8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533B1-3D0F-4E6C-9B52-9F2147C9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EF87A5-3A67-40C5-B6D8-D575784B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1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FDF76-EABB-4658-850F-6DA4A366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FF01A-9DD0-4E2C-903E-1CF766E17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946440-E7BA-4F06-B739-AA6282BF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A724A-04D9-42D3-99EC-FE738C1C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76F39-BA48-4A2B-AFBB-11877AA3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DBFE0-ED90-4466-839C-C911071C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88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16397-F5E8-4B5F-92DE-33CC06EB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45FA1-754A-44D2-8DEA-D1B4EA660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6FBC1-EE19-4C95-A1C9-77D1AEE04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6FBE30-E47C-49FE-B3EF-FF481711C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4F479E-F25A-4F9E-AF5B-6C4A4F979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88492-D821-4A91-987A-C97959D0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F923E2-D40D-47C6-B457-11A911F6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9001F6-8E24-477C-868A-6943983B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0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9D79B-5CB1-4DC3-AA67-9FD228EE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6F8F9B-2CEA-4095-80B0-E58CBDAA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5B9BE2-2456-48D0-999D-08973330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519B60-B78D-41E1-88D7-AE16231C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1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8AEF94-F678-4A55-935D-673491E3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A33FEB-ED31-4D25-BDCA-A67DFA9C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72F691-429D-4CA1-B7C2-BBD35AC8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7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306CA26D-5642-498A-A0DF-C7467AA10A4F}"/>
              </a:ext>
            </a:extLst>
          </p:cNvPr>
          <p:cNvSpPr/>
          <p:nvPr userDrawn="1"/>
        </p:nvSpPr>
        <p:spPr>
          <a:xfrm>
            <a:off x="0" y="0"/>
            <a:ext cx="12192000" cy="1888786"/>
          </a:xfrm>
          <a:custGeom>
            <a:avLst/>
            <a:gdLst>
              <a:gd name="connsiteX0" fmla="*/ 1533935 w 12192000"/>
              <a:gd name="connsiteY0" fmla="*/ 0 h 1888786"/>
              <a:gd name="connsiteX1" fmla="*/ 12192000 w 12192000"/>
              <a:gd name="connsiteY1" fmla="*/ 0 h 1888786"/>
              <a:gd name="connsiteX2" fmla="*/ 12192000 w 12192000"/>
              <a:gd name="connsiteY2" fmla="*/ 847030 h 1888786"/>
              <a:gd name="connsiteX3" fmla="*/ 12147242 w 12192000"/>
              <a:gd name="connsiteY3" fmla="*/ 822091 h 1888786"/>
              <a:gd name="connsiteX4" fmla="*/ 10578114 w 12192000"/>
              <a:gd name="connsiteY4" fmla="*/ 420376 h 1888786"/>
              <a:gd name="connsiteX5" fmla="*/ 5748661 w 12192000"/>
              <a:gd name="connsiteY5" fmla="*/ 1867436 h 1888786"/>
              <a:gd name="connsiteX6" fmla="*/ 430937 w 12192000"/>
              <a:gd name="connsiteY6" fmla="*/ 1201611 h 1888786"/>
              <a:gd name="connsiteX7" fmla="*/ 84370 w 12192000"/>
              <a:gd name="connsiteY7" fmla="*/ 1074255 h 1888786"/>
              <a:gd name="connsiteX8" fmla="*/ 0 w 12192000"/>
              <a:gd name="connsiteY8" fmla="*/ 1036758 h 1888786"/>
              <a:gd name="connsiteX9" fmla="*/ 0 w 12192000"/>
              <a:gd name="connsiteY9" fmla="*/ 108818 h 1888786"/>
              <a:gd name="connsiteX10" fmla="*/ 17804 w 12192000"/>
              <a:gd name="connsiteY10" fmla="*/ 105698 h 1888786"/>
              <a:gd name="connsiteX11" fmla="*/ 377671 w 12192000"/>
              <a:gd name="connsiteY11" fmla="*/ 65269 h 1888786"/>
              <a:gd name="connsiteX12" fmla="*/ 1453759 w 12192000"/>
              <a:gd name="connsiteY12" fmla="*/ 2805 h 188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888786">
                <a:moveTo>
                  <a:pt x="1533935" y="0"/>
                </a:moveTo>
                <a:lnTo>
                  <a:pt x="12192000" y="0"/>
                </a:lnTo>
                <a:lnTo>
                  <a:pt x="12192000" y="847030"/>
                </a:lnTo>
                <a:lnTo>
                  <a:pt x="12147242" y="822091"/>
                </a:lnTo>
                <a:cubicBezTo>
                  <a:pt x="11719264" y="593121"/>
                  <a:pt x="11192892" y="369330"/>
                  <a:pt x="10578114" y="420376"/>
                </a:cubicBezTo>
                <a:cubicBezTo>
                  <a:pt x="9348557" y="522469"/>
                  <a:pt x="7439857" y="1737230"/>
                  <a:pt x="5748661" y="1867436"/>
                </a:cubicBezTo>
                <a:cubicBezTo>
                  <a:pt x="4057465" y="1997642"/>
                  <a:pt x="1326102" y="1501972"/>
                  <a:pt x="430937" y="1201611"/>
                </a:cubicBezTo>
                <a:cubicBezTo>
                  <a:pt x="319042" y="1164066"/>
                  <a:pt x="201043" y="1121088"/>
                  <a:pt x="84370" y="1074255"/>
                </a:cubicBezTo>
                <a:lnTo>
                  <a:pt x="0" y="1036758"/>
                </a:lnTo>
                <a:lnTo>
                  <a:pt x="0" y="108818"/>
                </a:lnTo>
                <a:lnTo>
                  <a:pt x="17804" y="105698"/>
                </a:lnTo>
                <a:cubicBezTo>
                  <a:pt x="125045" y="90555"/>
                  <a:pt x="244691" y="77013"/>
                  <a:pt x="377671" y="65269"/>
                </a:cubicBezTo>
                <a:cubicBezTo>
                  <a:pt x="643632" y="41780"/>
                  <a:pt x="1010760" y="20927"/>
                  <a:pt x="1453759" y="280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94D0485-04EB-4D9A-B7E1-34AF6CAD3F01}"/>
              </a:ext>
            </a:extLst>
          </p:cNvPr>
          <p:cNvSpPr/>
          <p:nvPr userDrawn="1"/>
        </p:nvSpPr>
        <p:spPr>
          <a:xfrm>
            <a:off x="0" y="0"/>
            <a:ext cx="12192000" cy="1820202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1499F8D-F53B-4509-B9C5-205310EBE2E6}"/>
              </a:ext>
            </a:extLst>
          </p:cNvPr>
          <p:cNvSpPr/>
          <p:nvPr userDrawn="1"/>
        </p:nvSpPr>
        <p:spPr>
          <a:xfrm>
            <a:off x="0" y="-43131"/>
            <a:ext cx="12192000" cy="1658639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12E8707-52A6-4E09-83AF-1A602E93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17" y="227009"/>
            <a:ext cx="10515600" cy="480131"/>
          </a:xfrm>
        </p:spPr>
        <p:txBody>
          <a:bodyPr>
            <a:sp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51695B3-B1B8-4EEE-A901-5D85F9B44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17" y="2219643"/>
            <a:ext cx="11390566" cy="415607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72714AE6-A1CF-44FC-8E1D-E2568E0798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0717" y="707866"/>
            <a:ext cx="5705665" cy="37702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4B2C0A-CECF-4D18-BD1A-0DF16C4FD292}"/>
              </a:ext>
            </a:extLst>
          </p:cNvPr>
          <p:cNvSpPr txBox="1"/>
          <p:nvPr userDrawn="1"/>
        </p:nvSpPr>
        <p:spPr>
          <a:xfrm>
            <a:off x="5000186" y="6550223"/>
            <a:ext cx="2191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solidFill>
                  <a:schemeClr val="bg1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2020-2021 © </a:t>
            </a:r>
            <a:r>
              <a:rPr lang="zh-CN" altLang="en-US" sz="1400" kern="100" dirty="0">
                <a:solidFill>
                  <a:schemeClr val="bg1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软件工程</a:t>
            </a:r>
          </a:p>
        </p:txBody>
      </p:sp>
    </p:spTree>
    <p:extLst>
      <p:ext uri="{BB962C8B-B14F-4D97-AF65-F5344CB8AC3E}">
        <p14:creationId xmlns:p14="http://schemas.microsoft.com/office/powerpoint/2010/main" val="253728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966BD-0090-4466-A991-27FE2078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ECA7D-1F70-42E9-9FAE-E7339E8E0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61261D-5D65-45CD-AADA-1EED2BE09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9C4A9-3C70-4456-8D35-6F30A5F1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B1CDA-CEB0-4E75-9777-E8AF8E0B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BF795-ECFE-4BE4-9347-5ACA07D8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8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624FA-9B13-4806-8740-F2EA0177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F093AA-CFDB-488F-B797-260E366AA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FDDA66-909C-4E8D-9FBB-33EB08CE3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DC12E-1FAF-4D9B-877D-4AFA18C4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37F97-AB23-43D0-9278-D8651B47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DEA511-F9E8-4589-B185-7016E679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35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48AA7-003C-4286-89BA-45EAD128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863A2C-6A36-46FE-A9B2-18C384A8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F1043-4E19-45C7-8156-2CEBBB65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6DD68-1BDF-4382-BAAC-20BF1572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A1A20-9134-4E07-939A-AFFAC4F3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981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B53C1A-3F8A-48E9-AF39-0BF5858CC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D3C757-FE47-45E3-B516-3FA09901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CB5EB-600F-4BF5-931F-47CE2134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48140-366F-45DC-99F5-A2522FC0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58043-C34D-467C-AA90-B381DC2F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0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23D40D-F5BE-4FD8-B1E1-BB4CDA5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C4F72-E7B4-412F-9171-B9B6BEEA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D3EBE-426F-40C8-AED7-4BC8BBBD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5468-3DE4-4961-9497-C8C5DC302A93}" type="datetimeFigureOut">
              <a:rPr lang="zh-CN" altLang="en-US" smtClean="0"/>
              <a:t>2021/5/10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154B7-9D1D-420C-8464-9704AC299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2FD0A-D904-4DF0-BD56-1FA5202FC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F3FD61B-A802-4912-845C-C9EF199C98D8}"/>
              </a:ext>
            </a:extLst>
          </p:cNvPr>
          <p:cNvSpPr/>
          <p:nvPr/>
        </p:nvSpPr>
        <p:spPr>
          <a:xfrm>
            <a:off x="397167" y="612058"/>
            <a:ext cx="11397666" cy="5633884"/>
          </a:xfrm>
          <a:custGeom>
            <a:avLst/>
            <a:gdLst>
              <a:gd name="connsiteX0" fmla="*/ 3643742 w 11397666"/>
              <a:gd name="connsiteY0" fmla="*/ 452285 h 5633884"/>
              <a:gd name="connsiteX1" fmla="*/ 3999342 w 11397666"/>
              <a:gd name="connsiteY1" fmla="*/ 807884 h 5633884"/>
              <a:gd name="connsiteX2" fmla="*/ 3999342 w 11397666"/>
              <a:gd name="connsiteY2" fmla="*/ 5278284 h 5633884"/>
              <a:gd name="connsiteX3" fmla="*/ 3643742 w 11397666"/>
              <a:gd name="connsiteY3" fmla="*/ 5633884 h 5633884"/>
              <a:gd name="connsiteX4" fmla="*/ 3288143 w 11397666"/>
              <a:gd name="connsiteY4" fmla="*/ 5278284 h 5633884"/>
              <a:gd name="connsiteX5" fmla="*/ 3288143 w 11397666"/>
              <a:gd name="connsiteY5" fmla="*/ 807884 h 5633884"/>
              <a:gd name="connsiteX6" fmla="*/ 3643742 w 11397666"/>
              <a:gd name="connsiteY6" fmla="*/ 452285 h 5633884"/>
              <a:gd name="connsiteX7" fmla="*/ 1999672 w 11397666"/>
              <a:gd name="connsiteY7" fmla="*/ 452285 h 5633884"/>
              <a:gd name="connsiteX8" fmla="*/ 2355271 w 11397666"/>
              <a:gd name="connsiteY8" fmla="*/ 807884 h 5633884"/>
              <a:gd name="connsiteX9" fmla="*/ 2355271 w 11397666"/>
              <a:gd name="connsiteY9" fmla="*/ 5278284 h 5633884"/>
              <a:gd name="connsiteX10" fmla="*/ 1999672 w 11397666"/>
              <a:gd name="connsiteY10" fmla="*/ 5633884 h 5633884"/>
              <a:gd name="connsiteX11" fmla="*/ 1644072 w 11397666"/>
              <a:gd name="connsiteY11" fmla="*/ 5278284 h 5633884"/>
              <a:gd name="connsiteX12" fmla="*/ 1644072 w 11397666"/>
              <a:gd name="connsiteY12" fmla="*/ 807884 h 5633884"/>
              <a:gd name="connsiteX13" fmla="*/ 1999672 w 11397666"/>
              <a:gd name="connsiteY13" fmla="*/ 452285 h 5633884"/>
              <a:gd name="connsiteX14" fmla="*/ 355600 w 11397666"/>
              <a:gd name="connsiteY14" fmla="*/ 452285 h 5633884"/>
              <a:gd name="connsiteX15" fmla="*/ 711200 w 11397666"/>
              <a:gd name="connsiteY15" fmla="*/ 807884 h 5633884"/>
              <a:gd name="connsiteX16" fmla="*/ 711200 w 11397666"/>
              <a:gd name="connsiteY16" fmla="*/ 5278284 h 5633884"/>
              <a:gd name="connsiteX17" fmla="*/ 355600 w 11397666"/>
              <a:gd name="connsiteY17" fmla="*/ 5633884 h 5633884"/>
              <a:gd name="connsiteX18" fmla="*/ 0 w 11397666"/>
              <a:gd name="connsiteY18" fmla="*/ 5278284 h 5633884"/>
              <a:gd name="connsiteX19" fmla="*/ 0 w 11397666"/>
              <a:gd name="connsiteY19" fmla="*/ 807884 h 5633884"/>
              <a:gd name="connsiteX20" fmla="*/ 355600 w 11397666"/>
              <a:gd name="connsiteY20" fmla="*/ 452285 h 5633884"/>
              <a:gd name="connsiteX21" fmla="*/ 5287814 w 11397666"/>
              <a:gd name="connsiteY21" fmla="*/ 452285 h 5633884"/>
              <a:gd name="connsiteX22" fmla="*/ 5643414 w 11397666"/>
              <a:gd name="connsiteY22" fmla="*/ 807884 h 5633884"/>
              <a:gd name="connsiteX23" fmla="*/ 5643414 w 11397666"/>
              <a:gd name="connsiteY23" fmla="*/ 5278284 h 5633884"/>
              <a:gd name="connsiteX24" fmla="*/ 5287814 w 11397666"/>
              <a:gd name="connsiteY24" fmla="*/ 5633884 h 5633884"/>
              <a:gd name="connsiteX25" fmla="*/ 4932214 w 11397666"/>
              <a:gd name="connsiteY25" fmla="*/ 5278284 h 5633884"/>
              <a:gd name="connsiteX26" fmla="*/ 4932214 w 11397666"/>
              <a:gd name="connsiteY26" fmla="*/ 807884 h 5633884"/>
              <a:gd name="connsiteX27" fmla="*/ 5287814 w 11397666"/>
              <a:gd name="connsiteY27" fmla="*/ 452285 h 5633884"/>
              <a:gd name="connsiteX28" fmla="*/ 6931886 w 11397666"/>
              <a:gd name="connsiteY28" fmla="*/ 452285 h 5633884"/>
              <a:gd name="connsiteX29" fmla="*/ 7287486 w 11397666"/>
              <a:gd name="connsiteY29" fmla="*/ 807884 h 5633884"/>
              <a:gd name="connsiteX30" fmla="*/ 7287486 w 11397666"/>
              <a:gd name="connsiteY30" fmla="*/ 5278284 h 5633884"/>
              <a:gd name="connsiteX31" fmla="*/ 6931886 w 11397666"/>
              <a:gd name="connsiteY31" fmla="*/ 5633884 h 5633884"/>
              <a:gd name="connsiteX32" fmla="*/ 6576286 w 11397666"/>
              <a:gd name="connsiteY32" fmla="*/ 5278284 h 5633884"/>
              <a:gd name="connsiteX33" fmla="*/ 6576286 w 11397666"/>
              <a:gd name="connsiteY33" fmla="*/ 807884 h 5633884"/>
              <a:gd name="connsiteX34" fmla="*/ 6931886 w 11397666"/>
              <a:gd name="connsiteY34" fmla="*/ 452285 h 5633884"/>
              <a:gd name="connsiteX35" fmla="*/ 8575958 w 11397666"/>
              <a:gd name="connsiteY35" fmla="*/ 452284 h 5633884"/>
              <a:gd name="connsiteX36" fmla="*/ 8931558 w 11397666"/>
              <a:gd name="connsiteY36" fmla="*/ 807884 h 5633884"/>
              <a:gd name="connsiteX37" fmla="*/ 8931558 w 11397666"/>
              <a:gd name="connsiteY37" fmla="*/ 5278284 h 5633884"/>
              <a:gd name="connsiteX38" fmla="*/ 8575958 w 11397666"/>
              <a:gd name="connsiteY38" fmla="*/ 5633884 h 5633884"/>
              <a:gd name="connsiteX39" fmla="*/ 8220358 w 11397666"/>
              <a:gd name="connsiteY39" fmla="*/ 5278284 h 5633884"/>
              <a:gd name="connsiteX40" fmla="*/ 8220358 w 11397666"/>
              <a:gd name="connsiteY40" fmla="*/ 807884 h 5633884"/>
              <a:gd name="connsiteX41" fmla="*/ 8575958 w 11397666"/>
              <a:gd name="connsiteY41" fmla="*/ 452284 h 5633884"/>
              <a:gd name="connsiteX42" fmla="*/ 10220030 w 11397666"/>
              <a:gd name="connsiteY42" fmla="*/ 452284 h 5633884"/>
              <a:gd name="connsiteX43" fmla="*/ 10575630 w 11397666"/>
              <a:gd name="connsiteY43" fmla="*/ 807884 h 5633884"/>
              <a:gd name="connsiteX44" fmla="*/ 10575630 w 11397666"/>
              <a:gd name="connsiteY44" fmla="*/ 5278284 h 5633884"/>
              <a:gd name="connsiteX45" fmla="*/ 10220030 w 11397666"/>
              <a:gd name="connsiteY45" fmla="*/ 5633884 h 5633884"/>
              <a:gd name="connsiteX46" fmla="*/ 9864430 w 11397666"/>
              <a:gd name="connsiteY46" fmla="*/ 5278284 h 5633884"/>
              <a:gd name="connsiteX47" fmla="*/ 9864430 w 11397666"/>
              <a:gd name="connsiteY47" fmla="*/ 807884 h 5633884"/>
              <a:gd name="connsiteX48" fmla="*/ 10220030 w 11397666"/>
              <a:gd name="connsiteY48" fmla="*/ 452284 h 5633884"/>
              <a:gd name="connsiteX49" fmla="*/ 11042066 w 11397666"/>
              <a:gd name="connsiteY49" fmla="*/ 1 h 5633884"/>
              <a:gd name="connsiteX50" fmla="*/ 11397666 w 11397666"/>
              <a:gd name="connsiteY50" fmla="*/ 355600 h 5633884"/>
              <a:gd name="connsiteX51" fmla="*/ 11397666 w 11397666"/>
              <a:gd name="connsiteY51" fmla="*/ 4826000 h 5633884"/>
              <a:gd name="connsiteX52" fmla="*/ 11042066 w 11397666"/>
              <a:gd name="connsiteY52" fmla="*/ 5181600 h 5633884"/>
              <a:gd name="connsiteX53" fmla="*/ 10686466 w 11397666"/>
              <a:gd name="connsiteY53" fmla="*/ 4826000 h 5633884"/>
              <a:gd name="connsiteX54" fmla="*/ 10686466 w 11397666"/>
              <a:gd name="connsiteY54" fmla="*/ 355600 h 5633884"/>
              <a:gd name="connsiteX55" fmla="*/ 11042066 w 11397666"/>
              <a:gd name="connsiteY55" fmla="*/ 1 h 5633884"/>
              <a:gd name="connsiteX56" fmla="*/ 1177636 w 11397666"/>
              <a:gd name="connsiteY56" fmla="*/ 1 h 5633884"/>
              <a:gd name="connsiteX57" fmla="*/ 1533236 w 11397666"/>
              <a:gd name="connsiteY57" fmla="*/ 355600 h 5633884"/>
              <a:gd name="connsiteX58" fmla="*/ 1533236 w 11397666"/>
              <a:gd name="connsiteY58" fmla="*/ 4826000 h 5633884"/>
              <a:gd name="connsiteX59" fmla="*/ 1177636 w 11397666"/>
              <a:gd name="connsiteY59" fmla="*/ 5181600 h 5633884"/>
              <a:gd name="connsiteX60" fmla="*/ 822036 w 11397666"/>
              <a:gd name="connsiteY60" fmla="*/ 4826000 h 5633884"/>
              <a:gd name="connsiteX61" fmla="*/ 822036 w 11397666"/>
              <a:gd name="connsiteY61" fmla="*/ 355600 h 5633884"/>
              <a:gd name="connsiteX62" fmla="*/ 1177636 w 11397666"/>
              <a:gd name="connsiteY62" fmla="*/ 1 h 5633884"/>
              <a:gd name="connsiteX63" fmla="*/ 2821708 w 11397666"/>
              <a:gd name="connsiteY63" fmla="*/ 1 h 5633884"/>
              <a:gd name="connsiteX64" fmla="*/ 3177308 w 11397666"/>
              <a:gd name="connsiteY64" fmla="*/ 355600 h 5633884"/>
              <a:gd name="connsiteX65" fmla="*/ 3177308 w 11397666"/>
              <a:gd name="connsiteY65" fmla="*/ 4826000 h 5633884"/>
              <a:gd name="connsiteX66" fmla="*/ 2821708 w 11397666"/>
              <a:gd name="connsiteY66" fmla="*/ 5181600 h 5633884"/>
              <a:gd name="connsiteX67" fmla="*/ 2466107 w 11397666"/>
              <a:gd name="connsiteY67" fmla="*/ 4826000 h 5633884"/>
              <a:gd name="connsiteX68" fmla="*/ 2466107 w 11397666"/>
              <a:gd name="connsiteY68" fmla="*/ 355600 h 5633884"/>
              <a:gd name="connsiteX69" fmla="*/ 2821708 w 11397666"/>
              <a:gd name="connsiteY69" fmla="*/ 1 h 5633884"/>
              <a:gd name="connsiteX70" fmla="*/ 4465778 w 11397666"/>
              <a:gd name="connsiteY70" fmla="*/ 1 h 5633884"/>
              <a:gd name="connsiteX71" fmla="*/ 4821378 w 11397666"/>
              <a:gd name="connsiteY71" fmla="*/ 355600 h 5633884"/>
              <a:gd name="connsiteX72" fmla="*/ 4821378 w 11397666"/>
              <a:gd name="connsiteY72" fmla="*/ 4826000 h 5633884"/>
              <a:gd name="connsiteX73" fmla="*/ 4465778 w 11397666"/>
              <a:gd name="connsiteY73" fmla="*/ 5181600 h 5633884"/>
              <a:gd name="connsiteX74" fmla="*/ 4110178 w 11397666"/>
              <a:gd name="connsiteY74" fmla="*/ 4826000 h 5633884"/>
              <a:gd name="connsiteX75" fmla="*/ 4110178 w 11397666"/>
              <a:gd name="connsiteY75" fmla="*/ 355600 h 5633884"/>
              <a:gd name="connsiteX76" fmla="*/ 4465778 w 11397666"/>
              <a:gd name="connsiteY76" fmla="*/ 1 h 5633884"/>
              <a:gd name="connsiteX77" fmla="*/ 6109850 w 11397666"/>
              <a:gd name="connsiteY77" fmla="*/ 0 h 5633884"/>
              <a:gd name="connsiteX78" fmla="*/ 6465450 w 11397666"/>
              <a:gd name="connsiteY78" fmla="*/ 355600 h 5633884"/>
              <a:gd name="connsiteX79" fmla="*/ 6465450 w 11397666"/>
              <a:gd name="connsiteY79" fmla="*/ 4826000 h 5633884"/>
              <a:gd name="connsiteX80" fmla="*/ 6109850 w 11397666"/>
              <a:gd name="connsiteY80" fmla="*/ 5181600 h 5633884"/>
              <a:gd name="connsiteX81" fmla="*/ 5754250 w 11397666"/>
              <a:gd name="connsiteY81" fmla="*/ 4826000 h 5633884"/>
              <a:gd name="connsiteX82" fmla="*/ 5754250 w 11397666"/>
              <a:gd name="connsiteY82" fmla="*/ 355600 h 5633884"/>
              <a:gd name="connsiteX83" fmla="*/ 6109850 w 11397666"/>
              <a:gd name="connsiteY83" fmla="*/ 0 h 5633884"/>
              <a:gd name="connsiteX84" fmla="*/ 7753922 w 11397666"/>
              <a:gd name="connsiteY84" fmla="*/ 0 h 5633884"/>
              <a:gd name="connsiteX85" fmla="*/ 8109522 w 11397666"/>
              <a:gd name="connsiteY85" fmla="*/ 355600 h 5633884"/>
              <a:gd name="connsiteX86" fmla="*/ 8109522 w 11397666"/>
              <a:gd name="connsiteY86" fmla="*/ 4826000 h 5633884"/>
              <a:gd name="connsiteX87" fmla="*/ 7753922 w 11397666"/>
              <a:gd name="connsiteY87" fmla="*/ 5181600 h 5633884"/>
              <a:gd name="connsiteX88" fmla="*/ 7398322 w 11397666"/>
              <a:gd name="connsiteY88" fmla="*/ 4826000 h 5633884"/>
              <a:gd name="connsiteX89" fmla="*/ 7398322 w 11397666"/>
              <a:gd name="connsiteY89" fmla="*/ 355600 h 5633884"/>
              <a:gd name="connsiteX90" fmla="*/ 7753922 w 11397666"/>
              <a:gd name="connsiteY90" fmla="*/ 0 h 5633884"/>
              <a:gd name="connsiteX91" fmla="*/ 9397994 w 11397666"/>
              <a:gd name="connsiteY91" fmla="*/ 0 h 5633884"/>
              <a:gd name="connsiteX92" fmla="*/ 9753594 w 11397666"/>
              <a:gd name="connsiteY92" fmla="*/ 355600 h 5633884"/>
              <a:gd name="connsiteX93" fmla="*/ 9753594 w 11397666"/>
              <a:gd name="connsiteY93" fmla="*/ 4826000 h 5633884"/>
              <a:gd name="connsiteX94" fmla="*/ 9397994 w 11397666"/>
              <a:gd name="connsiteY94" fmla="*/ 5181600 h 5633884"/>
              <a:gd name="connsiteX95" fmla="*/ 9042394 w 11397666"/>
              <a:gd name="connsiteY95" fmla="*/ 4826000 h 5633884"/>
              <a:gd name="connsiteX96" fmla="*/ 9042394 w 11397666"/>
              <a:gd name="connsiteY96" fmla="*/ 355600 h 5633884"/>
              <a:gd name="connsiteX97" fmla="*/ 9397994 w 11397666"/>
              <a:gd name="connsiteY97" fmla="*/ 0 h 563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397666" h="5633884">
                <a:moveTo>
                  <a:pt x="3643742" y="452285"/>
                </a:moveTo>
                <a:cubicBezTo>
                  <a:pt x="3840134" y="452285"/>
                  <a:pt x="3999342" y="611493"/>
                  <a:pt x="3999342" y="807884"/>
                </a:cubicBezTo>
                <a:lnTo>
                  <a:pt x="3999342" y="5278284"/>
                </a:lnTo>
                <a:cubicBezTo>
                  <a:pt x="3999342" y="5474676"/>
                  <a:pt x="3840134" y="5633884"/>
                  <a:pt x="3643742" y="5633884"/>
                </a:cubicBezTo>
                <a:cubicBezTo>
                  <a:pt x="3447351" y="5633884"/>
                  <a:pt x="3288143" y="5474676"/>
                  <a:pt x="3288143" y="5278284"/>
                </a:cubicBezTo>
                <a:lnTo>
                  <a:pt x="3288143" y="807884"/>
                </a:lnTo>
                <a:cubicBezTo>
                  <a:pt x="3288143" y="611493"/>
                  <a:pt x="3447351" y="452285"/>
                  <a:pt x="3643742" y="452285"/>
                </a:cubicBezTo>
                <a:close/>
                <a:moveTo>
                  <a:pt x="1999672" y="452285"/>
                </a:moveTo>
                <a:cubicBezTo>
                  <a:pt x="2196063" y="452285"/>
                  <a:pt x="2355271" y="611493"/>
                  <a:pt x="2355271" y="807884"/>
                </a:cubicBezTo>
                <a:lnTo>
                  <a:pt x="2355271" y="5278284"/>
                </a:lnTo>
                <a:cubicBezTo>
                  <a:pt x="2355271" y="5474676"/>
                  <a:pt x="2196063" y="5633884"/>
                  <a:pt x="1999672" y="5633884"/>
                </a:cubicBezTo>
                <a:cubicBezTo>
                  <a:pt x="1803280" y="5633884"/>
                  <a:pt x="1644072" y="5474676"/>
                  <a:pt x="1644072" y="5278284"/>
                </a:cubicBezTo>
                <a:lnTo>
                  <a:pt x="1644072" y="807884"/>
                </a:lnTo>
                <a:cubicBezTo>
                  <a:pt x="1644072" y="611493"/>
                  <a:pt x="1803280" y="452285"/>
                  <a:pt x="1999672" y="452285"/>
                </a:cubicBezTo>
                <a:close/>
                <a:moveTo>
                  <a:pt x="355600" y="452285"/>
                </a:moveTo>
                <a:cubicBezTo>
                  <a:pt x="551992" y="452285"/>
                  <a:pt x="711200" y="611494"/>
                  <a:pt x="711200" y="807884"/>
                </a:cubicBezTo>
                <a:lnTo>
                  <a:pt x="711200" y="5278284"/>
                </a:lnTo>
                <a:cubicBezTo>
                  <a:pt x="711200" y="5474676"/>
                  <a:pt x="551992" y="5633884"/>
                  <a:pt x="355600" y="5633884"/>
                </a:cubicBezTo>
                <a:cubicBezTo>
                  <a:pt x="159208" y="5633884"/>
                  <a:pt x="0" y="5474676"/>
                  <a:pt x="0" y="5278284"/>
                </a:cubicBezTo>
                <a:lnTo>
                  <a:pt x="0" y="807884"/>
                </a:lnTo>
                <a:cubicBezTo>
                  <a:pt x="0" y="611494"/>
                  <a:pt x="159208" y="452285"/>
                  <a:pt x="355600" y="452285"/>
                </a:cubicBezTo>
                <a:close/>
                <a:moveTo>
                  <a:pt x="5287814" y="452285"/>
                </a:moveTo>
                <a:cubicBezTo>
                  <a:pt x="5484206" y="452285"/>
                  <a:pt x="5643414" y="611493"/>
                  <a:pt x="5643414" y="807884"/>
                </a:cubicBezTo>
                <a:lnTo>
                  <a:pt x="5643414" y="5278284"/>
                </a:lnTo>
                <a:cubicBezTo>
                  <a:pt x="5643414" y="5474676"/>
                  <a:pt x="5484206" y="5633884"/>
                  <a:pt x="5287814" y="5633884"/>
                </a:cubicBezTo>
                <a:cubicBezTo>
                  <a:pt x="5091422" y="5633884"/>
                  <a:pt x="4932214" y="5474676"/>
                  <a:pt x="4932214" y="5278284"/>
                </a:cubicBezTo>
                <a:lnTo>
                  <a:pt x="4932214" y="807884"/>
                </a:lnTo>
                <a:cubicBezTo>
                  <a:pt x="4932214" y="611493"/>
                  <a:pt x="5091422" y="452285"/>
                  <a:pt x="5287814" y="452285"/>
                </a:cubicBezTo>
                <a:close/>
                <a:moveTo>
                  <a:pt x="6931886" y="452285"/>
                </a:moveTo>
                <a:cubicBezTo>
                  <a:pt x="7128278" y="452285"/>
                  <a:pt x="7287486" y="611493"/>
                  <a:pt x="7287486" y="807884"/>
                </a:cubicBezTo>
                <a:lnTo>
                  <a:pt x="7287486" y="5278284"/>
                </a:lnTo>
                <a:cubicBezTo>
                  <a:pt x="7287486" y="5474676"/>
                  <a:pt x="7128278" y="5633884"/>
                  <a:pt x="6931886" y="5633884"/>
                </a:cubicBezTo>
                <a:cubicBezTo>
                  <a:pt x="6735494" y="5633884"/>
                  <a:pt x="6576286" y="5474676"/>
                  <a:pt x="6576286" y="5278284"/>
                </a:cubicBezTo>
                <a:lnTo>
                  <a:pt x="6576286" y="807884"/>
                </a:lnTo>
                <a:cubicBezTo>
                  <a:pt x="6576286" y="611493"/>
                  <a:pt x="6735494" y="452285"/>
                  <a:pt x="6931886" y="452285"/>
                </a:cubicBezTo>
                <a:close/>
                <a:moveTo>
                  <a:pt x="8575958" y="452284"/>
                </a:moveTo>
                <a:cubicBezTo>
                  <a:pt x="8772350" y="452284"/>
                  <a:pt x="8931558" y="611492"/>
                  <a:pt x="8931558" y="807884"/>
                </a:cubicBezTo>
                <a:lnTo>
                  <a:pt x="8931558" y="5278284"/>
                </a:lnTo>
                <a:cubicBezTo>
                  <a:pt x="8931558" y="5474676"/>
                  <a:pt x="8772350" y="5633884"/>
                  <a:pt x="8575958" y="5633884"/>
                </a:cubicBezTo>
                <a:cubicBezTo>
                  <a:pt x="8379566" y="5633884"/>
                  <a:pt x="8220358" y="5474676"/>
                  <a:pt x="8220358" y="5278284"/>
                </a:cubicBezTo>
                <a:lnTo>
                  <a:pt x="8220358" y="807884"/>
                </a:lnTo>
                <a:cubicBezTo>
                  <a:pt x="8220358" y="611492"/>
                  <a:pt x="8379566" y="452284"/>
                  <a:pt x="8575958" y="452284"/>
                </a:cubicBezTo>
                <a:close/>
                <a:moveTo>
                  <a:pt x="10220030" y="452284"/>
                </a:moveTo>
                <a:cubicBezTo>
                  <a:pt x="10416422" y="452284"/>
                  <a:pt x="10575630" y="611492"/>
                  <a:pt x="10575630" y="807884"/>
                </a:cubicBezTo>
                <a:lnTo>
                  <a:pt x="10575630" y="5278284"/>
                </a:lnTo>
                <a:cubicBezTo>
                  <a:pt x="10575630" y="5474676"/>
                  <a:pt x="10416422" y="5633884"/>
                  <a:pt x="10220030" y="5633884"/>
                </a:cubicBezTo>
                <a:cubicBezTo>
                  <a:pt x="10023638" y="5633884"/>
                  <a:pt x="9864430" y="5474676"/>
                  <a:pt x="9864430" y="5278284"/>
                </a:cubicBezTo>
                <a:lnTo>
                  <a:pt x="9864430" y="807884"/>
                </a:lnTo>
                <a:cubicBezTo>
                  <a:pt x="9864430" y="611492"/>
                  <a:pt x="10023638" y="452284"/>
                  <a:pt x="10220030" y="452284"/>
                </a:cubicBezTo>
                <a:close/>
                <a:moveTo>
                  <a:pt x="11042066" y="1"/>
                </a:moveTo>
                <a:cubicBezTo>
                  <a:pt x="11238458" y="1"/>
                  <a:pt x="11397666" y="159209"/>
                  <a:pt x="11397666" y="355600"/>
                </a:cubicBezTo>
                <a:lnTo>
                  <a:pt x="11397666" y="4826000"/>
                </a:lnTo>
                <a:cubicBezTo>
                  <a:pt x="11397666" y="5022392"/>
                  <a:pt x="11238458" y="5181600"/>
                  <a:pt x="11042066" y="5181600"/>
                </a:cubicBezTo>
                <a:cubicBezTo>
                  <a:pt x="10845674" y="5181600"/>
                  <a:pt x="10686466" y="5022392"/>
                  <a:pt x="10686466" y="4826000"/>
                </a:cubicBezTo>
                <a:lnTo>
                  <a:pt x="10686466" y="355600"/>
                </a:lnTo>
                <a:cubicBezTo>
                  <a:pt x="10686466" y="159209"/>
                  <a:pt x="10845674" y="1"/>
                  <a:pt x="11042066" y="1"/>
                </a:cubicBezTo>
                <a:close/>
                <a:moveTo>
                  <a:pt x="1177636" y="1"/>
                </a:moveTo>
                <a:cubicBezTo>
                  <a:pt x="1374028" y="1"/>
                  <a:pt x="1533236" y="159209"/>
                  <a:pt x="1533236" y="355600"/>
                </a:cubicBezTo>
                <a:lnTo>
                  <a:pt x="1533236" y="4826000"/>
                </a:lnTo>
                <a:cubicBezTo>
                  <a:pt x="1533236" y="5022392"/>
                  <a:pt x="1374028" y="5181600"/>
                  <a:pt x="1177636" y="5181600"/>
                </a:cubicBezTo>
                <a:cubicBezTo>
                  <a:pt x="981244" y="5181600"/>
                  <a:pt x="822036" y="5022392"/>
                  <a:pt x="822036" y="4826000"/>
                </a:cubicBezTo>
                <a:lnTo>
                  <a:pt x="822036" y="355600"/>
                </a:lnTo>
                <a:cubicBezTo>
                  <a:pt x="822036" y="159209"/>
                  <a:pt x="981244" y="1"/>
                  <a:pt x="1177636" y="1"/>
                </a:cubicBezTo>
                <a:close/>
                <a:moveTo>
                  <a:pt x="2821708" y="1"/>
                </a:moveTo>
                <a:cubicBezTo>
                  <a:pt x="3018100" y="1"/>
                  <a:pt x="3177308" y="159209"/>
                  <a:pt x="3177308" y="355600"/>
                </a:cubicBezTo>
                <a:lnTo>
                  <a:pt x="3177308" y="4826000"/>
                </a:lnTo>
                <a:cubicBezTo>
                  <a:pt x="3177308" y="5022392"/>
                  <a:pt x="3018100" y="5181600"/>
                  <a:pt x="2821708" y="5181600"/>
                </a:cubicBezTo>
                <a:cubicBezTo>
                  <a:pt x="2625315" y="5181600"/>
                  <a:pt x="2466107" y="5022392"/>
                  <a:pt x="2466107" y="4826000"/>
                </a:cubicBezTo>
                <a:lnTo>
                  <a:pt x="2466107" y="355600"/>
                </a:lnTo>
                <a:cubicBezTo>
                  <a:pt x="2466107" y="159209"/>
                  <a:pt x="2625315" y="1"/>
                  <a:pt x="2821708" y="1"/>
                </a:cubicBezTo>
                <a:close/>
                <a:moveTo>
                  <a:pt x="4465778" y="1"/>
                </a:moveTo>
                <a:cubicBezTo>
                  <a:pt x="4662170" y="1"/>
                  <a:pt x="4821378" y="159209"/>
                  <a:pt x="4821378" y="355600"/>
                </a:cubicBezTo>
                <a:lnTo>
                  <a:pt x="4821378" y="4826000"/>
                </a:lnTo>
                <a:cubicBezTo>
                  <a:pt x="4821378" y="5022392"/>
                  <a:pt x="4662170" y="5181600"/>
                  <a:pt x="4465778" y="5181600"/>
                </a:cubicBezTo>
                <a:cubicBezTo>
                  <a:pt x="4269386" y="5181600"/>
                  <a:pt x="4110178" y="5022392"/>
                  <a:pt x="4110178" y="4826000"/>
                </a:cubicBezTo>
                <a:lnTo>
                  <a:pt x="4110178" y="355600"/>
                </a:lnTo>
                <a:cubicBezTo>
                  <a:pt x="4110178" y="159209"/>
                  <a:pt x="4269386" y="1"/>
                  <a:pt x="4465778" y="1"/>
                </a:cubicBezTo>
                <a:close/>
                <a:moveTo>
                  <a:pt x="6109850" y="0"/>
                </a:moveTo>
                <a:cubicBezTo>
                  <a:pt x="6306242" y="0"/>
                  <a:pt x="6465450" y="159209"/>
                  <a:pt x="6465450" y="355600"/>
                </a:cubicBezTo>
                <a:lnTo>
                  <a:pt x="6465450" y="4826000"/>
                </a:lnTo>
                <a:cubicBezTo>
                  <a:pt x="6465450" y="5022392"/>
                  <a:pt x="6306242" y="5181600"/>
                  <a:pt x="6109850" y="5181600"/>
                </a:cubicBezTo>
                <a:cubicBezTo>
                  <a:pt x="5913458" y="5181600"/>
                  <a:pt x="5754250" y="5022392"/>
                  <a:pt x="5754250" y="4826000"/>
                </a:cubicBezTo>
                <a:lnTo>
                  <a:pt x="5754250" y="355600"/>
                </a:lnTo>
                <a:cubicBezTo>
                  <a:pt x="5754250" y="159209"/>
                  <a:pt x="5913458" y="0"/>
                  <a:pt x="6109850" y="0"/>
                </a:cubicBezTo>
                <a:close/>
                <a:moveTo>
                  <a:pt x="7753922" y="0"/>
                </a:moveTo>
                <a:cubicBezTo>
                  <a:pt x="7950314" y="0"/>
                  <a:pt x="8109522" y="159208"/>
                  <a:pt x="8109522" y="355600"/>
                </a:cubicBezTo>
                <a:lnTo>
                  <a:pt x="8109522" y="4826000"/>
                </a:lnTo>
                <a:cubicBezTo>
                  <a:pt x="8109522" y="5022392"/>
                  <a:pt x="7950314" y="5181600"/>
                  <a:pt x="7753922" y="5181600"/>
                </a:cubicBezTo>
                <a:cubicBezTo>
                  <a:pt x="7557530" y="5181600"/>
                  <a:pt x="7398322" y="5022392"/>
                  <a:pt x="7398322" y="4826000"/>
                </a:cubicBezTo>
                <a:lnTo>
                  <a:pt x="7398322" y="355600"/>
                </a:lnTo>
                <a:cubicBezTo>
                  <a:pt x="7398322" y="159208"/>
                  <a:pt x="7557530" y="0"/>
                  <a:pt x="7753922" y="0"/>
                </a:cubicBezTo>
                <a:close/>
                <a:moveTo>
                  <a:pt x="9397994" y="0"/>
                </a:moveTo>
                <a:cubicBezTo>
                  <a:pt x="9594386" y="0"/>
                  <a:pt x="9753594" y="159208"/>
                  <a:pt x="9753594" y="355600"/>
                </a:cubicBezTo>
                <a:lnTo>
                  <a:pt x="9753594" y="4826000"/>
                </a:lnTo>
                <a:cubicBezTo>
                  <a:pt x="9753594" y="5022392"/>
                  <a:pt x="9594386" y="5181600"/>
                  <a:pt x="9397994" y="5181600"/>
                </a:cubicBezTo>
                <a:cubicBezTo>
                  <a:pt x="9201602" y="5181600"/>
                  <a:pt x="9042394" y="5022392"/>
                  <a:pt x="9042394" y="4826000"/>
                </a:cubicBezTo>
                <a:lnTo>
                  <a:pt x="9042394" y="355600"/>
                </a:lnTo>
                <a:cubicBezTo>
                  <a:pt x="9042394" y="159208"/>
                  <a:pt x="9201602" y="0"/>
                  <a:pt x="9397994" y="0"/>
                </a:cubicBezTo>
                <a:close/>
              </a:path>
            </a:pathLst>
          </a:custGeo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DEB12F-2D91-4936-82EB-B308503F644E}"/>
              </a:ext>
            </a:extLst>
          </p:cNvPr>
          <p:cNvSpPr/>
          <p:nvPr/>
        </p:nvSpPr>
        <p:spPr>
          <a:xfrm>
            <a:off x="397167" y="4925683"/>
            <a:ext cx="11397666" cy="1320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桂林学院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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2021-05-10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6A9D04-8442-4202-9EBF-EE03DF7B817E}"/>
              </a:ext>
            </a:extLst>
          </p:cNvPr>
          <p:cNvSpPr/>
          <p:nvPr/>
        </p:nvSpPr>
        <p:spPr>
          <a:xfrm>
            <a:off x="5227674" y="2510287"/>
            <a:ext cx="5578763" cy="1607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0" dirty="0">
                <a:ln w="38100">
                  <a:solidFill>
                    <a:schemeClr val="bg1"/>
                  </a:solidFill>
                </a:ln>
                <a:solidFill>
                  <a:srgbClr val="FFFF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VLAN</a:t>
            </a:r>
            <a:endParaRPr lang="zh-CN" altLang="en-US" sz="8000" dirty="0">
              <a:ln w="38100">
                <a:solidFill>
                  <a:schemeClr val="bg1"/>
                </a:solidFill>
              </a:ln>
              <a:solidFill>
                <a:srgbClr val="FFFF00"/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5179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>
            <a:extLst>
              <a:ext uri="{FF2B5EF4-FFF2-40B4-BE49-F238E27FC236}">
                <a16:creationId xmlns:a16="http://schemas.microsoft.com/office/drawing/2014/main" id="{46BD4BB5-29CD-43D9-AC3D-7156960A47B4}"/>
              </a:ext>
            </a:extLst>
          </p:cNvPr>
          <p:cNvSpPr/>
          <p:nvPr/>
        </p:nvSpPr>
        <p:spPr>
          <a:xfrm>
            <a:off x="2496000" y="4101159"/>
            <a:ext cx="7200000" cy="54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01D74E5E-70A8-4E75-A8A6-FA1E88CBEBA7}"/>
              </a:ext>
            </a:extLst>
          </p:cNvPr>
          <p:cNvSpPr/>
          <p:nvPr/>
        </p:nvSpPr>
        <p:spPr>
          <a:xfrm>
            <a:off x="2496000" y="4101159"/>
            <a:ext cx="7200000" cy="54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504A2B5-6236-49DC-BA8F-AA98C48D36E8}"/>
              </a:ext>
            </a:extLst>
          </p:cNvPr>
          <p:cNvSpPr/>
          <p:nvPr/>
        </p:nvSpPr>
        <p:spPr>
          <a:xfrm>
            <a:off x="2496000" y="4101159"/>
            <a:ext cx="7200000" cy="54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29C0CBE-6D7E-44B0-8154-5A2C70A7A398}"/>
              </a:ext>
            </a:extLst>
          </p:cNvPr>
          <p:cNvSpPr/>
          <p:nvPr/>
        </p:nvSpPr>
        <p:spPr>
          <a:xfrm>
            <a:off x="2496000" y="4101159"/>
            <a:ext cx="7200000" cy="54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3CCC498C-F72F-4850-8130-409ED03D630B}"/>
              </a:ext>
            </a:extLst>
          </p:cNvPr>
          <p:cNvSpPr/>
          <p:nvPr/>
        </p:nvSpPr>
        <p:spPr>
          <a:xfrm>
            <a:off x="2496000" y="4101159"/>
            <a:ext cx="7200000" cy="540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564206-DD72-4879-B9C0-DC67ED477421}"/>
              </a:ext>
            </a:extLst>
          </p:cNvPr>
          <p:cNvSpPr txBox="1"/>
          <p:nvPr/>
        </p:nvSpPr>
        <p:spPr>
          <a:xfrm>
            <a:off x="3695343" y="3429000"/>
            <a:ext cx="48013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交换机的广播</a:t>
            </a:r>
          </a:p>
        </p:txBody>
      </p:sp>
    </p:spTree>
    <p:extLst>
      <p:ext uri="{BB962C8B-B14F-4D97-AF65-F5344CB8AC3E}">
        <p14:creationId xmlns:p14="http://schemas.microsoft.com/office/powerpoint/2010/main" val="381889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3" presetClass="entr" presetSubtype="16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xit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ntr" presetSubtype="16" repeatCount="indefinite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xit" presetSubtype="0" repeatCount="indefinite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3" presetClass="entr" presetSubtype="16" repeatCount="indefinite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xit" presetSubtype="0" repeatCount="indefinite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4EAF8E-3505-49E6-BE3B-A87EF89C3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2" b="5602"/>
          <a:stretch/>
        </p:blipFill>
        <p:spPr bwMode="auto">
          <a:xfrm>
            <a:off x="7052553" y="0"/>
            <a:ext cx="5139447" cy="685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C939C2-D5BB-49DB-88ED-C139F239ECFB}"/>
              </a:ext>
            </a:extLst>
          </p:cNvPr>
          <p:cNvSpPr txBox="1"/>
          <p:nvPr/>
        </p:nvSpPr>
        <p:spPr>
          <a:xfrm>
            <a:off x="1328479" y="1902804"/>
            <a:ext cx="2236510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>
            <a:defPPr>
              <a:defRPr lang="zh-CN"/>
            </a:defPPr>
            <a:lvl1pPr algn="ctr">
              <a:defRPr sz="4000" kern="100">
                <a:gradFill>
                  <a:gsLst>
                    <a:gs pos="0">
                      <a:srgbClr val="002060"/>
                    </a:gs>
                    <a:gs pos="70000">
                      <a:srgbClr val="0070C0"/>
                    </a:gs>
                    <a:gs pos="100000">
                      <a:srgbClr val="00B0F0"/>
                    </a:gs>
                  </a:gsLst>
                  <a:lin ang="5400000" scaled="1"/>
                </a:gradFill>
                <a:latin typeface="Montserrat Light" panose="00000400000000000000" pitchFamily="50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gradFill>
                  <a:gsLst>
                    <a:gs pos="0">
                      <a:srgbClr val="0070C0"/>
                    </a:gs>
                    <a:gs pos="71000">
                      <a:srgbClr val="00B0F0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客户需求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B26314-BE55-4234-884C-ADB7E2613A5E}"/>
              </a:ext>
            </a:extLst>
          </p:cNvPr>
          <p:cNvSpPr txBox="1"/>
          <p:nvPr/>
        </p:nvSpPr>
        <p:spPr>
          <a:xfrm>
            <a:off x="7522124" y="3293597"/>
            <a:ext cx="2642070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altLang="zh-CN" sz="2800" kern="100" dirty="0">
                <a:gradFill>
                  <a:gsLst>
                    <a:gs pos="0">
                      <a:srgbClr val="0070C0"/>
                    </a:gs>
                    <a:gs pos="71000">
                      <a:srgbClr val="00B0F0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ontserrat Light" panose="00000400000000000000" pitchFamily="50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Requirement </a:t>
            </a:r>
            <a:endParaRPr lang="zh-CN" altLang="en-US" sz="2800" kern="100" dirty="0">
              <a:gradFill>
                <a:gsLst>
                  <a:gs pos="0">
                    <a:srgbClr val="0070C0"/>
                  </a:gs>
                  <a:gs pos="71000">
                    <a:srgbClr val="00B0F0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Montserrat Light" panose="00000400000000000000" pitchFamily="50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7DCE5C-BEFF-492A-A616-2171B21C8039}"/>
              </a:ext>
            </a:extLst>
          </p:cNvPr>
          <p:cNvSpPr txBox="1"/>
          <p:nvPr/>
        </p:nvSpPr>
        <p:spPr>
          <a:xfrm>
            <a:off x="1584960" y="2610690"/>
            <a:ext cx="172354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通信的私密性</a:t>
            </a:r>
            <a:endParaRPr lang="en-US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altLang="zh-CN" sz="2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通信的高效性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2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通信的完整性</a:t>
            </a:r>
          </a:p>
        </p:txBody>
      </p:sp>
    </p:spTree>
    <p:extLst>
      <p:ext uri="{BB962C8B-B14F-4D97-AF65-F5344CB8AC3E}">
        <p14:creationId xmlns:p14="http://schemas.microsoft.com/office/powerpoint/2010/main" val="305681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26C4AFD-BDC7-4837-BB45-D4461003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683" y="3118168"/>
            <a:ext cx="5943600" cy="325755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9DDECC21-DA88-4361-884A-9455616F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52FB07D-B847-4BC0-8E91-1498FA202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通过逻辑配置，将一个局域网划分为若干个虚拟局域网</a:t>
            </a:r>
            <a:r>
              <a:rPr lang="en-US" altLang="zh-CN" dirty="0"/>
              <a:t>VLAN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用以缩小</a:t>
            </a:r>
            <a:r>
              <a:rPr lang="en-US" altLang="zh-CN" dirty="0"/>
              <a:t>/</a:t>
            </a:r>
            <a:r>
              <a:rPr lang="zh-CN" altLang="en-US" dirty="0"/>
              <a:t>隔离广播域，有效抵制网络风暴；广播数据包只能在同一个</a:t>
            </a:r>
            <a:r>
              <a:rPr lang="en-US" altLang="zh-CN" dirty="0"/>
              <a:t>VLAN</a:t>
            </a:r>
            <a:r>
              <a:rPr lang="zh-CN" altLang="en-US" dirty="0"/>
              <a:t>内传播；</a:t>
            </a:r>
          </a:p>
          <a:p>
            <a:endParaRPr lang="en-US" altLang="zh-CN" dirty="0"/>
          </a:p>
          <a:p>
            <a:r>
              <a:rPr lang="en-US" altLang="zh-CN" dirty="0"/>
              <a:t>VLAN</a:t>
            </a:r>
            <a:r>
              <a:rPr lang="zh-CN" altLang="en-US" dirty="0"/>
              <a:t>隔离了不同</a:t>
            </a:r>
            <a:r>
              <a:rPr lang="en-US" altLang="zh-CN" dirty="0"/>
              <a:t>VLAN</a:t>
            </a:r>
            <a:r>
              <a:rPr lang="zh-CN" altLang="en-US" dirty="0"/>
              <a:t>之间的通信：</a:t>
            </a:r>
            <a:endParaRPr lang="en-US" altLang="zh-CN" dirty="0"/>
          </a:p>
          <a:p>
            <a:pPr indent="457200"/>
            <a:r>
              <a:rPr lang="zh-CN" altLang="en-US" dirty="0"/>
              <a:t>同一个</a:t>
            </a:r>
            <a:r>
              <a:rPr lang="en-US" altLang="zh-CN" dirty="0"/>
              <a:t>VLAN</a:t>
            </a:r>
            <a:r>
              <a:rPr lang="zh-CN" altLang="en-US" dirty="0"/>
              <a:t>的计算机，网段相同，可通信；</a:t>
            </a:r>
            <a:endParaRPr lang="en-US" altLang="zh-CN" dirty="0"/>
          </a:p>
          <a:p>
            <a:pPr indent="457200"/>
            <a:r>
              <a:rPr lang="zh-CN" altLang="en-US" dirty="0"/>
              <a:t>网段不同，不可通信；</a:t>
            </a:r>
            <a:endParaRPr lang="en-US" altLang="zh-CN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E1DAEA6-033A-4014-81F7-8787DA86F4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Virtual Local Area Network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628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9D612B9-FFF0-471F-A6B1-203C6F554B38}"/>
              </a:ext>
            </a:extLst>
          </p:cNvPr>
          <p:cNvSpPr/>
          <p:nvPr/>
        </p:nvSpPr>
        <p:spPr>
          <a:xfrm>
            <a:off x="400718" y="5254752"/>
            <a:ext cx="11390566" cy="11948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CB25742B-B2B7-4AD4-AAD2-9B81AF31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 </a:t>
            </a:r>
            <a:r>
              <a:rPr lang="zh-CN" altLang="en-US" dirty="0"/>
              <a:t>号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FBA143A-C7FC-48F2-A427-A89A4E594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VLAN</a:t>
            </a:r>
            <a:r>
              <a:rPr lang="zh-CN" altLang="en-US" dirty="0"/>
              <a:t>由</a:t>
            </a:r>
            <a:r>
              <a:rPr lang="en-US" altLang="zh-CN" dirty="0"/>
              <a:t>id</a:t>
            </a:r>
            <a:r>
              <a:rPr lang="zh-CN" altLang="en-US" dirty="0"/>
              <a:t>和</a:t>
            </a:r>
            <a:r>
              <a:rPr lang="en-US" altLang="zh-CN" dirty="0"/>
              <a:t>name</a:t>
            </a:r>
            <a:r>
              <a:rPr lang="zh-CN" altLang="en-US" dirty="0"/>
              <a:t>来标识；</a:t>
            </a:r>
          </a:p>
          <a:p>
            <a:r>
              <a:rPr lang="zh-CN" altLang="en-US" dirty="0"/>
              <a:t>一个交换机可以划分多个</a:t>
            </a:r>
            <a:r>
              <a:rPr lang="en-US" altLang="zh-CN" dirty="0"/>
              <a:t>VLAN</a:t>
            </a:r>
            <a:r>
              <a:rPr lang="zh-CN" altLang="en-US" dirty="0"/>
              <a:t>；每个</a:t>
            </a:r>
            <a:r>
              <a:rPr lang="en-US" altLang="zh-CN" dirty="0"/>
              <a:t>VLAN</a:t>
            </a:r>
            <a:r>
              <a:rPr lang="zh-CN" altLang="en-US" dirty="0"/>
              <a:t>不受网络物理位置的限制；</a:t>
            </a:r>
          </a:p>
          <a:p>
            <a:r>
              <a:rPr lang="zh-CN" altLang="en-US" dirty="0"/>
              <a:t>通常利用交换机的端口划分</a:t>
            </a:r>
            <a:r>
              <a:rPr lang="en-US" altLang="zh-CN" dirty="0"/>
              <a:t>VLAN</a:t>
            </a:r>
            <a:r>
              <a:rPr lang="zh-CN" altLang="en-US" dirty="0"/>
              <a:t>；一个端口只能属于一个</a:t>
            </a:r>
            <a:r>
              <a:rPr lang="en-US" altLang="zh-CN" dirty="0"/>
              <a:t>VLAN</a:t>
            </a:r>
            <a:r>
              <a:rPr lang="zh-CN" altLang="en-US" dirty="0"/>
              <a:t>；所以一般称</a:t>
            </a:r>
            <a:r>
              <a:rPr lang="en-US" altLang="zh-CN" dirty="0"/>
              <a:t>port VLAN</a:t>
            </a:r>
            <a:r>
              <a:rPr lang="zh-CN" altLang="en-US" dirty="0"/>
              <a:t>；一个</a:t>
            </a:r>
            <a:r>
              <a:rPr lang="en-US" altLang="zh-CN" dirty="0"/>
              <a:t>VLAN</a:t>
            </a:r>
            <a:r>
              <a:rPr lang="zh-CN" altLang="en-US" dirty="0"/>
              <a:t>可以包含多个端口；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默认情况下，所有端口都属于</a:t>
            </a:r>
            <a:r>
              <a:rPr lang="en-US" altLang="zh-CN" dirty="0"/>
              <a:t>VLAN 1</a:t>
            </a:r>
            <a:r>
              <a:rPr lang="zh-CN" altLang="en-US" dirty="0"/>
              <a:t>。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42D1B9A-F7F0-427E-A8B1-60FB917CF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Vlan ID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632750-9ACF-48A8-BD87-89613A8AAD58}"/>
              </a:ext>
            </a:extLst>
          </p:cNvPr>
          <p:cNvSpPr txBox="1"/>
          <p:nvPr/>
        </p:nvSpPr>
        <p:spPr>
          <a:xfrm>
            <a:off x="2973993" y="5502458"/>
            <a:ext cx="6244017" cy="699404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>
            <a:defPPr>
              <a:defRPr lang="zh-CN"/>
            </a:defPPr>
            <a:lvl1pPr algn="ctr">
              <a:tabLst>
                <a:tab pos="6000750" algn="r"/>
              </a:tabLst>
              <a:defRPr kern="10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(config)#vlan 10	</a:t>
            </a:r>
            <a:r>
              <a:rPr lang="zh-CN" altLang="zh-CN" dirty="0"/>
              <a:t>创建</a:t>
            </a:r>
            <a:r>
              <a:rPr lang="en-US" altLang="zh-CN" dirty="0"/>
              <a:t>vlan</a:t>
            </a:r>
            <a:endParaRPr lang="zh-CN" altLang="zh-CN" dirty="0"/>
          </a:p>
          <a:p>
            <a:r>
              <a:rPr lang="en-US" altLang="zh-CN" dirty="0"/>
              <a:t>(config)#name </a:t>
            </a:r>
            <a:r>
              <a:rPr lang="en-US" altLang="zh-CN" dirty="0" err="1"/>
              <a:t>vlan_name</a:t>
            </a:r>
            <a:r>
              <a:rPr lang="en-US" altLang="zh-CN" dirty="0"/>
              <a:t>	</a:t>
            </a:r>
            <a:r>
              <a:rPr lang="zh-CN" altLang="zh-CN" dirty="0"/>
              <a:t>修改</a:t>
            </a:r>
            <a:r>
              <a:rPr lang="en-US" altLang="zh-CN" dirty="0"/>
              <a:t>vlan</a:t>
            </a:r>
            <a:r>
              <a:rPr lang="zh-CN" altLang="zh-CN" dirty="0"/>
              <a:t>名字</a:t>
            </a:r>
          </a:p>
        </p:txBody>
      </p:sp>
    </p:spTree>
    <p:extLst>
      <p:ext uri="{BB962C8B-B14F-4D97-AF65-F5344CB8AC3E}">
        <p14:creationId xmlns:p14="http://schemas.microsoft.com/office/powerpoint/2010/main" val="314955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CB25742B-B2B7-4AD4-AAD2-9B81AF31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 </a:t>
            </a:r>
            <a:r>
              <a:rPr lang="zh-CN" altLang="en-US" dirty="0"/>
              <a:t>模式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FBA143A-C7FC-48F2-A427-A89A4E594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access</a:t>
            </a:r>
            <a:r>
              <a:rPr lang="zh-CN" altLang="en-US" dirty="0"/>
              <a:t>模式：</a:t>
            </a:r>
            <a:endParaRPr lang="en-US" altLang="zh-CN" dirty="0"/>
          </a:p>
          <a:p>
            <a:pPr indent="457200"/>
            <a:r>
              <a:rPr lang="zh-CN" altLang="en-US" dirty="0"/>
              <a:t>默认模式。一般用于链接用户计算机；</a:t>
            </a:r>
            <a:r>
              <a:rPr lang="en-US" altLang="zh-CN" dirty="0"/>
              <a:t>access</a:t>
            </a:r>
            <a:r>
              <a:rPr lang="zh-CN" altLang="en-US" dirty="0"/>
              <a:t>端口只能属于一个</a:t>
            </a:r>
            <a:r>
              <a:rPr lang="en-US" altLang="zh-CN" dirty="0"/>
              <a:t>VLAN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trunk</a:t>
            </a:r>
            <a:r>
              <a:rPr lang="zh-CN" altLang="en-US" dirty="0"/>
              <a:t>模式：</a:t>
            </a:r>
            <a:endParaRPr lang="en-US" altLang="zh-CN" dirty="0"/>
          </a:p>
          <a:p>
            <a:pPr indent="457200"/>
            <a:r>
              <a:rPr lang="zh-CN" altLang="en-US" dirty="0"/>
              <a:t>交换机之间互链或交换机和路由器之间互链；</a:t>
            </a:r>
            <a:endParaRPr lang="en-US" altLang="zh-CN" dirty="0"/>
          </a:p>
          <a:p>
            <a:pPr indent="457200"/>
            <a:r>
              <a:rPr lang="en-US" altLang="zh-CN" dirty="0"/>
              <a:t>trunk</a:t>
            </a:r>
            <a:r>
              <a:rPr lang="zh-CN" altLang="en-US" dirty="0"/>
              <a:t>端口维护一个</a:t>
            </a:r>
            <a:r>
              <a:rPr lang="en-US" altLang="zh-CN" dirty="0"/>
              <a:t>list</a:t>
            </a:r>
            <a:r>
              <a:rPr lang="zh-CN" altLang="en-US" dirty="0"/>
              <a:t>，指定允许哪些通过或哪些不通过；</a:t>
            </a:r>
          </a:p>
          <a:p>
            <a:r>
              <a:rPr lang="en-US" altLang="zh-CN" dirty="0"/>
              <a:t>hybrid</a:t>
            </a:r>
            <a:r>
              <a:rPr lang="zh-CN" altLang="en-US" dirty="0"/>
              <a:t>混合模式</a:t>
            </a:r>
            <a:r>
              <a:rPr lang="en-US" altLang="zh-CN" dirty="0"/>
              <a:t>【</a:t>
            </a:r>
            <a:r>
              <a:rPr lang="zh-CN" altLang="en-US" dirty="0"/>
              <a:t>华为模式</a:t>
            </a:r>
            <a:r>
              <a:rPr lang="en-US" altLang="zh-CN" dirty="0"/>
              <a:t>】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42D1B9A-F7F0-427E-A8B1-60FB917CF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Vlan mode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5FCB76-F382-4334-99D1-555EE7A9862B}"/>
              </a:ext>
            </a:extLst>
          </p:cNvPr>
          <p:cNvSpPr/>
          <p:nvPr/>
        </p:nvSpPr>
        <p:spPr>
          <a:xfrm>
            <a:off x="400718" y="5254752"/>
            <a:ext cx="11390566" cy="11948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EBBC93-E9EB-4DBD-AD96-DB099A75FB84}"/>
              </a:ext>
            </a:extLst>
          </p:cNvPr>
          <p:cNvSpPr txBox="1"/>
          <p:nvPr/>
        </p:nvSpPr>
        <p:spPr>
          <a:xfrm>
            <a:off x="2993623" y="5528994"/>
            <a:ext cx="6204757" cy="422405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algn="ctr">
              <a:tabLst>
                <a:tab pos="600075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(config)#show inter fa 0/1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swi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查看端口模式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419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CB25742B-B2B7-4AD4-AAD2-9B81AF31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IEEE 802.1q 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FBA143A-C7FC-48F2-A427-A89A4E594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IEEE 802.1q</a:t>
            </a:r>
            <a:r>
              <a:rPr lang="zh-CN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对以太网帧格式进行扩展，加入了</a:t>
            </a: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个字节的</a:t>
            </a: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VLAN</a:t>
            </a:r>
            <a:r>
              <a:rPr lang="zh-CN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标记</a:t>
            </a: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tag</a:t>
            </a:r>
            <a:r>
              <a:rPr lang="zh-CN" altLang="en-US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effectLst/>
                <a:latin typeface="微软雅黑 Light" panose="020B0502040204020203" pitchFamily="34" charset="-122"/>
                <a:cs typeface="Times New Roman" panose="02020603050405020304" pitchFamily="18" charset="0"/>
              </a:rPr>
              <a:t>简称：</a:t>
            </a:r>
            <a:r>
              <a:rPr lang="en-US" altLang="zh-CN" sz="1800" dirty="0">
                <a:effectLst/>
                <a:latin typeface="微软雅黑 Light" panose="020B0502040204020203" pitchFamily="34" charset="-122"/>
                <a:cs typeface="Times New Roman" panose="02020603050405020304" pitchFamily="18" charset="0"/>
              </a:rPr>
              <a:t>dot one Q</a:t>
            </a:r>
            <a:endParaRPr lang="en-US" altLang="zh-CN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42D1B9A-F7F0-427E-A8B1-60FB917CF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Vlan protocol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C4D9C5-059D-4B67-82B1-70DBD74710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358"/>
          <a:stretch/>
        </p:blipFill>
        <p:spPr>
          <a:xfrm>
            <a:off x="1281112" y="3063621"/>
            <a:ext cx="9629775" cy="248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2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CB25742B-B2B7-4AD4-AAD2-9B81AF31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 </a:t>
            </a:r>
            <a:r>
              <a:rPr lang="zh-CN" altLang="en-US" dirty="0"/>
              <a:t>标记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FBA143A-C7FC-48F2-A427-A89A4E594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2160000" algn="l"/>
              </a:tabLst>
            </a:pP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TPID	</a:t>
            </a:r>
            <a:r>
              <a:rPr lang="zh-CN" altLang="en-US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标签协议标识符，</a:t>
            </a: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Tag Protocol Identifier</a:t>
            </a:r>
            <a:r>
              <a:rPr lang="zh-CN" altLang="en-US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，协议规定为：</a:t>
            </a:r>
            <a:r>
              <a:rPr lang="en-US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0x8100</a:t>
            </a:r>
          </a:p>
          <a:p>
            <a:pPr>
              <a:tabLst>
                <a:tab pos="2160000" algn="l"/>
              </a:tabLst>
            </a:pPr>
            <a:r>
              <a:rPr lang="en-US" altLang="zh-CN" dirty="0"/>
              <a:t>TCI	</a:t>
            </a:r>
            <a:r>
              <a:rPr lang="zh-CN" altLang="en-US" dirty="0"/>
              <a:t>标签控制信息，</a:t>
            </a:r>
            <a:r>
              <a:rPr lang="en-US" altLang="zh-CN" dirty="0"/>
              <a:t>Tag Control Information</a:t>
            </a:r>
          </a:p>
          <a:p>
            <a:pPr>
              <a:tabLst>
                <a:tab pos="2160000" algn="l"/>
              </a:tabLst>
            </a:pPr>
            <a:r>
              <a:rPr lang="en-US" altLang="zh-CN" dirty="0"/>
              <a:t>Priority	</a:t>
            </a:r>
            <a:r>
              <a:rPr lang="zh-CN" altLang="en-US" dirty="0"/>
              <a:t>帧的优先级，默认是</a:t>
            </a:r>
            <a:r>
              <a:rPr lang="en-US" altLang="zh-CN" dirty="0"/>
              <a:t>0</a:t>
            </a:r>
          </a:p>
          <a:p>
            <a:pPr>
              <a:tabLst>
                <a:tab pos="2160000" algn="l"/>
              </a:tabLst>
            </a:pPr>
            <a:r>
              <a:rPr lang="en-US" altLang="zh-CN" dirty="0"/>
              <a:t>CFI	</a:t>
            </a:r>
            <a:r>
              <a:rPr lang="zh-CN" altLang="en-US" dirty="0"/>
              <a:t>规范格式，</a:t>
            </a:r>
            <a:r>
              <a:rPr lang="en-US" altLang="zh-CN" dirty="0"/>
              <a:t>Canonical Format Indicator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为规范格式，</a:t>
            </a:r>
            <a:r>
              <a:rPr lang="en-US" altLang="zh-CN" dirty="0"/>
              <a:t>1</a:t>
            </a:r>
            <a:r>
              <a:rPr lang="zh-CN" altLang="en-US" dirty="0"/>
              <a:t>为非规范格式</a:t>
            </a:r>
            <a:endParaRPr lang="en-US" altLang="zh-CN" dirty="0"/>
          </a:p>
          <a:p>
            <a:pPr>
              <a:tabLst>
                <a:tab pos="2160000" algn="l"/>
              </a:tabLst>
            </a:pPr>
            <a:r>
              <a:rPr lang="en-US" altLang="zh-CN" dirty="0"/>
              <a:t>VLAN ID	</a:t>
            </a:r>
            <a:r>
              <a:rPr lang="en-US" altLang="zh-CN" sz="1800" dirty="0">
                <a:effectLst/>
                <a:latin typeface="微软雅黑 Light" panose="020B0502040204020203" pitchFamily="34" charset="-122"/>
                <a:cs typeface="Times New Roman" panose="02020603050405020304" pitchFamily="18" charset="0"/>
              </a:rPr>
              <a:t>VLAN</a:t>
            </a:r>
            <a:r>
              <a:rPr lang="zh-CN" altLang="zh-CN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标识符</a:t>
            </a:r>
            <a:r>
              <a:rPr lang="zh-CN" altLang="en-US" sz="1800" dirty="0">
                <a:effectLst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/>
              <a:t>VLAN Identified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en-US" altLang="zh-CN" baseline="30000" dirty="0"/>
              <a:t>12</a:t>
            </a:r>
            <a:r>
              <a:rPr lang="en-US" altLang="zh-CN" dirty="0"/>
              <a:t>=4096</a:t>
            </a:r>
            <a:r>
              <a:rPr lang="zh-CN" altLang="en-US" dirty="0"/>
              <a:t>，除去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4095</a:t>
            </a:r>
            <a:r>
              <a:rPr lang="zh-CN" altLang="en-US" dirty="0"/>
              <a:t>，只有</a:t>
            </a:r>
            <a:r>
              <a:rPr lang="en-US" altLang="zh-CN" dirty="0"/>
              <a:t>1-4094</a:t>
            </a:r>
            <a:r>
              <a:rPr lang="zh-CN" altLang="en-US" dirty="0"/>
              <a:t>个可用</a:t>
            </a:r>
            <a:endParaRPr lang="en-US" altLang="zh-CN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42D1B9A-F7F0-427E-A8B1-60FB917CF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Vlan tag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5C4D9C5-059D-4B67-82B1-70DBD74710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046"/>
          <a:stretch/>
        </p:blipFill>
        <p:spPr>
          <a:xfrm>
            <a:off x="1281112" y="4450079"/>
            <a:ext cx="9629775" cy="16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9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CB25742B-B2B7-4AD4-AAD2-9B81AF31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VLAN </a:t>
            </a:r>
            <a:r>
              <a:rPr lang="zh-CN" altLang="en-US" dirty="0"/>
              <a:t>命令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42D1B9A-F7F0-427E-A8B1-60FB917CF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Vlan command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F10AA0-8170-438D-9895-35B11B2B0117}"/>
              </a:ext>
            </a:extLst>
          </p:cNvPr>
          <p:cNvSpPr/>
          <p:nvPr/>
        </p:nvSpPr>
        <p:spPr>
          <a:xfrm>
            <a:off x="400718" y="2023872"/>
            <a:ext cx="11390566" cy="44256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C946D3-3FAC-466B-9F26-E001BD7629EC}"/>
              </a:ext>
            </a:extLst>
          </p:cNvPr>
          <p:cNvSpPr txBox="1"/>
          <p:nvPr/>
        </p:nvSpPr>
        <p:spPr>
          <a:xfrm>
            <a:off x="755905" y="2273730"/>
            <a:ext cx="10777728" cy="374639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#show vlan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查看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vlan</a:t>
            </a: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#show vlan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10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查看指定的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#show inter fa 0/1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swi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查看端口信息</a:t>
            </a:r>
          </a:p>
          <a:p>
            <a:pPr>
              <a:tabLst>
                <a:tab pos="10440000" algn="r"/>
              </a:tabLs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(config)#vlan 10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(config)#name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vlan_name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名字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(config)#inter fa0/1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选择单个端口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(config-if)#swi acc vlan 10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划分端口到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(config-if)#swi mod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tru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设置端口模式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(config)#inter ran fa0/3-4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选择多个端口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tabLst>
                <a:tab pos="10440000" algn="r"/>
              </a:tabLs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(config-if-range)#swit acc vlan 10	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端口配置到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398571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84F4CEB-3568-44F6-B70F-F20062F2E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87" y="2734818"/>
            <a:ext cx="6153150" cy="32385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A7D74F-D39D-4CC8-B833-DB34EDB4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实操</a:t>
            </a:r>
            <a:r>
              <a:rPr lang="en-US" altLang="zh-CN" dirty="0"/>
              <a:t>1 </a:t>
            </a:r>
            <a:r>
              <a:rPr lang="zh-CN" altLang="en-US" dirty="0"/>
              <a:t>同一个交换机内部划分</a:t>
            </a:r>
            <a:r>
              <a:rPr lang="en-US" altLang="zh-CN" dirty="0"/>
              <a:t>VLAN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CE653-101B-4466-AA74-9B1EA43AA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构造拓扑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分配</a:t>
            </a:r>
            <a:r>
              <a:rPr lang="en-US" altLang="zh-CN" dirty="0"/>
              <a:t>IP</a:t>
            </a:r>
            <a:r>
              <a:rPr lang="zh-CN" altLang="en-US" dirty="0"/>
              <a:t>地址（要求同前）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至少</a:t>
            </a:r>
            <a:r>
              <a:rPr lang="en-US" altLang="zh-CN" dirty="0"/>
              <a:t>ping</a:t>
            </a:r>
            <a:r>
              <a:rPr lang="zh-CN" altLang="en-US" dirty="0"/>
              <a:t>通</a:t>
            </a:r>
            <a:r>
              <a:rPr lang="en-US" altLang="zh-CN" dirty="0"/>
              <a:t>2</a:t>
            </a:r>
            <a:r>
              <a:rPr lang="zh-CN" altLang="en-US" dirty="0"/>
              <a:t>个方向的通信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VLAN</a:t>
            </a:r>
            <a:r>
              <a:rPr lang="zh-CN" altLang="en-US" dirty="0"/>
              <a:t>：</a:t>
            </a:r>
            <a:r>
              <a:rPr lang="en-US" altLang="zh-CN" dirty="0"/>
              <a:t>VLAN10</a:t>
            </a:r>
            <a:r>
              <a:rPr lang="zh-CN" altLang="en-US" dirty="0"/>
              <a:t>、</a:t>
            </a:r>
            <a:r>
              <a:rPr lang="en-US" altLang="zh-CN" dirty="0"/>
              <a:t>VLAN20</a:t>
            </a:r>
            <a:r>
              <a:rPr lang="zh-CN" altLang="en-US" dirty="0"/>
              <a:t>、</a:t>
            </a:r>
            <a:r>
              <a:rPr lang="en-US" altLang="zh-CN" dirty="0"/>
              <a:t>VLAN30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将指定端口划分到相应的</a:t>
            </a:r>
            <a:r>
              <a:rPr lang="en-US" altLang="zh-CN" dirty="0"/>
              <a:t>VLAN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查看链路状态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分别</a:t>
            </a:r>
            <a:r>
              <a:rPr lang="en-US" altLang="zh-CN" dirty="0"/>
              <a:t>ping</a:t>
            </a:r>
            <a:r>
              <a:rPr lang="zh-CN" altLang="en-US" dirty="0"/>
              <a:t>测下</a:t>
            </a:r>
            <a:r>
              <a:rPr lang="en-US" altLang="zh-CN" dirty="0"/>
              <a:t>VLAN</a:t>
            </a:r>
            <a:r>
              <a:rPr lang="zh-CN" altLang="en-US" dirty="0"/>
              <a:t>内和</a:t>
            </a:r>
            <a:r>
              <a:rPr lang="en-US" altLang="zh-CN" dirty="0"/>
              <a:t>VLAN</a:t>
            </a:r>
            <a:r>
              <a:rPr lang="zh-CN" altLang="en-US" dirty="0"/>
              <a:t>外的主机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BE3244-C19F-4D3D-9B42-9D9EC1674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Operation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910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7D74F-D39D-4CC8-B833-DB34EDB4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CE653-101B-4466-AA74-9B1EA43AA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如何删除</a:t>
            </a:r>
            <a:r>
              <a:rPr lang="en-US" altLang="zh-CN" dirty="0"/>
              <a:t>VLAN</a:t>
            </a:r>
            <a:r>
              <a:rPr lang="zh-CN" altLang="en-US" dirty="0"/>
              <a:t>，回复初始状态或重新划分？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BE3244-C19F-4D3D-9B42-9D9EC1674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Question  </a:t>
            </a:r>
            <a:endParaRPr lang="zh-CN" altLang="en-US" dirty="0"/>
          </a:p>
        </p:txBody>
      </p:sp>
      <p:sp>
        <p:nvSpPr>
          <p:cNvPr id="9" name="图形 7" descr="垃圾">
            <a:extLst>
              <a:ext uri="{FF2B5EF4-FFF2-40B4-BE49-F238E27FC236}">
                <a16:creationId xmlns:a16="http://schemas.microsoft.com/office/drawing/2014/main" id="{9F4073EC-D72E-4900-A641-D267ADD2D88B}"/>
              </a:ext>
            </a:extLst>
          </p:cNvPr>
          <p:cNvSpPr/>
          <p:nvPr/>
        </p:nvSpPr>
        <p:spPr>
          <a:xfrm>
            <a:off x="8250624" y="3880533"/>
            <a:ext cx="1020000" cy="300000"/>
          </a:xfrm>
          <a:custGeom>
            <a:avLst/>
            <a:gdLst>
              <a:gd name="connsiteX0" fmla="*/ 960000 w 1020000"/>
              <a:gd name="connsiteY0" fmla="*/ 180000 h 300000"/>
              <a:gd name="connsiteX1" fmla="*/ 705000 w 1020000"/>
              <a:gd name="connsiteY1" fmla="*/ 180000 h 300000"/>
              <a:gd name="connsiteX2" fmla="*/ 705000 w 1020000"/>
              <a:gd name="connsiteY2" fmla="*/ 105000 h 300000"/>
              <a:gd name="connsiteX3" fmla="*/ 600000 w 1020000"/>
              <a:gd name="connsiteY3" fmla="*/ 0 h 300000"/>
              <a:gd name="connsiteX4" fmla="*/ 420000 w 1020000"/>
              <a:gd name="connsiteY4" fmla="*/ 0 h 300000"/>
              <a:gd name="connsiteX5" fmla="*/ 315000 w 1020000"/>
              <a:gd name="connsiteY5" fmla="*/ 105000 h 300000"/>
              <a:gd name="connsiteX6" fmla="*/ 315000 w 1020000"/>
              <a:gd name="connsiteY6" fmla="*/ 180000 h 300000"/>
              <a:gd name="connsiteX7" fmla="*/ 60000 w 1020000"/>
              <a:gd name="connsiteY7" fmla="*/ 180000 h 300000"/>
              <a:gd name="connsiteX8" fmla="*/ 0 w 1020000"/>
              <a:gd name="connsiteY8" fmla="*/ 240000 h 300000"/>
              <a:gd name="connsiteX9" fmla="*/ 0 w 1020000"/>
              <a:gd name="connsiteY9" fmla="*/ 300000 h 300000"/>
              <a:gd name="connsiteX10" fmla="*/ 1020000 w 1020000"/>
              <a:gd name="connsiteY10" fmla="*/ 300000 h 300000"/>
              <a:gd name="connsiteX11" fmla="*/ 1020000 w 1020000"/>
              <a:gd name="connsiteY11" fmla="*/ 240000 h 300000"/>
              <a:gd name="connsiteX12" fmla="*/ 960000 w 1020000"/>
              <a:gd name="connsiteY12" fmla="*/ 180000 h 300000"/>
              <a:gd name="connsiteX13" fmla="*/ 405000 w 1020000"/>
              <a:gd name="connsiteY13" fmla="*/ 105000 h 300000"/>
              <a:gd name="connsiteX14" fmla="*/ 420000 w 1020000"/>
              <a:gd name="connsiteY14" fmla="*/ 90000 h 300000"/>
              <a:gd name="connsiteX15" fmla="*/ 600000 w 1020000"/>
              <a:gd name="connsiteY15" fmla="*/ 90000 h 300000"/>
              <a:gd name="connsiteX16" fmla="*/ 615000 w 1020000"/>
              <a:gd name="connsiteY16" fmla="*/ 105000 h 300000"/>
              <a:gd name="connsiteX17" fmla="*/ 615000 w 1020000"/>
              <a:gd name="connsiteY17" fmla="*/ 180000 h 300000"/>
              <a:gd name="connsiteX18" fmla="*/ 405000 w 1020000"/>
              <a:gd name="connsiteY18" fmla="*/ 180000 h 300000"/>
              <a:gd name="connsiteX19" fmla="*/ 405000 w 1020000"/>
              <a:gd name="connsiteY19" fmla="*/ 105000 h 3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20000" h="300000">
                <a:moveTo>
                  <a:pt x="960000" y="180000"/>
                </a:moveTo>
                <a:lnTo>
                  <a:pt x="705000" y="180000"/>
                </a:lnTo>
                <a:lnTo>
                  <a:pt x="705000" y="105000"/>
                </a:lnTo>
                <a:cubicBezTo>
                  <a:pt x="705000" y="46500"/>
                  <a:pt x="658500" y="0"/>
                  <a:pt x="600000" y="0"/>
                </a:cubicBezTo>
                <a:lnTo>
                  <a:pt x="420000" y="0"/>
                </a:lnTo>
                <a:cubicBezTo>
                  <a:pt x="361500" y="0"/>
                  <a:pt x="315000" y="46500"/>
                  <a:pt x="315000" y="105000"/>
                </a:cubicBezTo>
                <a:lnTo>
                  <a:pt x="315000" y="180000"/>
                </a:lnTo>
                <a:lnTo>
                  <a:pt x="60000" y="180000"/>
                </a:lnTo>
                <a:cubicBezTo>
                  <a:pt x="27000" y="180000"/>
                  <a:pt x="0" y="207000"/>
                  <a:pt x="0" y="240000"/>
                </a:cubicBezTo>
                <a:lnTo>
                  <a:pt x="0" y="300000"/>
                </a:lnTo>
                <a:lnTo>
                  <a:pt x="1020000" y="300000"/>
                </a:lnTo>
                <a:lnTo>
                  <a:pt x="1020000" y="240000"/>
                </a:lnTo>
                <a:cubicBezTo>
                  <a:pt x="1020000" y="207000"/>
                  <a:pt x="993000" y="180000"/>
                  <a:pt x="960000" y="180000"/>
                </a:cubicBezTo>
                <a:close/>
                <a:moveTo>
                  <a:pt x="405000" y="105000"/>
                </a:moveTo>
                <a:cubicBezTo>
                  <a:pt x="405000" y="96000"/>
                  <a:pt x="411000" y="90000"/>
                  <a:pt x="420000" y="90000"/>
                </a:cubicBezTo>
                <a:lnTo>
                  <a:pt x="600000" y="90000"/>
                </a:lnTo>
                <a:cubicBezTo>
                  <a:pt x="609000" y="90000"/>
                  <a:pt x="615000" y="96000"/>
                  <a:pt x="615000" y="105000"/>
                </a:cubicBezTo>
                <a:lnTo>
                  <a:pt x="615000" y="180000"/>
                </a:lnTo>
                <a:lnTo>
                  <a:pt x="405000" y="180000"/>
                </a:lnTo>
                <a:lnTo>
                  <a:pt x="405000" y="105000"/>
                </a:lnTo>
                <a:close/>
              </a:path>
            </a:pathLst>
          </a:custGeom>
          <a:solidFill>
            <a:srgbClr val="000000"/>
          </a:solidFill>
          <a:ln w="149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图形 7" descr="垃圾">
            <a:extLst>
              <a:ext uri="{FF2B5EF4-FFF2-40B4-BE49-F238E27FC236}">
                <a16:creationId xmlns:a16="http://schemas.microsoft.com/office/drawing/2014/main" id="{9F4073EC-D72E-4900-A641-D267ADD2D88B}"/>
              </a:ext>
            </a:extLst>
          </p:cNvPr>
          <p:cNvSpPr/>
          <p:nvPr/>
        </p:nvSpPr>
        <p:spPr>
          <a:xfrm>
            <a:off x="8340624" y="4240533"/>
            <a:ext cx="840000" cy="840000"/>
          </a:xfrm>
          <a:custGeom>
            <a:avLst/>
            <a:gdLst>
              <a:gd name="connsiteX0" fmla="*/ 0 w 840000"/>
              <a:gd name="connsiteY0" fmla="*/ 780000 h 840000"/>
              <a:gd name="connsiteX1" fmla="*/ 60000 w 840000"/>
              <a:gd name="connsiteY1" fmla="*/ 840000 h 840000"/>
              <a:gd name="connsiteX2" fmla="*/ 780000 w 840000"/>
              <a:gd name="connsiteY2" fmla="*/ 840000 h 840000"/>
              <a:gd name="connsiteX3" fmla="*/ 840000 w 840000"/>
              <a:gd name="connsiteY3" fmla="*/ 780000 h 840000"/>
              <a:gd name="connsiteX4" fmla="*/ 840000 w 840000"/>
              <a:gd name="connsiteY4" fmla="*/ 0 h 840000"/>
              <a:gd name="connsiteX5" fmla="*/ 0 w 840000"/>
              <a:gd name="connsiteY5" fmla="*/ 0 h 840000"/>
              <a:gd name="connsiteX6" fmla="*/ 0 w 840000"/>
              <a:gd name="connsiteY6" fmla="*/ 780000 h 840000"/>
              <a:gd name="connsiteX7" fmla="*/ 615000 w 840000"/>
              <a:gd name="connsiteY7" fmla="*/ 90000 h 840000"/>
              <a:gd name="connsiteX8" fmla="*/ 705000 w 840000"/>
              <a:gd name="connsiteY8" fmla="*/ 90000 h 840000"/>
              <a:gd name="connsiteX9" fmla="*/ 705000 w 840000"/>
              <a:gd name="connsiteY9" fmla="*/ 750000 h 840000"/>
              <a:gd name="connsiteX10" fmla="*/ 615000 w 840000"/>
              <a:gd name="connsiteY10" fmla="*/ 750000 h 840000"/>
              <a:gd name="connsiteX11" fmla="*/ 615000 w 840000"/>
              <a:gd name="connsiteY11" fmla="*/ 90000 h 840000"/>
              <a:gd name="connsiteX12" fmla="*/ 375000 w 840000"/>
              <a:gd name="connsiteY12" fmla="*/ 90000 h 840000"/>
              <a:gd name="connsiteX13" fmla="*/ 465000 w 840000"/>
              <a:gd name="connsiteY13" fmla="*/ 90000 h 840000"/>
              <a:gd name="connsiteX14" fmla="*/ 465000 w 840000"/>
              <a:gd name="connsiteY14" fmla="*/ 750000 h 840000"/>
              <a:gd name="connsiteX15" fmla="*/ 375000 w 840000"/>
              <a:gd name="connsiteY15" fmla="*/ 750000 h 840000"/>
              <a:gd name="connsiteX16" fmla="*/ 375000 w 840000"/>
              <a:gd name="connsiteY16" fmla="*/ 90000 h 840000"/>
              <a:gd name="connsiteX17" fmla="*/ 135000 w 840000"/>
              <a:gd name="connsiteY17" fmla="*/ 90000 h 840000"/>
              <a:gd name="connsiteX18" fmla="*/ 225000 w 840000"/>
              <a:gd name="connsiteY18" fmla="*/ 90000 h 840000"/>
              <a:gd name="connsiteX19" fmla="*/ 225000 w 840000"/>
              <a:gd name="connsiteY19" fmla="*/ 750000 h 840000"/>
              <a:gd name="connsiteX20" fmla="*/ 135000 w 840000"/>
              <a:gd name="connsiteY20" fmla="*/ 750000 h 840000"/>
              <a:gd name="connsiteX21" fmla="*/ 135000 w 840000"/>
              <a:gd name="connsiteY21" fmla="*/ 90000 h 8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40000" h="840000">
                <a:moveTo>
                  <a:pt x="0" y="780000"/>
                </a:moveTo>
                <a:cubicBezTo>
                  <a:pt x="0" y="813000"/>
                  <a:pt x="27000" y="840000"/>
                  <a:pt x="60000" y="840000"/>
                </a:cubicBezTo>
                <a:lnTo>
                  <a:pt x="780000" y="840000"/>
                </a:lnTo>
                <a:cubicBezTo>
                  <a:pt x="813000" y="840000"/>
                  <a:pt x="840000" y="813000"/>
                  <a:pt x="840000" y="780000"/>
                </a:cubicBezTo>
                <a:lnTo>
                  <a:pt x="840000" y="0"/>
                </a:lnTo>
                <a:lnTo>
                  <a:pt x="0" y="0"/>
                </a:lnTo>
                <a:lnTo>
                  <a:pt x="0" y="780000"/>
                </a:lnTo>
                <a:close/>
                <a:moveTo>
                  <a:pt x="615000" y="90000"/>
                </a:moveTo>
                <a:lnTo>
                  <a:pt x="705000" y="90000"/>
                </a:lnTo>
                <a:lnTo>
                  <a:pt x="705000" y="750000"/>
                </a:lnTo>
                <a:lnTo>
                  <a:pt x="615000" y="750000"/>
                </a:lnTo>
                <a:lnTo>
                  <a:pt x="615000" y="90000"/>
                </a:lnTo>
                <a:close/>
                <a:moveTo>
                  <a:pt x="375000" y="90000"/>
                </a:moveTo>
                <a:lnTo>
                  <a:pt x="465000" y="90000"/>
                </a:lnTo>
                <a:lnTo>
                  <a:pt x="465000" y="750000"/>
                </a:lnTo>
                <a:lnTo>
                  <a:pt x="375000" y="750000"/>
                </a:lnTo>
                <a:lnTo>
                  <a:pt x="375000" y="90000"/>
                </a:lnTo>
                <a:close/>
                <a:moveTo>
                  <a:pt x="135000" y="90000"/>
                </a:moveTo>
                <a:lnTo>
                  <a:pt x="225000" y="90000"/>
                </a:lnTo>
                <a:lnTo>
                  <a:pt x="225000" y="750000"/>
                </a:lnTo>
                <a:lnTo>
                  <a:pt x="135000" y="750000"/>
                </a:lnTo>
                <a:lnTo>
                  <a:pt x="135000" y="90000"/>
                </a:lnTo>
                <a:close/>
              </a:path>
            </a:pathLst>
          </a:custGeom>
          <a:solidFill>
            <a:srgbClr val="000000"/>
          </a:solidFill>
          <a:ln w="149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3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-0.03438 -0.1020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-5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85185E-6 L 0.02357 0.095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2" y="47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decel="10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decel="10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E961A94-F5A0-427D-B36F-E814CB91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87" y="2811018"/>
            <a:ext cx="6191250" cy="31623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EA7D74F-D39D-4CC8-B833-DB34EDB4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实操</a:t>
            </a:r>
            <a:r>
              <a:rPr lang="en-US" altLang="zh-CN" dirty="0"/>
              <a:t>2 </a:t>
            </a:r>
            <a:r>
              <a:rPr lang="zh-CN" altLang="en-US" dirty="0"/>
              <a:t>不同一个交换机之间划分</a:t>
            </a:r>
            <a:r>
              <a:rPr lang="en-US" altLang="zh-CN" dirty="0"/>
              <a:t>VLAN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CE653-101B-4466-AA74-9B1EA43AA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构造拓扑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分配</a:t>
            </a:r>
            <a:r>
              <a:rPr lang="en-US" altLang="zh-CN" dirty="0"/>
              <a:t>IP</a:t>
            </a:r>
            <a:r>
              <a:rPr lang="zh-CN" altLang="en-US" dirty="0"/>
              <a:t>地址（要求同前）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至少</a:t>
            </a:r>
            <a:r>
              <a:rPr lang="en-US" altLang="zh-CN" dirty="0"/>
              <a:t>ping</a:t>
            </a:r>
            <a:r>
              <a:rPr lang="zh-CN" altLang="en-US" dirty="0"/>
              <a:t>通</a:t>
            </a:r>
            <a:r>
              <a:rPr lang="en-US" altLang="zh-CN" dirty="0"/>
              <a:t>2</a:t>
            </a:r>
            <a:r>
              <a:rPr lang="zh-CN" altLang="en-US" dirty="0"/>
              <a:t>个方向的通信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VLAN</a:t>
            </a:r>
            <a:r>
              <a:rPr lang="zh-CN" altLang="en-US" dirty="0"/>
              <a:t>：</a:t>
            </a:r>
            <a:r>
              <a:rPr lang="en-US" altLang="zh-CN" dirty="0"/>
              <a:t>VLAN10</a:t>
            </a:r>
            <a:r>
              <a:rPr lang="zh-CN" altLang="en-US" dirty="0"/>
              <a:t>、</a:t>
            </a:r>
            <a:r>
              <a:rPr lang="en-US" altLang="zh-CN" dirty="0"/>
              <a:t>VLAN20</a:t>
            </a:r>
            <a:r>
              <a:rPr lang="zh-CN" altLang="en-US" dirty="0"/>
              <a:t>、</a:t>
            </a:r>
            <a:r>
              <a:rPr lang="en-US" altLang="zh-CN" dirty="0"/>
              <a:t>VLAN30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将指定端口划分到相应的</a:t>
            </a:r>
            <a:r>
              <a:rPr lang="en-US" altLang="zh-CN" dirty="0"/>
              <a:t>VLAN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指定交换机互链端口为</a:t>
            </a:r>
            <a:r>
              <a:rPr lang="en-US" altLang="zh-CN" dirty="0"/>
              <a:t>trunk</a:t>
            </a:r>
            <a:r>
              <a:rPr lang="zh-CN" altLang="en-US" dirty="0"/>
              <a:t>模式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查看链路状态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分别</a:t>
            </a:r>
            <a:r>
              <a:rPr lang="en-US" altLang="zh-CN" dirty="0"/>
              <a:t>ping</a:t>
            </a:r>
            <a:r>
              <a:rPr lang="zh-CN" altLang="en-US" dirty="0"/>
              <a:t>测下</a:t>
            </a:r>
            <a:r>
              <a:rPr lang="en-US" altLang="zh-CN" dirty="0"/>
              <a:t>VLAN</a:t>
            </a:r>
            <a:r>
              <a:rPr lang="zh-CN" altLang="en-US" dirty="0"/>
              <a:t>内和</a:t>
            </a:r>
            <a:r>
              <a:rPr lang="en-US" altLang="zh-CN" dirty="0"/>
              <a:t>VLAN</a:t>
            </a:r>
            <a:r>
              <a:rPr lang="zh-CN" altLang="en-US" dirty="0"/>
              <a:t>外的主机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BE3244-C19F-4D3D-9B42-9D9EC16744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Operation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400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000" kern="100" dirty="0" smtClean="0">
            <a:effectLst/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605</Words>
  <Application>Microsoft Office PowerPoint</Application>
  <PresentationFormat>宽屏</PresentationFormat>
  <Paragraphs>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Montserrat Light</vt:lpstr>
      <vt:lpstr>等线</vt:lpstr>
      <vt:lpstr>等线 Light</vt:lpstr>
      <vt:lpstr>微软雅黑</vt:lpstr>
      <vt:lpstr>微软雅黑 Light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VLAN</vt:lpstr>
      <vt:lpstr>VLAN 号</vt:lpstr>
      <vt:lpstr>VLAN 模式</vt:lpstr>
      <vt:lpstr>IEEE 802.1q </vt:lpstr>
      <vt:lpstr>VLAN 标记</vt:lpstr>
      <vt:lpstr>VLAN 命令</vt:lpstr>
      <vt:lpstr>实操1 同一个交换机内部划分VLAN</vt:lpstr>
      <vt:lpstr>思考</vt:lpstr>
      <vt:lpstr>实操2 不同一个交换机之间划分VLAN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LJXY</cp:lastModifiedBy>
  <cp:revision>143</cp:revision>
  <dcterms:created xsi:type="dcterms:W3CDTF">2021-05-10T03:08:00Z</dcterms:created>
  <dcterms:modified xsi:type="dcterms:W3CDTF">2021-05-10T11:18:00Z</dcterms:modified>
</cp:coreProperties>
</file>